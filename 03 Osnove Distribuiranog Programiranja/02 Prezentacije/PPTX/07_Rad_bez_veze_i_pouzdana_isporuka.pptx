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961ae009854123" /><Relationship Type="http://schemas.openxmlformats.org/officeDocument/2006/relationships/extended-properties" Target="/docProps/app.xml" Id="R5d02e8a60f254e8c" /><Relationship Type="http://schemas.openxmlformats.org/officeDocument/2006/relationships/officeDocument" Target="/ppt/presentation.xml" Id="R15fda58a0f314c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7601393dce4f29"/>
  </p:sldMasterIdLst>
  <p:notesMasterIdLst>
    <p:notesMasterId xmlns:r="http://schemas.openxmlformats.org/officeDocument/2006/relationships" r:id="Re7e6a9f596b44079"/>
  </p:notesMasterIdLst>
  <p:sldIdLst>
    <p:sldId xmlns:r="http://schemas.openxmlformats.org/officeDocument/2006/relationships" id="256" r:id="R98772ee202b64209"/>
    <p:sldId xmlns:r="http://schemas.openxmlformats.org/officeDocument/2006/relationships" id="257" r:id="R48427646b39e4777"/>
    <p:sldId xmlns:r="http://schemas.openxmlformats.org/officeDocument/2006/relationships" id="258" r:id="R658b85b9c6be40f9"/>
    <p:sldId xmlns:r="http://schemas.openxmlformats.org/officeDocument/2006/relationships" id="259" r:id="Rf9744b1316c84826"/>
    <p:sldId xmlns:r="http://schemas.openxmlformats.org/officeDocument/2006/relationships" id="260" r:id="R5ccbc9c4c777400a"/>
    <p:sldId xmlns:r="http://schemas.openxmlformats.org/officeDocument/2006/relationships" id="261" r:id="R304631f159384181"/>
    <p:sldId xmlns:r="http://schemas.openxmlformats.org/officeDocument/2006/relationships" id="262" r:id="R6680bc0d4e4c471a"/>
    <p:sldId xmlns:r="http://schemas.openxmlformats.org/officeDocument/2006/relationships" id="263" r:id="R59b281e0534a48c2"/>
    <p:sldId xmlns:r="http://schemas.openxmlformats.org/officeDocument/2006/relationships" id="264" r:id="R8b0c0c3d52574733"/>
    <p:sldId xmlns:r="http://schemas.openxmlformats.org/officeDocument/2006/relationships" id="265" r:id="R7d9e6f7b10004d85"/>
    <p:sldId xmlns:r="http://schemas.openxmlformats.org/officeDocument/2006/relationships" id="266" r:id="R5d6a3b17a7bc4e5a"/>
    <p:sldId xmlns:r="http://schemas.openxmlformats.org/officeDocument/2006/relationships" id="267" r:id="Rabda3f08007048c4"/>
    <p:sldId xmlns:r="http://schemas.openxmlformats.org/officeDocument/2006/relationships" id="268" r:id="Rf9488483a43c4e85"/>
    <p:sldId xmlns:r="http://schemas.openxmlformats.org/officeDocument/2006/relationships" id="269" r:id="R4947b2e1e478462e"/>
    <p:sldId xmlns:r="http://schemas.openxmlformats.org/officeDocument/2006/relationships" id="270" r:id="R4f3fe3cb33214c51"/>
    <p:sldId xmlns:r="http://schemas.openxmlformats.org/officeDocument/2006/relationships" id="271" r:id="R73661b170573433f"/>
    <p:sldId xmlns:r="http://schemas.openxmlformats.org/officeDocument/2006/relationships" id="272" r:id="R2e2b04e983ae40d3"/>
    <p:sldId xmlns:r="http://schemas.openxmlformats.org/officeDocument/2006/relationships" id="273" r:id="R68817af75b5c43a8"/>
    <p:sldId xmlns:r="http://schemas.openxmlformats.org/officeDocument/2006/relationships" id="274" r:id="R7e8e587251b64338"/>
    <p:sldId xmlns:r="http://schemas.openxmlformats.org/officeDocument/2006/relationships" id="275" r:id="Rb74f4b5f170b4329"/>
    <p:sldId xmlns:r="http://schemas.openxmlformats.org/officeDocument/2006/relationships" id="276" r:id="Rb7565278c0e24a86"/>
    <p:sldId xmlns:r="http://schemas.openxmlformats.org/officeDocument/2006/relationships" id="277" r:id="Rc2f49d9a0634427a"/>
    <p:sldId xmlns:r="http://schemas.openxmlformats.org/officeDocument/2006/relationships" id="278" r:id="R1839cfd606674a5f"/>
    <p:sldId xmlns:r="http://schemas.openxmlformats.org/officeDocument/2006/relationships" id="279" r:id="Ra8f7997dfb1f47c7"/>
    <p:sldId xmlns:r="http://schemas.openxmlformats.org/officeDocument/2006/relationships" id="280" r:id="Rdbadcfcc95ca4ae5"/>
    <p:sldId xmlns:r="http://schemas.openxmlformats.org/officeDocument/2006/relationships" id="281" r:id="R7ac3358f035c45e0"/>
    <p:sldId xmlns:r="http://schemas.openxmlformats.org/officeDocument/2006/relationships" id="282" r:id="Rb8c33b43d0a04f3e"/>
    <p:sldId xmlns:r="http://schemas.openxmlformats.org/officeDocument/2006/relationships" id="283" r:id="Rc4e6b253b9464b01"/>
    <p:sldId xmlns:r="http://schemas.openxmlformats.org/officeDocument/2006/relationships" id="284" r:id="R50a4c93cf8bd49a3"/>
    <p:sldId xmlns:r="http://schemas.openxmlformats.org/officeDocument/2006/relationships" id="285" r:id="R284624dbfa754d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64cd4d00ee420b" /><Relationship Type="http://schemas.openxmlformats.org/officeDocument/2006/relationships/slideMaster" Target="/ppt/slideMasters/slideMaster1.xml" Id="Rd47601393dce4f29" /><Relationship Type="http://schemas.openxmlformats.org/officeDocument/2006/relationships/notesMaster" Target="/ppt/notesMasters/notesMaster1.xml" Id="Re7e6a9f596b44079" /><Relationship Type="http://schemas.openxmlformats.org/officeDocument/2006/relationships/presProps" Target="/ppt/presProps.xml" Id="R87fdfd7d3d474794" /><Relationship Type="http://schemas.openxmlformats.org/officeDocument/2006/relationships/tableStyles" Target="/ppt/tableStyles.xml" Id="R2c746fda74c543f7" /><Relationship Type="http://schemas.openxmlformats.org/officeDocument/2006/relationships/slide" Target="/ppt/slides/slide1.xml" Id="R98772ee202b64209" /><Relationship Type="http://schemas.openxmlformats.org/officeDocument/2006/relationships/slide" Target="/ppt/slides/slide2.xml" Id="R48427646b39e4777" /><Relationship Type="http://schemas.openxmlformats.org/officeDocument/2006/relationships/slide" Target="/ppt/slides/slide3.xml" Id="R658b85b9c6be40f9" /><Relationship Type="http://schemas.openxmlformats.org/officeDocument/2006/relationships/slide" Target="/ppt/slides/slide4.xml" Id="Rf9744b1316c84826" /><Relationship Type="http://schemas.openxmlformats.org/officeDocument/2006/relationships/slide" Target="/ppt/slides/slide5.xml" Id="R5ccbc9c4c777400a" /><Relationship Type="http://schemas.openxmlformats.org/officeDocument/2006/relationships/slide" Target="/ppt/slides/slide6.xml" Id="R304631f159384181" /><Relationship Type="http://schemas.openxmlformats.org/officeDocument/2006/relationships/slide" Target="/ppt/slides/slide7.xml" Id="R6680bc0d4e4c471a" /><Relationship Type="http://schemas.openxmlformats.org/officeDocument/2006/relationships/slide" Target="/ppt/slides/slide8.xml" Id="R59b281e0534a48c2" /><Relationship Type="http://schemas.openxmlformats.org/officeDocument/2006/relationships/slide" Target="/ppt/slides/slide9.xml" Id="R8b0c0c3d52574733" /><Relationship Type="http://schemas.openxmlformats.org/officeDocument/2006/relationships/slide" Target="/ppt/slides/slide10.xml" Id="R7d9e6f7b10004d85" /><Relationship Type="http://schemas.openxmlformats.org/officeDocument/2006/relationships/slide" Target="/ppt/slides/slide11.xml" Id="R5d6a3b17a7bc4e5a" /><Relationship Type="http://schemas.openxmlformats.org/officeDocument/2006/relationships/slide" Target="/ppt/slides/slide12.xml" Id="Rabda3f08007048c4" /><Relationship Type="http://schemas.openxmlformats.org/officeDocument/2006/relationships/slide" Target="/ppt/slides/slide13.xml" Id="Rf9488483a43c4e85" /><Relationship Type="http://schemas.openxmlformats.org/officeDocument/2006/relationships/slide" Target="/ppt/slides/slide14.xml" Id="R4947b2e1e478462e" /><Relationship Type="http://schemas.openxmlformats.org/officeDocument/2006/relationships/slide" Target="/ppt/slides/slide15.xml" Id="R4f3fe3cb33214c51" /><Relationship Type="http://schemas.openxmlformats.org/officeDocument/2006/relationships/slide" Target="/ppt/slides/slide16.xml" Id="R73661b170573433f" /><Relationship Type="http://schemas.openxmlformats.org/officeDocument/2006/relationships/slide" Target="/ppt/slides/slide17.xml" Id="R2e2b04e983ae40d3" /><Relationship Type="http://schemas.openxmlformats.org/officeDocument/2006/relationships/slide" Target="/ppt/slides/slide18.xml" Id="R68817af75b5c43a8" /><Relationship Type="http://schemas.openxmlformats.org/officeDocument/2006/relationships/slide" Target="/ppt/slides/slide19.xml" Id="R7e8e587251b64338" /><Relationship Type="http://schemas.openxmlformats.org/officeDocument/2006/relationships/slide" Target="/ppt/slides/slide20.xml" Id="Rb74f4b5f170b4329" /><Relationship Type="http://schemas.openxmlformats.org/officeDocument/2006/relationships/slide" Target="/ppt/slides/slide21.xml" Id="Rb7565278c0e24a86" /><Relationship Type="http://schemas.openxmlformats.org/officeDocument/2006/relationships/slide" Target="/ppt/slides/slide22.xml" Id="Rc2f49d9a0634427a" /><Relationship Type="http://schemas.openxmlformats.org/officeDocument/2006/relationships/slide" Target="/ppt/slides/slide23.xml" Id="R1839cfd606674a5f" /><Relationship Type="http://schemas.openxmlformats.org/officeDocument/2006/relationships/slide" Target="/ppt/slides/slide24.xml" Id="Ra8f7997dfb1f47c7" /><Relationship Type="http://schemas.openxmlformats.org/officeDocument/2006/relationships/slide" Target="/ppt/slides/slide25.xml" Id="Rdbadcfcc95ca4ae5" /><Relationship Type="http://schemas.openxmlformats.org/officeDocument/2006/relationships/slide" Target="/ppt/slides/slide26.xml" Id="R7ac3358f035c45e0" /><Relationship Type="http://schemas.openxmlformats.org/officeDocument/2006/relationships/slide" Target="/ppt/slides/slide27.xml" Id="Rb8c33b43d0a04f3e" /><Relationship Type="http://schemas.openxmlformats.org/officeDocument/2006/relationships/slide" Target="/ppt/slides/slide28.xml" Id="Rc4e6b253b9464b01" /><Relationship Type="http://schemas.openxmlformats.org/officeDocument/2006/relationships/slide" Target="/ppt/slides/slide29.xml" Id="R50a4c93cf8bd49a3" /><Relationship Type="http://schemas.openxmlformats.org/officeDocument/2006/relationships/slide" Target="/ppt/slides/slide30.xml" Id="R284624dbfa754d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9a5a44280749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4232d820184575" /><Relationship Type="http://schemas.openxmlformats.org/officeDocument/2006/relationships/notesMaster" Target="/ppt/notesMasters/notesMaster1.xml" Id="Rf26fc4c0d3154b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dc11e233fa490f" /><Relationship Type="http://schemas.openxmlformats.org/officeDocument/2006/relationships/notesMaster" Target="/ppt/notesMasters/notesMaster1.xml" Id="Ra72de1d075bc41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afa2c7386a4bd9" /><Relationship Type="http://schemas.openxmlformats.org/officeDocument/2006/relationships/notesMaster" Target="/ppt/notesMasters/notesMaster1.xml" Id="R2a608a274dd548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50624162d74dd8" /><Relationship Type="http://schemas.openxmlformats.org/officeDocument/2006/relationships/notesMaster" Target="/ppt/notesMasters/notesMaster1.xml" Id="R29722f8e6d6f46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32807c67854e40" /><Relationship Type="http://schemas.openxmlformats.org/officeDocument/2006/relationships/notesMaster" Target="/ppt/notesMasters/notesMaster1.xml" Id="Ra991f69a77234f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63890af7864a38" /><Relationship Type="http://schemas.openxmlformats.org/officeDocument/2006/relationships/notesMaster" Target="/ppt/notesMasters/notesMaster1.xml" Id="R0b292eb6ae9644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69793a6bf84a6d" /><Relationship Type="http://schemas.openxmlformats.org/officeDocument/2006/relationships/notesMaster" Target="/ppt/notesMasters/notesMaster1.xml" Id="R8f000234e5be4d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85a2a2d9a5451f" /><Relationship Type="http://schemas.openxmlformats.org/officeDocument/2006/relationships/notesMaster" Target="/ppt/notesMasters/notesMaster1.xml" Id="R954045610b0e43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70ff5de54c482b" /><Relationship Type="http://schemas.openxmlformats.org/officeDocument/2006/relationships/notesMaster" Target="/ppt/notesMasters/notesMaster1.xml" Id="R5e3bf83eda3843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46c8aad403a4c7b" /><Relationship Type="http://schemas.openxmlformats.org/officeDocument/2006/relationships/notesMaster" Target="/ppt/notesMasters/notesMaster1.xml" Id="R7af6c6d4621140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9c312075c144eb" /><Relationship Type="http://schemas.openxmlformats.org/officeDocument/2006/relationships/notesMaster" Target="/ppt/notesMasters/notesMaster1.xml" Id="R540db53a79f349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3e4cf6a981415e" /><Relationship Type="http://schemas.openxmlformats.org/officeDocument/2006/relationships/notesMaster" Target="/ppt/notesMasters/notesMaster1.xml" Id="Rfc69959294d84a9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6c69d3b0f7a4c6a" /><Relationship Type="http://schemas.openxmlformats.org/officeDocument/2006/relationships/notesMaster" Target="/ppt/notesMasters/notesMaster1.xml" Id="R830d1a223409433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01df1751f58402b" /><Relationship Type="http://schemas.openxmlformats.org/officeDocument/2006/relationships/notesMaster" Target="/ppt/notesMasters/notesMaster1.xml" Id="R345f9c9a027a42e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207f602235b49e3" /><Relationship Type="http://schemas.openxmlformats.org/officeDocument/2006/relationships/notesMaster" Target="/ppt/notesMasters/notesMaster1.xml" Id="Rfe7321736d8945e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f9fa844aae14858" /><Relationship Type="http://schemas.openxmlformats.org/officeDocument/2006/relationships/notesMaster" Target="/ppt/notesMasters/notesMaster1.xml" Id="R45f53ccb4c8e44e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9a51178a2664e75" /><Relationship Type="http://schemas.openxmlformats.org/officeDocument/2006/relationships/notesMaster" Target="/ppt/notesMasters/notesMaster1.xml" Id="Rd83a5bc8d6a1468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f2012d2fe624c94" /><Relationship Type="http://schemas.openxmlformats.org/officeDocument/2006/relationships/notesMaster" Target="/ppt/notesMasters/notesMaster1.xml" Id="Re3467bb23c774ca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660f24ee2b84956" /><Relationship Type="http://schemas.openxmlformats.org/officeDocument/2006/relationships/notesMaster" Target="/ppt/notesMasters/notesMaster1.xml" Id="Rfbcb7cc5415e406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c438fc8969341f1" /><Relationship Type="http://schemas.openxmlformats.org/officeDocument/2006/relationships/notesMaster" Target="/ppt/notesMasters/notesMaster1.xml" Id="Rff016757aac8465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a392bb2ad304a50" /><Relationship Type="http://schemas.openxmlformats.org/officeDocument/2006/relationships/notesMaster" Target="/ppt/notesMasters/notesMaster1.xml" Id="Rb2ad230a3e27451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3a9ac76b618413a" /><Relationship Type="http://schemas.openxmlformats.org/officeDocument/2006/relationships/notesMaster" Target="/ppt/notesMasters/notesMaster1.xml" Id="Re973bdda0b644c8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7945c93d8f946f5" /><Relationship Type="http://schemas.openxmlformats.org/officeDocument/2006/relationships/notesMaster" Target="/ppt/notesMasters/notesMaster1.xml" Id="Rbc3070c010a144e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34ae093796a456f" /><Relationship Type="http://schemas.openxmlformats.org/officeDocument/2006/relationships/notesMaster" Target="/ppt/notesMasters/notesMaster1.xml" Id="R54ed761ba8cc4bf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2a90833943f4091" /><Relationship Type="http://schemas.openxmlformats.org/officeDocument/2006/relationships/notesMaster" Target="/ppt/notesMasters/notesMaster1.xml" Id="Ra14803b3e75c473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de36571dc20467d" /><Relationship Type="http://schemas.openxmlformats.org/officeDocument/2006/relationships/notesMaster" Target="/ppt/notesMasters/notesMaster1.xml" Id="Rd0c31d256d17410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0a7b4cfd6484276" /><Relationship Type="http://schemas.openxmlformats.org/officeDocument/2006/relationships/notesMaster" Target="/ppt/notesMasters/notesMaster1.xml" Id="R1225da1cf50046e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6978b211ac74ce8" /><Relationship Type="http://schemas.openxmlformats.org/officeDocument/2006/relationships/notesMaster" Target="/ppt/notesMasters/notesMaster1.xml" Id="Rd43ede6c6d6e4e8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97e8ef764834511" /><Relationship Type="http://schemas.openxmlformats.org/officeDocument/2006/relationships/notesMaster" Target="/ppt/notesMasters/notesMaster1.xml" Id="R200b5f6bc9c1402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dd95b9a11f340f7" /><Relationship Type="http://schemas.openxmlformats.org/officeDocument/2006/relationships/notesMaster" Target="/ppt/notesMasters/notesMaster1.xml" Id="Rb4929a1b1b4d45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Очување намере кроз прекид и reconnect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Разумети како buffer, outbox, дедупликација и replay раде заједно.</a:t>
            </a:r>
          </a:p>
          <a:p xmlns:a="http://schemas.openxmlformats.org/drawingml/2006/main">
            <a:r>
              <a:t>Прекид везе раздваја тренутак настанка поруке од тренутка пријема. Систем мора да изабере шта чува, шта понавља и како спречава дуплу обраду.</a:t>
            </a:r>
          </a:p>
          <a:p xmlns:a="http://schemas.openxmlformats.org/drawingml/2006/main">
            <a:r>
              <a:t>Поуздана испорука даје поруци видљив животни циклус, уместо да се ослања на претпоставку да мрежа неће направити грешку.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Прекид везе не мора да заустави локални рад, али уводи питање шта се десило док друга страна није била доступна.</a:t>
            </a:r>
          </a:p>
          <a:p xmlns:a="http://schemas.openxmlformats.org/drawingml/2006/main">
            <a:r>
              <a:t>настаје и чува се</a:t>
            </a:r>
          </a:p>
          <a:p xmlns:a="http://schemas.openxmlformats.org/drawingml/2006/main">
            <a:r>
              <a:t>чека сигурну испоруку</a:t>
            </a:r>
          </a:p>
          <a:p xmlns:a="http://schemas.openxmlformats.org/drawingml/2006/main">
            <a:r>
              <a:t>памти обрађене поруке</a:t>
            </a:r>
          </a:p>
          <a:p xmlns:a="http://schemas.openxmlformats.org/drawingml/2006/main">
            <a:r>
              <a:t>видљива корекција неуспеха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Када нема везе, систем најпре трајно чува намеру и њен идентитет. Тако корисникова радња не нестаје само зато што удаљени систем тренутно није доступан.</a:t>
            </a:r>
          </a:p>
          <a:p xmlns:a="http://schemas.openxmlformats.org/drawingml/2006/main">
            <a:r>
              <a:t>Трајно се чува пре покушаја испоруке.</a:t>
            </a:r>
          </a:p>
          <a:p xmlns:a="http://schemas.openxmlformats.org/drawingml/2006/main">
            <a:r>
              <a:t>Радња не нестаје због недоступности удаљеног система.</a:t>
            </a:r>
          </a:p>
          <a:p xmlns:a="http://schemas.openxmlformats.org/drawingml/2006/main">
            <a:r>
              <a:t>Има сопствени стабилан идентитет.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Outbox или buffer чека нову прилику за испоруку уз ограничен капацитет и јасну политику када се пуни. Бесконачан ред само прикрива проблем.</a:t>
            </a:r>
          </a:p>
          <a:p xmlns:a="http://schemas.openxmlformats.org/drawingml/2006/main">
            <a:r>
              <a:t>Ограничен капацитет, не бесконачан ред.</a:t>
            </a:r>
          </a:p>
          <a:p xmlns:a="http://schemas.openxmlformats.org/drawingml/2006/main">
            <a:r>
              <a:t>Има јасну политику за случај попуњености.</a:t>
            </a:r>
          </a:p>
          <a:p xmlns:a="http://schemas.openxmlformats.org/drawingml/2006/main">
            <a:r>
              <a:t>Чека нову прилику за испоруку, не губи поруку.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Прималац памти стабилан идентитет већ обрађене поруке. Тиме reconnect и поновна испорука не стварају други пословни ефекат.</a:t>
            </a:r>
          </a:p>
          <a:p xmlns:a="http://schemas.openxmlformats.org/drawingml/2006/main">
            <a:r>
              <a:t>Памти идентитет већ обрађене поруке.</a:t>
            </a:r>
          </a:p>
          <a:p xmlns:a="http://schemas.openxmlformats.org/drawingml/2006/main">
            <a:r>
              <a:t>Спречава други пословни ефекат при поновној испоруци.</a:t>
            </a:r>
          </a:p>
          <a:p xmlns:a="http://schemas.openxmlformats.org/drawingml/2006/main">
            <a:r>
              <a:t>Идентитет мора бити стабилан, не променљив податак.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Replay понавља видљиво неуспешну испоруку кроз исти ток валидације и аудита. Не сме бити пречица која заобилази правила зато што је порука стара.</a:t>
            </a:r>
          </a:p>
          <a:p xmlns:a="http://schemas.openxmlformats.org/drawingml/2006/main">
            <a:r>
              <a:t>Понавља испоруку кроз исти ток валидације.</a:t>
            </a:r>
          </a:p>
          <a:p xmlns:a="http://schemas.openxmlformats.org/drawingml/2006/main">
            <a:r>
              <a:t>Не заобилази правила зато што је порука стара.</a:t>
            </a:r>
          </a:p>
          <a:p xmlns:a="http://schemas.openxmlformats.org/drawingml/2006/main">
            <a:r>
              <a:t>Пролази и кроз audit као свака друга порука.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Удаљена компонента наставља локални рад док нема везу и чува поруке за касније.</a:t>
            </a:r>
          </a:p>
          <a:p xmlns:a="http://schemas.openxmlformats.org/drawingml/2006/main">
            <a:r>
              <a:t>Buffer има ограничење и јасно правило када више нема простора.</a:t>
            </a:r>
          </a:p>
          <a:p xmlns:a="http://schemas.openxmlformats.org/drawingml/2006/main">
            <a:r>
              <a:t>Outbox чува намеру заједно са пословном променом коју представља.</a:t>
            </a:r>
          </a:p>
          <a:p xmlns:a="http://schemas.openxmlformats.org/drawingml/2006/main">
            <a:r>
              <a:t>Прималац води евиденцију обрађених порука, а dead-letter чува неуспехе за контролисан replay.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Прекид везе мења тренутак испоруке, али не сме да избрише намеру нити да је произвољно удвостручи.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Скица прати transactional outbox/inbox тему и тест изгубљене потврде. Први Flush оставља поруке непотврђене. Други покушај шаље поново, а центар једном примењује payload. Outbox има експлицитан капацитет и политику попуњености.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 чува намеру кроз прекид везе.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Правило у коду</a:t>
            </a:r>
          </a:p>
          <a:p xmlns:a="http://schemas.openxmlformats.org/drawingml/2006/main">
            <a:r>
              <a:t>Упис мерења успева и када везе нема, слање је одвојен корак.</a:t>
            </a:r>
          </a:p>
          <a:p xmlns:a="http://schemas.openxmlformats.org/drawingml/2006/main">
            <a:r>
              <a:t>Flush шаље поруке редом и означава их испорученим тек када потврда стигне.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Flush шаље поруке редом и означава их испорученим тек када потврда стигне.</a:t>
            </a:r>
          </a:p>
          <a:p xmlns:a="http://schemas.openxmlformats.org/drawingml/2006/main">
            <a:r>
              <a:t>Упис мерења успева и када везе нема, слање је одвојен корак.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Flush шаље поруке редом и означава их испорученим тек када потврда стигне.</a:t>
            </a:r>
          </a:p>
          <a:p xmlns:a="http://schemas.openxmlformats.org/drawingml/2006/main">
            <a:r>
              <a:t>Упис мерења успева и када везе нема, слање је одвојен корак.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Тест који задаје квар</a:t>
            </a:r>
          </a:p>
          <a:p xmlns:a="http://schemas.openxmlformats.org/drawingml/2006/main">
            <a:r>
              <a:t>После повратка везе поруке стижу редом којим су настале.</a:t>
            </a:r>
          </a:p>
          <a:p xmlns:a="http://schemas.openxmlformats.org/drawingml/2006/main">
            <a:r>
              <a:t>Изгубљена потврда изазива retry, а центар поруке примењује једном и задржава њихов редослед.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Изгубљена потврда изазива retry, а центар поруке примењује једном и задржава њихов редослед.</a:t>
            </a:r>
          </a:p>
          <a:p xmlns:a="http://schemas.openxmlformats.org/drawingml/2006/main">
            <a:r>
              <a:t>После повратка везе поруке стижу редом којим су настале.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Изгубљена потврда изазива retry, а центар поруке примењује једном и задржава њихов редослед.</a:t>
            </a:r>
          </a:p>
          <a:p xmlns:a="http://schemas.openxmlformats.org/drawingml/2006/main">
            <a:r>
              <a:t>После повратка везе поруке стижу редом којим су настале.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Изгубљена потврда изазива поновно слање, а центар поруку примењује једном.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Принцип важи тек када је препозната и замка која га тихо поништава.</a:t>
            </a:r>
          </a:p>
          <a:p xmlns:a="http://schemas.openxmlformats.org/drawingml/2006/main">
            <a:r>
              <a:t>Порука која не пролази не нестаје тихо, већ добија видљив разлог.</a:t>
            </a:r>
          </a:p>
          <a:p xmlns:a="http://schemas.openxmlformats.org/drawingml/2006/main">
            <a:r>
              <a:t>Поновљена испорука је очекивана и прималац је препознаје.</a:t>
            </a:r>
          </a:p>
          <a:p xmlns:a="http://schemas.openxmlformats.org/drawingml/2006/main">
            <a:r>
              <a:t>Локални капацитет и политика одбацивања морају бити експлицитни.</a:t>
            </a:r>
          </a:p>
          <a:p xmlns:a="http://schemas.openxmlformats.org/drawingml/2006/main">
            <a:r>
              <a:t>Buffer без ограничења и без политике при попуњености.</a:t>
            </a:r>
          </a:p>
          <a:p xmlns:a="http://schemas.openxmlformats.org/drawingml/2006/main">
            <a:r>
              <a:t>Replay који заобилази исту валидацију као први покушај.</a:t>
            </a:r>
          </a:p>
          <a:p xmlns:a="http://schemas.openxmlformats.org/drawingml/2006/main">
            <a:r>
              <a:t>Дедупликација ослоњена само на податак који се може променити.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Ове грешке се најчешће понављају када се принцип површно примени.</a:t>
            </a:r>
          </a:p>
          <a:p xmlns:a="http://schemas.openxmlformats.org/drawingml/2006/main">
            <a:r>
              <a:t>Buffer без ограничења.</a:t>
            </a:r>
          </a:p>
          <a:p xmlns:a="http://schemas.openxmlformats.org/drawingml/2006/main">
            <a:r>
              <a:t>Replay који заобилази валидацију.</a:t>
            </a:r>
          </a:p>
          <a:p xmlns:a="http://schemas.openxmlformats.org/drawingml/2006/main">
            <a:r>
              <a:t>Дедупликација заснована на променљивом податку.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Кораци показују како се принцип препознаје и доследно спроводи у развоју.</a:t>
            </a:r>
          </a:p>
          <a:p xmlns:a="http://schemas.openxmlformats.org/drawingml/2006/main">
            <a:r>
              <a:t>Одредити капацитет и политику при попуњености.</a:t>
            </a:r>
          </a:p>
          <a:p xmlns:a="http://schemas.openxmlformats.org/drawingml/2006/main">
            <a:r>
              <a:t>Поновити повезивање након прекида.</a:t>
            </a:r>
          </a:p>
          <a:p xmlns:a="http://schemas.openxmlformats.org/drawingml/2006/main">
            <a:r>
              <a:t>Пратити поруку до коначног исхода.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Одговор се образлаже failure сценаријем и тестом, а не описом срећног пута.</a:t>
            </a:r>
          </a:p>
          <a:p xmlns:a="http://schemas.openxmlformats.org/drawingml/2006/main">
            <a:r>
              <a:t>Коју поруку бисте обавезно сачували док нема везе, а коју бисте смели да одбаците уз обавештење?</a:t>
            </a:r>
          </a:p>
          <a:p xmlns:a="http://schemas.openxmlformats.org/drawingml/2006/main">
            <a:r>
              <a:t>Коју поруку бисте морали сачувати током прекида везе, а коју бисте смели изгубити уз јасно обавештење? Зашто?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Проширење примера уз вежбу, правило иде у домен, а доказ у тест.</a:t>
            </a:r>
          </a:p>
          <a:p xmlns:a="http://schemas.openxmlformats.org/drawingml/2006/main">
            <a:r>
              <a:t>Ограничити величину outbox-а (Capacity).</a:t>
            </a:r>
          </a:p>
          <a:p xmlns:a="http://schemas.openxmlformats.org/drawingml/2006/main">
            <a:r>
              <a:t>Када је пун, ново мерење се одбија кодом outbox_full уместо да се тихо изгуби старо.</a:t>
            </a:r>
          </a:p>
          <a:p xmlns:a="http://schemas.openxmlformats.org/drawingml/2006/main">
            <a:r>
              <a:t>Правило покрити тестом у коме веза остаје у прекиду.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Принцип са вежбе примењује се на додељену пројектну целину.</a:t>
            </a:r>
          </a:p>
          <a:p xmlns:a="http://schemas.openxmlformats.org/drawingml/2006/main">
            <a:r>
              <a:t>Идентификовати конкретну дистрибуирану одлуку у својој целини.</a:t>
            </a:r>
          </a:p>
          <a:p xmlns:a="http://schemas.openxmlformats.org/drawingml/2006/main">
            <a:r>
              <a:t>Имплементирати је са стабилним кодом исхода.</a:t>
            </a:r>
          </a:p>
          <a:p xmlns:a="http://schemas.openxmlformats.org/drawingml/2006/main">
            <a:r>
              <a:t>Припремити поновљив failure сценарио и тест који га доказује.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Тим најпре одлучује шта може да се задржи локално, колико дуго и шта се дешава при попуњеном капацитету.</a:t>
            </a:r>
          </a:p>
          <a:p xmlns:a="http://schemas.openxmlformats.org/drawingml/2006/main">
            <a:r>
              <a:t>Прекид везе мења тренутак испоруке, али не сме да избрише намеру нити да је произвољно удвостручи.</a:t>
            </a:r>
          </a:p>
          <a:p xmlns:a="http://schemas.openxmlformats.org/drawingml/2006/main">
            <a:r>
              <a:t>Наредна вежба: Координација, проток и евентуална конзистентност.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a823fb64484be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856ff591c74bb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aa4377df2e445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276bdd4fcb494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6e462f48874e5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9c1bc9a85a4d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5D251F-6B83-44E2-892A-59609EBBD5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D498DE4-15FB-46D2-837D-5471C2D6D77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5538572-47BE-4CF7-BFA3-FF211EA528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8C0F76-2C42-4116-AA3D-8174AAE223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597A5DD-E400-48F2-B1E6-4B8E9BA96A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B03CE7E-38FF-4783-B180-59075B54D8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4DBC850-B541-4A85-A6C6-345CE4F163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96DA8D6-17C0-45B1-BAB1-11AAD62433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47F585-8059-4881-A957-506EE61BA8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DD67F4-90B6-41FB-A366-5FCDF91411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3ebcc8a89b4793" /><Relationship Type="http://schemas.openxmlformats.org/officeDocument/2006/relationships/slideLayout" Target="/ppt/slideLayouts/slideLayout1.xml" Id="Rebd775e9daf24beb" /><Relationship Type="http://schemas.openxmlformats.org/officeDocument/2006/relationships/slideLayout" Target="/ppt/slideLayouts/slideLayout2.xml" Id="R539a69393fb94378" /><Relationship Type="http://schemas.openxmlformats.org/officeDocument/2006/relationships/slideLayout" Target="/ppt/slideLayouts/slideLayout3.xml" Id="Rac77b5eab5e14b3a" /><Relationship Type="http://schemas.openxmlformats.org/officeDocument/2006/relationships/slideLayout" Target="/ppt/slideLayouts/slideLayout4.xml" Id="Rd644bb84302c47c3" /><Relationship Type="http://schemas.openxmlformats.org/officeDocument/2006/relationships/slideLayout" Target="/ppt/slideLayouts/slideLayout5.xml" Id="R1b70ed8195314af4" /><Relationship Type="http://schemas.openxmlformats.org/officeDocument/2006/relationships/slideLayout" Target="/ppt/slideLayouts/slideLayout6.xml" Id="R46d9f07312f84d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d775e9daf24beb"/>
    <p:sldLayoutId xmlns:r="http://schemas.openxmlformats.org/officeDocument/2006/relationships" id="2147483650" r:id="R539a69393fb94378"/>
    <p:sldLayoutId xmlns:r="http://schemas.openxmlformats.org/officeDocument/2006/relationships" id="2147483651" r:id="Rac77b5eab5e14b3a"/>
    <p:sldLayoutId xmlns:r="http://schemas.openxmlformats.org/officeDocument/2006/relationships" id="2147483652" r:id="Rd644bb84302c47c3"/>
    <p:sldLayoutId xmlns:r="http://schemas.openxmlformats.org/officeDocument/2006/relationships" id="2147483653" r:id="R1b70ed8195314af4"/>
    <p:sldLayoutId xmlns:r="http://schemas.openxmlformats.org/officeDocument/2006/relationships" id="2147483654" r:id="R46d9f07312f84d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c9a65c3c674970" /><Relationship Type="http://schemas.openxmlformats.org/officeDocument/2006/relationships/notesSlide" Target="/ppt/notesSlides/notesSlide1.xml" Id="R1a4ea889ffb44b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66bc2f00e04cfa" /><Relationship Type="http://schemas.openxmlformats.org/officeDocument/2006/relationships/notesSlide" Target="/ppt/notesSlides/notesSlide2.xml" Id="R546d08b2043b42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d2f24e12114212" /><Relationship Type="http://schemas.openxmlformats.org/officeDocument/2006/relationships/notesSlide" Target="/ppt/notesSlides/notesSlide3.xml" Id="R76bdb6a299d849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db8b893aab4e02" /><Relationship Type="http://schemas.openxmlformats.org/officeDocument/2006/relationships/notesSlide" Target="/ppt/notesSlides/notesSlide4.xml" Id="R00a63fade60448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5bdb3d5a214ef2" /><Relationship Type="http://schemas.openxmlformats.org/officeDocument/2006/relationships/notesSlide" Target="/ppt/notesSlides/notesSlide5.xml" Id="Ra3bfbdbb227d4d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e5a29d6fa94ef1" /><Relationship Type="http://schemas.openxmlformats.org/officeDocument/2006/relationships/notesSlide" Target="/ppt/notesSlides/notesSlide6.xml" Id="R7e16d5b5fbb940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3dfbbdc4dc44b0" /><Relationship Type="http://schemas.openxmlformats.org/officeDocument/2006/relationships/notesSlide" Target="/ppt/notesSlides/notesSlide7.xml" Id="Reeb6a31224974b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169da925c74ecb" /><Relationship Type="http://schemas.openxmlformats.org/officeDocument/2006/relationships/notesSlide" Target="/ppt/notesSlides/notesSlide8.xml" Id="R451535f2376d4a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fe8c1fe8114ceb" /><Relationship Type="http://schemas.openxmlformats.org/officeDocument/2006/relationships/notesSlide" Target="/ppt/notesSlides/notesSlide9.xml" Id="Ra7b847d3e1944f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e11a7c05af4880" /><Relationship Type="http://schemas.openxmlformats.org/officeDocument/2006/relationships/notesSlide" Target="/ppt/notesSlides/notesSlide10.xml" Id="R6435e32b14ec44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76e12c80ce4b03" /><Relationship Type="http://schemas.openxmlformats.org/officeDocument/2006/relationships/notesSlide" Target="/ppt/notesSlides/notesSlide11.xml" Id="R590e5c2e28ed42d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0d70f2d71d4b2a" /><Relationship Type="http://schemas.openxmlformats.org/officeDocument/2006/relationships/notesSlide" Target="/ppt/notesSlides/notesSlide12.xml" Id="R21919bd6e101400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759ce8a0d24b55" /><Relationship Type="http://schemas.openxmlformats.org/officeDocument/2006/relationships/notesSlide" Target="/ppt/notesSlides/notesSlide13.xml" Id="R51b04c46815d41d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e0eda623854159" /><Relationship Type="http://schemas.openxmlformats.org/officeDocument/2006/relationships/notesSlide" Target="/ppt/notesSlides/notesSlide14.xml" Id="Rf485a13729fe416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43c58523254810" /><Relationship Type="http://schemas.openxmlformats.org/officeDocument/2006/relationships/notesSlide" Target="/ppt/notesSlides/notesSlide15.xml" Id="R72d194dbdb91494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6418e52541422f" /><Relationship Type="http://schemas.openxmlformats.org/officeDocument/2006/relationships/notesSlide" Target="/ppt/notesSlides/notesSlide16.xml" Id="Rcc31465a347e4ef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225b6e0cb746c2" /><Relationship Type="http://schemas.openxmlformats.org/officeDocument/2006/relationships/notesSlide" Target="/ppt/notesSlides/notesSlide17.xml" Id="R41c2c2064bba45c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39695a3a3c4faf" /><Relationship Type="http://schemas.openxmlformats.org/officeDocument/2006/relationships/notesSlide" Target="/ppt/notesSlides/notesSlide18.xml" Id="Rfc0f2832860a427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7ed683a6ae4d65" /><Relationship Type="http://schemas.openxmlformats.org/officeDocument/2006/relationships/notesSlide" Target="/ppt/notesSlides/notesSlide19.xml" Id="R7f49e821d3bb406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4f59dca7974c09" /><Relationship Type="http://schemas.openxmlformats.org/officeDocument/2006/relationships/notesSlide" Target="/ppt/notesSlides/notesSlide20.xml" Id="R2b2fe72cc3b2487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5fb69ba99f480c" /><Relationship Type="http://schemas.openxmlformats.org/officeDocument/2006/relationships/notesSlide" Target="/ppt/notesSlides/notesSlide21.xml" Id="R9fbd59bb38fd452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6ec148cb9e4eaa" /><Relationship Type="http://schemas.openxmlformats.org/officeDocument/2006/relationships/notesSlide" Target="/ppt/notesSlides/notesSlide22.xml" Id="Rc501f377f88c4bc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f490177b0f4849" /><Relationship Type="http://schemas.openxmlformats.org/officeDocument/2006/relationships/notesSlide" Target="/ppt/notesSlides/notesSlide23.xml" Id="Rb6fe47d18b8849f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ac8680060e46b9" /><Relationship Type="http://schemas.openxmlformats.org/officeDocument/2006/relationships/notesSlide" Target="/ppt/notesSlides/notesSlide24.xml" Id="Re2643d9396254ce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6b43810d334871" /><Relationship Type="http://schemas.openxmlformats.org/officeDocument/2006/relationships/notesSlide" Target="/ppt/notesSlides/notesSlide25.xml" Id="R1e25bb74add043d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d6079999314130" /><Relationship Type="http://schemas.openxmlformats.org/officeDocument/2006/relationships/notesSlide" Target="/ppt/notesSlides/notesSlide26.xml" Id="Ra1b75741c36144a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37b4f028994adf" /><Relationship Type="http://schemas.openxmlformats.org/officeDocument/2006/relationships/notesSlide" Target="/ppt/notesSlides/notesSlide27.xml" Id="R4ef65419a8c942e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541d86da284924" /><Relationship Type="http://schemas.openxmlformats.org/officeDocument/2006/relationships/notesSlide" Target="/ppt/notesSlides/notesSlide28.xml" Id="R237f2cdf494744e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7baf4934f64803" /><Relationship Type="http://schemas.openxmlformats.org/officeDocument/2006/relationships/notesSlide" Target="/ppt/notesSlides/notesSlide29.xml" Id="R72fbd5f0e44f451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2e15e525334530" /><Relationship Type="http://schemas.openxmlformats.org/officeDocument/2006/relationships/notesSlide" Target="/ppt/notesSlides/notesSlide30.xml" Id="R48fb1381afe142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CA9E04-C24D-483B-B0C2-F7243D5A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09625"/>
            <a:ext cx="666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ПРИМЕЊЕНО СОФТВЕРСКО ИНЖЕЊЕРСТВО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ОСНОВЕ ДИСТРИБУИРАНОГ ПРОГРАМИРАЊА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CB21D14-A2AE-477B-A7B4-194C64B5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71650"/>
            <a:ext cx="6572250" cy="1280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Рад без везе и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поуздана испорука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4EA45-3468-401A-B8ED-5F11F745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99841"/>
            <a:ext cx="6191250" cy="312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8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598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98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Очување намере кроз прекид и reconnect</a:t>
            </a:r>
          </a:p>
        </p:txBody>
      </p:sp>
      <p:sp>
        <p:nvSpPr>
          <p:cNvPr id="4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E4C39A6E-59FC-4F34-9F2A-38BF2D99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345" y="1877739"/>
            <a:ext cx="1613995" cy="294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12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12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412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ЛОКАЛНО</a:t>
            </a:r>
          </a:p>
        </p:txBody>
      </p:sp>
      <p:sp>
        <p:nvSpPr>
          <p:cNvPr id="5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74F54AF5-CAEF-4077-84CD-C5846237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053" y="1877739"/>
            <a:ext cx="1421853" cy="294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12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12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412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УДАЉЕНО</a:t>
            </a:r>
          </a:p>
        </p:txBody>
      </p:sp>
      <p:sp>
        <p:nvSpPr>
          <p:cNvPr id="6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6CCBF2C7-FBB9-41F6-A03E-710201B5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345" y="2338880"/>
            <a:ext cx="1549947" cy="512379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9214">
            <a:solidFill>
              <a:srgbClr val="13202D"/>
            </a:solidFill>
            <a:prstDash val="solid"/>
          </a:ln>
        </p:spPr>
      </p:sp>
      <p:sp>
        <p:nvSpPr>
          <p:cNvPr id="7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A0DE6D7F-84B9-4D51-BFEB-7B78A69E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7392" y="2383713"/>
            <a:ext cx="1421853" cy="422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5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5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Промена</a:t>
            </a:r>
          </a:p>
        </p:txBody>
      </p:sp>
      <p:sp>
        <p:nvSpPr>
          <p:cNvPr id="8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DF0B39C0-0677-4E31-AA5D-A982348E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345" y="3376448"/>
            <a:ext cx="1549947" cy="845426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E1EB"/>
          </a:solidFill>
          <a:ln xmlns:a="http://schemas.openxmlformats.org/drawingml/2006/main" w="19214">
            <a:solidFill>
              <a:srgbClr val="A2276F"/>
            </a:solidFill>
            <a:prstDash val="solid"/>
          </a:ln>
        </p:spPr>
      </p:sp>
      <p:sp>
        <p:nvSpPr>
          <p:cNvPr id="9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3F13D567-DA97-45B6-9CD4-481BCAC2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7392" y="3478924"/>
            <a:ext cx="1421853" cy="3202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5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5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Outbox</a:t>
            </a:r>
          </a:p>
        </p:txBody>
      </p:sp>
      <p:sp>
        <p:nvSpPr>
          <p:cNvPr id="10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329B5467-3C16-48B1-AA74-99E7E833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654" y="3908042"/>
            <a:ext cx="358666" cy="160119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2809">
            <a:solidFill>
              <a:srgbClr val="A2276F"/>
            </a:solidFill>
            <a:prstDash val="solid"/>
          </a:ln>
        </p:spPr>
      </p:sp>
      <p:sp>
        <p:nvSpPr>
          <p:cNvPr id="11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C7530564-A4D8-445F-91E3-8378D781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6176" y="3908042"/>
            <a:ext cx="358666" cy="160119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2809">
            <a:solidFill>
              <a:srgbClr val="A2276F"/>
            </a:solidFill>
            <a:prstDash val="solid"/>
          </a:ln>
        </p:spPr>
      </p:sp>
      <p:sp>
        <p:nvSpPr>
          <p:cNvPr id="12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C2BFC328-0E09-4304-B418-F7DE343D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1699" y="3908042"/>
            <a:ext cx="358666" cy="160119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2809">
            <a:solidFill>
              <a:srgbClr val="A2276F"/>
            </a:solidFill>
            <a:prstDash val="solid"/>
          </a:ln>
        </p:spPr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B7F71-5A26-4832-BB88-92C86C00B79B}"/>
              </a:ext>
            </a:extLst>
          </p:cNvPr>
          <p:cNvCxnSpPr/>
          <p:nvPr/>
        </p:nvCxnSpPr>
        <p:spPr>
          <a:xfrm xmlns:a="http://schemas.openxmlformats.org/drawingml/2006/main" rot="5400000">
            <a:off x="8394153" y="3113854"/>
            <a:ext cx="448332" cy="0"/>
          </a:xfrm>
          <a:prstGeom xmlns:a="http://schemas.openxmlformats.org/drawingml/2006/main" prst="straightConnector1">
            <a:avLst/>
          </a:prstGeom>
          <a:ln xmlns:a="http://schemas.openxmlformats.org/drawingml/2006/main" w="19214">
            <a:solidFill>
              <a:srgbClr val="A2276F"/>
            </a:solidFill>
            <a:prstDash val="solid"/>
            <a:tailEnd type="triangle" w="sm" len="sm"/>
          </a:ln>
        </p:spPr>
      </p:cxnSp>
      <p:sp>
        <p:nvSpPr>
          <p:cNvPr id="14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2839F7BC-A5FC-41CA-984D-D5BAE834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053" y="3376448"/>
            <a:ext cx="1421853" cy="512379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9214">
            <a:solidFill>
              <a:srgbClr val="13202D"/>
            </a:solidFill>
            <a:prstDash val="solid"/>
          </a:ln>
        </p:spPr>
      </p:sp>
      <p:sp>
        <p:nvSpPr>
          <p:cNvPr id="15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EE40DC0F-AD94-4A2F-82E6-8E45CE96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421281"/>
            <a:ext cx="1293758" cy="422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5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5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Inbox</a:t>
            </a:r>
          </a:p>
        </p:txBody>
      </p:sp>
      <p:sp>
        <p:nvSpPr>
          <p:cNvPr id="16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B4BDEB69-57A2-42C6-8746-13F13228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053" y="4388397"/>
            <a:ext cx="1421853" cy="512379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2E1EB"/>
          </a:solidFill>
          <a:ln xmlns:a="http://schemas.openxmlformats.org/drawingml/2006/main" w="19214">
            <a:solidFill>
              <a:srgbClr val="A2276F"/>
            </a:solidFill>
            <a:prstDash val="solid"/>
          </a:ln>
        </p:spPr>
      </p:sp>
      <p:sp>
        <p:nvSpPr>
          <p:cNvPr id="17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D280A354-85AF-45D9-A975-8CD7CB88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433231"/>
            <a:ext cx="1293758" cy="422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12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412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412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Резултат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4BF6A5-F565-449E-A12F-8F79EBB4D78A}"/>
              </a:ext>
            </a:extLst>
          </p:cNvPr>
          <p:cNvCxnSpPr/>
          <p:nvPr/>
        </p:nvCxnSpPr>
        <p:spPr>
          <a:xfrm xmlns:a="http://schemas.openxmlformats.org/drawingml/2006/main" rot="0">
            <a:off x="9431721" y="3632638"/>
            <a:ext cx="409903" cy="0"/>
          </a:xfrm>
          <a:prstGeom xmlns:a="http://schemas.openxmlformats.org/drawingml/2006/main" prst="straightConnector1">
            <a:avLst/>
          </a:prstGeom>
          <a:ln xmlns:a="http://schemas.openxmlformats.org/drawingml/2006/main" w="19214">
            <a:solidFill>
              <a:srgbClr val="A2276F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1657FC-5A96-4322-A371-971A6213C0B2}"/>
              </a:ext>
            </a:extLst>
          </p:cNvPr>
          <p:cNvCxnSpPr/>
          <p:nvPr/>
        </p:nvCxnSpPr>
        <p:spPr>
          <a:xfrm xmlns:a="http://schemas.openxmlformats.org/drawingml/2006/main" rot="5400000">
            <a:off x="10379622" y="4138613"/>
            <a:ext cx="422713" cy="0"/>
          </a:xfrm>
          <a:prstGeom xmlns:a="http://schemas.openxmlformats.org/drawingml/2006/main" prst="straightConnector1">
            <a:avLst/>
          </a:prstGeom>
          <a:ln xmlns:a="http://schemas.openxmlformats.org/drawingml/2006/main" w="19214">
            <a:solidFill>
              <a:srgbClr val="A2276F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FD6EC5-BA73-4D5B-91E3-52C0CAA4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77280" y="2482987"/>
            <a:ext cx="3394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214">
            <a:solidFill>
              <a:srgbClr val="E07B1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DA9CD2-0D2B-4B8E-AF43-629722FE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92566" y="2931319"/>
            <a:ext cx="3394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214">
            <a:solidFill>
              <a:srgbClr val="E07B1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945B8E-5181-43A3-BA8F-AD1730D1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0149" y="2691141"/>
            <a:ext cx="2433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214">
            <a:solidFill>
              <a:srgbClr val="E07B1F"/>
            </a:solidFill>
            <a:prstDash val="solid"/>
          </a:ln>
        </p:spPr>
      </p:sp>
      <p:sp>
        <p:nvSpPr>
          <p:cNvPr id="23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A6884BFE-12FE-4B19-9366-7E064B2F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345" y="4414016"/>
            <a:ext cx="1549947" cy="268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11" b="0">
                <a:solidFill>
                  <a:srgbClr val="A2276F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311" b="0">
                <a:solidFill>
                  <a:srgbClr val="A2276F"/>
                </a:solidFill>
                <a:latin typeface="IBM Plex Sans"/>
                <a:ea typeface="IBM Plex Sans"/>
                <a:cs typeface="IBM Plex Sans"/>
              </a:defRPr>
            </a:pPr>
            <a:r>
              <a:rPr sz="1311" b="0">
                <a:solidFill>
                  <a:srgbClr val="A2276F"/>
                </a:solidFill>
                <a:latin typeface="IBM Plex Sans"/>
                <a:ea typeface="IBM Plex Sans"/>
                <a:cs typeface="IBM Plex Sans"/>
              </a:rPr>
              <a:t>reconnect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66D155-307B-4ECD-9CDE-2AADA19C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57816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6116EA-F62D-456A-91BF-D889B72E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53125"/>
            <a:ext cx="9525000" cy="268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Факултет техничких наука · Универзитет у Новом Саду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8852AB-7B4A-465C-A3F2-FCBC0182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29350"/>
            <a:ext cx="9525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Нови Сад</a:t>
            </a:r>
          </a:p>
        </p:txBody>
      </p:sp>
    </p:spTree>
    <p:extLst>
      <p:ext uri="{BB962C8B-B14F-4D97-AF65-F5344CB8AC3E}">
        <p14:creationId xmlns:p14="http://schemas.microsoft.com/office/powerpoint/2010/main" val="2427400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F88336-9FC3-44A6-9AA1-00232A0C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F57FC-2F23-4F21-879A-94A2CBB6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ПРОВЕРА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013054-B992-4CD5-8122-864EBA53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Садржај презентације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B50AC6-5AB6-4498-8F54-6E344691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2528888" cy="2924175"/>
          </a:xfrm>
          <a:prstGeom xmlns:a="http://schemas.openxmlformats.org/drawingml/2006/main" prst="roundRect">
            <a:avLst>
              <a:gd name="adj" fmla="val 376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1A382-0B29-4E59-B5A7-8BA14A75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524125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86DA2-86F2-476E-A7C9-868C6624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62250"/>
            <a:ext cx="2185988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0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CB7A1-6CC4-4BDB-AAB2-036C2AFD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09950"/>
            <a:ext cx="2185988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Појмови и границе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A82546-03C9-4015-86B6-1626808F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62425"/>
            <a:ext cx="2185988" cy="668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Кључни појмови,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одговорности компоненти и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конкретан failure сценарио.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7B0F6-232E-4629-B479-4C04D908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14900"/>
            <a:ext cx="2185988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03–10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8FD842-AEAE-4780-B2E0-78E429AA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2333625"/>
            <a:ext cx="2528888" cy="2924175"/>
          </a:xfrm>
          <a:prstGeom xmlns:a="http://schemas.openxmlformats.org/drawingml/2006/main" prst="roundRect">
            <a:avLst>
              <a:gd name="adj" fmla="val 376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C5E8AB-D0F8-486C-A369-2E20A27A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2524125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41165F-42AD-4E69-908B-07E959AA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2762250"/>
            <a:ext cx="2185988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0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6C84C7-7908-4279-A80F-69D378BA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3409950"/>
            <a:ext cx="2185988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Дистрибуирани ток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81A6D0-8C42-4009-931C-10B8D347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4162425"/>
            <a:ext cx="2185988" cy="455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Шема тока и гаранције које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повезују компоненте система.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71E66E-0629-4ACE-9DA0-42370779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4914900"/>
            <a:ext cx="2185988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11–13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015B0-4408-4326-9B39-BFA3D0EF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2528888" cy="2924175"/>
          </a:xfrm>
          <a:prstGeom xmlns:a="http://schemas.openxmlformats.org/drawingml/2006/main" prst="roundRect">
            <a:avLst>
              <a:gd name="adj" fmla="val 376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5A9B36-9EB5-4078-BED7-83E74A29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24125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E210D2-66FF-4473-815B-091B2F45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62250"/>
            <a:ext cx="2185988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0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DDEB83-ED0C-4CF0-B835-24729302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09950"/>
            <a:ext cx="2185988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Код и failure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тестови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4D5EEF-F9A9-4566-9D78-D74492B0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62425"/>
            <a:ext cx="2185988" cy="668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Покретање примера,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доменско правило, тест и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видљиви исходи.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A5C2BD-8F87-42E0-A186-DFC12F0A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14900"/>
            <a:ext cx="2185988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14–22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FFDE32-1CED-4428-93CE-23CE2DF1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2333625"/>
            <a:ext cx="2528888" cy="2924175"/>
          </a:xfrm>
          <a:prstGeom xmlns:a="http://schemas.openxmlformats.org/drawingml/2006/main" prst="roundRect">
            <a:avLst>
              <a:gd name="adj" fmla="val 376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3BA4ED-3E1F-4030-B6D9-49FC18CD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524125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19ED8A-4827-4AC3-BC74-8E328013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762250"/>
            <a:ext cx="2185988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0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A57D16-9209-446E-9B96-82DD2053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3409950"/>
            <a:ext cx="2185988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Примена и провера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480FE3-1BEC-482F-816E-05AA8DBC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4162425"/>
            <a:ext cx="2185988" cy="668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Принципи, замке, задатак уз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пример и примена на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пројектну целину.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90F717-1BD4-44A5-92A7-0F7B5E4C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4914900"/>
            <a:ext cx="2185988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23–30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2E6BC2-3073-4664-9E60-FA55186E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8F6722-BE26-4860-9606-1C6D52CD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30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CDEB3E6-9548-4EBF-A24E-8C054F29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203350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FE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8C9DE-75B1-428B-999F-0AE4D01F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75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875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3875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082A7-A707-428A-9695-23D540A0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6858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ПРВИ ДЕО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86DE8-1D27-412B-8D48-534E33A9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6858000" cy="699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Појмови и границе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FD4D3-AD63-425C-B32C-940E1A9B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3758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Кључни појмови, одговорности компоненти и конкретан failure сценарио.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EB229-48FF-47B8-81D5-8AB10B8C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3D698-5527-4C39-802D-B83E20DD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9C8CDB2-921A-4382-9DC2-BC785A9F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930162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4D72BA-A804-4D44-AF37-1E08DCF3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03108-7EF8-4431-927D-C79B0EE2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DA90FC-E3DD-4447-B9C9-47ADF5C0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Тема и проблем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266A0F3E-3E6D-4213-BC2F-AFC92F32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Разумети како buffer, outbox, дедупликација и replay раде заједно.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B9A12-9412-4A46-AD78-9C669309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9810750" cy="1068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Прекид везе раздваја тренутак настанка поруке од тренутка пријема.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Систем мора да изабере шта чува, шта понавља и како спречава дуплу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обраду.</a:t>
            </a:r>
          </a:p>
        </p:txBody>
      </p:sp>
      <p:sp>
        <p:nvSpPr>
          <p:cNvPr id="6" name="banner-background">
            <a:extLst xmlns:a="http://schemas.openxmlformats.org/drawingml/2006/main">
              <a:ext uri="{FF2B5EF4-FFF2-40B4-BE49-F238E27FC236}">
                <a16:creationId xmlns:a16="http://schemas.microsoft.com/office/drawing/2014/main" id="{CBE068BF-2D8C-4BDB-868E-D3A69337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10572750" cy="97536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EF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anner-curved-accent">
            <a:extLst xmlns:a="http://schemas.openxmlformats.org/drawingml/2006/main">
              <a:ext uri="{FF2B5EF4-FFF2-40B4-BE49-F238E27FC236}">
                <a16:creationId xmlns:a16="http://schemas.microsoft.com/office/drawing/2014/main" id="{2765FA9E-727F-4F4D-A3C7-6F92081D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76200" cy="975360"/>
          </a:xfrm>
          <a:custGeom xmlns:a="http://schemas.openxmlformats.org/drawingml/2006/main">
            <a:pathLst>
              <a:path w="76200" h="975360">
                <a:moveTo>
                  <a:pt x="76200" y="0"/>
                </a:moveTo>
                <a:cubicBezTo>
                  <a:pt x="34100" y="0"/>
                  <a:pt x="0" y="34100"/>
                  <a:pt x="0" y="76200"/>
                </a:cubicBezTo>
                <a:lnTo>
                  <a:pt x="0" y="899160"/>
                </a:lnTo>
                <a:cubicBezTo>
                  <a:pt x="0" y="941261"/>
                  <a:pt x="34100" y="975360"/>
                  <a:pt x="76200" y="975360"/>
                </a:cubicBezTo>
                <a:lnTo>
                  <a:pt x="76200" y="937260"/>
                </a:lnTo>
                <a:cubicBezTo>
                  <a:pt x="55150" y="937260"/>
                  <a:pt x="38100" y="920210"/>
                  <a:pt x="38100" y="899160"/>
                </a:cubicBezTo>
                <a:lnTo>
                  <a:pt x="38100" y="76200"/>
                </a:lnTo>
                <a:cubicBezTo>
                  <a:pt x="38100" y="55150"/>
                  <a:pt x="55150" y="38100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262E8-185C-49B0-8D88-EA093E84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57700"/>
            <a:ext cx="10115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НАПОМЕНА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30F16F-7D67-4B8E-A480-1647A5D3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95825"/>
            <a:ext cx="10115550" cy="5086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Поуздана испорука даје поруци видљив животни циклус, уместо да се ослања на претпоставку да мрежа неће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направити грешку.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3BDC11-E68F-4467-8F2D-63980DD5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DCE27A-00A3-456E-998D-6E72218B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77B8EE3-C5D6-4FB9-B02C-C09B942C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310638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EA94F1-FA5D-421B-B579-27347DAE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BDE60-CFC5-441D-B1D4-F6EE2CEA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E18C18-817A-4DA3-A27D-D65E6847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Четири појма теме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8B033AD9-B450-4AB9-891F-67FAA3D6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Прекид везе не мора да заустави локални рад, али уводи питање шта се десило док друга страна није била доступна.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158F7A-F385-4034-8F36-97489C83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516255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80BD8A-30EF-4151-859A-BAF0FF59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86025"/>
            <a:ext cx="76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3D40A-163B-433F-920F-813968C1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543175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Локална намера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0C620-8CFE-4B41-A046-E11BD5D7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190875"/>
            <a:ext cx="384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настаје и чува се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4EAFE8-EC48-41BB-A487-42F859F7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33625"/>
            <a:ext cx="516255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237DF4-6311-4386-A208-B3AED690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86025"/>
            <a:ext cx="76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62B344-726D-4A8B-A168-D840CBB1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43175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Outbox или buffer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494CE2-1C10-414D-985E-61DCD73D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90875"/>
            <a:ext cx="384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чека сигурну испоруку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D4A689-D708-4B49-B3E8-924C0267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38600"/>
            <a:ext cx="516255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6AE343-1625-42F6-A6C3-B1584155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91000"/>
            <a:ext cx="76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FA269A-1EFA-4BEC-9396-17012ECF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248150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Прималац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BFED3E-077C-4144-9060-97DB1DD8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895850"/>
            <a:ext cx="384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памти обрађене поруке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AF258E-7FB7-4439-9F64-43E46A02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38600"/>
            <a:ext cx="516255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03CE91-7973-4AFD-9967-D157652F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191000"/>
            <a:ext cx="76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6BC51F-1403-4D6C-8B0E-E5BE20AE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248150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DLQ и replay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64B929-158F-4D43-AB5D-599189F6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895850"/>
            <a:ext cx="384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видљива корекција неуспеха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F976A0-0E2B-4190-8DAD-A0E832D4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F903D3-DB67-4B75-8C2B-16F44093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2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683B9BA-2829-4827-B948-5537BA8A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1522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AF1C8F-0389-467F-8033-33FF5123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BB639-29A4-4745-9884-C5E44460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49023E-B2DF-45AA-A9FD-E2626627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Локална намера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15292363-1D55-4EE7-871B-F5B1956F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526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Када нема везе, систем најпре трајно чува намеру и њен идентитет. Тако корисникова радња не нестаје само зато што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удаљени систем тренутно није доступан.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3E3ED-D0B5-454D-880C-49367F92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648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519755-E04F-4463-A5CA-49C7BB47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886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35D10-59DE-4108-BEA8-D4242F7E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077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Трајно се чува пре покушаја испоруке.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28AE5-9490-4BB2-A701-BC3F158B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91727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AF17E-4E98-4521-8125-85CB9206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110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42EB5-9AA3-4BB7-BED4-FDDE3B79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6015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Радња не нестаје због недоступности удаљеног система.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EB3F43-E131-4567-BA02-62533515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697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6C419B-73A6-4902-99F8-1019B18B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35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FF6489-D115-4418-9B29-4452C06F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26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Има сопствени стабилан идентитет.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8CB073-2AC8-4F23-8A20-ADDE1E5D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F8F616-5229-4BEE-B25C-934C9765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7EA0E24-8B43-4B8E-848E-E11F9E8E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965464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EC2AE2-F84B-4019-A4EE-BAD69495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A40C7-CA81-47C4-ACD8-55498027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387DD8-2509-464D-9105-44D9B880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Outbox или buffer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D7783923-6EBA-4865-8645-AA025129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526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Outbox или buffer чека нову прилику за испоруку уз ограничен капацитет и јасну политику када се пуни. Бесконачан ред само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прикрива проблем.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A4873-A807-4562-80E7-77E949F0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648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02FA9F-FB93-42FB-8B03-24EAD51F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886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3C6D5-6CF2-4174-B37F-C4E123AC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077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Ограничен капацитет, не бесконачан ред.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131E49-5F85-4DEE-9D41-653EE243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91727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8DD71-63B3-49B6-8FDD-994D654A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110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D0561-78FA-496C-9921-CB460E9B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6015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Има јасну политику за случај попуњености.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E75B4C-A597-4868-9B2C-46DA3ACD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697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B0EEE-031A-4513-8633-83679F65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35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9F2008-F347-4464-9DD9-08A3D2A8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26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Чека нову прилику за испоруку, не губи поруку.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26B8C4-CA69-4AC7-BCA3-E2511B72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E2EA63-C291-4D4D-8E92-B5D71A1D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154DBB3-B389-4C22-BC48-4A46D4D6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056080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1409FA-157A-425E-9E04-92D9B085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FAD7A-BEB3-4A88-91DE-0718D69F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9C8E05-7CE6-48BD-BE3E-3D9B63FB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Дедупликација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F3254B3B-EA3B-4D60-8D13-D37123D9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526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Прималац памти стабилан идентитет већ обрађене поруке. Тиме reconnect и поновна испорука не стварају други пословни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ефекат.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81FE1B-C443-4777-A269-C0F36340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648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7F82A-BBC2-4844-918B-A2941370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886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56ABBF-4D96-4F74-B122-C6882D46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077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Памти идентитет већ обрађене поруке.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785589-169A-48F0-9BFC-999302BD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91727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01142-5295-4C54-9F62-2E06C271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110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024436-1A75-4FD5-B7D5-5DFB1D40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6015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Спречава други пословни ефекат при поновној испоруци.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90B355-975D-4D6F-A758-E86051EB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697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03A9E5-7EE0-4C71-8317-0F99EAC7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35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77C7B1-C6A2-4AB0-80BA-8E129ACE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26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Идентитет мора бити стабилан, не променљив податак.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A27104-3ED3-45A6-9579-AD247916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DD2376-8A44-4B19-91D9-C216AD94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67DF542-CD5F-4F02-BA8C-D7C20D42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544646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63C2-2899-4351-9A6F-31A1307E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3C060-E6F9-44B8-8A0F-849DB1D6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31C03F-2135-4E63-9BE3-F8EE4368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Replay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CC274305-81B0-4D83-B315-EBBAB430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526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Replay понавља видљиво неуспешну испоруку кроз исти ток валидације и аудита. Не сме бити пречица која заобилази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правила зато што је порука стара.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DCB17-53E0-49A5-A8F0-BADEC50C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648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F13389-4350-49CA-B69E-07C012B9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886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53C512-17C5-4FDE-8FC2-D592DE4E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077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Понавља испоруку кроз исти ток валидације.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0C2B7-2599-4ADF-87D7-DBBC757D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91727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B75281-06A7-4A11-88D5-F45D5B98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110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A13AB8-F3CB-451E-A1A5-D80F7AB5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6015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 заобилази правила зато што је порука стара.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BFDF7-25BA-43A7-ADA3-9EF1A9B1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697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D16E9-FD0F-4816-8BA3-11F2BF0F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35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F8D7C1-6B5C-4A5B-8ED0-0DCFE1C9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26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Пролази и кроз audit као свака друга порука.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785AB3-895C-410C-B744-93CFDD18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0DA0C8-2B88-43C0-A561-6D41A301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163FBD0-84AA-4204-B605-8F58DA9D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674081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82C8C7-5637-4AC7-9127-D1B9CF9E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5D85C-CB0F-4650-986F-26A0C253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6C72CE-FE22-47C3-A764-F15CD899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Пример: reconnect после локалног рада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215CB16C-BDF8-4E56-930B-FE38433E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Удаљена компонента наставља локални рад док нема везу и чува поруке за касније.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AD7DA-F7CD-4A94-AD9C-3D0A2095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33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57657-AB5B-4CA2-B9EA-1F3F9D09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0762E-295B-4C25-BCB1-DBB4A425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Buffer има ограничење и јасно правило када више нема простора.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1C1AB7-F545-4008-837C-E7C556AA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8860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3020F1-2675-4D45-8786-E2A7D8EC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990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BE2969-263E-4824-BF24-FAF7DA4E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Outbox чува намеру заједно са пословном променом коју представља.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572409-465A-40FA-AB35-4472640E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385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A4478E-10E7-488B-8964-A8794E64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623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2F5A5A-1DF9-4B40-9B3B-784EE7DF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81400"/>
            <a:ext cx="9791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Прималац води евиденцију обрађених порука, а dead-letter чува неуспехе за контролисан replay.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E7D809-DD65-4F7D-A4B9-94A6BF59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ED4287-679E-4783-91DF-8E38E9F1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5B19F44-8D59-4FC2-BBDB-DC0B15EC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254916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FE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35E081-14FE-4A9B-B7B6-9BA5C859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75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875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3875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95A58-687E-4341-9B15-C7C85FD1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6858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ДРУГИ ДЕО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8526A-5127-4146-9159-C25B0312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6858000" cy="699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Дистрибуирани ток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0F92C7-BDE0-418A-95CC-B6ADBE01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3758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Шема тока и гаранције које повезују компоненте система.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205EA-D6F5-4253-94C2-9D8199F7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5ACFF-DFDE-47EB-9864-4F18FA75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9542E15-CB25-4188-A8C6-BDFB30C4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9757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5D2F04-9073-4824-8BA0-550D0360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65223F-1CF6-439A-A28F-81959FDC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02 · ТОК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050144-A4AA-4A96-8924-E02F0263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Шема рада без везе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7D100BF7-BA3D-4410-90E1-34E01EE8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Прекид везе мења тренутак испоруке, али не сме да избрише намеру нити да је произвољно удвостручи.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09292E-ABF5-4369-A653-1FD24AE9D587}"/>
              </a:ext>
            </a:extLst>
          </p:cNvPr>
          <p:cNvGraphicFramePr/>
          <p:nvPr/>
        </p:nvGraphicFramePr>
        <p:xfrm>
          <a:off xmlns:a="http://schemas.openxmlformats.org/drawingml/2006/main" x="809625" y="2333625"/>
          <a:ext xmlns:a="http://schemas.openxmlformats.org/drawingml/2006/main" cx="1057275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429500"/>
              </a:tblGrid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Елемент</a:t>
                      </a:r>
                    </a:p>
                  </a:txBody>
                  <a:tcPr marL="91440" marR="91440" marT="45720" marB="45720" anchor="ctr">
                    <a:solidFill>
                      <a:srgbClr val="EFE5EA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Улога у току</a:t>
                      </a:r>
                    </a:p>
                  </a:txBody>
                  <a:tcPr marL="91440" marR="91440" marT="45720" marB="45720" anchor="ctr">
                    <a:solidFill>
                      <a:srgbClr val="EFE5EA"/>
                    </a:solidFill>
                  </a:tcPr>
                </a:tc>
              </a:tr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Локална промена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настаје без мреже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</a:tr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Buffer или outbox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чува поруку и разлог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</a:tr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Reconnect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понавља испоруку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</a:tr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Inbox и резултат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спречавају дупли ефекат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BB9BC2-B0B1-481F-8D5E-2C2DD3FE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AF3AA-2483-4675-8C5C-608B6B68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613CF06-5259-4915-AF3F-E00355C9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171947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AF7A26-9761-4837-830D-7CEBB488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C5045-BBA8-4166-8C20-3293EAA0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02 · ДИЈАГРАМ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EBD200-4AF4-4A77-80BE-AE6C8ED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Намера преживљава прекид везе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3623E9E2-6462-4603-B095-DEF04D5A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Локална промена и Outbox чувају намеру, а Inbox спречава дупли ефекат после reconnect-а.</a:t>
            </a:r>
          </a:p>
        </p:txBody>
      </p:sp>
      <p:sp>
        <p:nvSpPr>
          <p:cNvPr id="5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C6C8FC92-DAC4-4794-A5E4-D5FC3A07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5063"/>
            <a:ext cx="3833813" cy="250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19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19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219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НАСТАНАК И ТРАЈНО ЧУВАЊЕ</a:t>
            </a:r>
          </a:p>
        </p:txBody>
      </p:sp>
      <p:sp>
        <p:nvSpPr>
          <p:cNvPr id="6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359E7825-156B-4639-B686-32B29378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7734"/>
            <a:ext cx="3869531" cy="1488281"/>
          </a:xfrm>
          <a:prstGeom xmlns:a="http://schemas.openxmlformats.org/drawingml/2006/main" prst="roundRect">
            <a:avLst>
              <a:gd name="adj" fmla="val 6400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A2276F"/>
            </a:solidFill>
            <a:prstDash val="solid"/>
          </a:ln>
        </p:spPr>
      </p:sp>
      <p:sp>
        <p:nvSpPr>
          <p:cNvPr id="7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0C301CE8-D3E7-4D83-8E93-D29A648A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55156"/>
            <a:ext cx="1607344" cy="797719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7859">
            <a:solidFill>
              <a:srgbClr val="13202D"/>
            </a:solidFill>
            <a:prstDash val="solid"/>
          </a:ln>
        </p:spPr>
      </p:sp>
      <p:sp>
        <p:nvSpPr>
          <p:cNvPr id="8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0C810E71-D910-46F5-8DE6-0A56163B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781" y="3196828"/>
            <a:ext cx="1488281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5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Локална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5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промена</a:t>
            </a:r>
          </a:p>
        </p:txBody>
      </p:sp>
      <p:sp>
        <p:nvSpPr>
          <p:cNvPr id="9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2338E690-25EF-4E15-A5BD-84CAC217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688" y="3155156"/>
            <a:ext cx="1512094" cy="797719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2E1EB"/>
          </a:solidFill>
          <a:ln xmlns:a="http://schemas.openxmlformats.org/drawingml/2006/main" w="17859">
            <a:solidFill>
              <a:srgbClr val="A2276F"/>
            </a:solidFill>
            <a:prstDash val="solid"/>
          </a:ln>
        </p:spPr>
      </p:sp>
      <p:sp>
        <p:nvSpPr>
          <p:cNvPr id="10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CFAFA541-98C8-44C7-9163-B2AFDE67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4219" y="3196828"/>
            <a:ext cx="1393031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9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359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359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Outbox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359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359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MessageId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79D5D5-C904-4B56-B3A3-D7140E644229}"/>
              </a:ext>
            </a:extLst>
          </p:cNvPr>
          <p:cNvCxnSpPr/>
          <p:nvPr/>
        </p:nvCxnSpPr>
        <p:spPr>
          <a:xfrm xmlns:a="http://schemas.openxmlformats.org/drawingml/2006/main" rot="0">
            <a:off x="2881313" y="3554016"/>
            <a:ext cx="297656" cy="0"/>
          </a:xfrm>
          <a:prstGeom xmlns:a="http://schemas.openxmlformats.org/drawingml/2006/main" prst="straightConnector1">
            <a:avLst/>
          </a:prstGeom>
          <a:ln xmlns:a="http://schemas.openxmlformats.org/drawingml/2006/main" w="17859">
            <a:solidFill>
              <a:srgbClr val="A2276F"/>
            </a:solidFill>
            <a:prstDash val="solid"/>
            <a:tailEnd type="triangle" w="sm" len="sm"/>
          </a:ln>
        </p:spPr>
      </p:cxnSp>
      <p:sp>
        <p:nvSpPr>
          <p:cNvPr id="12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6A52B821-72A7-43A8-9BE6-06EDA220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531" y="3155156"/>
            <a:ext cx="1702594" cy="797719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7859">
            <a:solidFill>
              <a:srgbClr val="13202D"/>
            </a:solidFill>
            <a:prstDash val="solid"/>
          </a:ln>
        </p:spPr>
      </p:sp>
      <p:sp>
        <p:nvSpPr>
          <p:cNvPr id="13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A3C0A17B-BA37-4F8D-A1C8-C57CC732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063" y="3196828"/>
            <a:ext cx="1583531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06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406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406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Inbox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406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406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обрађени ID</a:t>
            </a:r>
          </a:p>
        </p:txBody>
      </p:sp>
      <p:sp>
        <p:nvSpPr>
          <p:cNvPr id="14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83077F5A-B3F7-4BBA-9FAB-BB855A1A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1656" y="3155156"/>
            <a:ext cx="1035844" cy="797719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2E1EB"/>
          </a:solidFill>
          <a:ln xmlns:a="http://schemas.openxmlformats.org/drawingml/2006/main" w="17859">
            <a:solidFill>
              <a:srgbClr val="A2276F"/>
            </a:solidFill>
            <a:prstDash val="solid"/>
          </a:ln>
        </p:spPr>
      </p:sp>
      <p:sp>
        <p:nvSpPr>
          <p:cNvPr id="15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15EEB397-748B-4E97-957E-0792576E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188" y="3196828"/>
            <a:ext cx="916781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9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359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359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Резултат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1BCAE5-8BFC-4B85-9DDB-AAAACC899A27}"/>
              </a:ext>
            </a:extLst>
          </p:cNvPr>
          <p:cNvCxnSpPr/>
          <p:nvPr/>
        </p:nvCxnSpPr>
        <p:spPr>
          <a:xfrm xmlns:a="http://schemas.openxmlformats.org/drawingml/2006/main" rot="0">
            <a:off x="4953000" y="3554016"/>
            <a:ext cx="2309813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A2276F"/>
            </a:solidFill>
            <a:prstDash val="solid"/>
            <a:tailEnd type="triangle" w="sm" len="sm"/>
          </a:ln>
        </p:spPr>
      </p:cxnSp>
      <p:sp>
        <p:nvSpPr>
          <p:cNvPr id="17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B49CCB46-D176-4649-A512-7FE0BEF9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3143250"/>
            <a:ext cx="182165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A2276F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500" b="0">
                <a:solidFill>
                  <a:srgbClr val="A2276F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A2276F"/>
                </a:solidFill>
                <a:latin typeface="IBM Plex Sans"/>
                <a:ea typeface="IBM Plex Sans"/>
                <a:cs typeface="IBM Plex Sans"/>
              </a:rPr>
              <a:t>reconnect</a:t>
            </a:r>
          </a:p>
        </p:txBody>
      </p:sp>
      <p:sp>
        <p:nvSpPr>
          <p:cNvPr id="18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FD20151F-3CFD-4ED5-AC10-ACB21DDE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719" y="3750469"/>
            <a:ext cx="210740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13" b="0">
                <a:solidFill>
                  <a:srgbClr val="E07B1F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313" b="0">
                <a:solidFill>
                  <a:srgbClr val="E07B1F"/>
                </a:solidFill>
                <a:latin typeface="IBM Plex Sans"/>
                <a:ea typeface="IBM Plex Sans"/>
                <a:cs typeface="IBM Plex Sans"/>
              </a:defRPr>
            </a:pPr>
            <a:r>
              <a:rPr sz="1313" b="0">
                <a:solidFill>
                  <a:srgbClr val="E07B1F"/>
                </a:solidFill>
                <a:latin typeface="IBM Plex Sans"/>
                <a:ea typeface="IBM Plex Sans"/>
                <a:cs typeface="IBM Plex Sans"/>
              </a:rPr>
              <a:t>поновљена испорука</a:t>
            </a:r>
          </a:p>
        </p:txBody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B5BF44-9E6B-456B-AAA0-587C84942F81}"/>
              </a:ext>
            </a:extLst>
          </p:cNvPr>
          <p:cNvCxnSpPr/>
          <p:nvPr/>
        </p:nvCxnSpPr>
        <p:spPr>
          <a:xfrm xmlns:a="http://schemas.openxmlformats.org/drawingml/2006/main" rot="0">
            <a:off x="9036844" y="3554016"/>
            <a:ext cx="369094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A2276F"/>
            </a:solidFill>
            <a:prstDash val="solid"/>
            <a:tailEnd type="triangle" w="sm" len="sm"/>
          </a:ln>
        </p:spPr>
      </p:cxnSp>
      <p:sp>
        <p:nvSpPr>
          <p:cNvPr id="20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3B7404F7-4AAA-45AE-ABA0-6E7122BA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74406"/>
            <a:ext cx="5429250" cy="654844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7859">
            <a:solidFill>
              <a:srgbClr val="13202D"/>
            </a:solidFill>
            <a:prstDash val="solid"/>
          </a:ln>
        </p:spPr>
      </p:sp>
      <p:sp>
        <p:nvSpPr>
          <p:cNvPr id="21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3E85E245-2C07-4BFC-A623-3A06AD16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281" y="4816078"/>
            <a:ext cx="53101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5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Нема потврде: намера остаје у Outbox-у.</a:t>
            </a:r>
          </a:p>
        </p:txBody>
      </p:sp>
      <p:sp>
        <p:nvSpPr>
          <p:cNvPr id="22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6B7D4130-2BBD-4340-93FA-9EAFAFF5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9906" y="4774406"/>
            <a:ext cx="3607594" cy="654844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2E1EB"/>
          </a:solidFill>
          <a:ln xmlns:a="http://schemas.openxmlformats.org/drawingml/2006/main" w="17859">
            <a:solidFill>
              <a:srgbClr val="A2276F"/>
            </a:solidFill>
            <a:prstDash val="solid"/>
          </a:ln>
        </p:spPr>
      </p:sp>
      <p:sp>
        <p:nvSpPr>
          <p:cNvPr id="23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8EBA62B1-B999-4514-A5F9-E9695124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438" y="4816078"/>
            <a:ext cx="3488531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5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Дупликат не ствара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5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други ефекат.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70053C-B513-4AA8-A424-33064745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917656" y="4220766"/>
            <a:ext cx="4643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A2276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BC8028-8DE5-4854-B130-CD7B84A3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9828" y="4452938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A2276F"/>
            </a:solidFill>
            <a:prstDash val="solid"/>
          </a:ln>
        </p:spPr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052579-E0A9-4EF1-B19C-E688F5CC458B}"/>
              </a:ext>
            </a:extLst>
          </p:cNvPr>
          <p:cNvCxnSpPr/>
          <p:nvPr/>
        </p:nvCxnSpPr>
        <p:spPr>
          <a:xfrm xmlns:a="http://schemas.openxmlformats.org/drawingml/2006/main" rot="5400000">
            <a:off x="8530828" y="4595813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A2276F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1E2329-AC00-4CD8-AA40-AAC71A2D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738563" y="4220766"/>
            <a:ext cx="4643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07B1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E00EA0-906D-4913-80C6-92106FA2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762375" y="4452938"/>
            <a:ext cx="2083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07B1F"/>
            </a:solidFill>
            <a:prstDash val="solid"/>
          </a:ln>
        </p:spPr>
      </p: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67D938-6769-4F60-9C61-6DB88E210F9D}"/>
              </a:ext>
            </a:extLst>
          </p:cNvPr>
          <p:cNvCxnSpPr/>
          <p:nvPr/>
        </p:nvCxnSpPr>
        <p:spPr>
          <a:xfrm xmlns:a="http://schemas.openxmlformats.org/drawingml/2006/main" rot="5400000">
            <a:off x="3619500" y="4595813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E07B1F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99A386-C703-4D2E-9387-34A728E2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70DC80-B99D-4B57-8D32-E518B5FA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3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BFB0A2A-7A8D-42DC-949C-0F409161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53734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FE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3D2E9-7DE4-4766-B68A-F0E2800D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75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875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3875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77657-D68B-4D6A-AF95-291FB624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6858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ТРЕЋИ ДЕО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18FCA-ABB0-4D90-AF49-E6254788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6858000" cy="699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Код и failure тестови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7CC4E-89CB-4B0A-970D-BB493E27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3758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Покретање примера, доменско правило, тест и видљиви исходи.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F4039A-50CA-4DF8-8D5F-ED2CADB3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57DB4-14C8-4CBB-A1D4-DCB71D50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EF985B6-656F-49A1-BD62-36F433B2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205050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87000F-5395-4145-978C-448A343A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C7407-8031-489E-A9A0-C5536647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E306A7-353E-4572-89C9-50EF4D5D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Покретање примера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A4D4AF21-448A-4B9D-81F0-A9CC6177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Пример чува намеру кроз прекид везе.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FD2C6880-965C-42B4-982A-FDAF862A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8021955" cy="1144905"/>
          </a:xfrm>
          <a:prstGeom xmlns:a="http://schemas.openxmlformats.org/drawingml/2006/main" prst="roundRect">
            <a:avLst>
              <a:gd name="adj" fmla="val 831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B759E-DED9-4BA9-9C27-74B420B0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766000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terminal · Корен Git репозиторијума nastava.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BD438-0210-4CFF-8BEB-4561AE3E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714625"/>
            <a:ext cx="7660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10AEEF1A-E596-40C1-A2F4-EEE47191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9" name="code-line">
            <a:extLst xmlns:a="http://schemas.openxmlformats.org/drawingml/2006/main">
              <a:ext uri="{FF2B5EF4-FFF2-40B4-BE49-F238E27FC236}">
                <a16:creationId xmlns:a16="http://schemas.microsoft.com/office/drawing/2014/main" id="{AC513556-E0F9-4547-A7D6-029717DD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72313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cd </a:t>
            </a:r>
            <a:r>
              <a:rPr sz="120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"03 Osnove Distribuiranog Programiranja/04 Primeri/07 Rad bez veze outbox"</a:t>
            </a:r>
          </a:p>
        </p:txBody>
      </p:sp>
      <p:sp>
        <p:nvSpPr>
          <p:cNvPr id="1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A8C38F00-FBA5-4561-8279-70DA6B1C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41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1" name="code-line">
            <a:extLst xmlns:a="http://schemas.openxmlformats.org/drawingml/2006/main">
              <a:ext uri="{FF2B5EF4-FFF2-40B4-BE49-F238E27FC236}">
                <a16:creationId xmlns:a16="http://schemas.microsoft.com/office/drawing/2014/main" id="{54CDE9D1-9887-4020-9AC0-7D0EC08D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4185"/>
            <a:ext cx="72313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dotnet run --project src/Odp.Vezba07.ConsoleUi</a:t>
            </a:r>
          </a:p>
        </p:txBody>
      </p:sp>
      <p:sp>
        <p:nvSpPr>
          <p:cNvPr id="1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A30897C6-87F9-4FD7-B47E-E7242F5F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75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3" name="code-line">
            <a:extLst xmlns:a="http://schemas.openxmlformats.org/drawingml/2006/main">
              <a:ext uri="{FF2B5EF4-FFF2-40B4-BE49-F238E27FC236}">
                <a16:creationId xmlns:a16="http://schemas.microsoft.com/office/drawing/2014/main" id="{37092441-C1DC-4593-B65A-0D4BFF7C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7545"/>
            <a:ext cx="72313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dotnet test Odp.Vezba07.sln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B5D35A-D1A3-4483-88E1-C0C5380E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F2C9DF-BD93-48DF-A06B-31CB848A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85240BC-36D1-4E10-8668-AADFDC51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110796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DA721-B297-41DF-B97A-DDDE541D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B03C7-D492-4DDD-AE21-51F8E0EC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3DBC3C-24C7-44BB-BC1A-D39563E9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Контекст сценарија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CFAED048-1A95-462E-9CDC-D147511B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Правило у коду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9D1A7-94E8-4D71-A2C9-662EB416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9810750" cy="375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Упис мерења успева и када везе нема, слање је одвојен корак.</a:t>
            </a:r>
          </a:p>
        </p:txBody>
      </p:sp>
      <p:sp>
        <p:nvSpPr>
          <p:cNvPr id="6" name="banner-background">
            <a:extLst xmlns:a="http://schemas.openxmlformats.org/drawingml/2006/main">
              <a:ext uri="{FF2B5EF4-FFF2-40B4-BE49-F238E27FC236}">
                <a16:creationId xmlns:a16="http://schemas.microsoft.com/office/drawing/2014/main" id="{36BC0FB5-BC67-439F-B518-845A956C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10572750" cy="735330"/>
          </a:xfrm>
          <a:prstGeom xmlns:a="http://schemas.openxmlformats.org/drawingml/2006/main" prst="roundRect">
            <a:avLst>
              <a:gd name="adj" fmla="val 10363"/>
            </a:avLst>
          </a:prstGeom>
          <a:solidFill xmlns:a="http://schemas.openxmlformats.org/drawingml/2006/main">
            <a:srgbClr val="EF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anner-curved-accent">
            <a:extLst xmlns:a="http://schemas.openxmlformats.org/drawingml/2006/main">
              <a:ext uri="{FF2B5EF4-FFF2-40B4-BE49-F238E27FC236}">
                <a16:creationId xmlns:a16="http://schemas.microsoft.com/office/drawing/2014/main" id="{BF27B1A4-FC31-4A95-BC57-8F2171CC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76200" cy="735330"/>
          </a:xfrm>
          <a:custGeom xmlns:a="http://schemas.openxmlformats.org/drawingml/2006/main">
            <a:pathLst>
              <a:path w="76200" h="735330">
                <a:moveTo>
                  <a:pt x="76200" y="0"/>
                </a:moveTo>
                <a:cubicBezTo>
                  <a:pt x="34100" y="0"/>
                  <a:pt x="0" y="34100"/>
                  <a:pt x="0" y="76200"/>
                </a:cubicBezTo>
                <a:lnTo>
                  <a:pt x="0" y="659130"/>
                </a:lnTo>
                <a:cubicBezTo>
                  <a:pt x="0" y="701231"/>
                  <a:pt x="34100" y="735330"/>
                  <a:pt x="76200" y="735330"/>
                </a:cubicBezTo>
                <a:lnTo>
                  <a:pt x="76200" y="697230"/>
                </a:lnTo>
                <a:cubicBezTo>
                  <a:pt x="55150" y="697230"/>
                  <a:pt x="38100" y="680180"/>
                  <a:pt x="38100" y="659130"/>
                </a:cubicBezTo>
                <a:lnTo>
                  <a:pt x="38100" y="76200"/>
                </a:lnTo>
                <a:cubicBezTo>
                  <a:pt x="38100" y="55150"/>
                  <a:pt x="55150" y="38100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FCF27-1EB3-4149-9E7C-5EB6D0B4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57700"/>
            <a:ext cx="10115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ПРИКАЗАНИ ПРИМЕР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B17DE5-286C-47DF-B941-93ED574A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95825"/>
            <a:ext cx="1011555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Flush шаље поруке редом и означава их испорученим тек када потврда стигне.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BADE56-B283-476A-9F70-7B11EC98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108D46-0AE7-402E-8A2B-C7C5885F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36D69E9-943C-4AFE-9892-8D4E967D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149098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93E636-80D1-4932-B5F6-0481D487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4FD4C-5853-409F-B90B-FE9A07FA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FEA26D-906D-481D-8FF3-F267BFBF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Правило у коду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3052B1A9-4D36-47DD-83F4-AC30D895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Flush шаље поруке редом и означава их испорученим тек када потврда стигне.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42B4D51F-1ECE-4A31-8CA1-CCD53425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9576435" cy="2638425"/>
          </a:xfrm>
          <a:prstGeom xmlns:a="http://schemas.openxmlformats.org/drawingml/2006/main" prst="roundRect">
            <a:avLst>
              <a:gd name="adj" fmla="val 361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51C8E-967D-4734-9262-B438036E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921448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C# · доменско правило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EB0B48-1A25-455F-B4EF-5E2C5ADE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714625"/>
            <a:ext cx="92144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A903D502-2B4B-43BB-BB71-5CCF61A6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9" name="code-line">
            <a:extLst xmlns:a="http://schemas.openxmlformats.org/drawingml/2006/main">
              <a:ext uri="{FF2B5EF4-FFF2-40B4-BE49-F238E27FC236}">
                <a16:creationId xmlns:a16="http://schemas.microsoft.com/office/drawing/2014/main" id="{F3F846D2-7428-4F4C-A8BE-C144E3D4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87858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public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FlushReport Flush()</a:t>
            </a:r>
          </a:p>
        </p:txBody>
      </p:sp>
      <p:sp>
        <p:nvSpPr>
          <p:cNvPr id="1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F296CFCA-78BB-40EC-AA46-40A1BD9B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41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1" name="code-line">
            <a:extLst xmlns:a="http://schemas.openxmlformats.org/drawingml/2006/main">
              <a:ext uri="{FF2B5EF4-FFF2-40B4-BE49-F238E27FC236}">
                <a16:creationId xmlns:a16="http://schemas.microsoft.com/office/drawing/2014/main" id="{F6378315-CFD3-4A72-8B7B-63859674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4185"/>
            <a:ext cx="87858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{</a:t>
            </a:r>
          </a:p>
        </p:txBody>
      </p:sp>
      <p:sp>
        <p:nvSpPr>
          <p:cNvPr id="1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588E3261-BAEC-4E0B-9F2A-F6DE062E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75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3" name="code-line">
            <a:extLst xmlns:a="http://schemas.openxmlformats.org/drawingml/2006/main">
              <a:ext uri="{FF2B5EF4-FFF2-40B4-BE49-F238E27FC236}">
                <a16:creationId xmlns:a16="http://schemas.microsoft.com/office/drawing/2014/main" id="{16B74428-F9F5-4D88-8572-0FD308EE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7545"/>
            <a:ext cx="87858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var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pending = ordering.PendingInOrder(outbox.All());</a:t>
            </a:r>
          </a:p>
        </p:txBody>
      </p:sp>
      <p:sp>
        <p:nvSpPr>
          <p:cNvPr id="1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10E06DCF-6D04-4A01-BB2F-435A11D4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09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5" name="code-line">
            <a:extLst xmlns:a="http://schemas.openxmlformats.org/drawingml/2006/main">
              <a:ext uri="{FF2B5EF4-FFF2-40B4-BE49-F238E27FC236}">
                <a16:creationId xmlns:a16="http://schemas.microsoft.com/office/drawing/2014/main" id="{511336BE-E21B-4AEB-88EC-AA51BCF5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0905"/>
            <a:ext cx="87858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if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(pending.Count == 0)</a:t>
            </a:r>
          </a:p>
        </p:txBody>
      </p:sp>
      <p:sp>
        <p:nvSpPr>
          <p:cNvPr id="1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01A4A62C-CADD-4771-B198-AD7661D1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442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17" name="code-line">
            <a:extLst xmlns:a="http://schemas.openxmlformats.org/drawingml/2006/main">
              <a:ext uri="{FF2B5EF4-FFF2-40B4-BE49-F238E27FC236}">
                <a16:creationId xmlns:a16="http://schemas.microsoft.com/office/drawing/2014/main" id="{D5D23ACA-0D35-4408-9AFD-DD5F6D5A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44265"/>
            <a:ext cx="87858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</a:t>
            </a:r>
            <a:r>
              <a:rPr sz="120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return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</a:t>
            </a:r>
            <a:r>
              <a:rPr sz="120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(0, 0, OutboxCodes.NothingPending);</a:t>
            </a:r>
          </a:p>
        </p:txBody>
      </p:sp>
      <p:sp>
        <p:nvSpPr>
          <p:cNvPr id="1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68488374-3779-4ECE-94A0-585C7BD7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576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19" name="code-line">
            <a:extLst xmlns:a="http://schemas.openxmlformats.org/drawingml/2006/main">
              <a:ext uri="{FF2B5EF4-FFF2-40B4-BE49-F238E27FC236}">
                <a16:creationId xmlns:a16="http://schemas.microsoft.com/office/drawing/2014/main" id="{4DC803AC-FA39-4528-BF25-C188506D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57625"/>
            <a:ext cx="87858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var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delivered = 0;</a:t>
            </a:r>
          </a:p>
        </p:txBody>
      </p:sp>
      <p:sp>
        <p:nvSpPr>
          <p:cNvPr id="2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7EF6E3FC-AB3A-4DF1-8331-B3DE4BA0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09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1" name="code-line">
            <a:extLst xmlns:a="http://schemas.openxmlformats.org/drawingml/2006/main">
              <a:ext uri="{FF2B5EF4-FFF2-40B4-BE49-F238E27FC236}">
                <a16:creationId xmlns:a16="http://schemas.microsoft.com/office/drawing/2014/main" id="{DEEE2510-35FF-48CA-8A10-94ADAB00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70985"/>
            <a:ext cx="87858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foreach (</a:t>
            </a:r>
            <a:r>
              <a:rPr sz="120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var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message in pending)</a:t>
            </a:r>
          </a:p>
        </p:txBody>
      </p:sp>
      <p:sp>
        <p:nvSpPr>
          <p:cNvPr id="2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F0B522EC-1DC8-4EAC-AF58-074011A3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43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8</a:t>
            </a:r>
          </a:p>
        </p:txBody>
      </p:sp>
      <p:sp>
        <p:nvSpPr>
          <p:cNvPr id="23" name="code-line">
            <a:extLst xmlns:a="http://schemas.openxmlformats.org/drawingml/2006/main">
              <a:ext uri="{FF2B5EF4-FFF2-40B4-BE49-F238E27FC236}">
                <a16:creationId xmlns:a16="http://schemas.microsoft.com/office/drawing/2014/main" id="{934DBCC8-E04C-42B1-B686-FBF65909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4345"/>
            <a:ext cx="87858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{</a:t>
            </a:r>
          </a:p>
        </p:txBody>
      </p:sp>
      <p:sp>
        <p:nvSpPr>
          <p:cNvPr id="2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B9B24245-99D9-4B90-83DA-F97D9AEE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77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9</a:t>
            </a:r>
          </a:p>
        </p:txBody>
      </p:sp>
      <p:sp>
        <p:nvSpPr>
          <p:cNvPr id="25" name="code-line">
            <a:extLst xmlns:a="http://schemas.openxmlformats.org/drawingml/2006/main">
              <a:ext uri="{FF2B5EF4-FFF2-40B4-BE49-F238E27FC236}">
                <a16:creationId xmlns:a16="http://schemas.microsoft.com/office/drawing/2014/main" id="{88139825-99C3-4D41-85DA-182ED54E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97705"/>
            <a:ext cx="87858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</a:t>
            </a:r>
            <a:r>
              <a:rPr sz="120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if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(!uplink.TrySend(message))</a:t>
            </a:r>
          </a:p>
        </p:txBody>
      </p:sp>
      <p:sp>
        <p:nvSpPr>
          <p:cNvPr id="2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C6830567-0334-4829-8A54-7D8D945D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10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27" name="code-line">
            <a:extLst xmlns:a="http://schemas.openxmlformats.org/drawingml/2006/main">
              <a:ext uri="{FF2B5EF4-FFF2-40B4-BE49-F238E27FC236}">
                <a16:creationId xmlns:a16="http://schemas.microsoft.com/office/drawing/2014/main" id="{B8CB488C-BF8B-4758-AFF0-154C7938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11065"/>
            <a:ext cx="87858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    </a:t>
            </a:r>
            <a:r>
              <a:rPr sz="120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return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</a:t>
            </a:r>
            <a:r>
              <a:rPr sz="120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(delivered, pending.Count - delivered, OutboxCodes.DeliveryUnconfirmed);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906154-39CF-46C5-AE9E-67662C23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F7D64A-A5C8-4BFE-9075-85F766BF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30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85B5D85-7962-4AC8-A5F5-8C353DBA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2195381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8487FD-FADA-461C-B47F-DC0BD18D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637F3-A290-4A3F-A450-07965F0A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1A77C3-90A7-40A5-B9F2-84F9F021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Правило у коду (наставак)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4D86613E-EBB1-41FE-BCE3-70C4BBC1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Flush шаље поруке редом и означава их испорученим тек када потврда стигне.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58B5D529-D2A6-400B-85F0-366F1FBD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714375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4FD2B-CAE3-4E93-B906-6679FAD2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678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C# · доменско правило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4E701F-6317-4C28-8668-BB7C148D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714625"/>
            <a:ext cx="678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93824A6E-0FF3-4F80-B28C-9E32FC42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  <p:sp>
        <p:nvSpPr>
          <p:cNvPr id="9" name="code-line">
            <a:extLst xmlns:a="http://schemas.openxmlformats.org/drawingml/2006/main">
              <a:ext uri="{FF2B5EF4-FFF2-40B4-BE49-F238E27FC236}">
                <a16:creationId xmlns:a16="http://schemas.microsoft.com/office/drawing/2014/main" id="{9D4BDAB6-AAB2-4E71-A2E3-2CB9D77E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outbox.MarkDelivered(message.Position);</a:t>
            </a:r>
          </a:p>
        </p:txBody>
      </p:sp>
      <p:sp>
        <p:nvSpPr>
          <p:cNvPr id="1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A71ECF42-4CDF-4B66-B583-78C88670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41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  <p:sp>
        <p:nvSpPr>
          <p:cNvPr id="11" name="code-line">
            <a:extLst xmlns:a="http://schemas.openxmlformats.org/drawingml/2006/main">
              <a:ext uri="{FF2B5EF4-FFF2-40B4-BE49-F238E27FC236}">
                <a16:creationId xmlns:a16="http://schemas.microsoft.com/office/drawing/2014/main" id="{D0AA3448-EF5C-425E-9282-DDDC0BC3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418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delivered++;</a:t>
            </a:r>
          </a:p>
        </p:txBody>
      </p:sp>
      <p:sp>
        <p:nvSpPr>
          <p:cNvPr id="1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8D4F9ACB-C741-40B3-B062-7C9B54F6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75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  <p:sp>
        <p:nvSpPr>
          <p:cNvPr id="13" name="code-line">
            <a:extLst xmlns:a="http://schemas.openxmlformats.org/drawingml/2006/main">
              <a:ext uri="{FF2B5EF4-FFF2-40B4-BE49-F238E27FC236}">
                <a16:creationId xmlns:a16="http://schemas.microsoft.com/office/drawing/2014/main" id="{76277235-F2E6-4AEA-8953-B1360E9D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754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}</a:t>
            </a:r>
          </a:p>
        </p:txBody>
      </p:sp>
      <p:sp>
        <p:nvSpPr>
          <p:cNvPr id="1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5B9CAFC3-7C3E-4850-A1A4-B884B737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09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14</a:t>
            </a:r>
          </a:p>
        </p:txBody>
      </p:sp>
      <p:sp>
        <p:nvSpPr>
          <p:cNvPr id="15" name="code-line">
            <a:extLst xmlns:a="http://schemas.openxmlformats.org/drawingml/2006/main">
              <a:ext uri="{FF2B5EF4-FFF2-40B4-BE49-F238E27FC236}">
                <a16:creationId xmlns:a16="http://schemas.microsoft.com/office/drawing/2014/main" id="{052C3EF9-9962-4EE4-9D77-A02660CA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090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return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</a:t>
            </a:r>
            <a:r>
              <a:rPr sz="120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(delivered, 0, OutboxCodes.Flushed);</a:t>
            </a:r>
          </a:p>
        </p:txBody>
      </p:sp>
      <p:sp>
        <p:nvSpPr>
          <p:cNvPr id="1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ECB9696A-9798-4FD3-8CD0-021AF5C7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442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15</a:t>
            </a:r>
          </a:p>
        </p:txBody>
      </p:sp>
      <p:sp>
        <p:nvSpPr>
          <p:cNvPr id="17" name="code-line">
            <a:extLst xmlns:a="http://schemas.openxmlformats.org/drawingml/2006/main">
              <a:ext uri="{FF2B5EF4-FFF2-40B4-BE49-F238E27FC236}">
                <a16:creationId xmlns:a16="http://schemas.microsoft.com/office/drawing/2014/main" id="{C0FA6763-41C1-4FBE-8F0A-A92AF592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4426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6C4F50-C98A-4009-9829-903730F9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C2A762-442D-47B7-951C-42EADEF9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20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40D741D-2341-4FF4-9E26-E318F5EF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4513459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1500D7-17EE-4053-99C5-1692F573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7BABA-C7B8-4381-BA5F-D77DB3FE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2E54FC-D522-48F2-BABB-021C0BF7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Контекст сценарија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CB5A6206-ED31-436C-BD82-A85E19C0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Тест који задаје квар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88A2FE-1CE5-4DBA-8D2C-3343C979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9810750" cy="375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После повратка везе поруке стижу редом којим су настале.</a:t>
            </a:r>
          </a:p>
        </p:txBody>
      </p:sp>
      <p:sp>
        <p:nvSpPr>
          <p:cNvPr id="6" name="banner-background">
            <a:extLst xmlns:a="http://schemas.openxmlformats.org/drawingml/2006/main">
              <a:ext uri="{FF2B5EF4-FFF2-40B4-BE49-F238E27FC236}">
                <a16:creationId xmlns:a16="http://schemas.microsoft.com/office/drawing/2014/main" id="{B562659A-230E-42CF-8A9D-18F9215F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10572750" cy="735330"/>
          </a:xfrm>
          <a:prstGeom xmlns:a="http://schemas.openxmlformats.org/drawingml/2006/main" prst="roundRect">
            <a:avLst>
              <a:gd name="adj" fmla="val 10363"/>
            </a:avLst>
          </a:prstGeom>
          <a:solidFill xmlns:a="http://schemas.openxmlformats.org/drawingml/2006/main">
            <a:srgbClr val="EF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anner-curved-accent">
            <a:extLst xmlns:a="http://schemas.openxmlformats.org/drawingml/2006/main">
              <a:ext uri="{FF2B5EF4-FFF2-40B4-BE49-F238E27FC236}">
                <a16:creationId xmlns:a16="http://schemas.microsoft.com/office/drawing/2014/main" id="{4612B168-5960-45D7-9954-3D778FCA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76200" cy="735330"/>
          </a:xfrm>
          <a:custGeom xmlns:a="http://schemas.openxmlformats.org/drawingml/2006/main">
            <a:pathLst>
              <a:path w="76200" h="735330">
                <a:moveTo>
                  <a:pt x="76200" y="0"/>
                </a:moveTo>
                <a:cubicBezTo>
                  <a:pt x="34100" y="0"/>
                  <a:pt x="0" y="34100"/>
                  <a:pt x="0" y="76200"/>
                </a:cubicBezTo>
                <a:lnTo>
                  <a:pt x="0" y="659130"/>
                </a:lnTo>
                <a:cubicBezTo>
                  <a:pt x="0" y="701231"/>
                  <a:pt x="34100" y="735330"/>
                  <a:pt x="76200" y="735330"/>
                </a:cubicBezTo>
                <a:lnTo>
                  <a:pt x="76200" y="697230"/>
                </a:lnTo>
                <a:cubicBezTo>
                  <a:pt x="55150" y="697230"/>
                  <a:pt x="38100" y="680180"/>
                  <a:pt x="38100" y="659130"/>
                </a:cubicBezTo>
                <a:lnTo>
                  <a:pt x="38100" y="76200"/>
                </a:lnTo>
                <a:cubicBezTo>
                  <a:pt x="38100" y="55150"/>
                  <a:pt x="55150" y="38100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C6DF24-1E5B-4570-BC44-AA5CE341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57700"/>
            <a:ext cx="10115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ПРИКАЗАНИ ПРИМЕР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D15DE2-EE95-4805-AE61-77BF6E3C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95825"/>
            <a:ext cx="1011555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Изгубљена потврда изазива retry, а центар поруке примењује једном и задржава њихов редослед.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F53F53-384A-41D3-B484-BA7CEFF9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3EBE9A-F0A9-42B2-B5D6-647FE01A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273E39A-0186-4CB4-AA8D-93F32E12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6163721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B89E2A-B4B9-4B2F-B982-45510A44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8F46F-D58C-47D9-A031-63C71C1B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AF478D-A213-47A7-9644-D04B9312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Тест који задаје квар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A7508008-F9DE-48C5-B6EE-5A1DEF4B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Изгубљена потврда изазива retry, а центар поруке примењује једном и задржава њихов редослед.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9EA01899-0156-4BCF-9353-1AB7BA93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9667875" cy="2851785"/>
          </a:xfrm>
          <a:prstGeom xmlns:a="http://schemas.openxmlformats.org/drawingml/2006/main" prst="roundRect">
            <a:avLst>
              <a:gd name="adj" fmla="val 3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6B2867-3494-4565-A6E1-5BEFB5E8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930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C# · NUnit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BAC91F-96C8-4DAF-BB9F-E1CE78FC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714625"/>
            <a:ext cx="9305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EF248119-79AE-48F8-B0FB-81A74AF6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9" name="code-line">
            <a:extLst xmlns:a="http://schemas.openxmlformats.org/drawingml/2006/main">
              <a:ext uri="{FF2B5EF4-FFF2-40B4-BE49-F238E27FC236}">
                <a16:creationId xmlns:a16="http://schemas.microsoft.com/office/drawing/2014/main" id="{B10AC792-EF18-4235-A9E2-C020071D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88773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[Test]</a:t>
            </a:r>
          </a:p>
        </p:txBody>
      </p:sp>
      <p:sp>
        <p:nvSpPr>
          <p:cNvPr id="1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C49314DA-EBE7-41ED-A730-A94436E5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41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1" name="code-line">
            <a:extLst xmlns:a="http://schemas.openxmlformats.org/drawingml/2006/main">
              <a:ext uri="{FF2B5EF4-FFF2-40B4-BE49-F238E27FC236}">
                <a16:creationId xmlns:a16="http://schemas.microsoft.com/office/drawing/2014/main" id="{82F41355-08AB-4CC4-B46A-F37F7755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4185"/>
            <a:ext cx="88773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public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</a:t>
            </a:r>
            <a:r>
              <a:rPr sz="120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void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Flush_WhenAckIsLost_ResendsAndTheCenterAppliesTheMessageOnce()</a:t>
            </a:r>
          </a:p>
        </p:txBody>
      </p:sp>
      <p:sp>
        <p:nvSpPr>
          <p:cNvPr id="1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F226E8D0-2CCF-429F-83CE-5136C0CF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75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3" name="code-line">
            <a:extLst xmlns:a="http://schemas.openxmlformats.org/drawingml/2006/main">
              <a:ext uri="{FF2B5EF4-FFF2-40B4-BE49-F238E27FC236}">
                <a16:creationId xmlns:a16="http://schemas.microsoft.com/office/drawing/2014/main" id="{A0754B55-39ED-42E5-AC1C-8AD8DC54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7545"/>
            <a:ext cx="88773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{</a:t>
            </a:r>
          </a:p>
        </p:txBody>
      </p:sp>
      <p:sp>
        <p:nvSpPr>
          <p:cNvPr id="1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6C80E749-7370-42A6-BDFE-16CD76FE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09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5" name="code-line">
            <a:extLst xmlns:a="http://schemas.openxmlformats.org/drawingml/2006/main">
              <a:ext uri="{FF2B5EF4-FFF2-40B4-BE49-F238E27FC236}">
                <a16:creationId xmlns:a16="http://schemas.microsoft.com/office/drawing/2014/main" id="{84AC9E3B-5357-481F-8D97-222232D9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0905"/>
            <a:ext cx="88773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_record.Record(</a:t>
            </a:r>
            <a:r>
              <a:rPr sz="120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"m-1"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 </a:t>
            </a:r>
            <a:r>
              <a:rPr sz="120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"a"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);</a:t>
            </a:r>
          </a:p>
        </p:txBody>
      </p:sp>
      <p:sp>
        <p:nvSpPr>
          <p:cNvPr id="1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DFAA6918-4A1D-4E86-AE55-E78A047C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442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17" name="code-line">
            <a:extLst xmlns:a="http://schemas.openxmlformats.org/drawingml/2006/main">
              <a:ext uri="{FF2B5EF4-FFF2-40B4-BE49-F238E27FC236}">
                <a16:creationId xmlns:a16="http://schemas.microsoft.com/office/drawing/2014/main" id="{65DD9D8D-7961-47E6-8CF9-848E81B4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44265"/>
            <a:ext cx="88773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_record.Record(</a:t>
            </a:r>
            <a:r>
              <a:rPr sz="120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"m-2"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 </a:t>
            </a:r>
            <a:r>
              <a:rPr sz="120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"b"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);</a:t>
            </a:r>
          </a:p>
        </p:txBody>
      </p:sp>
      <p:sp>
        <p:nvSpPr>
          <p:cNvPr id="1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A29F9B18-1648-4EEF-8EA1-2C2D9302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576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19" name="code-line">
            <a:extLst xmlns:a="http://schemas.openxmlformats.org/drawingml/2006/main">
              <a:ext uri="{FF2B5EF4-FFF2-40B4-BE49-F238E27FC236}">
                <a16:creationId xmlns:a16="http://schemas.microsoft.com/office/drawing/2014/main" id="{53728E17-505F-4BE3-8701-454FA4F2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57625"/>
            <a:ext cx="88773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_uplink.LoseNextAck = </a:t>
            </a:r>
            <a:r>
              <a:rPr sz="120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true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;</a:t>
            </a:r>
          </a:p>
        </p:txBody>
      </p:sp>
      <p:sp>
        <p:nvSpPr>
          <p:cNvPr id="2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C9BE5BF7-F8FF-4B80-A3E9-C112824B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09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1" name="code-line">
            <a:extLst xmlns:a="http://schemas.openxmlformats.org/drawingml/2006/main">
              <a:ext uri="{FF2B5EF4-FFF2-40B4-BE49-F238E27FC236}">
                <a16:creationId xmlns:a16="http://schemas.microsoft.com/office/drawing/2014/main" id="{94D60101-23B2-4DCD-B39E-D1E84E40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70985"/>
            <a:ext cx="88773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var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first = _flush.Flush();</a:t>
            </a:r>
          </a:p>
        </p:txBody>
      </p:sp>
      <p:sp>
        <p:nvSpPr>
          <p:cNvPr id="2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28FEEAF5-B5F8-4DF7-AB1D-40001088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43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8</a:t>
            </a:r>
          </a:p>
        </p:txBody>
      </p:sp>
      <p:sp>
        <p:nvSpPr>
          <p:cNvPr id="23" name="code-line">
            <a:extLst xmlns:a="http://schemas.openxmlformats.org/drawingml/2006/main">
              <a:ext uri="{FF2B5EF4-FFF2-40B4-BE49-F238E27FC236}">
                <a16:creationId xmlns:a16="http://schemas.microsoft.com/office/drawing/2014/main" id="{4B0F15AB-A659-45AB-B5E6-C5759580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4345"/>
            <a:ext cx="88773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var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second = _flush.Flush();</a:t>
            </a:r>
          </a:p>
        </p:txBody>
      </p:sp>
      <p:sp>
        <p:nvSpPr>
          <p:cNvPr id="2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15E497C7-10CE-42CA-BB70-F9A4C795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77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9</a:t>
            </a:r>
          </a:p>
        </p:txBody>
      </p:sp>
      <p:sp>
        <p:nvSpPr>
          <p:cNvPr id="25" name="code-line">
            <a:extLst xmlns:a="http://schemas.openxmlformats.org/drawingml/2006/main">
              <a:ext uri="{FF2B5EF4-FFF2-40B4-BE49-F238E27FC236}">
                <a16:creationId xmlns:a16="http://schemas.microsoft.com/office/drawing/2014/main" id="{63D8679D-E389-4000-98A6-0BC9FFF1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97705"/>
            <a:ext cx="88773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using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(Assert.EnterMultipleScope())</a:t>
            </a:r>
          </a:p>
        </p:txBody>
      </p:sp>
      <p:sp>
        <p:nvSpPr>
          <p:cNvPr id="2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7B91C06C-E7FA-40F3-BB1D-1186933B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10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27" name="code-line">
            <a:extLst xmlns:a="http://schemas.openxmlformats.org/drawingml/2006/main">
              <a:ext uri="{FF2B5EF4-FFF2-40B4-BE49-F238E27FC236}">
                <a16:creationId xmlns:a16="http://schemas.microsoft.com/office/drawing/2014/main" id="{2C0015F4-0676-48C9-A852-AB16AB02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11065"/>
            <a:ext cx="88773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{</a:t>
            </a:r>
          </a:p>
        </p:txBody>
      </p:sp>
      <p:sp>
        <p:nvSpPr>
          <p:cNvPr id="2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BC63548A-5529-4F03-B3CC-F336C6BF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244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  <p:sp>
        <p:nvSpPr>
          <p:cNvPr id="29" name="code-line">
            <a:extLst xmlns:a="http://schemas.openxmlformats.org/drawingml/2006/main">
              <a:ext uri="{FF2B5EF4-FFF2-40B4-BE49-F238E27FC236}">
                <a16:creationId xmlns:a16="http://schemas.microsoft.com/office/drawing/2014/main" id="{3D92913A-FA1F-4A6E-94AA-E9AA59F1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24425"/>
            <a:ext cx="88773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Assert.That(first, Is.EqualTo(</a:t>
            </a:r>
            <a:r>
              <a:rPr sz="120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FlushReport(0, 2, OutboxCodes.DeliveryUnconfirmed)));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77659C-19E5-4A3C-BA87-1B335685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E096A3-D702-4E88-8F4F-214DBB99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3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27C8E91-7B74-4CB4-A6D7-02A80AB6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1824940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C22A39-4A28-4CDB-8B03-E98C1D6F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B9778E-74F0-4A38-B505-2E38B861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48A55F-F533-46C2-861B-DA4741AE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Тест који задаје квар (наставак)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F3C9B5E3-9FA2-4C21-9440-46B28404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Изгубљена потврда изазива retry, а центар поруке примењује једном и задржава њихов редослед.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B506CD06-A489-4A37-A297-31825C61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8662035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8DA4E-7F46-447B-8545-319BF1BF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830008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C# · NUnit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C68D3-650F-4C9C-9D31-75C74893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714625"/>
            <a:ext cx="83000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23294BE1-F969-4A50-87E1-1816C621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  <p:sp>
        <p:nvSpPr>
          <p:cNvPr id="9" name="code-line">
            <a:extLst xmlns:a="http://schemas.openxmlformats.org/drawingml/2006/main">
              <a:ext uri="{FF2B5EF4-FFF2-40B4-BE49-F238E27FC236}">
                <a16:creationId xmlns:a16="http://schemas.microsoft.com/office/drawing/2014/main" id="{1AC742CB-13F9-4C2B-9E38-FAD9B30F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78714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Assert.That(second, Is.EqualTo(</a:t>
            </a:r>
            <a:r>
              <a:rPr sz="120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FlushReport(2, 0, OutboxCodes.Flushed)));</a:t>
            </a:r>
          </a:p>
        </p:txBody>
      </p:sp>
      <p:sp>
        <p:nvSpPr>
          <p:cNvPr id="1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77EB2B52-9BEB-4064-930A-23FFCE6A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41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  <p:sp>
        <p:nvSpPr>
          <p:cNvPr id="11" name="code-line">
            <a:extLst xmlns:a="http://schemas.openxmlformats.org/drawingml/2006/main">
              <a:ext uri="{FF2B5EF4-FFF2-40B4-BE49-F238E27FC236}">
                <a16:creationId xmlns:a16="http://schemas.microsoft.com/office/drawing/2014/main" id="{AAF3FFE2-D064-477E-8969-E5304B69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4185"/>
            <a:ext cx="78714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Assert.That(_center.AppliedPayloads, Is.EqualTo(</a:t>
            </a:r>
            <a:r>
              <a:rPr sz="120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[] { </a:t>
            </a:r>
            <a:r>
              <a:rPr sz="120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"a"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 </a:t>
            </a:r>
            <a:r>
              <a:rPr sz="120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"b"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}));</a:t>
            </a:r>
          </a:p>
        </p:txBody>
      </p:sp>
      <p:sp>
        <p:nvSpPr>
          <p:cNvPr id="1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74A14F19-2B37-4E25-965C-B6014D6D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75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14</a:t>
            </a:r>
          </a:p>
        </p:txBody>
      </p:sp>
      <p:sp>
        <p:nvSpPr>
          <p:cNvPr id="13" name="code-line">
            <a:extLst xmlns:a="http://schemas.openxmlformats.org/drawingml/2006/main">
              <a:ext uri="{FF2B5EF4-FFF2-40B4-BE49-F238E27FC236}">
                <a16:creationId xmlns:a16="http://schemas.microsoft.com/office/drawing/2014/main" id="{1F1F5065-793D-47BF-A0C2-52789974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7545"/>
            <a:ext cx="78714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Assert.That(_center.DuplicatesIgnored, Is.EqualTo(1));</a:t>
            </a:r>
          </a:p>
        </p:txBody>
      </p:sp>
      <p:sp>
        <p:nvSpPr>
          <p:cNvPr id="1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8C150042-2DED-4BD7-8FEC-F192F254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09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15</a:t>
            </a:r>
          </a:p>
        </p:txBody>
      </p:sp>
      <p:sp>
        <p:nvSpPr>
          <p:cNvPr id="15" name="code-line">
            <a:extLst xmlns:a="http://schemas.openxmlformats.org/drawingml/2006/main">
              <a:ext uri="{FF2B5EF4-FFF2-40B4-BE49-F238E27FC236}">
                <a16:creationId xmlns:a16="http://schemas.microsoft.com/office/drawing/2014/main" id="{B3EF56EE-CECE-4C2B-A539-1A268A6C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0905"/>
            <a:ext cx="78714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}</a:t>
            </a:r>
          </a:p>
        </p:txBody>
      </p:sp>
      <p:sp>
        <p:nvSpPr>
          <p:cNvPr id="1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DAD0CD64-81F6-448B-A42F-29DD3C1C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442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16</a:t>
            </a:r>
          </a:p>
        </p:txBody>
      </p:sp>
      <p:sp>
        <p:nvSpPr>
          <p:cNvPr id="17" name="code-line">
            <a:extLst xmlns:a="http://schemas.openxmlformats.org/drawingml/2006/main">
              <a:ext uri="{FF2B5EF4-FFF2-40B4-BE49-F238E27FC236}">
                <a16:creationId xmlns:a16="http://schemas.microsoft.com/office/drawing/2014/main" id="{91A80090-50F1-46E7-AAF7-F5258293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44265"/>
            <a:ext cx="78714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5670E9-069D-4B1B-B0E5-4DD2DC56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9F4FF1-B79F-4E02-A6A9-C51259DB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20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A70DB78-62A5-4E8C-99F9-C074B131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8435901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58FF20-1098-4E95-9694-5CC843E4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4AB5F-2783-431D-BD43-B4945F79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840043-06E4-433F-9BAD-804D90CD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Испис демонстрације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EC2C13AD-046D-40B3-BDD4-40502CDF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Изгубљена потврда изазива поновно слање, а центар поруку примењује једном.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AFDDEFC2-28B9-4930-AD7B-44490487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8296275" cy="3278505"/>
          </a:xfrm>
          <a:prstGeom xmlns:a="http://schemas.openxmlformats.org/drawingml/2006/main" prst="roundRect">
            <a:avLst>
              <a:gd name="adj" fmla="val 2905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419C7F-DBE4-4FEF-9B25-E992043E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7934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console · исходи демонстрације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AEBA0-A7C7-4857-BB97-C6DD37AF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714625"/>
            <a:ext cx="793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AF945F8E-181E-4937-8B24-FBC61662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9" name="code-line">
            <a:extLst xmlns:a="http://schemas.openxmlformats.org/drawingml/2006/main">
              <a:ext uri="{FF2B5EF4-FFF2-40B4-BE49-F238E27FC236}">
                <a16:creationId xmlns:a16="http://schemas.microsoft.com/office/drawing/2014/main" id="{72D185BD-E092-4826-A520-A37B8ED5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75057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Veza je u prekidu.</a:t>
            </a:r>
          </a:p>
        </p:txBody>
      </p:sp>
      <p:sp>
        <p:nvSpPr>
          <p:cNvPr id="1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C06EB4DE-D715-4EBB-8142-8582A19E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41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1" name="code-line">
            <a:extLst xmlns:a="http://schemas.openxmlformats.org/drawingml/2006/main">
              <a:ext uri="{FF2B5EF4-FFF2-40B4-BE49-F238E27FC236}">
                <a16:creationId xmlns:a16="http://schemas.microsoft.com/office/drawing/2014/main" id="{6CDDAA00-2DFA-46B9-83B9-CB006418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4185"/>
            <a:ext cx="75057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merenje m-1 -&gt; message_queued</a:t>
            </a:r>
          </a:p>
        </p:txBody>
      </p:sp>
      <p:sp>
        <p:nvSpPr>
          <p:cNvPr id="1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0CE4EB98-3E97-454B-BA2C-055E47FA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75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3" name="code-line">
            <a:extLst xmlns:a="http://schemas.openxmlformats.org/drawingml/2006/main">
              <a:ext uri="{FF2B5EF4-FFF2-40B4-BE49-F238E27FC236}">
                <a16:creationId xmlns:a16="http://schemas.microsoft.com/office/drawing/2014/main" id="{FCD580AD-1E62-4946-99C0-8F007665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7545"/>
            <a:ext cx="75057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merenje m-2 -&gt; message_queued</a:t>
            </a:r>
          </a:p>
        </p:txBody>
      </p:sp>
      <p:sp>
        <p:nvSpPr>
          <p:cNvPr id="1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C5D68CD0-AC8E-4C83-84C7-C24A8721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09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5" name="code-line">
            <a:extLst xmlns:a="http://schemas.openxmlformats.org/drawingml/2006/main">
              <a:ext uri="{FF2B5EF4-FFF2-40B4-BE49-F238E27FC236}">
                <a16:creationId xmlns:a16="http://schemas.microsoft.com/office/drawing/2014/main" id="{A6C4BAB4-A62C-43B1-8C45-6FC6CBD3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0905"/>
            <a:ext cx="75057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merenje m-3 -&gt; message_queued</a:t>
            </a:r>
          </a:p>
        </p:txBody>
      </p:sp>
      <p:sp>
        <p:nvSpPr>
          <p:cNvPr id="1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04FE3A15-1C2B-456A-A64C-CE853EB6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442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17" name="code-line">
            <a:extLst xmlns:a="http://schemas.openxmlformats.org/drawingml/2006/main">
              <a:ext uri="{FF2B5EF4-FFF2-40B4-BE49-F238E27FC236}">
                <a16:creationId xmlns:a16="http://schemas.microsoft.com/office/drawing/2014/main" id="{091705F2-CB05-4256-B31E-FC90E582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44265"/>
            <a:ext cx="75057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pokušaj slanja bez veze -&gt; delivery_unconfirmed, isporučeno 0, preostalo 3</a:t>
            </a:r>
          </a:p>
        </p:txBody>
      </p:sp>
      <p:sp>
        <p:nvSpPr>
          <p:cNvPr id="1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9AEA3A60-1F4C-42AB-9150-40A725B8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576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19" name="code-line">
            <a:extLst xmlns:a="http://schemas.openxmlformats.org/drawingml/2006/main">
              <a:ext uri="{FF2B5EF4-FFF2-40B4-BE49-F238E27FC236}">
                <a16:creationId xmlns:a16="http://schemas.microsoft.com/office/drawing/2014/main" id="{F926AE90-5F34-4CC3-8DFF-FEA1EC9F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57625"/>
            <a:ext cx="75057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Veza se vratila, ali se prva potvrda gubi.</a:t>
            </a:r>
          </a:p>
        </p:txBody>
      </p:sp>
      <p:sp>
        <p:nvSpPr>
          <p:cNvPr id="2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1B7A0864-113B-4A24-9822-C4100A60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09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1" name="code-line">
            <a:extLst xmlns:a="http://schemas.openxmlformats.org/drawingml/2006/main">
              <a:ext uri="{FF2B5EF4-FFF2-40B4-BE49-F238E27FC236}">
                <a16:creationId xmlns:a16="http://schemas.microsoft.com/office/drawing/2014/main" id="{18C36837-47E9-4ABD-9802-73D0AAD5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70985"/>
            <a:ext cx="75057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prvi pokušaj posle povratka -&gt; delivery_unconfirmed, isporučeno 0, preostalo 3</a:t>
            </a:r>
          </a:p>
        </p:txBody>
      </p:sp>
      <p:sp>
        <p:nvSpPr>
          <p:cNvPr id="2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15ED7037-7C3E-40EF-9C37-449D7253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43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8</a:t>
            </a:r>
          </a:p>
        </p:txBody>
      </p:sp>
      <p:sp>
        <p:nvSpPr>
          <p:cNvPr id="23" name="code-line">
            <a:extLst xmlns:a="http://schemas.openxmlformats.org/drawingml/2006/main">
              <a:ext uri="{FF2B5EF4-FFF2-40B4-BE49-F238E27FC236}">
                <a16:creationId xmlns:a16="http://schemas.microsoft.com/office/drawing/2014/main" id="{364F2172-330D-46BE-ACCB-2C2A137D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4345"/>
            <a:ext cx="75057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drugi pokušaj -&gt; outbox_flushed, isporučeno 3, preostalo 0</a:t>
            </a:r>
          </a:p>
        </p:txBody>
      </p:sp>
      <p:sp>
        <p:nvSpPr>
          <p:cNvPr id="2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00A98FCD-C563-4563-84CE-CBADFCD4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77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9</a:t>
            </a:r>
          </a:p>
        </p:txBody>
      </p:sp>
      <p:sp>
        <p:nvSpPr>
          <p:cNvPr id="25" name="code-line">
            <a:extLst xmlns:a="http://schemas.openxmlformats.org/drawingml/2006/main">
              <a:ext uri="{FF2B5EF4-FFF2-40B4-BE49-F238E27FC236}">
                <a16:creationId xmlns:a16="http://schemas.microsoft.com/office/drawing/2014/main" id="{439D5A5A-5A1C-4EB8-A895-F8C284F0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97705"/>
            <a:ext cx="75057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Centar je primenio 3 poruke redom:</a:t>
            </a:r>
          </a:p>
        </p:txBody>
      </p:sp>
      <p:sp>
        <p:nvSpPr>
          <p:cNvPr id="2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BB04C35D-A943-4BAB-98C9-6847450C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10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27" name="code-line">
            <a:extLst xmlns:a="http://schemas.openxmlformats.org/drawingml/2006/main">
              <a:ext uri="{FF2B5EF4-FFF2-40B4-BE49-F238E27FC236}">
                <a16:creationId xmlns:a16="http://schemas.microsoft.com/office/drawing/2014/main" id="{8154C10E-9928-493D-8CE9-257AB1EB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11065"/>
            <a:ext cx="75057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signal -91 dBm</a:t>
            </a:r>
          </a:p>
        </p:txBody>
      </p:sp>
      <p:sp>
        <p:nvSpPr>
          <p:cNvPr id="2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57FFFF11-CCBF-46AB-AA4C-F5087BCE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244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  <p:sp>
        <p:nvSpPr>
          <p:cNvPr id="29" name="code-line">
            <a:extLst xmlns:a="http://schemas.openxmlformats.org/drawingml/2006/main">
              <a:ext uri="{FF2B5EF4-FFF2-40B4-BE49-F238E27FC236}">
                <a16:creationId xmlns:a16="http://schemas.microsoft.com/office/drawing/2014/main" id="{9DF2F659-4541-44C5-9EA4-C0FA8B3C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24425"/>
            <a:ext cx="75057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signal -88 dBm</a:t>
            </a:r>
          </a:p>
        </p:txBody>
      </p:sp>
      <p:sp>
        <p:nvSpPr>
          <p:cNvPr id="3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F22A6169-C49B-4BD1-B07D-C46DDBBB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377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  <p:sp>
        <p:nvSpPr>
          <p:cNvPr id="31" name="code-line">
            <a:extLst xmlns:a="http://schemas.openxmlformats.org/drawingml/2006/main">
              <a:ext uri="{FF2B5EF4-FFF2-40B4-BE49-F238E27FC236}">
                <a16:creationId xmlns:a16="http://schemas.microsoft.com/office/drawing/2014/main" id="{42705829-9ED4-49CC-9A0A-3D5442FD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37785"/>
            <a:ext cx="75057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signal -97 dBm</a:t>
            </a:r>
          </a:p>
        </p:txBody>
      </p:sp>
      <p:sp>
        <p:nvSpPr>
          <p:cNvPr id="3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83EBC9FD-7EBF-4398-A538-06C2E40D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511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  <p:sp>
        <p:nvSpPr>
          <p:cNvPr id="33" name="code-line">
            <a:extLst xmlns:a="http://schemas.openxmlformats.org/drawingml/2006/main">
              <a:ext uri="{FF2B5EF4-FFF2-40B4-BE49-F238E27FC236}">
                <a16:creationId xmlns:a16="http://schemas.microsoft.com/office/drawing/2014/main" id="{128F3071-5503-4AA1-9C5E-F3DEAE25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51145"/>
            <a:ext cx="75057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Ignorisanih duplikata: 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0682F1-F0FF-4F2D-9B3B-E850AFF1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ADC27C-D620-47EA-A199-8AFBAF4F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3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36A0E20-0AFC-4324-9BE1-F9824696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7945246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EFE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DA4299-0F04-49F3-B39C-8560B876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75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875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3875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770BF-A167-44AE-831D-4B0D38CC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6858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ЧЕТВРТИ ДЕО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360FA-EFB4-4E60-ADF7-A8C7085A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6858000" cy="699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Примена и провера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51FD8-7318-4986-A580-25BE2DDA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3758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Принципи, замке, задатак уз пример и примена на пројектну целину.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30630-2A5B-4EAB-B648-7C80E9FE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9C254E-B450-4646-8CD2-FBB4E146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39AF6F5-CF71-4C49-B21A-D959FB4F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30603556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B7D549-3B98-4451-B6C1-6024412A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2101F-2C9E-4F72-B96E-27E2056E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439236-CBFD-4067-8AE0-FC3F7764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Принципи и замке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390E4414-ADAF-4AC3-823F-96C81C3C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Принцип важи тек када је препозната и замка која га тихо поништава.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1CD41-EC21-4842-ADDB-9C1A8B93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5162550" cy="2747010"/>
          </a:xfrm>
          <a:prstGeom xmlns:a="http://schemas.openxmlformats.org/drawingml/2006/main" prst="roundRect">
            <a:avLst>
              <a:gd name="adj" fmla="val 3467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9D6A1-6A56-46A2-8871-8178D5FC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524125"/>
            <a:ext cx="474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ПРИНЦИПИ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35C69-506A-43B8-8F97-50FD90ED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3372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44042-6BCB-41ED-BD74-BC11D635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943225"/>
            <a:ext cx="45529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Порука која не пролази не нестаје тихо, већ добија</a:t>
            </a:r>
          </a:p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видљив разлог.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4EAABF-1CBE-41B3-9D78-E0DE2A6D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82714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97CAD1-9355-416F-A185-FC2B2D10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636645"/>
            <a:ext cx="45529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Поновљена испорука је очекивана и прималац је</a:t>
            </a:r>
          </a:p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препознаје.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3B399C-A56A-43A7-A79D-C1E8E98B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52056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F3F020-FAB0-4DB2-A87F-79A73D71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330065"/>
            <a:ext cx="45529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Локални капацитет и политика одбацивања морају</a:t>
            </a:r>
          </a:p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бити експлицитни.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F3DBB3-1DD7-4A21-B5A6-895EDA09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33625"/>
            <a:ext cx="5162550" cy="2747010"/>
          </a:xfrm>
          <a:prstGeom xmlns:a="http://schemas.openxmlformats.org/drawingml/2006/main" prst="roundRect">
            <a:avLst>
              <a:gd name="adj" fmla="val 3467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C4A330-A079-4323-B778-CAFE99C8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24125"/>
            <a:ext cx="474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ЗАМКЕ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C57DC7-36F7-4892-864C-E24187C3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3372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56B111-6FBD-4BF9-B8DE-44253F42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43225"/>
            <a:ext cx="45529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Buffer без ограничења и без политике при</a:t>
            </a:r>
          </a:p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попуњености.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70C49B-9C41-424D-937B-9812D592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2714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1B8AA8-C531-435E-B42F-6E147B59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636645"/>
            <a:ext cx="45529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Replay који заобилази исту валидацију као први</a:t>
            </a:r>
          </a:p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покушај.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F59621-BD6B-46F1-A5F1-1314DC84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2056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DC817C-DB74-4C58-A6B0-8A29CB2F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330065"/>
            <a:ext cx="45529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Дедупликација ослоњена само на податак који се</a:t>
            </a:r>
          </a:p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може променити.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5B13C8-ECF3-4174-86A4-1F66D6BE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4F201E-D579-45DF-BA64-DF4E25D6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2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2039CBB-4D42-4FDC-8214-1D39AD52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4925917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751C0E-77AA-456F-BFE5-00DAAFCD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D55C5-69B4-407E-A8CE-A2762D4E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4183DF-506C-431D-B437-1CB6C4EB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Типичне грешке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F3A04508-9597-48CC-A18B-40460111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Ове грешке се најчешће понављају када се принцип површно примени.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C7B40-59C2-489D-9242-4088C036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33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CB59D6-3C15-47BF-8458-4E70C369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2B29B-F97B-4C8E-9219-9564AC63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Buffer без ограничења.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FC91FD-F32B-415A-90CB-9B2EA029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8860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9C580C-9908-4BDF-8D0A-6F2DF546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990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1E95C-7E28-4D85-9465-361D384D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Replay који заобилази валидацију.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1AFDD4-3040-462A-B25A-89EA5936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385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527B40-1174-4D80-A61B-FB4DC05C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623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78B5DC-1925-402B-AB4D-E2BF5A1A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814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Дедупликација заснована на променљивом податку.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EEC704-FB85-4320-9B83-6E482E05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1A3C6D-6D5D-47D9-8D54-A02CC6B1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88EC049-EA1C-4DA7-A6B9-FA75FB9F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85454152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FB2A6F-6C44-4681-8381-0F507BB4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B8B29-32A2-44B2-9CD3-55A58186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E8A07D-8E0E-4913-89CA-9CAA1545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Како се принцип примењује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F4BF93CD-E8C2-4DB6-9970-7C4FD9A9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Кораци показују како се принцип препознаје и доследно спроводи у развоју.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4B5F0-604E-448D-A4BE-E529C01B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33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75F256-91DF-4399-8A96-18022247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1D7E53-19CC-4B2C-B502-6BFAE1A4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Одредити капацитет и политику при попуњености.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F5574-81B0-4AA2-932C-6843FE3E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8860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F4922-2850-43E3-AEA4-EE5972F1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990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78CDAE-ECB4-4C38-A8D7-A600CF9E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Поновити повезивање након прекида.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404E88-A7A3-47C3-AFB4-A6CBC1A8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385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DED86B-EAF5-4641-812B-B92AFE41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623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55C21-9D46-4610-8867-66C845B6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814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Пратити поруку до коначног исхода.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A34677-13B0-45DE-A7A1-94193CCB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CB25CF-CBAD-4F6F-B4F6-7F2044AE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4F5CBAB-D36E-4126-8DE7-FC73D1A4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49806796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694D6C-DFDE-4E10-B8BC-9F289657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59CAB-0C6C-4D26-8F65-43A7EAC7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041878-E223-414A-86D4-23B1E5B1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Питање за дискусију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7AF2F6BE-6DF0-49BE-A370-A534BC47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Одговор се образлаже failure сценаријем и тестом, а не описом срећног пута.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77673-EC61-4C2D-B479-1B62181C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9810750" cy="721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Коју поруку бисте обавезно сачували док нема везе, а коју бисте смели да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одбаците уз обавештење?</a:t>
            </a:r>
          </a:p>
        </p:txBody>
      </p:sp>
      <p:sp>
        <p:nvSpPr>
          <p:cNvPr id="6" name="banner-background">
            <a:extLst xmlns:a="http://schemas.openxmlformats.org/drawingml/2006/main">
              <a:ext uri="{FF2B5EF4-FFF2-40B4-BE49-F238E27FC236}">
                <a16:creationId xmlns:a16="http://schemas.microsoft.com/office/drawing/2014/main" id="{9387147D-035D-4D50-8665-6758B77B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10572750" cy="735330"/>
          </a:xfrm>
          <a:prstGeom xmlns:a="http://schemas.openxmlformats.org/drawingml/2006/main" prst="roundRect">
            <a:avLst>
              <a:gd name="adj" fmla="val 10363"/>
            </a:avLst>
          </a:prstGeom>
          <a:solidFill xmlns:a="http://schemas.openxmlformats.org/drawingml/2006/main">
            <a:srgbClr val="EF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anner-curved-accent">
            <a:extLst xmlns:a="http://schemas.openxmlformats.org/drawingml/2006/main">
              <a:ext uri="{FF2B5EF4-FFF2-40B4-BE49-F238E27FC236}">
                <a16:creationId xmlns:a16="http://schemas.microsoft.com/office/drawing/2014/main" id="{6621364A-5D27-450E-A533-D7719A0E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76200" cy="735330"/>
          </a:xfrm>
          <a:custGeom xmlns:a="http://schemas.openxmlformats.org/drawingml/2006/main">
            <a:pathLst>
              <a:path w="76200" h="735330">
                <a:moveTo>
                  <a:pt x="76200" y="0"/>
                </a:moveTo>
                <a:cubicBezTo>
                  <a:pt x="34100" y="0"/>
                  <a:pt x="0" y="34100"/>
                  <a:pt x="0" y="76200"/>
                </a:cubicBezTo>
                <a:lnTo>
                  <a:pt x="0" y="659130"/>
                </a:lnTo>
                <a:cubicBezTo>
                  <a:pt x="0" y="701231"/>
                  <a:pt x="34100" y="735330"/>
                  <a:pt x="76200" y="735330"/>
                </a:cubicBezTo>
                <a:lnTo>
                  <a:pt x="76200" y="697230"/>
                </a:lnTo>
                <a:cubicBezTo>
                  <a:pt x="55150" y="697230"/>
                  <a:pt x="38100" y="680180"/>
                  <a:pt x="38100" y="659130"/>
                </a:cubicBezTo>
                <a:lnTo>
                  <a:pt x="38100" y="76200"/>
                </a:lnTo>
                <a:cubicBezTo>
                  <a:pt x="38100" y="55150"/>
                  <a:pt x="55150" y="38100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6B5640-7012-4DDE-BC15-C364BB90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57700"/>
            <a:ext cx="10115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ЗА ВЕЖБУ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99F3C-815A-4CB4-836B-F45B2528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95825"/>
            <a:ext cx="1011555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Коју поруку бисте морали сачувати током прекида везе, а коју бисте смели изгубити уз јасно обавештење? Зашто?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2D21ED-038C-47A3-A056-DAD787AC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4D65B1-2707-42D9-B41E-4E81CEDE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C0D775A-31E6-4DC7-B495-3883F34A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8618110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6574D8-DE28-4397-AD57-21026EA5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5D693D-C72A-4F52-9AF7-7532AA9E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47A9C5-B9AD-40EE-AC62-3D58E6AD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Задатак уз пример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1EA2EB1E-A80D-4707-9E5B-1CE8D1B7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Проширење примера уз вежбу, правило иде у домен, а доказ у тест.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DC0EE6-569F-473A-9DE3-9ECF94C5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33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D02DB-98DC-4FD7-A9DA-0AD2332C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47A86-CF47-415C-835E-2B2E88C3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Ограничити величину outbox-а (Capacity).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A995C-FC0F-4FE0-A596-CA43D9FE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8860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A31F90-E689-433A-80A8-2594B499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990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14249-D0AC-4A22-A5A3-062E9279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Када је пун, ново мерење се одбија кодом outbox_full уместо да се тихо изгуби старо.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E4701A-6AA3-469F-B0FB-A8C566D6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385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9D3B0-63D2-4F97-95E9-C9ACC627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623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DFD03E-C0B1-4686-B025-6D47FAF9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814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Правило покрити тестом у коме веза остаје у прекиду.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6B5443-25E3-4E30-84C9-B29F02DC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603991-1DA6-4848-BACD-F4CE2BEC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E577F81-800A-4633-BA26-64A0D5B0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23986099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6C1F4F-B8A5-4B7A-921D-6FB01011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62CDF-F41F-4F3A-A4D6-DAB58326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AA1D9A-4090-4178-B1C3-7F8EE9E1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Примена на пројекат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1EE459D2-78FB-4F0C-B518-A8248924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Принцип са вежбе примењује се на додељену пројектну целину.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39C732-880D-4C05-B15B-A67AEC6E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33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A32E73-ABAB-4EBD-8C43-AC582C8B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6518E-2940-4CC3-9550-1B20F646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Идентификовати конкретну дистрибуирану одлуку у својој целини.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1D64D-34EB-4846-8531-668C2BF3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8860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085F97-6A93-414D-A5A7-4FE5CA43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990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AD0AF6-FA2C-4887-9D38-3EEB4410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Имплементирати је са стабилним кодом исхода.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8C44FB-5A41-4BB3-AB34-C87FE00E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385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D2AA41-98B3-4495-ABC5-CD11A8D9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623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7520CC-FCCA-4814-BCA3-1B3DC820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814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Припремити поновљив failure сценарио и тест који га доказује.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CD687E-8453-4659-BC8A-BE342F7A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2E822F-4A15-43EA-8DA5-EBC69BE5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6DF364B-95BE-42E2-9BE0-824C9063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95045871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A2276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0BE989-A947-4A5A-9D61-8AE7567A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5DAF1-CD6C-40A8-9BD8-5B17E978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FB3E1B-46DB-49E3-8C46-2FB8FD8A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Резиме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036B2632-8AEA-436E-AA2D-5EA35494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Тим најпре одлучује шта може да се задржи локално, колико дуго и шта се дешава при попуњеном капацитету.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B79A0-0783-4581-B498-078C33CD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9810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Прекид везе мења тренутак испоруке, али не сме да избрише намеру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нити да је произвољно удвостручи.</a:t>
            </a:r>
          </a:p>
        </p:txBody>
      </p:sp>
      <p:sp>
        <p:nvSpPr>
          <p:cNvPr id="6" name="banner-background">
            <a:extLst xmlns:a="http://schemas.openxmlformats.org/drawingml/2006/main">
              <a:ext uri="{FF2B5EF4-FFF2-40B4-BE49-F238E27FC236}">
                <a16:creationId xmlns:a16="http://schemas.microsoft.com/office/drawing/2014/main" id="{247D9ECB-A68C-4BD6-B885-F19CE130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10572750" cy="735330"/>
          </a:xfrm>
          <a:prstGeom xmlns:a="http://schemas.openxmlformats.org/drawingml/2006/main" prst="roundRect">
            <a:avLst>
              <a:gd name="adj" fmla="val 10363"/>
            </a:avLst>
          </a:prstGeom>
          <a:solidFill xmlns:a="http://schemas.openxmlformats.org/drawingml/2006/main">
            <a:srgbClr val="AE43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anner-curved-accent">
            <a:extLst xmlns:a="http://schemas.openxmlformats.org/drawingml/2006/main">
              <a:ext uri="{FF2B5EF4-FFF2-40B4-BE49-F238E27FC236}">
                <a16:creationId xmlns:a16="http://schemas.microsoft.com/office/drawing/2014/main" id="{C378A70B-7263-4A70-93E6-0D9451AE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76200" cy="735330"/>
          </a:xfrm>
          <a:custGeom xmlns:a="http://schemas.openxmlformats.org/drawingml/2006/main">
            <a:pathLst>
              <a:path w="76200" h="735330">
                <a:moveTo>
                  <a:pt x="76200" y="0"/>
                </a:moveTo>
                <a:cubicBezTo>
                  <a:pt x="34100" y="0"/>
                  <a:pt x="0" y="34100"/>
                  <a:pt x="0" y="76200"/>
                </a:cubicBezTo>
                <a:lnTo>
                  <a:pt x="0" y="659130"/>
                </a:lnTo>
                <a:cubicBezTo>
                  <a:pt x="0" y="701231"/>
                  <a:pt x="34100" y="735330"/>
                  <a:pt x="76200" y="735330"/>
                </a:cubicBezTo>
                <a:lnTo>
                  <a:pt x="76200" y="697230"/>
                </a:lnTo>
                <a:cubicBezTo>
                  <a:pt x="55150" y="697230"/>
                  <a:pt x="38100" y="680180"/>
                  <a:pt x="38100" y="659130"/>
                </a:cubicBezTo>
                <a:lnTo>
                  <a:pt x="38100" y="76200"/>
                </a:lnTo>
                <a:cubicBezTo>
                  <a:pt x="38100" y="55150"/>
                  <a:pt x="55150" y="38100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FCFCF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A55B06-AA1C-42F5-A063-7A2E258D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57700"/>
            <a:ext cx="10115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rPr>
              <a:t>НАПОМЕНА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1FDC32-9A35-4583-B493-667B8950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95825"/>
            <a:ext cx="1011555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Наредна вежба: Координација, проток и евентуална конзистентност.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317F3B-F5A3-445E-979B-2AFB5ED8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578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E165D1-0F50-4D1C-AE5D-5AF0358C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4D9DCF7-949D-446A-9072-716917B4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FCFCFB"/>
                </a:solidFill>
                <a:latin typeface="IBM Plex Mono"/>
                <a:ea typeface="IBM Plex Mono"/>
                <a:cs typeface="IBM Plex Mono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6513426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2026-10-10T19:18:14.8020000Z</dcterms:created>
  <dcterms:modified xsi:type="dcterms:W3CDTF">2026-10-10T19:18:14.8020000Z</dcterms:modified>
</coreProperties>
</file>