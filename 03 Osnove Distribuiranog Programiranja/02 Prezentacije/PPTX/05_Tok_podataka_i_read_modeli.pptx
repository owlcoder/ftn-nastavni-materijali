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8accef296447d3" /><Relationship Type="http://schemas.openxmlformats.org/officeDocument/2006/relationships/extended-properties" Target="/docProps/app.xml" Id="Rd093b95cac164ae0" /><Relationship Type="http://schemas.openxmlformats.org/officeDocument/2006/relationships/officeDocument" Target="/ppt/presentation.xml" Id="R793933412ef649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ad02c53e644a0e"/>
  </p:sldMasterIdLst>
  <p:notesMasterIdLst>
    <p:notesMasterId xmlns:r="http://schemas.openxmlformats.org/officeDocument/2006/relationships" r:id="Rbe3d449c484146c6"/>
  </p:notesMasterIdLst>
  <p:sldIdLst>
    <p:sldId xmlns:r="http://schemas.openxmlformats.org/officeDocument/2006/relationships" id="256" r:id="R6a3bcb07b28741b0"/>
    <p:sldId xmlns:r="http://schemas.openxmlformats.org/officeDocument/2006/relationships" id="257" r:id="Rccb6e69cbea54993"/>
    <p:sldId xmlns:r="http://schemas.openxmlformats.org/officeDocument/2006/relationships" id="258" r:id="Rc23f4c3ad52841f4"/>
    <p:sldId xmlns:r="http://schemas.openxmlformats.org/officeDocument/2006/relationships" id="259" r:id="R528dffcbf8244afd"/>
    <p:sldId xmlns:r="http://schemas.openxmlformats.org/officeDocument/2006/relationships" id="260" r:id="R6760e0a8817c4e63"/>
    <p:sldId xmlns:r="http://schemas.openxmlformats.org/officeDocument/2006/relationships" id="261" r:id="Rca91b39c458c4e7d"/>
    <p:sldId xmlns:r="http://schemas.openxmlformats.org/officeDocument/2006/relationships" id="262" r:id="R0acdf4c42906426e"/>
    <p:sldId xmlns:r="http://schemas.openxmlformats.org/officeDocument/2006/relationships" id="263" r:id="Rafa360e5cfe349ab"/>
    <p:sldId xmlns:r="http://schemas.openxmlformats.org/officeDocument/2006/relationships" id="264" r:id="R13f51e687b5f4ea0"/>
    <p:sldId xmlns:r="http://schemas.openxmlformats.org/officeDocument/2006/relationships" id="265" r:id="R1c5f09084d8c4759"/>
    <p:sldId xmlns:r="http://schemas.openxmlformats.org/officeDocument/2006/relationships" id="266" r:id="Rb24d1051c1714d50"/>
    <p:sldId xmlns:r="http://schemas.openxmlformats.org/officeDocument/2006/relationships" id="267" r:id="R10f96e81fc1b489b"/>
    <p:sldId xmlns:r="http://schemas.openxmlformats.org/officeDocument/2006/relationships" id="268" r:id="R9ff99ae2146e48cf"/>
    <p:sldId xmlns:r="http://schemas.openxmlformats.org/officeDocument/2006/relationships" id="269" r:id="Rf94d246fb2674bf1"/>
    <p:sldId xmlns:r="http://schemas.openxmlformats.org/officeDocument/2006/relationships" id="270" r:id="Rd99f347ffff84bd6"/>
    <p:sldId xmlns:r="http://schemas.openxmlformats.org/officeDocument/2006/relationships" id="271" r:id="Rd6c5d3d1559642b7"/>
    <p:sldId xmlns:r="http://schemas.openxmlformats.org/officeDocument/2006/relationships" id="272" r:id="R3d47d2f096e046e2"/>
    <p:sldId xmlns:r="http://schemas.openxmlformats.org/officeDocument/2006/relationships" id="273" r:id="Rf25b3915c2814b79"/>
    <p:sldId xmlns:r="http://schemas.openxmlformats.org/officeDocument/2006/relationships" id="274" r:id="Rb4dd9ba7caff425b"/>
    <p:sldId xmlns:r="http://schemas.openxmlformats.org/officeDocument/2006/relationships" id="275" r:id="Re70e546d7b5d4eba"/>
    <p:sldId xmlns:r="http://schemas.openxmlformats.org/officeDocument/2006/relationships" id="276" r:id="R270b434be9d44762"/>
    <p:sldId xmlns:r="http://schemas.openxmlformats.org/officeDocument/2006/relationships" id="277" r:id="R4357ae03539e42d8"/>
    <p:sldId xmlns:r="http://schemas.openxmlformats.org/officeDocument/2006/relationships" id="278" r:id="R3a81030e062443b5"/>
    <p:sldId xmlns:r="http://schemas.openxmlformats.org/officeDocument/2006/relationships" id="279" r:id="Rc52d2dfad63544d1"/>
    <p:sldId xmlns:r="http://schemas.openxmlformats.org/officeDocument/2006/relationships" id="280" r:id="R07e675dc93174e7c"/>
    <p:sldId xmlns:r="http://schemas.openxmlformats.org/officeDocument/2006/relationships" id="281" r:id="R4d2ac05e9e4941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e7e31d779548c4" /><Relationship Type="http://schemas.openxmlformats.org/officeDocument/2006/relationships/slideMaster" Target="/ppt/slideMasters/slideMaster1.xml" Id="R3ead02c53e644a0e" /><Relationship Type="http://schemas.openxmlformats.org/officeDocument/2006/relationships/notesMaster" Target="/ppt/notesMasters/notesMaster1.xml" Id="Rbe3d449c484146c6" /><Relationship Type="http://schemas.openxmlformats.org/officeDocument/2006/relationships/presProps" Target="/ppt/presProps.xml" Id="R9d8603ad49e94283" /><Relationship Type="http://schemas.openxmlformats.org/officeDocument/2006/relationships/tableStyles" Target="/ppt/tableStyles.xml" Id="R33cfc0687f2c4de5" /><Relationship Type="http://schemas.openxmlformats.org/officeDocument/2006/relationships/slide" Target="/ppt/slides/slide1.xml" Id="R6a3bcb07b28741b0" /><Relationship Type="http://schemas.openxmlformats.org/officeDocument/2006/relationships/slide" Target="/ppt/slides/slide2.xml" Id="Rccb6e69cbea54993" /><Relationship Type="http://schemas.openxmlformats.org/officeDocument/2006/relationships/slide" Target="/ppt/slides/slide3.xml" Id="Rc23f4c3ad52841f4" /><Relationship Type="http://schemas.openxmlformats.org/officeDocument/2006/relationships/slide" Target="/ppt/slides/slide4.xml" Id="R528dffcbf8244afd" /><Relationship Type="http://schemas.openxmlformats.org/officeDocument/2006/relationships/slide" Target="/ppt/slides/slide5.xml" Id="R6760e0a8817c4e63" /><Relationship Type="http://schemas.openxmlformats.org/officeDocument/2006/relationships/slide" Target="/ppt/slides/slide6.xml" Id="Rca91b39c458c4e7d" /><Relationship Type="http://schemas.openxmlformats.org/officeDocument/2006/relationships/slide" Target="/ppt/slides/slide7.xml" Id="R0acdf4c42906426e" /><Relationship Type="http://schemas.openxmlformats.org/officeDocument/2006/relationships/slide" Target="/ppt/slides/slide8.xml" Id="Rafa360e5cfe349ab" /><Relationship Type="http://schemas.openxmlformats.org/officeDocument/2006/relationships/slide" Target="/ppt/slides/slide9.xml" Id="R13f51e687b5f4ea0" /><Relationship Type="http://schemas.openxmlformats.org/officeDocument/2006/relationships/slide" Target="/ppt/slides/slide10.xml" Id="R1c5f09084d8c4759" /><Relationship Type="http://schemas.openxmlformats.org/officeDocument/2006/relationships/slide" Target="/ppt/slides/slide11.xml" Id="Rb24d1051c1714d50" /><Relationship Type="http://schemas.openxmlformats.org/officeDocument/2006/relationships/slide" Target="/ppt/slides/slide12.xml" Id="R10f96e81fc1b489b" /><Relationship Type="http://schemas.openxmlformats.org/officeDocument/2006/relationships/slide" Target="/ppt/slides/slide13.xml" Id="R9ff99ae2146e48cf" /><Relationship Type="http://schemas.openxmlformats.org/officeDocument/2006/relationships/slide" Target="/ppt/slides/slide14.xml" Id="Rf94d246fb2674bf1" /><Relationship Type="http://schemas.openxmlformats.org/officeDocument/2006/relationships/slide" Target="/ppt/slides/slide15.xml" Id="Rd99f347ffff84bd6" /><Relationship Type="http://schemas.openxmlformats.org/officeDocument/2006/relationships/slide" Target="/ppt/slides/slide16.xml" Id="Rd6c5d3d1559642b7" /><Relationship Type="http://schemas.openxmlformats.org/officeDocument/2006/relationships/slide" Target="/ppt/slides/slide17.xml" Id="R3d47d2f096e046e2" /><Relationship Type="http://schemas.openxmlformats.org/officeDocument/2006/relationships/slide" Target="/ppt/slides/slide18.xml" Id="Rf25b3915c2814b79" /><Relationship Type="http://schemas.openxmlformats.org/officeDocument/2006/relationships/slide" Target="/ppt/slides/slide19.xml" Id="Rb4dd9ba7caff425b" /><Relationship Type="http://schemas.openxmlformats.org/officeDocument/2006/relationships/slide" Target="/ppt/slides/slide20.xml" Id="Re70e546d7b5d4eba" /><Relationship Type="http://schemas.openxmlformats.org/officeDocument/2006/relationships/slide" Target="/ppt/slides/slide21.xml" Id="R270b434be9d44762" /><Relationship Type="http://schemas.openxmlformats.org/officeDocument/2006/relationships/slide" Target="/ppt/slides/slide22.xml" Id="R4357ae03539e42d8" /><Relationship Type="http://schemas.openxmlformats.org/officeDocument/2006/relationships/slide" Target="/ppt/slides/slide23.xml" Id="R3a81030e062443b5" /><Relationship Type="http://schemas.openxmlformats.org/officeDocument/2006/relationships/slide" Target="/ppt/slides/slide24.xml" Id="Rc52d2dfad63544d1" /><Relationship Type="http://schemas.openxmlformats.org/officeDocument/2006/relationships/slide" Target="/ppt/slides/slide25.xml" Id="R07e675dc93174e7c" /><Relationship Type="http://schemas.openxmlformats.org/officeDocument/2006/relationships/slide" Target="/ppt/slides/slide26.xml" Id="R4d2ac05e9e4941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262bf8a57441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6b27a469eb4c54" /><Relationship Type="http://schemas.openxmlformats.org/officeDocument/2006/relationships/notesMaster" Target="/ppt/notesMasters/notesMaster1.xml" Id="R6934d715768342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960e486aa34a85" /><Relationship Type="http://schemas.openxmlformats.org/officeDocument/2006/relationships/notesMaster" Target="/ppt/notesMasters/notesMaster1.xml" Id="R6eaf0c01c19f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f9f64e817c4769" /><Relationship Type="http://schemas.openxmlformats.org/officeDocument/2006/relationships/notesMaster" Target="/ppt/notesMasters/notesMaster1.xml" Id="R3bcdab1d06d04c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f812e26dd44fbd" /><Relationship Type="http://schemas.openxmlformats.org/officeDocument/2006/relationships/notesMaster" Target="/ppt/notesMasters/notesMaster1.xml" Id="Ra539e9bc7110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fd649263b34a82" /><Relationship Type="http://schemas.openxmlformats.org/officeDocument/2006/relationships/notesMaster" Target="/ppt/notesMasters/notesMaster1.xml" Id="Rffee5316c1d14b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2a672752534d79" /><Relationship Type="http://schemas.openxmlformats.org/officeDocument/2006/relationships/notesMaster" Target="/ppt/notesMasters/notesMaster1.xml" Id="Rf5dea5bcc26d42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f987bf732e4023" /><Relationship Type="http://schemas.openxmlformats.org/officeDocument/2006/relationships/notesMaster" Target="/ppt/notesMasters/notesMaster1.xml" Id="Rdab1ca91394747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26f157dd3a442a" /><Relationship Type="http://schemas.openxmlformats.org/officeDocument/2006/relationships/notesMaster" Target="/ppt/notesMasters/notesMaster1.xml" Id="Rd365a5ec92c044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a4691095e842b6" /><Relationship Type="http://schemas.openxmlformats.org/officeDocument/2006/relationships/notesMaster" Target="/ppt/notesMasters/notesMaster1.xml" Id="Rc5e758e039e142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b85358f4c544ec" /><Relationship Type="http://schemas.openxmlformats.org/officeDocument/2006/relationships/notesMaster" Target="/ppt/notesMasters/notesMaster1.xml" Id="R3bc1f2dd23224f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2baff8f8744d95" /><Relationship Type="http://schemas.openxmlformats.org/officeDocument/2006/relationships/notesMaster" Target="/ppt/notesMasters/notesMaster1.xml" Id="Rcce308a7501348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3e220f1e3a4f97" /><Relationship Type="http://schemas.openxmlformats.org/officeDocument/2006/relationships/notesMaster" Target="/ppt/notesMasters/notesMaster1.xml" Id="R652c9a7ec6974d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f3312028e24375" /><Relationship Type="http://schemas.openxmlformats.org/officeDocument/2006/relationships/notesMaster" Target="/ppt/notesMasters/notesMaster1.xml" Id="R3f8add8095904d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32c05bd7134978" /><Relationship Type="http://schemas.openxmlformats.org/officeDocument/2006/relationships/notesMaster" Target="/ppt/notesMasters/notesMaster1.xml" Id="R58e31792103e49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e4b4f710744fcf" /><Relationship Type="http://schemas.openxmlformats.org/officeDocument/2006/relationships/notesMaster" Target="/ppt/notesMasters/notesMaster1.xml" Id="R722a34da423a45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b83ff51b7143f1" /><Relationship Type="http://schemas.openxmlformats.org/officeDocument/2006/relationships/notesMaster" Target="/ppt/notesMasters/notesMaster1.xml" Id="Rb220afcbc35341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6e190aa2784d20" /><Relationship Type="http://schemas.openxmlformats.org/officeDocument/2006/relationships/notesMaster" Target="/ppt/notesMasters/notesMaster1.xml" Id="Rc895bb28b23a45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5f281cd7aa4410" /><Relationship Type="http://schemas.openxmlformats.org/officeDocument/2006/relationships/notesMaster" Target="/ppt/notesMasters/notesMaster1.xml" Id="R1e38c180490e45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a3c39f06ff4eab" /><Relationship Type="http://schemas.openxmlformats.org/officeDocument/2006/relationships/notesMaster" Target="/ppt/notesMasters/notesMaster1.xml" Id="Rf18e32519fb04d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5cfb597a4547ad" /><Relationship Type="http://schemas.openxmlformats.org/officeDocument/2006/relationships/notesMaster" Target="/ppt/notesMasters/notesMaster1.xml" Id="R06bfbedd2bfd48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01e3b8f7d94935" /><Relationship Type="http://schemas.openxmlformats.org/officeDocument/2006/relationships/notesMaster" Target="/ppt/notesMasters/notesMaster1.xml" Id="R197582d4da9a45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f00e1cbff14eeb" /><Relationship Type="http://schemas.openxmlformats.org/officeDocument/2006/relationships/notesMaster" Target="/ppt/notesMasters/notesMaster1.xml" Id="Rca5893d99dd145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f3bcf5c288445e" /><Relationship Type="http://schemas.openxmlformats.org/officeDocument/2006/relationships/notesMaster" Target="/ppt/notesMasters/notesMaster1.xml" Id="Rb007a335622d43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682f2408f04ad4" /><Relationship Type="http://schemas.openxmlformats.org/officeDocument/2006/relationships/notesMaster" Target="/ppt/notesMasters/notesMaster1.xml" Id="R577ad9d3082747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217598aac149bd" /><Relationship Type="http://schemas.openxmlformats.org/officeDocument/2006/relationships/notesMaster" Target="/ppt/notesMasters/notesMaster1.xml" Id="Rc504d3e039e8458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112ec4b3c504c7b" /><Relationship Type="http://schemas.openxmlformats.org/officeDocument/2006/relationships/notesMaster" Target="/ppt/notesMasters/notesMaster1.xml" Id="R48284c950ab848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 мрежне поруке до поуздане информације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Раздвојити пријем, валидацију, дистрибуцију и читање података са јасним границама одговорности.</a:t>
            </a:r>
          </a:p>
          <a:p xmlns:a="http://schemas.openxmlformats.org/drawingml/2006/main">
            <a:r>
              <a:t>Податак који је стигао са мреже још нема потврђено порекло, квалитет ни облик погодан за сваког корисника система.</a:t>
            </a:r>
          </a:p>
          <a:p xmlns:a="http://schemas.openxmlformats.org/drawingml/2006/main">
            <a:r>
              <a:t>Раздвојени слојеви чувају порекло информације и допуштају различите погледе на податке, уз отворено приказану цену кашњења.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Податак који стигне преко мреже још није поуздана пословна информација.</a:t>
            </a:r>
          </a:p>
          <a:p xmlns:a="http://schemas.openxmlformats.org/drawingml/2006/main">
            <a:r>
              <a:t>извор и основна валидација</a:t>
            </a:r>
          </a:p>
          <a:p xmlns:a="http://schemas.openxmlformats.org/drawingml/2006/main">
            <a:r>
              <a:t>интерни облик и квалитет</a:t>
            </a:r>
          </a:p>
          <a:p xmlns:a="http://schemas.openxmlformats.org/drawingml/2006/main">
            <a:r>
              <a:t>независни конзументи</a:t>
            </a:r>
          </a:p>
          <a:p xmlns:a="http://schemas.openxmlformats.org/drawingml/2006/main">
            <a:r>
              <a:t>поглед за коришћење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Пријем проверава извор, основну исправност и идентитет поруке пре него што податак постане део унутрашњег тока. Невалидна порука мора имати видљив исход.</a:t>
            </a:r>
          </a:p>
          <a:p xmlns:a="http://schemas.openxmlformats.org/drawingml/2006/main">
            <a:r>
              <a:t>Проверава извор и исправност пре уласка у систем.</a:t>
            </a:r>
          </a:p>
          <a:p xmlns:a="http://schemas.openxmlformats.org/drawingml/2006/main">
            <a:r>
              <a:t>Невалидна порука има видљив, не тих исход.</a:t>
            </a:r>
          </a:p>
          <a:p xmlns:a="http://schemas.openxmlformats.org/drawingml/2006/main">
            <a:r>
              <a:t>Прва линија одбране од лошег податка.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Нормализација претвара спољашњи формат у стабилан унутрашњи облик уз очувано порекло и време. Тако остатак система не зависи од детаља сваког извора.</a:t>
            </a:r>
          </a:p>
          <a:p xmlns:a="http://schemas.openxmlformats.org/drawingml/2006/main">
            <a:r>
              <a:t>Претвара спољашњи формат у стабилан унутрашњи облик.</a:t>
            </a:r>
          </a:p>
          <a:p xmlns:a="http://schemas.openxmlformats.org/drawingml/2006/main">
            <a:r>
              <a:t>Чува порекло и време настанка поруке.</a:t>
            </a:r>
          </a:p>
          <a:p xmlns:a="http://schemas.openxmlformats.org/drawingml/2006/main">
            <a:r>
              <a:t>Остатак система не зависи од детаља извора.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Усмеравање шаље обрађену поруку само компонентама које заиста имају разлог да је тумаче. Оно одваја одговорности и ограничава непотребне зависности.</a:t>
            </a:r>
          </a:p>
          <a:p xmlns:a="http://schemas.openxmlformats.org/drawingml/2006/main">
            <a:r>
              <a:t>Шаље поруку само онима којима је заиста потребна.</a:t>
            </a:r>
          </a:p>
          <a:p xmlns:a="http://schemas.openxmlformats.org/drawingml/2006/main">
            <a:r>
              <a:t>Одваја одговорности између компоненти.</a:t>
            </a:r>
          </a:p>
          <a:p xmlns:a="http://schemas.openxmlformats.org/drawingml/2006/main">
            <a:r>
              <a:t>Ограничава непотребне зависности.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модел је приказ прилагођен читању, а не нужно ауторитативно стање. Зато треба јасно показати када је последњи пут освежен и колико може каснити.</a:t>
            </a:r>
          </a:p>
          <a:p xmlns:a="http://schemas.openxmlformats.org/drawingml/2006/main">
            <a:r>
              <a:t>Приказ за читање, не ауторитативно стање.</a:t>
            </a:r>
          </a:p>
          <a:p xmlns:a="http://schemas.openxmlformats.org/drawingml/2006/main">
            <a:r>
              <a:t>Мора показати када је последњи пут освежен.</a:t>
            </a:r>
          </a:p>
          <a:p xmlns:a="http://schemas.openxmlformats.org/drawingml/2006/main">
            <a:r>
              <a:t>Застарелост је видљива, не скривена од корисника.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Телеметријска порука може стићи два пута, а њено време настанка може бити старије од времена пријема.</a:t>
            </a:r>
          </a:p>
          <a:p xmlns:a="http://schemas.openxmlformats.org/drawingml/2006/main">
            <a:r>
              <a:t>Пријем проверава извор и минимални облик поруке.</a:t>
            </a:r>
          </a:p>
          <a:p xmlns:a="http://schemas.openxmlformats.org/drawingml/2006/main">
            <a:r>
              <a:t>Нормализација чува квалитет и разлику између времена настанка и пријема.</a:t>
            </a:r>
          </a:p>
          <a:p xmlns:a="http://schemas.openxmlformats.org/drawingml/2006/main">
            <a:r>
              <a:t>Read модел отворено приказује свежину информације и не претвара дупликат у нови пословни догађај.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Податак постаје поуздан тек када су познати његово порекло, квалитет и границе приказа.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Изворни Apply прескаче измену Read модела када је reading.Sequence мањи или једнак LastSequence. Тест за редослед 3 па 2 чува оба мерења у запису и LastSequence 3 у приказу. Старост приказа остаје видљива.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раздваја запис од приказа.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Запис чува сва прихваћена мерења, приказ чува само последње.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Мерење које закасни остаје у запису, али не мења приказ.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Приказ који дуго није освежен остаје видљив, али је означен као застарео.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важи тек када је препозната и замка која га тихо поништава.</a:t>
            </a:r>
          </a:p>
          <a:p xmlns:a="http://schemas.openxmlformats.org/drawingml/2006/main">
            <a:r>
              <a:t>Стабилан идентитет поруке омогућава да се препозна њено понављање.</a:t>
            </a:r>
          </a:p>
          <a:p xmlns:a="http://schemas.openxmlformats.org/drawingml/2006/main">
            <a:r>
              <a:t>Време настанка и време пријема имају различито значење.</a:t>
            </a:r>
          </a:p>
          <a:p xmlns:a="http://schemas.openxmlformats.org/drawingml/2006/main">
            <a:r>
              <a:t>Read модел показује корисну слику, али мора знати границу своје свежине.</a:t>
            </a:r>
          </a:p>
          <a:p xmlns:a="http://schemas.openxmlformats.org/drawingml/2006/main">
            <a:r>
              <a:t>Тихо одбацивање поруке без разлога и трага.</a:t>
            </a:r>
          </a:p>
          <a:p xmlns:a="http://schemas.openxmlformats.org/drawingml/2006/main">
            <a:r>
              <a:t>Мешање времена извора и пријема.</a:t>
            </a:r>
          </a:p>
          <a:p xmlns:a="http://schemas.openxmlformats.org/drawingml/2006/main">
            <a:r>
              <a:t>Read модел који дуплира пословни ефекат при поновљеној поруци.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Ове грешке се најчешће понављају када се принцип површно примени.</a:t>
            </a:r>
          </a:p>
          <a:p xmlns:a="http://schemas.openxmlformats.org/drawingml/2006/main">
            <a:r>
              <a:t>Тихо одбацивање проблематичне поруке.</a:t>
            </a:r>
          </a:p>
          <a:p xmlns:a="http://schemas.openxmlformats.org/drawingml/2006/main">
            <a:r>
              <a:t>Мешање времена настанка и пријема.</a:t>
            </a:r>
          </a:p>
          <a:p xmlns:a="http://schemas.openxmlformats.org/drawingml/2006/main">
            <a:r>
              <a:t>Дупли пословни ефекат при поновљеној поруци.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Кораци показују како се принцип препознаје и доследно спроводи у развоју.</a:t>
            </a:r>
          </a:p>
          <a:p xmlns:a="http://schemas.openxmlformats.org/drawingml/2006/main">
            <a:r>
              <a:t>Задржати идентитет и квалитет поруке кроз ток.</a:t>
            </a:r>
          </a:p>
          <a:p xmlns:a="http://schemas.openxmlformats.org/drawingml/2006/main">
            <a:r>
              <a:t>Одредити где се порука одбија.</a:t>
            </a:r>
          </a:p>
          <a:p xmlns:a="http://schemas.openxmlformats.org/drawingml/2006/main">
            <a:r>
              <a:t>Приказати границу свежине read модела.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Одговор се образлаже failure сценаријем и тестом, а не описом срећног пута.</a:t>
            </a:r>
          </a:p>
          <a:p xmlns:a="http://schemas.openxmlformats.org/drawingml/2006/main">
            <a:r>
              <a:t>Који податак код вас сме да касни и како би корисник требало да види да није потпуно свеж?</a:t>
            </a:r>
          </a:p>
          <a:p xmlns:a="http://schemas.openxmlformats.org/drawingml/2006/main">
            <a:r>
              <a:t>Који податак у вашем систему може каснити, а ипак остати користан? Како корисник треба да види ту ограду?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Проширење примера уз вежбу, правило иде у домен, а доказ у тест.</a:t>
            </a:r>
          </a:p>
          <a:p xmlns:a="http://schemas.openxmlformats.org/drawingml/2006/main">
            <a:r>
              <a:t>Додати use-case RebuildStationView који брише приказ станице и поново га изводи из записа.</a:t>
            </a:r>
          </a:p>
          <a:p xmlns:a="http://schemas.openxmlformats.org/drawingml/2006/main">
            <a:r>
              <a:t>Тестом показати да је резултат исти без обзира на редослед којим су мерења првобитно стигла.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са вежбе примењује се на додељену пројектну целину.</a:t>
            </a:r>
          </a:p>
          <a:p xmlns:a="http://schemas.openxmlformats.org/drawingml/2006/main">
            <a:r>
              <a:t>Идентификовати конкретну дистрибуирану одлуку у својој целини.</a:t>
            </a:r>
          </a:p>
          <a:p xmlns:a="http://schemas.openxmlformats.org/drawingml/2006/main">
            <a:r>
              <a:t>Имплементирати је са стабилним кодом исхода.</a:t>
            </a:r>
          </a:p>
          <a:p xmlns:a="http://schemas.openxmlformats.org/drawingml/2006/main">
            <a:r>
              <a:t>Припремити поновљив failure сценарио и тест који га доказује.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 описује који слој сме да одбије поруку, који јој додељује квалитет и који је чува за касније читање.</a:t>
            </a:r>
          </a:p>
          <a:p xmlns:a="http://schemas.openxmlformats.org/drawingml/2006/main">
            <a:r>
              <a:t>Податак постаје поуздан тек када су познати његово порекло, квалитет и границе приказа.</a:t>
            </a:r>
          </a:p>
          <a:p xmlns:a="http://schemas.openxmlformats.org/drawingml/2006/main">
            <a:r>
              <a:t>Наредна вежба: Команде, послови и идемпотентност.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78f01289243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4735e802442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54a23430645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00e7f635e4f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2bcf9ff5049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0c3cce95e4f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48D548-B14B-4A6F-AC13-F5D49B43C4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BA6090-2C2D-412D-A8B7-40B8536CDF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7CEA61-C77E-42BB-8409-3A9FE14E2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71E343-285F-45D1-B6E1-1124CF8BD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F321CB-48DA-4B8A-A1FA-52C5F84D98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FED537-755A-4081-80F3-9B4FCD3A6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3CA8EC-5F4B-474D-A7DB-9D96BAC2BD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AD587C-A454-4B41-A65A-49AB94ABDA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01BAD4-5D71-4FA6-9BED-126F4646C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1A6FC8-6B9D-455B-A031-7FCCBB01DA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a053f34c314149" /><Relationship Type="http://schemas.openxmlformats.org/officeDocument/2006/relationships/slideLayout" Target="/ppt/slideLayouts/slideLayout1.xml" Id="Ra4e3d34bb13f42a9" /><Relationship Type="http://schemas.openxmlformats.org/officeDocument/2006/relationships/slideLayout" Target="/ppt/slideLayouts/slideLayout2.xml" Id="R6227b3c0cb7e42a2" /><Relationship Type="http://schemas.openxmlformats.org/officeDocument/2006/relationships/slideLayout" Target="/ppt/slideLayouts/slideLayout3.xml" Id="Rc563542a32c742a1" /><Relationship Type="http://schemas.openxmlformats.org/officeDocument/2006/relationships/slideLayout" Target="/ppt/slideLayouts/slideLayout4.xml" Id="R18a74dc6f6d5469b" /><Relationship Type="http://schemas.openxmlformats.org/officeDocument/2006/relationships/slideLayout" Target="/ppt/slideLayouts/slideLayout5.xml" Id="R5e862b6f8c834aa8" /><Relationship Type="http://schemas.openxmlformats.org/officeDocument/2006/relationships/slideLayout" Target="/ppt/slideLayouts/slideLayout6.xml" Id="Ra38b8508aa444a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3d34bb13f42a9"/>
    <p:sldLayoutId xmlns:r="http://schemas.openxmlformats.org/officeDocument/2006/relationships" id="2147483650" r:id="R6227b3c0cb7e42a2"/>
    <p:sldLayoutId xmlns:r="http://schemas.openxmlformats.org/officeDocument/2006/relationships" id="2147483651" r:id="Rc563542a32c742a1"/>
    <p:sldLayoutId xmlns:r="http://schemas.openxmlformats.org/officeDocument/2006/relationships" id="2147483652" r:id="R18a74dc6f6d5469b"/>
    <p:sldLayoutId xmlns:r="http://schemas.openxmlformats.org/officeDocument/2006/relationships" id="2147483653" r:id="R5e862b6f8c834aa8"/>
    <p:sldLayoutId xmlns:r="http://schemas.openxmlformats.org/officeDocument/2006/relationships" id="2147483654" r:id="Ra38b8508aa444a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be91a8695494b" /><Relationship Type="http://schemas.openxmlformats.org/officeDocument/2006/relationships/notesSlide" Target="/ppt/notesSlides/notesSlide1.xml" Id="Rc5b2cc6f022b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22c54f6c44bd0" /><Relationship Type="http://schemas.openxmlformats.org/officeDocument/2006/relationships/notesSlide" Target="/ppt/notesSlides/notesSlide2.xml" Id="R03ee2ad3e0f847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2955c34904419" /><Relationship Type="http://schemas.openxmlformats.org/officeDocument/2006/relationships/notesSlide" Target="/ppt/notesSlides/notesSlide3.xml" Id="R5bbb06e1b6ad48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1433107d74b0d" /><Relationship Type="http://schemas.openxmlformats.org/officeDocument/2006/relationships/notesSlide" Target="/ppt/notesSlides/notesSlide4.xml" Id="R25250597193641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83d923f8f4b39" /><Relationship Type="http://schemas.openxmlformats.org/officeDocument/2006/relationships/notesSlide" Target="/ppt/notesSlides/notesSlide5.xml" Id="R94f5e2c61def4f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3c0c2f2144381" /><Relationship Type="http://schemas.openxmlformats.org/officeDocument/2006/relationships/notesSlide" Target="/ppt/notesSlides/notesSlide6.xml" Id="R164cbf280ed849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eb7d5f4064395" /><Relationship Type="http://schemas.openxmlformats.org/officeDocument/2006/relationships/notesSlide" Target="/ppt/notesSlides/notesSlide7.xml" Id="Ra7dff7e82ab34e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c1fe65bc64f3c" /><Relationship Type="http://schemas.openxmlformats.org/officeDocument/2006/relationships/notesSlide" Target="/ppt/notesSlides/notesSlide8.xml" Id="Rfbea7b6a75444f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010196bf04a93" /><Relationship Type="http://schemas.openxmlformats.org/officeDocument/2006/relationships/notesSlide" Target="/ppt/notesSlides/notesSlide9.xml" Id="R25ec43dffbf449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b4c03df634535" /><Relationship Type="http://schemas.openxmlformats.org/officeDocument/2006/relationships/notesSlide" Target="/ppt/notesSlides/notesSlide10.xml" Id="Rc47bc2542d874d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93518aa7c41e1" /><Relationship Type="http://schemas.openxmlformats.org/officeDocument/2006/relationships/notesSlide" Target="/ppt/notesSlides/notesSlide11.xml" Id="Rabdbc6d6bd8946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ddf409f52410d" /><Relationship Type="http://schemas.openxmlformats.org/officeDocument/2006/relationships/notesSlide" Target="/ppt/notesSlides/notesSlide12.xml" Id="R4b16b34ed8ed4d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b31db215b439a" /><Relationship Type="http://schemas.openxmlformats.org/officeDocument/2006/relationships/notesSlide" Target="/ppt/notesSlides/notesSlide13.xml" Id="R99ded646038440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57bd8d2c34a7f" /><Relationship Type="http://schemas.openxmlformats.org/officeDocument/2006/relationships/notesSlide" Target="/ppt/notesSlides/notesSlide14.xml" Id="R0f623a5a6f9f4f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a883854a64f0a" /><Relationship Type="http://schemas.openxmlformats.org/officeDocument/2006/relationships/notesSlide" Target="/ppt/notesSlides/notesSlide15.xml" Id="R26776f5d862d40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b26f60fc44990" /><Relationship Type="http://schemas.openxmlformats.org/officeDocument/2006/relationships/notesSlide" Target="/ppt/notesSlides/notesSlide16.xml" Id="R1c75b0345beb42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8d13e62a1433f" /><Relationship Type="http://schemas.openxmlformats.org/officeDocument/2006/relationships/notesSlide" Target="/ppt/notesSlides/notesSlide17.xml" Id="Re2425af9594b4b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293d735e042d3" /><Relationship Type="http://schemas.openxmlformats.org/officeDocument/2006/relationships/notesSlide" Target="/ppt/notesSlides/notesSlide18.xml" Id="R8e2629a2003d44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2c03a655a4d1c" /><Relationship Type="http://schemas.openxmlformats.org/officeDocument/2006/relationships/notesSlide" Target="/ppt/notesSlides/notesSlide19.xml" Id="R8f5e4b3c876540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6279f15a347be" /><Relationship Type="http://schemas.openxmlformats.org/officeDocument/2006/relationships/notesSlide" Target="/ppt/notesSlides/notesSlide20.xml" Id="Rdb232ade906844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a74b4d8a542a2" /><Relationship Type="http://schemas.openxmlformats.org/officeDocument/2006/relationships/notesSlide" Target="/ppt/notesSlides/notesSlide21.xml" Id="R726429d7e2d44f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620f420464d2c" /><Relationship Type="http://schemas.openxmlformats.org/officeDocument/2006/relationships/notesSlide" Target="/ppt/notesSlides/notesSlide22.xml" Id="R1955ea6588e54d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96bf73c164c44" /><Relationship Type="http://schemas.openxmlformats.org/officeDocument/2006/relationships/notesSlide" Target="/ppt/notesSlides/notesSlide23.xml" Id="R69b4c3e92d4041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e92ce247c4e5f" /><Relationship Type="http://schemas.openxmlformats.org/officeDocument/2006/relationships/notesSlide" Target="/ppt/notesSlides/notesSlide24.xml" Id="Rf539870eca854c8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0462b609a43e9" /><Relationship Type="http://schemas.openxmlformats.org/officeDocument/2006/relationships/notesSlide" Target="/ppt/notesSlides/notesSlide25.xml" Id="R5d6f7c1e72da40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dfcb668334e30" /><Relationship Type="http://schemas.openxmlformats.org/officeDocument/2006/relationships/notesSlide" Target="/ppt/notesSlides/notesSlide26.xml" Id="R8388051016b141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DE6B86-C405-4E59-B3CD-3EE01467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ОСНОВЕ ДИСТРИБУИРАНОГ ПРОГРАМИРАЊА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51C7F3-D83B-42AF-87F1-2478E21E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6572250" cy="1280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података и read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F07D9-8C05-44F1-AF7C-37EFF8F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9841"/>
            <a:ext cx="6191250" cy="31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 мрежне поруке до поуздане информације</a:t>
            </a:r>
          </a:p>
        </p:txBody>
      </p:sp>
      <p:sp>
        <p:nvSpPr>
          <p:cNvPr id="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1EFFA1A-50DD-4849-88DB-89D5249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154" y="1916167"/>
            <a:ext cx="3407322" cy="281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2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12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412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ТЕЛЕМЕТРИЈА</a:t>
            </a:r>
          </a:p>
        </p:txBody>
      </p:sp>
      <p:sp>
        <p:nvSpPr>
          <p:cNvPr id="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9CCEE770-B363-4081-8746-E1465046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964" y="2415737"/>
            <a:ext cx="1319377" cy="1075997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E2DCF-D4EF-47B7-B43C-929F4896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4249" y="3011378"/>
            <a:ext cx="1665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ABFDD-13C9-4D26-B17A-C2804D74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26788">
            <a:off x="8018579" y="2835248"/>
            <a:ext cx="366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39F82-249A-4005-83E7-2109FDB7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40637">
            <a:off x="8019426" y="2960140"/>
            <a:ext cx="6213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CFD61-D040-4A03-A75F-6BE65850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86508">
            <a:off x="8237256" y="3017783"/>
            <a:ext cx="5187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34406-E075-4210-90DB-D136A7B2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94251">
            <a:off x="8524740" y="2892890"/>
            <a:ext cx="2896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69901-FD78-415C-B1F3-5002385D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2818" y="3011378"/>
            <a:ext cx="3074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sp>
        <p:nvSpPr>
          <p:cNvPr id="12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BE671CAF-86A0-4633-8F77-FB213EFE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767" y="2697546"/>
            <a:ext cx="1524328" cy="512379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35377B5-8F82-4B5F-8A8B-DB152E92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815" y="2742379"/>
            <a:ext cx="1396234" cy="422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Пријем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3456D-9BD3-437E-A2CA-4344F5749655}"/>
              </a:ext>
            </a:extLst>
          </p:cNvPr>
          <p:cNvCxnSpPr/>
          <p:nvPr/>
        </p:nvCxnSpPr>
        <p:spPr>
          <a:xfrm xmlns:a="http://schemas.openxmlformats.org/drawingml/2006/main" rot="0">
            <a:off x="9226769" y="2953735"/>
            <a:ext cx="499570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2C7A4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CBF40-DAFD-4B21-82AF-937B9EBA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83551" y="3491734"/>
            <a:ext cx="48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5FF9A-2D32-4519-81F5-BB05742A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663152" y="3735114"/>
            <a:ext cx="1863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F63FB-8865-4144-AFDC-E0968C416F28}"/>
              </a:ext>
            </a:extLst>
          </p:cNvPr>
          <p:cNvCxnSpPr/>
          <p:nvPr/>
        </p:nvCxnSpPr>
        <p:spPr>
          <a:xfrm xmlns:a="http://schemas.openxmlformats.org/drawingml/2006/main" rot="5400000">
            <a:off x="8471009" y="3927256"/>
            <a:ext cx="384284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2C7A4B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AC98E-4549-4BEF-850A-21801D51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494908" y="3735114"/>
            <a:ext cx="3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3D081-35D4-42F2-926E-1877FCED704C}"/>
              </a:ext>
            </a:extLst>
          </p:cNvPr>
          <p:cNvCxnSpPr/>
          <p:nvPr/>
        </p:nvCxnSpPr>
        <p:spPr>
          <a:xfrm xmlns:a="http://schemas.openxmlformats.org/drawingml/2006/main" rot="5400000">
            <a:off x="10302766" y="3927256"/>
            <a:ext cx="384284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2C7A4B"/>
            </a:solidFill>
            <a:prstDash val="solid"/>
            <a:tailEnd type="triangle" w="sm" len="sm"/>
          </a:ln>
        </p:spPr>
      </p:cxnSp>
      <p:sp>
        <p:nvSpPr>
          <p:cNvPr id="2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375084BE-6BD0-4F5A-A894-352C5649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964" y="4157827"/>
            <a:ext cx="1588376" cy="730141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2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F88B8351-132B-49F3-9A12-F62A35F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11" y="4221874"/>
            <a:ext cx="1460281" cy="281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Запис</a:t>
            </a:r>
          </a:p>
        </p:txBody>
      </p:sp>
      <p:sp>
        <p:nvSpPr>
          <p:cNvPr id="22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4BD55133-2E60-4449-A2F9-743BF797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720" y="4157827"/>
            <a:ext cx="1588376" cy="730141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1ECE6"/>
          </a:solidFill>
          <a:ln xmlns:a="http://schemas.openxmlformats.org/drawingml/2006/main" w="19214">
            <a:solidFill>
              <a:srgbClr val="2C7A4B"/>
            </a:solidFill>
            <a:prstDash val="solid"/>
          </a:ln>
        </p:spPr>
      </p:sp>
      <p:sp>
        <p:nvSpPr>
          <p:cNvPr id="2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1344E6D-1178-41D5-9CE4-5A51359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767" y="4221874"/>
            <a:ext cx="1460281" cy="281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Read модел</a:t>
            </a:r>
          </a:p>
        </p:txBody>
      </p:sp>
      <p:sp>
        <p:nvSpPr>
          <p:cNvPr id="2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F42F70C-D3A0-4A12-BED1-C3E8D71F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11" y="4580540"/>
            <a:ext cx="1460281" cy="19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сва мерења</a:t>
            </a:r>
          </a:p>
        </p:txBody>
      </p:sp>
      <p:sp>
        <p:nvSpPr>
          <p:cNvPr id="2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E8D40E88-EBDD-4FFD-B698-90171F9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767" y="4580540"/>
            <a:ext cx="1460281" cy="19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свежина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A38B1-2A16-4FE1-8322-9E0D5A16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78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883B7-15FB-4DCA-B69A-F5878DEE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9525000" cy="2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226B61-2CE7-45C3-B753-B5E6996C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29350"/>
            <a:ext cx="9525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765030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8F9B11-9464-4395-B50C-240D7D53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956DD-23FB-4681-92A1-C640204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ПРОВЕРА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6C54E-6D37-48C0-B9E1-7C58C2C8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A15A3-4765-4C47-B8B5-CB481C2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A1BF3-9A49-472D-AE07-5C00753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AF38B-591B-4AD4-A70F-49B500E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319FD-851B-41EB-950C-D259319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4DD10-8FF5-4765-AE0A-8B328C12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компоненти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конкретан failure сценарио.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2D98F-CF3D-4FFD-A95C-12C3CE19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D4954-37F6-4077-9F25-D4FE3A69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72C87-B369-4CC8-A126-D8DB2343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1A466-A1E4-4F6F-84CE-977E16C1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3A743-3CC2-4F2F-BDA5-89BC2B4D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41FB3-CF2F-46CD-AE08-B54825A0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62425"/>
            <a:ext cx="2185988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повезују компоненте система.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D518B-C433-433F-AE90-BC7B94AE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7A058-44E1-4715-A53F-D99E643A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FE804-2615-44DC-BF30-818BC3C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85700-EF98-4324-8C9A-324C28FF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81470-8D51-42C2-88FB-73FE5787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04453-4FFF-498F-80AE-6E768FE4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доменско правило, тест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видљиви исходи.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0DBA7-D3F0-476A-A29D-EAAF9248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14–18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06152-4BA0-4CBC-8BA0-8C30DD1D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D9B0C-C81F-438B-833B-DA751B49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8F591-4451-42F2-A557-2DE25559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7C7FB-F668-4F74-934F-EB2708BA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DBD167-81AB-4AC7-B29C-00F2D824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 примена 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пројектну целину.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2EDA9-4D4B-4823-AE1C-9FA435FD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19–26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C25FC-20FA-4711-BC85-25A87E5E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D9BE0-C73E-4E18-9AB8-04995C77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C6594A4-A11F-43A4-9D42-FD614AF2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8832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5EC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8531D-EDA7-4A0A-A264-4DD8A816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1B7AC-D817-4726-8072-5A1D5028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4C5C2-4A89-4F4C-951C-364FD664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2D49B-7BA9-4BC2-A7A8-1EE3E6AF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 одговорности компоненти и конкретан failure сценарио.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9133A-7D8F-4735-BE35-89134DE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D9801-BC54-4F66-81ED-1C113001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A2F50F0-1978-42CA-8F8A-00549D66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3054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DFB7F-04D0-4A02-98B6-73E5D6C2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099F3-D87B-43E5-8135-5C3F149A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04528B-7401-4CA2-A5AC-184D04C4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Тема и проблем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7B1DB07-9112-494A-8065-FD1C9356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Раздвојити пријем, валидацију, дистрибуцију и читање података са јасним границама одговорности.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C9029-8A53-41D1-977F-DE4CCDD3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Податак који је стигао са мреже још нема потврђено порекло, квалитет ни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облик погодан за сваког корисника система.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284D35DC-7D75-4962-908D-73304F32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0725406A-D966-4BDB-80B0-A4B43EBB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13C78-C8A4-45C0-B64A-5CEB5A39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2B4FE-54FE-4C16-901B-E08260F2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Раздвојени слојеви чувају порекло информације и допуштају различите погледе на податке, уз отворено приказану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цену кашњења.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71ACA-0575-4B73-AD03-2CD7DC96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5732B-F00C-4012-AEB1-E09AF0AB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2D73DE3-4392-4887-A4FB-EF405C80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6567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79B4F-4FAB-48D4-9C26-EBC4206D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F30AC-0978-460C-8CF0-F24BA844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88535C-E9E0-44B3-B6FB-B495C3F2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појма теме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015D809-FE25-4B8E-9A7A-F3D9130B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Податак који стигне преко мреже још није поуздана пословна информација.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D729B-AF22-466A-B60A-1544EE55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C0645-D226-4C52-827B-0EC5A532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3CFDA-0FBC-4A27-811C-505E91C9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Пријем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5259F-605B-47CC-9971-913081EA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извор и основна валидација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57DD6-6675-456B-BCBC-E2634A3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049A7-AB6F-41CA-A7BB-A040793E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38DDD-3C78-4E04-9915-F2466C20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Нормализација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D01CE-D3EF-4651-9C43-29FDFD81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интерни облик и квалитет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AD8C9-122F-4A31-9A8D-479E1FED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E3FD8-C186-450B-BAD9-9CA6DC4D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CBFE9-42FC-46C1-A195-B83FFDFC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Дистрибуција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D1D11-88AC-4FC1-BB71-0036A8A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независни конзументи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A84A0-7535-4B6A-BC9D-7BC18654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5BB1F-1CD5-4B49-A217-0266A121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B082F-35D7-4FA4-A103-E5DD5CBF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Read модел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34205-2AF5-417D-BE26-DA6EF8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поглед за коришћење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66EB7-33EE-4FC6-8C3A-1DB88C76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97B4B-8F93-4BBE-AD90-41C698DD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1A98F7-B7D3-40EA-9C32-A570066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2355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463EE-EDD1-4D34-A9D7-C7185B89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A55C3-598C-4431-A309-F6E9FDFA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EB055A-44ED-4120-A1E4-DECFD0E7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Пријем поруке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340A383-C59D-467C-8EF3-65740BAB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Пријем проверава извор, основну исправност и идентитет поруке пре него што податак постане део унутрашњег тока.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Невалидна порука мора имати видљив исход.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A3D98-98DB-4EE3-9795-2E9FB3B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EADE2-AE47-4A67-80EC-D550D5D1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A6C53-0211-4227-A29D-6B148D56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Проверава извор и исправност пре уласка у систем.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07CF2-08A3-4449-91A4-94FD8540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8E224-C508-420B-BB05-5F03201C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6D39B-9D9D-45E9-9D4D-51419482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Невалидна порука има видљив, не тих исход.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BA32A-7B75-4360-B83D-6BB3ECC2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5CCDB-2B1C-4F3D-9CFA-2AD0E7D2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24518-40A9-4AFF-8C9B-777DB30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Прва линија одбране од лошег податка.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2AE45-7CAF-450F-8CAC-F456A29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C7188-9F1E-4EAF-B22B-F6B926BB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D692FED-0221-418B-8A23-B68DAC2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890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52292-5DF1-4B45-A7B1-C17954B8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40365-D21B-4D68-8013-A264745B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9BC8DB-E318-4BAC-A70E-E9BD789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Нормализација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A765AB1-1FC4-4F96-B29E-7D813E3D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Нормализација претвара спољашњи формат у стабилан унутрашњи облик уз очувано порекло и време. Тако остатак система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зависи од детаља сваког извора.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A3E31-51F0-4F88-BA83-F35419B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97459-2EF2-4CDC-ACDD-A394FEB0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1C5CC-B909-4AE0-B435-E138164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Претвара спољашњи формат у стабилан унутрашњи облик.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5EEC5-25C5-4CEF-83AB-A7B8BDF3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5343C-E06B-49D7-9B55-B6854149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0F42F-F4E5-421F-9CAB-3075C7CC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Чува порекло и време настанка поруке.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BDD64-2435-47AA-946F-C6A5995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946CD-EBB5-4E95-87F9-21E2CE6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D5107-A7B0-4511-B233-B45A9D84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Остатак система не зависи од детаља извора.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3A8E5-2C36-4C86-889C-5DD41114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7ABBC-A83D-4E93-B120-87E01647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853DD75-71AF-4CE0-832B-9153F2C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1100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B1409-0A18-47EB-BDFF-448D829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FDB57-37B7-4217-9496-ECE5F596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AAD281-C99D-482E-89E8-2CDE916A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Усмеравање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D821C6D-3A86-4252-9311-49A629CC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Усмеравање шаље обрађену поруку само компонентама које заиста имају разлог да је тумаче. Оно одваја одговорности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ограничава непотребне зависности.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5DCDF-A9B0-47C3-9E7F-1429A4FE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8AD73-FEE0-4F55-81EF-A475E14C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BC833-8E88-4CA0-8501-8C2B874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Шаље поруку само онима којима је заиста потребна.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28097-F76B-4247-8FC3-E6FFC2C7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761E9-FB15-41CF-B5C8-5030C3B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3A3F0-B91F-446C-A673-F4C4ABEB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Одваја одговорности између компоненти.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9DF9D-D7E9-42AF-8286-934A9FA5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F0B63-43A4-4D02-8225-E4D7333F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45B35-5EF6-421B-AE33-5968E39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Ограничава непотребне зависности.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8431E-E96F-4E2F-BF5A-4192EF3A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04BA6-CA04-420E-B8DA-95FA367E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90CCAF9-184F-4ED3-9135-71F32C6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3970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46DB4-8875-4FF0-8BA9-F20A46D7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712DA-72DD-4DD8-A6F9-4AF9FAE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A35BAD-1FA7-4051-8FF0-053BC67D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Read модел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70CB7CD-B10D-42B3-8B77-6C8B7736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Read модел је приказ прилагођен читању, а не нужно ауторитативно стање. Зато треба јасно показати када је последњи пут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освежен и колико може каснити.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E7970-054E-4521-958B-F93E9703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3918F-C623-403F-B9BB-D40E9A03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4F946-1932-4280-9E16-3A3424B9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Приказ за читање, не ауторитативно стање.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C8ED7-83C1-40C6-B391-989BDCF6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2DC2C-3728-4FEA-AD21-95B289CB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92BCC-4496-446F-92CF-3FFD440D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Мора показати када је последњи пут освежен.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76A5B-6427-4B72-ABF6-ABE970BC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B72F5-E18E-48EA-B143-1CCF09BE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7F395-D9F4-446A-86C9-D0CE64E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Застарелост је видљива, не скривена од корисника.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BFF4C-FF05-4FC0-BD3F-B2BB722E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288B6-6959-4F4A-8BAF-50BCC49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41815E6-4F91-418E-BFD7-530F9AC8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648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8B77F-C5F6-4678-BF65-7BBA7DB2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3D22A-80F1-43EE-B501-A53DCB7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DABBD0-F3FA-4266-9009-0F5A6C6E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порука стиже два пута и касно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BDDA7E1-8793-41B1-B06D-0424321A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Телеметријска порука може стићи два пута, а њено време настанка може бити старије од времена пријема.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41110-EE29-48C6-AA3B-E6F7A9AE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68115-2D47-4DFC-96CE-34BABB6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5E3DE-7BBB-4066-8DA1-03B17A0A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Пријем проверава извор и минимални облик поруке.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DFF22-F553-4EF4-98F3-F529C503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1F235-B5F6-4EF7-AE5E-7ECE69A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0FA54-1BE3-47A9-8935-4AE2D4B5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Нормализација чува квалитет и разлику између времена настанка и пријема.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02E69-B641-4CFA-9C4E-BAC13C20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42FD5-D2D1-483F-ACEF-EE85BEC4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DFCF6-C287-4F37-86E9-33976ABC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Read модел отворено приказује свежину информације и не претвара дупликат у нови пословни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догађај.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8986A-D24C-4BFE-B64B-E1CF629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62D2E-C382-4EAC-B196-CF387CE8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C8ACD84-A631-4DE8-BF28-3C415F4B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3654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5EC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AE339-6971-4597-9E31-FE7D443B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A6953-220E-463C-B926-F09DADD9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3CDA6-5F2B-44F6-B269-8D59C823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1CA7B-CCFC-446A-939E-4B22051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 повезују компоненте 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0A855-4478-4F09-8042-541D7A3D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569BA-8B70-4F04-B5BC-82EAC13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E06EDC9-02E8-4F0E-860E-39031E3B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1907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7C5A1-27B3-447B-B186-9FB53DD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32F81-29D8-45F1-AABF-86CD2042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 · ТОК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B4989-727D-4927-9DA3-38CCECE8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Шема тока података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C535FF8-C79A-412D-BD9B-67A970C8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Податак постаје поуздан тек када су познати његово порекло, квалитет и границе приказа.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251FB-B057-494B-9321-09BF3EB36297}"/>
              </a:ext>
            </a:extLst>
          </p:cNvPr>
          <p:cNvGraphicFramePr/>
          <p:nvPr/>
        </p:nvGraphicFramePr>
        <p:xfrm>
          <a:off xmlns:a="http://schemas.openxmlformats.org/drawingml/2006/main" x="809625" y="2333625"/>
          <a:ext xmlns:a="http://schemas.openxmlformats.org/drawingml/2006/main" cx="10572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solidFill>
                      <a:srgbClr val="E5ECE7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 у току</a:t>
                      </a:r>
                    </a:p>
                  </a:txBody>
                  <a:tcPr marL="91440" marR="91440" marT="45720" marB="45720" anchor="ctr">
                    <a:solidFill>
                      <a:srgbClr val="E5ECE7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Пријем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извор и идентитет поруке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Нормализација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квалитет и унутрашњи облик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Дистрибуција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независна обрада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Read модел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поглед са границом свежине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D5575-BB0F-46AA-BF80-A843443E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D3AB4-4189-4BF7-B947-D8AD771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AF1092B-DC71-4C04-BE8D-22B0273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83147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72A45-A070-4446-9D0A-263CE7BC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586FB-8317-4CB1-A2B1-84AB3568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 · ДИЈАГРАМ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A560E1-74D4-4B32-91C2-31D612C0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Запис и приказ имају различиту сврху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AD76CE53-0505-4E32-9E7B-A14B790D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Свако прихваћено мерење остаје у запису, док Read модел прати најновији sequence.</a:t>
            </a:r>
          </a:p>
        </p:txBody>
      </p:sp>
      <p:sp>
        <p:nvSpPr>
          <p:cNvPr id="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FF7934F-567A-4DE7-937E-6BBAE434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2313"/>
            <a:ext cx="1583531" cy="71437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D20E15C7-E7B6-4FB2-8347-5D94CE42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31" y="3303984"/>
            <a:ext cx="1464469" cy="63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Пријем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FF9276B5-CCE7-44D6-860C-21DCA4F3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844" y="3262313"/>
            <a:ext cx="2000250" cy="71437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DC4A722-F07C-4B72-90F5-FE69670E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03984"/>
            <a:ext cx="1881188" cy="63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Нормализација</a:t>
            </a:r>
          </a:p>
        </p:txBody>
      </p:sp>
      <p:sp>
        <p:nvSpPr>
          <p:cNvPr id="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B4F0EA0-5A87-4397-BA58-6457D0E6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06" y="3262313"/>
            <a:ext cx="1738313" cy="71437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8285701-E57D-44C8-980A-4EF61E92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3303984"/>
            <a:ext cx="1619250" cy="63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Усмеравање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18566-95AC-4A05-AA69-038649AC5E77}"/>
              </a:ext>
            </a:extLst>
          </p:cNvPr>
          <p:cNvCxnSpPr/>
          <p:nvPr/>
        </p:nvCxnSpPr>
        <p:spPr>
          <a:xfrm xmlns:a="http://schemas.openxmlformats.org/drawingml/2006/main" rot="0">
            <a:off x="2571750" y="3619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2C7A4B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75E1C-AA98-4BD7-A1E4-8DB7150270EB}"/>
              </a:ext>
            </a:extLst>
          </p:cNvPr>
          <p:cNvCxnSpPr/>
          <p:nvPr/>
        </p:nvCxnSpPr>
        <p:spPr>
          <a:xfrm xmlns:a="http://schemas.openxmlformats.org/drawingml/2006/main" rot="0">
            <a:off x="4976813" y="3619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2C7A4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193D5-616B-43ED-A367-8462C6E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9938" y="36195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2C7A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FB6C1-924F-4156-B448-AFC8CF0A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289602" y="3360539"/>
            <a:ext cx="5179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2C7A4B"/>
            </a:solidFill>
            <a:prstDash val="solid"/>
          </a:ln>
        </p:spPr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31328-C677-4CB5-BE36-32C9F8ED6591}"/>
              </a:ext>
            </a:extLst>
          </p:cNvPr>
          <p:cNvCxnSpPr/>
          <p:nvPr/>
        </p:nvCxnSpPr>
        <p:spPr>
          <a:xfrm xmlns:a="http://schemas.openxmlformats.org/drawingml/2006/main" rot="0">
            <a:off x="7548563" y="3101578"/>
            <a:ext cx="321469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2C7A4B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513CF-320A-4627-B923-F56FDEB3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9938" y="36195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2C7A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A43D5-78BC-4587-A736-C6BBDA28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81242" y="4086820"/>
            <a:ext cx="9346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2C7A4B"/>
            </a:solidFill>
            <a:prstDash val="solid"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379EA-95CB-425A-9EFE-47BB75FD680D}"/>
              </a:ext>
            </a:extLst>
          </p:cNvPr>
          <p:cNvCxnSpPr/>
          <p:nvPr/>
        </p:nvCxnSpPr>
        <p:spPr>
          <a:xfrm xmlns:a="http://schemas.openxmlformats.org/drawingml/2006/main" rot="0">
            <a:off x="7548563" y="4554141"/>
            <a:ext cx="321469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2C7A4B"/>
            </a:solidFill>
            <a:prstDash val="solid"/>
            <a:tailEnd type="triangle" w="sm" len="sm"/>
          </a:ln>
        </p:spPr>
      </p:cxnSp>
      <p:sp>
        <p:nvSpPr>
          <p:cNvPr id="1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28F5FFD-4676-41CA-9B35-9201B93B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2655094" cy="773906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2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0550194-91D2-47F7-BFAB-8FD3B4BC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281" y="2756297"/>
            <a:ext cx="2536031" cy="69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Запис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сва прихваћена мерења</a:t>
            </a:r>
          </a:p>
        </p:txBody>
      </p:sp>
      <p:sp>
        <p:nvSpPr>
          <p:cNvPr id="2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83F5374B-CBAE-4F5F-BCF5-8062F666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2655094" cy="821531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1ECE6"/>
          </a:solidFill>
          <a:ln xmlns:a="http://schemas.openxmlformats.org/drawingml/2006/main" w="17859">
            <a:solidFill>
              <a:srgbClr val="2C7A4B"/>
            </a:solidFill>
            <a:prstDash val="solid"/>
          </a:ln>
        </p:spPr>
      </p:sp>
      <p:sp>
        <p:nvSpPr>
          <p:cNvPr id="2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25DEE1E-990D-4079-9A09-142C0492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281" y="4185047"/>
            <a:ext cx="2536031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Read модел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последње мерење и свежина</a:t>
            </a:r>
          </a:p>
        </p:txBody>
      </p:sp>
      <p:sp>
        <p:nvSpPr>
          <p:cNvPr id="2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9E478A2-47E5-4EE0-9530-D3915D06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7188"/>
            <a:ext cx="1964531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66" b="0">
                <a:solidFill>
                  <a:srgbClr val="2C7A4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66" b="0">
                <a:solidFill>
                  <a:srgbClr val="2C7A4B"/>
                </a:solidFill>
                <a:latin typeface="IBM Plex Sans"/>
                <a:ea typeface="IBM Plex Sans"/>
                <a:cs typeface="IBM Plex Sans"/>
              </a:defRPr>
            </a:pPr>
            <a:r>
              <a:rPr sz="1266" b="0">
                <a:solidFill>
                  <a:srgbClr val="2C7A4B"/>
                </a:solidFill>
                <a:latin typeface="IBM Plex Sans"/>
                <a:ea typeface="IBM Plex Sans"/>
                <a:cs typeface="IBM Plex Sans"/>
              </a:rPr>
              <a:t>порекло и идентитет</a:t>
            </a:r>
          </a:p>
        </p:txBody>
      </p:sp>
      <p:sp>
        <p:nvSpPr>
          <p:cNvPr id="2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9563F182-007C-43BA-87DC-390D45B6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844" y="4494609"/>
            <a:ext cx="4143375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9" b="0">
                <a:solidFill>
                  <a:srgbClr val="2C7A4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9" b="0">
                <a:solidFill>
                  <a:srgbClr val="2C7A4B"/>
                </a:solidFill>
                <a:latin typeface="IBM Plex Sans"/>
                <a:ea typeface="IBM Plex Sans"/>
                <a:cs typeface="IBM Plex Sans"/>
              </a:defRPr>
            </a:pPr>
            <a:r>
              <a:rPr sz="1359" b="0">
                <a:solidFill>
                  <a:srgbClr val="2C7A4B"/>
                </a:solidFill>
                <a:latin typeface="IBM Plex Sans"/>
                <a:ea typeface="IBM Plex Sans"/>
                <a:cs typeface="IBM Plex Sans"/>
              </a:rPr>
              <a:t>облик • квалитет • време</a:t>
            </a:r>
          </a:p>
        </p:txBody>
      </p:sp>
      <p:sp>
        <p:nvSpPr>
          <p:cNvPr id="2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FAF7137-4A0D-4570-8E79-76E7822C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9608344" cy="4643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1ECE6"/>
          </a:solidFill>
          <a:ln xmlns:a="http://schemas.openxmlformats.org/drawingml/2006/main" w="17859">
            <a:solidFill>
              <a:srgbClr val="2C7A4B"/>
            </a:solidFill>
            <a:prstDash val="solid"/>
          </a:ln>
        </p:spPr>
      </p:sp>
      <p:sp>
        <p:nvSpPr>
          <p:cNvPr id="2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F471D53-8E38-4C74-8F30-5A18CB90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31" y="5089922"/>
            <a:ext cx="948928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Закаснело мерење остаје у запису, али не враћа приказ уназад.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96114-E852-4E32-9DAC-8EE40733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FE8CC-1F49-4556-BF43-383E897C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B076E96-3D19-430B-AE75-747122D7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44695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5EC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0D9FB-70BD-4994-929D-5357742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3D7FE-F37A-433B-9C5C-3785E201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567CF-711D-4893-A5DB-102D53B8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 тестови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79806-B8BD-426D-8114-6FA5B776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 доменско правило, тест и видљиви исходи.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6B660-B218-4397-AD33-16C3D5DD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FF2C5-4C47-49A8-A739-B2A49E64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1478F79-66B2-4C41-9CEE-9949217E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860671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B1EDD-6F5C-414C-99F1-2643F732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219CF-00D4-4DBA-8EC2-05862DE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FF9005-C0D0-407F-AB5F-6DDC7BF2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примера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172C2E6-2BCF-42E2-8ED9-09D77F9F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раздваја запис од приказа.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16F48D53-B8C9-4F16-82E5-256E7BE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387715" cy="1144905"/>
          </a:xfrm>
          <a:prstGeom xmlns:a="http://schemas.openxmlformats.org/drawingml/2006/main" prst="roundRect">
            <a:avLst>
              <a:gd name="adj" fmla="val 831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36232-7B57-4A6B-8AD2-3CBA2DF5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80257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terminal · Корен Git репозиторијума nastava.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46C6B-3FD2-4BA8-9A44-02A9C6C9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80257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3081D39-D2A8-4FF8-AEC0-0BEC50A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5F8FB72B-11A8-4409-86D5-7F7B9C6C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cd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"03 Osnove Distribuiranog Programiranja/04 Primeri/05 Tok podataka read model"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302A807-EE8D-44B1-954E-E7DB256B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B2E5EBB3-16A9-4CE5-828E-C56E127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run --project src/Odp.Vezba05.ConsoleUi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EE01F5C-2B33-442B-BE60-CCD1CBB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51C02486-7DD6-4532-8912-74C93EA8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597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test Odp.Vezba05.sln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1943C-87A5-462C-9A18-1D281B96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77A12-1758-481A-A93E-1C1615B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87D3E08-8694-4AD7-B811-4D207A11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195912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DA3BA4-5066-4C84-B02C-5A41A94B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A23D3-DAF2-4E18-828F-60FB4406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EEC03F-172A-44EB-A119-F227F22E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7FEF08F-2560-44E1-9675-E48319E0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Запис чува сва прихваћена мерења, приказ чува само последње.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4A17EF5A-FFA5-488A-B0ED-8E10A83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484995" cy="3278505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3B2EB-8D1E-4D82-963B-67DA5E41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1230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0FD87-D674-48CB-B310-1D0D15AB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1230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73DCAAA-C8E7-4A91-89ED-5E91A28E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31158B16-C42F-4765-9F6B-3FDE41C7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(StationView View,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bool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Changed) Apply(StationView? current, TelemetryReading reading)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16B8787-9489-436C-A25C-53EC1D08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1B128020-58BE-492B-8C35-88B56074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3D2D364-20EB-474D-B5D3-7C36BD88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45401691-A34C-4FAF-9D85-4515438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ArgumentNullException.ThrowIfNull(reading);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877C0E9-4267-4474-87B1-C5D68B88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6732EF23-59A9-4EE1-B1F4-A98B1B2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(current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is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not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null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&amp;&amp; reading.Sequence &lt;= current.LastSequence)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4A278BE-B314-475B-8918-A39FC48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CF2B162C-63AA-4306-8E45-057AB4CE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(current,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false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F625E4C-1905-4316-B09A-745CE5BA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29C9001E-6EAF-45C8-B60B-8085C6E9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9F2557A-F5F9-45EA-929E-63A5709A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1E997807-EDB4-465A-9B4F-41B41AEB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StationView(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F810CF1-EE7F-4EFD-BAA4-6D13C90E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F1D772D7-90F4-4B6F-988D-780E18B4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reading.StationId,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1DC8CDD-8A0D-43BA-A6A9-B87FF658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38C2718C-5D6B-4027-89D5-09A7A76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reading.Sequence,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012BD4C-D9C1-4A11-BA99-D1D371E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95C699BD-1989-4999-B5FB-AA5AF4D0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reading.MeasuredAt,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27F73CB-4248-42E4-A91F-5F4E08BF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36EB10A7-CB6C-4AE2-AA80-AD85BDF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reading.SignalStrengthDbm),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EB93587-9851-4E44-84D1-5CF19B7D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E79EC320-BE46-4E63-86F8-A7710E3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0C03257-B816-449E-9F91-CA2ACB0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FA8FAB9F-0DA8-4C2A-9C64-B93B15E7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86944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D6F5D3-F680-45E3-90D5-D69E7CA0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798CD-2EC8-41DF-B960-C76BF40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A29D67C-C385-4A7F-92C8-A4C98470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900009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1A4B59-5FFC-4D85-800C-066FEFE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5C53C-653F-4A43-B6B4-BA8F5908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D66347-25F8-4F6C-A357-B65201DF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AC396F8-DDD2-4383-B13D-7957AD0D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Мерење које закасни остаје у запису, али не мења приказ.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5CDD5DEC-4BE9-41C3-949A-12D2552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0033635" cy="3278505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E5013-1FA3-4B04-B615-2C41EDBF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67168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6004F-4FB0-4933-A6A4-3DB4AC9F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6716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9E3BD3B-1D71-468C-9FE8-7B19368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A7EA4CAA-AD23-4E5B-966B-666E111B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FFA016E-7AEC-4163-A6DE-C4974E3E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84B394CE-46F8-4268-AF72-76A60ED9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Ingest_WhenOlderReadingArrivesLate_KeepsItInTheLogButNotInTheView()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B17A238-68E1-4FB6-A4A0-8001B889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F07F29DB-FADD-40AB-8295-5FD04C65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B49F185-6265-4F45-A3A3-180F130A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45063E5B-5999-430E-9F65-E0891AD7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_handler.Ingest(Reading(3, -88));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C7FE61B-810D-42BE-869C-069CC850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521A6181-7C71-4AD6-B27A-F8CF9DBB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outcome = _handler.Ingest(Reading(2, -97));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8B23CFA-2F44-4ED0-A628-3513C6B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9F24FF6D-B83C-443F-B4B1-98B24E7A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(Assert.EnterMultipleScope())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550411A-62CB-4595-AB49-02C5948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66927BEE-5627-4E72-A78D-9F7BB40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B47034D-B3FA-4453-9663-357ACC0D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5895C858-A5F8-4BB2-8263-58310E6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Assert.That(outcome, Is.EqualTo(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IngestOutcome(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TelemetryCodes.Stored, ViewChanged: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19D5526-744A-4E98-8B45-77C28888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EA2F30F5-0A48-49F9-8E4E-20AE5CF7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</a:t>
            </a:r>
            <a:r>
              <a:rPr sz="120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false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)));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92A5929-AFD4-4A88-8243-B7385C87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35E93066-0DC5-4FF9-B3C0-A3BDDB8B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Assert.That(_log.ForStation(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"GS-NOVI-SAD"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), Has.Count.EqualTo(2));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8C1FD3A-0A5E-4C8B-882E-BCFC335D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85259A3F-97C1-430E-9FC2-0F937D82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Assert.That(_views.Find(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"GS-NOVI-SAD"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)!.LastSequence, Is.EqualTo(3));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290E1BF-4FB5-4370-B3EB-2CA14485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499E6CB4-64F4-4D93-9C6C-2AAFF891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CEBDEDE-8AFC-4E53-A7AE-AB16F3D0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3E634E41-50D7-4792-AC09-94349DEA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9243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0E1C6-4063-42EA-8C95-119CBEA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52FB1F-E21C-4C5D-93BA-494BA6D8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1A55216-9BAB-408D-BAA2-AA77BC0F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177530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D212A-9F13-4669-A6E4-9C336537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4BC03-8609-4CAC-BA03-62ACD175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D376A1-7564-4E0F-94A7-D38F58A1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8A74C1C-6108-49F3-BD36-12CF402E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Приказ који дуго није освежен остаје видљив, али је означен као застарео.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1E1EFED5-F9BB-4AD9-A9E9-B52FF63C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473315" cy="1998345"/>
          </a:xfrm>
          <a:prstGeom xmlns:a="http://schemas.openxmlformats.org/drawingml/2006/main" prst="roundRect">
            <a:avLst>
              <a:gd name="adj" fmla="val 4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27640-01C0-47B7-8B99-CF8EFD9A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1113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1775E-09A6-430E-A5C4-A77F398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1113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3133B48-D4ED-4381-B23A-24FF6561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1674A022-82EB-492B-9433-78C4F78B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merenje #1 -&gt; reading_stored, prikaz promenjen: True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B2FB01B-BE0E-4B80-852B-AD64221C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F6C207A2-DF92-4395-8352-71FFDB56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merenje #3 -&gt; reading_stored, prikaz promenjen: True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87E5325-13F7-4F04-863E-CEF50320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6250960C-86BC-441A-8B4E-2EAE4395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merenje #2 -&gt; reading_stored, prikaz promenjen: False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5EC5E64-A664-4715-A7FB-C19EB1B8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DF43FBCD-339E-461B-B1A4-49032D94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merenje #0 -&gt; sequence_must_be_positive, prikaz promenjen: False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447E13D-6F05-4F1C-8DC3-3B38E30A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C9DFD85E-D7F0-427B-B3AA-A77E3D8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[posle prijema] #3 -88 dBm, staro 5 s, zastarelo: False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E4A7012-5FC6-4ED7-9CC7-063331A1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76488985-424A-41F4-AB4F-ACB606A4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[dva minuta bez novih merenja] #3 -88 dBm, staro 125 s, zastarelo: True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96312A1-3B32-4F2F-99BC-745BC60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118BD5FB-C3BC-4079-B468-EBC934E2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Zapis sadrži 3 merenja, prikaz samo poslednje.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55F70-0F33-4BC0-BBC3-5A18766A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B657C-A9F0-43FC-AD2F-EFF70E71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FCA4356-0F6D-4499-9400-B01E888C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470534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5EC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ADF49-7347-4C8B-8316-56E7A515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85CE6-E2B6-422A-9369-85997247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1FCC5-2E8A-48A4-A1DD-AFA93F8B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42A93-D1CA-47C8-8AEE-2354C126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 пример и примена на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895F2-E647-4CBD-ADE9-9BE5511D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C56D6-66F0-47E4-B431-D735A546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9AD1585-42DE-46B7-8545-989CA742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320733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650C6-8EB7-473A-A928-0D4F8BE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6AEFF-69C2-4E65-AF1D-1F08B2A9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C0513A-1089-4B71-AD00-5076CD89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Принципи и замке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2AC5F73-78DD-482D-AC1C-10F53499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374A9-EF4C-4C37-B271-9FA1AFFC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59DE5-8412-45FC-87BC-C4DA6DB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ПРИНЦИПИ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018A7-8E59-4DEA-BAD8-D54FE5DE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98A3F-62B7-4417-AD9B-8B81FD0A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Стабилан идентитет поруке омогућава да се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препозна њено понављање.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C90C0-6F7B-406A-872F-B82A7D89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6FF6B-3030-477C-B8A3-0EB76C96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Време настанка и време пријема имају различито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значење.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AE0F4-E719-48EE-A64D-87EC76A0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1E29E-B3D9-424A-963B-85C1668E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Read модел показује корисну слику, али мора знати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границу своје свежине.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7A2B9-05B0-4F5B-B6CF-30E8EA17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2244090"/>
          </a:xfrm>
          <a:prstGeom xmlns:a="http://schemas.openxmlformats.org/drawingml/2006/main" prst="roundRect">
            <a:avLst>
              <a:gd name="adj" fmla="val 424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36664-A650-4784-B44E-7D00A985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ЗАМКЕ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BF43A-62F2-4814-B62B-9C3DC9F9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D4222-4F13-4FCA-883C-FAE5EF81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4322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Тихо одбацивање поруке без разлога и трага.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BD5EC-F647-4987-96D6-FF56B88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568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4A9DA-2139-4C4B-BE8F-11274209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8518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Мешање времена извора и пријема.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175B6-422B-418A-8466-9C1C7BD1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76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D246E-BF07-4ADC-94FC-696726B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271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Read модел који дуплира пословни ефекат при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поновљеној поруци.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14912-CB3F-4E5D-AF89-D22DFF6D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9E122-4002-495C-B4AC-BDD91F49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C44898F-487C-4623-811F-BC3B418F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924787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FFA4D-E2AC-42A7-AFB8-5958BC3C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DCB8C-68B4-4A33-9D16-11D7140A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8F411F-799E-4468-9187-ECC677C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Типичне грешке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AD3D786-20D4-465D-BD59-196D10EF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4E799-0311-4CD4-A747-70FC96EF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2A28A-1FFB-4EDD-BF77-494987B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15766-5917-4914-BCFB-ADDF045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Тихо одбацивање проблематичне поруке.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B3B81-F6DE-415E-99DE-609C9D05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F3A43-C331-4738-979D-5BA2B8C4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B9093-095F-49DD-972D-5E72C121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Мешање времена настанка и пријема.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EDA8F-DEC9-4E2F-973D-AF651FCA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4B70F-42C3-458E-B0CE-836BF6E8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24524-2AD4-4356-895B-E38180AE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Дупли пословни ефекат при поновљеној поруци.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C04A2-E8A8-4DD8-8FC7-626C40AC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5B680-A2B7-47E9-B668-E18DA7D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90FFB23-2756-4197-AA72-CA9FB15F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589271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F8BFB-88EA-4A01-BE33-485C6AA3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DC016-30C0-49CF-985E-59A6691A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E22206-D841-42CA-98A0-D731FB20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принцип примењује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5188256-1C7F-4B7F-BB71-BAEE17B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453F9-9157-4E60-91FD-1FB73FE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FF352-1A58-420B-9288-B37BD3DD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5E4B4-E378-4D5F-9D57-0459CBF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Задржати идентитет и квалитет поруке кроз ток.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31E2E-F476-4B07-9771-F2B050C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08D0C-3A77-4960-8892-F07292E6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2454D-2D2B-47C1-B266-BC03DC3D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Одредити где се порука одбија.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45866-0588-4A08-8F37-F09BC44E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2C38F-0DF9-4E50-871D-BCBB3AD3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65801-7BE9-464E-89DF-A49ACDA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Приказати границу свежине read модела.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EE6BD-FF57-4BD2-AC78-32E5DD4C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526F6-BEF3-4EE9-A5CE-C02BAC9C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6274E11-43E9-46AD-B0E0-5DAD00AD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419516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5E83E-3B00-4F74-BF25-CDF5C957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8E668-379E-46A3-A120-2361D496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3EFD5B-C80D-4120-8382-72BEE67F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Питање за дискусију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03BEC07-405A-4B1D-8371-10B13701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7CA21-A9C3-4376-8598-C0F3E0D4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Који податак код вас сме да касни и како би корисник требало да види да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није потпуно свеж?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E0CF5356-2F5A-44C3-9D28-765C4AE3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909501DE-2185-4271-B3F5-AA594320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E8F9D-32A1-4F2D-B453-E25C82B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ЗА ВЕЖБУ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023F6-C934-4CC2-ABDA-ED127C58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податак у вашем систему може каснити, а ипак остати користан? Како корисник треба да види ту ограду?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2D404-6B5E-4D07-B41E-26B3A2F8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3EB36-FD93-47FE-AD91-118A7F77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46CFF56-29FF-4A88-BB5E-D6F8F051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461458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5A589-F421-4502-9245-D03FCA9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3F327-C0A3-43B4-8085-3489A5F9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96A941-4B7C-4BAE-A9D4-439628B8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Задатак уз пример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E791441-876A-450C-91ED-D35FA1C9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Проширење примера уз вежбу, правило иде у домен, а доказ у тест.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E09C2-BA1E-408F-B880-6814991E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65BC8-8D41-4DA5-879A-1169615D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AEB5D-1AE9-4573-A599-C15E0FCE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Додати use-case RebuildStationView који брише приказ станице и поново га изводи из записа.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730AC-9FF9-4A36-9CD1-7D03D976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43F6A-A495-4525-A47B-34664E4C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029D7-17AC-4754-A9EB-7156EB2E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Тестом показати да је резултат исти без обзира на редослед којим су мерења првобитно стигла.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5B155-E2B0-49FA-814F-C75D8B20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E24BF-0D65-4B3A-8ECE-728A561E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811E3B3-1BD5-41E8-92EF-E4F08B44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819775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69DB2-DA2E-4442-8AD8-BBBE9EA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6FAA1-23D5-488F-B507-3A3A3CA5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E3BE3F-AABC-4686-9F30-2F959127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пројекат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7E467C0-AC41-49B6-9207-1AF5009D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са вежбе примењује се на додељену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D87EC-4474-4B83-A912-26457B0E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31668-278F-4040-8A44-6463E93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08BE5-1739-4274-A29E-BCEE3C48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Идентификовати конкретну дистрибуирану одлуку у својој целини.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F7CA8-B45A-49FE-B2CE-3D5FE1A4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0FF4A-F146-4600-8E60-F6C8DADA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864A8-BBE4-4C5F-9826-E445E44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Имплементирати је са стабилним кодом исхода.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AE9C8-BC1B-4E13-AC30-7F0E1968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A712B-3670-4421-9F99-3AF81B3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BE1AF-4C2E-4E61-BF34-1D512EE7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Припремити поновљив failure сценарио и тест који га доказује.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43A0B-BD8A-4B4E-ABAF-FE5EAA96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16FF8-8FB7-47AD-9CBE-EB83AEA0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22E6B85-75A0-43C3-A851-9F75289E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314327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2C7A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DC868-FEF5-46FC-B1C7-94F50C33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232BF-DA5D-4D7F-9461-60FBD13B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96364A-1D1A-4D7F-A929-EB901B9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848166F-C20E-4EE7-A9BB-2B8CDD7D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Тим описује који слој сме да одбије поруку, који јој додељује квалитет и који је чува за касније читање.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D0318-B208-43F7-B119-BAF714B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Податак постаје поуздан тек када су познати његово порекло,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квалитет и границе приказа.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4FBB10CA-14BE-4B3E-BBA8-A219185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478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23962317-F32F-4B3B-BB8E-7C11510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5258-2D3B-41D4-A9FA-D7F0C702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98BA8-1B0A-4212-BADF-07C5E0E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Наредна вежба: Команде, послови и идемпотентност.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4B7E9-2411-49BB-B83A-91EA8AA8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A97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7A3A0-7DE4-4DEA-9A3A-A6DC2C67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CFFF0FF-11D9-4370-A259-C05E801F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75910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2026-10-10T19:18:07.5640000Z</dcterms:created>
  <dcterms:modified xsi:type="dcterms:W3CDTF">2026-10-10T19:18:07.5640000Z</dcterms:modified>
</coreProperties>
</file>