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772f11dc5246b3" /><Relationship Type="http://schemas.openxmlformats.org/officeDocument/2006/relationships/extended-properties" Target="/docProps/app.xml" Id="R3ae835af251b4a06" /><Relationship Type="http://schemas.openxmlformats.org/officeDocument/2006/relationships/officeDocument" Target="/ppt/presentation.xml" Id="R2de8dad2b76248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0773a2247f4056"/>
  </p:sldMasterIdLst>
  <p:notesMasterIdLst>
    <p:notesMasterId xmlns:r="http://schemas.openxmlformats.org/officeDocument/2006/relationships" r:id="Rcbb142571f8a45c0"/>
  </p:notesMasterIdLst>
  <p:sldIdLst>
    <p:sldId xmlns:r="http://schemas.openxmlformats.org/officeDocument/2006/relationships" id="256" r:id="Radf49e29ff034762"/>
    <p:sldId xmlns:r="http://schemas.openxmlformats.org/officeDocument/2006/relationships" id="257" r:id="Rd490f25408cb4d3e"/>
    <p:sldId xmlns:r="http://schemas.openxmlformats.org/officeDocument/2006/relationships" id="258" r:id="Rb25e14d1a3224747"/>
    <p:sldId xmlns:r="http://schemas.openxmlformats.org/officeDocument/2006/relationships" id="259" r:id="R7565396d2ce64509"/>
    <p:sldId xmlns:r="http://schemas.openxmlformats.org/officeDocument/2006/relationships" id="260" r:id="R88384ea5c63c4b8c"/>
    <p:sldId xmlns:r="http://schemas.openxmlformats.org/officeDocument/2006/relationships" id="261" r:id="R5414e7df44574e49"/>
    <p:sldId xmlns:r="http://schemas.openxmlformats.org/officeDocument/2006/relationships" id="262" r:id="R7632fa5a93eb489f"/>
    <p:sldId xmlns:r="http://schemas.openxmlformats.org/officeDocument/2006/relationships" id="263" r:id="Rb82e2d221c1740ee"/>
    <p:sldId xmlns:r="http://schemas.openxmlformats.org/officeDocument/2006/relationships" id="264" r:id="Rbedd3dfc198444dc"/>
    <p:sldId xmlns:r="http://schemas.openxmlformats.org/officeDocument/2006/relationships" id="265" r:id="R135f3df5f9d74cf6"/>
    <p:sldId xmlns:r="http://schemas.openxmlformats.org/officeDocument/2006/relationships" id="266" r:id="Ra0062a91060a4f53"/>
    <p:sldId xmlns:r="http://schemas.openxmlformats.org/officeDocument/2006/relationships" id="267" r:id="Re59562fd6cf54f49"/>
    <p:sldId xmlns:r="http://schemas.openxmlformats.org/officeDocument/2006/relationships" id="268" r:id="Rcf9601ea70e04487"/>
    <p:sldId xmlns:r="http://schemas.openxmlformats.org/officeDocument/2006/relationships" id="269" r:id="R176c12f7df734200"/>
    <p:sldId xmlns:r="http://schemas.openxmlformats.org/officeDocument/2006/relationships" id="270" r:id="Rcb751231b28a4fe9"/>
    <p:sldId xmlns:r="http://schemas.openxmlformats.org/officeDocument/2006/relationships" id="271" r:id="Rcd0365422ede48ec"/>
    <p:sldId xmlns:r="http://schemas.openxmlformats.org/officeDocument/2006/relationships" id="272" r:id="R8badda8e0a6f4be2"/>
    <p:sldId xmlns:r="http://schemas.openxmlformats.org/officeDocument/2006/relationships" id="273" r:id="Rca610936cc4b49cf"/>
    <p:sldId xmlns:r="http://schemas.openxmlformats.org/officeDocument/2006/relationships" id="274" r:id="R2cb04de0ca5a4957"/>
    <p:sldId xmlns:r="http://schemas.openxmlformats.org/officeDocument/2006/relationships" id="275" r:id="Rf477b6229e7144c3"/>
    <p:sldId xmlns:r="http://schemas.openxmlformats.org/officeDocument/2006/relationships" id="276" r:id="Rd4508bc55f134a50"/>
    <p:sldId xmlns:r="http://schemas.openxmlformats.org/officeDocument/2006/relationships" id="277" r:id="R695921df29c94628"/>
    <p:sldId xmlns:r="http://schemas.openxmlformats.org/officeDocument/2006/relationships" id="278" r:id="Rf51aa054884f4ca0"/>
    <p:sldId xmlns:r="http://schemas.openxmlformats.org/officeDocument/2006/relationships" id="279" r:id="R6701f60cf11a42ff"/>
    <p:sldId xmlns:r="http://schemas.openxmlformats.org/officeDocument/2006/relationships" id="280" r:id="R4742588b8b2c40bf"/>
    <p:sldId xmlns:r="http://schemas.openxmlformats.org/officeDocument/2006/relationships" id="281" r:id="Rc6023a022d574932"/>
    <p:sldId xmlns:r="http://schemas.openxmlformats.org/officeDocument/2006/relationships" id="282" r:id="R02d5c21e9ab94fe2"/>
    <p:sldId xmlns:r="http://schemas.openxmlformats.org/officeDocument/2006/relationships" id="283" r:id="Rb20fd70c5f7640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d7ed708c0471f" /><Relationship Type="http://schemas.openxmlformats.org/officeDocument/2006/relationships/slideMaster" Target="/ppt/slideMasters/slideMaster1.xml" Id="R1f0773a2247f4056" /><Relationship Type="http://schemas.openxmlformats.org/officeDocument/2006/relationships/notesMaster" Target="/ppt/notesMasters/notesMaster1.xml" Id="Rcbb142571f8a45c0" /><Relationship Type="http://schemas.openxmlformats.org/officeDocument/2006/relationships/presProps" Target="/ppt/presProps.xml" Id="R9a59566581284839" /><Relationship Type="http://schemas.openxmlformats.org/officeDocument/2006/relationships/tableStyles" Target="/ppt/tableStyles.xml" Id="Re5ec4a7479364607" /><Relationship Type="http://schemas.openxmlformats.org/officeDocument/2006/relationships/slide" Target="/ppt/slides/slide1.xml" Id="Radf49e29ff034762" /><Relationship Type="http://schemas.openxmlformats.org/officeDocument/2006/relationships/slide" Target="/ppt/slides/slide2.xml" Id="Rd490f25408cb4d3e" /><Relationship Type="http://schemas.openxmlformats.org/officeDocument/2006/relationships/slide" Target="/ppt/slides/slide3.xml" Id="Rb25e14d1a3224747" /><Relationship Type="http://schemas.openxmlformats.org/officeDocument/2006/relationships/slide" Target="/ppt/slides/slide4.xml" Id="R7565396d2ce64509" /><Relationship Type="http://schemas.openxmlformats.org/officeDocument/2006/relationships/slide" Target="/ppt/slides/slide5.xml" Id="R88384ea5c63c4b8c" /><Relationship Type="http://schemas.openxmlformats.org/officeDocument/2006/relationships/slide" Target="/ppt/slides/slide6.xml" Id="R5414e7df44574e49" /><Relationship Type="http://schemas.openxmlformats.org/officeDocument/2006/relationships/slide" Target="/ppt/slides/slide7.xml" Id="R7632fa5a93eb489f" /><Relationship Type="http://schemas.openxmlformats.org/officeDocument/2006/relationships/slide" Target="/ppt/slides/slide8.xml" Id="Rb82e2d221c1740ee" /><Relationship Type="http://schemas.openxmlformats.org/officeDocument/2006/relationships/slide" Target="/ppt/slides/slide9.xml" Id="Rbedd3dfc198444dc" /><Relationship Type="http://schemas.openxmlformats.org/officeDocument/2006/relationships/slide" Target="/ppt/slides/slide10.xml" Id="R135f3df5f9d74cf6" /><Relationship Type="http://schemas.openxmlformats.org/officeDocument/2006/relationships/slide" Target="/ppt/slides/slide11.xml" Id="Ra0062a91060a4f53" /><Relationship Type="http://schemas.openxmlformats.org/officeDocument/2006/relationships/slide" Target="/ppt/slides/slide12.xml" Id="Re59562fd6cf54f49" /><Relationship Type="http://schemas.openxmlformats.org/officeDocument/2006/relationships/slide" Target="/ppt/slides/slide13.xml" Id="Rcf9601ea70e04487" /><Relationship Type="http://schemas.openxmlformats.org/officeDocument/2006/relationships/slide" Target="/ppt/slides/slide14.xml" Id="R176c12f7df734200" /><Relationship Type="http://schemas.openxmlformats.org/officeDocument/2006/relationships/slide" Target="/ppt/slides/slide15.xml" Id="Rcb751231b28a4fe9" /><Relationship Type="http://schemas.openxmlformats.org/officeDocument/2006/relationships/slide" Target="/ppt/slides/slide16.xml" Id="Rcd0365422ede48ec" /><Relationship Type="http://schemas.openxmlformats.org/officeDocument/2006/relationships/slide" Target="/ppt/slides/slide17.xml" Id="R8badda8e0a6f4be2" /><Relationship Type="http://schemas.openxmlformats.org/officeDocument/2006/relationships/slide" Target="/ppt/slides/slide18.xml" Id="Rca610936cc4b49cf" /><Relationship Type="http://schemas.openxmlformats.org/officeDocument/2006/relationships/slide" Target="/ppt/slides/slide19.xml" Id="R2cb04de0ca5a4957" /><Relationship Type="http://schemas.openxmlformats.org/officeDocument/2006/relationships/slide" Target="/ppt/slides/slide20.xml" Id="Rf477b6229e7144c3" /><Relationship Type="http://schemas.openxmlformats.org/officeDocument/2006/relationships/slide" Target="/ppt/slides/slide21.xml" Id="Rd4508bc55f134a50" /><Relationship Type="http://schemas.openxmlformats.org/officeDocument/2006/relationships/slide" Target="/ppt/slides/slide22.xml" Id="R695921df29c94628" /><Relationship Type="http://schemas.openxmlformats.org/officeDocument/2006/relationships/slide" Target="/ppt/slides/slide23.xml" Id="Rf51aa054884f4ca0" /><Relationship Type="http://schemas.openxmlformats.org/officeDocument/2006/relationships/slide" Target="/ppt/slides/slide24.xml" Id="R6701f60cf11a42ff" /><Relationship Type="http://schemas.openxmlformats.org/officeDocument/2006/relationships/slide" Target="/ppt/slides/slide25.xml" Id="R4742588b8b2c40bf" /><Relationship Type="http://schemas.openxmlformats.org/officeDocument/2006/relationships/slide" Target="/ppt/slides/slide26.xml" Id="Rc6023a022d574932" /><Relationship Type="http://schemas.openxmlformats.org/officeDocument/2006/relationships/slide" Target="/ppt/slides/slide27.xml" Id="R02d5c21e9ab94fe2" /><Relationship Type="http://schemas.openxmlformats.org/officeDocument/2006/relationships/slide" Target="/ppt/slides/slide28.xml" Id="Rb20fd70c5f7640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42ef458594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a215296dd9470f" /><Relationship Type="http://schemas.openxmlformats.org/officeDocument/2006/relationships/notesMaster" Target="/ppt/notesMasters/notesMaster1.xml" Id="Rd7db015f2f634d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e66075317e4374" /><Relationship Type="http://schemas.openxmlformats.org/officeDocument/2006/relationships/notesMaster" Target="/ppt/notesMasters/notesMaster1.xml" Id="R0781413396d44d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a4b40e65554612" /><Relationship Type="http://schemas.openxmlformats.org/officeDocument/2006/relationships/notesMaster" Target="/ppt/notesMasters/notesMaster1.xml" Id="Rd4cd1c06895649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732c564271449e" /><Relationship Type="http://schemas.openxmlformats.org/officeDocument/2006/relationships/notesMaster" Target="/ppt/notesMasters/notesMaster1.xml" Id="R1c2c6b3dccfa4d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c1b04235c648c5" /><Relationship Type="http://schemas.openxmlformats.org/officeDocument/2006/relationships/notesMaster" Target="/ppt/notesMasters/notesMaster1.xml" Id="R9590b111d0684c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53c1be349c4daf" /><Relationship Type="http://schemas.openxmlformats.org/officeDocument/2006/relationships/notesMaster" Target="/ppt/notesMasters/notesMaster1.xml" Id="R2cfb7eff78f24a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c84edb78e94105" /><Relationship Type="http://schemas.openxmlformats.org/officeDocument/2006/relationships/notesMaster" Target="/ppt/notesMasters/notesMaster1.xml" Id="Rbbff79faebdc41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308c8b6180491b" /><Relationship Type="http://schemas.openxmlformats.org/officeDocument/2006/relationships/notesMaster" Target="/ppt/notesMasters/notesMaster1.xml" Id="R4be2d5fa3cbd49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4be2bb35ec48c7" /><Relationship Type="http://schemas.openxmlformats.org/officeDocument/2006/relationships/notesMaster" Target="/ppt/notesMasters/notesMaster1.xml" Id="R5ebb940dc4b24b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4b18b20e314413" /><Relationship Type="http://schemas.openxmlformats.org/officeDocument/2006/relationships/notesMaster" Target="/ppt/notesMasters/notesMaster1.xml" Id="R5a65e6f0590048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0bfa3a6e1d4db0" /><Relationship Type="http://schemas.openxmlformats.org/officeDocument/2006/relationships/notesMaster" Target="/ppt/notesMasters/notesMaster1.xml" Id="Ra26e96b32eb545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f9d3a9044a4fdc" /><Relationship Type="http://schemas.openxmlformats.org/officeDocument/2006/relationships/notesMaster" Target="/ppt/notesMasters/notesMaster1.xml" Id="R8aaf8817b2eb4b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4b1f0c66224d99" /><Relationship Type="http://schemas.openxmlformats.org/officeDocument/2006/relationships/notesMaster" Target="/ppt/notesMasters/notesMaster1.xml" Id="Rcc417830ee1246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d568cdf64f4d38" /><Relationship Type="http://schemas.openxmlformats.org/officeDocument/2006/relationships/notesMaster" Target="/ppt/notesMasters/notesMaster1.xml" Id="R48d62681692249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1586c442664aad" /><Relationship Type="http://schemas.openxmlformats.org/officeDocument/2006/relationships/notesMaster" Target="/ppt/notesMasters/notesMaster1.xml" Id="Rff2fc35adcc14a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cf9673afe44f19" /><Relationship Type="http://schemas.openxmlformats.org/officeDocument/2006/relationships/notesMaster" Target="/ppt/notesMasters/notesMaster1.xml" Id="R1197eaac40aa48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4069980b7d4652" /><Relationship Type="http://schemas.openxmlformats.org/officeDocument/2006/relationships/notesMaster" Target="/ppt/notesMasters/notesMaster1.xml" Id="Ra9683af5f4674b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41b3e98aa84210" /><Relationship Type="http://schemas.openxmlformats.org/officeDocument/2006/relationships/notesMaster" Target="/ppt/notesMasters/notesMaster1.xml" Id="Ra0ad772ba90c43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0f2cd2ce794e65" /><Relationship Type="http://schemas.openxmlformats.org/officeDocument/2006/relationships/notesMaster" Target="/ppt/notesMasters/notesMaster1.xml" Id="R1e5f54dfe7aa41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591ae37bae42ac" /><Relationship Type="http://schemas.openxmlformats.org/officeDocument/2006/relationships/notesMaster" Target="/ppt/notesMasters/notesMaster1.xml" Id="R59e102cb3baa44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fae109e22b4ed2" /><Relationship Type="http://schemas.openxmlformats.org/officeDocument/2006/relationships/notesMaster" Target="/ppt/notesMasters/notesMaster1.xml" Id="R732018631e1b4a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1726c384a444ed" /><Relationship Type="http://schemas.openxmlformats.org/officeDocument/2006/relationships/notesMaster" Target="/ppt/notesMasters/notesMaster1.xml" Id="R998aa5a692a046e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85aef30dd2461b" /><Relationship Type="http://schemas.openxmlformats.org/officeDocument/2006/relationships/notesMaster" Target="/ppt/notesMasters/notesMaster1.xml" Id="Rac649232fb6f4ea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8c1790ca2754506" /><Relationship Type="http://schemas.openxmlformats.org/officeDocument/2006/relationships/notesMaster" Target="/ppt/notesMasters/notesMaster1.xml" Id="Rfa4b3cccba5f439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ed81638d89459c" /><Relationship Type="http://schemas.openxmlformats.org/officeDocument/2006/relationships/notesMaster" Target="/ppt/notesMasters/notesMaster1.xml" Id="R79f05953512f443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bda0205f3c4c60" /><Relationship Type="http://schemas.openxmlformats.org/officeDocument/2006/relationships/notesMaster" Target="/ppt/notesMasters/notesMaster1.xml" Id="R0248b29be3b44f3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5eb036454f94742" /><Relationship Type="http://schemas.openxmlformats.org/officeDocument/2006/relationships/notesMaster" Target="/ppt/notesMasters/notesMaster1.xml" Id="R12155bd706ff4c5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eeb40a91a0b43c8" /><Relationship Type="http://schemas.openxmlformats.org/officeDocument/2006/relationships/notesMaster" Target="/ppt/notesMasters/notesMaster1.xml" Id="Rf8d953e1971144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Власништво и неизвесност пре мрежне комуникације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Разумети како време, мрежа и више процеса мењају начин на који систем доноси одлуке.</a:t>
            </a:r>
          </a:p>
          <a:p xmlns:a="http://schemas.openxmlformats.org/drawingml/2006/main">
            <a:r>
              <a:t>Компоненте не виде исто стање у истом тренутку. Веза може нестати, одговор закаснити, а процес се може поново појавити.</a:t>
            </a:r>
          </a:p>
          <a:p xmlns:a="http://schemas.openxmlformats.org/drawingml/2006/main">
            <a:r>
              <a:t>Јасно власништво над стањем и операцијом спречава сукоб више инстанци и даје смисао статусима које систем приказује.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Дистрибуирани систем није обична апликација распоређена на више процеса.</a:t>
            </a:r>
          </a:p>
          <a:p xmlns:a="http://schemas.openxmlformats.org/drawingml/2006/main">
            <a:r>
              <a:t>стабилан кроз време</a:t>
            </a:r>
          </a:p>
          <a:p xmlns:a="http://schemas.openxmlformats.org/drawingml/2006/main">
            <a:r>
              <a:t>привремена извршна инстанца</a:t>
            </a:r>
          </a:p>
          <a:p xmlns:a="http://schemas.openxmlformats.org/drawingml/2006/main">
            <a:r>
              <a:t>може каснити или нестати</a:t>
            </a:r>
          </a:p>
          <a:p xmlns:a="http://schemas.openxmlformats.org/drawingml/2006/main">
            <a:r>
              <a:t>јасна надлежност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Пословни ентитет, попут налога или уређаја, остаје исти и када се процеси рестартују. Његов идентитет не сме зависити од једне извршне инстанце.</a:t>
            </a:r>
          </a:p>
          <a:p xmlns:a="http://schemas.openxmlformats.org/drawingml/2006/main">
            <a:r>
              <a:t>Идентитет не зависи од једне извршне инстанце.</a:t>
            </a:r>
          </a:p>
          <a:p xmlns:a="http://schemas.openxmlformats.org/drawingml/2006/main">
            <a:r>
              <a:t>Преживљава рестарт процеса који га обрађује.</a:t>
            </a:r>
          </a:p>
          <a:p xmlns:a="http://schemas.openxmlformats.org/drawingml/2006/main">
            <a:r>
              <a:t>Пример: мисија или станица, не worker који је тренутно опслужује.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Процес је привремени извршилац који може нестати и поново се појавити. Зато његово локално стање није аутоматски извор истине за цео систем.</a:t>
            </a:r>
          </a:p>
          <a:p xmlns:a="http://schemas.openxmlformats.org/drawingml/2006/main">
            <a:r>
              <a:t>Привремени извршилац, не извор истине.</a:t>
            </a:r>
          </a:p>
          <a:p xmlns:a="http://schemas.openxmlformats.org/drawingml/2006/main">
            <a:r>
              <a:t>Може нестати и поново се појавити.</a:t>
            </a:r>
          </a:p>
          <a:p xmlns:a="http://schemas.openxmlformats.org/drawingml/2006/main">
            <a:r>
              <a:t>Локално стање процеса није глобално стање система.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Мрежна веза може каснити, прекинути се или вратити без јасне границе када се то десило. Систем мора рачунати на ту неизвесност.</a:t>
            </a:r>
          </a:p>
          <a:p xmlns:a="http://schemas.openxmlformats.org/drawingml/2006/main">
            <a:r>
              <a:t>Кашњење и прекид су очекивано понашање, не изузетак.</a:t>
            </a:r>
          </a:p>
          <a:p xmlns:a="http://schemas.openxmlformats.org/drawingml/2006/main">
            <a:r>
              <a:t>Нема јасне границе када се прекид тачно десио.</a:t>
            </a:r>
          </a:p>
          <a:p xmlns:a="http://schemas.openxmlformats.org/drawingml/2006/main">
            <a:r>
              <a:t>Систем мора дизајнирати око те неизвесности.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Власништво одређује која компонента има право да донесе важећу одлуку о стању. Без њега две инстанце лако направе сукобљене измене.</a:t>
            </a:r>
          </a:p>
          <a:p xmlns:a="http://schemas.openxmlformats.org/drawingml/2006/main">
            <a:r>
              <a:t>Одређује ко сме да донесе важећу одлуку о стању.</a:t>
            </a:r>
          </a:p>
          <a:p xmlns:a="http://schemas.openxmlformats.org/drawingml/2006/main">
            <a:r>
              <a:t>Спречава да две инстанце сукобљено мењају исто стање.</a:t>
            </a:r>
          </a:p>
          <a:p xmlns:a="http://schemas.openxmlformats.org/drawingml/2006/main">
            <a:r>
              <a:t>Мора бити експлицитно, не претпостављено.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Централна компонента престаје да прима heartbeat од удаљеног чвора.</a:t>
            </a:r>
          </a:p>
          <a:p xmlns:a="http://schemas.openxmlformats.org/drawingml/2006/main">
            <a:r>
              <a:t>Статус треба да изрази последње поуздано сазнање система.</a:t>
            </a:r>
          </a:p>
          <a:p xmlns:a="http://schemas.openxmlformats.org/drawingml/2006/main">
            <a:r>
              <a:t>Поновно повезивање не сме аутоматски значити да је настала нова пословна инстанца.</a:t>
            </a:r>
          </a:p>
          <a:p xmlns:a="http://schemas.openxmlformats.org/drawingml/2006/main">
            <a:r>
              <a:t>Промена власништва над радом мора имати правило које спречава стари чвор да настави са радом.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Процес и веза могу нестати, али пословно стање захтева јасан и стабилан ауторитет.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Праг Online/Suspected/Unreachable у коду зависи од дужине тишине. Тест задржава Unreachable чвор у регистру. Не тумачити последњу процену као доказ узрока прекида.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раздваја пословни ентитет од процеса који га представља.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Статус зависи само од дужине тишине, разлог тишине систем не зна и не претпоставља.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Чвор који је Unreachable остаје у регистру: нестанак процеса није нестанак ентитета.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Чвор који је Unreachable остаје у регистру: нестанак процеса није нестанак ентитета.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Закаснели heartbeat добија код heartbeat_out_of_order и не враћа познато стање уназад.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Закаснели heartbeat добија код heartbeat_out_of_order и не враћа познато стање уназад.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важи тек када је препозната и замка која га тихо поништава.</a:t>
            </a:r>
          </a:p>
          <a:p xmlns:a="http://schemas.openxmlformats.org/drawingml/2006/main">
            <a:r>
              <a:t>Процес, мрежна веза и пословни ентитет нису иста ствар.</a:t>
            </a:r>
          </a:p>
          <a:p xmlns:a="http://schemas.openxmlformats.org/drawingml/2006/main">
            <a:r>
              <a:t>Timeout значи да одговор није стигао на време, не да се операција сигурно није десила.</a:t>
            </a:r>
          </a:p>
          <a:p xmlns:a="http://schemas.openxmlformats.org/drawingml/2006/main">
            <a:r>
              <a:t>Статус треба да изрази оно што систем зна, а не оно што претпоставља.</a:t>
            </a:r>
          </a:p>
          <a:p xmlns:a="http://schemas.openxmlformats.org/drawingml/2006/main">
            <a:r>
              <a:t>Изједначавање прекида везе са трајним кваром.</a:t>
            </a:r>
          </a:p>
          <a:p xmlns:a="http://schemas.openxmlformats.org/drawingml/2006/main">
            <a:r>
              <a:t>Две инстанце које без правила мењају исто стање.</a:t>
            </a:r>
          </a:p>
          <a:p xmlns:a="http://schemas.openxmlformats.org/drawingml/2006/main">
            <a:r>
              <a:t>Пословно правило скривено у комуникационом детаљу.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Ове грешке се најчешће понављају када се принцип површно примени.</a:t>
            </a:r>
          </a:p>
          <a:p xmlns:a="http://schemas.openxmlformats.org/drawingml/2006/main">
            <a:r>
              <a:t>Прекид везе се тумачи као трајни квар.</a:t>
            </a:r>
          </a:p>
          <a:p xmlns:a="http://schemas.openxmlformats.org/drawingml/2006/main">
            <a:r>
              <a:t>Две инстанце мењају исто стање без правила.</a:t>
            </a:r>
          </a:p>
          <a:p xmlns:a="http://schemas.openxmlformats.org/drawingml/2006/main">
            <a:r>
              <a:t>Пословно правило се сакрије у мрежни детаљ.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Кораци показују како се принцип препознаје и доследно спроводи у развоју.</a:t>
            </a:r>
          </a:p>
          <a:p xmlns:a="http://schemas.openxmlformats.org/drawingml/2006/main">
            <a:r>
              <a:t>Описати ауторитет за важно стање.</a:t>
            </a:r>
          </a:p>
          <a:p xmlns:a="http://schemas.openxmlformats.org/drawingml/2006/main">
            <a:r>
              <a:t>Разликовати оно што систем зна од онога што претпоставља.</a:t>
            </a:r>
          </a:p>
          <a:p xmlns:a="http://schemas.openxmlformats.org/drawingml/2006/main">
            <a:r>
              <a:t>Тестирати привремени прекид као очекиван сценарио.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Одговор се образлаже failure сценаријем и тестом, а не описом срећног пута.</a:t>
            </a:r>
          </a:p>
          <a:p xmlns:a="http://schemas.openxmlformats.org/drawingml/2006/main">
            <a:r>
              <a:t>Које стање мора имати један јасан ауторитет и шта се види када тај ауторитет привремено није доступан?</a:t>
            </a:r>
          </a:p>
          <a:p xmlns:a="http://schemas.openxmlformats.org/drawingml/2006/main">
            <a:r>
              <a:t>Који податак или операција мора имати јасан ауторитет и како систем препознаје да је тај ауторитет привремено недоступан?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Проширење примера уз вежбу, правило иде у домен, а доказ у тест.</a:t>
            </a:r>
          </a:p>
          <a:p xmlns:a="http://schemas.openxmlformats.org/drawingml/2006/main">
            <a:r>
              <a:t>Додати статус Draining за чвор који је најавио планирано гашење.</a:t>
            </a:r>
          </a:p>
          <a:p xmlns:a="http://schemas.openxmlformats.org/drawingml/2006/main">
            <a:r>
              <a:t>Такав чвор не сме постати Unreachable док траје најављени период.</a:t>
            </a:r>
          </a:p>
          <a:p xmlns:a="http://schemas.openxmlformats.org/drawingml/2006/main">
            <a:r>
              <a:t>Правило додати у NodeLivenessPolicy, увести нов код и покрити га тестом.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са вежбе примењује се на додељену пројектну целину.</a:t>
            </a:r>
          </a:p>
          <a:p xmlns:a="http://schemas.openxmlformats.org/drawingml/2006/main">
            <a:r>
              <a:t>Идентификовати конкретну дистрибуирану одлуку у својој целини.</a:t>
            </a:r>
          </a:p>
          <a:p xmlns:a="http://schemas.openxmlformats.org/drawingml/2006/main">
            <a:r>
              <a:t>Имплементирати је са стабилним кодом исхода.</a:t>
            </a:r>
          </a:p>
          <a:p xmlns:a="http://schemas.openxmlformats.org/drawingml/2006/main">
            <a:r>
              <a:t>Припремити поновљив failure сценарио и тест који га доказује.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Тим најпре описује границе система, одговорност сваке компоненте и стање које је за њу ауторитативно.</a:t>
            </a:r>
          </a:p>
          <a:p xmlns:a="http://schemas.openxmlformats.org/drawingml/2006/main">
            <a:r>
              <a:t>Процес и веза могу нестати, али пословно стање захтева јасан и стабилан ауторитет.</a:t>
            </a:r>
          </a:p>
          <a:p xmlns:a="http://schemas.openxmlformats.org/drawingml/2006/main">
            <a:r>
              <a:t>Наредна вежба: Уговори, симулатори и поновљивост.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c8fcb833643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e7b47dc2a40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06c7a84f84d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ef9b9310a4f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112c05cb244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6039e2be849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527231-470F-4D53-8261-C24F447A4C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7886C1-6958-4DD4-9892-B09850A9E8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68F541-D940-4F62-92D5-7922AA1BDF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636B29-253F-46E0-833A-83E3A55A98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B36DE8-1080-40D8-85DA-A21F7096ED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364A2B-8543-48B4-AA20-DAC4215C47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8469B3-8B29-4CF3-AF51-6C829281C0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F397CA-D50F-4E4F-B4A6-72B03D7249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21DAA-43D1-4E94-9A59-02EBC62E9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966363-9A05-45F1-8304-48AD39BCF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33f57a987147a5" /><Relationship Type="http://schemas.openxmlformats.org/officeDocument/2006/relationships/slideLayout" Target="/ppt/slideLayouts/slideLayout1.xml" Id="R7638bf33349f4b46" /><Relationship Type="http://schemas.openxmlformats.org/officeDocument/2006/relationships/slideLayout" Target="/ppt/slideLayouts/slideLayout2.xml" Id="R3fca55f068d3470f" /><Relationship Type="http://schemas.openxmlformats.org/officeDocument/2006/relationships/slideLayout" Target="/ppt/slideLayouts/slideLayout3.xml" Id="Ra127c843f5f54543" /><Relationship Type="http://schemas.openxmlformats.org/officeDocument/2006/relationships/slideLayout" Target="/ppt/slideLayouts/slideLayout4.xml" Id="R62bc3d3a4a1e409d" /><Relationship Type="http://schemas.openxmlformats.org/officeDocument/2006/relationships/slideLayout" Target="/ppt/slideLayouts/slideLayout5.xml" Id="R46d58d8cd35a4e9e" /><Relationship Type="http://schemas.openxmlformats.org/officeDocument/2006/relationships/slideLayout" Target="/ppt/slideLayouts/slideLayout6.xml" Id="Rfef34b5b211942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38bf33349f4b46"/>
    <p:sldLayoutId xmlns:r="http://schemas.openxmlformats.org/officeDocument/2006/relationships" id="2147483650" r:id="R3fca55f068d3470f"/>
    <p:sldLayoutId xmlns:r="http://schemas.openxmlformats.org/officeDocument/2006/relationships" id="2147483651" r:id="Ra127c843f5f54543"/>
    <p:sldLayoutId xmlns:r="http://schemas.openxmlformats.org/officeDocument/2006/relationships" id="2147483652" r:id="R62bc3d3a4a1e409d"/>
    <p:sldLayoutId xmlns:r="http://schemas.openxmlformats.org/officeDocument/2006/relationships" id="2147483653" r:id="R46d58d8cd35a4e9e"/>
    <p:sldLayoutId xmlns:r="http://schemas.openxmlformats.org/officeDocument/2006/relationships" id="2147483654" r:id="Rfef34b5b211942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185b4e83c47a0" /><Relationship Type="http://schemas.openxmlformats.org/officeDocument/2006/relationships/notesSlide" Target="/ppt/notesSlides/notesSlide1.xml" Id="R8f641a72741948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37cbaea884f33" /><Relationship Type="http://schemas.openxmlformats.org/officeDocument/2006/relationships/notesSlide" Target="/ppt/notesSlides/notesSlide2.xml" Id="R4a611f0dfc484f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68821a23fa4395" /><Relationship Type="http://schemas.openxmlformats.org/officeDocument/2006/relationships/notesSlide" Target="/ppt/notesSlides/notesSlide3.xml" Id="R23e872689b344a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b4d77ea13444e" /><Relationship Type="http://schemas.openxmlformats.org/officeDocument/2006/relationships/notesSlide" Target="/ppt/notesSlides/notesSlide4.xml" Id="Rd3ffba539b084f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a2bd3a1264ee7" /><Relationship Type="http://schemas.openxmlformats.org/officeDocument/2006/relationships/notesSlide" Target="/ppt/notesSlides/notesSlide5.xml" Id="Ra836b73f145942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5a6631b994994" /><Relationship Type="http://schemas.openxmlformats.org/officeDocument/2006/relationships/notesSlide" Target="/ppt/notesSlides/notesSlide6.xml" Id="Ra1a967f504f448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53a2ee49c4d6e" /><Relationship Type="http://schemas.openxmlformats.org/officeDocument/2006/relationships/notesSlide" Target="/ppt/notesSlides/notesSlide7.xml" Id="R29d34628f69045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18d4f404547b5" /><Relationship Type="http://schemas.openxmlformats.org/officeDocument/2006/relationships/notesSlide" Target="/ppt/notesSlides/notesSlide8.xml" Id="Rb912986b8dda40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42dab526742fc" /><Relationship Type="http://schemas.openxmlformats.org/officeDocument/2006/relationships/notesSlide" Target="/ppt/notesSlides/notesSlide9.xml" Id="Raadd31b9d0404b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26f8010614466" /><Relationship Type="http://schemas.openxmlformats.org/officeDocument/2006/relationships/notesSlide" Target="/ppt/notesSlides/notesSlide10.xml" Id="R993843141a3d4c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d80bd18494a54" /><Relationship Type="http://schemas.openxmlformats.org/officeDocument/2006/relationships/notesSlide" Target="/ppt/notesSlides/notesSlide11.xml" Id="Rce3605fc602245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67c8a4f7b4e04" /><Relationship Type="http://schemas.openxmlformats.org/officeDocument/2006/relationships/notesSlide" Target="/ppt/notesSlides/notesSlide12.xml" Id="R90f85a5895024e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42ae8096642cf" /><Relationship Type="http://schemas.openxmlformats.org/officeDocument/2006/relationships/notesSlide" Target="/ppt/notesSlides/notesSlide13.xml" Id="R83d50c3f838344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f803b85bc4481" /><Relationship Type="http://schemas.openxmlformats.org/officeDocument/2006/relationships/notesSlide" Target="/ppt/notesSlides/notesSlide14.xml" Id="R8faee20a9c794f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76443afe14abe" /><Relationship Type="http://schemas.openxmlformats.org/officeDocument/2006/relationships/notesSlide" Target="/ppt/notesSlides/notesSlide15.xml" Id="Rdc2379865f114a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ba6f7e68646ff" /><Relationship Type="http://schemas.openxmlformats.org/officeDocument/2006/relationships/notesSlide" Target="/ppt/notesSlides/notesSlide16.xml" Id="R6bdc9d8a397243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cf2ccc5b24fd0" /><Relationship Type="http://schemas.openxmlformats.org/officeDocument/2006/relationships/notesSlide" Target="/ppt/notesSlides/notesSlide17.xml" Id="R9622402808c04d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b690530bd4498" /><Relationship Type="http://schemas.openxmlformats.org/officeDocument/2006/relationships/notesSlide" Target="/ppt/notesSlides/notesSlide18.xml" Id="Rae0784835b7f4f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167d4a8c44c63" /><Relationship Type="http://schemas.openxmlformats.org/officeDocument/2006/relationships/notesSlide" Target="/ppt/notesSlides/notesSlide19.xml" Id="R31f5ce516b754c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518ae83f74a5c" /><Relationship Type="http://schemas.openxmlformats.org/officeDocument/2006/relationships/notesSlide" Target="/ppt/notesSlides/notesSlide20.xml" Id="R25299598302346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e1742745b4aea" /><Relationship Type="http://schemas.openxmlformats.org/officeDocument/2006/relationships/notesSlide" Target="/ppt/notesSlides/notesSlide21.xml" Id="R9394956237344d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1ad215a524f8d" /><Relationship Type="http://schemas.openxmlformats.org/officeDocument/2006/relationships/notesSlide" Target="/ppt/notesSlides/notesSlide22.xml" Id="Re298044855a9462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e2290d63c84913" /><Relationship Type="http://schemas.openxmlformats.org/officeDocument/2006/relationships/notesSlide" Target="/ppt/notesSlides/notesSlide23.xml" Id="Rbab0ceb0636f496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7ce4df99a40f0" /><Relationship Type="http://schemas.openxmlformats.org/officeDocument/2006/relationships/notesSlide" Target="/ppt/notesSlides/notesSlide24.xml" Id="Rb0ddcefa39494b1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e80d575344489" /><Relationship Type="http://schemas.openxmlformats.org/officeDocument/2006/relationships/notesSlide" Target="/ppt/notesSlides/notesSlide25.xml" Id="R9d5af106cca3439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853b5732443a6" /><Relationship Type="http://schemas.openxmlformats.org/officeDocument/2006/relationships/notesSlide" Target="/ppt/notesSlides/notesSlide26.xml" Id="Rb91fd804b56e417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a86e20f8be4fef" /><Relationship Type="http://schemas.openxmlformats.org/officeDocument/2006/relationships/notesSlide" Target="/ppt/notesSlides/notesSlide27.xml" Id="R347665215fc047c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52bbca59a46cd" /><Relationship Type="http://schemas.openxmlformats.org/officeDocument/2006/relationships/notesSlide" Target="/ppt/notesSlides/notesSlide28.xml" Id="R07519409b0ed48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22933-9330-45EA-BDC2-B536E97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09625"/>
            <a:ext cx="666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ОСНОВЕ ДИСТРИБУИРАНОГ ПРОГРАМИРАЊА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261BA58-D4CE-474F-B1C6-FE1BD0FF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71650"/>
            <a:ext cx="6572250" cy="190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Начин размишљања у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дистрибуираном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систему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D5991-CC97-46A8-A107-8ACF50C8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25824"/>
            <a:ext cx="6191250" cy="31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Власништво и неизвесност пре мрежне комуникације</a:t>
            </a:r>
          </a:p>
        </p:txBody>
      </p:sp>
      <p:sp>
        <p:nvSpPr>
          <p:cNvPr id="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998D7F45-E7B5-4ABA-8DD8-FD2715F2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676" y="1993024"/>
            <a:ext cx="2023898" cy="666093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E8F3"/>
          </a:solidFill>
          <a:ln xmlns:a="http://schemas.openxmlformats.org/drawingml/2006/main" w="19214">
            <a:solidFill>
              <a:srgbClr val="0A5CA8"/>
            </a:solidFill>
            <a:prstDash val="solid"/>
          </a:ln>
        </p:spPr>
      </p:sp>
      <p:sp>
        <p:nvSpPr>
          <p:cNvPr id="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AAD0B64F-507A-4764-82ED-459710C5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723" y="2089095"/>
            <a:ext cx="1895803" cy="281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Пословно стање</a:t>
            </a:r>
          </a:p>
        </p:txBody>
      </p:sp>
      <p:sp>
        <p:nvSpPr>
          <p:cNvPr id="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013EB214-5FAB-48C2-8908-FB843EAC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723" y="2415737"/>
            <a:ext cx="1895803" cy="192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стабилан идентитет</a:t>
            </a:r>
          </a:p>
        </p:txBody>
      </p:sp>
      <p:sp>
        <p:nvSpPr>
          <p:cNvPr id="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5BE8750A-26F9-4E06-8F34-0BB90025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437" y="3209925"/>
            <a:ext cx="1588376" cy="563617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81ECD229-6712-44BF-BEC5-E7AED185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484" y="3254758"/>
            <a:ext cx="1460281" cy="473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Ауторитет</a:t>
            </a:r>
          </a:p>
        </p:txBody>
      </p:sp>
      <p:sp>
        <p:nvSpPr>
          <p:cNvPr id="9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F13A2D09-FEB2-4B1B-A5E9-FA5E5B5C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45" y="4401207"/>
            <a:ext cx="1332186" cy="473951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1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1175CC1-E739-457D-9CE1-925542CC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7392" y="4446040"/>
            <a:ext cx="1204091" cy="384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Процес A</a:t>
            </a:r>
          </a:p>
        </p:txBody>
      </p:sp>
      <p:sp>
        <p:nvSpPr>
          <p:cNvPr id="11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2CC812F1-3D46-4066-9554-D493E419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19" y="4401207"/>
            <a:ext cx="1332186" cy="473951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12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7D98BCFE-9EA2-4497-A521-2B079D65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766" y="4446040"/>
            <a:ext cx="1204091" cy="384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Процес B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83A99-E302-40C0-ADB2-6346AA39BBBC}"/>
              </a:ext>
            </a:extLst>
          </p:cNvPr>
          <p:cNvCxnSpPr/>
          <p:nvPr/>
        </p:nvCxnSpPr>
        <p:spPr>
          <a:xfrm xmlns:a="http://schemas.openxmlformats.org/drawingml/2006/main" rot="-5400000">
            <a:off x="9335650" y="2947331"/>
            <a:ext cx="473951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0A5CA8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241F5-F334-47E4-8C87-EF90F0E1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381343" y="4234684"/>
            <a:ext cx="256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0A5C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5C368-5598-4B8E-8F40-E3D51311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9438" y="4106589"/>
            <a:ext cx="717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0A5CA8"/>
            </a:solidFill>
            <a:prstDash val="solid"/>
          </a:ln>
        </p:spPr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5DF54-E72E-45FE-9FBE-8607E1CDD9E3}"/>
              </a:ext>
            </a:extLst>
          </p:cNvPr>
          <p:cNvCxnSpPr/>
          <p:nvPr/>
        </p:nvCxnSpPr>
        <p:spPr>
          <a:xfrm xmlns:a="http://schemas.openxmlformats.org/drawingml/2006/main" rot="-5400000">
            <a:off x="9079460" y="3959280"/>
            <a:ext cx="294618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0A5CA8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93E39-9F27-42EB-8DEB-834039D6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507717" y="4234684"/>
            <a:ext cx="256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E07B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0C4D4-56B1-4C01-9AAE-D171B2AE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918481" y="4106589"/>
            <a:ext cx="7173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214">
            <a:solidFill>
              <a:srgbClr val="E07B1F"/>
            </a:solidFill>
            <a:prstDash val="solid"/>
          </a:ln>
        </p:spPr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36C2A-83ED-4BC0-B796-C855026DA275}"/>
              </a:ext>
            </a:extLst>
          </p:cNvPr>
          <p:cNvCxnSpPr/>
          <p:nvPr/>
        </p:nvCxnSpPr>
        <p:spPr>
          <a:xfrm xmlns:a="http://schemas.openxmlformats.org/drawingml/2006/main" rot="-5400000">
            <a:off x="9771172" y="3959280"/>
            <a:ext cx="294618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E07B1F"/>
            </a:solidFill>
            <a:prstDash val="solid"/>
            <a:tailEnd type="triangle" w="sm" len="sm"/>
          </a:ln>
        </p:spPr>
      </p:cxnSp>
      <p:sp>
        <p:nvSpPr>
          <p:cNvPr id="20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7B59827F-083F-451E-9E14-3C828B54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384" y="4010518"/>
            <a:ext cx="230571" cy="192142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9EE26-511B-4275-A7CD-39D4EBCC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344035" y="4119398"/>
            <a:ext cx="1992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619">
            <a:solidFill>
              <a:srgbClr val="E07B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55870-33A5-48C9-B014-F8A6CF0D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0344035" y="4119398"/>
            <a:ext cx="1992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619">
            <a:solidFill>
              <a:srgbClr val="E07B1F"/>
            </a:solidFill>
            <a:prstDash val="solid"/>
          </a:ln>
        </p:spPr>
      </p:sp>
      <p:sp>
        <p:nvSpPr>
          <p:cNvPr id="23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991E5073-44E3-41AA-AC4E-A3B6F76B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5338" y="3818375"/>
            <a:ext cx="1319377" cy="24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1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1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pPr>
            <a:r>
              <a:rPr sz="1311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rPr>
              <a:t>Timeout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3AEF4-80BE-4ACF-936B-EADCD8C0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5781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0D4C5-FB86-4E7A-9AF8-E1B85ACB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9525000" cy="268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4C1BB-CCFD-4ACE-82B3-B27578D1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29350"/>
            <a:ext cx="9525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1800516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73786-E962-4BB5-BB9D-DBB391A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D248F-20CF-4E36-AF8A-9F1B484C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ПРОВЕРА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6DF3AE-118B-4F77-A868-FE3B43FC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11540-BE9F-4601-9DFC-493828E1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643E7-1C00-4BFB-B8B8-62A303CA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3AE69-1607-41B7-BABC-086E52F0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970A8-B142-4895-95C0-F3C102E5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BFB81-26B7-4970-BCF3-36B66B69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одговорности компоненти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конкретан failure сценарио.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4A4DB-DD80-4EFA-B62D-C94DD701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BF2FF-B2C8-4BFB-90E2-341D8E96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9DA36-0F9C-44D1-A32C-F2EA1A5D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FCA6A-3B60-431E-AE5A-A0614A07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CDC34-805C-43A1-886B-EAB7FD7D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15B4F-1414-499A-9A1F-22A00E83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162425"/>
            <a:ext cx="2185988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повезују компоненте система.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87F12-6FDD-4929-A84C-E4B10CB4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11–13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891B0-2856-4E13-B27F-7036549A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E94E8-D4D6-41A8-AF3A-F7574FB0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299D4-C88F-4D3B-B3C5-92173A5B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C292A9-7C8D-45C4-AC7D-CFDA5401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тестови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0FC10-BAD1-412E-B2AB-8AAFB6A0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доменско правило, тест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видљиви исходи.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0BE3C-AFDF-43BF-92C8-74BFC962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14–20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FC5B6-810D-4EA6-947D-80DAEF9C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D7C29-4C90-42A0-9F8C-46471FAB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124E8-B809-4154-BA14-71D22D46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B463E-D8CF-4FD2-9ECC-EED8AED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70ADD-BAF7-4F40-993F-AFFD8C54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и примена на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пројектну целину.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FCC72-5884-4300-8B54-177DC8E1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21–28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5D9A3-A850-4E0F-9B7E-350592AB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A3D209-35D6-43D1-876E-B1D592D9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5E416C4-1B9B-49FA-B0D1-24198E91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70752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2E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31504-2B89-4DBA-833C-21A9E75C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C6141-6A1E-4BB5-BD39-8B97B4EF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16E8B-8CFF-436A-8936-2B59C8D8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9890F-5487-47E6-B57B-844E7B74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 одговорности компоненти и конкретан failure сценарио.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6D2EC-B709-4373-93B2-9B8BADD7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86DAB-0121-42BC-AB06-B884CA4A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67A293E-4EE7-401D-A2A5-0B1C38FE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456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51712-133A-48E3-8567-B3796682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AAF8E-5E19-440E-8D7C-F5359C92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337E9A-1399-4A07-8712-067C2106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Тема и проблем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82E96D0-A94D-4F9E-86A5-CD86DF51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Разумети како време, мрежа и више процеса мењају начин на који систем доноси одлуке.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D2BDB-FCE8-494E-B5D5-C2523E83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Компоненте не виде исто стање у истом тренутку. Веза може нестати,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одговор закаснити, а процес се може поново појавити.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F6E56339-FC96-4E1F-B155-A09FB710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97536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2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426AA1C9-1F31-4589-B73A-3FD009F7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975360"/>
          </a:xfrm>
          <a:custGeom xmlns:a="http://schemas.openxmlformats.org/drawingml/2006/main">
            <a:pathLst>
              <a:path w="76200" h="97536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899160"/>
                </a:lnTo>
                <a:cubicBezTo>
                  <a:pt x="0" y="941261"/>
                  <a:pt x="34100" y="975360"/>
                  <a:pt x="76200" y="975360"/>
                </a:cubicBezTo>
                <a:lnTo>
                  <a:pt x="76200" y="937260"/>
                </a:lnTo>
                <a:cubicBezTo>
                  <a:pt x="55150" y="937260"/>
                  <a:pt x="38100" y="920210"/>
                  <a:pt x="38100" y="89916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9E100-B9C0-4DCA-83A5-32D0EACC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DC05D-0043-4ABD-85BE-B5AF1AF9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50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Јасно власништво над стањем и операцијом спречава сукоб више инстанци и даје смисао статусима које систем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приказује.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038D3-8BE4-44ED-94E7-25A0FC49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EA2AA-E371-443F-A4EF-E7B390D9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A52D1EC-1D49-4C68-91BF-8552627C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0087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813BE-576E-4D33-8425-22377A17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95591-202C-4109-9010-EF74F3E4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06CD3F-500C-4446-9CD1-E0292C40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Четири појма теме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261FA4EC-FABA-45BF-A5B7-2B021784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Дистрибуирани систем није обична апликација распоређена на више процеса.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C3A53-544D-4700-B756-F1C77E84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154D8-1DC7-4B23-BD7B-710F2828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0019F-2596-4DCC-8627-47ADA427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Пословни ентитет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0A61D-28BE-49FC-9300-764498C3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стабилан кроз време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0F435-C68B-4CDE-8CE4-0E84F28E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F7164-DFF3-4926-88F3-C8151F37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A6782-1A33-407D-9471-838DBC51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Чвор или процес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7D83A-DA75-4D90-BD73-2FAF7544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привремена извршна инстанца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3BA40-5638-45D9-BB92-AC5C1DD6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61431-DB1D-411F-82AD-E40AE8CF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8F428-D8A3-4E36-BFCB-622D7A3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Веза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D9067-0C88-4E1B-A9A5-B9424FB6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може каснити или нестати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70A37-13FD-442A-B226-98F132FE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8C58B-615C-4DEF-9366-FA1F6D07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B2A3F-C4DE-43CE-BF49-195577E1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Власништво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F8A8A-858C-4E4B-A66C-C334C2D2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јасна надлежност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A100E-24E8-4460-98A5-97380224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B2214-326F-413C-B0F0-062C6129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CB260E-4576-48D4-A8C6-A16B4445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0266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FF77C-27A3-4904-A551-379309A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D6AC7-6366-4DB0-95C0-1AA07B9A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10121F-9E21-4884-8881-2B394D33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Пословни ентитет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0288D44-05AC-4E32-8C8A-939A66E9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Пословни ентитет, попут налога или уређаја, остаје исти и када се процеси рестартују. Његов идентитет не сме зависити од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једне извршне инстанце.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470B4-D662-4A4F-83CA-F4251DB7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9A60D-B7A7-4B63-B433-553A269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2AE49-CFEA-4A4A-B921-453CBB5D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Идентитет не зависи од једне извршне инстанце.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29B5D-9024-4B8F-A521-5EA49950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05CD3-DDCC-4954-AED9-DB50338F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DA5AD-3FE9-456F-B875-98F0FD27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Преживљава рестарт процеса који га обрађује.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148CD-A5F5-4D3F-A1BD-377DA9E8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0E57F-9727-4435-91A3-B98DB1D8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E985A-8414-4EF5-8059-BF2EA8BC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Пример: мисија или станица, не worker који је тренутно опслужује.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B188B-975D-4509-84E2-4CD85AF0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55970-7E3C-48E3-A13D-210A127F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41B2EE9-4776-4AD2-BCCE-B30BB575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46938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AB9A2-F8CE-4386-8428-B25C700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C8A05-FBC0-499B-B4A2-ACE4CED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5CB8E1-BC6C-4D8D-8394-8EC8E7FF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Процес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00EB6DC0-E38D-4DC2-8FAA-927A3099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Процес је привремени извршилац који може нестати и поново се појавити. Зато његово локално стање није аутоматски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извор истине за цео систем.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3F0E7-CDB1-4E89-864D-5365429E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8E8E6-571B-4C0F-B26E-54D25F31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277F8-4269-4221-ABF4-C3C734CF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Привремени извршилац, не извор истине.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6565B-6C20-437B-9FA8-4CC7D52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0F312-F2ED-4DD2-BBDB-0DF2E199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02F97-CB3C-4C8B-91F6-9695110E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Може нестати и поново се појавити.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DCCC6-BD94-4F2D-A9F0-B292B73D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AE2CB-2F98-4E60-B3AF-E8D326EB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2CA72-49F3-43DC-A312-C7ADCC74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Локално стање процеса није глобално стање система.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432C6-A356-4CA2-B5F3-B65D49AE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51C6C-9F90-4061-BEEF-FB61A554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FBE14B6-E30C-4C89-BAD8-8C65D570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6035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15E47-51C2-454E-9FAB-10816A86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15B2C-C847-430E-9A66-A83B80FB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88D5D4-BBE6-4A7E-8C8F-0669121E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Мрежна веза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8AE507AC-33BC-4517-BF0B-9FA2345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Мрежна веза може каснити, прекинути се или вратити без јасне границе када се то десило. Систем мора рачунати на ту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неизвесност.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8D117-2111-4A5A-9470-36350E6F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BBAA3-3808-4859-A749-7DC74921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3422B-FAD3-4576-A242-951B5166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Кашњење и прекид су очекивано понашање, не изузетак.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E1C30-07B5-49F4-AC5E-B09D79C3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03082-A184-43FB-9F76-8C8402F7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7031E-A316-47CB-9CE4-E89D851E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Нема јасне границе када се прекид тачно десио.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5D00E-9E2C-4A70-AB23-425B7E75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706A8-2696-4733-80A7-9FAAD474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7DE88-4464-4555-896F-3A298BB1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 мора дизајнирати око те неизвесности.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EB464-98D9-4512-9035-AC2FEDB4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AC45C-C99B-4766-8F55-DE3AF500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E57238B-9F39-481A-B2F2-9CECA62D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4491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9E84E-7E2F-47F8-A9AE-833A247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04F41-A37F-4864-9D8A-DF0284CD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B32BAE-9360-4A4F-BD9A-D049B5B8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Власништво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7BAA40C-FD4C-47BA-92D5-B2E92E68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Власништво одређује која компонента има право да донесе важећу одлуку о стању. Без њега две инстанце лако направе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сукобљене измене.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90019-27BF-4034-A0EB-7F9A856A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CC0E5-5041-4FB4-8EC1-7D4D4B37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72C76-C3D5-4C8F-8133-E8DD11B7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Одређује ко сме да донесе важећу одлуку о стању.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B3D34-D58A-40AB-BD14-1495AD66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3CD6F-0400-4AE6-A05A-EAAFCBA6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55627-7AD7-4964-A1E4-B8EC6979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Спречава да две инстанце сукобљено мењају исто стање.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64238-57A2-409F-9C87-80646F54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4E093-463F-4BAC-BE40-9F9B12BF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D0040-EF2A-4660-9D47-ECE06429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Мора бити експлицитно, не претпостављено.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40C36-6789-4C7B-9EE6-778EEA51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A3ABE-B665-485A-999A-CFA18018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177C8E3-161C-4873-8401-89520B6D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37545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289E1-BF37-4E0F-9755-96147514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2AE8E-7733-4DB2-887D-2E73FCBC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05FA31-2587-429C-8EAC-9937104A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Пример: прекид везе није нестанак стања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01189594-2675-4FB3-BB17-99D4D7B6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Централна компонента престаје да прима heartbeat од удаљеног чвора.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3C545-71EB-4669-AE54-20DDAD6B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A0DB2-E0C5-4B61-83F0-6B7D691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992AA-DEFD-4FC9-A4F4-9B66B738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Статус треба да изрази последње поуздано сазнање система.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1A0A9-F486-4C2A-946D-740780F1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65EEE-EC11-4A1C-B358-EF76D1ED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FF4F0-CF03-4BC8-9032-F7376F65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Поновно повезивање не сме аутоматски значити да је настала нова пословна инстанца.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53A38-6A67-4996-8226-82EB76FE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EE3AD-EA85-4DA5-A1C9-0E1CF0E5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496AF-0225-4D09-995F-5E980B39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 власништва над радом мора имати правило које спречава стари чвор да настави са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радом.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7CB3D-9A2A-4E1C-804A-01610AB1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ED629-6FB8-42AC-817B-C6059DE9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A2A3717-87E2-4C98-AAA9-CB75CDFC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60062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2E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E772B-4E23-47AB-80B3-6550253D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3BD3E-90E9-4DE3-BEA3-515B12CB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1C0C7-70EA-4BBD-9126-742EC5B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A6684-6E33-40BD-9EA6-235E7FE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 повезују компоненте система.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A8B86-0C6A-40D3-8BED-743C7381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C9FB3-2636-4E85-B32F-74D555AB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78B59A8-BD9E-4B24-9BA5-FD89D4D2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10320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EB17C-692B-4049-BA1F-A16BB1BD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A4B7E-1B83-4E4F-A588-7EF38220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 · ТОК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31EA21-5F9F-44D0-81BE-636E595D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Шема ауторитета и неизвесности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005D1FE-75F0-479B-A7F5-72A79570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Процес и веза могу нестати, али пословно стање захтева јасан и стабилан ауторитет.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846DF-9050-400D-AAAC-73527B5202DC}"/>
              </a:ext>
            </a:extLst>
          </p:cNvPr>
          <p:cNvGraphicFramePr/>
          <p:nvPr/>
        </p:nvGraphicFramePr>
        <p:xfrm>
          <a:off xmlns:a="http://schemas.openxmlformats.org/drawingml/2006/main" x="809625" y="2333625"/>
          <a:ext xmlns:a="http://schemas.openxmlformats.org/drawingml/2006/main" cx="105727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429500"/>
              </a:tblGrid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Елемент</a:t>
                      </a:r>
                    </a:p>
                  </a:txBody>
                  <a:tcPr marL="91440" marR="91440" marT="45720" marB="45720" anchor="ctr">
                    <a:solidFill>
                      <a:srgbClr val="E2EAEE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Улога у току</a:t>
                      </a:r>
                    </a:p>
                  </a:txBody>
                  <a:tcPr marL="91440" marR="91440" marT="45720" marB="45720" anchor="ctr">
                    <a:solidFill>
                      <a:srgbClr val="E2EAEE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Пословно стање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стабилна чињеница система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Ауторитет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компонента која одлучује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Мрежа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потврда може каснити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Видљив статус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оно што систем поуздано зна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A1F69-31DB-42D9-A220-6E55C25B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3DE57-B689-4125-8318-A30CC622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3EB5600-FAA7-4753-8960-4A64A246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50510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BDC6B-1A26-4743-9ABF-9A739230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B3532-264A-4D7A-9872-80C9C323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 · ДИЈАГРАМ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1A1753-6998-4B5F-9024-2EFC7D63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Тишина мења процену, а не идентитет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3E40FD5-B2FD-453E-8DF6-B2DC9D6D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из кода: прагови су 30 s и 90 s, док исти чвор остаје познат систему.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3D599-5194-4CFD-A9C4-5731CB0E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3077766"/>
            <a:ext cx="790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DE8F3"/>
            </a:solidFill>
            <a:prstDash val="solid"/>
          </a:ln>
        </p:spPr>
      </p:sp>
      <p:sp>
        <p:nvSpPr>
          <p:cNvPr id="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3E7F4908-AE02-4016-8006-EC04E95B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469" y="2922984"/>
            <a:ext cx="309563" cy="3095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CA8"/>
          </a:solidFill>
          <a:ln xmlns:a="http://schemas.openxmlformats.org/drawingml/2006/main" w="11906">
            <a:solidFill>
              <a:srgbClr val="0A5CA8"/>
            </a:solidFill>
            <a:prstDash val="solid"/>
          </a:ln>
        </p:spPr>
      </p:sp>
      <p:sp>
        <p:nvSpPr>
          <p:cNvPr id="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3A63BB2-53B8-4D47-8CCA-73DE46E8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9" y="3405188"/>
            <a:ext cx="2024063" cy="297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1">
                <a:solidFill>
                  <a:srgbClr val="0A5CA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688" b="1">
                <a:solidFill>
                  <a:srgbClr val="0A5CA8"/>
                </a:solidFill>
                <a:latin typeface="IBM Plex Sans"/>
                <a:ea typeface="IBM Plex Sans"/>
                <a:cs typeface="IBM Plex Sans"/>
              </a:defRPr>
            </a:pPr>
            <a:r>
              <a:rPr sz="1688" b="1">
                <a:solidFill>
                  <a:srgbClr val="0A5CA8"/>
                </a:solidFill>
                <a:latin typeface="IBM Plex Sans"/>
                <a:ea typeface="IBM Plex Sans"/>
                <a:cs typeface="IBM Plex Sans"/>
              </a:rPr>
              <a:t>Online</a:t>
            </a:r>
          </a:p>
        </p:txBody>
      </p:sp>
      <p:sp>
        <p:nvSpPr>
          <p:cNvPr id="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29A8F5E1-453A-4CA3-BE44-6AB569C7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" y="3786188"/>
            <a:ext cx="273843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3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тишина &lt; 30 s</a:t>
            </a:r>
          </a:p>
        </p:txBody>
      </p:sp>
      <p:sp>
        <p:nvSpPr>
          <p:cNvPr id="9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76EEB810-D5E6-4417-B4B2-ACEEDFBC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844" y="2922984"/>
            <a:ext cx="309563" cy="3095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11906">
            <a:solidFill>
              <a:srgbClr val="E07B1F"/>
            </a:solidFill>
            <a:prstDash val="solid"/>
          </a:ln>
        </p:spPr>
      </p:sp>
      <p:sp>
        <p:nvSpPr>
          <p:cNvPr id="1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6D86F91-BB73-49E1-8FB9-AC9C1234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594" y="3405188"/>
            <a:ext cx="2024063" cy="297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1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688" b="1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pPr>
            <a:r>
              <a:rPr sz="1688" b="1">
                <a:solidFill>
                  <a:srgbClr val="E07B1F"/>
                </a:solidFill>
                <a:latin typeface="IBM Plex Sans"/>
                <a:ea typeface="IBM Plex Sans"/>
                <a:cs typeface="IBM Plex Sans"/>
              </a:rPr>
              <a:t>Suspected</a:t>
            </a:r>
          </a:p>
        </p:txBody>
      </p:sp>
      <p:sp>
        <p:nvSpPr>
          <p:cNvPr id="11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408ACA95-5151-44F9-9302-2A79E77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406" y="3786188"/>
            <a:ext cx="273843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3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30 s ≤ тишина &lt; 90 s</a:t>
            </a:r>
          </a:p>
        </p:txBody>
      </p:sp>
      <p:sp>
        <p:nvSpPr>
          <p:cNvPr id="12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F5D3781B-33CE-44CA-B216-F0684CBA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219" y="2922984"/>
            <a:ext cx="309563" cy="3095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02D"/>
          </a:solidFill>
          <a:ln xmlns:a="http://schemas.openxmlformats.org/drawingml/2006/main" w="11906">
            <a:solidFill>
              <a:srgbClr val="13202D"/>
            </a:solidFill>
            <a:prstDash val="solid"/>
          </a:ln>
        </p:spPr>
      </p:sp>
      <p:sp>
        <p:nvSpPr>
          <p:cNvPr id="13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BB0CC850-542B-4117-A911-4F5DCCF1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2969" y="3405188"/>
            <a:ext cx="2024063" cy="297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688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688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Unreachable</a:t>
            </a:r>
          </a:p>
        </p:txBody>
      </p:sp>
      <p:sp>
        <p:nvSpPr>
          <p:cNvPr id="1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D8459BF-0D9A-4459-A934-0ABB2B98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781" y="3786188"/>
            <a:ext cx="2738438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3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тишина ≥ 90 s</a:t>
            </a:r>
          </a:p>
        </p:txBody>
      </p:sp>
      <p:sp>
        <p:nvSpPr>
          <p:cNvPr id="1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3C9236B4-9CCD-4201-BBFC-BB7908CB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16969"/>
            <a:ext cx="3690938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19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19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19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ПРОЦЕНА ДОСТУПНОСТИ</a:t>
            </a:r>
          </a:p>
        </p:txBody>
      </p:sp>
      <p:sp>
        <p:nvSpPr>
          <p:cNvPr id="1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A4B2155C-1D9F-4890-9DC3-5A78A665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656" y="4595813"/>
            <a:ext cx="7119938" cy="64293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E8F3"/>
          </a:solidFill>
          <a:ln xmlns:a="http://schemas.openxmlformats.org/drawingml/2006/main" w="17859">
            <a:solidFill>
              <a:srgbClr val="0A5CA8"/>
            </a:solidFill>
            <a:prstDash val="solid"/>
          </a:ln>
        </p:spPr>
      </p:sp>
      <p:sp>
        <p:nvSpPr>
          <p:cNvPr id="1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F931D013-5A77-4454-AED5-9DAFA657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4637484"/>
            <a:ext cx="7000875" cy="559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8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StationNode остаје у регистру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F5289-274A-408A-B0A6-7BEF99F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22859" y="4280297"/>
            <a:ext cx="154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A5C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46EB2-39E6-4C71-91DE-6C9AC1AA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4357688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A5C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E783D-3BBC-4078-BFBC-98AB9428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61422" y="4458891"/>
            <a:ext cx="2024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A5C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BC584-ED12-4546-8CEC-0B7F061A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85234" y="4280297"/>
            <a:ext cx="154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A5C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A479D-6CED-40B0-9448-5B0B1817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61422" y="4458891"/>
            <a:ext cx="2024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A5C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4333B-1E8B-4223-937D-5D63A05D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47609" y="4280297"/>
            <a:ext cx="154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A5C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CE41E-6EC0-4274-B625-35CBF993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762625" y="4357688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A5CA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E3025C-6AA3-409A-B6FB-8E4BF1FE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61422" y="4458891"/>
            <a:ext cx="2024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A5C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15670-94AE-4FE1-AE7C-DEA4FDE8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2ECDA-F9D5-497C-9993-47D54A4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06FB2B-D76A-4769-BC07-3034BBB5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063732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2E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550DD-F949-4FBA-9031-A92F61A5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303C1-7B67-4CCF-BA47-148E3F33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5ED02-8A4D-4AD7-A108-C9912B75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 тестови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A2F4F-4054-40A2-9F13-AD3A5AEC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 доменско правило, тест и видљиви исходи.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68D14-9733-40AC-9819-A38EAD5B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5247A-EB08-42E1-9A8B-A621BA5E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6F370FE-CB84-4C9B-BFA4-A86789BC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469955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27A79-AA47-4C02-BC79-63763393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B9716-268C-4D86-88F3-73F86A2D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451B78-917F-42C6-942D-89CA5148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Покретање примера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181BFFF3-AA47-4BF9-B1D5-6D6F0E3F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раздваја пословни ентитет од процеса који га представља.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130E17B1-2C3A-47BA-A6C7-02EF3962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8296275" cy="1144905"/>
          </a:xfrm>
          <a:prstGeom xmlns:a="http://schemas.openxmlformats.org/drawingml/2006/main" prst="roundRect">
            <a:avLst>
              <a:gd name="adj" fmla="val 831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12D70-03A7-41BF-A237-7BAF0989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93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terminal · Корен Git репозиторијума nastava.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C45F1-9AAA-4C8E-B74C-2329B5CB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93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EA557B3-888B-444E-9FAC-C0349146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6126FB6C-EA9F-4381-8DC0-230EB09A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cd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"03 Osnove Distribuiranog Programiranja/04 Primeri/01 Vlasnistvo neizvesnost"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052FF76-0D1A-483A-8702-56E5D59F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F7025B79-4E10-4A71-BF8D-4CEDEE96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run --project src/Odp.Vezba01.ConsoleUi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0A32AE1-6395-4272-8AF2-93EA5A8C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D735A969-80D7-4A04-8995-0522917A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7505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test Odp.Vezba01.sln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E7828-301E-4B6C-9D0C-67DC1CD1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507D7-45DD-43D9-84C0-B6EE1D54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15495B6-7822-4FE9-8B47-544D987C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730936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42689C-A27E-41F9-A122-872E8BF5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9822C-6396-4502-9A54-5DD98D98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307A3A-593A-4593-A447-C88947DA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у коду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8A817D81-4EDB-47A5-A9A4-B61687EF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Статус зависи само од дужине тишине, разлог тишине систем не зна и не претпоставља.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736D6C5C-BABA-4F05-8AA9-8D92073E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8662035" cy="3065145"/>
          </a:xfrm>
          <a:prstGeom xmlns:a="http://schemas.openxmlformats.org/drawingml/2006/main" prst="roundRect">
            <a:avLst>
              <a:gd name="adj" fmla="val 310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231AB-5123-49B8-A795-19006C09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830008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доменско правило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1B91D-9DEB-44C0-B452-E27F8C6B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83000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B522BE5-27DD-4119-93DD-87686BC4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E7C1B649-8339-4009-A72A-D577CD34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NodeLivenessAssessment Evaluate(StationNode node, DateTimeOffset now)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E6C7D1F-5D21-478A-AB3C-AFF094D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D5E8A393-AD52-41FB-9476-69B74F5E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B5EF01D-4D1C-4F02-B274-3C75DCA0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2213ECB0-B87A-4093-8AAB-8FE41953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ArgumentNullException.ThrowIfNull(node);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D750529-14D2-41B5-B926-88658B86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478B4A33-5A2D-483A-9223-64CF348F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silence = SilenceOf(node, now);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02FB500-0472-4467-B3D5-5F7AFF5E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8F00D43D-43D5-467D-B1C4-7CCACDFE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(silence &lt; _thresholds.SuspectAfter)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9AE8B0A-8D34-4D79-AA9F-09EC7719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0F82F830-E3FE-41A5-9BFC-1ACAAB21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(NodeStatus.Online, NodeLivenessCodes.HeartbeatFresh, silence);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EB22B3B-A33C-4B60-AB5E-146CB3DF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0997BB9E-83E8-480E-8C15-082AD556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(silence &lt; _thresholds.UnreachableAfter)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B968C2A-DA3E-45E7-9090-21A23FDB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F6AF1263-AD94-4168-90BB-9D6BE34C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(NodeStatus.Suspected, NodeLivenessCodes.HeartbeatLate, silence);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98C466B-8577-480F-893A-A4325986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6DF85A5E-11F3-4515-94AF-9B1550D4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(NodeStatus.Unreachable, NodeLivenessCodes.HeartbeatMissing, silence);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41BD5EC-C56A-4B59-8640-F24C3DC5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AD8EE217-3A88-4BFF-9831-6EF93B30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81BDA65-F6C6-45F7-B0F7-93536FB3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6B540099-7958-40E3-8EB7-80185788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private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static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TimeSpan SilenceOf(StationNode node, DateTimeOffset now) =&gt;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3AD1947-9C5E-4D7F-A099-C3741F5B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B13A0285-8ECD-4D5B-969D-06776CE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78714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now &gt; node.LastHeartbeatAt ? now - node.LastHeartbeatAt : TimeSpan.Zero;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ACEC91-BA42-4882-90E1-FF37C31E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77750-F4F2-4294-A0E4-88BE7E1A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0F3F5F2-3794-4EA4-9B3A-14B5E67F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189694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234571-991B-4C33-93DE-72E989EA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503F6-BE0D-4F25-A216-67709C21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8FF9A6-9382-443C-9415-CC2109FD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који задаје квар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2BBC235-E2AE-43F3-92D8-9844A577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Чвор који је Unreachable остаје у регистру: нестанак процеса није нестанак ентитета.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8172E5FF-E87B-4445-A344-F68A287F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9942195" cy="3491865"/>
          </a:xfrm>
          <a:prstGeom xmlns:a="http://schemas.openxmlformats.org/drawingml/2006/main" prst="roundRect">
            <a:avLst>
              <a:gd name="adj" fmla="val 272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6D117-6AB7-4A80-A46D-36B6C682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58024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45ECD-3065-4472-BFCC-ECA57273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5802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1DE1A65-A2A3-42B2-8177-230CC65B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1BE9174F-C902-4CA1-8A54-E104B5C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D27ABB9-6B3A-4981-8DA0-CAC1AC3A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A6CBC73F-C973-483F-9713-540A2A54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void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Assess_WhenNodeStaysSilent_ReportsItUnreachableButKeepsItRegistered()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183BA8A-2D61-4544-9D8F-DED1EFDD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87C28E4B-9844-4864-AFDB-3EDC022C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808DB3A-BC9A-4609-B4E5-5E97C378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0B64A403-70CC-498B-B3D4-46DACFB1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clock =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ManualClock(Start);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71A198D-0A27-40F9-B2D2-F7FBFAB9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61E11D69-6A67-4440-9A94-7CD63FEF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registry =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InMemoryNodeRegistry([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StationNode(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"node-ns-1"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"GS-NOVI-SAD"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Start)]);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C46CF46-0308-4FBC-ABA0-7D65D33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560CB4F5-DFAD-4AAB-BF03-128FB7F7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handler =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MonitorNodesHandler(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31EDAF8-0FA0-40A3-9810-7D16C1DB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4EB70D9C-0F0A-42DD-A49A-A3DDB6B9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registry,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C7897B1-39C8-4AE7-8EA5-BCB5D744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FDEE7026-DDC1-4483-A14F-A74F3C7C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NodeLivenessPolicy(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LivenessThresholds(TimeSpan.FromSeconds(30),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38D04CC-65FE-4D9E-9525-5658ECA0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AB78056E-0D7C-45E9-8675-4D38A284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TimeSpan.FromSeconds(90))),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01FB0E4-889A-4922-8719-0DABF06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AB5CF10D-43DF-4551-BE4A-7738638A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clock);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0B9ADB5-C571-420E-AD83-927229B7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4158E1E8-2A2E-4DC7-9931-98602BEB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clock.Advance(TimeSpan.FromMinutes(10));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C41B39C-F7B7-4EDD-916A-A1CD98D4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CD9796E0-434F-4CAC-A9A5-CF270ED8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view = handler.Assess().Single();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D085B2E-39C7-429C-9989-C25E327B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96981B68-ED74-46E6-B2D5-F15E2211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using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(Assert.EnterMultipleScope())</a:t>
            </a:r>
          </a:p>
        </p:txBody>
      </p:sp>
      <p:sp>
        <p:nvSpPr>
          <p:cNvPr id="3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F1FFBD4-2C66-48EB-8B96-8C4B1F0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45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35" name="code-line">
            <a:extLst xmlns:a="http://schemas.openxmlformats.org/drawingml/2006/main">
              <a:ext uri="{FF2B5EF4-FFF2-40B4-BE49-F238E27FC236}">
                <a16:creationId xmlns:a16="http://schemas.microsoft.com/office/drawing/2014/main" id="{58E3E6C4-E973-4AB8-B4EE-B9A41EB7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450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{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0F1C24-5FCE-4C2D-90A3-C708EE3D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9DAD0C-CFEB-4765-92E2-809CA329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940DB51-560B-40DB-B6FB-23E579EF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224686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AD122-03E3-4569-8710-1A31828A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920BF-5023-46A1-85C9-E6303A3D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95E56C-91D0-422C-9931-03F3F847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који задаје квар (наставак)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38D4ADC-8538-40FB-BBC3-37724E43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Чвор који је Unreachable остаје у регистру: нестанак процеса није нестанак ентитета.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EF9A74B4-09CC-4A66-9B0F-E6F1F2D6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9027795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E2296-B3FF-43DD-AEDF-DF5966B6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866584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18E48-3D78-4E69-B869-2279E358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86658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08DD53F-EC1D-462A-8EA8-D717A970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66BD463F-6B90-4B94-9046-D0FA36B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82372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Assert.That(view.Liveness.Status, Is.EqualTo(NodeStatus.Unreachable));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AC7F845-3F4C-4F16-9AFD-15217545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63AFD08B-D28D-4AAE-A749-7C784F16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82372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Assert.That(view.Liveness.Code, Is.EqualTo(NodeLivenessCodes.HeartbeatMissing));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A8A0C8D-BE29-4CB4-A827-E342A244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3193ACC0-A0BD-4B4C-B732-C601BD6D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82372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Assert.That(registry.Find(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"node-ns-1"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), Is.Not.Null);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1E87265-0537-44D6-B57E-8D2EFCE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4B4A1908-2166-4913-97CC-A30F7BEE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82372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}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F4C7874-D0E1-43BE-BE07-BDB7FFC2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657292CA-8A0A-48F9-B3D1-90824410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82372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E6350-61BA-49D4-826C-C4E12286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7613F-341E-4CC6-A22B-F929AB78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7D881B6-4AA6-4E33-A1FA-EEC2D6A5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303279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B4422E-9D9F-4249-8455-3BDBF238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38661-806D-435F-BF61-A4404DFA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F60269-62B9-43F1-91EC-A4855FD7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Испис демонстрације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D61FBE93-EFDE-4CE7-840C-CCAA929A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Закаснели heartbeat добија код heartbeat_out_of_order и не враћа познато стање уназад.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4347832B-B63E-4418-99BD-84A7F95B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564755" cy="3278505"/>
          </a:xfrm>
          <a:prstGeom xmlns:a="http://schemas.openxmlformats.org/drawingml/2006/main" prst="roundRect">
            <a:avLst>
              <a:gd name="adj" fmla="val 290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45EED-ED74-4DC1-BDBF-218A5CCB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20280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console · исходи демонстрације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1D23D-4A15-46B6-A5C2-45C8B1E8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2028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1FF5A41-C69E-4686-964E-0BCD8E16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125046C6-9B04-4E6D-BC86-1D005F35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POČETAK [09:00:00]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6EFF20E-AC50-4DA1-8E0D-64A3E34C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F8E9139F-5368-4A24-B394-F727EB2A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node-bg-1 (GS-BEOGRAD): Online | heartbeat_fresh | tišina 0 s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60E3180-55CE-43F8-971C-EEBA2CB4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FE9EA841-AC88-4A3E-958D-7E65D219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node-ns-1 (GS-NOVI-SAD): Online | heartbeat_fresh | tišina 0 s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60ED318-FF34-4298-AB57-351319AB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B51CAAE4-E765-495B-9ED3-D6E1548B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heartbeat node-ns-1 poslat u 09:00:45 -&gt; heartbeat_accepted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0A78290-6E37-46CC-B67F-CAE7FAB6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0E07D7B9-8CEF-4EA4-9705-42F2FB1C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POSLE 45 s (javio se samo node-ns-1) [09:00:45]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3650E50-C68E-4942-AF0B-36DAB42E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C716D7FE-8607-4F6A-A04E-0E9194D2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node-bg-1 (GS-BEOGRAD): Suspected | heartbeat_late | tišina 45 s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8AD1DE3-A3B3-4E51-8C21-80A8E6A1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467FD99E-A65F-4763-8836-94801983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node-ns-1 (GS-NOVI-SAD): Online | heartbeat_fresh | tišina 0 s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E20AE0D-2F9C-4DA4-B273-C287852D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92C3ACC9-5B45-4011-B5BB-5E111AFD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POSLE 105 s [09:01:45]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1F95705-C33A-4D8B-A6CB-E2AE0A5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65B46583-B655-4D50-9603-3409DBB4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node-bg-1 (GS-BEOGRAD): Unreachable | heartbeat_missing | tišina 105 s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F864AE4-84FA-45C6-B5B0-966A7914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81EC2550-2A6C-40DF-8C23-EC0F135D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node-ns-1 (GS-NOVI-SAD): Suspected | heartbeat_late | tišina 60 s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89D39DC-5F0C-4D85-BD44-5EA8B3EA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A0A37828-0FB8-442C-A71F-BFA1EE78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heartbeat node-ns-1 poslat u 09:00:20 -&gt; heartbeat_out_of_order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9499093-32A2-481A-94F5-16449728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A24BA4E0-0A42-431F-B0C9-FFD0CA70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STIGAO ZAKASNELI HEARTBEAT ZA node-ns-1 [09:01:45]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5A5165F-E449-4DF1-BE62-6A6C41CA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710A9F21-A7E8-4A01-ADDB-356D5976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node-bg-1 (GS-BEOGRAD): Unreachable | heartbeat_missing | tišina 105 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63FA69-1CF2-47E4-9FF7-BA0D7582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1235DC-6C1D-4AD1-97E1-3760FD36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BEAF910-FA6E-489E-BC1D-D633F6BB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354798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15071-1FFF-4EAF-903F-77BE8615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1AA9C-0732-4CCB-A0D9-5915825C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E2079E-0CAE-40AD-A4FF-38F2E635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Испис демонстрације (наставак)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271FAC02-E220-401B-8CF7-AB012168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Закаснели heartbeat добија код heartbeat_out_of_order и не враћа познато стање уназад.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D087589F-3B81-44C3-BF16-4BB08D42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14375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62D1B-8709-40EA-B3F0-431A053F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console · исходи демонстрације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43AD5-AB3B-4978-8078-F7CF07FB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B0F5D9D-CAA9-4D48-849C-BEC92C4A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ECC015E3-854F-421F-BC33-3A81D977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node-ns-1 (GS-NOVI-SAD): Suspected | heartbeat_late | tišina 60 s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7AD7374-9139-479C-A1D8-4D81A4E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19DA3940-2BE0-4EB5-B518-2F779B4E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heartbeat node-bg-1 poslat u 09:01:45 -&gt; heartbeat_accepted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5A77D99-7C10-4CA4-8100-248E05C9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77F47210-C95B-43A7-ACD3-2E8DA729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node-bg-1 SE PONOVO JAVIO [09:01:45]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49A347B-B684-4BBB-8325-E87648C4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31B1C030-0CB9-4164-8B25-3520B3A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node-bg-1 (GS-BEOGRAD): Online | heartbeat_fresh | tišina 0 s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5D00BB7-873C-4111-A831-FF400D80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5512A9F9-FDB4-4927-A4F7-31A956BF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node-ns-1 (GS-NOVI-SAD): Suspected | heartbeat_late | tišina 60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7E0A3-496C-42E2-8ED6-2A0A46DF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CABF8-45D8-4891-B276-D67FC393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97491B3-26F7-4995-8305-F215D910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198349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E2E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4F63E-E6C7-4C31-9073-89928B27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1409C-CA93-4429-A767-399E1B41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26318-E625-4D0B-837F-27485153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695C7-C838-4744-8D12-59153193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 пример и примена на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F7535-0C97-41AB-8EED-8F975F0E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3BF57-BDE9-49A9-89FC-0F4A159F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4B12F91-8650-42BB-9FF9-97FBA18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955481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C7C37-797A-46BE-869E-379B2033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DB565-2BDF-4DEA-AC3E-DA4538E9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4862DA-4BE4-4EEA-BCE0-D45C1760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Принципи и замке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DF625390-9CFC-4DFE-BCC8-690171CB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901B4-F0BD-4632-BD93-D968AFA2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274701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98B56-62F2-4A44-9558-140E8BA7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ПРИНЦИПИ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407C5-76CF-47B9-A940-8D795518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3DD94-66F1-475A-A827-DCAECC35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4322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Процес, мрежна веза и пословни ентитет нису иста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ствар.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0F26E-9CD7-45A7-9F8D-764BF15D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271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FE8C0-5BDA-4CB4-9CB8-78FB9DF5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66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Timeout значи да одговор није стигао на време, не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да се операција сигурно није десила.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BCCFF-8A86-47B9-91D7-6A901539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2056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4E239-5ACA-42EA-876E-628554E0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3006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Статус треба да изрази оно што систем зна, а не оно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што претпоставља.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26115-A8F8-4E51-A534-CC66B3F7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2244090"/>
          </a:xfrm>
          <a:prstGeom xmlns:a="http://schemas.openxmlformats.org/drawingml/2006/main" prst="roundRect">
            <a:avLst>
              <a:gd name="adj" fmla="val 424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ED816-358F-4C6B-AEF5-DF615744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ЗАМКЕ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193FC-9638-4B36-BA50-5B33CEB2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7FE93-2BA8-41C9-8AE8-938D7C0B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43225"/>
            <a:ext cx="45529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Изједначавање прекида везе са трајним кваром.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EB7FF-FC28-4A9F-8952-E5595578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7568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06C77-7AC8-489E-8633-F83672C1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85185"/>
            <a:ext cx="45529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Две инстанце које без правила мењају исто стање.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69CB0-07B6-44D8-BC36-6492DF0B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76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8356D-2731-41C3-8174-3DF1CC0B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271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Пословно правило скривено у комуникационом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детаљу.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C77B4-3E9C-4B2A-88DB-DECF906D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2C8E2-1AFB-4F10-9932-07BB1C2F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92BBD65-F727-4FE8-BEA4-ABD69E17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093542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1EB9F-3F39-48CB-9149-BB19A15B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58B80-3D22-4F75-9BB1-3C9E6373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4B0C14-5912-41C7-9EA4-9E0D2FF1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Типичне грешке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473426A-B097-47CB-B094-846B72C0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0A645-B531-47F0-827B-DEFAE3F6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CBC2D-B000-402D-88B2-0F47E6B8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CFD70-1A2A-4CB6-ADB5-7C874054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Прекид везе се тумачи као трајни квар.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6EAF2-4E02-43D2-9A85-7F9DCB61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93D02-D30F-4020-8A58-03C31596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E623C-7C24-4F9D-AB0D-40B110C9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Две инстанце мењају исто стање без правила.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A7754-A1C7-409A-B775-1856D520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9B082-FFEA-47CA-BEB5-C2C270CA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8A166-86FD-4BE3-B31F-172C2C2A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Пословно правило се сакрије у мрежни детаљ.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C0940-446C-4F67-96EB-4D7B0E75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F95F8-7FEA-4780-A85E-FCA49503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B95AAAB-E053-4EA2-B257-1E5BE3BB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66246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63D77-7404-4B3D-A4A9-ED113E42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4BCD9-B330-41F0-97FC-CF41E4B7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21933C-06D6-45B5-A4A2-A393BBA0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се принцип примењује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DF49FE57-DD5C-4F27-8FC6-6AC54581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EE5BF-1E4C-4DF0-9F7D-F2B959A8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3134C-9B0B-453C-B8D8-32149758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65A25-11B7-4502-8FA3-D4BBE552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Описати ауторитет за важно стање.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73D2E-567B-489C-BEE8-1D8B878A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7AD5C-4085-4157-8CC0-7DBD2778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A7E72-6034-4418-BFD4-DABFEFD2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Разликовати оно што систем зна од онога што претпоставља.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57BAC-25B8-4097-BAE9-584B6B04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5C037-7DCE-4515-B188-4F899536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F5A4D-5268-4100-9962-E6A87104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Тестирати привремени прекид као очекиван сценарио.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DFCF2-FD52-4DB2-A016-B3052F3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B8E22-5D02-45B0-B7D7-FBFFEAF8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ABCFFAB-066C-497A-A0B7-24917DE1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112707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C5D9A-D09B-4819-92E9-988E18FB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8D4D9-2C3B-4349-82F7-FAB76272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938A27-0E5F-4308-87B1-655BCE16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Питање за дискусију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DF90B125-A3F6-430A-A7E3-3B05376D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EE81F-4C33-43D0-9FC6-42795955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Које стање мора имати један јасан ауторитет и шта се види када тај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ауторитет привремено није доступан?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8C7C705F-2462-44FF-851C-0C7266C1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97536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2E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2DF41DEB-0045-49E6-8B5C-7C07F289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975360"/>
          </a:xfrm>
          <a:custGeom xmlns:a="http://schemas.openxmlformats.org/drawingml/2006/main">
            <a:pathLst>
              <a:path w="76200" h="97536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899160"/>
                </a:lnTo>
                <a:cubicBezTo>
                  <a:pt x="0" y="941261"/>
                  <a:pt x="34100" y="975360"/>
                  <a:pt x="76200" y="975360"/>
                </a:cubicBezTo>
                <a:lnTo>
                  <a:pt x="76200" y="937260"/>
                </a:lnTo>
                <a:cubicBezTo>
                  <a:pt x="55150" y="937260"/>
                  <a:pt x="38100" y="920210"/>
                  <a:pt x="38100" y="89916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A943C-C25C-4C02-8495-49617535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ЗА ВЕЖБУ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A6B86-9774-4762-BD8A-9C0F3A47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50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податак или операција мора имати јасан ауторитет и како систем препознаје да је тај ауторитет привремено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недоступан?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10DA7-C94E-40B6-B4D0-76EE93C8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175A6-21A9-4497-B8DD-970B3643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63A4300-7926-486E-9B92-90B5A59B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92048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FC34F-3725-4807-8B76-54FAF52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BB12C-11AF-496C-A499-ABBC77CD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8B152A-E9BF-427B-9D61-4A96AA38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Задатак уз пример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55FC7FA0-361A-478F-820A-02C332AC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Проширење примера уз вежбу, правило иде у домен, а доказ у тест.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A0FE5-31EA-49E6-A831-8694EE32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ABFBF-CF5C-4FB7-8C5E-355AC340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C0663-3741-4A12-902C-2DAE2442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Додати статус Draining за чвор који је најавио планирано гашење.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2920B-E8B3-4AF3-AE01-5AA1EC30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FF8D4-03AF-4196-B885-6D9A9A83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025A7-A287-44BB-BE17-71E63ADC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Такав чвор не сме постати Unreachable док траје најављени период.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38076-BB4E-41CF-BBF5-C794DC1E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36773-9C2D-4910-B541-2052D862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80E2F-B676-41ED-80AA-0EEF7E98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Правило додати у NodeLivenessPolicy, увести нов код и покрити га тестом.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9C118-656B-49A9-80DD-3F9C08E9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F06A6-6609-4ADB-98EE-48B61CC1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F8C17DB-30C0-4166-A2B9-FA7CB724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059895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2628E-2B8D-454F-95FF-791D7D79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C23E2-9CC9-41F5-A662-87E23D09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A13D94-4FCD-4D90-861A-2A9C86A4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на пројекат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13673BE4-9699-43F7-A713-E276990C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са вежбе примењује се на додељену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4B3E0-860E-457F-B4B6-79C01809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1FC60-8D9D-425D-BC8D-D06D0F59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D7846-867C-4915-968A-EBA009B1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Идентификовати конкретну дистрибуирану одлуку у својој целини.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C94CB-96FF-4DA9-889D-3E595EFB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3D742-EE69-43DF-B19D-99E5006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D38D1-A1B6-4DBF-8E8F-92755B52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Имплементирати је са стабилним кодом исхода.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574E4-B741-4CF7-8302-8B90273C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FD1B0-7A00-4C86-AB09-D8253FFE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0A5CA8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B3A2A-27A5-4EC6-9C53-B68DCAB5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Припремити поновљив failure сценарио и тест који га доказује.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8E763-6CEA-49FD-B237-062219A8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A87DA-642C-4FB1-81D3-CB874CC0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BE9D2E0-0A5B-4717-8269-267AC01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206911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5CA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08E5C-7DFC-4985-98A7-34573756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409F7-7DAF-4D14-8DBC-D6347A51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91B3FC-460D-4AB1-9640-44D81F08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Резиме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A37232C6-5C7E-4112-B10B-1BA6163B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Тим најпре описује границе система, одговорност сваке компоненте и стање које је за њу ауторитативно.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B985E-4E2A-49C1-80D9-0083A51B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Процес и веза могу нестати, али пословно стање захтева јасан 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стабилан ауторитет.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8AA2E0F8-8A34-4BB9-B145-527A6DFD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2A71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9D5127DB-78B2-4C36-8569-FACDACCD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B5026-1BEB-42F3-850C-61A524D1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A4E86-7362-4321-B4BF-51231FCE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Наредна вежба: Уговори, симулатори и поновљивост.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D69E8-F3A9-4100-A40D-E4C72EDF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80B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3B9A1-C7A8-431B-A151-F4DFA980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63F13FE-DFFD-4EB5-85E8-D3FFA2D6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933615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2026-10-10T19:17:51.8480000Z</dcterms:created>
  <dcterms:modified xsi:type="dcterms:W3CDTF">2026-10-10T19:17:51.8480000Z</dcterms:modified>
</coreProperties>
</file>