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Ova prezentacija nadovezuje se na prethodnu o SCADA sistemima. Bavi se javno dostupnim podacima koji se koriste u istraživanju bezbednosti industrijskih sistema, postupkom njihove analize, skupovima SWaT i HAI, značajem ovakvih podataka za informacione sisteme i načinom na koji ih primenjujemo u našoj SCADA platformi. Ilustracija prikazuje tri procesne promenljive i interval napada, što je tipičan oblik podataka o kojima govorimo.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Prezentacija prati pet zadatih celina: javno dostupni podaci, analiza podataka, skup SWaT i dodatni skup HAI, bitnost ovakvih podataka u informacionim sistemima i primena stečenog znanja u našoj SCADA platformi.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Istraživanje bezbednosti industrijskih sistema suočava se sa osnovnim problemom: podaci iz stvarnih postrojenja gotovo nikada nisu dostupni, a napadi na stvarne procese ne smeju se izvoditi. Odgovor zajednice su ispitna postrojenja, na kojima se napadi izvode kontrolisano, i javno objavljeni skupovi podataka, koji omogućavaju da se različite metode proveravaju na istim podacima.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Prvi deo: javno dostupni podaci. Definišemo pojam, opisujemo izvore i najpoznatije skupove podataka iz oblasti bezbednosti industrijskih sistema, uslove njihovog korišćenja, kriterijume kvaliteta i ograničenja.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 javno dostupnim podacima podrazumevamo podatke kojima može pristupiti svako, slobodno ili uz prihvatanje objavljenih uslova. U bezbednosti industrijskih sistema razlikujemo tri kategorije: otvorene podatke javnog sektora, istraživačke skupove podataka sa ispitnih postrojenja, koji su glavna tema ove prezentacije, i javne obaveštajne podatke o pretnjama. Važno je naglasiti da dostupnost ne znači i neograničeno pravo korišćenja.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Skupovi podataka razlikuju se po poreklu i po vrsti podataka. Fizička ispitna postrojenja daju realnu fiziku, ali su mala. Hardver u petlji, odnosno HIL, kombinuje stvarne kontrolere sa simuliranim delom procesa. Čiste simulacije su jeftine i ponovljive, ali pojednostavljene. Po vrsti, razlikujemo procesne podatke iz historiana, mrežni saobraćaj i logove. Skupovi kojima se bavimo pretežno sadrže procesne podatke.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Tabela prikazuje skupove koji se najčešće koriste u istraživanju bezbednosti industrijskih sistema. SWaT i WADI potiču sa istog instituta u Singapuru i dobijaju se popunjavanjem zahteva. HAI je skup južnokorejskog instituta ETRI i slobodno se preuzima. BATADAL je nastao za takmičenje u detekciji napada na simuliranoj vodovodnoj mreži, a skupovi sa Univerziteta Mississippi State sadrže mrežni saobraćaj gasovoda. Za detaljnu analizu izabrali smo SWaT i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 principi, koje su Wilkinson i saradnici objavili 2016. godine, opisuju kako naučni podaci treba da budu organizovani: pronalazljivi, dostupni, interoperabilni i ponovo upotrebljivi. Važno je da dostupnost ne zahteva potpuno otvoren pristup: dovoljno je da postupak bude jasno opisan. Zato i skupovi na zahtev, poput SWaT, mogu ispuniti ove principe. U praksi se susrećemo sa slobodnim licencama, pristupom na zahtev i obavezom citiranja izvornog 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Tantawy je 2022. godine sistematizovao elemente koje bi trebalo da sadrži dobar skup podataka za bezbednost kiber-fizičkih sistema. Pored fizičkih i mrežnih podataka, ključni su raznovrsni napadi, uključujući prikrivene, precizne oznake, sinhronizovano vreme i kvalitetna dokumentacija. Nijedan postojeći javni skup ne ispunjava sve ove zahteve, što je važno imati na umu pri tumačenju rezultata.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Javni skupovi imaju ozbiljna ograničenja. Postrojenja su mala, napadi su planirani i često lako uočljivi, a snimanja traju kratko. Kasnije verzije skupova ispravljaju greške, na primer uklanjanjem perioda nestabilnog rada, što pokazuje da ni oznake nisu savršene. Pošto se iste skupove godinama koriste brojni autori, postoji rizik da se metode nesvesno prilagode baš tim podacima. Zato rezultat na javnom skupu treba tumačiti kao neophodan, ali ne i dovoljan dokaz.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Drugi deo: analiza podataka. Prolazimo kroz ceo postupak, od razumevanja strukture podataka i njihove pripreme, preko osnovnih pristupa detekciji anomalija, do metrika i najčešćih grešaka pri vrednovanju rezultata.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Analiza prati šest koraka. Najpre se preuzimaju podaci i dokumentacija, zatim se kroz eksplorativnu analizu razume ponašanje procesa. Sledi čišćenje i priprema podataka, pa modelovanje normalnog ponašanja i izbor praga za alarm. Na kraju se metoda vrednuje na odvojenom skupu koji sadrži napade. U praksi se ovi koraci ponavljaju više puta.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Procesni podaci imaju oblik višedimenzionalne vremenske serije. U svakom trenutku t imamo vektor vrednosti svih n senzora i aktuatora, a u skupovima za vrednovanje i oznaku koja kaže da li je u tom trenutku trajao napad. U tabeli je prikazan tipičan oblik zapisa, sa vremenom, kolonama promenljivih i oznakom. Brojevi su ilustrativni, a označeni red predstavlja trenutak tokom napada.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 bilo kakvog modelovanja potrebno je razumeti podatke. Eksplorativna analiza obuhvata osnovne statistike, razlikovanje kontinualnih i diskretnih promenljivih, međusobne zavisnosti i režime rada procesa. Matrica sa desne strane je ilustracija: ventil MV101 i protok FIT101 snažno su povezani, kao i pumpa P101 i protok u drugoj fazi. Upravo ovakve zavisnosti koriste metode detekcije, jer napad često narušava uobičajene odnose među promenljivima.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Priprema obuhvata uklanjanje perioda stabilizacije, obradu nedostajućih vrednosti, pravilno kodiranje diskretnih stanja, normalizaciju i formiranje vremenskih prozora. Standardizacija oduzima srednju vrednost i deli standardnom devijacijom svake promenljive. Ključno je da se ovi parametri računaju samo na skupu za obuku, jer bi u suprotnom informacije iz test skupa procurele u model. Prozor dužine w obuhvata poslednjih w trenutaka i daje modelu vremenski kontekst.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Pristupe detekciji anomalija možemo podeliti u četiri grupe. Statističke metode su jednostavne i objašnjive, ali teško hvataju veze između mnogo promenljivih. Metode zasnovane na modelu koriste fiziku procesa. Klasično mašinsko učenje i duboko učenje uče obrasce iz podataka, uz cenu teže objašnjivosti. Zajedničko većini je da uče samo normalno ponašanje, jer primera napada ima malo i ne mogu obuhvatiti sve buduće napade.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Veliki broj metoda radi po istom principu. Model, obučen samo na normalnim podacima, na osnovu prethodnog prozora predviđa ili rekonstruiše trenutno stanje. Razlika između stvarne i predviđene vrednosti je greška. Kada proces radi normalno, greška je mala. Kada napad naruši uobičajene odnose, greška raste i prelazi prag tau. Grafikon ilustruje i lažni alarm: kratak skok greške van perioda napada. Izbor praga je zato kompromis između osetljivosti i broja lažnih alarma.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Invarijante su fizička pravila koja moraju važiti kada proces radi ispravno. Prvo pravilo kaže da otvoren ventil MV101 mora dati protok na meraču FIT101. Drugo kaže da se, kada je ventil zatvoren i pumpa isključena, nivo u rezervoaru ne sme menjati više od tolerancije epsilon. Napad koji lažira jednu promenljivu obično narušava neko od ovakvih pravila. Invarijante su objašnjive i ne zahtevaju primere napada, ali moraju uzeti u obzir šum i prelazne režime.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Rezultat detekcije opisuje se matricom konfuzije. Stvarni pozitivni su otkriveni napadi, lažni pozitivni su lažni alarmi, lažni negativni su propušteni napadi, a stvarni negativni su trenuci bez napada i bez alarma. Preciznost kaže koliki deo alarma je opravdan, a odziv koliki deo napada je otkriven. F1 mera je harmonijska sredina ove dve veličine. U OT okruženju oba tipa greške su skupa: propušten napad može imati fizičke posledice, a česti lažni alarmi dovode do toga da operater prestane da veruje sistemu.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Mnogi objavljeni rezultati na javnim skupovima precenjuju kvalitet metoda. Najčešći uzroci su neuravnotežene klase, postupak prilagođavanja tačaka, kod koga se ceo interval napada smatra otkrivenim ako je pogođen makar jedan trenutak, zatim curenje podataka i izbor praga na test skupu. Kim i saradnici su 2022. godine pokazali da prilagođavanje tačaka može dati visoku F1 meru čak i nasumičnom detektoru. Za OT je posebno važno vreme do detekcije, jer kasna detekcija ne sprečava posledice.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Treći deo: skupovi SWaT i HAI. SWaT je najčešće korišćen skup u literaturi o detekciji napada na industrijske sisteme, a HAI je izabran kao dodatni skup jer je slobodno dostupan, ima više verzija i potiče sa drugačijeg postrojenja.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SWaT, odnosno Secure Water Treatment, jeste ispitno postrojenje instituta iTrust na Univerzitetu za tehnologiju i dizajn u Singapuru. To je umanjena replika postrojenja za prečišćavanje vode sa šest faza: dotok sirove vode, hemijski predtretman, ultrafiltracija, deklorinacija UV lampama, reverzna osmoza i ispiranje membrana ultrafiltracije. Postrojenje prerađuje oko 19 litara vode u minuti, a svakom fazom upravlja poseban PLC.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Upravljačka arhitektura postrojenja SWaT prati Purdue model. Na nivou polja nalazi se 51 senzor i aktuator. Svakom od šest faza upravlja poseban PLC, uz rezervni kontroler. Iznad su SCADA sistem, HMI i inženjerska stanica, a historian beleži vrednosti svih promenljivih. Upravo su podaci historiana, zajedno sa snimljenim mrežnim saobraćajem, osnova objavljenog skupa podataka.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Osnovni skup SWaT snimljen je u decembru 2015. godine tokom 11 dana neprekidnog rada. Prvih sedam dana postrojenje je radilo normalno, a u poslednja četiri dana izveden je 41 napad. Beleže se vrednosti svih 51 senzora i aktuatora, jednom u sekundi, što ukupno daje oko 950 hiljada redova, odnosno 11 puta 86.400 sekundi. Skup sadrži i snimljen mrežni saobraćaj, a pristup se dobija popunjavanjem zahteva instituta iTrust.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Nazivi promenljivih u skupu SWaT prate konvenciju ISA-5.1. Prefiks označava vrstu instrumenta, prva cifra fazu procesa, a preostale cifre redni broj. Tako je LIT101 merač nivoa u prvoj fazi, a P101 prva pumpa te faze. Nivo se izražava u milimetrima, a protok u kubnim metrima na čas. Ventili, pumpe i UV lampe imaju diskretna stanja kodirana celim brojevima, čije je značenje opisano u dokumentaciji skupa.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Napadi u skupu SWaT razvrstavaju se po dva kriterijuma: da li deluju na jednu ili više faza procesa i da li menjaju jednu ili više tačaka, odnosno senzora i aktuatora. Najviše je jednostavnih napada na jednu tačku u jednoj fazi. Višefazni napadi su najzahtevniji za detekciju, jer se njihova posledica pojavljuje u drugom delu postrojenja. Raspodela u matrici odnosi se na 36 napada opisanih u literaturi, dok institut iTrust navodi ukupno 41 izveden napad.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Grafikon ilustruje jedan od napada opisanih u dokumentaciji skupa SWaT, čiji je cilj prelivanje rezervoara u prvoj fazi. U normalnom radu nivo osciluje između donje granice L i gornje granice H, jer upravljačka logika otvara i zatvara ventil MV101. Tokom napada ventil ostaje otvoren, pa nivo prelazi kritičnu granicu HH. Napad narušava jednostavno pravilo koje povezuje nivo i stanje ventila, pa ga mogu otkriti i invarijante i metode zasnovane na grešci predviđanja. Oblik krivih je ilustrativan.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Skup SWaT nije jedan nepromenljiv fajl, već porodica izdanja. Osnovno izdanje iz 2015. godine je najčešće korišćeno, a dopuna iz 2018. godine uklanja početnih 30 minuta normalnih podataka, koji su beležili pražnjenje rezervoara tokom održavanja. Kasnija izdanja donose duže snimke normalnog rada, kratke scenarije sa napadima, uključujući zlonamerni softver na inženjerskoj stanici, i dugi zajednički rad sa postrojenjem WADI iz 2023. godine. Zato se u radovima uvek navodi tačna verzija.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odnosno HIL-based Augmented ICS, jeste ispitno postrojenje južnokorejskog instituta ETRI. Sastoji se od tri stvarna upravljačka sistema različitih proizvođača: kotla, turbine i postrojenja za vodu. Povezuje ih sistem hardvera u petlji, koji ih uključuje u zajedničku simulaciju proizvodnje električne energije. Podaci se prikupljaju preko OPC UA mrežnog prolaza jednom u sekundi. Napadi su usmereni na zadate vrednosti, procesne promenljive, upravljačke izlaze i parametre regulatora.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Skup HAI objavljen je u više verzija, čiji naziv označava godinu i mesec izdavanja. Svaka verzija sadrži podatke za obuku, sa normalnim radom, i podatke za testiranje, sa napadima. Broj tačaka, odnosno promenljivih, rastao je sa 59 u prvoj verziji na 86, a proširena verzija HAIEnd 23.05 sadrži 225 tačaka. Broj napada po verziji kreće se od 38 do 58. Brojevi su preuzeti iz zvaničnog repozitorijuma skupa.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Skup HAI distribuira se kao komprimovani CSV fajlovi. Prva kolona je vremenska oznaka, zatim slede procesne tačke čiji naziv počinje oznakom procesa, a poslednja je oznaka napada. Zaglavlje na slajdu prikazuje oblik zapisa i nije potpuno. Skup se slobodno preuzima sa GitHuba ili platforme Kaggle, pod licencom Creative Commons. Repozitorijum navodi licencu CC BY-SA 4.0, a metapodaci CC BY 4.0, pa pri korišćenju treba poštovati strožu varijantu. Skup je korišćen i na takmičenjima HAICon.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SWaT i HAI se dopunjuju. SWaT je fizička replika jednog procesa, sa mrežnim saobraćajem, i najčešće je korišćen u literaturi, pa se nova metoda lako poredi sa postojećim. HAI povezuje tri stvarna upravljačka sistema, slobodno je dostupan i ima novije verzije sa većim brojem raznovrsnijih napada. Za HAI smo naveli verziju 23.05 kao najnoviju u repozitorijumu. Provera metode na oba skupa daje pouzdaniju sliku o njenoj opštosti.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Četvrti deo: bitnost javno dostupnih podataka u informacionim sistemima. Razmatramo njihovu ulogu u istraživanju i praksi, javne obaveštajne podatke o pretnjama, činjenicu da iste podatke mogu koristiti i napadači, kao i pitanja poverljivosti, integriteta i porekla podataka.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Javni podaci imaju četiri osnovne uloge. Omogućavaju ponovljivost istraživanja, što je osnovni zahtev naučnog metoda. Omogućavaju poređenje različitih metoda pod istim uslovima. Koriste se za razvoj i proveru alata, kao što su sistemi za detekciju upada, pre njihovog uvođenja. I konačno, služe za obrazovanje, jer studenti i operateri mogu da rade sa realnim podacima bez pristupa stvarnom postrojenju.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Pored istraživačkih skupova, za bezbednost informacionih sistema važni su i javni obaveštajni podaci o pretnjama. Baze ranjivosti CVE i NVD daju identifikatore i ocene ozbiljnosti, američka agencija CISA objavljuje upozorenja za industrijsku opremu, a MITRE ATT&amp;CK opisuje ponašanje napadača. Standardi STIX i TAXII omogućavaju automatsku razmenu ovakvih podataka. Njihova prava vrednost nastaje tek kada se povežu sa inventarom opreme sopstvene organizacije.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Javni podaci služe i braniocima i napadačima. Branilac ih koristi za obuku detektora, procenu izloženosti i učenje iz incidenata. Napadač ih koristi za izviđanje iz otvorenih izvora: pronalazi uređaje dostupne sa interneta, čita javnu tehničku dokumentaciju i tendere i prati objavljene ranjivosti. Odgovor struke je odgovorno objavljivanje, kod koga se ranjivost najpre prijavljuje proizvođaču, a detalji objavljuju tek kada postoji zakrpa ili zaštitna 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Objavljivanje podataka iz stvarnih sistema zahteva pažljivo upravljanje. Podaci se najpre klasifikuju prema tome šta otkrivaju, zatim se anonimizuju uklanjanjem adresa i naziva, preimenovanjem tagova, skaliranjem vrednosti i pomeranjem vremena. Ako logovi sadrže korisničke naloge, primenjuju se propisi o zaštiti podataka o ličnosti, u Srbiji Zakon o zaštiti podataka o ličnosti. Treba imati na umu da ni anonimizacija nije potpuna, jer sam oblik signala može otkriti postrojenje.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Ako podaci nisu verodostojni, ni odluke zasnovane na njima nisu pouzdane. Napadač može zatrovati podatke za obuku, tako da model napad nauči kao normalno ponašanje, ili tokom rada podmetnuti lažne vrednosti. I nenamerne greške u oznakama iskrivljuju rezultate. Zaštita obuhvata kontrolne zbirove i verzionisanje skupova, praćenje porekla podataka i proveru fizičke usklađenosti vrednosti sa invarijantama procesa.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Peti deo: primena stečenog znanja u našoj SCADA platformi. Pokazujemo kako specifikacija projekta predviđa uvoz i reprodukciju strukturiranih vremenskih podataka i kako se na taj način skup SWaT može koristiti za proveru alarma i detekcije u platformi.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Specifikacija projekta već sadrži zahtev koji omogućava rad sa javnim skupovima podataka. Zahtev SC-11 traži uvoz strukturiranih vremenskih podataka i njihovo mapiranje na tagove, uz eksplicitan kvalitet za nepoznate kolone, neispravne datume i nedostajuće vrednosti. Reprodukcija mora moći da se zaustavi bez izmene izvornog fajla, a test prihvatanja AT-SC-09 proverava ponašanje pri neispravnom vremenu. Skupovi SWaT i HAI imaju upravo ovakav oblik.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Uvoz prolazi kroz pet koraka. Izvorni CSV se samo čita, zatim se proverava njegova šema i format vremena, kolone se mapiraju na tagove, svakoj vrednosti se dodeljuje kvalitet, a podaci se reprodukuju kao izvor telemetrije. Ključna arhitekturna odluka je da reprodukcija koristi isti adapter i port kao simulator procesa. Zbog toga HMI, historian i alarmi rade sa javnim skupom bez ikakvih izmena, što je direktna posledica principa iz prve prezentacije.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Svaka kolona skupa preslikava se na tag platforme sa tipom, jedinicom i pravom pristupa. Kontinualna merenja postaju realni brojevi, a stanja ventila i pumpi nabrojivi tipovi, čije se vrednosti tumače prema dokumentaciji skupa. Posebnu pažnju zahteva oznaka napada: ona se uvozi kao zaseban tag koji služi samo za vrednovanje detekcije i ne prikazuje se operateru, jer u stvarnom sistemu takva informacija ne postoji. Nazivi tagova u tabeli su predlog.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Javni skupovi nisu savršeni, pa platforma mora jasno da obradi svaki nepravilan slučaj. Nedostajuća vrednost ili vrednost van opsega ne prepisuju pouzdanu vrednost taga i dobijaju loš kvalitet. Red sa neispravnim vremenom prijavljuje se kao greška, što odgovara testu AT-SC-09. Nepoznata kolona se prijavljuje i ne mapira, a prekid u podacima posle roka svežine daje stanje STALE. Ovo je isti model kvaliteta koji koriste i simulatori.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Pošto skup SWaT traje danima, reprodukcija se može ubrzati. Formula preslikava trenutak reprodukcije u vreme iz skupa: počinje se od izabranog segmenta, a faktor s određuje ubrzanje. Svako očitavanje nosi dve vremenske oznake, kao i telemetrija simulatora: vreme iz skupa, koje služi za poređenje sa oznakom napada, i stvarno vreme prijema, koje služi za proveru svežine i reviziju. Reprodukcija se pokreće, pauzira i zaustavlja kao svaka druga instanca u platformi.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Ovaj eksperiment povezuje sve celine prezentacije. Iz skupa SWaT izdvaja se segment sa napadom na prvu fazu, promenljive se mapiraju na tagove, podešavaju se alarm visokog nivoa i invarijanta koja povezuje ventil i protok, a segment se reprodukuje u platformi. Na kraju se alarmi platforme porede sa oznakom napada, uz metrike iz drugog dela prezentacije. Napominjemo da je eksperiment u fazi plana i da rezultati još nisu dostupni.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Zaključno, javno dostupni podaci su nezamenljivi za istraživanje bezbednosti industrijskih sistema, ali rezultate na njima treba tumačiti oprezno. Kvalitet analize više zavisi od pravilne pripreme i evaluacije nego od složenosti modela. SWaT i HAI se međusobno dopunjuju. Za informacione sisteme ključni su integritet, poreklo i odgovorno deljenje podataka. Konačno, arhitektura naše platforme omogućava da se javni skup koristi na isti način kao simulator, što otvara put ka ponovljivim eksperimentima sa alarmima i detekcijom.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Literatura obuhvata izvorne radove o skupovima SWaT, WADI, HAI i BATADAL, preglede ispitnih postrojenja i skupova podataka, radove o kvalitetu skupova i o evaluaciji detekcije anomalija, kao i zvanične stranice sa opisima skupova. Hvala na pažnji.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2.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slideLayout" Target="../slideLayouts/slideLayout2.xml"/><Relationship Id="rId1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2.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slideLayout" Target="../slideLayouts/slideLayout2.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2.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2.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image" Target="../media/image-41-9.png"/><Relationship Id="rId10" Type="http://schemas.openxmlformats.org/officeDocument/2006/relationships/slideLayout" Target="../slideLayouts/slideLayout2.xml"/><Relationship Id="rId11"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5"/>
        </a:solidFill>
      </p:bgPr>
    </p:bg>
    <p:spTree>
      <p:nvGrpSpPr>
        <p:cNvPr id="1" name=""/>
        <p:cNvGrpSpPr/>
        <p:nvPr/>
      </p:nvGrpSpPr>
      <p:grpSpPr>
        <a:xfrm>
          <a:off x="0" y="0"/>
          <a:ext cx="0" cy="0"/>
          <a:chOff x="0" y="0"/>
          <a:chExt cx="0" cy="0"/>
        </a:xfrm>
      </p:grpSpPr>
      <p:pic>
        <p:nvPicPr>
          <p:cNvPr id="2" name="Image 0" descr="Tri sinhronizovane vremenske serije procesnih podataka (nivo, protok i stanje pumpe) sa označenim intervalom napada i trakom oznaka normalno i napad">    </p:cNvPr>
          <p:cNvPicPr>
            <a:picLocks noChangeAspect="1"/>
          </p:cNvPicPr>
          <p:nvPr/>
        </p:nvPicPr>
        <p:blipFill>
          <a:blip r:embed="rId1"/>
          <a:srcRect l="0" r="0" t="0" b="0"/>
          <a:stretch/>
        </p:blipFill>
        <p:spPr>
          <a:xfrm>
            <a:off x="7493000" y="952500"/>
            <a:ext cx="3886200" cy="4445000"/>
          </a:xfrm>
          <a:prstGeom prst="rect">
            <a:avLst/>
          </a:prstGeom>
        </p:spPr>
      </p:pic>
      <p:sp>
        <p:nvSpPr>
          <p:cNvPr id="3" name="Text 0"/>
          <p:cNvSpPr/>
          <p:nvPr/>
        </p:nvSpPr>
        <p:spPr>
          <a:xfrm>
            <a:off x="7620000" y="9906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5CA8"/>
                </a:solidFill>
                <a:latin typeface="IBM Plex Mono" pitchFamily="49" charset="0"/>
                <a:ea typeface="IBM Plex Mono" pitchFamily="49" charset="-122"/>
                <a:cs typeface="IBM Plex Mono" pitchFamily="49" charset="-120"/>
              </a:rPr>
              <a:t>LIT101</a:t>
            </a:r>
            <a:endParaRPr lang="en-US" sz="1200" dirty="0"/>
          </a:p>
        </p:txBody>
      </p:sp>
      <p:sp>
        <p:nvSpPr>
          <p:cNvPr id="4" name="Text 1"/>
          <p:cNvSpPr/>
          <p:nvPr/>
        </p:nvSpPr>
        <p:spPr>
          <a:xfrm>
            <a:off x="9779000" y="990600"/>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napad</a:t>
            </a:r>
            <a:endParaRPr lang="en-US" sz="1200" dirty="0"/>
          </a:p>
        </p:txBody>
      </p:sp>
      <p:sp>
        <p:nvSpPr>
          <p:cNvPr id="5" name="Text 2"/>
          <p:cNvSpPr/>
          <p:nvPr/>
        </p:nvSpPr>
        <p:spPr>
          <a:xfrm>
            <a:off x="7620000" y="23241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FIT101</a:t>
            </a:r>
            <a:endParaRPr lang="en-US" sz="1200" dirty="0"/>
          </a:p>
        </p:txBody>
      </p:sp>
      <p:sp>
        <p:nvSpPr>
          <p:cNvPr id="6" name="Text 3"/>
          <p:cNvSpPr/>
          <p:nvPr/>
        </p:nvSpPr>
        <p:spPr>
          <a:xfrm>
            <a:off x="7620000" y="36576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P101</a:t>
            </a:r>
            <a:endParaRPr lang="en-US" sz="1200" dirty="0"/>
          </a:p>
        </p:txBody>
      </p:sp>
      <p:sp>
        <p:nvSpPr>
          <p:cNvPr id="7" name="Text 4"/>
          <p:cNvSpPr/>
          <p:nvPr/>
        </p:nvSpPr>
        <p:spPr>
          <a:xfrm>
            <a:off x="7620000" y="5029200"/>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oznaka: normalno / napad</a:t>
            </a:r>
            <a:endParaRPr lang="en-US" sz="1200" dirty="0"/>
          </a:p>
        </p:txBody>
      </p:sp>
      <p:sp>
        <p:nvSpPr>
          <p:cNvPr id="8" name="Text 5"/>
          <p:cNvSpPr/>
          <p:nvPr/>
        </p:nvSpPr>
        <p:spPr>
          <a:xfrm>
            <a:off x="812800" y="812800"/>
            <a:ext cx="6540500" cy="482600"/>
          </a:xfrm>
          <a:prstGeom prst="rect">
            <a:avLst/>
          </a:prstGeom>
          <a:noFill/>
          <a:ln/>
        </p:spPr>
        <p:txBody>
          <a:bodyPr wrap="square" lIns="0" tIns="0" rIns="0" bIns="0" rtlCol="0" anchor="t">
            <a:normAutofit/>
          </a:bodyPr>
          <a:lstStyle/>
          <a:p>
            <a:pPr algn="l" indent="0" marL="0">
              <a:lnSpc>
                <a:spcPts val="1800"/>
              </a:lnSpc>
              <a:buNone/>
            </a:pPr>
            <a:r>
              <a:rPr lang="en-US" sz="1200" spc="100" kern="0" dirty="0">
                <a:solidFill>
                  <a:srgbClr val="0A5CA8"/>
                </a:solidFill>
                <a:latin typeface="IBM Plex Mono" pitchFamily="49" charset="0"/>
                <a:ea typeface="IBM Plex Mono" pitchFamily="49" charset="-122"/>
                <a:cs typeface="IBM Plex Mono" pitchFamily="49" charset="-120"/>
              </a:rPr>
              <a:t>MASTER AKADEMSKE STUDIJE</a:t>
            </a:r>
            <a:endParaRPr lang="en-US" sz="1200" dirty="0"/>
          </a:p>
          <a:p>
            <a:pPr algn="l" indent="0" marL="0">
              <a:lnSpc>
                <a:spcPts val="1800"/>
              </a:lnSpc>
              <a:buNone/>
            </a:pPr>
            <a:r>
              <a:rPr lang="en-US" sz="1200" spc="100" kern="0" dirty="0">
                <a:solidFill>
                  <a:srgbClr val="0A5CA8"/>
                </a:solidFill>
                <a:latin typeface="IBM Plex Mono" pitchFamily="49" charset="0"/>
                <a:ea typeface="IBM Plex Mono" pitchFamily="49" charset="-122"/>
                <a:cs typeface="IBM Plex Mono" pitchFamily="49" charset="-120"/>
              </a:rPr>
              <a:t>INFORMACIONA BEZBEDNOST INFRASTRUKTURNIH SISTEMA</a:t>
            </a:r>
            <a:endParaRPr lang="en-US" sz="1200" dirty="0"/>
          </a:p>
        </p:txBody>
      </p:sp>
      <p:sp>
        <p:nvSpPr>
          <p:cNvPr id="9" name="Text 6"/>
          <p:cNvSpPr/>
          <p:nvPr>
            <p:ph type="title"/>
          </p:nvPr>
        </p:nvSpPr>
        <p:spPr>
          <a:xfrm>
            <a:off x="812800" y="1447800"/>
            <a:ext cx="6540500" cy="1549400"/>
          </a:xfrm>
          <a:prstGeom prst="rect">
            <a:avLst/>
          </a:prstGeom>
          <a:noFill/>
          <a:ln/>
        </p:spPr>
        <p:txBody>
          <a:bodyPr wrap="square" lIns="0" tIns="0" rIns="0" bIns="0" rtlCol="0" anchor="t">
            <a:normAutofit/>
          </a:bodyPr>
          <a:lstStyle/>
          <a:p>
            <a:pPr algn="l" indent="0" marL="0">
              <a:lnSpc>
                <a:spcPts val="6000"/>
              </a:lnSpc>
              <a:buNone/>
            </a:pPr>
            <a:r>
              <a:rPr lang="en-US" sz="6000" b="1" i="0" spc="-150" kern="0" dirty="0">
                <a:solidFill>
                  <a:srgbClr val="13202D"/>
                </a:solidFill>
                <a:latin typeface="IBM Plex Sans" pitchFamily="34" charset="0"/>
                <a:ea typeface="IBM Plex Sans" pitchFamily="34" charset="-122"/>
                <a:cs typeface="IBM Plex Sans" pitchFamily="34" charset="-120"/>
              </a:rPr>
              <a:t>Javno dostupni podaci</a:t>
            </a:r>
            <a:endParaRPr lang="en-US" sz="6000" dirty="0"/>
          </a:p>
        </p:txBody>
      </p:sp>
      <p:sp>
        <p:nvSpPr>
          <p:cNvPr id="10" name="Text 7"/>
          <p:cNvSpPr/>
          <p:nvPr/>
        </p:nvSpPr>
        <p:spPr>
          <a:xfrm>
            <a:off x="812800" y="3149600"/>
            <a:ext cx="614807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44505D"/>
                </a:solidFill>
                <a:latin typeface="IBM Plex Sans" pitchFamily="34" charset="0"/>
                <a:ea typeface="IBM Plex Sans" pitchFamily="34" charset="-122"/>
                <a:cs typeface="IBM Plex Sans" pitchFamily="34" charset="-120"/>
              </a:rPr>
              <a:t>Analiza podataka, skupovi SWaT i HAI i njihova primena u bezbednosti SCADA sistema</a:t>
            </a:r>
            <a:endParaRPr lang="en-US" sz="1800" dirty="0"/>
          </a:p>
        </p:txBody>
      </p:sp>
      <p:sp>
        <p:nvSpPr>
          <p:cNvPr id="11" name="Text 8"/>
          <p:cNvSpPr/>
          <p:nvPr/>
        </p:nvSpPr>
        <p:spPr>
          <a:xfrm>
            <a:off x="812800" y="3944541"/>
            <a:ext cx="4242197" cy="401241"/>
          </a:xfrm>
          <a:prstGeom prst="roundRect">
            <a:avLst>
              <a:gd name="adj" fmla="val 50000"/>
            </a:avLst>
          </a:prstGeom>
          <a:solidFill>
            <a:srgbClr val="DCE8F4"/>
          </a:solidFill>
          <a:ln/>
        </p:spPr>
        <p:txBody>
          <a:bodyPr wrap="none" lIns="0" tIns="0" rIns="0" bIns="0" rtlCol="0" anchor="ctr">
            <a:normAutofit/>
          </a:bodyPr>
          <a:lstStyle/>
          <a:p>
            <a:pPr algn="ctr" indent="0" marL="0">
              <a:lnSpc>
                <a:spcPts val="1960"/>
              </a:lnSpc>
              <a:buNone/>
            </a:pPr>
            <a:r>
              <a:rPr lang="en-US" sz="1400" dirty="0">
                <a:solidFill>
                  <a:srgbClr val="0A5CA8"/>
                </a:solidFill>
                <a:latin typeface="IBM Plex Sans" pitchFamily="34" charset="0"/>
                <a:ea typeface="IBM Plex Sans" pitchFamily="34" charset="-122"/>
                <a:cs typeface="IBM Plex Sans" pitchFamily="34" charset="-120"/>
              </a:rPr>
              <a:t>Od istraživačkih podataka do primene u projektu</a:t>
            </a:r>
            <a:endParaRPr lang="en-US" sz="1400" dirty="0"/>
          </a:p>
        </p:txBody>
      </p:sp>
      <p:sp>
        <p:nvSpPr>
          <p:cNvPr id="12" name="Shape 9"/>
          <p:cNvSpPr/>
          <p:nvPr/>
        </p:nvSpPr>
        <p:spPr>
          <a:xfrm>
            <a:off x="812800" y="5376664"/>
            <a:ext cx="6350000" cy="0"/>
          </a:xfrm>
          <a:prstGeom prst="line">
            <a:avLst/>
          </a:prstGeom>
          <a:noFill/>
          <a:ln w="6350">
            <a:solidFill>
              <a:srgbClr val="D3DAE1"/>
            </a:solidFill>
            <a:prstDash val="solid"/>
          </a:ln>
        </p:spPr>
      </p:sp>
      <p:sp>
        <p:nvSpPr>
          <p:cNvPr id="13" name="Text 10"/>
          <p:cNvSpPr/>
          <p:nvPr/>
        </p:nvSpPr>
        <p:spPr>
          <a:xfrm>
            <a:off x="812800" y="5532239"/>
            <a:ext cx="65405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Fakultet tehničkih nauka · Univerzitet u Novom Sadu</a:t>
            </a:r>
            <a:endParaRPr lang="en-US" sz="1400" dirty="0"/>
          </a:p>
        </p:txBody>
      </p:sp>
      <p:sp>
        <p:nvSpPr>
          <p:cNvPr id="14" name="Text 11"/>
          <p:cNvSpPr/>
          <p:nvPr/>
        </p:nvSpPr>
        <p:spPr>
          <a:xfrm>
            <a:off x="812800" y="58318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Novi Sad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PREGLED</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Sadržaj prezentacije</a:t>
            </a:r>
            <a:endParaRPr lang="en-US" sz="3000" dirty="0"/>
          </a:p>
        </p:txBody>
      </p:sp>
      <p:sp>
        <p:nvSpPr>
          <p:cNvPr id="5" name="Shape 3"/>
          <p:cNvSpPr/>
          <p:nvPr/>
        </p:nvSpPr>
        <p:spPr>
          <a:xfrm>
            <a:off x="815975" y="1676995"/>
            <a:ext cx="2005310" cy="2543572"/>
          </a:xfrm>
          <a:prstGeom prst="roundRect">
            <a:avLst>
              <a:gd name="adj" fmla="val 4908"/>
            </a:avLst>
          </a:prstGeom>
          <a:solidFill>
            <a:srgbClr val="FCFCFB"/>
          </a:solidFill>
          <a:ln w="6350">
            <a:solidFill>
              <a:srgbClr val="D3DAE1"/>
            </a:solidFill>
            <a:prstDash val="solid"/>
          </a:ln>
        </p:spPr>
      </p:sp>
      <p:sp>
        <p:nvSpPr>
          <p:cNvPr id="6" name="Shape 4"/>
          <p:cNvSpPr/>
          <p:nvPr/>
        </p:nvSpPr>
        <p:spPr>
          <a:xfrm>
            <a:off x="996950" y="1857970"/>
            <a:ext cx="355600" cy="38100"/>
          </a:xfrm>
          <a:prstGeom prst="roundRect">
            <a:avLst>
              <a:gd name="adj" fmla="val 50000"/>
            </a:avLst>
          </a:prstGeom>
          <a:solidFill>
            <a:srgbClr val="0A5CA8"/>
          </a:solidFill>
          <a:ln/>
        </p:spPr>
      </p:sp>
      <p:sp>
        <p:nvSpPr>
          <p:cNvPr id="7" name="Text 5"/>
          <p:cNvSpPr/>
          <p:nvPr/>
        </p:nvSpPr>
        <p:spPr>
          <a:xfrm>
            <a:off x="996950" y="1984970"/>
            <a:ext cx="1694160"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0A5CA8"/>
                </a:solidFill>
                <a:latin typeface="IBM Plex Mono" pitchFamily="49" charset="0"/>
                <a:ea typeface="IBM Plex Mono" pitchFamily="49" charset="-122"/>
                <a:cs typeface="IBM Plex Mono" pitchFamily="49" charset="-120"/>
              </a:rPr>
              <a:t>01</a:t>
            </a:r>
            <a:endParaRPr lang="en-US" sz="3000" dirty="0"/>
          </a:p>
        </p:txBody>
      </p:sp>
      <p:sp>
        <p:nvSpPr>
          <p:cNvPr id="8" name="Text 6"/>
          <p:cNvSpPr/>
          <p:nvPr/>
        </p:nvSpPr>
        <p:spPr>
          <a:xfrm>
            <a:off x="996950" y="2492970"/>
            <a:ext cx="16941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Javni podaci</a:t>
            </a:r>
            <a:endParaRPr lang="en-US" sz="1400" dirty="0"/>
          </a:p>
        </p:txBody>
      </p:sp>
      <p:sp>
        <p:nvSpPr>
          <p:cNvPr id="9" name="Text 7"/>
          <p:cNvSpPr/>
          <p:nvPr/>
        </p:nvSpPr>
        <p:spPr>
          <a:xfrm>
            <a:off x="996950" y="2795191"/>
            <a:ext cx="16941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Pojam, izvori, pregled skupova, FAIR principi, kvalitet i ograničenja.</a:t>
            </a:r>
            <a:endParaRPr lang="en-US" sz="1200" dirty="0"/>
          </a:p>
        </p:txBody>
      </p:sp>
      <p:sp>
        <p:nvSpPr>
          <p:cNvPr id="10" name="Text 8"/>
          <p:cNvSpPr/>
          <p:nvPr/>
        </p:nvSpPr>
        <p:spPr>
          <a:xfrm>
            <a:off x="996950" y="382627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04–10</a:t>
            </a:r>
            <a:endParaRPr lang="en-US" sz="1200" dirty="0"/>
          </a:p>
        </p:txBody>
      </p:sp>
      <p:sp>
        <p:nvSpPr>
          <p:cNvPr id="11" name="Shape 9"/>
          <p:cNvSpPr/>
          <p:nvPr/>
        </p:nvSpPr>
        <p:spPr>
          <a:xfrm>
            <a:off x="2954635" y="1676995"/>
            <a:ext cx="2005409" cy="2543572"/>
          </a:xfrm>
          <a:prstGeom prst="roundRect">
            <a:avLst>
              <a:gd name="adj" fmla="val 4908"/>
            </a:avLst>
          </a:prstGeom>
          <a:solidFill>
            <a:srgbClr val="FCFCFB"/>
          </a:solidFill>
          <a:ln w="6350">
            <a:solidFill>
              <a:srgbClr val="D3DAE1"/>
            </a:solidFill>
            <a:prstDash val="solid"/>
          </a:ln>
        </p:spPr>
      </p:sp>
      <p:sp>
        <p:nvSpPr>
          <p:cNvPr id="12" name="Shape 10"/>
          <p:cNvSpPr/>
          <p:nvPr/>
        </p:nvSpPr>
        <p:spPr>
          <a:xfrm>
            <a:off x="3135610" y="1857970"/>
            <a:ext cx="355600" cy="38100"/>
          </a:xfrm>
          <a:prstGeom prst="roundRect">
            <a:avLst>
              <a:gd name="adj" fmla="val 50000"/>
            </a:avLst>
          </a:prstGeom>
          <a:solidFill>
            <a:srgbClr val="0A5CA8"/>
          </a:solidFill>
          <a:ln/>
        </p:spPr>
      </p:sp>
      <p:sp>
        <p:nvSpPr>
          <p:cNvPr id="13" name="Text 11"/>
          <p:cNvSpPr/>
          <p:nvPr/>
        </p:nvSpPr>
        <p:spPr>
          <a:xfrm>
            <a:off x="3135610" y="1984970"/>
            <a:ext cx="1694259"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0A5CA8"/>
                </a:solidFill>
                <a:latin typeface="IBM Plex Mono" pitchFamily="49" charset="0"/>
                <a:ea typeface="IBM Plex Mono" pitchFamily="49" charset="-122"/>
                <a:cs typeface="IBM Plex Mono" pitchFamily="49" charset="-120"/>
              </a:rPr>
              <a:t>02</a:t>
            </a:r>
            <a:endParaRPr lang="en-US" sz="3000" dirty="0"/>
          </a:p>
        </p:txBody>
      </p:sp>
      <p:sp>
        <p:nvSpPr>
          <p:cNvPr id="14" name="Text 12"/>
          <p:cNvSpPr/>
          <p:nvPr/>
        </p:nvSpPr>
        <p:spPr>
          <a:xfrm>
            <a:off x="3135610" y="2492970"/>
            <a:ext cx="169425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Analiza</a:t>
            </a:r>
            <a:endParaRPr lang="en-US" sz="1400" dirty="0"/>
          </a:p>
        </p:txBody>
      </p:sp>
      <p:sp>
        <p:nvSpPr>
          <p:cNvPr id="15" name="Text 13"/>
          <p:cNvSpPr/>
          <p:nvPr/>
        </p:nvSpPr>
        <p:spPr>
          <a:xfrm>
            <a:off x="3135610" y="2795191"/>
            <a:ext cx="16942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Tok analize, priprema, detekcija anomalija, metrike i zamke evaluacije.</a:t>
            </a:r>
            <a:endParaRPr lang="en-US" sz="1200" dirty="0"/>
          </a:p>
        </p:txBody>
      </p:sp>
      <p:sp>
        <p:nvSpPr>
          <p:cNvPr id="16" name="Text 14"/>
          <p:cNvSpPr/>
          <p:nvPr/>
        </p:nvSpPr>
        <p:spPr>
          <a:xfrm>
            <a:off x="3135610" y="3826272"/>
            <a:ext cx="16942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11–20</a:t>
            </a:r>
            <a:endParaRPr lang="en-US" sz="1200" dirty="0"/>
          </a:p>
        </p:txBody>
      </p:sp>
      <p:sp>
        <p:nvSpPr>
          <p:cNvPr id="17" name="Shape 15"/>
          <p:cNvSpPr/>
          <p:nvPr/>
        </p:nvSpPr>
        <p:spPr>
          <a:xfrm>
            <a:off x="5093395" y="1676995"/>
            <a:ext cx="2005310" cy="2543572"/>
          </a:xfrm>
          <a:prstGeom prst="roundRect">
            <a:avLst>
              <a:gd name="adj" fmla="val 4908"/>
            </a:avLst>
          </a:prstGeom>
          <a:solidFill>
            <a:srgbClr val="FCFCFB"/>
          </a:solidFill>
          <a:ln w="6350">
            <a:solidFill>
              <a:srgbClr val="D3DAE1"/>
            </a:solidFill>
            <a:prstDash val="solid"/>
          </a:ln>
        </p:spPr>
      </p:sp>
      <p:sp>
        <p:nvSpPr>
          <p:cNvPr id="18" name="Shape 16"/>
          <p:cNvSpPr/>
          <p:nvPr/>
        </p:nvSpPr>
        <p:spPr>
          <a:xfrm>
            <a:off x="5274370" y="1857970"/>
            <a:ext cx="355600" cy="38100"/>
          </a:xfrm>
          <a:prstGeom prst="roundRect">
            <a:avLst>
              <a:gd name="adj" fmla="val 50000"/>
            </a:avLst>
          </a:prstGeom>
          <a:solidFill>
            <a:srgbClr val="0A5CA8"/>
          </a:solidFill>
          <a:ln/>
        </p:spPr>
      </p:sp>
      <p:sp>
        <p:nvSpPr>
          <p:cNvPr id="19" name="Text 17"/>
          <p:cNvSpPr/>
          <p:nvPr/>
        </p:nvSpPr>
        <p:spPr>
          <a:xfrm>
            <a:off x="5274370" y="1984970"/>
            <a:ext cx="1694160"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0A5CA8"/>
                </a:solidFill>
                <a:latin typeface="IBM Plex Mono" pitchFamily="49" charset="0"/>
                <a:ea typeface="IBM Plex Mono" pitchFamily="49" charset="-122"/>
                <a:cs typeface="IBM Plex Mono" pitchFamily="49" charset="-120"/>
              </a:rPr>
              <a:t>03</a:t>
            </a:r>
            <a:endParaRPr lang="en-US" sz="3000" dirty="0"/>
          </a:p>
        </p:txBody>
      </p:sp>
      <p:sp>
        <p:nvSpPr>
          <p:cNvPr id="20" name="Text 18"/>
          <p:cNvSpPr/>
          <p:nvPr/>
        </p:nvSpPr>
        <p:spPr>
          <a:xfrm>
            <a:off x="5274370" y="2492970"/>
            <a:ext cx="16941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SWaT i HAI</a:t>
            </a:r>
            <a:endParaRPr lang="en-US" sz="1400" dirty="0"/>
          </a:p>
        </p:txBody>
      </p:sp>
      <p:sp>
        <p:nvSpPr>
          <p:cNvPr id="21" name="Text 19"/>
          <p:cNvSpPr/>
          <p:nvPr/>
        </p:nvSpPr>
        <p:spPr>
          <a:xfrm>
            <a:off x="5274370" y="2795191"/>
            <a:ext cx="16941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Ispitna postrojenja, sadržaj skupova, napadi, verzije i poređenje.</a:t>
            </a:r>
            <a:endParaRPr lang="en-US" sz="1200" dirty="0"/>
          </a:p>
        </p:txBody>
      </p:sp>
      <p:sp>
        <p:nvSpPr>
          <p:cNvPr id="22" name="Text 20"/>
          <p:cNvSpPr/>
          <p:nvPr/>
        </p:nvSpPr>
        <p:spPr>
          <a:xfrm>
            <a:off x="5274370" y="382627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21–32</a:t>
            </a:r>
            <a:endParaRPr lang="en-US" sz="1200" dirty="0"/>
          </a:p>
        </p:txBody>
      </p:sp>
      <p:sp>
        <p:nvSpPr>
          <p:cNvPr id="23" name="Shape 21"/>
          <p:cNvSpPr/>
          <p:nvPr/>
        </p:nvSpPr>
        <p:spPr>
          <a:xfrm>
            <a:off x="7232055" y="1676995"/>
            <a:ext cx="2005310" cy="2543572"/>
          </a:xfrm>
          <a:prstGeom prst="roundRect">
            <a:avLst>
              <a:gd name="adj" fmla="val 4908"/>
            </a:avLst>
          </a:prstGeom>
          <a:solidFill>
            <a:srgbClr val="FCFCFB"/>
          </a:solidFill>
          <a:ln w="6350">
            <a:solidFill>
              <a:srgbClr val="D3DAE1"/>
            </a:solidFill>
            <a:prstDash val="solid"/>
          </a:ln>
        </p:spPr>
      </p:sp>
      <p:sp>
        <p:nvSpPr>
          <p:cNvPr id="24" name="Shape 22"/>
          <p:cNvSpPr/>
          <p:nvPr/>
        </p:nvSpPr>
        <p:spPr>
          <a:xfrm>
            <a:off x="7413030" y="1857970"/>
            <a:ext cx="355600" cy="38100"/>
          </a:xfrm>
          <a:prstGeom prst="roundRect">
            <a:avLst>
              <a:gd name="adj" fmla="val 50000"/>
            </a:avLst>
          </a:prstGeom>
          <a:solidFill>
            <a:srgbClr val="0A5CA8"/>
          </a:solidFill>
          <a:ln/>
        </p:spPr>
      </p:sp>
      <p:sp>
        <p:nvSpPr>
          <p:cNvPr id="25" name="Text 23"/>
          <p:cNvSpPr/>
          <p:nvPr/>
        </p:nvSpPr>
        <p:spPr>
          <a:xfrm>
            <a:off x="7413030" y="1984970"/>
            <a:ext cx="1694160"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0A5CA8"/>
                </a:solidFill>
                <a:latin typeface="IBM Plex Mono" pitchFamily="49" charset="0"/>
                <a:ea typeface="IBM Plex Mono" pitchFamily="49" charset="-122"/>
                <a:cs typeface="IBM Plex Mono" pitchFamily="49" charset="-120"/>
              </a:rPr>
              <a:t>04</a:t>
            </a:r>
            <a:endParaRPr lang="en-US" sz="3000" dirty="0"/>
          </a:p>
        </p:txBody>
      </p:sp>
      <p:sp>
        <p:nvSpPr>
          <p:cNvPr id="26" name="Text 24"/>
          <p:cNvSpPr/>
          <p:nvPr/>
        </p:nvSpPr>
        <p:spPr>
          <a:xfrm>
            <a:off x="7413030" y="2492970"/>
            <a:ext cx="16941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Bitnost</a:t>
            </a:r>
            <a:endParaRPr lang="en-US" sz="1400" dirty="0"/>
          </a:p>
        </p:txBody>
      </p:sp>
      <p:sp>
        <p:nvSpPr>
          <p:cNvPr id="27" name="Text 25"/>
          <p:cNvSpPr/>
          <p:nvPr/>
        </p:nvSpPr>
        <p:spPr>
          <a:xfrm>
            <a:off x="7413030" y="2795191"/>
            <a:ext cx="16941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Uloga podataka u informacionim sistemima, rizici i upravljanje podacima.</a:t>
            </a:r>
            <a:endParaRPr lang="en-US" sz="1200" dirty="0"/>
          </a:p>
        </p:txBody>
      </p:sp>
      <p:sp>
        <p:nvSpPr>
          <p:cNvPr id="28" name="Text 26"/>
          <p:cNvSpPr/>
          <p:nvPr/>
        </p:nvSpPr>
        <p:spPr>
          <a:xfrm>
            <a:off x="7413030" y="382627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33–38</a:t>
            </a:r>
            <a:endParaRPr lang="en-US" sz="1200" dirty="0"/>
          </a:p>
        </p:txBody>
      </p:sp>
      <p:sp>
        <p:nvSpPr>
          <p:cNvPr id="29" name="Shape 27"/>
          <p:cNvSpPr/>
          <p:nvPr/>
        </p:nvSpPr>
        <p:spPr>
          <a:xfrm>
            <a:off x="9370715" y="1676995"/>
            <a:ext cx="2005310" cy="2543572"/>
          </a:xfrm>
          <a:prstGeom prst="roundRect">
            <a:avLst>
              <a:gd name="adj" fmla="val 4908"/>
            </a:avLst>
          </a:prstGeom>
          <a:solidFill>
            <a:srgbClr val="FCFCFB"/>
          </a:solidFill>
          <a:ln w="6350">
            <a:solidFill>
              <a:srgbClr val="D3DAE1"/>
            </a:solidFill>
            <a:prstDash val="solid"/>
          </a:ln>
        </p:spPr>
      </p:sp>
      <p:sp>
        <p:nvSpPr>
          <p:cNvPr id="30" name="Shape 28"/>
          <p:cNvSpPr/>
          <p:nvPr/>
        </p:nvSpPr>
        <p:spPr>
          <a:xfrm>
            <a:off x="9551690" y="1857970"/>
            <a:ext cx="355600" cy="38100"/>
          </a:xfrm>
          <a:prstGeom prst="roundRect">
            <a:avLst>
              <a:gd name="adj" fmla="val 50000"/>
            </a:avLst>
          </a:prstGeom>
          <a:solidFill>
            <a:srgbClr val="E07B1F"/>
          </a:solidFill>
          <a:ln/>
        </p:spPr>
      </p:sp>
      <p:sp>
        <p:nvSpPr>
          <p:cNvPr id="31" name="Text 29"/>
          <p:cNvSpPr/>
          <p:nvPr/>
        </p:nvSpPr>
        <p:spPr>
          <a:xfrm>
            <a:off x="9551690" y="1984970"/>
            <a:ext cx="1694160"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0A5CA8"/>
                </a:solidFill>
                <a:latin typeface="IBM Plex Mono" pitchFamily="49" charset="0"/>
                <a:ea typeface="IBM Plex Mono" pitchFamily="49" charset="-122"/>
                <a:cs typeface="IBM Plex Mono" pitchFamily="49" charset="-120"/>
              </a:rPr>
              <a:t>05</a:t>
            </a:r>
            <a:endParaRPr lang="en-US" sz="3000" dirty="0"/>
          </a:p>
        </p:txBody>
      </p:sp>
      <p:sp>
        <p:nvSpPr>
          <p:cNvPr id="32" name="Text 30"/>
          <p:cNvSpPr/>
          <p:nvPr/>
        </p:nvSpPr>
        <p:spPr>
          <a:xfrm>
            <a:off x="9551690" y="2492970"/>
            <a:ext cx="16941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Primena</a:t>
            </a:r>
            <a:endParaRPr lang="en-US" sz="1400" dirty="0"/>
          </a:p>
        </p:txBody>
      </p:sp>
      <p:sp>
        <p:nvSpPr>
          <p:cNvPr id="33" name="Text 31"/>
          <p:cNvSpPr/>
          <p:nvPr/>
        </p:nvSpPr>
        <p:spPr>
          <a:xfrm>
            <a:off x="9551690" y="2795191"/>
            <a:ext cx="16941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Uvoz, mapiranje, kvalitet i reprodukcija podataka u našoj platformi.</a:t>
            </a:r>
            <a:endParaRPr lang="en-US" sz="1200" dirty="0"/>
          </a:p>
        </p:txBody>
      </p:sp>
      <p:sp>
        <p:nvSpPr>
          <p:cNvPr id="34" name="Text 32"/>
          <p:cNvSpPr/>
          <p:nvPr/>
        </p:nvSpPr>
        <p:spPr>
          <a:xfrm>
            <a:off x="9551690" y="382627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39–45</a:t>
            </a:r>
            <a:endParaRPr lang="en-US" sz="1200" dirty="0"/>
          </a:p>
        </p:txBody>
      </p:sp>
      <p:sp>
        <p:nvSpPr>
          <p:cNvPr id="35" name="Text 33"/>
          <p:cNvSpPr/>
          <p:nvPr/>
        </p:nvSpPr>
        <p:spPr>
          <a:xfrm>
            <a:off x="812800" y="4477742"/>
            <a:ext cx="5207000" cy="416520"/>
          </a:xfrm>
          <a:prstGeom prst="roundRect">
            <a:avLst>
              <a:gd name="adj" fmla="val 18294"/>
            </a:avLst>
          </a:prstGeom>
          <a:solidFill>
            <a:srgbClr val="EBF0F5"/>
          </a:solidFill>
          <a:ln/>
        </p:spPr>
        <p:txBody>
          <a:bodyPr wrap="square" lIns="130082" tIns="79282" rIns="0" bIns="53882" rtlCol="0" anchor="t">
            <a:normAutofit/>
          </a:bodyPr>
          <a:lstStyle/>
          <a:p>
            <a:pPr algn="l" indent="0" marL="0">
              <a:lnSpc>
                <a:spcPts val="1680"/>
              </a:lnSpc>
              <a:buNone/>
            </a:pPr>
            <a:r>
              <a:rPr lang="en-US" sz="1200" b="1" dirty="0">
                <a:solidFill>
                  <a:srgbClr val="44505D"/>
                </a:solidFill>
                <a:latin typeface="IBM Plex Sans" pitchFamily="34" charset="0"/>
                <a:ea typeface="IBM Plex Sans" pitchFamily="34" charset="-122"/>
                <a:cs typeface="IBM Plex Sans" pitchFamily="34" charset="-120"/>
              </a:rPr>
              <a:t>Uvod</a:t>
            </a:r>
            <a:r>
              <a:rPr lang="en-US" sz="1200" dirty="0">
                <a:solidFill>
                  <a:srgbClr val="44505D"/>
                </a:solidFill>
                <a:latin typeface="IBM Plex Sans" pitchFamily="34" charset="0"/>
                <a:ea typeface="IBM Plex Sans" pitchFamily="34" charset="-122"/>
                <a:cs typeface="IBM Plex Sans" pitchFamily="34" charset="-120"/>
              </a:rPr>
              <a:t> · zašto su potrebni javno dostupni podaci (03)</a:t>
            </a:r>
            <a:endParaRPr lang="en-US" sz="1200" dirty="0"/>
          </a:p>
        </p:txBody>
      </p:sp>
      <p:sp>
        <p:nvSpPr>
          <p:cNvPr id="36" name="Text 34"/>
          <p:cNvSpPr/>
          <p:nvPr/>
        </p:nvSpPr>
        <p:spPr>
          <a:xfrm>
            <a:off x="6172200" y="4477742"/>
            <a:ext cx="5207000" cy="416520"/>
          </a:xfrm>
          <a:prstGeom prst="roundRect">
            <a:avLst>
              <a:gd name="adj" fmla="val 18294"/>
            </a:avLst>
          </a:prstGeom>
          <a:solidFill>
            <a:srgbClr val="EBF0F5"/>
          </a:solidFill>
          <a:ln/>
        </p:spPr>
        <p:txBody>
          <a:bodyPr wrap="square" lIns="130082" tIns="79282" rIns="0" bIns="53882" rtlCol="0" anchor="t">
            <a:normAutofit/>
          </a:bodyPr>
          <a:lstStyle/>
          <a:p>
            <a:pPr algn="l" indent="0" marL="0">
              <a:lnSpc>
                <a:spcPts val="1680"/>
              </a:lnSpc>
              <a:buNone/>
            </a:pPr>
            <a:r>
              <a:rPr lang="en-US" sz="1200" b="1" dirty="0">
                <a:solidFill>
                  <a:srgbClr val="44505D"/>
                </a:solidFill>
                <a:latin typeface="IBM Plex Sans" pitchFamily="34" charset="0"/>
                <a:ea typeface="IBM Plex Sans" pitchFamily="34" charset="-122"/>
                <a:cs typeface="IBM Plex Sans" pitchFamily="34" charset="-120"/>
              </a:rPr>
              <a:t>Završni deo</a:t>
            </a:r>
            <a:r>
              <a:rPr lang="en-US" sz="1200" dirty="0">
                <a:solidFill>
                  <a:srgbClr val="44505D"/>
                </a:solidFill>
                <a:latin typeface="IBM Plex Sans" pitchFamily="34" charset="0"/>
                <a:ea typeface="IBM Plex Sans" pitchFamily="34" charset="-122"/>
                <a:cs typeface="IBM Plex Sans" pitchFamily="34" charset="-120"/>
              </a:rPr>
              <a:t> · zaključak i literatura (46–47)</a:t>
            </a:r>
            <a:endParaRPr lang="en-US" sz="1200" dirty="0"/>
          </a:p>
        </p:txBody>
      </p:sp>
      <p:sp>
        <p:nvSpPr>
          <p:cNvPr id="37" name="Shape 35"/>
          <p:cNvSpPr/>
          <p:nvPr/>
        </p:nvSpPr>
        <p:spPr>
          <a:xfrm>
            <a:off x="812800" y="6209705"/>
            <a:ext cx="10566400" cy="0"/>
          </a:xfrm>
          <a:prstGeom prst="line">
            <a:avLst/>
          </a:prstGeom>
          <a:noFill/>
          <a:ln w="6350">
            <a:solidFill>
              <a:srgbClr val="D3DAE1"/>
            </a:solidFill>
            <a:prstDash val="solid"/>
          </a:ln>
        </p:spPr>
      </p:sp>
      <p:sp>
        <p:nvSpPr>
          <p:cNvPr id="38" name="Text 36"/>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39" name="Text 3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UVOD</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Zašto su potrebni javno dostupni podaci</a:t>
            </a:r>
            <a:endParaRPr lang="en-US" sz="3000" dirty="0"/>
          </a:p>
        </p:txBody>
      </p:sp>
      <p:sp>
        <p:nvSpPr>
          <p:cNvPr id="5" name="Shape 3"/>
          <p:cNvSpPr/>
          <p:nvPr/>
        </p:nvSpPr>
        <p:spPr>
          <a:xfrm>
            <a:off x="815975" y="1676995"/>
            <a:ext cx="4870450" cy="3150394"/>
          </a:xfrm>
          <a:prstGeom prst="roundRect">
            <a:avLst>
              <a:gd name="adj" fmla="val 3124"/>
            </a:avLst>
          </a:prstGeom>
          <a:solidFill>
            <a:srgbClr val="FBF1E6"/>
          </a:solidFill>
          <a:ln w="6350">
            <a:solidFill>
              <a:srgbClr val="E9B98C"/>
            </a:solidFill>
            <a:prstDash val="solid"/>
          </a:ln>
        </p:spPr>
      </p:sp>
      <p:pic>
        <p:nvPicPr>
          <p:cNvPr id="6" name="Image 0" descr="Warning">    </p:cNvPr>
          <p:cNvPicPr>
            <a:picLocks noChangeAspect="1"/>
          </p:cNvPicPr>
          <p:nvPr/>
        </p:nvPicPr>
        <p:blipFill>
          <a:blip r:embed="rId1"/>
          <a:srcRect l="0" r="0" t="0" b="0"/>
          <a:stretch/>
        </p:blipFill>
        <p:spPr>
          <a:xfrm>
            <a:off x="1047750" y="1883370"/>
            <a:ext cx="254000" cy="254000"/>
          </a:xfrm>
          <a:prstGeom prst="rect">
            <a:avLst/>
          </a:prstGeom>
        </p:spPr>
      </p:pic>
      <p:sp>
        <p:nvSpPr>
          <p:cNvPr id="7" name="Text 4"/>
          <p:cNvSpPr/>
          <p:nvPr/>
        </p:nvSpPr>
        <p:spPr>
          <a:xfrm>
            <a:off x="1403350" y="1888430"/>
            <a:ext cx="9563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Problem</a:t>
            </a:r>
            <a:endParaRPr lang="en-US" sz="1600" dirty="0"/>
          </a:p>
        </p:txBody>
      </p:sp>
      <p:sp>
        <p:nvSpPr>
          <p:cNvPr id="8" name="Text 5"/>
          <p:cNvSpPr/>
          <p:nvPr/>
        </p:nvSpPr>
        <p:spPr>
          <a:xfrm>
            <a:off x="1047750" y="2264370"/>
            <a:ext cx="453910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Podaci su poverljivi</a:t>
            </a:r>
            <a:endParaRPr lang="en-US" sz="1400" dirty="0"/>
          </a:p>
        </p:txBody>
      </p:sp>
      <p:sp>
        <p:nvSpPr>
          <p:cNvPr id="9" name="Text 6"/>
          <p:cNvSpPr/>
          <p:nvPr/>
        </p:nvSpPr>
        <p:spPr>
          <a:xfrm>
            <a:off x="1047750" y="2538611"/>
            <a:ext cx="453910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Operateri kritične infrastrukture ne objavljuju podatke o svojim postrojenjima.</a:t>
            </a:r>
            <a:endParaRPr lang="en-US" sz="1200" dirty="0"/>
          </a:p>
        </p:txBody>
      </p:sp>
      <p:sp>
        <p:nvSpPr>
          <p:cNvPr id="10" name="Text 7"/>
          <p:cNvSpPr/>
          <p:nvPr/>
        </p:nvSpPr>
        <p:spPr>
          <a:xfrm>
            <a:off x="1047750" y="3092252"/>
            <a:ext cx="453910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Napadi su retki i opasni</a:t>
            </a:r>
            <a:endParaRPr lang="en-US" sz="1400" dirty="0"/>
          </a:p>
        </p:txBody>
      </p:sp>
      <p:sp>
        <p:nvSpPr>
          <p:cNvPr id="11" name="Text 8"/>
          <p:cNvSpPr/>
          <p:nvPr/>
        </p:nvSpPr>
        <p:spPr>
          <a:xfrm>
            <a:off x="1047750" y="3366492"/>
            <a:ext cx="453910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Napad se ne sme izvesti na stvarnom procesu radi prikupljanja primera.</a:t>
            </a:r>
            <a:endParaRPr lang="en-US" sz="1200" dirty="0"/>
          </a:p>
        </p:txBody>
      </p:sp>
      <p:sp>
        <p:nvSpPr>
          <p:cNvPr id="12" name="Text 9"/>
          <p:cNvSpPr/>
          <p:nvPr/>
        </p:nvSpPr>
        <p:spPr>
          <a:xfrm>
            <a:off x="1047750" y="3920133"/>
            <a:ext cx="453910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Rezultati nisu uporedivi</a:t>
            </a:r>
            <a:endParaRPr lang="en-US" sz="1400" dirty="0"/>
          </a:p>
        </p:txBody>
      </p:sp>
      <p:sp>
        <p:nvSpPr>
          <p:cNvPr id="13" name="Text 10"/>
          <p:cNvSpPr/>
          <p:nvPr/>
        </p:nvSpPr>
        <p:spPr>
          <a:xfrm>
            <a:off x="1047750" y="4194373"/>
            <a:ext cx="453910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Bez zajedničkih podataka svaka metoda se proverava na drugačijem uzorku.</a:t>
            </a:r>
            <a:endParaRPr lang="en-US" sz="1200" dirty="0"/>
          </a:p>
        </p:txBody>
      </p:sp>
      <p:pic>
        <p:nvPicPr>
          <p:cNvPr id="14" name="Image 1" descr="arrow-right">    </p:cNvPr>
          <p:cNvPicPr>
            <a:picLocks noChangeAspect="1"/>
          </p:cNvPicPr>
          <p:nvPr/>
        </p:nvPicPr>
        <p:blipFill>
          <a:blip r:embed="rId2"/>
          <a:srcRect l="0" r="0" t="0" b="0"/>
          <a:stretch/>
        </p:blipFill>
        <p:spPr>
          <a:xfrm>
            <a:off x="5892800" y="3150592"/>
            <a:ext cx="406400" cy="203200"/>
          </a:xfrm>
          <a:prstGeom prst="rect">
            <a:avLst/>
          </a:prstGeom>
        </p:spPr>
      </p:pic>
      <p:sp>
        <p:nvSpPr>
          <p:cNvPr id="15" name="Shape 11"/>
          <p:cNvSpPr/>
          <p:nvPr/>
        </p:nvSpPr>
        <p:spPr>
          <a:xfrm>
            <a:off x="6505575" y="1676995"/>
            <a:ext cx="4870450" cy="3150394"/>
          </a:xfrm>
          <a:prstGeom prst="roundRect">
            <a:avLst>
              <a:gd name="adj" fmla="val 3124"/>
            </a:avLst>
          </a:prstGeom>
          <a:solidFill>
            <a:srgbClr val="DCE8F4"/>
          </a:solidFill>
          <a:ln w="6350">
            <a:solidFill>
              <a:srgbClr val="A9C2DC"/>
            </a:solidFill>
            <a:prstDash val="solid"/>
          </a:ln>
        </p:spPr>
      </p:sp>
      <p:pic>
        <p:nvPicPr>
          <p:cNvPr id="16" name="Image 2" descr="Database">    </p:cNvPr>
          <p:cNvPicPr>
            <a:picLocks noChangeAspect="1"/>
          </p:cNvPicPr>
          <p:nvPr/>
        </p:nvPicPr>
        <p:blipFill>
          <a:blip r:embed="rId3"/>
          <a:srcRect l="0" r="0" t="0" b="0"/>
          <a:stretch/>
        </p:blipFill>
        <p:spPr>
          <a:xfrm>
            <a:off x="6737350" y="1883370"/>
            <a:ext cx="254000" cy="254000"/>
          </a:xfrm>
          <a:prstGeom prst="rect">
            <a:avLst/>
          </a:prstGeom>
        </p:spPr>
      </p:pic>
      <p:sp>
        <p:nvSpPr>
          <p:cNvPr id="17" name="Text 12"/>
          <p:cNvSpPr/>
          <p:nvPr/>
        </p:nvSpPr>
        <p:spPr>
          <a:xfrm>
            <a:off x="7092950" y="1888430"/>
            <a:ext cx="8988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Rešenje</a:t>
            </a:r>
            <a:endParaRPr lang="en-US" sz="1600" dirty="0"/>
          </a:p>
        </p:txBody>
      </p:sp>
      <p:sp>
        <p:nvSpPr>
          <p:cNvPr id="18" name="Text 13"/>
          <p:cNvSpPr/>
          <p:nvPr/>
        </p:nvSpPr>
        <p:spPr>
          <a:xfrm>
            <a:off x="6737350" y="2264370"/>
            <a:ext cx="453910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Ispitna postrojenja</a:t>
            </a:r>
            <a:endParaRPr lang="en-US" sz="1400" dirty="0"/>
          </a:p>
        </p:txBody>
      </p:sp>
      <p:sp>
        <p:nvSpPr>
          <p:cNvPr id="19" name="Text 14"/>
          <p:cNvSpPr/>
          <p:nvPr/>
        </p:nvSpPr>
        <p:spPr>
          <a:xfrm>
            <a:off x="6737350" y="2538611"/>
            <a:ext cx="45391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Umanjene replike stvarnih procesa namenjene istraživanju.</a:t>
            </a:r>
            <a:endParaRPr lang="en-US" sz="1200" dirty="0"/>
          </a:p>
        </p:txBody>
      </p:sp>
      <p:sp>
        <p:nvSpPr>
          <p:cNvPr id="20" name="Text 15"/>
          <p:cNvSpPr/>
          <p:nvPr/>
        </p:nvSpPr>
        <p:spPr>
          <a:xfrm>
            <a:off x="6737350" y="2878931"/>
            <a:ext cx="453910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Kontrolisani napadi</a:t>
            </a:r>
            <a:endParaRPr lang="en-US" sz="1400" dirty="0"/>
          </a:p>
        </p:txBody>
      </p:sp>
      <p:sp>
        <p:nvSpPr>
          <p:cNvPr id="21" name="Text 16"/>
          <p:cNvSpPr/>
          <p:nvPr/>
        </p:nvSpPr>
        <p:spPr>
          <a:xfrm>
            <a:off x="6737350" y="3153172"/>
            <a:ext cx="453910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Napadi se izvode po planu, a njihov početak i kraj precizno se beleže.</a:t>
            </a:r>
            <a:endParaRPr lang="en-US" sz="1200" dirty="0"/>
          </a:p>
        </p:txBody>
      </p:sp>
      <p:sp>
        <p:nvSpPr>
          <p:cNvPr id="22" name="Text 17"/>
          <p:cNvSpPr/>
          <p:nvPr/>
        </p:nvSpPr>
        <p:spPr>
          <a:xfrm>
            <a:off x="6737350" y="3706813"/>
            <a:ext cx="453910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Javno objavljeni skupovi</a:t>
            </a:r>
            <a:endParaRPr lang="en-US" sz="1400" dirty="0"/>
          </a:p>
        </p:txBody>
      </p:sp>
      <p:sp>
        <p:nvSpPr>
          <p:cNvPr id="23" name="Text 18"/>
          <p:cNvSpPr/>
          <p:nvPr/>
        </p:nvSpPr>
        <p:spPr>
          <a:xfrm>
            <a:off x="6737350" y="3981053"/>
            <a:ext cx="453910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Isti podaci dostupni su svim istraživačima, pa se metode mogu porediti.</a:t>
            </a:r>
            <a:endParaRPr lang="en-US" sz="1200" dirty="0"/>
          </a:p>
        </p:txBody>
      </p:sp>
      <p:sp>
        <p:nvSpPr>
          <p:cNvPr id="24" name="Shape 19"/>
          <p:cNvSpPr/>
          <p:nvPr/>
        </p:nvSpPr>
        <p:spPr>
          <a:xfrm>
            <a:off x="812800" y="6209705"/>
            <a:ext cx="10566400" cy="0"/>
          </a:xfrm>
          <a:prstGeom prst="line">
            <a:avLst/>
          </a:prstGeom>
          <a:noFill/>
          <a:ln w="6350">
            <a:solidFill>
              <a:srgbClr val="D3DAE1"/>
            </a:solidFill>
            <a:prstDash val="solid"/>
          </a:ln>
        </p:spPr>
      </p:sp>
      <p:sp>
        <p:nvSpPr>
          <p:cNvPr id="25" name="Text 20"/>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26"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BF0F5"/>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0A5CA8"/>
                </a:solidFill>
                <a:latin typeface="IBM Plex Mono" pitchFamily="49" charset="0"/>
                <a:ea typeface="IBM Plex Mono" pitchFamily="49" charset="-122"/>
                <a:cs typeface="IBM Plex Mono" pitchFamily="49" charset="-120"/>
              </a:rPr>
              <a:t>01</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DEO PRVI</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Javno dostupni podaci</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Šta se smatra javno dostupnim podacima, odakle potiču, pod kojim uslovima se koriste i šta čini dobar skup podataka.</a:t>
            </a:r>
            <a:endParaRPr lang="en-US" sz="1400" dirty="0"/>
          </a:p>
        </p:txBody>
      </p:sp>
      <p:sp>
        <p:nvSpPr>
          <p:cNvPr id="6" name="Text 4"/>
          <p:cNvSpPr/>
          <p:nvPr/>
        </p:nvSpPr>
        <p:spPr>
          <a:xfrm>
            <a:off x="4270375" y="3915966"/>
            <a:ext cx="1475780"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Pojam i kategorije</a:t>
            </a:r>
            <a:endParaRPr lang="en-US" sz="1200" dirty="0"/>
          </a:p>
        </p:txBody>
      </p:sp>
      <p:sp>
        <p:nvSpPr>
          <p:cNvPr id="7" name="Text 5"/>
          <p:cNvSpPr/>
          <p:nvPr/>
        </p:nvSpPr>
        <p:spPr>
          <a:xfrm>
            <a:off x="5828705" y="3915966"/>
            <a:ext cx="1320502"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Izvori podataka</a:t>
            </a:r>
            <a:endParaRPr lang="en-US" sz="1200" dirty="0"/>
          </a:p>
        </p:txBody>
      </p:sp>
      <p:sp>
        <p:nvSpPr>
          <p:cNvPr id="8" name="Text 6"/>
          <p:cNvSpPr/>
          <p:nvPr/>
        </p:nvSpPr>
        <p:spPr>
          <a:xfrm>
            <a:off x="7231757" y="3915966"/>
            <a:ext cx="1387078"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Pregled skupova</a:t>
            </a:r>
            <a:endParaRPr lang="en-US" sz="1200" dirty="0"/>
          </a:p>
        </p:txBody>
      </p:sp>
      <p:sp>
        <p:nvSpPr>
          <p:cNvPr id="9" name="Text 7"/>
          <p:cNvSpPr/>
          <p:nvPr/>
        </p:nvSpPr>
        <p:spPr>
          <a:xfrm>
            <a:off x="8701385" y="3915966"/>
            <a:ext cx="1190030"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FAIR i licence</a:t>
            </a:r>
            <a:endParaRPr lang="en-US" sz="1200" dirty="0"/>
          </a:p>
        </p:txBody>
      </p:sp>
      <p:sp>
        <p:nvSpPr>
          <p:cNvPr id="10" name="Text 8"/>
          <p:cNvSpPr/>
          <p:nvPr/>
        </p:nvSpPr>
        <p:spPr>
          <a:xfrm>
            <a:off x="4270375" y="4319786"/>
            <a:ext cx="1225352"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Kvalitet skupa</a:t>
            </a:r>
            <a:endParaRPr lang="en-US" sz="1200" dirty="0"/>
          </a:p>
        </p:txBody>
      </p:sp>
      <p:sp>
        <p:nvSpPr>
          <p:cNvPr id="11" name="Text 9"/>
          <p:cNvSpPr/>
          <p:nvPr/>
        </p:nvSpPr>
        <p:spPr>
          <a:xfrm>
            <a:off x="5578277" y="4319786"/>
            <a:ext cx="1076523"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Ograničenja</a:t>
            </a:r>
            <a:endParaRPr lang="en-US" sz="1200" dirty="0"/>
          </a:p>
        </p:txBody>
      </p:sp>
      <p:sp>
        <p:nvSpPr>
          <p:cNvPr id="12" name="Shape 10"/>
          <p:cNvSpPr/>
          <p:nvPr/>
        </p:nvSpPr>
        <p:spPr>
          <a:xfrm>
            <a:off x="812800" y="6209705"/>
            <a:ext cx="10566400" cy="0"/>
          </a:xfrm>
          <a:prstGeom prst="line">
            <a:avLst/>
          </a:prstGeom>
          <a:noFill/>
          <a:ln w="6350">
            <a:solidFill>
              <a:srgbClr val="C3CEDA"/>
            </a:solidFill>
            <a:prstDash val="solid"/>
          </a:ln>
        </p:spPr>
      </p:sp>
      <p:sp>
        <p:nvSpPr>
          <p:cNvPr id="13" name="Text 11"/>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14" name="Text 1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01 · JAVNI PODACI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Pojam i kategorije javno dostupnih podataka</a:t>
            </a:r>
            <a:endParaRPr lang="en-US" sz="3000" dirty="0"/>
          </a:p>
        </p:txBody>
      </p:sp>
      <p:sp>
        <p:nvSpPr>
          <p:cNvPr id="5" name="Text 3"/>
          <p:cNvSpPr/>
          <p:nvPr/>
        </p:nvSpPr>
        <p:spPr>
          <a:xfrm>
            <a:off x="812800" y="1673820"/>
            <a:ext cx="9810750"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3202D"/>
                </a:solidFill>
                <a:latin typeface="IBM Plex Sans" pitchFamily="34" charset="0"/>
                <a:ea typeface="IBM Plex Sans" pitchFamily="34" charset="-122"/>
                <a:cs typeface="IBM Plex Sans" pitchFamily="34" charset="-120"/>
              </a:rPr>
              <a:t>Javno dostupni podaci</a:t>
            </a:r>
            <a:r>
              <a:rPr lang="en-US" sz="1400" dirty="0">
                <a:solidFill>
                  <a:srgbClr val="44505D"/>
                </a:solidFill>
                <a:latin typeface="IBM Plex Sans" pitchFamily="34" charset="0"/>
                <a:ea typeface="IBM Plex Sans" pitchFamily="34" charset="-122"/>
                <a:cs typeface="IBM Plex Sans" pitchFamily="34" charset="-120"/>
              </a:rPr>
              <a:t> su podaci kojima može pristupiti svaki zainteresovani korisnik, slobodno ili pod objavljenim uslovima, bez posebnog odnosa sa vlasnikom podataka.</a:t>
            </a:r>
            <a:endParaRPr lang="en-US" sz="1400" dirty="0"/>
          </a:p>
        </p:txBody>
      </p:sp>
      <p:sp>
        <p:nvSpPr>
          <p:cNvPr id="6" name="Shape 4"/>
          <p:cNvSpPr/>
          <p:nvPr/>
        </p:nvSpPr>
        <p:spPr>
          <a:xfrm>
            <a:off x="815975" y="2446536"/>
            <a:ext cx="3414117" cy="1647031"/>
          </a:xfrm>
          <a:prstGeom prst="roundRect">
            <a:avLst>
              <a:gd name="adj" fmla="val 5976"/>
            </a:avLst>
          </a:prstGeom>
          <a:solidFill>
            <a:srgbClr val="FCFCFB"/>
          </a:solidFill>
          <a:ln w="6350">
            <a:solidFill>
              <a:srgbClr val="D3DAE1"/>
            </a:solidFill>
            <a:prstDash val="solid"/>
          </a:ln>
        </p:spPr>
      </p:sp>
      <p:pic>
        <p:nvPicPr>
          <p:cNvPr id="7" name="Image 0" descr="Globe">    </p:cNvPr>
          <p:cNvPicPr>
            <a:picLocks noChangeAspect="1"/>
          </p:cNvPicPr>
          <p:nvPr/>
        </p:nvPicPr>
        <p:blipFill>
          <a:blip r:embed="rId1"/>
          <a:srcRect l="0" r="0" t="0" b="0"/>
          <a:stretch/>
        </p:blipFill>
        <p:spPr>
          <a:xfrm>
            <a:off x="1022350" y="2627511"/>
            <a:ext cx="279400" cy="279400"/>
          </a:xfrm>
          <a:prstGeom prst="rect">
            <a:avLst/>
          </a:prstGeom>
        </p:spPr>
      </p:pic>
      <p:sp>
        <p:nvSpPr>
          <p:cNvPr id="8" name="Text 5"/>
          <p:cNvSpPr/>
          <p:nvPr/>
        </p:nvSpPr>
        <p:spPr>
          <a:xfrm>
            <a:off x="1022350" y="2983111"/>
            <a:ext cx="309140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Otvoreni podaci</a:t>
            </a:r>
            <a:endParaRPr lang="en-US" sz="1400" dirty="0"/>
          </a:p>
        </p:txBody>
      </p:sp>
      <p:sp>
        <p:nvSpPr>
          <p:cNvPr id="9" name="Text 6"/>
          <p:cNvSpPr/>
          <p:nvPr/>
        </p:nvSpPr>
        <p:spPr>
          <a:xfrm>
            <a:off x="1022350" y="3272631"/>
            <a:ext cx="309140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Podaci javnog sektora i institucija, u mašinski čitljivom obliku i pod otvorenom licencom.</a:t>
            </a:r>
            <a:endParaRPr lang="en-US" sz="1200" dirty="0"/>
          </a:p>
        </p:txBody>
      </p:sp>
      <p:sp>
        <p:nvSpPr>
          <p:cNvPr id="10" name="Shape 7"/>
          <p:cNvSpPr/>
          <p:nvPr/>
        </p:nvSpPr>
        <p:spPr>
          <a:xfrm>
            <a:off x="4388842" y="2446536"/>
            <a:ext cx="3414216" cy="1647031"/>
          </a:xfrm>
          <a:prstGeom prst="roundRect">
            <a:avLst>
              <a:gd name="adj" fmla="val 5976"/>
            </a:avLst>
          </a:prstGeom>
          <a:solidFill>
            <a:srgbClr val="DCE8F4"/>
          </a:solidFill>
          <a:ln w="6350">
            <a:solidFill>
              <a:srgbClr val="A9C2DC"/>
            </a:solidFill>
            <a:prstDash val="solid"/>
          </a:ln>
        </p:spPr>
      </p:sp>
      <p:pic>
        <p:nvPicPr>
          <p:cNvPr id="11" name="Image 1" descr="Database">    </p:cNvPr>
          <p:cNvPicPr>
            <a:picLocks noChangeAspect="1"/>
          </p:cNvPicPr>
          <p:nvPr/>
        </p:nvPicPr>
        <p:blipFill>
          <a:blip r:embed="rId2"/>
          <a:srcRect l="0" r="0" t="0" b="0"/>
          <a:stretch/>
        </p:blipFill>
        <p:spPr>
          <a:xfrm>
            <a:off x="4595217" y="2627511"/>
            <a:ext cx="279400" cy="279400"/>
          </a:xfrm>
          <a:prstGeom prst="rect">
            <a:avLst/>
          </a:prstGeom>
        </p:spPr>
      </p:pic>
      <p:sp>
        <p:nvSpPr>
          <p:cNvPr id="12" name="Text 8"/>
          <p:cNvSpPr/>
          <p:nvPr/>
        </p:nvSpPr>
        <p:spPr>
          <a:xfrm>
            <a:off x="4595217" y="2983111"/>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Istraživački skupovi</a:t>
            </a:r>
            <a:endParaRPr lang="en-US" sz="1400" dirty="0"/>
          </a:p>
        </p:txBody>
      </p:sp>
      <p:sp>
        <p:nvSpPr>
          <p:cNvPr id="13" name="Text 9"/>
          <p:cNvSpPr/>
          <p:nvPr/>
        </p:nvSpPr>
        <p:spPr>
          <a:xfrm>
            <a:off x="4595217" y="3272631"/>
            <a:ext cx="309151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Podaci sa ispitnih postrojenja i simulacija, sa označenim normalnim radom i napadima.</a:t>
            </a:r>
            <a:endParaRPr lang="en-US" sz="1200" dirty="0"/>
          </a:p>
        </p:txBody>
      </p:sp>
      <p:sp>
        <p:nvSpPr>
          <p:cNvPr id="14" name="Shape 10"/>
          <p:cNvSpPr/>
          <p:nvPr/>
        </p:nvSpPr>
        <p:spPr>
          <a:xfrm>
            <a:off x="7961809" y="2446536"/>
            <a:ext cx="3414216" cy="1647031"/>
          </a:xfrm>
          <a:prstGeom prst="roundRect">
            <a:avLst>
              <a:gd name="adj" fmla="val 5976"/>
            </a:avLst>
          </a:prstGeom>
          <a:solidFill>
            <a:srgbClr val="FCFCFB"/>
          </a:solidFill>
          <a:ln w="6350">
            <a:solidFill>
              <a:srgbClr val="D3DAE1"/>
            </a:solidFill>
            <a:prstDash val="solid"/>
          </a:ln>
        </p:spPr>
      </p:sp>
      <p:pic>
        <p:nvPicPr>
          <p:cNvPr id="15" name="Image 2" descr="Search">    </p:cNvPr>
          <p:cNvPicPr>
            <a:picLocks noChangeAspect="1"/>
          </p:cNvPicPr>
          <p:nvPr/>
        </p:nvPicPr>
        <p:blipFill>
          <a:blip r:embed="rId3"/>
          <a:srcRect l="0" r="0" t="0" b="0"/>
          <a:stretch/>
        </p:blipFill>
        <p:spPr>
          <a:xfrm>
            <a:off x="8168184" y="2627511"/>
            <a:ext cx="279400" cy="279400"/>
          </a:xfrm>
          <a:prstGeom prst="rect">
            <a:avLst/>
          </a:prstGeom>
        </p:spPr>
      </p:pic>
      <p:sp>
        <p:nvSpPr>
          <p:cNvPr id="16" name="Text 11"/>
          <p:cNvSpPr/>
          <p:nvPr/>
        </p:nvSpPr>
        <p:spPr>
          <a:xfrm>
            <a:off x="8168184" y="2983111"/>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Obaveštajni podaci o pretnjama</a:t>
            </a:r>
            <a:endParaRPr lang="en-US" sz="1400" dirty="0"/>
          </a:p>
        </p:txBody>
      </p:sp>
      <p:sp>
        <p:nvSpPr>
          <p:cNvPr id="17" name="Text 12"/>
          <p:cNvSpPr/>
          <p:nvPr/>
        </p:nvSpPr>
        <p:spPr>
          <a:xfrm>
            <a:off x="8168184" y="327263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Javne baze ranjivosti, bezbednosna upozorenja i opisi tehnika napadača.</a:t>
            </a:r>
            <a:endParaRPr lang="en-US" sz="1200" dirty="0"/>
          </a:p>
        </p:txBody>
      </p:sp>
      <p:sp>
        <p:nvSpPr>
          <p:cNvPr id="18" name="Shape 13"/>
          <p:cNvSpPr/>
          <p:nvPr/>
        </p:nvSpPr>
        <p:spPr>
          <a:xfrm>
            <a:off x="812800" y="4350742"/>
            <a:ext cx="10566400" cy="508000"/>
          </a:xfrm>
          <a:prstGeom prst="roundRect">
            <a:avLst>
              <a:gd name="adj" fmla="val 15000"/>
            </a:avLst>
          </a:prstGeom>
          <a:solidFill>
            <a:srgbClr val="FBF1E6"/>
          </a:solidFill>
          <a:ln/>
        </p:spPr>
      </p:sp>
      <p:pic>
        <p:nvPicPr>
          <p:cNvPr id="19" name="Image 3" descr="Warning">    </p:cNvPr>
          <p:cNvPicPr>
            <a:picLocks noChangeAspect="1"/>
          </p:cNvPicPr>
          <p:nvPr/>
        </p:nvPicPr>
        <p:blipFill>
          <a:blip r:embed="rId4"/>
          <a:srcRect l="0" r="0" t="0" b="0"/>
          <a:stretch/>
        </p:blipFill>
        <p:spPr>
          <a:xfrm>
            <a:off x="990600" y="4477742"/>
            <a:ext cx="254000" cy="254000"/>
          </a:xfrm>
          <a:prstGeom prst="rect">
            <a:avLst/>
          </a:prstGeom>
        </p:spPr>
      </p:pic>
      <p:sp>
        <p:nvSpPr>
          <p:cNvPr id="20" name="Text 14"/>
          <p:cNvSpPr/>
          <p:nvPr/>
        </p:nvSpPr>
        <p:spPr>
          <a:xfrm>
            <a:off x="1371600" y="4498082"/>
            <a:ext cx="10124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Javno dostupan ne znači slobodan za svaku upotrebu: uslovi korišćenja, licenca i obaveza citiranja važe i za javne podatke.</a:t>
            </a:r>
            <a:endParaRPr lang="en-US" sz="1200" dirty="0"/>
          </a:p>
        </p:txBody>
      </p:sp>
      <p:sp>
        <p:nvSpPr>
          <p:cNvPr id="21" name="Shape 15"/>
          <p:cNvSpPr/>
          <p:nvPr/>
        </p:nvSpPr>
        <p:spPr>
          <a:xfrm>
            <a:off x="812800" y="6209705"/>
            <a:ext cx="10566400" cy="0"/>
          </a:xfrm>
          <a:prstGeom prst="line">
            <a:avLst/>
          </a:prstGeom>
          <a:noFill/>
          <a:ln w="6350">
            <a:solidFill>
              <a:srgbClr val="D3DAE1"/>
            </a:solidFill>
            <a:prstDash val="solid"/>
          </a:ln>
        </p:spPr>
      </p:sp>
      <p:sp>
        <p:nvSpPr>
          <p:cNvPr id="22" name="Text 16"/>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23" name="Text 1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01 · JAVNI PODACI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Izvori podataka u bezbednosti OT sistema</a:t>
            </a:r>
            <a:endParaRPr lang="en-US" sz="3000" dirty="0"/>
          </a:p>
        </p:txBody>
      </p:sp>
      <p:sp>
        <p:nvSpPr>
          <p:cNvPr id="5" name="Text 3"/>
          <p:cNvSpPr/>
          <p:nvPr/>
        </p:nvSpPr>
        <p:spPr>
          <a:xfrm>
            <a:off x="812800" y="1673820"/>
            <a:ext cx="65143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POREKLO PODATAKA</a:t>
            </a:r>
            <a:endParaRPr lang="en-US" sz="1200" dirty="0"/>
          </a:p>
        </p:txBody>
      </p:sp>
      <p:sp>
        <p:nvSpPr>
          <p:cNvPr id="6" name="Shape 4"/>
          <p:cNvSpPr/>
          <p:nvPr/>
        </p:nvSpPr>
        <p:spPr>
          <a:xfrm>
            <a:off x="815975" y="1991916"/>
            <a:ext cx="6318250" cy="466030"/>
          </a:xfrm>
          <a:prstGeom prst="roundRect">
            <a:avLst>
              <a:gd name="adj" fmla="val 15670"/>
            </a:avLst>
          </a:prstGeom>
          <a:solidFill>
            <a:srgbClr val="FCFCFB"/>
          </a:solidFill>
          <a:ln w="6350">
            <a:solidFill>
              <a:srgbClr val="D3DAE1"/>
            </a:solidFill>
            <a:prstDash val="solid"/>
          </a:ln>
        </p:spPr>
      </p:sp>
      <p:sp>
        <p:nvSpPr>
          <p:cNvPr id="7" name="Text 5"/>
          <p:cNvSpPr/>
          <p:nvPr/>
        </p:nvSpPr>
        <p:spPr>
          <a:xfrm>
            <a:off x="971550" y="2109391"/>
            <a:ext cx="1701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Fizički testbed</a:t>
            </a:r>
            <a:endParaRPr lang="en-US" sz="1300" dirty="0"/>
          </a:p>
        </p:txBody>
      </p:sp>
      <p:sp>
        <p:nvSpPr>
          <p:cNvPr id="8" name="Text 6"/>
          <p:cNvSpPr/>
          <p:nvPr/>
        </p:nvSpPr>
        <p:spPr>
          <a:xfrm>
            <a:off x="2749550" y="2122091"/>
            <a:ext cx="4355973"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Realna oprema i fizika, ali malo postrojenje</a:t>
            </a:r>
            <a:endParaRPr lang="en-US" sz="1200" dirty="0"/>
          </a:p>
        </p:txBody>
      </p:sp>
      <p:sp>
        <p:nvSpPr>
          <p:cNvPr id="9" name="Shape 7"/>
          <p:cNvSpPr/>
          <p:nvPr/>
        </p:nvSpPr>
        <p:spPr>
          <a:xfrm>
            <a:off x="815975" y="2565896"/>
            <a:ext cx="6318250" cy="466030"/>
          </a:xfrm>
          <a:prstGeom prst="roundRect">
            <a:avLst>
              <a:gd name="adj" fmla="val 15670"/>
            </a:avLst>
          </a:prstGeom>
          <a:solidFill>
            <a:srgbClr val="FCFCFB"/>
          </a:solidFill>
          <a:ln w="6350">
            <a:solidFill>
              <a:srgbClr val="D3DAE1"/>
            </a:solidFill>
            <a:prstDash val="solid"/>
          </a:ln>
        </p:spPr>
      </p:sp>
      <p:sp>
        <p:nvSpPr>
          <p:cNvPr id="10" name="Text 8"/>
          <p:cNvSpPr/>
          <p:nvPr/>
        </p:nvSpPr>
        <p:spPr>
          <a:xfrm>
            <a:off x="971550" y="2683371"/>
            <a:ext cx="1701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HIL testbed</a:t>
            </a:r>
            <a:endParaRPr lang="en-US" sz="1300" dirty="0"/>
          </a:p>
        </p:txBody>
      </p:sp>
      <p:sp>
        <p:nvSpPr>
          <p:cNvPr id="11" name="Text 9"/>
          <p:cNvSpPr/>
          <p:nvPr/>
        </p:nvSpPr>
        <p:spPr>
          <a:xfrm>
            <a:off x="2749550" y="2696071"/>
            <a:ext cx="4355973"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Stvarni kontroleri, deo procesa se simulira</a:t>
            </a:r>
            <a:endParaRPr lang="en-US" sz="1200" dirty="0"/>
          </a:p>
        </p:txBody>
      </p:sp>
      <p:sp>
        <p:nvSpPr>
          <p:cNvPr id="12" name="Shape 10"/>
          <p:cNvSpPr/>
          <p:nvPr/>
        </p:nvSpPr>
        <p:spPr>
          <a:xfrm>
            <a:off x="815975" y="3139877"/>
            <a:ext cx="6318250" cy="466030"/>
          </a:xfrm>
          <a:prstGeom prst="roundRect">
            <a:avLst>
              <a:gd name="adj" fmla="val 15670"/>
            </a:avLst>
          </a:prstGeom>
          <a:solidFill>
            <a:srgbClr val="FCFCFB"/>
          </a:solidFill>
          <a:ln w="6350">
            <a:solidFill>
              <a:srgbClr val="D3DAE1"/>
            </a:solidFill>
            <a:prstDash val="solid"/>
          </a:ln>
        </p:spPr>
      </p:sp>
      <p:sp>
        <p:nvSpPr>
          <p:cNvPr id="13" name="Text 11"/>
          <p:cNvSpPr/>
          <p:nvPr/>
        </p:nvSpPr>
        <p:spPr>
          <a:xfrm>
            <a:off x="971550" y="3257352"/>
            <a:ext cx="1701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Simulacija</a:t>
            </a:r>
            <a:endParaRPr lang="en-US" sz="1300" dirty="0"/>
          </a:p>
        </p:txBody>
      </p:sp>
      <p:sp>
        <p:nvSpPr>
          <p:cNvPr id="14" name="Text 12"/>
          <p:cNvSpPr/>
          <p:nvPr/>
        </p:nvSpPr>
        <p:spPr>
          <a:xfrm>
            <a:off x="2749550" y="3270052"/>
            <a:ext cx="4355973"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Jeftina i ponovljiva, ali pojednostavljena</a:t>
            </a:r>
            <a:endParaRPr lang="en-US" sz="1200" dirty="0"/>
          </a:p>
        </p:txBody>
      </p:sp>
      <p:sp>
        <p:nvSpPr>
          <p:cNvPr id="15" name="Shape 13"/>
          <p:cNvSpPr/>
          <p:nvPr/>
        </p:nvSpPr>
        <p:spPr>
          <a:xfrm>
            <a:off x="815975" y="3713857"/>
            <a:ext cx="6318250" cy="466030"/>
          </a:xfrm>
          <a:prstGeom prst="roundRect">
            <a:avLst>
              <a:gd name="adj" fmla="val 15670"/>
            </a:avLst>
          </a:prstGeom>
          <a:solidFill>
            <a:srgbClr val="FCFCFB"/>
          </a:solidFill>
          <a:ln w="6350">
            <a:solidFill>
              <a:srgbClr val="D3DAE1"/>
            </a:solidFill>
            <a:prstDash val="solid"/>
          </a:ln>
        </p:spPr>
      </p:sp>
      <p:sp>
        <p:nvSpPr>
          <p:cNvPr id="16" name="Text 14"/>
          <p:cNvSpPr/>
          <p:nvPr/>
        </p:nvSpPr>
        <p:spPr>
          <a:xfrm>
            <a:off x="971550" y="3831332"/>
            <a:ext cx="1701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Stvarni sistemi</a:t>
            </a:r>
            <a:endParaRPr lang="en-US" sz="1300" dirty="0"/>
          </a:p>
        </p:txBody>
      </p:sp>
      <p:sp>
        <p:nvSpPr>
          <p:cNvPr id="17" name="Text 15"/>
          <p:cNvSpPr/>
          <p:nvPr/>
        </p:nvSpPr>
        <p:spPr>
          <a:xfrm>
            <a:off x="2749550" y="3844032"/>
            <a:ext cx="4355973"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Najrealniji, ali retki i anonimizovani</a:t>
            </a:r>
            <a:endParaRPr lang="en-US" sz="1200" dirty="0"/>
          </a:p>
        </p:txBody>
      </p:sp>
      <p:sp>
        <p:nvSpPr>
          <p:cNvPr id="18" name="Text 16"/>
          <p:cNvSpPr/>
          <p:nvPr/>
        </p:nvSpPr>
        <p:spPr>
          <a:xfrm>
            <a:off x="7442200" y="1673820"/>
            <a:ext cx="40551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VRSTA PODATAKA</a:t>
            </a:r>
            <a:endParaRPr lang="en-US" sz="1200" dirty="0"/>
          </a:p>
        </p:txBody>
      </p:sp>
      <p:sp>
        <p:nvSpPr>
          <p:cNvPr id="19" name="Shape 17"/>
          <p:cNvSpPr/>
          <p:nvPr/>
        </p:nvSpPr>
        <p:spPr>
          <a:xfrm>
            <a:off x="7442200" y="1988741"/>
            <a:ext cx="3937000" cy="678061"/>
          </a:xfrm>
          <a:prstGeom prst="roundRect">
            <a:avLst>
              <a:gd name="adj" fmla="val 11238"/>
            </a:avLst>
          </a:prstGeom>
          <a:solidFill>
            <a:srgbClr val="DCE8F4"/>
          </a:solidFill>
          <a:ln/>
        </p:spPr>
      </p:sp>
      <p:pic>
        <p:nvPicPr>
          <p:cNvPr id="20" name="Image 0" descr="Chart">    </p:cNvPr>
          <p:cNvPicPr>
            <a:picLocks noChangeAspect="1"/>
          </p:cNvPicPr>
          <p:nvPr/>
        </p:nvPicPr>
        <p:blipFill>
          <a:blip r:embed="rId1"/>
          <a:srcRect l="0" r="0" t="0" b="0"/>
          <a:stretch/>
        </p:blipFill>
        <p:spPr>
          <a:xfrm>
            <a:off x="7594600" y="2103041"/>
            <a:ext cx="254000" cy="254000"/>
          </a:xfrm>
          <a:prstGeom prst="rect">
            <a:avLst/>
          </a:prstGeom>
        </p:spPr>
      </p:pic>
      <p:sp>
        <p:nvSpPr>
          <p:cNvPr id="21" name="Text 18"/>
          <p:cNvSpPr/>
          <p:nvPr/>
        </p:nvSpPr>
        <p:spPr>
          <a:xfrm>
            <a:off x="7975600" y="2103041"/>
            <a:ext cx="334873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Procesni podaci</a:t>
            </a:r>
            <a:endParaRPr lang="en-US" sz="1300" dirty="0"/>
          </a:p>
        </p:txBody>
      </p:sp>
      <p:sp>
        <p:nvSpPr>
          <p:cNvPr id="22" name="Text 19"/>
          <p:cNvSpPr/>
          <p:nvPr/>
        </p:nvSpPr>
        <p:spPr>
          <a:xfrm>
            <a:off x="7975600" y="2346821"/>
            <a:ext cx="334873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Vremenske serije iz historiana</a:t>
            </a:r>
            <a:endParaRPr lang="en-US" sz="1200" dirty="0"/>
          </a:p>
        </p:txBody>
      </p:sp>
      <p:sp>
        <p:nvSpPr>
          <p:cNvPr id="23" name="Shape 20"/>
          <p:cNvSpPr/>
          <p:nvPr/>
        </p:nvSpPr>
        <p:spPr>
          <a:xfrm>
            <a:off x="7442200" y="2768402"/>
            <a:ext cx="3937000" cy="678061"/>
          </a:xfrm>
          <a:prstGeom prst="roundRect">
            <a:avLst>
              <a:gd name="adj" fmla="val 11238"/>
            </a:avLst>
          </a:prstGeom>
          <a:solidFill>
            <a:srgbClr val="DCE8F4"/>
          </a:solidFill>
          <a:ln/>
        </p:spPr>
      </p:sp>
      <p:pic>
        <p:nvPicPr>
          <p:cNvPr id="24" name="Image 1" descr="Link">    </p:cNvPr>
          <p:cNvPicPr>
            <a:picLocks noChangeAspect="1"/>
          </p:cNvPicPr>
          <p:nvPr/>
        </p:nvPicPr>
        <p:blipFill>
          <a:blip r:embed="rId2"/>
          <a:srcRect l="0" r="0" t="0" b="0"/>
          <a:stretch/>
        </p:blipFill>
        <p:spPr>
          <a:xfrm>
            <a:off x="7594600" y="2882702"/>
            <a:ext cx="254000" cy="254000"/>
          </a:xfrm>
          <a:prstGeom prst="rect">
            <a:avLst/>
          </a:prstGeom>
        </p:spPr>
      </p:pic>
      <p:sp>
        <p:nvSpPr>
          <p:cNvPr id="25" name="Text 21"/>
          <p:cNvSpPr/>
          <p:nvPr/>
        </p:nvSpPr>
        <p:spPr>
          <a:xfrm>
            <a:off x="7975600" y="2882702"/>
            <a:ext cx="334873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Mrežni saobraćaj</a:t>
            </a:r>
            <a:endParaRPr lang="en-US" sz="1300" dirty="0"/>
          </a:p>
        </p:txBody>
      </p:sp>
      <p:sp>
        <p:nvSpPr>
          <p:cNvPr id="26" name="Text 22"/>
          <p:cNvSpPr/>
          <p:nvPr/>
        </p:nvSpPr>
        <p:spPr>
          <a:xfrm>
            <a:off x="7975600" y="3126482"/>
            <a:ext cx="334873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Snimci paketa (PCAP) i tokovi</a:t>
            </a:r>
            <a:endParaRPr lang="en-US" sz="1200" dirty="0"/>
          </a:p>
        </p:txBody>
      </p:sp>
      <p:sp>
        <p:nvSpPr>
          <p:cNvPr id="27" name="Shape 23"/>
          <p:cNvSpPr/>
          <p:nvPr/>
        </p:nvSpPr>
        <p:spPr>
          <a:xfrm>
            <a:off x="7442200" y="3548063"/>
            <a:ext cx="3937000" cy="678061"/>
          </a:xfrm>
          <a:prstGeom prst="roundRect">
            <a:avLst>
              <a:gd name="adj" fmla="val 11238"/>
            </a:avLst>
          </a:prstGeom>
          <a:solidFill>
            <a:srgbClr val="DCE8F4"/>
          </a:solidFill>
          <a:ln/>
        </p:spPr>
      </p:sp>
      <p:pic>
        <p:nvPicPr>
          <p:cNvPr id="28" name="Image 2" descr="Book">    </p:cNvPr>
          <p:cNvPicPr>
            <a:picLocks noChangeAspect="1"/>
          </p:cNvPicPr>
          <p:nvPr/>
        </p:nvPicPr>
        <p:blipFill>
          <a:blip r:embed="rId3"/>
          <a:srcRect l="0" r="0" t="0" b="0"/>
          <a:stretch/>
        </p:blipFill>
        <p:spPr>
          <a:xfrm>
            <a:off x="7594600" y="3662362"/>
            <a:ext cx="254000" cy="254000"/>
          </a:xfrm>
          <a:prstGeom prst="rect">
            <a:avLst/>
          </a:prstGeom>
        </p:spPr>
      </p:pic>
      <p:sp>
        <p:nvSpPr>
          <p:cNvPr id="29" name="Text 24"/>
          <p:cNvSpPr/>
          <p:nvPr/>
        </p:nvSpPr>
        <p:spPr>
          <a:xfrm>
            <a:off x="7975600" y="3662362"/>
            <a:ext cx="334873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Logovi i događaji</a:t>
            </a:r>
            <a:endParaRPr lang="en-US" sz="1300" dirty="0"/>
          </a:p>
        </p:txBody>
      </p:sp>
      <p:sp>
        <p:nvSpPr>
          <p:cNvPr id="30" name="Text 25"/>
          <p:cNvSpPr/>
          <p:nvPr/>
        </p:nvSpPr>
        <p:spPr>
          <a:xfrm>
            <a:off x="7975600" y="3906143"/>
            <a:ext cx="334873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Zapisi uređaja, stanica i alarma</a:t>
            </a:r>
            <a:endParaRPr lang="en-US" sz="1200" dirty="0"/>
          </a:p>
        </p:txBody>
      </p:sp>
      <p:sp>
        <p:nvSpPr>
          <p:cNvPr id="31" name="Shape 26"/>
          <p:cNvSpPr/>
          <p:nvPr/>
        </p:nvSpPr>
        <p:spPr>
          <a:xfrm>
            <a:off x="812800" y="6209705"/>
            <a:ext cx="10566400" cy="0"/>
          </a:xfrm>
          <a:prstGeom prst="line">
            <a:avLst/>
          </a:prstGeom>
          <a:noFill/>
          <a:ln w="6350">
            <a:solidFill>
              <a:srgbClr val="D3DAE1"/>
            </a:solidFill>
            <a:prstDash val="solid"/>
          </a:ln>
        </p:spPr>
      </p:sp>
      <p:sp>
        <p:nvSpPr>
          <p:cNvPr id="32" name="Text 27"/>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33"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01 · JAVNI PODACI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Pregled poznatih skupova podataka</a:t>
            </a:r>
            <a:endParaRPr lang="en-US" sz="3000" dirty="0"/>
          </a:p>
        </p:txBody>
      </p:sp>
      <p:sp>
        <p:nvSpPr>
          <p:cNvPr id="5" name="Shape 3"/>
          <p:cNvSpPr/>
          <p:nvPr/>
        </p:nvSpPr>
        <p:spPr>
          <a:xfrm>
            <a:off x="812800" y="1673820"/>
            <a:ext cx="10566400" cy="2396133"/>
          </a:xfrm>
          <a:prstGeom prst="roundRect">
            <a:avLst>
              <a:gd name="adj" fmla="val 4240"/>
            </a:avLst>
          </a:prstGeom>
          <a:solidFill>
            <a:srgbClr val="FCFCFB"/>
          </a:solidFill>
          <a:ln/>
        </p:spPr>
      </p:sp>
      <p:sp>
        <p:nvSpPr>
          <p:cNvPr id="6" name="Shape 4"/>
          <p:cNvSpPr/>
          <p:nvPr/>
        </p:nvSpPr>
        <p:spPr>
          <a:xfrm>
            <a:off x="812800" y="1673820"/>
            <a:ext cx="10566400" cy="2396133"/>
          </a:xfrm>
          <a:custGeom>
            <a:avLst/>
            <a:gdLst/>
            <a:ahLst/>
            <a:cxnLst/>
            <a:rect l="l" t="t" r="r" b="b"/>
            <a:pathLst>
              <a:path w="10566400" h="2396133">
                <a:moveTo>
                  <a:pt x="10464800" y="0"/>
                </a:moveTo>
                <a:lnTo>
                  <a:pt x="10464800" y="0"/>
                </a:lnTo>
                <a:arcTo hR="101600" wR="101600" stAng="16200000" swAng="5400000"/>
                <a:lnTo>
                  <a:pt x="10566400" y="2294533"/>
                </a:lnTo>
                <a:arcTo hR="101600" wR="101600" stAng="0" swAng="5400000"/>
                <a:lnTo>
                  <a:pt x="101600" y="2396133"/>
                </a:lnTo>
                <a:arcTo hR="101600" wR="101600" stAng="5400000" swAng="5400000"/>
                <a:lnTo>
                  <a:pt x="0" y="2294533"/>
                </a:lnTo>
                <a:arcTo hR="95250" wR="101600" stAng="10800000" swAng="-5400000"/>
                <a:lnTo>
                  <a:pt x="10464800" y="2389783"/>
                </a:lnTo>
                <a:arcTo hR="95250" wR="95250" stAng="5400000" swAng="-5400000"/>
                <a:lnTo>
                  <a:pt x="10560050" y="101600"/>
                </a:lnTo>
                <a:arcTo hR="101600" wR="95250" stAng="0" swAng="-5400000"/>
                <a:close/>
              </a:path>
            </a:pathLst>
          </a:custGeom>
          <a:solidFill>
            <a:srgbClr val="D3DAE1"/>
          </a:solidFill>
          <a:ln/>
        </p:spPr>
      </p:sp>
      <p:sp>
        <p:nvSpPr>
          <p:cNvPr id="7" name="Shape 5"/>
          <p:cNvSpPr/>
          <p:nvPr/>
        </p:nvSpPr>
        <p:spPr>
          <a:xfrm>
            <a:off x="812800" y="1673820"/>
            <a:ext cx="10566400" cy="2396133"/>
          </a:xfrm>
          <a:custGeom>
            <a:avLst/>
            <a:gdLst/>
            <a:ahLst/>
            <a:cxnLst/>
            <a:rect l="l" t="t" r="r" b="b"/>
            <a:pathLst>
              <a:path w="10566400" h="2396133">
                <a:moveTo>
                  <a:pt x="101600" y="2396133"/>
                </a:moveTo>
                <a:lnTo>
                  <a:pt x="101600" y="2396133"/>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294533"/>
                </a:lnTo>
                <a:arcTo hR="101600" wR="8890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686520"/>
          <a:ext cx="10547350" cy="2377083"/>
        </p:xfrm>
        <a:graphic>
          <a:graphicData uri="http://schemas.openxmlformats.org/drawingml/2006/table">
            <a:tbl>
              <a:tblPr/>
              <a:tblGrid>
                <a:gridCol w="1476629"/>
                <a:gridCol w="2320417"/>
                <a:gridCol w="2109470"/>
                <a:gridCol w="3164205"/>
                <a:gridCol w="1476629"/>
              </a:tblGrid>
              <a:tr h="396180">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Skup</a:t>
                      </a:r>
                      <a:endParaRPr lang="en-US" sz="1200" dirty="0">
                        <a:latin typeface="IBM Plex Sans" charset="0"/>
                        <a:ea typeface="IBM Plex Sans" charset="0"/>
                        <a:cs typeface="IBM Plex Sans" charset="0"/>
                      </a:endParaRPr>
                    </a:p>
                  </a:txBody>
                  <a:tcPr marL="139700" marR="139700" marT="88900" marB="88900" anchor="t">
                    <a:lnL w="0" cap="flat" cmpd="sng" algn="ctr">
                      <a:noFill/>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Izvor</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Proces</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Sadržaj</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Pristup</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r>
              <a:tr h="39618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SWaT</a:t>
                      </a:r>
                      <a:endParaRPr lang="en-US" sz="1200" dirty="0">
                        <a:latin typeface="IBM Plex Sans" charset="0"/>
                        <a:ea typeface="IBM Plex Sans" charset="0"/>
                        <a:cs typeface="IBM Plex Sans" charset="0"/>
                      </a:endParaRPr>
                    </a:p>
                  </a:txBody>
                  <a:tcPr marL="139700" marR="1397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iTrust, SUTD, Singapur</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Prečišćavanje vode</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51 senzor i aktuator, mreža</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 zahtev</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9618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WADI</a:t>
                      </a:r>
                      <a:endParaRPr lang="en-US" sz="1200" dirty="0">
                        <a:latin typeface="IBM Plex Sans" charset="0"/>
                        <a:ea typeface="IBM Plex Sans" charset="0"/>
                        <a:cs typeface="IBM Plex Sans" charset="0"/>
                      </a:endParaRPr>
                    </a:p>
                  </a:txBody>
                  <a:tcPr marL="139700" marR="1397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iTrust, SUTD, Singapur</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Distribucija vode</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123 senzora i aktuatora</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 zahtev</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9618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HAI</a:t>
                      </a:r>
                      <a:endParaRPr lang="en-US" sz="1200" dirty="0">
                        <a:latin typeface="IBM Plex Sans" charset="0"/>
                        <a:ea typeface="IBM Plex Sans" charset="0"/>
                        <a:cs typeface="IBM Plex Sans" charset="0"/>
                      </a:endParaRPr>
                    </a:p>
                  </a:txBody>
                  <a:tcPr marL="139700" marR="1397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ETRI, Južna Koreja</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Kotao, turbina, voda</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Do 86 tačaka, više verzija</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Slobodan</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9618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BATADAL</a:t>
                      </a:r>
                      <a:endParaRPr lang="en-US" sz="1200" dirty="0">
                        <a:latin typeface="IBM Plex Sans" charset="0"/>
                        <a:ea typeface="IBM Plex Sans" charset="0"/>
                        <a:cs typeface="IBM Plex Sans" charset="0"/>
                      </a:endParaRPr>
                    </a:p>
                  </a:txBody>
                  <a:tcPr marL="139700" marR="1397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Takmičenje</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Vodovodna mreža</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Simulacija, satni podaci</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Slobodan</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9618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Gas Pipeline</a:t>
                      </a:r>
                      <a:endParaRPr lang="en-US" sz="1200" dirty="0">
                        <a:latin typeface="IBM Plex Sans" charset="0"/>
                        <a:ea typeface="IBM Plex Sans" charset="0"/>
                        <a:cs typeface="IBM Plex Sans" charset="0"/>
                      </a:endParaRPr>
                    </a:p>
                  </a:txBody>
                  <a:tcPr marL="139700" marR="1397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Mississippi State</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Gasovod</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Mrežni saobraćaj Modbus</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Slobodan</a:t>
                      </a:r>
                      <a:endParaRPr lang="en-US" sz="1200" dirty="0">
                        <a:latin typeface="IBM Plex Sans" charset="0"/>
                        <a:ea typeface="IBM Plex Sans" charset="0"/>
                        <a:cs typeface="IBM Plex Sans" charset="0"/>
                      </a:endParaRPr>
                    </a:p>
                  </a:txBody>
                  <a:tcPr marL="139700" marR="1397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9" name="Text 6"/>
          <p:cNvSpPr/>
          <p:nvPr/>
        </p:nvSpPr>
        <p:spPr>
          <a:xfrm>
            <a:off x="812800" y="432395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Za detaljnu analizu izabrani su SWaT, kao najčešće korišćen skup u literaturi, i HAI, kao slobodno dostupan skup sa više verzija.</a:t>
            </a:r>
            <a:endParaRPr lang="en-US" sz="1200" dirty="0"/>
          </a:p>
        </p:txBody>
      </p:sp>
      <p:sp>
        <p:nvSpPr>
          <p:cNvPr id="10" name="Shape 7"/>
          <p:cNvSpPr/>
          <p:nvPr/>
        </p:nvSpPr>
        <p:spPr>
          <a:xfrm>
            <a:off x="812800" y="6209705"/>
            <a:ext cx="10566400" cy="0"/>
          </a:xfrm>
          <a:prstGeom prst="line">
            <a:avLst/>
          </a:prstGeom>
          <a:noFill/>
          <a:ln w="6350">
            <a:solidFill>
              <a:srgbClr val="D3DAE1"/>
            </a:solidFill>
            <a:prstDash val="solid"/>
          </a:ln>
        </p:spPr>
      </p:sp>
      <p:sp>
        <p:nvSpPr>
          <p:cNvPr id="11" name="Text 8"/>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12" name="Text 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01 · JAVNI PODACI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FAIR principi i uslovi korišćenja</a:t>
            </a:r>
            <a:endParaRPr lang="en-US" sz="3000" dirty="0"/>
          </a:p>
        </p:txBody>
      </p:sp>
      <p:sp>
        <p:nvSpPr>
          <p:cNvPr id="5" name="Shape 3"/>
          <p:cNvSpPr/>
          <p:nvPr/>
        </p:nvSpPr>
        <p:spPr>
          <a:xfrm>
            <a:off x="815975" y="1676995"/>
            <a:ext cx="2520950" cy="1631752"/>
          </a:xfrm>
          <a:prstGeom prst="roundRect">
            <a:avLst>
              <a:gd name="adj" fmla="val 6032"/>
            </a:avLst>
          </a:prstGeom>
          <a:solidFill>
            <a:srgbClr val="FCFCFB"/>
          </a:solidFill>
          <a:ln w="6350">
            <a:solidFill>
              <a:srgbClr val="D3DAE1"/>
            </a:solidFill>
            <a:prstDash val="solid"/>
          </a:ln>
        </p:spPr>
      </p:sp>
      <p:sp>
        <p:nvSpPr>
          <p:cNvPr id="6" name="Text 4"/>
          <p:cNvSpPr/>
          <p:nvPr/>
        </p:nvSpPr>
        <p:spPr>
          <a:xfrm>
            <a:off x="996950" y="1857970"/>
            <a:ext cx="2223770" cy="528241"/>
          </a:xfrm>
          <a:prstGeom prst="rect">
            <a:avLst/>
          </a:prstGeom>
          <a:noFill/>
          <a:ln/>
        </p:spPr>
        <p:txBody>
          <a:bodyPr wrap="square" lIns="0" tIns="0" rIns="0" bIns="0" rtlCol="0" anchor="t">
            <a:normAutofit/>
          </a:bodyPr>
          <a:lstStyle/>
          <a:p>
            <a:pPr algn="l" indent="0" marL="0">
              <a:lnSpc>
                <a:spcPts val="3960"/>
              </a:lnSpc>
              <a:buNone/>
            </a:pPr>
            <a:r>
              <a:rPr lang="en-US" sz="3600" dirty="0">
                <a:solidFill>
                  <a:srgbClr val="0A5CA8"/>
                </a:solidFill>
                <a:latin typeface="IBM Plex Mono" pitchFamily="49" charset="0"/>
                <a:ea typeface="IBM Plex Mono" pitchFamily="49" charset="-122"/>
                <a:cs typeface="IBM Plex Mono" pitchFamily="49" charset="-120"/>
              </a:rPr>
              <a:t>F</a:t>
            </a:r>
            <a:endParaRPr lang="en-US" sz="3600" dirty="0"/>
          </a:p>
        </p:txBody>
      </p:sp>
      <p:sp>
        <p:nvSpPr>
          <p:cNvPr id="7" name="Text 5"/>
          <p:cNvSpPr/>
          <p:nvPr/>
        </p:nvSpPr>
        <p:spPr>
          <a:xfrm>
            <a:off x="996950" y="2424311"/>
            <a:ext cx="22237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Pronalazljivi</a:t>
            </a:r>
            <a:endParaRPr lang="en-US" sz="1400" dirty="0"/>
          </a:p>
        </p:txBody>
      </p:sp>
      <p:sp>
        <p:nvSpPr>
          <p:cNvPr id="8" name="Text 6"/>
          <p:cNvSpPr/>
          <p:nvPr/>
        </p:nvSpPr>
        <p:spPr>
          <a:xfrm>
            <a:off x="996950" y="270113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Trajni identifikator i opisni metapodaci.</a:t>
            </a:r>
            <a:endParaRPr lang="en-US" sz="1200" dirty="0"/>
          </a:p>
        </p:txBody>
      </p:sp>
      <p:sp>
        <p:nvSpPr>
          <p:cNvPr id="9" name="Shape 7"/>
          <p:cNvSpPr/>
          <p:nvPr/>
        </p:nvSpPr>
        <p:spPr>
          <a:xfrm>
            <a:off x="3495675" y="1676995"/>
            <a:ext cx="2520950" cy="1631752"/>
          </a:xfrm>
          <a:prstGeom prst="roundRect">
            <a:avLst>
              <a:gd name="adj" fmla="val 6032"/>
            </a:avLst>
          </a:prstGeom>
          <a:solidFill>
            <a:srgbClr val="FCFCFB"/>
          </a:solidFill>
          <a:ln w="6350">
            <a:solidFill>
              <a:srgbClr val="D3DAE1"/>
            </a:solidFill>
            <a:prstDash val="solid"/>
          </a:ln>
        </p:spPr>
      </p:sp>
      <p:sp>
        <p:nvSpPr>
          <p:cNvPr id="10" name="Text 8"/>
          <p:cNvSpPr/>
          <p:nvPr/>
        </p:nvSpPr>
        <p:spPr>
          <a:xfrm>
            <a:off x="3676650" y="1857970"/>
            <a:ext cx="2223770" cy="528241"/>
          </a:xfrm>
          <a:prstGeom prst="rect">
            <a:avLst/>
          </a:prstGeom>
          <a:noFill/>
          <a:ln/>
        </p:spPr>
        <p:txBody>
          <a:bodyPr wrap="square" lIns="0" tIns="0" rIns="0" bIns="0" rtlCol="0" anchor="t">
            <a:normAutofit/>
          </a:bodyPr>
          <a:lstStyle/>
          <a:p>
            <a:pPr algn="l" indent="0" marL="0">
              <a:lnSpc>
                <a:spcPts val="3960"/>
              </a:lnSpc>
              <a:buNone/>
            </a:pPr>
            <a:r>
              <a:rPr lang="en-US" sz="3600" dirty="0">
                <a:solidFill>
                  <a:srgbClr val="0A5CA8"/>
                </a:solidFill>
                <a:latin typeface="IBM Plex Mono" pitchFamily="49" charset="0"/>
                <a:ea typeface="IBM Plex Mono" pitchFamily="49" charset="-122"/>
                <a:cs typeface="IBM Plex Mono" pitchFamily="49" charset="-120"/>
              </a:rPr>
              <a:t>A</a:t>
            </a:r>
            <a:endParaRPr lang="en-US" sz="3600" dirty="0"/>
          </a:p>
        </p:txBody>
      </p:sp>
      <p:sp>
        <p:nvSpPr>
          <p:cNvPr id="11" name="Text 9"/>
          <p:cNvSpPr/>
          <p:nvPr/>
        </p:nvSpPr>
        <p:spPr>
          <a:xfrm>
            <a:off x="3676650" y="2424311"/>
            <a:ext cx="22237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Dostupni</a:t>
            </a:r>
            <a:endParaRPr lang="en-US" sz="1400" dirty="0"/>
          </a:p>
        </p:txBody>
      </p:sp>
      <p:sp>
        <p:nvSpPr>
          <p:cNvPr id="12" name="Text 10"/>
          <p:cNvSpPr/>
          <p:nvPr/>
        </p:nvSpPr>
        <p:spPr>
          <a:xfrm>
            <a:off x="3676650" y="270113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Jasan postupak pristupa, makar i uz autorizaciju.</a:t>
            </a:r>
            <a:endParaRPr lang="en-US" sz="1200" dirty="0"/>
          </a:p>
        </p:txBody>
      </p:sp>
      <p:sp>
        <p:nvSpPr>
          <p:cNvPr id="13" name="Shape 11"/>
          <p:cNvSpPr/>
          <p:nvPr/>
        </p:nvSpPr>
        <p:spPr>
          <a:xfrm>
            <a:off x="6175375" y="1676995"/>
            <a:ext cx="2520950" cy="1631752"/>
          </a:xfrm>
          <a:prstGeom prst="roundRect">
            <a:avLst>
              <a:gd name="adj" fmla="val 6032"/>
            </a:avLst>
          </a:prstGeom>
          <a:solidFill>
            <a:srgbClr val="FCFCFB"/>
          </a:solidFill>
          <a:ln w="6350">
            <a:solidFill>
              <a:srgbClr val="D3DAE1"/>
            </a:solidFill>
            <a:prstDash val="solid"/>
          </a:ln>
        </p:spPr>
      </p:sp>
      <p:sp>
        <p:nvSpPr>
          <p:cNvPr id="14" name="Text 12"/>
          <p:cNvSpPr/>
          <p:nvPr/>
        </p:nvSpPr>
        <p:spPr>
          <a:xfrm>
            <a:off x="6356350" y="1857970"/>
            <a:ext cx="2223770" cy="528241"/>
          </a:xfrm>
          <a:prstGeom prst="rect">
            <a:avLst/>
          </a:prstGeom>
          <a:noFill/>
          <a:ln/>
        </p:spPr>
        <p:txBody>
          <a:bodyPr wrap="square" lIns="0" tIns="0" rIns="0" bIns="0" rtlCol="0" anchor="t">
            <a:normAutofit/>
          </a:bodyPr>
          <a:lstStyle/>
          <a:p>
            <a:pPr algn="l" indent="0" marL="0">
              <a:lnSpc>
                <a:spcPts val="3960"/>
              </a:lnSpc>
              <a:buNone/>
            </a:pPr>
            <a:r>
              <a:rPr lang="en-US" sz="3600" dirty="0">
                <a:solidFill>
                  <a:srgbClr val="0A5CA8"/>
                </a:solidFill>
                <a:latin typeface="IBM Plex Mono" pitchFamily="49" charset="0"/>
                <a:ea typeface="IBM Plex Mono" pitchFamily="49" charset="-122"/>
                <a:cs typeface="IBM Plex Mono" pitchFamily="49" charset="-120"/>
              </a:rPr>
              <a:t>I</a:t>
            </a:r>
            <a:endParaRPr lang="en-US" sz="3600" dirty="0"/>
          </a:p>
        </p:txBody>
      </p:sp>
      <p:sp>
        <p:nvSpPr>
          <p:cNvPr id="15" name="Text 13"/>
          <p:cNvSpPr/>
          <p:nvPr/>
        </p:nvSpPr>
        <p:spPr>
          <a:xfrm>
            <a:off x="6356350" y="2424311"/>
            <a:ext cx="22237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Interoperabilni</a:t>
            </a:r>
            <a:endParaRPr lang="en-US" sz="1400" dirty="0"/>
          </a:p>
        </p:txBody>
      </p:sp>
      <p:sp>
        <p:nvSpPr>
          <p:cNvPr id="16" name="Text 14"/>
          <p:cNvSpPr/>
          <p:nvPr/>
        </p:nvSpPr>
        <p:spPr>
          <a:xfrm>
            <a:off x="6356350" y="270113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Otvoreni formati i dokumentovana značenja polja.</a:t>
            </a:r>
            <a:endParaRPr lang="en-US" sz="1200" dirty="0"/>
          </a:p>
        </p:txBody>
      </p:sp>
      <p:sp>
        <p:nvSpPr>
          <p:cNvPr id="17" name="Shape 15"/>
          <p:cNvSpPr/>
          <p:nvPr/>
        </p:nvSpPr>
        <p:spPr>
          <a:xfrm>
            <a:off x="8855075" y="1676995"/>
            <a:ext cx="2520950" cy="1631752"/>
          </a:xfrm>
          <a:prstGeom prst="roundRect">
            <a:avLst>
              <a:gd name="adj" fmla="val 6032"/>
            </a:avLst>
          </a:prstGeom>
          <a:solidFill>
            <a:srgbClr val="FCFCFB"/>
          </a:solidFill>
          <a:ln w="6350">
            <a:solidFill>
              <a:srgbClr val="D3DAE1"/>
            </a:solidFill>
            <a:prstDash val="solid"/>
          </a:ln>
        </p:spPr>
      </p:sp>
      <p:sp>
        <p:nvSpPr>
          <p:cNvPr id="18" name="Text 16"/>
          <p:cNvSpPr/>
          <p:nvPr/>
        </p:nvSpPr>
        <p:spPr>
          <a:xfrm>
            <a:off x="9036050" y="1857970"/>
            <a:ext cx="2223770" cy="528241"/>
          </a:xfrm>
          <a:prstGeom prst="rect">
            <a:avLst/>
          </a:prstGeom>
          <a:noFill/>
          <a:ln/>
        </p:spPr>
        <p:txBody>
          <a:bodyPr wrap="square" lIns="0" tIns="0" rIns="0" bIns="0" rtlCol="0" anchor="t">
            <a:normAutofit/>
          </a:bodyPr>
          <a:lstStyle/>
          <a:p>
            <a:pPr algn="l" indent="0" marL="0">
              <a:lnSpc>
                <a:spcPts val="3960"/>
              </a:lnSpc>
              <a:buNone/>
            </a:pPr>
            <a:r>
              <a:rPr lang="en-US" sz="3600" dirty="0">
                <a:solidFill>
                  <a:srgbClr val="0A5CA8"/>
                </a:solidFill>
                <a:latin typeface="IBM Plex Mono" pitchFamily="49" charset="0"/>
                <a:ea typeface="IBM Plex Mono" pitchFamily="49" charset="-122"/>
                <a:cs typeface="IBM Plex Mono" pitchFamily="49" charset="-120"/>
              </a:rPr>
              <a:t>R</a:t>
            </a:r>
            <a:endParaRPr lang="en-US" sz="3600" dirty="0"/>
          </a:p>
        </p:txBody>
      </p:sp>
      <p:sp>
        <p:nvSpPr>
          <p:cNvPr id="19" name="Text 17"/>
          <p:cNvSpPr/>
          <p:nvPr/>
        </p:nvSpPr>
        <p:spPr>
          <a:xfrm>
            <a:off x="9036050" y="2424311"/>
            <a:ext cx="22237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Ponovo upotrebljivi</a:t>
            </a:r>
            <a:endParaRPr lang="en-US" sz="1400" dirty="0"/>
          </a:p>
        </p:txBody>
      </p:sp>
      <p:sp>
        <p:nvSpPr>
          <p:cNvPr id="20" name="Text 18"/>
          <p:cNvSpPr/>
          <p:nvPr/>
        </p:nvSpPr>
        <p:spPr>
          <a:xfrm>
            <a:off x="9036050" y="270113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Licenca, poreklo i opis uslova nastanka.</a:t>
            </a:r>
            <a:endParaRPr lang="en-US" sz="1200" dirty="0"/>
          </a:p>
        </p:txBody>
      </p:sp>
      <p:sp>
        <p:nvSpPr>
          <p:cNvPr id="21" name="Shape 19"/>
          <p:cNvSpPr/>
          <p:nvPr/>
        </p:nvSpPr>
        <p:spPr>
          <a:xfrm>
            <a:off x="812800" y="3565922"/>
            <a:ext cx="3420467" cy="932061"/>
          </a:xfrm>
          <a:prstGeom prst="roundRect">
            <a:avLst>
              <a:gd name="adj" fmla="val 8175"/>
            </a:avLst>
          </a:prstGeom>
          <a:solidFill>
            <a:srgbClr val="DCE8F4"/>
          </a:solidFill>
          <a:ln/>
        </p:spPr>
      </p:sp>
      <p:sp>
        <p:nvSpPr>
          <p:cNvPr id="22" name="Text 20"/>
          <p:cNvSpPr/>
          <p:nvPr/>
        </p:nvSpPr>
        <p:spPr>
          <a:xfrm>
            <a:off x="965200" y="3692922"/>
            <a:ext cx="32091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Slobodna licenca</a:t>
            </a:r>
            <a:endParaRPr lang="en-US" sz="1200" dirty="0"/>
          </a:p>
        </p:txBody>
      </p:sp>
      <p:sp>
        <p:nvSpPr>
          <p:cNvPr id="23" name="Text 21"/>
          <p:cNvSpPr/>
          <p:nvPr/>
        </p:nvSpPr>
        <p:spPr>
          <a:xfrm>
            <a:off x="965200" y="3944342"/>
            <a:ext cx="32091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CC BY i CC BY-SA: navođenje autora, uz deljenje pod istim uslovima.</a:t>
            </a:r>
            <a:endParaRPr lang="en-US" sz="1200" dirty="0"/>
          </a:p>
        </p:txBody>
      </p:sp>
      <p:sp>
        <p:nvSpPr>
          <p:cNvPr id="24" name="Shape 22"/>
          <p:cNvSpPr/>
          <p:nvPr/>
        </p:nvSpPr>
        <p:spPr>
          <a:xfrm>
            <a:off x="4385667" y="3565922"/>
            <a:ext cx="3420566" cy="932061"/>
          </a:xfrm>
          <a:prstGeom prst="roundRect">
            <a:avLst>
              <a:gd name="adj" fmla="val 8175"/>
            </a:avLst>
          </a:prstGeom>
          <a:solidFill>
            <a:srgbClr val="DCE8F4"/>
          </a:solidFill>
          <a:ln/>
        </p:spPr>
      </p:sp>
      <p:sp>
        <p:nvSpPr>
          <p:cNvPr id="25" name="Text 23"/>
          <p:cNvSpPr/>
          <p:nvPr/>
        </p:nvSpPr>
        <p:spPr>
          <a:xfrm>
            <a:off x="4538067" y="3692922"/>
            <a:ext cx="320923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Pristup na zahtev</a:t>
            </a:r>
            <a:endParaRPr lang="en-US" sz="1200" dirty="0"/>
          </a:p>
        </p:txBody>
      </p:sp>
      <p:sp>
        <p:nvSpPr>
          <p:cNvPr id="26" name="Text 24"/>
          <p:cNvSpPr/>
          <p:nvPr/>
        </p:nvSpPr>
        <p:spPr>
          <a:xfrm>
            <a:off x="4538067" y="3944342"/>
            <a:ext cx="320923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Obrazac i prihvatanje uslova, obično za istraživačku namenu.</a:t>
            </a:r>
            <a:endParaRPr lang="en-US" sz="1200" dirty="0"/>
          </a:p>
        </p:txBody>
      </p:sp>
      <p:sp>
        <p:nvSpPr>
          <p:cNvPr id="27" name="Shape 25"/>
          <p:cNvSpPr/>
          <p:nvPr/>
        </p:nvSpPr>
        <p:spPr>
          <a:xfrm>
            <a:off x="7958634" y="3565922"/>
            <a:ext cx="3420566" cy="932061"/>
          </a:xfrm>
          <a:prstGeom prst="roundRect">
            <a:avLst>
              <a:gd name="adj" fmla="val 8175"/>
            </a:avLst>
          </a:prstGeom>
          <a:solidFill>
            <a:srgbClr val="DCE8F4"/>
          </a:solidFill>
          <a:ln/>
        </p:spPr>
      </p:sp>
      <p:sp>
        <p:nvSpPr>
          <p:cNvPr id="28" name="Text 26"/>
          <p:cNvSpPr/>
          <p:nvPr/>
        </p:nvSpPr>
        <p:spPr>
          <a:xfrm>
            <a:off x="8111034" y="3692922"/>
            <a:ext cx="320923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Obaveza citiranja</a:t>
            </a:r>
            <a:endParaRPr lang="en-US" sz="1200" dirty="0"/>
          </a:p>
        </p:txBody>
      </p:sp>
      <p:sp>
        <p:nvSpPr>
          <p:cNvPr id="29" name="Text 27"/>
          <p:cNvSpPr/>
          <p:nvPr/>
        </p:nvSpPr>
        <p:spPr>
          <a:xfrm>
            <a:off x="8111034" y="3944342"/>
            <a:ext cx="320923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Rad u kome je skup opisan navodi se u svakoj publikaciji.</a:t>
            </a:r>
            <a:endParaRPr lang="en-US" sz="1200" dirty="0"/>
          </a:p>
        </p:txBody>
      </p:sp>
      <p:sp>
        <p:nvSpPr>
          <p:cNvPr id="30" name="Shape 28"/>
          <p:cNvSpPr/>
          <p:nvPr/>
        </p:nvSpPr>
        <p:spPr>
          <a:xfrm>
            <a:off x="812800" y="6209705"/>
            <a:ext cx="10566400" cy="0"/>
          </a:xfrm>
          <a:prstGeom prst="line">
            <a:avLst/>
          </a:prstGeom>
          <a:noFill/>
          <a:ln w="6350">
            <a:solidFill>
              <a:srgbClr val="D3DAE1"/>
            </a:solidFill>
            <a:prstDash val="solid"/>
          </a:ln>
        </p:spPr>
      </p:sp>
      <p:sp>
        <p:nvSpPr>
          <p:cNvPr id="31" name="Text 29"/>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32" name="Text 3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01 · JAVNI PODACI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Elementi kvalitetnog skupa podataka</a:t>
            </a:r>
            <a:endParaRPr lang="en-US" sz="3000" dirty="0"/>
          </a:p>
        </p:txBody>
      </p:sp>
      <p:sp>
        <p:nvSpPr>
          <p:cNvPr id="5" name="Shape 3"/>
          <p:cNvSpPr/>
          <p:nvPr/>
        </p:nvSpPr>
        <p:spPr>
          <a:xfrm>
            <a:off x="815975" y="1676995"/>
            <a:ext cx="3414117" cy="1357511"/>
          </a:xfrm>
          <a:prstGeom prst="roundRect">
            <a:avLst>
              <a:gd name="adj" fmla="val 7250"/>
            </a:avLst>
          </a:prstGeom>
          <a:solidFill>
            <a:srgbClr val="FCFCFB"/>
          </a:solidFill>
          <a:ln w="6350">
            <a:solidFill>
              <a:srgbClr val="D3DAE1"/>
            </a:solidFill>
            <a:prstDash val="solid"/>
          </a:ln>
        </p:spPr>
      </p:sp>
      <p:pic>
        <p:nvPicPr>
          <p:cNvPr id="6" name="Image 0" descr="Activity">    </p:cNvPr>
          <p:cNvPicPr>
            <a:picLocks noChangeAspect="1"/>
          </p:cNvPicPr>
          <p:nvPr/>
        </p:nvPicPr>
        <p:blipFill>
          <a:blip r:embed="rId1"/>
          <a:srcRect l="0" r="0" t="0" b="0"/>
          <a:stretch/>
        </p:blipFill>
        <p:spPr>
          <a:xfrm>
            <a:off x="1009650" y="1845270"/>
            <a:ext cx="254000" cy="254000"/>
          </a:xfrm>
          <a:prstGeom prst="rect">
            <a:avLst/>
          </a:prstGeom>
        </p:spPr>
      </p:pic>
      <p:sp>
        <p:nvSpPr>
          <p:cNvPr id="7" name="Text 4"/>
          <p:cNvSpPr/>
          <p:nvPr/>
        </p:nvSpPr>
        <p:spPr>
          <a:xfrm>
            <a:off x="1009650" y="2162770"/>
            <a:ext cx="31175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Fizički podaci</a:t>
            </a:r>
            <a:endParaRPr lang="en-US" sz="1400" dirty="0"/>
          </a:p>
        </p:txBody>
      </p:sp>
      <p:sp>
        <p:nvSpPr>
          <p:cNvPr id="8" name="Text 5"/>
          <p:cNvSpPr/>
          <p:nvPr/>
        </p:nvSpPr>
        <p:spPr>
          <a:xfrm>
            <a:off x="1009650" y="2439591"/>
            <a:ext cx="31175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Ulazi, izlazi i poremećaji, uz normalne režime rada i najverovatnije otkaze.</a:t>
            </a:r>
            <a:endParaRPr lang="en-US" sz="1200" dirty="0"/>
          </a:p>
        </p:txBody>
      </p:sp>
      <p:sp>
        <p:nvSpPr>
          <p:cNvPr id="9" name="Shape 6"/>
          <p:cNvSpPr/>
          <p:nvPr/>
        </p:nvSpPr>
        <p:spPr>
          <a:xfrm>
            <a:off x="4388842" y="1676995"/>
            <a:ext cx="3414216" cy="1357511"/>
          </a:xfrm>
          <a:prstGeom prst="roundRect">
            <a:avLst>
              <a:gd name="adj" fmla="val 7250"/>
            </a:avLst>
          </a:prstGeom>
          <a:solidFill>
            <a:srgbClr val="FCFCFB"/>
          </a:solidFill>
          <a:ln w="6350">
            <a:solidFill>
              <a:srgbClr val="D3DAE1"/>
            </a:solidFill>
            <a:prstDash val="solid"/>
          </a:ln>
        </p:spPr>
      </p:sp>
      <p:pic>
        <p:nvPicPr>
          <p:cNvPr id="10" name="Image 1" descr="Link">    </p:cNvPr>
          <p:cNvPicPr>
            <a:picLocks noChangeAspect="1"/>
          </p:cNvPicPr>
          <p:nvPr/>
        </p:nvPicPr>
        <p:blipFill>
          <a:blip r:embed="rId2"/>
          <a:srcRect l="0" r="0" t="0" b="0"/>
          <a:stretch/>
        </p:blipFill>
        <p:spPr>
          <a:xfrm>
            <a:off x="4582517" y="1845270"/>
            <a:ext cx="254000" cy="254000"/>
          </a:xfrm>
          <a:prstGeom prst="rect">
            <a:avLst/>
          </a:prstGeom>
        </p:spPr>
      </p:pic>
      <p:sp>
        <p:nvSpPr>
          <p:cNvPr id="11" name="Text 7"/>
          <p:cNvSpPr/>
          <p:nvPr/>
        </p:nvSpPr>
        <p:spPr>
          <a:xfrm>
            <a:off x="4582517" y="2162770"/>
            <a:ext cx="311767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Mrežni podaci</a:t>
            </a:r>
            <a:endParaRPr lang="en-US" sz="1400" dirty="0"/>
          </a:p>
        </p:txBody>
      </p:sp>
      <p:sp>
        <p:nvSpPr>
          <p:cNvPr id="12" name="Text 8"/>
          <p:cNvSpPr/>
          <p:nvPr/>
        </p:nvSpPr>
        <p:spPr>
          <a:xfrm>
            <a:off x="4582517" y="2439591"/>
            <a:ext cx="311767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Saobraćaj sa svih mreža i logovi bar kontrolera i HMI stanica.</a:t>
            </a:r>
            <a:endParaRPr lang="en-US" sz="1200" dirty="0"/>
          </a:p>
        </p:txBody>
      </p:sp>
      <p:sp>
        <p:nvSpPr>
          <p:cNvPr id="13" name="Shape 9"/>
          <p:cNvSpPr/>
          <p:nvPr/>
        </p:nvSpPr>
        <p:spPr>
          <a:xfrm>
            <a:off x="7961809" y="1676995"/>
            <a:ext cx="3414216" cy="1357511"/>
          </a:xfrm>
          <a:prstGeom prst="roundRect">
            <a:avLst>
              <a:gd name="adj" fmla="val 7250"/>
            </a:avLst>
          </a:prstGeom>
          <a:solidFill>
            <a:srgbClr val="FCFCFB"/>
          </a:solidFill>
          <a:ln w="6350">
            <a:solidFill>
              <a:srgbClr val="D3DAE1"/>
            </a:solidFill>
            <a:prstDash val="solid"/>
          </a:ln>
        </p:spPr>
      </p:sp>
      <p:pic>
        <p:nvPicPr>
          <p:cNvPr id="14" name="Image 2" descr="Warning">    </p:cNvPr>
          <p:cNvPicPr>
            <a:picLocks noChangeAspect="1"/>
          </p:cNvPicPr>
          <p:nvPr/>
        </p:nvPicPr>
        <p:blipFill>
          <a:blip r:embed="rId3"/>
          <a:srcRect l="0" r="0" t="0" b="0"/>
          <a:stretch/>
        </p:blipFill>
        <p:spPr>
          <a:xfrm>
            <a:off x="8155484" y="1845270"/>
            <a:ext cx="254000" cy="254000"/>
          </a:xfrm>
          <a:prstGeom prst="rect">
            <a:avLst/>
          </a:prstGeom>
        </p:spPr>
      </p:pic>
      <p:sp>
        <p:nvSpPr>
          <p:cNvPr id="15" name="Text 10"/>
          <p:cNvSpPr/>
          <p:nvPr/>
        </p:nvSpPr>
        <p:spPr>
          <a:xfrm>
            <a:off x="8155484" y="2162770"/>
            <a:ext cx="311767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Raznovrsni napadi</a:t>
            </a:r>
            <a:endParaRPr lang="en-US" sz="1400" dirty="0"/>
          </a:p>
        </p:txBody>
      </p:sp>
      <p:sp>
        <p:nvSpPr>
          <p:cNvPr id="16" name="Text 11"/>
          <p:cNvSpPr/>
          <p:nvPr/>
        </p:nvSpPr>
        <p:spPr>
          <a:xfrm>
            <a:off x="8155484" y="2439591"/>
            <a:ext cx="311767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Napadi na integritet i dostupnost, prikriveni napadi i ceo tok od ulaska do cilja.</a:t>
            </a:r>
            <a:endParaRPr lang="en-US" sz="1200" dirty="0"/>
          </a:p>
        </p:txBody>
      </p:sp>
      <p:sp>
        <p:nvSpPr>
          <p:cNvPr id="17" name="Shape 12"/>
          <p:cNvSpPr/>
          <p:nvPr/>
        </p:nvSpPr>
        <p:spPr>
          <a:xfrm>
            <a:off x="815975" y="3193256"/>
            <a:ext cx="3414117" cy="1357511"/>
          </a:xfrm>
          <a:prstGeom prst="roundRect">
            <a:avLst>
              <a:gd name="adj" fmla="val 7250"/>
            </a:avLst>
          </a:prstGeom>
          <a:solidFill>
            <a:srgbClr val="FCFCFB"/>
          </a:solidFill>
          <a:ln w="6350">
            <a:solidFill>
              <a:srgbClr val="D3DAE1"/>
            </a:solidFill>
            <a:prstDash val="solid"/>
          </a:ln>
        </p:spPr>
      </p:sp>
      <p:pic>
        <p:nvPicPr>
          <p:cNvPr id="18" name="Image 3" descr="Check">    </p:cNvPr>
          <p:cNvPicPr>
            <a:picLocks noChangeAspect="1"/>
          </p:cNvPicPr>
          <p:nvPr/>
        </p:nvPicPr>
        <p:blipFill>
          <a:blip r:embed="rId4"/>
          <a:srcRect l="0" r="0" t="0" b="0"/>
          <a:stretch/>
        </p:blipFill>
        <p:spPr>
          <a:xfrm>
            <a:off x="1009650" y="3361531"/>
            <a:ext cx="254000" cy="254000"/>
          </a:xfrm>
          <a:prstGeom prst="rect">
            <a:avLst/>
          </a:prstGeom>
        </p:spPr>
      </p:pic>
      <p:sp>
        <p:nvSpPr>
          <p:cNvPr id="19" name="Text 13"/>
          <p:cNvSpPr/>
          <p:nvPr/>
        </p:nvSpPr>
        <p:spPr>
          <a:xfrm>
            <a:off x="1009650" y="3679031"/>
            <a:ext cx="31175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Precizne oznake</a:t>
            </a:r>
            <a:endParaRPr lang="en-US" sz="1400" dirty="0"/>
          </a:p>
        </p:txBody>
      </p:sp>
      <p:sp>
        <p:nvSpPr>
          <p:cNvPr id="20" name="Text 14"/>
          <p:cNvSpPr/>
          <p:nvPr/>
        </p:nvSpPr>
        <p:spPr>
          <a:xfrm>
            <a:off x="1009650" y="3955852"/>
            <a:ext cx="31175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Jedinstvena oznaka svakog napada i oznaka režima rada za svaki zapis.</a:t>
            </a:r>
            <a:endParaRPr lang="en-US" sz="1200" dirty="0"/>
          </a:p>
        </p:txBody>
      </p:sp>
      <p:sp>
        <p:nvSpPr>
          <p:cNvPr id="21" name="Shape 15"/>
          <p:cNvSpPr/>
          <p:nvPr/>
        </p:nvSpPr>
        <p:spPr>
          <a:xfrm>
            <a:off x="4388842" y="3193256"/>
            <a:ext cx="3414216" cy="1357511"/>
          </a:xfrm>
          <a:prstGeom prst="roundRect">
            <a:avLst>
              <a:gd name="adj" fmla="val 7250"/>
            </a:avLst>
          </a:prstGeom>
          <a:solidFill>
            <a:srgbClr val="FCFCFB"/>
          </a:solidFill>
          <a:ln w="6350">
            <a:solidFill>
              <a:srgbClr val="D3DAE1"/>
            </a:solidFill>
            <a:prstDash val="solid"/>
          </a:ln>
        </p:spPr>
      </p:sp>
      <p:pic>
        <p:nvPicPr>
          <p:cNvPr id="22" name="Image 4" descr="Clock">    </p:cNvPr>
          <p:cNvPicPr>
            <a:picLocks noChangeAspect="1"/>
          </p:cNvPicPr>
          <p:nvPr/>
        </p:nvPicPr>
        <p:blipFill>
          <a:blip r:embed="rId5"/>
          <a:srcRect l="0" r="0" t="0" b="0"/>
          <a:stretch/>
        </p:blipFill>
        <p:spPr>
          <a:xfrm>
            <a:off x="4582517" y="3361531"/>
            <a:ext cx="254000" cy="254000"/>
          </a:xfrm>
          <a:prstGeom prst="rect">
            <a:avLst/>
          </a:prstGeom>
        </p:spPr>
      </p:pic>
      <p:sp>
        <p:nvSpPr>
          <p:cNvPr id="23" name="Text 16"/>
          <p:cNvSpPr/>
          <p:nvPr/>
        </p:nvSpPr>
        <p:spPr>
          <a:xfrm>
            <a:off x="4582517" y="3679031"/>
            <a:ext cx="311767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Sinhronizovano vreme</a:t>
            </a:r>
            <a:endParaRPr lang="en-US" sz="1400" dirty="0"/>
          </a:p>
        </p:txBody>
      </p:sp>
      <p:sp>
        <p:nvSpPr>
          <p:cNvPr id="24" name="Text 17"/>
          <p:cNvSpPr/>
          <p:nvPr/>
        </p:nvSpPr>
        <p:spPr>
          <a:xfrm>
            <a:off x="4582517" y="3955852"/>
            <a:ext cx="311767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Usklađeni satovi svih čvorova, kako bi se procesni i mrežni podaci mogli povezati.</a:t>
            </a:r>
            <a:endParaRPr lang="en-US" sz="1200" dirty="0"/>
          </a:p>
        </p:txBody>
      </p:sp>
      <p:sp>
        <p:nvSpPr>
          <p:cNvPr id="25" name="Shape 18"/>
          <p:cNvSpPr/>
          <p:nvPr/>
        </p:nvSpPr>
        <p:spPr>
          <a:xfrm>
            <a:off x="7961809" y="3193256"/>
            <a:ext cx="3414216" cy="1357511"/>
          </a:xfrm>
          <a:prstGeom prst="roundRect">
            <a:avLst>
              <a:gd name="adj" fmla="val 7250"/>
            </a:avLst>
          </a:prstGeom>
          <a:solidFill>
            <a:srgbClr val="FCFCFB"/>
          </a:solidFill>
          <a:ln w="6350">
            <a:solidFill>
              <a:srgbClr val="D3DAE1"/>
            </a:solidFill>
            <a:prstDash val="solid"/>
          </a:ln>
        </p:spPr>
      </p:sp>
      <p:pic>
        <p:nvPicPr>
          <p:cNvPr id="26" name="Image 5" descr="Book">    </p:cNvPr>
          <p:cNvPicPr>
            <a:picLocks noChangeAspect="1"/>
          </p:cNvPicPr>
          <p:nvPr/>
        </p:nvPicPr>
        <p:blipFill>
          <a:blip r:embed="rId6"/>
          <a:srcRect l="0" r="0" t="0" b="0"/>
          <a:stretch/>
        </p:blipFill>
        <p:spPr>
          <a:xfrm>
            <a:off x="8155484" y="3361531"/>
            <a:ext cx="254000" cy="254000"/>
          </a:xfrm>
          <a:prstGeom prst="rect">
            <a:avLst/>
          </a:prstGeom>
        </p:spPr>
      </p:pic>
      <p:sp>
        <p:nvSpPr>
          <p:cNvPr id="27" name="Text 19"/>
          <p:cNvSpPr/>
          <p:nvPr/>
        </p:nvSpPr>
        <p:spPr>
          <a:xfrm>
            <a:off x="8155484" y="3679031"/>
            <a:ext cx="311767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Dokumentacija</a:t>
            </a:r>
            <a:endParaRPr lang="en-US" sz="1400" dirty="0"/>
          </a:p>
        </p:txBody>
      </p:sp>
      <p:sp>
        <p:nvSpPr>
          <p:cNvPr id="28" name="Text 20"/>
          <p:cNvSpPr/>
          <p:nvPr/>
        </p:nvSpPr>
        <p:spPr>
          <a:xfrm>
            <a:off x="8155484" y="3955852"/>
            <a:ext cx="311767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Opis postrojenja, promenljivih i napada dovoljan za ponavljanje eksperimenta.</a:t>
            </a:r>
            <a:endParaRPr lang="en-US" sz="1200" dirty="0"/>
          </a:p>
        </p:txBody>
      </p:sp>
      <p:sp>
        <p:nvSpPr>
          <p:cNvPr id="29" name="Text 21"/>
          <p:cNvSpPr/>
          <p:nvPr/>
        </p:nvSpPr>
        <p:spPr>
          <a:xfrm>
            <a:off x="812800" y="480794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Prema: A. Tantawy, „On the Elements of Datasets for Cyber Physical Systems Security”, 2022.</a:t>
            </a:r>
            <a:endParaRPr lang="en-US" sz="1200" dirty="0"/>
          </a:p>
        </p:txBody>
      </p:sp>
      <p:sp>
        <p:nvSpPr>
          <p:cNvPr id="30" name="Shape 22"/>
          <p:cNvSpPr/>
          <p:nvPr/>
        </p:nvSpPr>
        <p:spPr>
          <a:xfrm>
            <a:off x="812800" y="6209705"/>
            <a:ext cx="10566400" cy="0"/>
          </a:xfrm>
          <a:prstGeom prst="line">
            <a:avLst/>
          </a:prstGeom>
          <a:noFill/>
          <a:ln w="6350">
            <a:solidFill>
              <a:srgbClr val="D3DAE1"/>
            </a:solidFill>
            <a:prstDash val="solid"/>
          </a:ln>
        </p:spPr>
      </p:sp>
      <p:sp>
        <p:nvSpPr>
          <p:cNvPr id="31" name="Text 23"/>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32" name="Text 2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01 · JAVNI PODACI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Ograničenja javnih skupova podataka</a:t>
            </a:r>
            <a:endParaRPr lang="en-US" sz="3000" dirty="0"/>
          </a:p>
        </p:txBody>
      </p:sp>
      <p:sp>
        <p:nvSpPr>
          <p:cNvPr id="5" name="Shape 3"/>
          <p:cNvSpPr/>
          <p:nvPr/>
        </p:nvSpPr>
        <p:spPr>
          <a:xfrm>
            <a:off x="825500" y="1673820"/>
            <a:ext cx="0" cy="726281"/>
          </a:xfrm>
          <a:prstGeom prst="line">
            <a:avLst/>
          </a:prstGeom>
          <a:noFill/>
          <a:ln w="25400">
            <a:solidFill>
              <a:srgbClr val="E07B1F"/>
            </a:solidFill>
            <a:prstDash val="solid"/>
          </a:ln>
        </p:spPr>
      </p:sp>
      <p:sp>
        <p:nvSpPr>
          <p:cNvPr id="6" name="Text 4"/>
          <p:cNvSpPr/>
          <p:nvPr/>
        </p:nvSpPr>
        <p:spPr>
          <a:xfrm>
            <a:off x="990600" y="1686520"/>
            <a:ext cx="525856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Mala postrojenja</a:t>
            </a:r>
            <a:endParaRPr lang="en-US" sz="1400" dirty="0"/>
          </a:p>
        </p:txBody>
      </p:sp>
      <p:sp>
        <p:nvSpPr>
          <p:cNvPr id="7" name="Text 5"/>
          <p:cNvSpPr/>
          <p:nvPr/>
        </p:nvSpPr>
        <p:spPr>
          <a:xfrm>
            <a:off x="990600" y="1960761"/>
            <a:ext cx="525856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Ispitno postrojenje ima mnogo manje promenljivih i režima rada od stvarnog.</a:t>
            </a:r>
            <a:endParaRPr lang="en-US" sz="1200" dirty="0"/>
          </a:p>
        </p:txBody>
      </p:sp>
      <p:sp>
        <p:nvSpPr>
          <p:cNvPr id="8" name="Shape 6"/>
          <p:cNvSpPr/>
          <p:nvPr/>
        </p:nvSpPr>
        <p:spPr>
          <a:xfrm>
            <a:off x="6108700" y="1673820"/>
            <a:ext cx="0" cy="726281"/>
          </a:xfrm>
          <a:prstGeom prst="line">
            <a:avLst/>
          </a:prstGeom>
          <a:noFill/>
          <a:ln w="25400">
            <a:solidFill>
              <a:srgbClr val="E07B1F"/>
            </a:solidFill>
            <a:prstDash val="solid"/>
          </a:ln>
        </p:spPr>
      </p:sp>
      <p:sp>
        <p:nvSpPr>
          <p:cNvPr id="9" name="Text 7"/>
          <p:cNvSpPr/>
          <p:nvPr/>
        </p:nvSpPr>
        <p:spPr>
          <a:xfrm>
            <a:off x="6273800" y="1686520"/>
            <a:ext cx="525856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Planirani napadi</a:t>
            </a:r>
            <a:endParaRPr lang="en-US" sz="1400" dirty="0"/>
          </a:p>
        </p:txBody>
      </p:sp>
      <p:sp>
        <p:nvSpPr>
          <p:cNvPr id="10" name="Text 8"/>
          <p:cNvSpPr/>
          <p:nvPr/>
        </p:nvSpPr>
        <p:spPr>
          <a:xfrm>
            <a:off x="6273800" y="1960761"/>
            <a:ext cx="5258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Napadi su skriptovani, često izraženi i odvojeni periodima oporavka.</a:t>
            </a:r>
            <a:endParaRPr lang="en-US" sz="1200" dirty="0"/>
          </a:p>
        </p:txBody>
      </p:sp>
      <p:sp>
        <p:nvSpPr>
          <p:cNvPr id="11" name="Shape 9"/>
          <p:cNvSpPr/>
          <p:nvPr/>
        </p:nvSpPr>
        <p:spPr>
          <a:xfrm>
            <a:off x="825500" y="2400102"/>
            <a:ext cx="0" cy="726281"/>
          </a:xfrm>
          <a:prstGeom prst="line">
            <a:avLst/>
          </a:prstGeom>
          <a:noFill/>
          <a:ln w="25400">
            <a:solidFill>
              <a:srgbClr val="E07B1F"/>
            </a:solidFill>
            <a:prstDash val="solid"/>
          </a:ln>
        </p:spPr>
      </p:sp>
      <p:sp>
        <p:nvSpPr>
          <p:cNvPr id="12" name="Text 10"/>
          <p:cNvSpPr/>
          <p:nvPr/>
        </p:nvSpPr>
        <p:spPr>
          <a:xfrm>
            <a:off x="990600" y="2412802"/>
            <a:ext cx="525856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Kratko trajanje</a:t>
            </a:r>
            <a:endParaRPr lang="en-US" sz="1400" dirty="0"/>
          </a:p>
        </p:txBody>
      </p:sp>
      <p:sp>
        <p:nvSpPr>
          <p:cNvPr id="13" name="Text 11"/>
          <p:cNvSpPr/>
          <p:nvPr/>
        </p:nvSpPr>
        <p:spPr>
          <a:xfrm>
            <a:off x="990600" y="2687042"/>
            <a:ext cx="525856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Dani ili nedelje snimanja ne obuhvataju sezonske promene i starenje opreme.</a:t>
            </a:r>
            <a:endParaRPr lang="en-US" sz="1200" dirty="0"/>
          </a:p>
        </p:txBody>
      </p:sp>
      <p:sp>
        <p:nvSpPr>
          <p:cNvPr id="14" name="Shape 12"/>
          <p:cNvSpPr/>
          <p:nvPr/>
        </p:nvSpPr>
        <p:spPr>
          <a:xfrm>
            <a:off x="6108700" y="2400102"/>
            <a:ext cx="0" cy="726281"/>
          </a:xfrm>
          <a:prstGeom prst="line">
            <a:avLst/>
          </a:prstGeom>
          <a:noFill/>
          <a:ln w="25400">
            <a:solidFill>
              <a:srgbClr val="E07B1F"/>
            </a:solidFill>
            <a:prstDash val="solid"/>
          </a:ln>
        </p:spPr>
      </p:sp>
      <p:sp>
        <p:nvSpPr>
          <p:cNvPr id="15" name="Text 13"/>
          <p:cNvSpPr/>
          <p:nvPr/>
        </p:nvSpPr>
        <p:spPr>
          <a:xfrm>
            <a:off x="6273800" y="2412802"/>
            <a:ext cx="525856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Greške u podacima i oznakama</a:t>
            </a:r>
            <a:endParaRPr lang="en-US" sz="1400" dirty="0"/>
          </a:p>
        </p:txBody>
      </p:sp>
      <p:sp>
        <p:nvSpPr>
          <p:cNvPr id="16" name="Text 14"/>
          <p:cNvSpPr/>
          <p:nvPr/>
        </p:nvSpPr>
        <p:spPr>
          <a:xfrm>
            <a:off x="6273800" y="2687042"/>
            <a:ext cx="5258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Kasnije verzije uklanjaju nestabilne periode i ispravljaju vremena napada.</a:t>
            </a:r>
            <a:endParaRPr lang="en-US" sz="1200" dirty="0"/>
          </a:p>
        </p:txBody>
      </p:sp>
      <p:sp>
        <p:nvSpPr>
          <p:cNvPr id="17" name="Shape 15"/>
          <p:cNvSpPr/>
          <p:nvPr/>
        </p:nvSpPr>
        <p:spPr>
          <a:xfrm>
            <a:off x="825500" y="3126383"/>
            <a:ext cx="0" cy="726281"/>
          </a:xfrm>
          <a:prstGeom prst="line">
            <a:avLst/>
          </a:prstGeom>
          <a:noFill/>
          <a:ln w="25400">
            <a:solidFill>
              <a:srgbClr val="E07B1F"/>
            </a:solidFill>
            <a:prstDash val="solid"/>
          </a:ln>
        </p:spPr>
      </p:sp>
      <p:sp>
        <p:nvSpPr>
          <p:cNvPr id="18" name="Text 16"/>
          <p:cNvSpPr/>
          <p:nvPr/>
        </p:nvSpPr>
        <p:spPr>
          <a:xfrm>
            <a:off x="990600" y="3139083"/>
            <a:ext cx="525856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Prezasićenost</a:t>
            </a:r>
            <a:endParaRPr lang="en-US" sz="1400" dirty="0"/>
          </a:p>
        </p:txBody>
      </p:sp>
      <p:sp>
        <p:nvSpPr>
          <p:cNvPr id="19" name="Text 17"/>
          <p:cNvSpPr/>
          <p:nvPr/>
        </p:nvSpPr>
        <p:spPr>
          <a:xfrm>
            <a:off x="990600" y="3413323"/>
            <a:ext cx="525856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Metode se godinama podešavaju prema istim skupovima, pa rezultati gube opštost.</a:t>
            </a:r>
            <a:endParaRPr lang="en-US" sz="1200" dirty="0"/>
          </a:p>
        </p:txBody>
      </p:sp>
      <p:sp>
        <p:nvSpPr>
          <p:cNvPr id="20" name="Shape 18"/>
          <p:cNvSpPr/>
          <p:nvPr/>
        </p:nvSpPr>
        <p:spPr>
          <a:xfrm>
            <a:off x="6108700" y="3126383"/>
            <a:ext cx="0" cy="726281"/>
          </a:xfrm>
          <a:prstGeom prst="line">
            <a:avLst/>
          </a:prstGeom>
          <a:noFill/>
          <a:ln w="25400">
            <a:solidFill>
              <a:srgbClr val="E07B1F"/>
            </a:solidFill>
            <a:prstDash val="solid"/>
          </a:ln>
        </p:spPr>
      </p:sp>
      <p:sp>
        <p:nvSpPr>
          <p:cNvPr id="21" name="Text 19"/>
          <p:cNvSpPr/>
          <p:nvPr/>
        </p:nvSpPr>
        <p:spPr>
          <a:xfrm>
            <a:off x="6273800" y="3139083"/>
            <a:ext cx="525856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Nepotpuna slika</a:t>
            </a:r>
            <a:endParaRPr lang="en-US" sz="1400" dirty="0"/>
          </a:p>
        </p:txBody>
      </p:sp>
      <p:sp>
        <p:nvSpPr>
          <p:cNvPr id="22" name="Text 20"/>
          <p:cNvSpPr/>
          <p:nvPr/>
        </p:nvSpPr>
        <p:spPr>
          <a:xfrm>
            <a:off x="6273800" y="3413323"/>
            <a:ext cx="5258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Retko su istovremeno dostupni procesni, mrežni i podaci sa radnih stanica.</a:t>
            </a:r>
            <a:endParaRPr lang="en-US" sz="1200" dirty="0"/>
          </a:p>
        </p:txBody>
      </p:sp>
      <p:sp>
        <p:nvSpPr>
          <p:cNvPr id="23" name="Shape 21"/>
          <p:cNvSpPr/>
          <p:nvPr/>
        </p:nvSpPr>
        <p:spPr>
          <a:xfrm>
            <a:off x="812800" y="4106664"/>
            <a:ext cx="10566400" cy="508000"/>
          </a:xfrm>
          <a:prstGeom prst="roundRect">
            <a:avLst>
              <a:gd name="adj" fmla="val 15000"/>
            </a:avLst>
          </a:prstGeom>
          <a:solidFill>
            <a:srgbClr val="DCE8F4"/>
          </a:solidFill>
          <a:ln/>
        </p:spPr>
      </p:sp>
      <p:pic>
        <p:nvPicPr>
          <p:cNvPr id="24" name="Image 0" descr="Lightbulb">    </p:cNvPr>
          <p:cNvPicPr>
            <a:picLocks noChangeAspect="1"/>
          </p:cNvPicPr>
          <p:nvPr/>
        </p:nvPicPr>
        <p:blipFill>
          <a:blip r:embed="rId1"/>
          <a:srcRect l="0" r="0" t="0" b="0"/>
          <a:stretch/>
        </p:blipFill>
        <p:spPr>
          <a:xfrm>
            <a:off x="990600" y="4233664"/>
            <a:ext cx="254000" cy="254000"/>
          </a:xfrm>
          <a:prstGeom prst="rect">
            <a:avLst/>
          </a:prstGeom>
        </p:spPr>
      </p:pic>
      <p:sp>
        <p:nvSpPr>
          <p:cNvPr id="25" name="Text 22"/>
          <p:cNvSpPr/>
          <p:nvPr/>
        </p:nvSpPr>
        <p:spPr>
          <a:xfrm>
            <a:off x="1371600" y="4254004"/>
            <a:ext cx="10124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Dobar rezultat na javnom skupu je neophodan, ali ne i dovoljan dokaz da metoda radi u stvarnom postrojenju.</a:t>
            </a:r>
            <a:endParaRPr lang="en-US" sz="1200" dirty="0"/>
          </a:p>
        </p:txBody>
      </p:sp>
      <p:sp>
        <p:nvSpPr>
          <p:cNvPr id="26" name="Shape 23"/>
          <p:cNvSpPr/>
          <p:nvPr/>
        </p:nvSpPr>
        <p:spPr>
          <a:xfrm>
            <a:off x="812800" y="6209705"/>
            <a:ext cx="10566400" cy="0"/>
          </a:xfrm>
          <a:prstGeom prst="line">
            <a:avLst/>
          </a:prstGeom>
          <a:noFill/>
          <a:ln w="6350">
            <a:solidFill>
              <a:srgbClr val="D3DAE1"/>
            </a:solidFill>
            <a:prstDash val="solid"/>
          </a:ln>
        </p:spPr>
      </p:sp>
      <p:sp>
        <p:nvSpPr>
          <p:cNvPr id="27" name="Text 24"/>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28" name="Text 2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BF0F5"/>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0A5CA8"/>
                </a:solidFill>
                <a:latin typeface="IBM Plex Mono" pitchFamily="49" charset="0"/>
                <a:ea typeface="IBM Plex Mono" pitchFamily="49" charset="-122"/>
                <a:cs typeface="IBM Plex Mono" pitchFamily="49" charset="-120"/>
              </a:rPr>
              <a:t>02</a:t>
            </a:r>
            <a:endParaRPr lang="en-US" sz="14000" dirty="0"/>
          </a:p>
        </p:txBody>
      </p:sp>
      <p:sp>
        <p:nvSpPr>
          <p:cNvPr id="3" name="Text 1"/>
          <p:cNvSpPr/>
          <p:nvPr/>
        </p:nvSpPr>
        <p:spPr>
          <a:xfrm>
            <a:off x="4267200" y="1808559"/>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DEO DRUGI</a:t>
            </a:r>
            <a:endParaRPr lang="en-US" sz="1200" dirty="0"/>
          </a:p>
        </p:txBody>
      </p:sp>
      <p:sp>
        <p:nvSpPr>
          <p:cNvPr id="4" name="Text 2"/>
          <p:cNvSpPr/>
          <p:nvPr>
            <p:ph type="title"/>
          </p:nvPr>
        </p:nvSpPr>
        <p:spPr>
          <a:xfrm>
            <a:off x="4267200" y="219968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Analiza podataka</a:t>
            </a:r>
            <a:endParaRPr lang="en-US" sz="4800" dirty="0"/>
          </a:p>
        </p:txBody>
      </p:sp>
      <p:sp>
        <p:nvSpPr>
          <p:cNvPr id="5" name="Text 3"/>
          <p:cNvSpPr/>
          <p:nvPr/>
        </p:nvSpPr>
        <p:spPr>
          <a:xfrm>
            <a:off x="4267200" y="301754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Od sirove vremenske serije do vrednovane metode detekcije: priprema, modelovanje i pravilna evaluacija.</a:t>
            </a:r>
            <a:endParaRPr lang="en-US" sz="1400" dirty="0"/>
          </a:p>
        </p:txBody>
      </p:sp>
      <p:sp>
        <p:nvSpPr>
          <p:cNvPr id="6" name="Text 4"/>
          <p:cNvSpPr/>
          <p:nvPr/>
        </p:nvSpPr>
        <p:spPr>
          <a:xfrm>
            <a:off x="4270375" y="3714055"/>
            <a:ext cx="1021060"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Tok analize</a:t>
            </a:r>
            <a:endParaRPr lang="en-US" sz="1200" dirty="0"/>
          </a:p>
        </p:txBody>
      </p:sp>
      <p:sp>
        <p:nvSpPr>
          <p:cNvPr id="7" name="Text 5"/>
          <p:cNvSpPr/>
          <p:nvPr/>
        </p:nvSpPr>
        <p:spPr>
          <a:xfrm>
            <a:off x="5373985" y="3714055"/>
            <a:ext cx="1575792"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Struktura podataka</a:t>
            </a:r>
            <a:endParaRPr lang="en-US" sz="1200" dirty="0"/>
          </a:p>
        </p:txBody>
      </p:sp>
      <p:sp>
        <p:nvSpPr>
          <p:cNvPr id="8" name="Text 6"/>
          <p:cNvSpPr/>
          <p:nvPr/>
        </p:nvSpPr>
        <p:spPr>
          <a:xfrm>
            <a:off x="7032327" y="3714055"/>
            <a:ext cx="1705570"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Eksplorativna analiza</a:t>
            </a:r>
            <a:endParaRPr lang="en-US" sz="1200" dirty="0"/>
          </a:p>
        </p:txBody>
      </p:sp>
      <p:sp>
        <p:nvSpPr>
          <p:cNvPr id="9" name="Text 7"/>
          <p:cNvSpPr/>
          <p:nvPr/>
        </p:nvSpPr>
        <p:spPr>
          <a:xfrm>
            <a:off x="8820448" y="3714055"/>
            <a:ext cx="886916"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Priprema</a:t>
            </a:r>
            <a:endParaRPr lang="en-US" sz="1200" dirty="0"/>
          </a:p>
        </p:txBody>
      </p:sp>
      <p:sp>
        <p:nvSpPr>
          <p:cNvPr id="10" name="Text 8"/>
          <p:cNvSpPr/>
          <p:nvPr/>
        </p:nvSpPr>
        <p:spPr>
          <a:xfrm>
            <a:off x="4270375" y="4117876"/>
            <a:ext cx="1398191"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Pristupi detekciji</a:t>
            </a:r>
            <a:endParaRPr lang="en-US" sz="1200" dirty="0"/>
          </a:p>
        </p:txBody>
      </p:sp>
      <p:sp>
        <p:nvSpPr>
          <p:cNvPr id="11" name="Text 9"/>
          <p:cNvSpPr/>
          <p:nvPr/>
        </p:nvSpPr>
        <p:spPr>
          <a:xfrm>
            <a:off x="5751116" y="4117876"/>
            <a:ext cx="1748135"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Greška rekonstrukcije</a:t>
            </a:r>
            <a:endParaRPr lang="en-US" sz="1200" dirty="0"/>
          </a:p>
        </p:txBody>
      </p:sp>
      <p:sp>
        <p:nvSpPr>
          <p:cNvPr id="12" name="Text 10"/>
          <p:cNvSpPr/>
          <p:nvPr/>
        </p:nvSpPr>
        <p:spPr>
          <a:xfrm>
            <a:off x="7581801" y="4117876"/>
            <a:ext cx="998339"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Invarijante</a:t>
            </a:r>
            <a:endParaRPr lang="en-US" sz="1200" dirty="0"/>
          </a:p>
        </p:txBody>
      </p:sp>
      <p:sp>
        <p:nvSpPr>
          <p:cNvPr id="13" name="Text 11"/>
          <p:cNvSpPr/>
          <p:nvPr/>
        </p:nvSpPr>
        <p:spPr>
          <a:xfrm>
            <a:off x="8662690" y="4117876"/>
            <a:ext cx="776684"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Metrike</a:t>
            </a:r>
            <a:endParaRPr lang="en-US" sz="1200" dirty="0"/>
          </a:p>
        </p:txBody>
      </p:sp>
      <p:sp>
        <p:nvSpPr>
          <p:cNvPr id="14" name="Text 12"/>
          <p:cNvSpPr/>
          <p:nvPr/>
        </p:nvSpPr>
        <p:spPr>
          <a:xfrm>
            <a:off x="4270375" y="4521696"/>
            <a:ext cx="1443930"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Zamke evaluacije</a:t>
            </a:r>
            <a:endParaRPr lang="en-US" sz="1200" dirty="0"/>
          </a:p>
        </p:txBody>
      </p:sp>
      <p:sp>
        <p:nvSpPr>
          <p:cNvPr id="15" name="Shape 13"/>
          <p:cNvSpPr/>
          <p:nvPr/>
        </p:nvSpPr>
        <p:spPr>
          <a:xfrm>
            <a:off x="812800" y="6209705"/>
            <a:ext cx="10566400" cy="0"/>
          </a:xfrm>
          <a:prstGeom prst="line">
            <a:avLst/>
          </a:prstGeom>
          <a:noFill/>
          <a:ln w="6350">
            <a:solidFill>
              <a:srgbClr val="C3CEDA"/>
            </a:solidFill>
            <a:prstDash val="solid"/>
          </a:ln>
        </p:spPr>
      </p:sp>
      <p:sp>
        <p:nvSpPr>
          <p:cNvPr id="16" name="Text 14"/>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17" name="Text 1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Shape 1"/>
          <p:cNvSpPr/>
          <p:nvPr/>
        </p:nvSpPr>
        <p:spPr>
          <a:xfrm>
            <a:off x="990600" y="1841500"/>
            <a:ext cx="8890000" cy="25400"/>
          </a:xfrm>
          <a:prstGeom prst="rect">
            <a:avLst/>
          </a:prstGeom>
          <a:solidFill>
            <a:srgbClr val="C3CEDA"/>
          </a:solidFill>
          <a:ln/>
        </p:spPr>
      </p:sp>
      <p:sp>
        <p:nvSpPr>
          <p:cNvPr id="4" name="Text 2"/>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ANALIZA PODATAKA</a:t>
            </a:r>
            <a:endParaRPr lang="en-US" sz="1200" dirty="0"/>
          </a:p>
        </p:txBody>
      </p:sp>
      <p:sp>
        <p:nvSpPr>
          <p:cNvPr id="5" name="Text 3"/>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Tok analize podataka</a:t>
            </a:r>
            <a:endParaRPr lang="en-US" sz="3000" dirty="0"/>
          </a:p>
        </p:txBody>
      </p:sp>
      <p:sp>
        <p:nvSpPr>
          <p:cNvPr id="6" name="Text 4"/>
          <p:cNvSpPr/>
          <p:nvPr/>
        </p:nvSpPr>
        <p:spPr>
          <a:xfrm>
            <a:off x="812800" y="1673820"/>
            <a:ext cx="355600" cy="355600"/>
          </a:xfrm>
          <a:prstGeom prst="roundRect">
            <a:avLst>
              <a:gd name="adj" fmla="val 50000"/>
            </a:avLst>
          </a:prstGeom>
          <a:solidFill>
            <a:srgbClr val="0A5CA8"/>
          </a:solidFill>
          <a:ln/>
        </p:spPr>
        <p:txBody>
          <a:bodyPr wrap="square" lIns="0" tIns="0" rIns="0" bIns="0" rtlCol="0" anchor="ctr">
            <a:normAutofit/>
          </a:bodyPr>
          <a:lstStyle/>
          <a:p>
            <a:pPr algn="ctr" indent="0" marL="0">
              <a:lnSpc>
                <a:spcPts val="1680"/>
              </a:lnSpc>
              <a:buNone/>
            </a:pPr>
            <a:r>
              <a:rPr lang="en-US" sz="1200" b="1" dirty="0">
                <a:solidFill>
                  <a:srgbClr val="F6F7F5"/>
                </a:solidFill>
                <a:latin typeface="IBM Plex Mono" pitchFamily="49" charset="0"/>
                <a:ea typeface="IBM Plex Mono" pitchFamily="49" charset="-122"/>
                <a:cs typeface="IBM Plex Mono" pitchFamily="49" charset="-120"/>
              </a:rPr>
              <a:t>1</a:t>
            </a:r>
            <a:endParaRPr lang="en-US" sz="1200" dirty="0"/>
          </a:p>
        </p:txBody>
      </p:sp>
      <p:sp>
        <p:nvSpPr>
          <p:cNvPr id="7" name="Shape 5"/>
          <p:cNvSpPr/>
          <p:nvPr/>
        </p:nvSpPr>
        <p:spPr>
          <a:xfrm>
            <a:off x="815975" y="2184995"/>
            <a:ext cx="1648817" cy="1412081"/>
          </a:xfrm>
          <a:prstGeom prst="roundRect">
            <a:avLst>
              <a:gd name="adj" fmla="val 6970"/>
            </a:avLst>
          </a:prstGeom>
          <a:solidFill>
            <a:srgbClr val="FCFCFB"/>
          </a:solidFill>
          <a:ln w="6350">
            <a:solidFill>
              <a:srgbClr val="D3DAE1"/>
            </a:solidFill>
            <a:prstDash val="solid"/>
          </a:ln>
        </p:spPr>
      </p:sp>
      <p:sp>
        <p:nvSpPr>
          <p:cNvPr id="8" name="Text 6"/>
          <p:cNvSpPr/>
          <p:nvPr/>
        </p:nvSpPr>
        <p:spPr>
          <a:xfrm>
            <a:off x="971550" y="2327870"/>
            <a:ext cx="1388467"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Prikupljanje</a:t>
            </a:r>
            <a:endParaRPr lang="en-US" sz="1400" dirty="0"/>
          </a:p>
        </p:txBody>
      </p:sp>
      <p:sp>
        <p:nvSpPr>
          <p:cNvPr id="9" name="Text 7"/>
          <p:cNvSpPr/>
          <p:nvPr/>
        </p:nvSpPr>
        <p:spPr>
          <a:xfrm>
            <a:off x="971550" y="2600920"/>
            <a:ext cx="138846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Preuzimanje skupa, dokumentacije i opisa napada.</a:t>
            </a:r>
            <a:endParaRPr lang="en-US" sz="1200" dirty="0"/>
          </a:p>
        </p:txBody>
      </p:sp>
      <p:sp>
        <p:nvSpPr>
          <p:cNvPr id="10" name="Text 8"/>
          <p:cNvSpPr/>
          <p:nvPr/>
        </p:nvSpPr>
        <p:spPr>
          <a:xfrm>
            <a:off x="2594967" y="1673820"/>
            <a:ext cx="355600" cy="355600"/>
          </a:xfrm>
          <a:prstGeom prst="roundRect">
            <a:avLst>
              <a:gd name="adj" fmla="val 50000"/>
            </a:avLst>
          </a:prstGeom>
          <a:solidFill>
            <a:srgbClr val="0A5CA8"/>
          </a:solidFill>
          <a:ln/>
        </p:spPr>
        <p:txBody>
          <a:bodyPr wrap="square" lIns="0" tIns="0" rIns="0" bIns="0" rtlCol="0" anchor="ctr">
            <a:normAutofit/>
          </a:bodyPr>
          <a:lstStyle/>
          <a:p>
            <a:pPr algn="ctr" indent="0" marL="0">
              <a:lnSpc>
                <a:spcPts val="1680"/>
              </a:lnSpc>
              <a:buNone/>
            </a:pPr>
            <a:r>
              <a:rPr lang="en-US" sz="1200" b="1" dirty="0">
                <a:solidFill>
                  <a:srgbClr val="F6F7F5"/>
                </a:solidFill>
                <a:latin typeface="IBM Plex Mono" pitchFamily="49" charset="0"/>
                <a:ea typeface="IBM Plex Mono" pitchFamily="49" charset="-122"/>
                <a:cs typeface="IBM Plex Mono" pitchFamily="49" charset="-120"/>
              </a:rPr>
              <a:t>2</a:t>
            </a:r>
            <a:endParaRPr lang="en-US" sz="1200" dirty="0"/>
          </a:p>
        </p:txBody>
      </p:sp>
      <p:sp>
        <p:nvSpPr>
          <p:cNvPr id="11" name="Shape 9"/>
          <p:cNvSpPr/>
          <p:nvPr/>
        </p:nvSpPr>
        <p:spPr>
          <a:xfrm>
            <a:off x="2598142" y="2184995"/>
            <a:ext cx="1648916" cy="1412081"/>
          </a:xfrm>
          <a:prstGeom prst="roundRect">
            <a:avLst>
              <a:gd name="adj" fmla="val 6970"/>
            </a:avLst>
          </a:prstGeom>
          <a:solidFill>
            <a:srgbClr val="FCFCFB"/>
          </a:solidFill>
          <a:ln w="6350">
            <a:solidFill>
              <a:srgbClr val="D3DAE1"/>
            </a:solidFill>
            <a:prstDash val="solid"/>
          </a:ln>
        </p:spPr>
      </p:sp>
      <p:sp>
        <p:nvSpPr>
          <p:cNvPr id="12" name="Text 10"/>
          <p:cNvSpPr/>
          <p:nvPr/>
        </p:nvSpPr>
        <p:spPr>
          <a:xfrm>
            <a:off x="2753717" y="2327870"/>
            <a:ext cx="1388566"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Razumevanje</a:t>
            </a:r>
            <a:endParaRPr lang="en-US" sz="1400" dirty="0"/>
          </a:p>
        </p:txBody>
      </p:sp>
      <p:sp>
        <p:nvSpPr>
          <p:cNvPr id="13" name="Text 11"/>
          <p:cNvSpPr/>
          <p:nvPr/>
        </p:nvSpPr>
        <p:spPr>
          <a:xfrm>
            <a:off x="2753717" y="2600920"/>
            <a:ext cx="1388566"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Eksplorativna analiza promenljivih i režima rada.</a:t>
            </a:r>
            <a:endParaRPr lang="en-US" sz="1200" dirty="0"/>
          </a:p>
        </p:txBody>
      </p:sp>
      <p:sp>
        <p:nvSpPr>
          <p:cNvPr id="14" name="Text 12"/>
          <p:cNvSpPr/>
          <p:nvPr/>
        </p:nvSpPr>
        <p:spPr>
          <a:xfrm>
            <a:off x="4377234" y="1673820"/>
            <a:ext cx="355600" cy="355600"/>
          </a:xfrm>
          <a:prstGeom prst="roundRect">
            <a:avLst>
              <a:gd name="adj" fmla="val 50000"/>
            </a:avLst>
          </a:prstGeom>
          <a:solidFill>
            <a:srgbClr val="0A5CA8"/>
          </a:solidFill>
          <a:ln/>
        </p:spPr>
        <p:txBody>
          <a:bodyPr wrap="square" lIns="0" tIns="0" rIns="0" bIns="0" rtlCol="0" anchor="ctr">
            <a:normAutofit/>
          </a:bodyPr>
          <a:lstStyle/>
          <a:p>
            <a:pPr algn="ctr" indent="0" marL="0">
              <a:lnSpc>
                <a:spcPts val="1680"/>
              </a:lnSpc>
              <a:buNone/>
            </a:pPr>
            <a:r>
              <a:rPr lang="en-US" sz="1200" b="1" dirty="0">
                <a:solidFill>
                  <a:srgbClr val="F6F7F5"/>
                </a:solidFill>
                <a:latin typeface="IBM Plex Mono" pitchFamily="49" charset="0"/>
                <a:ea typeface="IBM Plex Mono" pitchFamily="49" charset="-122"/>
                <a:cs typeface="IBM Plex Mono" pitchFamily="49" charset="-120"/>
              </a:rPr>
              <a:t>3</a:t>
            </a:r>
            <a:endParaRPr lang="en-US" sz="1200" dirty="0"/>
          </a:p>
        </p:txBody>
      </p:sp>
      <p:sp>
        <p:nvSpPr>
          <p:cNvPr id="15" name="Shape 13"/>
          <p:cNvSpPr/>
          <p:nvPr/>
        </p:nvSpPr>
        <p:spPr>
          <a:xfrm>
            <a:off x="4380409" y="2184995"/>
            <a:ext cx="1648817" cy="1412081"/>
          </a:xfrm>
          <a:prstGeom prst="roundRect">
            <a:avLst>
              <a:gd name="adj" fmla="val 6970"/>
            </a:avLst>
          </a:prstGeom>
          <a:solidFill>
            <a:srgbClr val="FCFCFB"/>
          </a:solidFill>
          <a:ln w="6350">
            <a:solidFill>
              <a:srgbClr val="D3DAE1"/>
            </a:solidFill>
            <a:prstDash val="solid"/>
          </a:ln>
        </p:spPr>
      </p:sp>
      <p:sp>
        <p:nvSpPr>
          <p:cNvPr id="16" name="Text 14"/>
          <p:cNvSpPr/>
          <p:nvPr/>
        </p:nvSpPr>
        <p:spPr>
          <a:xfrm>
            <a:off x="4535984" y="2327870"/>
            <a:ext cx="1388467"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Čišćenje</a:t>
            </a:r>
            <a:endParaRPr lang="en-US" sz="1400" dirty="0"/>
          </a:p>
        </p:txBody>
      </p:sp>
      <p:sp>
        <p:nvSpPr>
          <p:cNvPr id="17" name="Text 15"/>
          <p:cNvSpPr/>
          <p:nvPr/>
        </p:nvSpPr>
        <p:spPr>
          <a:xfrm>
            <a:off x="4535984" y="2600920"/>
            <a:ext cx="1388467"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Nedostajuće vrednosti, nestabilni periodi i greške vremena.</a:t>
            </a:r>
            <a:endParaRPr lang="en-US" sz="1200" dirty="0"/>
          </a:p>
        </p:txBody>
      </p:sp>
      <p:sp>
        <p:nvSpPr>
          <p:cNvPr id="18" name="Text 16"/>
          <p:cNvSpPr/>
          <p:nvPr/>
        </p:nvSpPr>
        <p:spPr>
          <a:xfrm>
            <a:off x="6159401" y="1673820"/>
            <a:ext cx="355600" cy="355600"/>
          </a:xfrm>
          <a:prstGeom prst="roundRect">
            <a:avLst>
              <a:gd name="adj" fmla="val 50000"/>
            </a:avLst>
          </a:prstGeom>
          <a:solidFill>
            <a:srgbClr val="0A5CA8"/>
          </a:solidFill>
          <a:ln/>
        </p:spPr>
        <p:txBody>
          <a:bodyPr wrap="square" lIns="0" tIns="0" rIns="0" bIns="0" rtlCol="0" anchor="ctr">
            <a:normAutofit/>
          </a:bodyPr>
          <a:lstStyle/>
          <a:p>
            <a:pPr algn="ctr" indent="0" marL="0">
              <a:lnSpc>
                <a:spcPts val="1680"/>
              </a:lnSpc>
              <a:buNone/>
            </a:pPr>
            <a:r>
              <a:rPr lang="en-US" sz="1200" b="1" dirty="0">
                <a:solidFill>
                  <a:srgbClr val="F6F7F5"/>
                </a:solidFill>
                <a:latin typeface="IBM Plex Mono" pitchFamily="49" charset="0"/>
                <a:ea typeface="IBM Plex Mono" pitchFamily="49" charset="-122"/>
                <a:cs typeface="IBM Plex Mono" pitchFamily="49" charset="-120"/>
              </a:rPr>
              <a:t>4</a:t>
            </a:r>
            <a:endParaRPr lang="en-US" sz="1200" dirty="0"/>
          </a:p>
        </p:txBody>
      </p:sp>
      <p:sp>
        <p:nvSpPr>
          <p:cNvPr id="19" name="Shape 17"/>
          <p:cNvSpPr/>
          <p:nvPr/>
        </p:nvSpPr>
        <p:spPr>
          <a:xfrm>
            <a:off x="6162576" y="2184995"/>
            <a:ext cx="1648916" cy="1412081"/>
          </a:xfrm>
          <a:prstGeom prst="roundRect">
            <a:avLst>
              <a:gd name="adj" fmla="val 6970"/>
            </a:avLst>
          </a:prstGeom>
          <a:solidFill>
            <a:srgbClr val="FCFCFB"/>
          </a:solidFill>
          <a:ln w="6350">
            <a:solidFill>
              <a:srgbClr val="D3DAE1"/>
            </a:solidFill>
            <a:prstDash val="solid"/>
          </a:ln>
        </p:spPr>
      </p:sp>
      <p:sp>
        <p:nvSpPr>
          <p:cNvPr id="20" name="Text 18"/>
          <p:cNvSpPr/>
          <p:nvPr/>
        </p:nvSpPr>
        <p:spPr>
          <a:xfrm>
            <a:off x="6318151" y="2327870"/>
            <a:ext cx="1388566"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Priprema</a:t>
            </a:r>
            <a:endParaRPr lang="en-US" sz="1400" dirty="0"/>
          </a:p>
        </p:txBody>
      </p:sp>
      <p:sp>
        <p:nvSpPr>
          <p:cNvPr id="21" name="Text 19"/>
          <p:cNvSpPr/>
          <p:nvPr/>
        </p:nvSpPr>
        <p:spPr>
          <a:xfrm>
            <a:off x="6318151" y="2600920"/>
            <a:ext cx="138856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Normalizacija, kodiranje stanja i vremenski prozori.</a:t>
            </a:r>
            <a:endParaRPr lang="en-US" sz="1200" dirty="0"/>
          </a:p>
        </p:txBody>
      </p:sp>
      <p:sp>
        <p:nvSpPr>
          <p:cNvPr id="22" name="Text 20"/>
          <p:cNvSpPr/>
          <p:nvPr/>
        </p:nvSpPr>
        <p:spPr>
          <a:xfrm>
            <a:off x="7941667" y="1673820"/>
            <a:ext cx="355600" cy="355600"/>
          </a:xfrm>
          <a:prstGeom prst="roundRect">
            <a:avLst>
              <a:gd name="adj" fmla="val 50000"/>
            </a:avLst>
          </a:prstGeom>
          <a:solidFill>
            <a:srgbClr val="0A5CA8"/>
          </a:solidFill>
          <a:ln/>
        </p:spPr>
        <p:txBody>
          <a:bodyPr wrap="square" lIns="0" tIns="0" rIns="0" bIns="0" rtlCol="0" anchor="ctr">
            <a:normAutofit/>
          </a:bodyPr>
          <a:lstStyle/>
          <a:p>
            <a:pPr algn="ctr" indent="0" marL="0">
              <a:lnSpc>
                <a:spcPts val="1680"/>
              </a:lnSpc>
              <a:buNone/>
            </a:pPr>
            <a:r>
              <a:rPr lang="en-US" sz="1200" b="1" dirty="0">
                <a:solidFill>
                  <a:srgbClr val="F6F7F5"/>
                </a:solidFill>
                <a:latin typeface="IBM Plex Mono" pitchFamily="49" charset="0"/>
                <a:ea typeface="IBM Plex Mono" pitchFamily="49" charset="-122"/>
                <a:cs typeface="IBM Plex Mono" pitchFamily="49" charset="-120"/>
              </a:rPr>
              <a:t>5</a:t>
            </a:r>
            <a:endParaRPr lang="en-US" sz="1200" dirty="0"/>
          </a:p>
        </p:txBody>
      </p:sp>
      <p:sp>
        <p:nvSpPr>
          <p:cNvPr id="23" name="Shape 21"/>
          <p:cNvSpPr/>
          <p:nvPr/>
        </p:nvSpPr>
        <p:spPr>
          <a:xfrm>
            <a:off x="7944842" y="2184995"/>
            <a:ext cx="1648916" cy="1412081"/>
          </a:xfrm>
          <a:prstGeom prst="roundRect">
            <a:avLst>
              <a:gd name="adj" fmla="val 6970"/>
            </a:avLst>
          </a:prstGeom>
          <a:solidFill>
            <a:srgbClr val="FCFCFB"/>
          </a:solidFill>
          <a:ln w="6350">
            <a:solidFill>
              <a:srgbClr val="D3DAE1"/>
            </a:solidFill>
            <a:prstDash val="solid"/>
          </a:ln>
        </p:spPr>
      </p:sp>
      <p:sp>
        <p:nvSpPr>
          <p:cNvPr id="24" name="Text 22"/>
          <p:cNvSpPr/>
          <p:nvPr/>
        </p:nvSpPr>
        <p:spPr>
          <a:xfrm>
            <a:off x="8100417" y="2327870"/>
            <a:ext cx="1388566"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Modelovanje</a:t>
            </a:r>
            <a:endParaRPr lang="en-US" sz="1400" dirty="0"/>
          </a:p>
        </p:txBody>
      </p:sp>
      <p:sp>
        <p:nvSpPr>
          <p:cNvPr id="25" name="Text 23"/>
          <p:cNvSpPr/>
          <p:nvPr/>
        </p:nvSpPr>
        <p:spPr>
          <a:xfrm>
            <a:off x="8100417" y="2600920"/>
            <a:ext cx="138856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Učenje normalnog ponašanja i izbor praga.</a:t>
            </a:r>
            <a:endParaRPr lang="en-US" sz="1200" dirty="0"/>
          </a:p>
        </p:txBody>
      </p:sp>
      <p:sp>
        <p:nvSpPr>
          <p:cNvPr id="26" name="Text 24"/>
          <p:cNvSpPr/>
          <p:nvPr/>
        </p:nvSpPr>
        <p:spPr>
          <a:xfrm>
            <a:off x="9723934" y="1673820"/>
            <a:ext cx="355600" cy="355600"/>
          </a:xfrm>
          <a:prstGeom prst="roundRect">
            <a:avLst>
              <a:gd name="adj" fmla="val 50000"/>
            </a:avLst>
          </a:prstGeom>
          <a:solidFill>
            <a:srgbClr val="E07B1F"/>
          </a:solidFill>
          <a:ln/>
        </p:spPr>
        <p:txBody>
          <a:bodyPr wrap="square" lIns="0" tIns="0" rIns="0" bIns="0" rtlCol="0" anchor="ctr">
            <a:normAutofit/>
          </a:bodyPr>
          <a:lstStyle/>
          <a:p>
            <a:pPr algn="ctr"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6</a:t>
            </a:r>
            <a:endParaRPr lang="en-US" sz="1200" dirty="0"/>
          </a:p>
        </p:txBody>
      </p:sp>
      <p:sp>
        <p:nvSpPr>
          <p:cNvPr id="27" name="Shape 25"/>
          <p:cNvSpPr/>
          <p:nvPr/>
        </p:nvSpPr>
        <p:spPr>
          <a:xfrm>
            <a:off x="9727109" y="2184995"/>
            <a:ext cx="1648916" cy="1412081"/>
          </a:xfrm>
          <a:prstGeom prst="roundRect">
            <a:avLst>
              <a:gd name="adj" fmla="val 6970"/>
            </a:avLst>
          </a:prstGeom>
          <a:solidFill>
            <a:srgbClr val="FCFCFB"/>
          </a:solidFill>
          <a:ln w="6350">
            <a:solidFill>
              <a:srgbClr val="D3DAE1"/>
            </a:solidFill>
            <a:prstDash val="solid"/>
          </a:ln>
        </p:spPr>
      </p:sp>
      <p:sp>
        <p:nvSpPr>
          <p:cNvPr id="28" name="Text 26"/>
          <p:cNvSpPr/>
          <p:nvPr/>
        </p:nvSpPr>
        <p:spPr>
          <a:xfrm>
            <a:off x="9882684" y="2327870"/>
            <a:ext cx="1388566"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Evaluacija</a:t>
            </a:r>
            <a:endParaRPr lang="en-US" sz="1400" dirty="0"/>
          </a:p>
        </p:txBody>
      </p:sp>
      <p:sp>
        <p:nvSpPr>
          <p:cNvPr id="29" name="Text 27"/>
          <p:cNvSpPr/>
          <p:nvPr/>
        </p:nvSpPr>
        <p:spPr>
          <a:xfrm>
            <a:off x="9882684" y="2600920"/>
            <a:ext cx="138856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Metrike na odvojenom skupu sa napadima.</a:t>
            </a:r>
            <a:endParaRPr lang="en-US" sz="1200" dirty="0"/>
          </a:p>
        </p:txBody>
      </p:sp>
      <p:sp>
        <p:nvSpPr>
          <p:cNvPr id="30" name="Shape 28"/>
          <p:cNvSpPr/>
          <p:nvPr/>
        </p:nvSpPr>
        <p:spPr>
          <a:xfrm>
            <a:off x="812800" y="3854252"/>
            <a:ext cx="10566400" cy="508000"/>
          </a:xfrm>
          <a:prstGeom prst="roundRect">
            <a:avLst>
              <a:gd name="adj" fmla="val 15000"/>
            </a:avLst>
          </a:prstGeom>
          <a:solidFill>
            <a:srgbClr val="DCE8F4"/>
          </a:solidFill>
          <a:ln/>
        </p:spPr>
      </p:sp>
      <p:pic>
        <p:nvPicPr>
          <p:cNvPr id="31" name="Image 0" descr="Lightbulb">    </p:cNvPr>
          <p:cNvPicPr>
            <a:picLocks noChangeAspect="1"/>
          </p:cNvPicPr>
          <p:nvPr/>
        </p:nvPicPr>
        <p:blipFill>
          <a:blip r:embed="rId1"/>
          <a:srcRect l="0" r="0" t="0" b="0"/>
          <a:stretch/>
        </p:blipFill>
        <p:spPr>
          <a:xfrm>
            <a:off x="990600" y="3981252"/>
            <a:ext cx="254000" cy="254000"/>
          </a:xfrm>
          <a:prstGeom prst="rect">
            <a:avLst/>
          </a:prstGeom>
        </p:spPr>
      </p:pic>
      <p:sp>
        <p:nvSpPr>
          <p:cNvPr id="32" name="Text 29"/>
          <p:cNvSpPr/>
          <p:nvPr/>
        </p:nvSpPr>
        <p:spPr>
          <a:xfrm>
            <a:off x="1371600" y="4001591"/>
            <a:ext cx="10124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Postupak je iterativan: rezultati evaluacije često vraćaju analizu na korak razumevanja ili pripreme podataka.</a:t>
            </a:r>
            <a:endParaRPr lang="en-US" sz="1200" dirty="0"/>
          </a:p>
        </p:txBody>
      </p:sp>
      <p:sp>
        <p:nvSpPr>
          <p:cNvPr id="33" name="Shape 30"/>
          <p:cNvSpPr/>
          <p:nvPr/>
        </p:nvSpPr>
        <p:spPr>
          <a:xfrm>
            <a:off x="812800" y="6209705"/>
            <a:ext cx="10566400" cy="0"/>
          </a:xfrm>
          <a:prstGeom prst="line">
            <a:avLst/>
          </a:prstGeom>
          <a:noFill/>
          <a:ln w="6350">
            <a:solidFill>
              <a:srgbClr val="D3DAE1"/>
            </a:solidFill>
            <a:prstDash val="solid"/>
          </a:ln>
        </p:spPr>
      </p:sp>
      <p:sp>
        <p:nvSpPr>
          <p:cNvPr id="34" name="Text 31"/>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35" name="Text 3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ANALIZA PODATAKA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Struktura procesnih podataka</a:t>
            </a:r>
            <a:endParaRPr lang="en-US" sz="3000" dirty="0"/>
          </a:p>
        </p:txBody>
      </p:sp>
      <p:sp>
        <p:nvSpPr>
          <p:cNvPr id="5" name="Shape 3"/>
          <p:cNvSpPr/>
          <p:nvPr/>
        </p:nvSpPr>
        <p:spPr>
          <a:xfrm>
            <a:off x="812800" y="1673820"/>
            <a:ext cx="3556000" cy="2721372"/>
          </a:xfrm>
          <a:prstGeom prst="roundRect">
            <a:avLst>
              <a:gd name="adj" fmla="val 2800"/>
            </a:avLst>
          </a:prstGeom>
          <a:solidFill>
            <a:srgbClr val="FCFCFB"/>
          </a:solidFill>
          <a:ln/>
        </p:spPr>
      </p:sp>
      <p:sp>
        <p:nvSpPr>
          <p:cNvPr id="6" name="Shape 4"/>
          <p:cNvSpPr/>
          <p:nvPr/>
        </p:nvSpPr>
        <p:spPr>
          <a:xfrm>
            <a:off x="812800" y="1673820"/>
            <a:ext cx="3556000" cy="2721372"/>
          </a:xfrm>
          <a:custGeom>
            <a:avLst/>
            <a:gdLst/>
            <a:ahLst/>
            <a:cxnLst/>
            <a:rect l="l" t="t" r="r" b="b"/>
            <a:pathLst>
              <a:path w="3556000" h="2721372">
                <a:moveTo>
                  <a:pt x="76200" y="2721372"/>
                </a:moveTo>
                <a:lnTo>
                  <a:pt x="76200" y="2721372"/>
                </a:lnTo>
                <a:arcTo hR="76200" wR="76200" stAng="5400000" swAng="5400000"/>
                <a:lnTo>
                  <a:pt x="0" y="76200"/>
                </a:lnTo>
                <a:arcTo hR="76200" wR="76200" stAng="10800000" swAng="5400000"/>
                <a:lnTo>
                  <a:pt x="76200" y="0"/>
                </a:lnTo>
                <a:arcTo hR="76200" wR="38100" stAng="16200000" swAng="-5400000"/>
                <a:lnTo>
                  <a:pt x="38100" y="2645172"/>
                </a:lnTo>
                <a:arcTo hR="76200" wR="38100" stAng="10800000" swAng="-5400000"/>
                <a:close/>
              </a:path>
            </a:pathLst>
          </a:custGeom>
          <a:solidFill>
            <a:srgbClr val="0A5CA8"/>
          </a:solidFill>
          <a:ln/>
        </p:spPr>
      </p:sp>
      <p:sp>
        <p:nvSpPr>
          <p:cNvPr id="7" name="Text 5"/>
          <p:cNvSpPr/>
          <p:nvPr/>
        </p:nvSpPr>
        <p:spPr>
          <a:xfrm>
            <a:off x="1054100" y="1851620"/>
            <a:ext cx="320484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Višedimenzionalna vremenska serija sa oznakom:</a:t>
            </a:r>
            <a:endParaRPr lang="en-US" sz="1200" dirty="0"/>
          </a:p>
        </p:txBody>
      </p:sp>
      <p:sp>
        <p:nvSpPr>
          <p:cNvPr id="8" name="Text 6"/>
          <p:cNvSpPr/>
          <p:nvPr/>
        </p:nvSpPr>
        <p:spPr>
          <a:xfrm>
            <a:off x="1054100" y="2417961"/>
            <a:ext cx="193873" cy="360660"/>
          </a:xfrm>
          <a:prstGeom prst="rect">
            <a:avLst/>
          </a:prstGeom>
          <a:noFill/>
          <a:ln/>
        </p:spPr>
        <p:txBody>
          <a:bodyPr wrap="square" lIns="0" tIns="0" rIns="0" bIns="0" rtlCol="0" anchor="t">
            <a:normAutofit/>
          </a:bodyPr>
          <a:lstStyle/>
          <a:p>
            <a:pPr algn="l" indent="0" marL="0">
              <a:lnSpc>
                <a:spcPts val="2640"/>
              </a:lnSpc>
              <a:buNone/>
            </a:pPr>
            <a:r>
              <a:rPr lang="en-US" sz="2200" b="1" i="1" dirty="0">
                <a:solidFill>
                  <a:srgbClr val="13202D"/>
                </a:solidFill>
                <a:latin typeface="STIX Two Text" pitchFamily="18" charset="0"/>
                <a:ea typeface="STIX Two Text" pitchFamily="18" charset="-122"/>
                <a:cs typeface="STIX Two Text" pitchFamily="18" charset="-120"/>
              </a:rPr>
              <a:t>x</a:t>
            </a:r>
            <a:endParaRPr lang="en-US" sz="2200" dirty="0"/>
          </a:p>
        </p:txBody>
      </p:sp>
      <p:sp>
        <p:nvSpPr>
          <p:cNvPr id="9" name="Text 7"/>
          <p:cNvSpPr/>
          <p:nvPr/>
        </p:nvSpPr>
        <p:spPr>
          <a:xfrm>
            <a:off x="1209873" y="2585541"/>
            <a:ext cx="103882" cy="203200"/>
          </a:xfrm>
          <a:prstGeom prst="rect">
            <a:avLst/>
          </a:prstGeom>
          <a:noFill/>
          <a:ln/>
        </p:spPr>
        <p:txBody>
          <a:bodyPr wrap="square" lIns="0" tIns="0" rIns="0" bIns="0" rtlCol="0" anchor="t">
            <a:normAutofit/>
          </a:bodyPr>
          <a:lstStyle/>
          <a:p>
            <a:pPr algn="l" indent="0" marL="0">
              <a:lnSpc>
                <a:spcPts val="1400"/>
              </a:lnSpc>
              <a:buNone/>
            </a:pPr>
            <a:r>
              <a:rPr lang="en-US" sz="1400" i="1" dirty="0">
                <a:solidFill>
                  <a:srgbClr val="13202D"/>
                </a:solidFill>
                <a:latin typeface="STIX Two Text" pitchFamily="18" charset="0"/>
                <a:ea typeface="STIX Two Text" pitchFamily="18" charset="-122"/>
                <a:cs typeface="STIX Two Text" pitchFamily="18" charset="-120"/>
              </a:rPr>
              <a:t>t</a:t>
            </a:r>
            <a:endParaRPr lang="en-US" sz="1400" dirty="0"/>
          </a:p>
        </p:txBody>
      </p:sp>
      <p:sp>
        <p:nvSpPr>
          <p:cNvPr id="10" name="Text 8"/>
          <p:cNvSpPr/>
          <p:nvPr/>
        </p:nvSpPr>
        <p:spPr>
          <a:xfrm>
            <a:off x="1377255" y="2417961"/>
            <a:ext cx="211832"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a:t>
            </a:r>
            <a:endParaRPr lang="en-US" sz="2200" dirty="0"/>
          </a:p>
        </p:txBody>
      </p:sp>
      <p:sp>
        <p:nvSpPr>
          <p:cNvPr id="11" name="Text 9"/>
          <p:cNvSpPr/>
          <p:nvPr/>
        </p:nvSpPr>
        <p:spPr>
          <a:xfrm>
            <a:off x="1652588" y="2417961"/>
            <a:ext cx="219075"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ℝ</a:t>
            </a:r>
            <a:endParaRPr lang="en-US" sz="2200" dirty="0"/>
          </a:p>
        </p:txBody>
      </p:sp>
      <p:sp>
        <p:nvSpPr>
          <p:cNvPr id="12" name="Text 10"/>
          <p:cNvSpPr/>
          <p:nvPr/>
        </p:nvSpPr>
        <p:spPr>
          <a:xfrm>
            <a:off x="1833563" y="2395041"/>
            <a:ext cx="151110" cy="203200"/>
          </a:xfrm>
          <a:prstGeom prst="rect">
            <a:avLst/>
          </a:prstGeom>
          <a:noFill/>
          <a:ln/>
        </p:spPr>
        <p:txBody>
          <a:bodyPr wrap="square" lIns="0" tIns="0" rIns="0" bIns="0" rtlCol="0" anchor="t">
            <a:normAutofit/>
          </a:bodyPr>
          <a:lstStyle/>
          <a:p>
            <a:pPr algn="l" indent="0" marL="0">
              <a:lnSpc>
                <a:spcPts val="1400"/>
              </a:lnSpc>
              <a:buNone/>
            </a:pPr>
            <a:r>
              <a:rPr lang="en-US" sz="1400" i="1" dirty="0">
                <a:solidFill>
                  <a:srgbClr val="13202D"/>
                </a:solidFill>
                <a:latin typeface="STIX Two Text" pitchFamily="18" charset="0"/>
                <a:ea typeface="STIX Two Text" pitchFamily="18" charset="-122"/>
                <a:cs typeface="STIX Two Text" pitchFamily="18" charset="-120"/>
              </a:rPr>
              <a:t>n</a:t>
            </a:r>
            <a:endParaRPr lang="en-US" sz="1400" dirty="0"/>
          </a:p>
        </p:txBody>
      </p:sp>
      <p:sp>
        <p:nvSpPr>
          <p:cNvPr id="13" name="Text 11"/>
          <p:cNvSpPr/>
          <p:nvPr/>
        </p:nvSpPr>
        <p:spPr>
          <a:xfrm>
            <a:off x="1054100" y="2892921"/>
            <a:ext cx="175419" cy="360660"/>
          </a:xfrm>
          <a:prstGeom prst="rect">
            <a:avLst/>
          </a:prstGeom>
          <a:noFill/>
          <a:ln/>
        </p:spPr>
        <p:txBody>
          <a:bodyPr wrap="square" lIns="0" tIns="0" rIns="0" bIns="0" rtlCol="0" anchor="t">
            <a:normAutofit/>
          </a:bodyPr>
          <a:lstStyle/>
          <a:p>
            <a:pPr algn="l" indent="0" marL="0">
              <a:lnSpc>
                <a:spcPts val="2640"/>
              </a:lnSpc>
              <a:buNone/>
            </a:pPr>
            <a:r>
              <a:rPr lang="en-US" sz="2200" i="1" dirty="0">
                <a:solidFill>
                  <a:srgbClr val="13202D"/>
                </a:solidFill>
                <a:latin typeface="STIX Two Text" pitchFamily="18" charset="0"/>
                <a:ea typeface="STIX Two Text" pitchFamily="18" charset="-122"/>
                <a:cs typeface="STIX Two Text" pitchFamily="18" charset="-120"/>
              </a:rPr>
              <a:t>y</a:t>
            </a:r>
            <a:endParaRPr lang="en-US" sz="2200" dirty="0"/>
          </a:p>
        </p:txBody>
      </p:sp>
      <p:sp>
        <p:nvSpPr>
          <p:cNvPr id="14" name="Text 12"/>
          <p:cNvSpPr/>
          <p:nvPr/>
        </p:nvSpPr>
        <p:spPr>
          <a:xfrm>
            <a:off x="1191419" y="3060502"/>
            <a:ext cx="103882" cy="203200"/>
          </a:xfrm>
          <a:prstGeom prst="rect">
            <a:avLst/>
          </a:prstGeom>
          <a:noFill/>
          <a:ln/>
        </p:spPr>
        <p:txBody>
          <a:bodyPr wrap="square" lIns="0" tIns="0" rIns="0" bIns="0" rtlCol="0" anchor="t">
            <a:normAutofit/>
          </a:bodyPr>
          <a:lstStyle/>
          <a:p>
            <a:pPr algn="l" indent="0" marL="0">
              <a:lnSpc>
                <a:spcPts val="1400"/>
              </a:lnSpc>
              <a:buNone/>
            </a:pPr>
            <a:r>
              <a:rPr lang="en-US" sz="1400" i="1" dirty="0">
                <a:solidFill>
                  <a:srgbClr val="13202D"/>
                </a:solidFill>
                <a:latin typeface="STIX Two Text" pitchFamily="18" charset="0"/>
                <a:ea typeface="STIX Two Text" pitchFamily="18" charset="-122"/>
                <a:cs typeface="STIX Two Text" pitchFamily="18" charset="-120"/>
              </a:rPr>
              <a:t>t</a:t>
            </a:r>
            <a:endParaRPr lang="en-US" sz="1400" dirty="0"/>
          </a:p>
        </p:txBody>
      </p:sp>
      <p:sp>
        <p:nvSpPr>
          <p:cNvPr id="15" name="Text 13"/>
          <p:cNvSpPr/>
          <p:nvPr/>
        </p:nvSpPr>
        <p:spPr>
          <a:xfrm>
            <a:off x="1358801" y="2892921"/>
            <a:ext cx="211832"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a:t>
            </a:r>
            <a:endParaRPr lang="en-US" sz="2200" dirty="0"/>
          </a:p>
        </p:txBody>
      </p:sp>
      <p:sp>
        <p:nvSpPr>
          <p:cNvPr id="16" name="Text 14"/>
          <p:cNvSpPr/>
          <p:nvPr/>
        </p:nvSpPr>
        <p:spPr>
          <a:xfrm>
            <a:off x="1634133" y="2892921"/>
            <a:ext cx="702112"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{0, 1}</a:t>
            </a:r>
            <a:endParaRPr lang="en-US" sz="2200" dirty="0"/>
          </a:p>
        </p:txBody>
      </p:sp>
      <p:sp>
        <p:nvSpPr>
          <p:cNvPr id="17" name="Shape 15"/>
          <p:cNvSpPr/>
          <p:nvPr/>
        </p:nvSpPr>
        <p:spPr>
          <a:xfrm>
            <a:off x="1054100" y="3371056"/>
            <a:ext cx="3111500" cy="0"/>
          </a:xfrm>
          <a:prstGeom prst="line">
            <a:avLst/>
          </a:prstGeom>
          <a:noFill/>
          <a:ln w="6350">
            <a:solidFill>
              <a:srgbClr val="D3DAE1"/>
            </a:solidFill>
            <a:prstDash val="solid"/>
          </a:ln>
        </p:spPr>
      </p:sp>
      <p:sp>
        <p:nvSpPr>
          <p:cNvPr id="18" name="Text 16"/>
          <p:cNvSpPr/>
          <p:nvPr/>
        </p:nvSpPr>
        <p:spPr>
          <a:xfrm>
            <a:off x="1054100" y="3475831"/>
            <a:ext cx="320484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n</a:t>
            </a:r>
            <a:r>
              <a:rPr lang="en-US" sz="1200" dirty="0">
                <a:solidFill>
                  <a:srgbClr val="44505D"/>
                </a:solidFill>
                <a:latin typeface="IBM Plex Sans" pitchFamily="34" charset="0"/>
                <a:ea typeface="IBM Plex Sans" pitchFamily="34" charset="-122"/>
                <a:cs typeface="IBM Plex Sans" pitchFamily="34" charset="-120"/>
              </a:rPr>
              <a:t> broj senzora i aktuatora</a:t>
            </a:r>
            <a:endParaRPr lang="en-US" sz="1200" dirty="0"/>
          </a:p>
        </p:txBody>
      </p:sp>
      <p:sp>
        <p:nvSpPr>
          <p:cNvPr id="19" name="Text 17"/>
          <p:cNvSpPr/>
          <p:nvPr/>
        </p:nvSpPr>
        <p:spPr>
          <a:xfrm>
            <a:off x="1054100" y="3739952"/>
            <a:ext cx="320484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t</a:t>
            </a:r>
            <a:r>
              <a:rPr lang="en-US" sz="1200" dirty="0">
                <a:solidFill>
                  <a:srgbClr val="44505D"/>
                </a:solidFill>
                <a:latin typeface="IBM Plex Sans" pitchFamily="34" charset="0"/>
                <a:ea typeface="IBM Plex Sans" pitchFamily="34" charset="-122"/>
                <a:cs typeface="IBM Plex Sans" pitchFamily="34" charset="-120"/>
              </a:rPr>
              <a:t> vremenski trenutak (korak 1 s)</a:t>
            </a:r>
            <a:endParaRPr lang="en-US" sz="1200" dirty="0"/>
          </a:p>
        </p:txBody>
      </p:sp>
      <p:sp>
        <p:nvSpPr>
          <p:cNvPr id="20" name="Text 18"/>
          <p:cNvSpPr/>
          <p:nvPr/>
        </p:nvSpPr>
        <p:spPr>
          <a:xfrm>
            <a:off x="1054100" y="4004072"/>
            <a:ext cx="320484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y</a:t>
            </a:r>
            <a:r>
              <a:rPr lang="en-US" sz="1200" dirty="0">
                <a:solidFill>
                  <a:srgbClr val="44505D"/>
                </a:solidFill>
                <a:latin typeface="IBM Plex Sans" pitchFamily="34" charset="0"/>
                <a:ea typeface="IBM Plex Sans" pitchFamily="34" charset="-122"/>
                <a:cs typeface="IBM Plex Sans" pitchFamily="34" charset="-120"/>
              </a:rPr>
              <a:t> oznaka: 0 normalno, 1 napad</a:t>
            </a:r>
            <a:endParaRPr lang="en-US" sz="1200" dirty="0"/>
          </a:p>
        </p:txBody>
      </p:sp>
      <p:sp>
        <p:nvSpPr>
          <p:cNvPr id="21" name="Shape 19"/>
          <p:cNvSpPr/>
          <p:nvPr/>
        </p:nvSpPr>
        <p:spPr>
          <a:xfrm>
            <a:off x="4673600" y="1673820"/>
            <a:ext cx="6705600" cy="2396133"/>
          </a:xfrm>
          <a:prstGeom prst="roundRect">
            <a:avLst>
              <a:gd name="adj" fmla="val 4240"/>
            </a:avLst>
          </a:prstGeom>
          <a:solidFill>
            <a:srgbClr val="FCFCFB"/>
          </a:solidFill>
          <a:ln/>
        </p:spPr>
      </p:sp>
      <p:sp>
        <p:nvSpPr>
          <p:cNvPr id="22" name="Shape 20"/>
          <p:cNvSpPr/>
          <p:nvPr/>
        </p:nvSpPr>
        <p:spPr>
          <a:xfrm>
            <a:off x="4673600" y="1673820"/>
            <a:ext cx="6705600" cy="2396133"/>
          </a:xfrm>
          <a:custGeom>
            <a:avLst/>
            <a:gdLst/>
            <a:ahLst/>
            <a:cxnLst/>
            <a:rect l="l" t="t" r="r" b="b"/>
            <a:pathLst>
              <a:path w="6705600" h="2396133">
                <a:moveTo>
                  <a:pt x="6604000" y="0"/>
                </a:moveTo>
                <a:lnTo>
                  <a:pt x="6604000" y="0"/>
                </a:lnTo>
                <a:arcTo hR="101600" wR="101600" stAng="16200000" swAng="5400000"/>
                <a:lnTo>
                  <a:pt x="6705600" y="2294533"/>
                </a:lnTo>
                <a:arcTo hR="101600" wR="101600" stAng="0" swAng="5400000"/>
                <a:lnTo>
                  <a:pt x="101600" y="2396133"/>
                </a:lnTo>
                <a:arcTo hR="101600" wR="101600" stAng="5400000" swAng="5400000"/>
                <a:lnTo>
                  <a:pt x="0" y="2294533"/>
                </a:lnTo>
                <a:arcTo hR="95250" wR="101600" stAng="10800000" swAng="-5400000"/>
                <a:lnTo>
                  <a:pt x="6604000" y="2389783"/>
                </a:lnTo>
                <a:arcTo hR="95250" wR="95250" stAng="5400000" swAng="-5400000"/>
                <a:lnTo>
                  <a:pt x="6699250" y="101600"/>
                </a:lnTo>
                <a:arcTo hR="101600" wR="95250" stAng="0" swAng="-5400000"/>
                <a:close/>
              </a:path>
            </a:pathLst>
          </a:custGeom>
          <a:solidFill>
            <a:srgbClr val="D3DAE1"/>
          </a:solidFill>
          <a:ln/>
        </p:spPr>
      </p:sp>
      <p:sp>
        <p:nvSpPr>
          <p:cNvPr id="23" name="Shape 21"/>
          <p:cNvSpPr/>
          <p:nvPr/>
        </p:nvSpPr>
        <p:spPr>
          <a:xfrm>
            <a:off x="4673600" y="1673820"/>
            <a:ext cx="6705600" cy="2396133"/>
          </a:xfrm>
          <a:custGeom>
            <a:avLst/>
            <a:gdLst/>
            <a:ahLst/>
            <a:cxnLst/>
            <a:rect l="l" t="t" r="r" b="b"/>
            <a:pathLst>
              <a:path w="6705600" h="2396133">
                <a:moveTo>
                  <a:pt x="101600" y="2396133"/>
                </a:moveTo>
                <a:lnTo>
                  <a:pt x="101600" y="2396133"/>
                </a:lnTo>
                <a:arcTo hR="101600" wR="101600" stAng="5400000" swAng="5400000"/>
                <a:lnTo>
                  <a:pt x="0" y="101600"/>
                </a:lnTo>
                <a:arcTo hR="101600" wR="101600" stAng="10800000" swAng="5400000"/>
                <a:lnTo>
                  <a:pt x="6604000" y="0"/>
                </a:lnTo>
                <a:arcTo hR="101600" wR="101600" stAng="16200000" swAng="5400000"/>
                <a:lnTo>
                  <a:pt x="6705600" y="101600"/>
                </a:lnTo>
                <a:arcTo hR="88900" wR="101600" stAng="0" swAng="-5400000"/>
                <a:lnTo>
                  <a:pt x="101600" y="12700"/>
                </a:lnTo>
                <a:arcTo hR="88900" wR="88900" stAng="16200000" swAng="-5400000"/>
                <a:lnTo>
                  <a:pt x="12700" y="2294533"/>
                </a:lnTo>
                <a:arcTo hR="101600" wR="88900" stAng="10800000" swAng="-5400000"/>
                <a:close/>
              </a:path>
            </a:pathLst>
          </a:custGeom>
          <a:solidFill>
            <a:srgbClr val="141413">
              <a:alpha val="22000"/>
            </a:srgbClr>
          </a:solidFill>
          <a:ln/>
        </p:spPr>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686300" y="1686520"/>
          <a:ext cx="6686550" cy="2377083"/>
        </p:xfrm>
        <a:graphic>
          <a:graphicData uri="http://schemas.openxmlformats.org/drawingml/2006/table">
            <a:tbl>
              <a:tblPr/>
              <a:tblGrid>
                <a:gridCol w="1337310"/>
                <a:gridCol w="1136714"/>
                <a:gridCol w="1136714"/>
                <a:gridCol w="1136714"/>
                <a:gridCol w="1002983"/>
                <a:gridCol w="936117"/>
              </a:tblGrid>
              <a:tr h="396180">
                <a:tc>
                  <a:txBody>
                    <a:bodyPr/>
                    <a:lstStyle/>
                    <a:p>
                      <a:pPr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Vreme</a:t>
                      </a:r>
                      <a:endParaRPr lang="en-US" sz="1200" dirty="0">
                        <a:latin typeface="IBM Plex Mono" charset="0"/>
                        <a:ea typeface="IBM Plex Mono" charset="0"/>
                        <a:cs typeface="IBM Plex Mono" charset="0"/>
                      </a:endParaRPr>
                    </a:p>
                  </a:txBody>
                  <a:tcPr marL="114300" marR="114300" marT="88900" marB="88900" anchor="t">
                    <a:lnL w="0" cap="flat" cmpd="sng" algn="ctr">
                      <a:noFill/>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algn="r"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LIT101</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algn="r"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FIT101</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algn="r"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AIT201</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algn="r"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algn="r"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y</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r>
              <a:tr h="396180">
                <a:tc>
                  <a:txBody>
                    <a:bodyPr/>
                    <a:lstStyle/>
                    <a:p>
                      <a:pP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10:00:00</a:t>
                      </a:r>
                      <a:endParaRPr lang="en-US" sz="1200" dirty="0">
                        <a:latin typeface="IBM Plex Mono" charset="0"/>
                        <a:ea typeface="IBM Plex Mono" charset="0"/>
                        <a:cs typeface="IBM Plex Mono" charset="0"/>
                      </a:endParaRPr>
                    </a:p>
                  </a:txBody>
                  <a:tcPr marL="114300" marR="1143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521,8</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2,47</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262,0</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0</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96180">
                <a:tc>
                  <a:txBody>
                    <a:bodyPr/>
                    <a:lstStyle/>
                    <a:p>
                      <a:pP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10:00:01</a:t>
                      </a:r>
                      <a:endParaRPr lang="en-US" sz="1200" dirty="0">
                        <a:latin typeface="IBM Plex Mono" charset="0"/>
                        <a:ea typeface="IBM Plex Mono" charset="0"/>
                        <a:cs typeface="IBM Plex Mono" charset="0"/>
                      </a:endParaRPr>
                    </a:p>
                  </a:txBody>
                  <a:tcPr marL="114300" marR="1143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522,0</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2,46</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262,0</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0</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96180">
                <a:tc>
                  <a:txBody>
                    <a:bodyPr/>
                    <a:lstStyle/>
                    <a:p>
                      <a:pP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10:00:02</a:t>
                      </a:r>
                      <a:endParaRPr lang="en-US" sz="1200" dirty="0">
                        <a:latin typeface="IBM Plex Mono" charset="0"/>
                        <a:ea typeface="IBM Plex Mono" charset="0"/>
                        <a:cs typeface="IBM Plex Mono" charset="0"/>
                      </a:endParaRPr>
                    </a:p>
                  </a:txBody>
                  <a:tcPr marL="114300" marR="1143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522,3</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2,47</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262,0</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0</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96180">
                <a:tc>
                  <a:txBody>
                    <a:bodyPr/>
                    <a:lstStyle/>
                    <a:p>
                      <a:pP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a:t>
                      </a:r>
                      <a:endParaRPr lang="en-US" sz="1200" dirty="0">
                        <a:latin typeface="IBM Plex Mono" charset="0"/>
                        <a:ea typeface="IBM Plex Mono" charset="0"/>
                        <a:cs typeface="IBM Plex Mono" charset="0"/>
                      </a:endParaRPr>
                    </a:p>
                  </a:txBody>
                  <a:tcPr marL="114300" marR="1143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96180">
                <a:tc>
                  <a:txBody>
                    <a:bodyPr/>
                    <a:lstStyle/>
                    <a:p>
                      <a:pP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11:12:40</a:t>
                      </a:r>
                      <a:endParaRPr lang="en-US" sz="1200" dirty="0">
                        <a:latin typeface="IBM Plex Mono" charset="0"/>
                        <a:ea typeface="IBM Plex Mono" charset="0"/>
                        <a:cs typeface="IBM Plex Mono" charset="0"/>
                      </a:endParaRPr>
                    </a:p>
                  </a:txBody>
                  <a:tcPr marL="114300" marR="114300" marT="88900" marB="88900" anchor="t">
                    <a:lnL w="0" cap="flat" cmpd="sng" algn="ctr">
                      <a:noFill/>
                    </a:lnL>
                    <a:lnR w="12700" cap="flat" cmpd="sng" algn="ctr">
                      <a:solidFill>
                        <a:srgbClr val="C8C0B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8C0B8"/>
                      </a:solidFill>
                      <a:prstDash val="solid"/>
                      <a:round/>
                      <a:headEnd type="none" w="med" len="med"/>
                      <a:tailEnd type="none" w="med" len="med"/>
                    </a:lnB>
                    <a:solidFill>
                      <a:srgbClr val="FBF1E6"/>
                    </a:solidFill>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812,6</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8C0B8"/>
                      </a:solidFill>
                      <a:prstDash val="solid"/>
                      <a:round/>
                      <a:headEnd type="none" w="med" len="med"/>
                      <a:tailEnd type="none" w="med" len="med"/>
                    </a:lnL>
                    <a:lnR w="12700" cap="flat" cmpd="sng" algn="ctr">
                      <a:solidFill>
                        <a:srgbClr val="C8C0B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8C0B8"/>
                      </a:solidFill>
                      <a:prstDash val="solid"/>
                      <a:round/>
                      <a:headEnd type="none" w="med" len="med"/>
                      <a:tailEnd type="none" w="med" len="med"/>
                    </a:lnB>
                    <a:solidFill>
                      <a:srgbClr val="FBF1E6"/>
                    </a:solidFill>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2,51</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8C0B8"/>
                      </a:solidFill>
                      <a:prstDash val="solid"/>
                      <a:round/>
                      <a:headEnd type="none" w="med" len="med"/>
                      <a:tailEnd type="none" w="med" len="med"/>
                    </a:lnL>
                    <a:lnR w="12700" cap="flat" cmpd="sng" algn="ctr">
                      <a:solidFill>
                        <a:srgbClr val="C8C0B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8C0B8"/>
                      </a:solidFill>
                      <a:prstDash val="solid"/>
                      <a:round/>
                      <a:headEnd type="none" w="med" len="med"/>
                      <a:tailEnd type="none" w="med" len="med"/>
                    </a:lnB>
                    <a:solidFill>
                      <a:srgbClr val="FBF1E6"/>
                    </a:solidFill>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261,8</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8C0B8"/>
                      </a:solidFill>
                      <a:prstDash val="solid"/>
                      <a:round/>
                      <a:headEnd type="none" w="med" len="med"/>
                      <a:tailEnd type="none" w="med" len="med"/>
                    </a:lnL>
                    <a:lnR w="12700" cap="flat" cmpd="sng" algn="ctr">
                      <a:solidFill>
                        <a:srgbClr val="C8C0B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8C0B8"/>
                      </a:solidFill>
                      <a:prstDash val="solid"/>
                      <a:round/>
                      <a:headEnd type="none" w="med" len="med"/>
                      <a:tailEnd type="none" w="med" len="med"/>
                    </a:lnB>
                    <a:solidFill>
                      <a:srgbClr val="FBF1E6"/>
                    </a:solidFill>
                  </a:tcPr>
                </a:tc>
                <a:tc>
                  <a:txBody>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8C0B8"/>
                      </a:solidFill>
                      <a:prstDash val="solid"/>
                      <a:round/>
                      <a:headEnd type="none" w="med" len="med"/>
                      <a:tailEnd type="none" w="med" len="med"/>
                    </a:lnL>
                    <a:lnR w="12700" cap="flat" cmpd="sng" algn="ctr">
                      <a:solidFill>
                        <a:srgbClr val="C8C0B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8C0B8"/>
                      </a:solidFill>
                      <a:prstDash val="solid"/>
                      <a:round/>
                      <a:headEnd type="none" w="med" len="med"/>
                      <a:tailEnd type="none" w="med" len="med"/>
                    </a:lnB>
                    <a:solidFill>
                      <a:srgbClr val="FBF1E6"/>
                    </a:solidFill>
                  </a:tcPr>
                </a:tc>
                <a:tc>
                  <a:txBody>
                    <a:bodyPr/>
                    <a:lstStyle/>
                    <a:p>
                      <a:pPr algn="r"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1</a:t>
                      </a:r>
                      <a:endParaRPr lang="en-US" sz="1200" dirty="0">
                        <a:latin typeface="IBM Plex Mono" charset="0"/>
                        <a:ea typeface="IBM Plex Mono" charset="0"/>
                        <a:cs typeface="IBM Plex Mono" charset="0"/>
                      </a:endParaRPr>
                    </a:p>
                  </a:txBody>
                  <a:tcPr marL="114300" marR="114300" marT="88900" marB="88900" anchor="t">
                    <a:lnL w="12700" cap="flat" cmpd="sng" algn="ctr">
                      <a:solidFill>
                        <a:srgbClr val="C8C0B8"/>
                      </a:solidFill>
                      <a:prstDash val="solid"/>
                      <a:round/>
                      <a:headEnd type="none" w="med" len="med"/>
                      <a:tailEnd type="none" w="med" len="med"/>
                    </a:lnL>
                    <a:lnR w="12700" cap="flat" cmpd="sng" algn="ctr">
                      <a:solidFill>
                        <a:srgbClr val="C8C0B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8C0B8"/>
                      </a:solidFill>
                      <a:prstDash val="solid"/>
                      <a:round/>
                      <a:headEnd type="none" w="med" len="med"/>
                      <a:tailEnd type="none" w="med" len="med"/>
                    </a:lnB>
                    <a:solidFill>
                      <a:srgbClr val="FBF1E6"/>
                    </a:solidFill>
                  </a:tcPr>
                </a:tc>
              </a:tr>
            </a:tbl>
          </a:graphicData>
        </a:graphic>
      </p:graphicFrame>
      <p:sp>
        <p:nvSpPr>
          <p:cNvPr id="25" name="Text 22"/>
          <p:cNvSpPr/>
          <p:nvPr/>
        </p:nvSpPr>
        <p:spPr>
          <a:xfrm>
            <a:off x="4673600" y="4171553"/>
            <a:ext cx="690676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Oblik zapisa u skupu SWaT. Vrednosti su ilustrativne. Svaki red je jedan trenutak, svaka kolona jedna promenljiva.</a:t>
            </a:r>
            <a:endParaRPr lang="en-US" sz="1200" dirty="0"/>
          </a:p>
        </p:txBody>
      </p:sp>
      <p:sp>
        <p:nvSpPr>
          <p:cNvPr id="26" name="Shape 23"/>
          <p:cNvSpPr/>
          <p:nvPr/>
        </p:nvSpPr>
        <p:spPr>
          <a:xfrm>
            <a:off x="812800" y="6209705"/>
            <a:ext cx="10566400" cy="0"/>
          </a:xfrm>
          <a:prstGeom prst="line">
            <a:avLst/>
          </a:prstGeom>
          <a:noFill/>
          <a:ln w="6350">
            <a:solidFill>
              <a:srgbClr val="D3DAE1"/>
            </a:solidFill>
            <a:prstDash val="solid"/>
          </a:ln>
        </p:spPr>
      </p:sp>
      <p:sp>
        <p:nvSpPr>
          <p:cNvPr id="27" name="Text 24"/>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28" name="Text 2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ANALIZA PODATAKA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Eksplorativna analiza podataka</a:t>
            </a:r>
            <a:endParaRPr lang="en-US" sz="3000" dirty="0"/>
          </a:p>
        </p:txBody>
      </p:sp>
      <p:sp>
        <p:nvSpPr>
          <p:cNvPr id="5" name="Shape 3"/>
          <p:cNvSpPr/>
          <p:nvPr/>
        </p:nvSpPr>
        <p:spPr>
          <a:xfrm>
            <a:off x="825500" y="1673820"/>
            <a:ext cx="0" cy="495201"/>
          </a:xfrm>
          <a:prstGeom prst="line">
            <a:avLst/>
          </a:prstGeom>
          <a:noFill/>
          <a:ln w="25400">
            <a:solidFill>
              <a:srgbClr val="0A5CA8"/>
            </a:solidFill>
            <a:prstDash val="solid"/>
          </a:ln>
        </p:spPr>
      </p:sp>
      <p:sp>
        <p:nvSpPr>
          <p:cNvPr id="6" name="Text 4"/>
          <p:cNvSpPr/>
          <p:nvPr/>
        </p:nvSpPr>
        <p:spPr>
          <a:xfrm>
            <a:off x="990600" y="1686520"/>
            <a:ext cx="60172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Deskriptivne statistike</a:t>
            </a:r>
            <a:endParaRPr lang="en-US" sz="1300" dirty="0"/>
          </a:p>
        </p:txBody>
      </p:sp>
      <p:sp>
        <p:nvSpPr>
          <p:cNvPr id="7" name="Text 5"/>
          <p:cNvSpPr/>
          <p:nvPr/>
        </p:nvSpPr>
        <p:spPr>
          <a:xfrm>
            <a:off x="990600" y="1943001"/>
            <a:ext cx="6017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Opseg, srednja vrednost, rasipanje i ekstremi svake promenljive.</a:t>
            </a:r>
            <a:endParaRPr lang="en-US" sz="1200" dirty="0"/>
          </a:p>
        </p:txBody>
      </p:sp>
      <p:sp>
        <p:nvSpPr>
          <p:cNvPr id="8" name="Shape 6"/>
          <p:cNvSpPr/>
          <p:nvPr/>
        </p:nvSpPr>
        <p:spPr>
          <a:xfrm>
            <a:off x="825500" y="2296021"/>
            <a:ext cx="0" cy="495201"/>
          </a:xfrm>
          <a:prstGeom prst="line">
            <a:avLst/>
          </a:prstGeom>
          <a:noFill/>
          <a:ln w="25400">
            <a:solidFill>
              <a:srgbClr val="0A5CA8"/>
            </a:solidFill>
            <a:prstDash val="solid"/>
          </a:ln>
        </p:spPr>
      </p:sp>
      <p:sp>
        <p:nvSpPr>
          <p:cNvPr id="9" name="Text 7"/>
          <p:cNvSpPr/>
          <p:nvPr/>
        </p:nvSpPr>
        <p:spPr>
          <a:xfrm>
            <a:off x="990600" y="2308721"/>
            <a:ext cx="60172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Vrste promenljivih</a:t>
            </a:r>
            <a:endParaRPr lang="en-US" sz="1300" dirty="0"/>
          </a:p>
        </p:txBody>
      </p:sp>
      <p:sp>
        <p:nvSpPr>
          <p:cNvPr id="10" name="Text 8"/>
          <p:cNvSpPr/>
          <p:nvPr/>
        </p:nvSpPr>
        <p:spPr>
          <a:xfrm>
            <a:off x="990600" y="2565202"/>
            <a:ext cx="6017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Kontinualna merenja i diskretna stanja zahtevaju različitu obradu.</a:t>
            </a:r>
            <a:endParaRPr lang="en-US" sz="1200" dirty="0"/>
          </a:p>
        </p:txBody>
      </p:sp>
      <p:sp>
        <p:nvSpPr>
          <p:cNvPr id="11" name="Shape 9"/>
          <p:cNvSpPr/>
          <p:nvPr/>
        </p:nvSpPr>
        <p:spPr>
          <a:xfrm>
            <a:off x="825500" y="2918222"/>
            <a:ext cx="0" cy="495201"/>
          </a:xfrm>
          <a:prstGeom prst="line">
            <a:avLst/>
          </a:prstGeom>
          <a:noFill/>
          <a:ln w="25400">
            <a:solidFill>
              <a:srgbClr val="0A5CA8"/>
            </a:solidFill>
            <a:prstDash val="solid"/>
          </a:ln>
        </p:spPr>
      </p:sp>
      <p:sp>
        <p:nvSpPr>
          <p:cNvPr id="12" name="Text 10"/>
          <p:cNvSpPr/>
          <p:nvPr/>
        </p:nvSpPr>
        <p:spPr>
          <a:xfrm>
            <a:off x="990600" y="2930922"/>
            <a:ext cx="60172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Korelacije i zavisnosti</a:t>
            </a:r>
            <a:endParaRPr lang="en-US" sz="1300" dirty="0"/>
          </a:p>
        </p:txBody>
      </p:sp>
      <p:sp>
        <p:nvSpPr>
          <p:cNvPr id="13" name="Text 11"/>
          <p:cNvSpPr/>
          <p:nvPr/>
        </p:nvSpPr>
        <p:spPr>
          <a:xfrm>
            <a:off x="990600" y="3187402"/>
            <a:ext cx="6017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Tok vode povezuje faze procesa, pa su promenljive međusobno zavisne.</a:t>
            </a:r>
            <a:endParaRPr lang="en-US" sz="1200" dirty="0"/>
          </a:p>
        </p:txBody>
      </p:sp>
      <p:sp>
        <p:nvSpPr>
          <p:cNvPr id="14" name="Shape 12"/>
          <p:cNvSpPr/>
          <p:nvPr/>
        </p:nvSpPr>
        <p:spPr>
          <a:xfrm>
            <a:off x="825500" y="3540423"/>
            <a:ext cx="0" cy="495201"/>
          </a:xfrm>
          <a:prstGeom prst="line">
            <a:avLst/>
          </a:prstGeom>
          <a:noFill/>
          <a:ln w="25400">
            <a:solidFill>
              <a:srgbClr val="0A5CA8"/>
            </a:solidFill>
            <a:prstDash val="solid"/>
          </a:ln>
        </p:spPr>
      </p:sp>
      <p:sp>
        <p:nvSpPr>
          <p:cNvPr id="15" name="Text 13"/>
          <p:cNvSpPr/>
          <p:nvPr/>
        </p:nvSpPr>
        <p:spPr>
          <a:xfrm>
            <a:off x="990600" y="3553123"/>
            <a:ext cx="60172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Režimi rada i ciklusi</a:t>
            </a:r>
            <a:endParaRPr lang="en-US" sz="1300" dirty="0"/>
          </a:p>
        </p:txBody>
      </p:sp>
      <p:sp>
        <p:nvSpPr>
          <p:cNvPr id="16" name="Text 14"/>
          <p:cNvSpPr/>
          <p:nvPr/>
        </p:nvSpPr>
        <p:spPr>
          <a:xfrm>
            <a:off x="990600" y="3809603"/>
            <a:ext cx="6017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Punjenje i pražnjenje rezervoara, pokretanje i stabilizacija.</a:t>
            </a:r>
            <a:endParaRPr lang="en-US" sz="1200" dirty="0"/>
          </a:p>
        </p:txBody>
      </p:sp>
      <p:sp>
        <p:nvSpPr>
          <p:cNvPr id="17" name="Shape 15"/>
          <p:cNvSpPr/>
          <p:nvPr/>
        </p:nvSpPr>
        <p:spPr>
          <a:xfrm>
            <a:off x="825500" y="4162623"/>
            <a:ext cx="0" cy="495201"/>
          </a:xfrm>
          <a:prstGeom prst="line">
            <a:avLst/>
          </a:prstGeom>
          <a:noFill/>
          <a:ln w="25400">
            <a:solidFill>
              <a:srgbClr val="E07B1F"/>
            </a:solidFill>
            <a:prstDash val="solid"/>
          </a:ln>
        </p:spPr>
      </p:sp>
      <p:sp>
        <p:nvSpPr>
          <p:cNvPr id="18" name="Text 16"/>
          <p:cNvSpPr/>
          <p:nvPr/>
        </p:nvSpPr>
        <p:spPr>
          <a:xfrm>
            <a:off x="990600" y="4175323"/>
            <a:ext cx="60172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Promenljive bez informacije</a:t>
            </a:r>
            <a:endParaRPr lang="en-US" sz="1300" dirty="0"/>
          </a:p>
        </p:txBody>
      </p:sp>
      <p:sp>
        <p:nvSpPr>
          <p:cNvPr id="19" name="Text 17"/>
          <p:cNvSpPr/>
          <p:nvPr/>
        </p:nvSpPr>
        <p:spPr>
          <a:xfrm>
            <a:off x="990600" y="4431804"/>
            <a:ext cx="6017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Konstantni signali se uklanjaju ili posebno tumače.</a:t>
            </a:r>
            <a:endParaRPr lang="en-US" sz="1200" dirty="0"/>
          </a:p>
        </p:txBody>
      </p:sp>
      <p:sp>
        <p:nvSpPr>
          <p:cNvPr id="20" name="Shape 18"/>
          <p:cNvSpPr/>
          <p:nvPr/>
        </p:nvSpPr>
        <p:spPr>
          <a:xfrm>
            <a:off x="7191375" y="1676995"/>
            <a:ext cx="4184650" cy="3841750"/>
          </a:xfrm>
          <a:prstGeom prst="roundRect">
            <a:avLst>
              <a:gd name="adj" fmla="val 2562"/>
            </a:avLst>
          </a:prstGeom>
          <a:solidFill>
            <a:srgbClr val="FCFCFB"/>
          </a:solidFill>
          <a:ln w="6350">
            <a:solidFill>
              <a:srgbClr val="D3DAE1"/>
            </a:solidFill>
            <a:prstDash val="solid"/>
          </a:ln>
        </p:spPr>
      </p:sp>
      <p:pic>
        <p:nvPicPr>
          <p:cNvPr id="21" name="Image 0" descr="Ilustrativna matrica korelacija pet promenljivih: jaka veza između FIT101 i MV101 i između P101 i FIT201">    </p:cNvPr>
          <p:cNvPicPr>
            <a:picLocks noChangeAspect="1"/>
          </p:cNvPicPr>
          <p:nvPr/>
        </p:nvPicPr>
        <p:blipFill>
          <a:blip r:embed="rId1"/>
          <a:srcRect l="0" r="0" t="0" b="0"/>
          <a:stretch/>
        </p:blipFill>
        <p:spPr>
          <a:xfrm>
            <a:off x="8204200" y="2054820"/>
            <a:ext cx="3048000" cy="3048000"/>
          </a:xfrm>
          <a:prstGeom prst="rect">
            <a:avLst/>
          </a:prstGeom>
        </p:spPr>
      </p:pic>
      <p:sp>
        <p:nvSpPr>
          <p:cNvPr id="22" name="Text 19"/>
          <p:cNvSpPr/>
          <p:nvPr/>
        </p:nvSpPr>
        <p:spPr>
          <a:xfrm>
            <a:off x="8178800" y="1788120"/>
            <a:ext cx="6604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LIT</a:t>
            </a:r>
            <a:endParaRPr lang="en-US" sz="1200" dirty="0"/>
          </a:p>
        </p:txBody>
      </p:sp>
      <p:sp>
        <p:nvSpPr>
          <p:cNvPr id="23" name="Text 20"/>
          <p:cNvSpPr/>
          <p:nvPr/>
        </p:nvSpPr>
        <p:spPr>
          <a:xfrm>
            <a:off x="8788400" y="1788120"/>
            <a:ext cx="6604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FIT</a:t>
            </a:r>
            <a:endParaRPr lang="en-US" sz="1200" dirty="0"/>
          </a:p>
        </p:txBody>
      </p:sp>
      <p:sp>
        <p:nvSpPr>
          <p:cNvPr id="24" name="Text 21"/>
          <p:cNvSpPr/>
          <p:nvPr/>
        </p:nvSpPr>
        <p:spPr>
          <a:xfrm>
            <a:off x="9398000" y="1788120"/>
            <a:ext cx="6604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MV</a:t>
            </a:r>
            <a:endParaRPr lang="en-US" sz="1200" dirty="0"/>
          </a:p>
        </p:txBody>
      </p:sp>
      <p:sp>
        <p:nvSpPr>
          <p:cNvPr id="25" name="Text 22"/>
          <p:cNvSpPr/>
          <p:nvPr/>
        </p:nvSpPr>
        <p:spPr>
          <a:xfrm>
            <a:off x="10007600" y="1788120"/>
            <a:ext cx="6604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P</a:t>
            </a:r>
            <a:endParaRPr lang="en-US" sz="1200" dirty="0"/>
          </a:p>
        </p:txBody>
      </p:sp>
      <p:sp>
        <p:nvSpPr>
          <p:cNvPr id="26" name="Text 23"/>
          <p:cNvSpPr/>
          <p:nvPr/>
        </p:nvSpPr>
        <p:spPr>
          <a:xfrm>
            <a:off x="10617200" y="1788120"/>
            <a:ext cx="6604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FIT2</a:t>
            </a:r>
            <a:endParaRPr lang="en-US" sz="1200" dirty="0"/>
          </a:p>
        </p:txBody>
      </p:sp>
      <p:sp>
        <p:nvSpPr>
          <p:cNvPr id="27" name="Text 24"/>
          <p:cNvSpPr/>
          <p:nvPr/>
        </p:nvSpPr>
        <p:spPr>
          <a:xfrm>
            <a:off x="7264400" y="2251670"/>
            <a:ext cx="863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LIT101</a:t>
            </a:r>
            <a:endParaRPr lang="en-US" sz="1200" dirty="0"/>
          </a:p>
        </p:txBody>
      </p:sp>
      <p:sp>
        <p:nvSpPr>
          <p:cNvPr id="28" name="Text 25"/>
          <p:cNvSpPr/>
          <p:nvPr/>
        </p:nvSpPr>
        <p:spPr>
          <a:xfrm>
            <a:off x="7264400" y="2861270"/>
            <a:ext cx="863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FIT101</a:t>
            </a:r>
            <a:endParaRPr lang="en-US" sz="1200" dirty="0"/>
          </a:p>
        </p:txBody>
      </p:sp>
      <p:sp>
        <p:nvSpPr>
          <p:cNvPr id="29" name="Text 26"/>
          <p:cNvSpPr/>
          <p:nvPr/>
        </p:nvSpPr>
        <p:spPr>
          <a:xfrm>
            <a:off x="7264400" y="3470870"/>
            <a:ext cx="863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MV101</a:t>
            </a:r>
            <a:endParaRPr lang="en-US" sz="1200" dirty="0"/>
          </a:p>
        </p:txBody>
      </p:sp>
      <p:sp>
        <p:nvSpPr>
          <p:cNvPr id="30" name="Text 27"/>
          <p:cNvSpPr/>
          <p:nvPr/>
        </p:nvSpPr>
        <p:spPr>
          <a:xfrm>
            <a:off x="7264400" y="4080470"/>
            <a:ext cx="863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P101</a:t>
            </a:r>
            <a:endParaRPr lang="en-US" sz="1200" dirty="0"/>
          </a:p>
        </p:txBody>
      </p:sp>
      <p:sp>
        <p:nvSpPr>
          <p:cNvPr id="31" name="Text 28"/>
          <p:cNvSpPr/>
          <p:nvPr/>
        </p:nvSpPr>
        <p:spPr>
          <a:xfrm>
            <a:off x="7264400" y="4690070"/>
            <a:ext cx="863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FIT201</a:t>
            </a:r>
            <a:endParaRPr lang="en-US" sz="1200" dirty="0"/>
          </a:p>
        </p:txBody>
      </p:sp>
      <p:sp>
        <p:nvSpPr>
          <p:cNvPr id="32" name="Text 29"/>
          <p:cNvSpPr/>
          <p:nvPr/>
        </p:nvSpPr>
        <p:spPr>
          <a:xfrm>
            <a:off x="8204200" y="5204420"/>
            <a:ext cx="4304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slaba</a:t>
            </a:r>
            <a:endParaRPr lang="en-US" sz="1200" dirty="0"/>
          </a:p>
        </p:txBody>
      </p:sp>
      <p:sp>
        <p:nvSpPr>
          <p:cNvPr id="33" name="Shape 30"/>
          <p:cNvSpPr/>
          <p:nvPr/>
        </p:nvSpPr>
        <p:spPr>
          <a:xfrm>
            <a:off x="8634611" y="5253930"/>
            <a:ext cx="1928912" cy="114300"/>
          </a:xfrm>
          <a:prstGeom prst="roundRect">
            <a:avLst>
              <a:gd name="adj" fmla="val 22222"/>
            </a:avLst>
          </a:prstGeom>
          <a:gradFill rotWithShape="1">
            <a:gsLst>
              <a:gs pos="0">
                <a:srgbClr val="EBF0F5"/>
              </a:gs>
              <a:gs pos="50000">
                <a:srgbClr val="8FB0D3"/>
              </a:gs>
              <a:gs pos="100000">
                <a:srgbClr val="0A5CA8"/>
              </a:gs>
            </a:gsLst>
            <a:lin ang="0" scaled="0"/>
          </a:gradFill>
          <a:ln/>
        </p:spPr>
      </p:sp>
      <p:sp>
        <p:nvSpPr>
          <p:cNvPr id="34" name="Text 31"/>
          <p:cNvSpPr/>
          <p:nvPr/>
        </p:nvSpPr>
        <p:spPr>
          <a:xfrm>
            <a:off x="10627023" y="5204420"/>
            <a:ext cx="7458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jaka veza</a:t>
            </a:r>
            <a:endParaRPr lang="en-US" sz="1200" dirty="0"/>
          </a:p>
        </p:txBody>
      </p:sp>
      <p:sp>
        <p:nvSpPr>
          <p:cNvPr id="35" name="Shape 32"/>
          <p:cNvSpPr/>
          <p:nvPr/>
        </p:nvSpPr>
        <p:spPr>
          <a:xfrm>
            <a:off x="812800" y="6209705"/>
            <a:ext cx="10566400" cy="0"/>
          </a:xfrm>
          <a:prstGeom prst="line">
            <a:avLst/>
          </a:prstGeom>
          <a:noFill/>
          <a:ln w="6350">
            <a:solidFill>
              <a:srgbClr val="D3DAE1"/>
            </a:solidFill>
            <a:prstDash val="solid"/>
          </a:ln>
        </p:spPr>
      </p:sp>
      <p:sp>
        <p:nvSpPr>
          <p:cNvPr id="36" name="Text 33"/>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37" name="Text 3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ANALIZA PODATAKA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Čišćenje i priprema podataka</a:t>
            </a:r>
            <a:endParaRPr lang="en-US" sz="3000" dirty="0"/>
          </a:p>
        </p:txBody>
      </p:sp>
      <p:sp>
        <p:nvSpPr>
          <p:cNvPr id="5" name="Text 3"/>
          <p:cNvSpPr/>
          <p:nvPr/>
        </p:nvSpPr>
        <p:spPr>
          <a:xfrm>
            <a:off x="812800" y="1673820"/>
            <a:ext cx="3556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5CA8"/>
                </a:solidFill>
                <a:latin typeface="IBM Plex Mono" pitchFamily="49" charset="0"/>
                <a:ea typeface="IBM Plex Mono" pitchFamily="49" charset="-122"/>
                <a:cs typeface="IBM Plex Mono" pitchFamily="49" charset="-120"/>
              </a:rPr>
              <a:t>01</a:t>
            </a:r>
            <a:endParaRPr lang="en-US" sz="1400" dirty="0"/>
          </a:p>
        </p:txBody>
      </p:sp>
      <p:sp>
        <p:nvSpPr>
          <p:cNvPr id="6" name="Text 4"/>
          <p:cNvSpPr/>
          <p:nvPr/>
        </p:nvSpPr>
        <p:spPr>
          <a:xfrm>
            <a:off x="1244600" y="1673820"/>
            <a:ext cx="554634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Uklanjanje perioda stabilizacije</a:t>
            </a:r>
            <a:r>
              <a:rPr lang="en-US" sz="1200" dirty="0">
                <a:solidFill>
                  <a:srgbClr val="44505D"/>
                </a:solidFill>
                <a:latin typeface="IBM Plex Sans" pitchFamily="34" charset="0"/>
                <a:ea typeface="IBM Plex Sans" pitchFamily="34" charset="-122"/>
                <a:cs typeface="IBM Plex Sans" pitchFamily="34" charset="-120"/>
              </a:rPr>
              <a:t> na početku snimanja, kada proces još nije u ustaljenom radu.</a:t>
            </a:r>
            <a:endParaRPr lang="en-US" sz="1200" dirty="0"/>
          </a:p>
        </p:txBody>
      </p:sp>
      <p:sp>
        <p:nvSpPr>
          <p:cNvPr id="7" name="Text 5"/>
          <p:cNvSpPr/>
          <p:nvPr/>
        </p:nvSpPr>
        <p:spPr>
          <a:xfrm>
            <a:off x="812800" y="2227461"/>
            <a:ext cx="3556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5CA8"/>
                </a:solidFill>
                <a:latin typeface="IBM Plex Mono" pitchFamily="49" charset="0"/>
                <a:ea typeface="IBM Plex Mono" pitchFamily="49" charset="-122"/>
                <a:cs typeface="IBM Plex Mono" pitchFamily="49" charset="-120"/>
              </a:rPr>
              <a:t>02</a:t>
            </a:r>
            <a:endParaRPr lang="en-US" sz="1400" dirty="0"/>
          </a:p>
        </p:txBody>
      </p:sp>
      <p:sp>
        <p:nvSpPr>
          <p:cNvPr id="8" name="Text 6"/>
          <p:cNvSpPr/>
          <p:nvPr/>
        </p:nvSpPr>
        <p:spPr>
          <a:xfrm>
            <a:off x="1244600" y="2227461"/>
            <a:ext cx="554634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Nedostajuće i nevažeće vrednosti</a:t>
            </a:r>
            <a:r>
              <a:rPr lang="en-US" sz="1200" dirty="0">
                <a:solidFill>
                  <a:srgbClr val="44505D"/>
                </a:solidFill>
                <a:latin typeface="IBM Plex Sans" pitchFamily="34" charset="0"/>
                <a:ea typeface="IBM Plex Sans" pitchFamily="34" charset="-122"/>
                <a:cs typeface="IBM Plex Sans" pitchFamily="34" charset="-120"/>
              </a:rPr>
              <a:t> se označavaju, a ne izmišljaju bez obrazloženja.</a:t>
            </a:r>
            <a:endParaRPr lang="en-US" sz="1200" dirty="0"/>
          </a:p>
        </p:txBody>
      </p:sp>
      <p:sp>
        <p:nvSpPr>
          <p:cNvPr id="9" name="Text 7"/>
          <p:cNvSpPr/>
          <p:nvPr/>
        </p:nvSpPr>
        <p:spPr>
          <a:xfrm>
            <a:off x="812800" y="2781102"/>
            <a:ext cx="3556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5CA8"/>
                </a:solidFill>
                <a:latin typeface="IBM Plex Mono" pitchFamily="49" charset="0"/>
                <a:ea typeface="IBM Plex Mono" pitchFamily="49" charset="-122"/>
                <a:cs typeface="IBM Plex Mono" pitchFamily="49" charset="-120"/>
              </a:rPr>
              <a:t>03</a:t>
            </a:r>
            <a:endParaRPr lang="en-US" sz="1400" dirty="0"/>
          </a:p>
        </p:txBody>
      </p:sp>
      <p:sp>
        <p:nvSpPr>
          <p:cNvPr id="10" name="Text 8"/>
          <p:cNvSpPr/>
          <p:nvPr/>
        </p:nvSpPr>
        <p:spPr>
          <a:xfrm>
            <a:off x="1244600" y="2781102"/>
            <a:ext cx="554634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Diskretna stanja</a:t>
            </a:r>
            <a:r>
              <a:rPr lang="en-US" sz="1200" dirty="0">
                <a:solidFill>
                  <a:srgbClr val="44505D"/>
                </a:solidFill>
                <a:latin typeface="IBM Plex Sans" pitchFamily="34" charset="0"/>
                <a:ea typeface="IBM Plex Sans" pitchFamily="34" charset="-122"/>
                <a:cs typeface="IBM Plex Sans" pitchFamily="34" charset="-120"/>
              </a:rPr>
              <a:t> ventila i pumpi kodiraju se kao kategorije, a ne kao brojevi sa redosledom.</a:t>
            </a:r>
            <a:endParaRPr lang="en-US" sz="1200" dirty="0"/>
          </a:p>
        </p:txBody>
      </p:sp>
      <p:sp>
        <p:nvSpPr>
          <p:cNvPr id="11" name="Text 9"/>
          <p:cNvSpPr/>
          <p:nvPr/>
        </p:nvSpPr>
        <p:spPr>
          <a:xfrm>
            <a:off x="812800" y="3334742"/>
            <a:ext cx="3556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5CA8"/>
                </a:solidFill>
                <a:latin typeface="IBM Plex Mono" pitchFamily="49" charset="0"/>
                <a:ea typeface="IBM Plex Mono" pitchFamily="49" charset="-122"/>
                <a:cs typeface="IBM Plex Mono" pitchFamily="49" charset="-120"/>
              </a:rPr>
              <a:t>04</a:t>
            </a:r>
            <a:endParaRPr lang="en-US" sz="1400" dirty="0"/>
          </a:p>
        </p:txBody>
      </p:sp>
      <p:sp>
        <p:nvSpPr>
          <p:cNvPr id="12" name="Text 10"/>
          <p:cNvSpPr/>
          <p:nvPr/>
        </p:nvSpPr>
        <p:spPr>
          <a:xfrm>
            <a:off x="1244600" y="3334742"/>
            <a:ext cx="55463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Normalizacija</a:t>
            </a:r>
            <a:r>
              <a:rPr lang="en-US" sz="1200" dirty="0">
                <a:solidFill>
                  <a:srgbClr val="44505D"/>
                </a:solidFill>
                <a:latin typeface="IBM Plex Sans" pitchFamily="34" charset="0"/>
                <a:ea typeface="IBM Plex Sans" pitchFamily="34" charset="-122"/>
                <a:cs typeface="IBM Plex Sans" pitchFamily="34" charset="-120"/>
              </a:rPr>
              <a:t> svodi promenljive različitih jedinica na uporedivu skalu.</a:t>
            </a:r>
            <a:endParaRPr lang="en-US" sz="1200" dirty="0"/>
          </a:p>
        </p:txBody>
      </p:sp>
      <p:sp>
        <p:nvSpPr>
          <p:cNvPr id="13" name="Text 11"/>
          <p:cNvSpPr/>
          <p:nvPr/>
        </p:nvSpPr>
        <p:spPr>
          <a:xfrm>
            <a:off x="812800" y="3710583"/>
            <a:ext cx="3556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5CA8"/>
                </a:solidFill>
                <a:latin typeface="IBM Plex Mono" pitchFamily="49" charset="0"/>
                <a:ea typeface="IBM Plex Mono" pitchFamily="49" charset="-122"/>
                <a:cs typeface="IBM Plex Mono" pitchFamily="49" charset="-120"/>
              </a:rPr>
              <a:t>05</a:t>
            </a:r>
            <a:endParaRPr lang="en-US" sz="1400" dirty="0"/>
          </a:p>
        </p:txBody>
      </p:sp>
      <p:sp>
        <p:nvSpPr>
          <p:cNvPr id="14" name="Text 12"/>
          <p:cNvSpPr/>
          <p:nvPr/>
        </p:nvSpPr>
        <p:spPr>
          <a:xfrm>
            <a:off x="1244600" y="3710583"/>
            <a:ext cx="554634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Vremenski prozori</a:t>
            </a:r>
            <a:r>
              <a:rPr lang="en-US" sz="1200" dirty="0">
                <a:solidFill>
                  <a:srgbClr val="44505D"/>
                </a:solidFill>
                <a:latin typeface="IBM Plex Sans" pitchFamily="34" charset="0"/>
                <a:ea typeface="IBM Plex Sans" pitchFamily="34" charset="-122"/>
                <a:cs typeface="IBM Plex Sans" pitchFamily="34" charset="-120"/>
              </a:rPr>
              <a:t> čuvaju kontekst, jer se napad vidi u nizu trenutaka, a ne u jednom.</a:t>
            </a:r>
            <a:endParaRPr lang="en-US" sz="1200" dirty="0"/>
          </a:p>
        </p:txBody>
      </p:sp>
      <p:sp>
        <p:nvSpPr>
          <p:cNvPr id="15" name="Shape 13"/>
          <p:cNvSpPr/>
          <p:nvPr/>
        </p:nvSpPr>
        <p:spPr>
          <a:xfrm>
            <a:off x="6934200" y="1673820"/>
            <a:ext cx="4445000" cy="2740521"/>
          </a:xfrm>
          <a:prstGeom prst="roundRect">
            <a:avLst>
              <a:gd name="adj" fmla="val 2780"/>
            </a:avLst>
          </a:prstGeom>
          <a:solidFill>
            <a:srgbClr val="FCFCFB"/>
          </a:solidFill>
          <a:ln/>
        </p:spPr>
      </p:sp>
      <p:sp>
        <p:nvSpPr>
          <p:cNvPr id="16" name="Shape 14"/>
          <p:cNvSpPr/>
          <p:nvPr/>
        </p:nvSpPr>
        <p:spPr>
          <a:xfrm>
            <a:off x="6934200" y="1673820"/>
            <a:ext cx="4445000" cy="2740521"/>
          </a:xfrm>
          <a:custGeom>
            <a:avLst/>
            <a:gdLst/>
            <a:ahLst/>
            <a:cxnLst/>
            <a:rect l="l" t="t" r="r" b="b"/>
            <a:pathLst>
              <a:path w="4445000" h="2740521">
                <a:moveTo>
                  <a:pt x="76200" y="2740521"/>
                </a:moveTo>
                <a:lnTo>
                  <a:pt x="76200" y="2740521"/>
                </a:lnTo>
                <a:arcTo hR="76200" wR="76200" stAng="5400000" swAng="5400000"/>
                <a:lnTo>
                  <a:pt x="0" y="76200"/>
                </a:lnTo>
                <a:arcTo hR="76200" wR="76200" stAng="10800000" swAng="5400000"/>
                <a:lnTo>
                  <a:pt x="76200" y="0"/>
                </a:lnTo>
                <a:arcTo hR="76200" wR="38100" stAng="16200000" swAng="-5400000"/>
                <a:lnTo>
                  <a:pt x="38100" y="2664321"/>
                </a:lnTo>
                <a:arcTo hR="76200" wR="38100" stAng="10800000" swAng="-5400000"/>
                <a:close/>
              </a:path>
            </a:pathLst>
          </a:custGeom>
          <a:solidFill>
            <a:srgbClr val="0A5CA8"/>
          </a:solidFill>
          <a:ln/>
        </p:spPr>
      </p:sp>
      <p:sp>
        <p:nvSpPr>
          <p:cNvPr id="17" name="Text 15"/>
          <p:cNvSpPr/>
          <p:nvPr/>
        </p:nvSpPr>
        <p:spPr>
          <a:xfrm>
            <a:off x="7175500" y="1851620"/>
            <a:ext cx="4120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Standardizacija promenljive i</a:t>
            </a:r>
            <a:endParaRPr lang="en-US" sz="1200" dirty="0"/>
          </a:p>
        </p:txBody>
      </p:sp>
      <p:sp>
        <p:nvSpPr>
          <p:cNvPr id="18" name="Text 16"/>
          <p:cNvSpPr/>
          <p:nvPr/>
        </p:nvSpPr>
        <p:spPr>
          <a:xfrm>
            <a:off x="7175500" y="2395736"/>
            <a:ext cx="169565" cy="360660"/>
          </a:xfrm>
          <a:prstGeom prst="rect">
            <a:avLst/>
          </a:prstGeom>
          <a:noFill/>
          <a:ln/>
        </p:spPr>
        <p:txBody>
          <a:bodyPr wrap="square" lIns="0" tIns="0" rIns="0" bIns="0" rtlCol="0" anchor="t">
            <a:normAutofit/>
          </a:bodyPr>
          <a:lstStyle/>
          <a:p>
            <a:pPr algn="l" indent="0" marL="0">
              <a:lnSpc>
                <a:spcPts val="2640"/>
              </a:lnSpc>
              <a:buNone/>
            </a:pPr>
            <a:r>
              <a:rPr lang="en-US" sz="2200" i="1" dirty="0">
                <a:solidFill>
                  <a:srgbClr val="13202D"/>
                </a:solidFill>
                <a:latin typeface="STIX Two Text" pitchFamily="18" charset="0"/>
                <a:ea typeface="STIX Two Text" pitchFamily="18" charset="-122"/>
                <a:cs typeface="STIX Two Text" pitchFamily="18" charset="-120"/>
              </a:rPr>
              <a:t>z</a:t>
            </a:r>
            <a:endParaRPr lang="en-US" sz="2200" dirty="0"/>
          </a:p>
        </p:txBody>
      </p:sp>
      <p:sp>
        <p:nvSpPr>
          <p:cNvPr id="19" name="Text 17"/>
          <p:cNvSpPr/>
          <p:nvPr/>
        </p:nvSpPr>
        <p:spPr>
          <a:xfrm>
            <a:off x="7306965" y="2379266"/>
            <a:ext cx="210245" cy="190500"/>
          </a:xfrm>
          <a:prstGeom prst="rect">
            <a:avLst/>
          </a:prstGeom>
          <a:noFill/>
          <a:ln/>
        </p:spPr>
        <p:txBody>
          <a:bodyPr wrap="square" lIns="0" tIns="0" rIns="0" bIns="0" rtlCol="0" anchor="t">
            <a:normAutofit/>
          </a:bodyPr>
          <a:lstStyle/>
          <a:p>
            <a:pPr algn="l" indent="0" marL="0">
              <a:lnSpc>
                <a:spcPts val="1300"/>
              </a:lnSpc>
              <a:buNone/>
            </a:pPr>
            <a:r>
              <a:rPr lang="en-US" sz="1300" dirty="0">
                <a:solidFill>
                  <a:srgbClr val="13202D"/>
                </a:solidFill>
                <a:latin typeface="STIX Two Text" pitchFamily="18" charset="0"/>
                <a:ea typeface="STIX Two Text" pitchFamily="18" charset="-122"/>
                <a:cs typeface="STIX Two Text" pitchFamily="18" charset="-120"/>
              </a:rPr>
              <a:t>(</a:t>
            </a:r>
            <a:r>
              <a:rPr lang="en-US" sz="1300" i="1" dirty="0">
                <a:solidFill>
                  <a:srgbClr val="13202D"/>
                </a:solidFill>
                <a:latin typeface="STIX Two Text" pitchFamily="18" charset="0"/>
                <a:ea typeface="STIX Two Text" pitchFamily="18" charset="-122"/>
                <a:cs typeface="STIX Two Text" pitchFamily="18" charset="-120"/>
              </a:rPr>
              <a:t>i</a:t>
            </a:r>
            <a:r>
              <a:rPr lang="en-US" sz="1300" dirty="0">
                <a:solidFill>
                  <a:srgbClr val="13202D"/>
                </a:solidFill>
                <a:latin typeface="STIX Two Text" pitchFamily="18" charset="0"/>
                <a:ea typeface="STIX Two Text" pitchFamily="18" charset="-122"/>
                <a:cs typeface="STIX Two Text" pitchFamily="18" charset="-120"/>
              </a:rPr>
              <a:t>)</a:t>
            </a:r>
            <a:endParaRPr lang="en-US" sz="1300" dirty="0"/>
          </a:p>
        </p:txBody>
      </p:sp>
      <p:sp>
        <p:nvSpPr>
          <p:cNvPr id="20" name="Text 18"/>
          <p:cNvSpPr/>
          <p:nvPr/>
        </p:nvSpPr>
        <p:spPr>
          <a:xfrm>
            <a:off x="7306965" y="2582466"/>
            <a:ext cx="210245" cy="190500"/>
          </a:xfrm>
          <a:prstGeom prst="rect">
            <a:avLst/>
          </a:prstGeom>
          <a:noFill/>
          <a:ln/>
        </p:spPr>
        <p:txBody>
          <a:bodyPr wrap="square" lIns="0" tIns="0" rIns="0" bIns="0" rtlCol="0" anchor="t">
            <a:normAutofit/>
          </a:bodyPr>
          <a:lstStyle/>
          <a:p>
            <a:pPr algn="l" indent="0" marL="0">
              <a:lnSpc>
                <a:spcPts val="1300"/>
              </a:lnSpc>
              <a:buNone/>
            </a:pPr>
            <a:r>
              <a:rPr lang="en-US" sz="1300" i="1" dirty="0">
                <a:solidFill>
                  <a:srgbClr val="13202D"/>
                </a:solidFill>
                <a:latin typeface="STIX Two Text" pitchFamily="18" charset="0"/>
                <a:ea typeface="STIX Two Text" pitchFamily="18" charset="-122"/>
                <a:cs typeface="STIX Two Text" pitchFamily="18" charset="-120"/>
              </a:rPr>
              <a:t>t</a:t>
            </a:r>
            <a:endParaRPr lang="en-US" sz="1300" dirty="0"/>
          </a:p>
        </p:txBody>
      </p:sp>
      <p:sp>
        <p:nvSpPr>
          <p:cNvPr id="21" name="Text 19"/>
          <p:cNvSpPr/>
          <p:nvPr/>
        </p:nvSpPr>
        <p:spPr>
          <a:xfrm>
            <a:off x="7580709" y="2395736"/>
            <a:ext cx="252016"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a:t>
            </a:r>
            <a:endParaRPr lang="en-US" sz="2200" dirty="0"/>
          </a:p>
        </p:txBody>
      </p:sp>
      <p:sp>
        <p:nvSpPr>
          <p:cNvPr id="22" name="Text 20"/>
          <p:cNvSpPr/>
          <p:nvPr/>
        </p:nvSpPr>
        <p:spPr>
          <a:xfrm>
            <a:off x="8115201" y="2236391"/>
            <a:ext cx="165894" cy="317500"/>
          </a:xfrm>
          <a:prstGeom prst="rect">
            <a:avLst/>
          </a:prstGeom>
          <a:noFill/>
          <a:ln/>
        </p:spPr>
        <p:txBody>
          <a:bodyPr wrap="square" lIns="0" tIns="0" rIns="0" bIns="0" rtlCol="0" anchor="t">
            <a:normAutofit/>
          </a:bodyPr>
          <a:lstStyle/>
          <a:p>
            <a:pPr algn="l" indent="0" marL="0">
              <a:lnSpc>
                <a:spcPts val="2300"/>
              </a:lnSpc>
              <a:buNone/>
            </a:pPr>
            <a:r>
              <a:rPr lang="en-US" sz="2000" i="1" dirty="0">
                <a:solidFill>
                  <a:srgbClr val="13202D"/>
                </a:solidFill>
                <a:latin typeface="STIX Two Text" pitchFamily="18" charset="0"/>
                <a:ea typeface="STIX Two Text" pitchFamily="18" charset="-122"/>
                <a:cs typeface="STIX Two Text" pitchFamily="18" charset="-120"/>
              </a:rPr>
              <a:t>x</a:t>
            </a:r>
            <a:endParaRPr lang="en-US" sz="2000" dirty="0"/>
          </a:p>
        </p:txBody>
      </p:sp>
      <p:sp>
        <p:nvSpPr>
          <p:cNvPr id="23" name="Text 21"/>
          <p:cNvSpPr/>
          <p:nvPr/>
        </p:nvSpPr>
        <p:spPr>
          <a:xfrm>
            <a:off x="8242995" y="2217341"/>
            <a:ext cx="197941"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3202D"/>
                </a:solidFill>
                <a:latin typeface="STIX Two Text" pitchFamily="18" charset="0"/>
                <a:ea typeface="STIX Two Text" pitchFamily="18" charset="-122"/>
                <a:cs typeface="STIX Two Text" pitchFamily="18" charset="-120"/>
              </a:rPr>
              <a:t>(</a:t>
            </a:r>
            <a:r>
              <a:rPr lang="en-US" sz="1200" i="1" dirty="0">
                <a:solidFill>
                  <a:srgbClr val="13202D"/>
                </a:solidFill>
                <a:latin typeface="STIX Two Text" pitchFamily="18" charset="0"/>
                <a:ea typeface="STIX Two Text" pitchFamily="18" charset="-122"/>
                <a:cs typeface="STIX Two Text" pitchFamily="18" charset="-120"/>
              </a:rPr>
              <a:t>i</a:t>
            </a:r>
            <a:r>
              <a:rPr lang="en-US" sz="1200" dirty="0">
                <a:solidFill>
                  <a:srgbClr val="13202D"/>
                </a:solidFill>
                <a:latin typeface="STIX Two Text" pitchFamily="18" charset="0"/>
                <a:ea typeface="STIX Two Text" pitchFamily="18" charset="-122"/>
                <a:cs typeface="STIX Two Text" pitchFamily="18" charset="-120"/>
              </a:rPr>
              <a:t>)</a:t>
            </a:r>
            <a:endParaRPr lang="en-US" sz="1200" dirty="0"/>
          </a:p>
        </p:txBody>
      </p:sp>
      <p:sp>
        <p:nvSpPr>
          <p:cNvPr id="24" name="Text 22"/>
          <p:cNvSpPr/>
          <p:nvPr/>
        </p:nvSpPr>
        <p:spPr>
          <a:xfrm>
            <a:off x="8242995" y="2395141"/>
            <a:ext cx="197941" cy="177800"/>
          </a:xfrm>
          <a:prstGeom prst="rect">
            <a:avLst/>
          </a:prstGeom>
          <a:noFill/>
          <a:ln/>
        </p:spPr>
        <p:txBody>
          <a:bodyPr wrap="square" lIns="0" tIns="0" rIns="0" bIns="0" rtlCol="0" anchor="t">
            <a:normAutofit/>
          </a:bodyPr>
          <a:lstStyle/>
          <a:p>
            <a:pPr algn="l" indent="0" marL="0">
              <a:lnSpc>
                <a:spcPts val="1200"/>
              </a:lnSpc>
              <a:buNone/>
            </a:pPr>
            <a:r>
              <a:rPr lang="en-US" sz="1200" i="1" dirty="0">
                <a:solidFill>
                  <a:srgbClr val="13202D"/>
                </a:solidFill>
                <a:latin typeface="STIX Two Text" pitchFamily="18" charset="0"/>
                <a:ea typeface="STIX Two Text" pitchFamily="18" charset="-122"/>
                <a:cs typeface="STIX Two Text" pitchFamily="18" charset="-120"/>
              </a:rPr>
              <a:t>t</a:t>
            </a:r>
            <a:endParaRPr lang="en-US" sz="1200" dirty="0"/>
          </a:p>
        </p:txBody>
      </p:sp>
      <p:sp>
        <p:nvSpPr>
          <p:cNvPr id="25" name="Text 23"/>
          <p:cNvSpPr/>
          <p:nvPr/>
        </p:nvSpPr>
        <p:spPr>
          <a:xfrm>
            <a:off x="8479036" y="2236391"/>
            <a:ext cx="233759"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13202D"/>
                </a:solidFill>
                <a:latin typeface="STIX Two Text" pitchFamily="18" charset="0"/>
                <a:ea typeface="STIX Two Text" pitchFamily="18" charset="-122"/>
                <a:cs typeface="STIX Two Text" pitchFamily="18" charset="-120"/>
              </a:rPr>
              <a:t>−</a:t>
            </a:r>
            <a:endParaRPr lang="en-US" sz="2000" dirty="0"/>
          </a:p>
        </p:txBody>
      </p:sp>
      <p:sp>
        <p:nvSpPr>
          <p:cNvPr id="26" name="Text 24"/>
          <p:cNvSpPr/>
          <p:nvPr/>
        </p:nvSpPr>
        <p:spPr>
          <a:xfrm>
            <a:off x="8750895" y="2236391"/>
            <a:ext cx="191790" cy="317500"/>
          </a:xfrm>
          <a:prstGeom prst="rect">
            <a:avLst/>
          </a:prstGeom>
          <a:noFill/>
          <a:ln/>
        </p:spPr>
        <p:txBody>
          <a:bodyPr wrap="square" lIns="0" tIns="0" rIns="0" bIns="0" rtlCol="0" anchor="t">
            <a:normAutofit/>
          </a:bodyPr>
          <a:lstStyle/>
          <a:p>
            <a:pPr algn="l" indent="0" marL="0">
              <a:lnSpc>
                <a:spcPts val="2300"/>
              </a:lnSpc>
              <a:buNone/>
            </a:pPr>
            <a:r>
              <a:rPr lang="en-US" sz="2000" i="1" dirty="0">
                <a:solidFill>
                  <a:srgbClr val="13202D"/>
                </a:solidFill>
                <a:latin typeface="STIX Two Text" pitchFamily="18" charset="0"/>
                <a:ea typeface="STIX Two Text" pitchFamily="18" charset="-122"/>
                <a:cs typeface="STIX Two Text" pitchFamily="18" charset="-120"/>
              </a:rPr>
              <a:t>μ</a:t>
            </a:r>
            <a:endParaRPr lang="en-US" sz="2000" dirty="0"/>
          </a:p>
        </p:txBody>
      </p:sp>
      <p:sp>
        <p:nvSpPr>
          <p:cNvPr id="27" name="Text 25"/>
          <p:cNvSpPr/>
          <p:nvPr/>
        </p:nvSpPr>
        <p:spPr>
          <a:xfrm>
            <a:off x="8904585" y="2382441"/>
            <a:ext cx="93365" cy="177800"/>
          </a:xfrm>
          <a:prstGeom prst="rect">
            <a:avLst/>
          </a:prstGeom>
          <a:noFill/>
          <a:ln/>
        </p:spPr>
        <p:txBody>
          <a:bodyPr wrap="square" lIns="0" tIns="0" rIns="0" bIns="0" rtlCol="0" anchor="t">
            <a:normAutofit/>
          </a:bodyPr>
          <a:lstStyle/>
          <a:p>
            <a:pPr algn="l" indent="0" marL="0">
              <a:lnSpc>
                <a:spcPts val="1200"/>
              </a:lnSpc>
              <a:buNone/>
            </a:pPr>
            <a:r>
              <a:rPr lang="en-US" sz="1200" i="1" dirty="0">
                <a:solidFill>
                  <a:srgbClr val="13202D"/>
                </a:solidFill>
                <a:latin typeface="STIX Two Text" pitchFamily="18" charset="0"/>
                <a:ea typeface="STIX Two Text" pitchFamily="18" charset="-122"/>
                <a:cs typeface="STIX Two Text" pitchFamily="18" charset="-120"/>
              </a:rPr>
              <a:t>i</a:t>
            </a:r>
            <a:endParaRPr lang="en-US" sz="1200" dirty="0"/>
          </a:p>
        </p:txBody>
      </p:sp>
      <p:sp>
        <p:nvSpPr>
          <p:cNvPr id="28" name="Shape 26"/>
          <p:cNvSpPr/>
          <p:nvPr/>
        </p:nvSpPr>
        <p:spPr>
          <a:xfrm>
            <a:off x="7896225" y="2572941"/>
            <a:ext cx="1270000" cy="19050"/>
          </a:xfrm>
          <a:prstGeom prst="rect">
            <a:avLst/>
          </a:prstGeom>
          <a:solidFill>
            <a:srgbClr val="13202D"/>
          </a:solidFill>
          <a:ln/>
        </p:spPr>
      </p:sp>
      <p:sp>
        <p:nvSpPr>
          <p:cNvPr id="29" name="Text 27"/>
          <p:cNvSpPr/>
          <p:nvPr/>
        </p:nvSpPr>
        <p:spPr>
          <a:xfrm>
            <a:off x="8436868" y="2617391"/>
            <a:ext cx="184150" cy="317500"/>
          </a:xfrm>
          <a:prstGeom prst="rect">
            <a:avLst/>
          </a:prstGeom>
          <a:noFill/>
          <a:ln/>
        </p:spPr>
        <p:txBody>
          <a:bodyPr wrap="square" lIns="0" tIns="0" rIns="0" bIns="0" rtlCol="0" anchor="t">
            <a:normAutofit/>
          </a:bodyPr>
          <a:lstStyle/>
          <a:p>
            <a:pPr algn="l" indent="0" marL="0">
              <a:lnSpc>
                <a:spcPts val="2300"/>
              </a:lnSpc>
              <a:buNone/>
            </a:pPr>
            <a:r>
              <a:rPr lang="en-US" sz="2000" i="1" dirty="0">
                <a:solidFill>
                  <a:srgbClr val="13202D"/>
                </a:solidFill>
                <a:latin typeface="STIX Two Text" pitchFamily="18" charset="0"/>
                <a:ea typeface="STIX Two Text" pitchFamily="18" charset="-122"/>
                <a:cs typeface="STIX Two Text" pitchFamily="18" charset="-120"/>
              </a:rPr>
              <a:t>σ</a:t>
            </a:r>
            <a:endParaRPr lang="en-US" sz="2000" dirty="0"/>
          </a:p>
        </p:txBody>
      </p:sp>
      <p:sp>
        <p:nvSpPr>
          <p:cNvPr id="30" name="Text 28"/>
          <p:cNvSpPr/>
          <p:nvPr/>
        </p:nvSpPr>
        <p:spPr>
          <a:xfrm>
            <a:off x="8582918" y="2763441"/>
            <a:ext cx="93365" cy="177800"/>
          </a:xfrm>
          <a:prstGeom prst="rect">
            <a:avLst/>
          </a:prstGeom>
          <a:noFill/>
          <a:ln/>
        </p:spPr>
        <p:txBody>
          <a:bodyPr wrap="square" lIns="0" tIns="0" rIns="0" bIns="0" rtlCol="0" anchor="t">
            <a:normAutofit/>
          </a:bodyPr>
          <a:lstStyle/>
          <a:p>
            <a:pPr algn="l" indent="0" marL="0">
              <a:lnSpc>
                <a:spcPts val="1200"/>
              </a:lnSpc>
              <a:buNone/>
            </a:pPr>
            <a:r>
              <a:rPr lang="en-US" sz="1200" i="1" dirty="0">
                <a:solidFill>
                  <a:srgbClr val="13202D"/>
                </a:solidFill>
                <a:latin typeface="STIX Two Text" pitchFamily="18" charset="0"/>
                <a:ea typeface="STIX Two Text" pitchFamily="18" charset="-122"/>
                <a:cs typeface="STIX Two Text" pitchFamily="18" charset="-120"/>
              </a:rPr>
              <a:t>i</a:t>
            </a:r>
            <a:endParaRPr lang="en-US" sz="1200" dirty="0"/>
          </a:p>
        </p:txBody>
      </p:sp>
      <p:sp>
        <p:nvSpPr>
          <p:cNvPr id="31" name="Shape 29"/>
          <p:cNvSpPr/>
          <p:nvPr/>
        </p:nvSpPr>
        <p:spPr>
          <a:xfrm>
            <a:off x="7175500" y="3065066"/>
            <a:ext cx="4000500" cy="0"/>
          </a:xfrm>
          <a:prstGeom prst="line">
            <a:avLst/>
          </a:prstGeom>
          <a:noFill/>
          <a:ln w="6350">
            <a:solidFill>
              <a:srgbClr val="D3DAE1"/>
            </a:solidFill>
            <a:prstDash val="solid"/>
          </a:ln>
        </p:spPr>
      </p:sp>
      <p:sp>
        <p:nvSpPr>
          <p:cNvPr id="32" name="Text 30"/>
          <p:cNvSpPr/>
          <p:nvPr/>
        </p:nvSpPr>
        <p:spPr>
          <a:xfrm>
            <a:off x="7175500" y="3169841"/>
            <a:ext cx="4120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Prozor dužine w</a:t>
            </a:r>
            <a:endParaRPr lang="en-US" sz="1200" dirty="0"/>
          </a:p>
        </p:txBody>
      </p:sp>
      <p:sp>
        <p:nvSpPr>
          <p:cNvPr id="33" name="Text 31"/>
          <p:cNvSpPr/>
          <p:nvPr/>
        </p:nvSpPr>
        <p:spPr>
          <a:xfrm>
            <a:off x="7175500" y="3535561"/>
            <a:ext cx="305991" cy="360660"/>
          </a:xfrm>
          <a:prstGeom prst="rect">
            <a:avLst/>
          </a:prstGeom>
          <a:noFill/>
          <a:ln/>
        </p:spPr>
        <p:txBody>
          <a:bodyPr wrap="square" lIns="0" tIns="0" rIns="0" bIns="0" rtlCol="0" anchor="t">
            <a:normAutofit/>
          </a:bodyPr>
          <a:lstStyle/>
          <a:p>
            <a:pPr algn="l" indent="0" marL="0">
              <a:lnSpc>
                <a:spcPts val="2640"/>
              </a:lnSpc>
              <a:buNone/>
            </a:pPr>
            <a:r>
              <a:rPr lang="en-US" sz="2200" i="1" dirty="0">
                <a:solidFill>
                  <a:srgbClr val="13202D"/>
                </a:solidFill>
                <a:latin typeface="STIX Two Text" pitchFamily="18" charset="0"/>
                <a:ea typeface="STIX Two Text" pitchFamily="18" charset="-122"/>
                <a:cs typeface="STIX Two Text" pitchFamily="18" charset="-120"/>
              </a:rPr>
              <a:t>W</a:t>
            </a:r>
            <a:endParaRPr lang="en-US" sz="2200" dirty="0"/>
          </a:p>
        </p:txBody>
      </p:sp>
      <p:sp>
        <p:nvSpPr>
          <p:cNvPr id="34" name="Text 32"/>
          <p:cNvSpPr/>
          <p:nvPr/>
        </p:nvSpPr>
        <p:spPr>
          <a:xfrm>
            <a:off x="7443391" y="3709491"/>
            <a:ext cx="100013" cy="190500"/>
          </a:xfrm>
          <a:prstGeom prst="rect">
            <a:avLst/>
          </a:prstGeom>
          <a:noFill/>
          <a:ln/>
        </p:spPr>
        <p:txBody>
          <a:bodyPr wrap="square" lIns="0" tIns="0" rIns="0" bIns="0" rtlCol="0" anchor="t">
            <a:normAutofit/>
          </a:bodyPr>
          <a:lstStyle/>
          <a:p>
            <a:pPr algn="l" indent="0" marL="0">
              <a:lnSpc>
                <a:spcPts val="1300"/>
              </a:lnSpc>
              <a:buNone/>
            </a:pPr>
            <a:r>
              <a:rPr lang="en-US" sz="1300" i="1" dirty="0">
                <a:solidFill>
                  <a:srgbClr val="13202D"/>
                </a:solidFill>
                <a:latin typeface="STIX Two Text" pitchFamily="18" charset="0"/>
                <a:ea typeface="STIX Two Text" pitchFamily="18" charset="-122"/>
                <a:cs typeface="STIX Two Text" pitchFamily="18" charset="-120"/>
              </a:rPr>
              <a:t>t</a:t>
            </a:r>
            <a:endParaRPr lang="en-US" sz="1300" dirty="0"/>
          </a:p>
        </p:txBody>
      </p:sp>
      <p:sp>
        <p:nvSpPr>
          <p:cNvPr id="35" name="Text 33"/>
          <p:cNvSpPr/>
          <p:nvPr/>
        </p:nvSpPr>
        <p:spPr>
          <a:xfrm>
            <a:off x="7606903" y="3535561"/>
            <a:ext cx="252016"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a:t>
            </a:r>
            <a:endParaRPr lang="en-US" sz="2200" dirty="0"/>
          </a:p>
        </p:txBody>
      </p:sp>
      <p:sp>
        <p:nvSpPr>
          <p:cNvPr id="36" name="Text 34"/>
          <p:cNvSpPr/>
          <p:nvPr/>
        </p:nvSpPr>
        <p:spPr>
          <a:xfrm>
            <a:off x="7922419" y="3535561"/>
            <a:ext cx="290909"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a:t>
            </a:r>
            <a:r>
              <a:rPr lang="en-US" sz="2200" b="1" i="1" dirty="0">
                <a:solidFill>
                  <a:srgbClr val="13202D"/>
                </a:solidFill>
                <a:latin typeface="STIX Two Text" pitchFamily="18" charset="0"/>
                <a:ea typeface="STIX Two Text" pitchFamily="18" charset="-122"/>
                <a:cs typeface="STIX Two Text" pitchFamily="18" charset="-120"/>
              </a:rPr>
              <a:t>x</a:t>
            </a:r>
            <a:endParaRPr lang="en-US" sz="2200" dirty="0"/>
          </a:p>
        </p:txBody>
      </p:sp>
      <p:sp>
        <p:nvSpPr>
          <p:cNvPr id="37" name="Text 35"/>
          <p:cNvSpPr/>
          <p:nvPr/>
        </p:nvSpPr>
        <p:spPr>
          <a:xfrm>
            <a:off x="8175228" y="3709491"/>
            <a:ext cx="546894" cy="190500"/>
          </a:xfrm>
          <a:prstGeom prst="rect">
            <a:avLst/>
          </a:prstGeom>
          <a:noFill/>
          <a:ln/>
        </p:spPr>
        <p:txBody>
          <a:bodyPr wrap="square" lIns="0" tIns="0" rIns="0" bIns="0" rtlCol="0" anchor="t">
            <a:normAutofit/>
          </a:bodyPr>
          <a:lstStyle/>
          <a:p>
            <a:pPr algn="l" indent="0" marL="0">
              <a:lnSpc>
                <a:spcPts val="1300"/>
              </a:lnSpc>
              <a:buNone/>
            </a:pPr>
            <a:r>
              <a:rPr lang="en-US" sz="1300" i="1" dirty="0">
                <a:solidFill>
                  <a:srgbClr val="13202D"/>
                </a:solidFill>
                <a:latin typeface="STIX Two Text" pitchFamily="18" charset="0"/>
                <a:ea typeface="STIX Two Text" pitchFamily="18" charset="-122"/>
                <a:cs typeface="STIX Two Text" pitchFamily="18" charset="-120"/>
              </a:rPr>
              <a:t>t</a:t>
            </a:r>
            <a:r>
              <a:rPr lang="en-US" sz="1300" dirty="0">
                <a:solidFill>
                  <a:srgbClr val="13202D"/>
                </a:solidFill>
                <a:latin typeface="STIX Two Text" pitchFamily="18" charset="0"/>
                <a:ea typeface="STIX Two Text" pitchFamily="18" charset="-122"/>
                <a:cs typeface="STIX Two Text" pitchFamily="18" charset="-120"/>
              </a:rPr>
              <a:t>−</a:t>
            </a:r>
            <a:r>
              <a:rPr lang="en-US" sz="1300" i="1" dirty="0">
                <a:solidFill>
                  <a:srgbClr val="13202D"/>
                </a:solidFill>
                <a:latin typeface="STIX Two Text" pitchFamily="18" charset="0"/>
                <a:ea typeface="STIX Two Text" pitchFamily="18" charset="-122"/>
                <a:cs typeface="STIX Two Text" pitchFamily="18" charset="-120"/>
              </a:rPr>
              <a:t>w</a:t>
            </a:r>
            <a:r>
              <a:rPr lang="en-US" sz="1300" dirty="0">
                <a:solidFill>
                  <a:srgbClr val="13202D"/>
                </a:solidFill>
                <a:latin typeface="STIX Two Text" pitchFamily="18" charset="0"/>
                <a:ea typeface="STIX Two Text" pitchFamily="18" charset="-122"/>
                <a:cs typeface="STIX Two Text" pitchFamily="18" charset="-120"/>
              </a:rPr>
              <a:t>+1</a:t>
            </a:r>
            <a:endParaRPr lang="en-US" sz="1300" dirty="0"/>
          </a:p>
        </p:txBody>
      </p:sp>
      <p:sp>
        <p:nvSpPr>
          <p:cNvPr id="38" name="Text 36"/>
          <p:cNvSpPr/>
          <p:nvPr/>
        </p:nvSpPr>
        <p:spPr>
          <a:xfrm>
            <a:off x="8722122" y="3535561"/>
            <a:ext cx="579636"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 … ,</a:t>
            </a:r>
            <a:endParaRPr lang="en-US" sz="2200" dirty="0"/>
          </a:p>
        </p:txBody>
      </p:sp>
      <p:sp>
        <p:nvSpPr>
          <p:cNvPr id="39" name="Text 37"/>
          <p:cNvSpPr/>
          <p:nvPr/>
        </p:nvSpPr>
        <p:spPr>
          <a:xfrm>
            <a:off x="9301758" y="3535561"/>
            <a:ext cx="193873" cy="360660"/>
          </a:xfrm>
          <a:prstGeom prst="rect">
            <a:avLst/>
          </a:prstGeom>
          <a:noFill/>
          <a:ln/>
        </p:spPr>
        <p:txBody>
          <a:bodyPr wrap="square" lIns="0" tIns="0" rIns="0" bIns="0" rtlCol="0" anchor="t">
            <a:normAutofit/>
          </a:bodyPr>
          <a:lstStyle/>
          <a:p>
            <a:pPr algn="l" indent="0" marL="0">
              <a:lnSpc>
                <a:spcPts val="2640"/>
              </a:lnSpc>
              <a:buNone/>
            </a:pPr>
            <a:r>
              <a:rPr lang="en-US" sz="2200" b="1" i="1" dirty="0">
                <a:solidFill>
                  <a:srgbClr val="13202D"/>
                </a:solidFill>
                <a:latin typeface="STIX Two Text" pitchFamily="18" charset="0"/>
                <a:ea typeface="STIX Two Text" pitchFamily="18" charset="-122"/>
                <a:cs typeface="STIX Two Text" pitchFamily="18" charset="-120"/>
              </a:rPr>
              <a:t>x</a:t>
            </a:r>
            <a:endParaRPr lang="en-US" sz="2200" dirty="0"/>
          </a:p>
        </p:txBody>
      </p:sp>
      <p:sp>
        <p:nvSpPr>
          <p:cNvPr id="40" name="Text 38"/>
          <p:cNvSpPr/>
          <p:nvPr/>
        </p:nvSpPr>
        <p:spPr>
          <a:xfrm>
            <a:off x="9457531" y="3709491"/>
            <a:ext cx="100013" cy="190500"/>
          </a:xfrm>
          <a:prstGeom prst="rect">
            <a:avLst/>
          </a:prstGeom>
          <a:noFill/>
          <a:ln/>
        </p:spPr>
        <p:txBody>
          <a:bodyPr wrap="square" lIns="0" tIns="0" rIns="0" bIns="0" rtlCol="0" anchor="t">
            <a:normAutofit/>
          </a:bodyPr>
          <a:lstStyle/>
          <a:p>
            <a:pPr algn="l" indent="0" marL="0">
              <a:lnSpc>
                <a:spcPts val="1300"/>
              </a:lnSpc>
              <a:buNone/>
            </a:pPr>
            <a:r>
              <a:rPr lang="en-US" sz="1300" i="1" dirty="0">
                <a:solidFill>
                  <a:srgbClr val="13202D"/>
                </a:solidFill>
                <a:latin typeface="STIX Two Text" pitchFamily="18" charset="0"/>
                <a:ea typeface="STIX Two Text" pitchFamily="18" charset="-122"/>
                <a:cs typeface="STIX Two Text" pitchFamily="18" charset="-120"/>
              </a:rPr>
              <a:t>t</a:t>
            </a:r>
            <a:endParaRPr lang="en-US" sz="1300" dirty="0"/>
          </a:p>
        </p:txBody>
      </p:sp>
      <p:sp>
        <p:nvSpPr>
          <p:cNvPr id="41" name="Text 39"/>
          <p:cNvSpPr/>
          <p:nvPr/>
        </p:nvSpPr>
        <p:spPr>
          <a:xfrm>
            <a:off x="9519444" y="3535561"/>
            <a:ext cx="147836"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a:t>
            </a:r>
            <a:endParaRPr lang="en-US" sz="2200" dirty="0"/>
          </a:p>
        </p:txBody>
      </p:sp>
      <p:sp>
        <p:nvSpPr>
          <p:cNvPr id="42" name="Text 40"/>
          <p:cNvSpPr/>
          <p:nvPr/>
        </p:nvSpPr>
        <p:spPr>
          <a:xfrm>
            <a:off x="7175500" y="4023221"/>
            <a:ext cx="4120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Parametri μ i σ računaju se samo na skupu za obuku.</a:t>
            </a:r>
            <a:endParaRPr lang="en-US" sz="1200" dirty="0"/>
          </a:p>
        </p:txBody>
      </p:sp>
      <p:sp>
        <p:nvSpPr>
          <p:cNvPr id="43" name="Shape 41"/>
          <p:cNvSpPr/>
          <p:nvPr/>
        </p:nvSpPr>
        <p:spPr>
          <a:xfrm>
            <a:off x="812800" y="6209705"/>
            <a:ext cx="10566400" cy="0"/>
          </a:xfrm>
          <a:prstGeom prst="line">
            <a:avLst/>
          </a:prstGeom>
          <a:noFill/>
          <a:ln w="6350">
            <a:solidFill>
              <a:srgbClr val="D3DAE1"/>
            </a:solidFill>
            <a:prstDash val="solid"/>
          </a:ln>
        </p:spPr>
      </p:sp>
      <p:sp>
        <p:nvSpPr>
          <p:cNvPr id="44" name="Text 42"/>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45" name="Text 4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ANALIZA PODATAKA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Pristupi detekciji anomalija</a:t>
            </a:r>
            <a:endParaRPr lang="en-US" sz="3000" dirty="0"/>
          </a:p>
        </p:txBody>
      </p:sp>
      <p:sp>
        <p:nvSpPr>
          <p:cNvPr id="5" name="Shape 3"/>
          <p:cNvSpPr/>
          <p:nvPr/>
        </p:nvSpPr>
        <p:spPr>
          <a:xfrm>
            <a:off x="815975" y="1676995"/>
            <a:ext cx="2540000" cy="2260402"/>
          </a:xfrm>
          <a:prstGeom prst="roundRect">
            <a:avLst>
              <a:gd name="adj" fmla="val 4354"/>
            </a:avLst>
          </a:prstGeom>
          <a:solidFill>
            <a:srgbClr val="FCFCFB"/>
          </a:solidFill>
          <a:ln w="6350">
            <a:solidFill>
              <a:srgbClr val="D3DAE1"/>
            </a:solidFill>
            <a:prstDash val="solid"/>
          </a:ln>
        </p:spPr>
      </p:sp>
      <p:pic>
        <p:nvPicPr>
          <p:cNvPr id="6" name="Image 0" descr="Chart">    </p:cNvPr>
          <p:cNvPicPr>
            <a:picLocks noChangeAspect="1"/>
          </p:cNvPicPr>
          <p:nvPr/>
        </p:nvPicPr>
        <p:blipFill>
          <a:blip r:embed="rId1"/>
          <a:srcRect l="0" r="0" t="0" b="0"/>
          <a:stretch/>
        </p:blipFill>
        <p:spPr>
          <a:xfrm>
            <a:off x="996950" y="1845270"/>
            <a:ext cx="254000" cy="254000"/>
          </a:xfrm>
          <a:prstGeom prst="rect">
            <a:avLst/>
          </a:prstGeom>
        </p:spPr>
      </p:pic>
      <p:sp>
        <p:nvSpPr>
          <p:cNvPr id="7" name="Text 4"/>
          <p:cNvSpPr/>
          <p:nvPr/>
        </p:nvSpPr>
        <p:spPr>
          <a:xfrm>
            <a:off x="996950" y="2175470"/>
            <a:ext cx="2243392"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Statistički</a:t>
            </a:r>
            <a:endParaRPr lang="en-US" sz="1400" dirty="0"/>
          </a:p>
        </p:txBody>
      </p:sp>
      <p:sp>
        <p:nvSpPr>
          <p:cNvPr id="8" name="Text 5"/>
          <p:cNvSpPr/>
          <p:nvPr/>
        </p:nvSpPr>
        <p:spPr>
          <a:xfrm>
            <a:off x="996950" y="2473920"/>
            <a:ext cx="224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Pragovi, kontrolne karte, kumulativne sume (CUSUM).</a:t>
            </a:r>
            <a:endParaRPr lang="en-US" sz="1200" dirty="0"/>
          </a:p>
        </p:txBody>
      </p:sp>
      <p:sp>
        <p:nvSpPr>
          <p:cNvPr id="9" name="Text 6"/>
          <p:cNvSpPr/>
          <p:nvPr/>
        </p:nvSpPr>
        <p:spPr>
          <a:xfrm>
            <a:off x="996950" y="3052961"/>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Jednostavni i objašnjivi</a:t>
            </a:r>
            <a:endParaRPr lang="en-US" sz="1200" dirty="0"/>
          </a:p>
        </p:txBody>
      </p:sp>
      <p:sp>
        <p:nvSpPr>
          <p:cNvPr id="10" name="Text 7"/>
          <p:cNvSpPr/>
          <p:nvPr/>
        </p:nvSpPr>
        <p:spPr>
          <a:xfrm>
            <a:off x="996950" y="3342481"/>
            <a:ext cx="224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Slabi za višedimenzionalne veze</a:t>
            </a:r>
            <a:endParaRPr lang="en-US" sz="1200" dirty="0"/>
          </a:p>
        </p:txBody>
      </p:sp>
      <p:sp>
        <p:nvSpPr>
          <p:cNvPr id="11" name="Shape 8"/>
          <p:cNvSpPr/>
          <p:nvPr/>
        </p:nvSpPr>
        <p:spPr>
          <a:xfrm>
            <a:off x="3489325" y="1676995"/>
            <a:ext cx="2540000" cy="2260402"/>
          </a:xfrm>
          <a:prstGeom prst="roundRect">
            <a:avLst>
              <a:gd name="adj" fmla="val 4354"/>
            </a:avLst>
          </a:prstGeom>
          <a:solidFill>
            <a:srgbClr val="FCFCFB"/>
          </a:solidFill>
          <a:ln w="6350">
            <a:solidFill>
              <a:srgbClr val="D3DAE1"/>
            </a:solidFill>
            <a:prstDash val="solid"/>
          </a:ln>
        </p:spPr>
      </p:sp>
      <p:pic>
        <p:nvPicPr>
          <p:cNvPr id="12" name="Image 1" descr="Settings">    </p:cNvPr>
          <p:cNvPicPr>
            <a:picLocks noChangeAspect="1"/>
          </p:cNvPicPr>
          <p:nvPr/>
        </p:nvPicPr>
        <p:blipFill>
          <a:blip r:embed="rId2"/>
          <a:srcRect l="0" r="0" t="0" b="0"/>
          <a:stretch/>
        </p:blipFill>
        <p:spPr>
          <a:xfrm>
            <a:off x="3670300" y="1845270"/>
            <a:ext cx="254000" cy="254000"/>
          </a:xfrm>
          <a:prstGeom prst="rect">
            <a:avLst/>
          </a:prstGeom>
        </p:spPr>
      </p:pic>
      <p:sp>
        <p:nvSpPr>
          <p:cNvPr id="13" name="Text 9"/>
          <p:cNvSpPr/>
          <p:nvPr/>
        </p:nvSpPr>
        <p:spPr>
          <a:xfrm>
            <a:off x="3670300" y="2175470"/>
            <a:ext cx="2243392"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Zasnovani na modelu</a:t>
            </a:r>
            <a:endParaRPr lang="en-US" sz="1400" dirty="0"/>
          </a:p>
        </p:txBody>
      </p:sp>
      <p:sp>
        <p:nvSpPr>
          <p:cNvPr id="14" name="Text 10"/>
          <p:cNvSpPr/>
          <p:nvPr/>
        </p:nvSpPr>
        <p:spPr>
          <a:xfrm>
            <a:off x="3670300" y="2473920"/>
            <a:ext cx="224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Fizički model procesa i invarijante iz projektne dokumentacije.</a:t>
            </a:r>
            <a:endParaRPr lang="en-US" sz="1200" dirty="0"/>
          </a:p>
        </p:txBody>
      </p:sp>
      <p:sp>
        <p:nvSpPr>
          <p:cNvPr id="15" name="Text 11"/>
          <p:cNvSpPr/>
          <p:nvPr/>
        </p:nvSpPr>
        <p:spPr>
          <a:xfrm>
            <a:off x="3670300" y="3266281"/>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Fizički utemeljeni</a:t>
            </a:r>
            <a:endParaRPr lang="en-US" sz="1200" dirty="0"/>
          </a:p>
        </p:txBody>
      </p:sp>
      <p:sp>
        <p:nvSpPr>
          <p:cNvPr id="16" name="Text 12"/>
          <p:cNvSpPr/>
          <p:nvPr/>
        </p:nvSpPr>
        <p:spPr>
          <a:xfrm>
            <a:off x="3670300" y="355580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Zahtevaju poznavanje procesa</a:t>
            </a:r>
            <a:endParaRPr lang="en-US" sz="1200" dirty="0"/>
          </a:p>
        </p:txBody>
      </p:sp>
      <p:sp>
        <p:nvSpPr>
          <p:cNvPr id="17" name="Shape 13"/>
          <p:cNvSpPr/>
          <p:nvPr/>
        </p:nvSpPr>
        <p:spPr>
          <a:xfrm>
            <a:off x="6162675" y="1676995"/>
            <a:ext cx="2540000" cy="2260402"/>
          </a:xfrm>
          <a:prstGeom prst="roundRect">
            <a:avLst>
              <a:gd name="adj" fmla="val 4354"/>
            </a:avLst>
          </a:prstGeom>
          <a:solidFill>
            <a:srgbClr val="FCFCFB"/>
          </a:solidFill>
          <a:ln w="6350">
            <a:solidFill>
              <a:srgbClr val="D3DAE1"/>
            </a:solidFill>
            <a:prstDash val="solid"/>
          </a:ln>
        </p:spPr>
      </p:sp>
      <p:pic>
        <p:nvPicPr>
          <p:cNvPr id="18" name="Image 2" descr="Search">    </p:cNvPr>
          <p:cNvPicPr>
            <a:picLocks noChangeAspect="1"/>
          </p:cNvPicPr>
          <p:nvPr/>
        </p:nvPicPr>
        <p:blipFill>
          <a:blip r:embed="rId3"/>
          <a:srcRect l="0" r="0" t="0" b="0"/>
          <a:stretch/>
        </p:blipFill>
        <p:spPr>
          <a:xfrm>
            <a:off x="6343650" y="1845270"/>
            <a:ext cx="254000" cy="254000"/>
          </a:xfrm>
          <a:prstGeom prst="rect">
            <a:avLst/>
          </a:prstGeom>
        </p:spPr>
      </p:pic>
      <p:sp>
        <p:nvSpPr>
          <p:cNvPr id="19" name="Text 14"/>
          <p:cNvSpPr/>
          <p:nvPr/>
        </p:nvSpPr>
        <p:spPr>
          <a:xfrm>
            <a:off x="6343650" y="2175470"/>
            <a:ext cx="2243392"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Mašinsko učenje</a:t>
            </a:r>
            <a:endParaRPr lang="en-US" sz="1400" dirty="0"/>
          </a:p>
        </p:txBody>
      </p:sp>
      <p:sp>
        <p:nvSpPr>
          <p:cNvPr id="20" name="Text 15"/>
          <p:cNvSpPr/>
          <p:nvPr/>
        </p:nvSpPr>
        <p:spPr>
          <a:xfrm>
            <a:off x="6343650" y="2473920"/>
            <a:ext cx="224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PCA, Isolation Forest, jednoklasni SVM.</a:t>
            </a:r>
            <a:endParaRPr lang="en-US" sz="1200" dirty="0"/>
          </a:p>
        </p:txBody>
      </p:sp>
      <p:sp>
        <p:nvSpPr>
          <p:cNvPr id="21" name="Text 16"/>
          <p:cNvSpPr/>
          <p:nvPr/>
        </p:nvSpPr>
        <p:spPr>
          <a:xfrm>
            <a:off x="6343650" y="3266281"/>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Uče iz podataka</a:t>
            </a:r>
            <a:endParaRPr lang="en-US" sz="1200" dirty="0"/>
          </a:p>
        </p:txBody>
      </p:sp>
      <p:sp>
        <p:nvSpPr>
          <p:cNvPr id="22" name="Text 17"/>
          <p:cNvSpPr/>
          <p:nvPr/>
        </p:nvSpPr>
        <p:spPr>
          <a:xfrm>
            <a:off x="6343650" y="355580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Osetljivi na izbor obeležja</a:t>
            </a:r>
            <a:endParaRPr lang="en-US" sz="1200" dirty="0"/>
          </a:p>
        </p:txBody>
      </p:sp>
      <p:sp>
        <p:nvSpPr>
          <p:cNvPr id="23" name="Shape 18"/>
          <p:cNvSpPr/>
          <p:nvPr/>
        </p:nvSpPr>
        <p:spPr>
          <a:xfrm>
            <a:off x="8836025" y="1676995"/>
            <a:ext cx="2540000" cy="2260402"/>
          </a:xfrm>
          <a:prstGeom prst="roundRect">
            <a:avLst>
              <a:gd name="adj" fmla="val 4354"/>
            </a:avLst>
          </a:prstGeom>
          <a:solidFill>
            <a:srgbClr val="FCFCFB"/>
          </a:solidFill>
          <a:ln w="6350">
            <a:solidFill>
              <a:srgbClr val="D3DAE1"/>
            </a:solidFill>
            <a:prstDash val="solid"/>
          </a:ln>
        </p:spPr>
      </p:sp>
      <p:pic>
        <p:nvPicPr>
          <p:cNvPr id="24" name="Image 3" descr="Lightbulb">    </p:cNvPr>
          <p:cNvPicPr>
            <a:picLocks noChangeAspect="1"/>
          </p:cNvPicPr>
          <p:nvPr/>
        </p:nvPicPr>
        <p:blipFill>
          <a:blip r:embed="rId4"/>
          <a:srcRect l="0" r="0" t="0" b="0"/>
          <a:stretch/>
        </p:blipFill>
        <p:spPr>
          <a:xfrm>
            <a:off x="9017000" y="1845270"/>
            <a:ext cx="254000" cy="254000"/>
          </a:xfrm>
          <a:prstGeom prst="rect">
            <a:avLst/>
          </a:prstGeom>
        </p:spPr>
      </p:pic>
      <p:sp>
        <p:nvSpPr>
          <p:cNvPr id="25" name="Text 19"/>
          <p:cNvSpPr/>
          <p:nvPr/>
        </p:nvSpPr>
        <p:spPr>
          <a:xfrm>
            <a:off x="9017000" y="2175470"/>
            <a:ext cx="2243392"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Duboko učenje</a:t>
            </a:r>
            <a:endParaRPr lang="en-US" sz="1400" dirty="0"/>
          </a:p>
        </p:txBody>
      </p:sp>
      <p:sp>
        <p:nvSpPr>
          <p:cNvPr id="26" name="Text 20"/>
          <p:cNvSpPr/>
          <p:nvPr/>
        </p:nvSpPr>
        <p:spPr>
          <a:xfrm>
            <a:off x="9017000" y="2473920"/>
            <a:ext cx="224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LSTM mreže, autoenkoderi, generativni modeli.</a:t>
            </a:r>
            <a:endParaRPr lang="en-US" sz="1200" dirty="0"/>
          </a:p>
        </p:txBody>
      </p:sp>
      <p:sp>
        <p:nvSpPr>
          <p:cNvPr id="27" name="Text 21"/>
          <p:cNvSpPr/>
          <p:nvPr/>
        </p:nvSpPr>
        <p:spPr>
          <a:xfrm>
            <a:off x="9017000" y="3266281"/>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Hvataju složene obrasce</a:t>
            </a:r>
            <a:endParaRPr lang="en-US" sz="1200" dirty="0"/>
          </a:p>
        </p:txBody>
      </p:sp>
      <p:sp>
        <p:nvSpPr>
          <p:cNvPr id="28" name="Text 22"/>
          <p:cNvSpPr/>
          <p:nvPr/>
        </p:nvSpPr>
        <p:spPr>
          <a:xfrm>
            <a:off x="9017000" y="355580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Teško se objašnjavaju</a:t>
            </a:r>
            <a:endParaRPr lang="en-US" sz="1200" dirty="0"/>
          </a:p>
        </p:txBody>
      </p:sp>
      <p:sp>
        <p:nvSpPr>
          <p:cNvPr id="29" name="Shape 23"/>
          <p:cNvSpPr/>
          <p:nvPr/>
        </p:nvSpPr>
        <p:spPr>
          <a:xfrm>
            <a:off x="812800" y="4194572"/>
            <a:ext cx="10566400" cy="508000"/>
          </a:xfrm>
          <a:prstGeom prst="roundRect">
            <a:avLst>
              <a:gd name="adj" fmla="val 15000"/>
            </a:avLst>
          </a:prstGeom>
          <a:solidFill>
            <a:srgbClr val="DCE8F4"/>
          </a:solidFill>
          <a:ln/>
        </p:spPr>
      </p:sp>
      <p:pic>
        <p:nvPicPr>
          <p:cNvPr id="30" name="Image 4" descr="Lightbulb">    </p:cNvPr>
          <p:cNvPicPr>
            <a:picLocks noChangeAspect="1"/>
          </p:cNvPicPr>
          <p:nvPr/>
        </p:nvPicPr>
        <p:blipFill>
          <a:blip r:embed="rId5"/>
          <a:srcRect l="0" r="0" t="0" b="0"/>
          <a:stretch/>
        </p:blipFill>
        <p:spPr>
          <a:xfrm>
            <a:off x="990600" y="4321572"/>
            <a:ext cx="254000" cy="254000"/>
          </a:xfrm>
          <a:prstGeom prst="rect">
            <a:avLst/>
          </a:prstGeom>
        </p:spPr>
      </p:pic>
      <p:sp>
        <p:nvSpPr>
          <p:cNvPr id="31" name="Text 24"/>
          <p:cNvSpPr/>
          <p:nvPr/>
        </p:nvSpPr>
        <p:spPr>
          <a:xfrm>
            <a:off x="1371600" y="4341912"/>
            <a:ext cx="10124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Pošto su napadi retki, većina metoda uči samo normalno ponašanje i alarmira na svako značajno odstupanje.</a:t>
            </a:r>
            <a:endParaRPr lang="en-US" sz="1200" dirty="0"/>
          </a:p>
        </p:txBody>
      </p:sp>
      <p:sp>
        <p:nvSpPr>
          <p:cNvPr id="32" name="Shape 25"/>
          <p:cNvSpPr/>
          <p:nvPr/>
        </p:nvSpPr>
        <p:spPr>
          <a:xfrm>
            <a:off x="812800" y="6209705"/>
            <a:ext cx="10566400" cy="0"/>
          </a:xfrm>
          <a:prstGeom prst="line">
            <a:avLst/>
          </a:prstGeom>
          <a:noFill/>
          <a:ln w="6350">
            <a:solidFill>
              <a:srgbClr val="D3DAE1"/>
            </a:solidFill>
            <a:prstDash val="solid"/>
          </a:ln>
        </p:spPr>
      </p:sp>
      <p:sp>
        <p:nvSpPr>
          <p:cNvPr id="33" name="Text 26"/>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34" name="Text 2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ANALIZA PODATAKA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Detekcija na osnovu greške predviđanja</a:t>
            </a:r>
            <a:endParaRPr lang="en-US" sz="3000" dirty="0"/>
          </a:p>
        </p:txBody>
      </p:sp>
      <p:sp>
        <p:nvSpPr>
          <p:cNvPr id="5" name="Shape 3"/>
          <p:cNvSpPr/>
          <p:nvPr/>
        </p:nvSpPr>
        <p:spPr>
          <a:xfrm>
            <a:off x="812800" y="1673820"/>
            <a:ext cx="4064000" cy="2915741"/>
          </a:xfrm>
          <a:prstGeom prst="roundRect">
            <a:avLst>
              <a:gd name="adj" fmla="val 2613"/>
            </a:avLst>
          </a:prstGeom>
          <a:solidFill>
            <a:srgbClr val="FCFCFB"/>
          </a:solidFill>
          <a:ln/>
        </p:spPr>
      </p:sp>
      <p:sp>
        <p:nvSpPr>
          <p:cNvPr id="6" name="Shape 4"/>
          <p:cNvSpPr/>
          <p:nvPr/>
        </p:nvSpPr>
        <p:spPr>
          <a:xfrm>
            <a:off x="812800" y="1673820"/>
            <a:ext cx="4064000" cy="2915741"/>
          </a:xfrm>
          <a:custGeom>
            <a:avLst/>
            <a:gdLst/>
            <a:ahLst/>
            <a:cxnLst/>
            <a:rect l="l" t="t" r="r" b="b"/>
            <a:pathLst>
              <a:path w="4064000" h="2915741">
                <a:moveTo>
                  <a:pt x="76200" y="2915741"/>
                </a:moveTo>
                <a:lnTo>
                  <a:pt x="76200" y="2915741"/>
                </a:lnTo>
                <a:arcTo hR="76200" wR="76200" stAng="5400000" swAng="5400000"/>
                <a:lnTo>
                  <a:pt x="0" y="76200"/>
                </a:lnTo>
                <a:arcTo hR="76200" wR="76200" stAng="10800000" swAng="5400000"/>
                <a:lnTo>
                  <a:pt x="76200" y="0"/>
                </a:lnTo>
                <a:arcTo hR="76200" wR="38100" stAng="16200000" swAng="-5400000"/>
                <a:lnTo>
                  <a:pt x="38100" y="2839541"/>
                </a:lnTo>
                <a:arcTo hR="76200" wR="38100" stAng="10800000" swAng="-5400000"/>
                <a:close/>
              </a:path>
            </a:pathLst>
          </a:custGeom>
          <a:solidFill>
            <a:srgbClr val="0A5CA8"/>
          </a:solidFill>
          <a:ln/>
        </p:spPr>
      </p:sp>
      <p:sp>
        <p:nvSpPr>
          <p:cNvPr id="7" name="Text 5"/>
          <p:cNvSpPr/>
          <p:nvPr/>
        </p:nvSpPr>
        <p:spPr>
          <a:xfrm>
            <a:off x="1054100" y="1851620"/>
            <a:ext cx="37280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Model predviđa ili rekonstruiše stanje</a:t>
            </a:r>
            <a:endParaRPr lang="en-US" sz="1200" dirty="0"/>
          </a:p>
        </p:txBody>
      </p:sp>
      <p:sp>
        <p:nvSpPr>
          <p:cNvPr id="8" name="Text 6"/>
          <p:cNvSpPr/>
          <p:nvPr/>
        </p:nvSpPr>
        <p:spPr>
          <a:xfrm>
            <a:off x="1054100" y="2204641"/>
            <a:ext cx="190500" cy="360660"/>
          </a:xfrm>
          <a:prstGeom prst="rect">
            <a:avLst/>
          </a:prstGeom>
          <a:noFill/>
          <a:ln/>
        </p:spPr>
        <p:txBody>
          <a:bodyPr wrap="square" lIns="0" tIns="0" rIns="0" bIns="0" rtlCol="0" anchor="t">
            <a:normAutofit/>
          </a:bodyPr>
          <a:lstStyle/>
          <a:p>
            <a:pPr algn="l" indent="0" marL="0">
              <a:lnSpc>
                <a:spcPts val="2640"/>
              </a:lnSpc>
              <a:buNone/>
            </a:pPr>
            <a:r>
              <a:rPr lang="en-US" sz="2200" b="1" i="1" dirty="0">
                <a:solidFill>
                  <a:srgbClr val="13202D"/>
                </a:solidFill>
                <a:latin typeface="STIX Two Text" pitchFamily="18" charset="0"/>
                <a:ea typeface="STIX Two Text" pitchFamily="18" charset="-122"/>
                <a:cs typeface="STIX Two Text" pitchFamily="18" charset="-120"/>
              </a:rPr>
              <a:t>x̂</a:t>
            </a:r>
            <a:endParaRPr lang="en-US" sz="2200" dirty="0"/>
          </a:p>
        </p:txBody>
      </p:sp>
      <p:sp>
        <p:nvSpPr>
          <p:cNvPr id="9" name="Text 7"/>
          <p:cNvSpPr/>
          <p:nvPr/>
        </p:nvSpPr>
        <p:spPr>
          <a:xfrm>
            <a:off x="1206500" y="2372221"/>
            <a:ext cx="103882" cy="203200"/>
          </a:xfrm>
          <a:prstGeom prst="rect">
            <a:avLst/>
          </a:prstGeom>
          <a:noFill/>
          <a:ln/>
        </p:spPr>
        <p:txBody>
          <a:bodyPr wrap="square" lIns="0" tIns="0" rIns="0" bIns="0" rtlCol="0" anchor="t">
            <a:normAutofit/>
          </a:bodyPr>
          <a:lstStyle/>
          <a:p>
            <a:pPr algn="l" indent="0" marL="0">
              <a:lnSpc>
                <a:spcPts val="1400"/>
              </a:lnSpc>
              <a:buNone/>
            </a:pPr>
            <a:r>
              <a:rPr lang="en-US" sz="1400" i="1" dirty="0">
                <a:solidFill>
                  <a:srgbClr val="13202D"/>
                </a:solidFill>
                <a:latin typeface="STIX Two Text" pitchFamily="18" charset="0"/>
                <a:ea typeface="STIX Two Text" pitchFamily="18" charset="-122"/>
                <a:cs typeface="STIX Two Text" pitchFamily="18" charset="-120"/>
              </a:rPr>
              <a:t>t</a:t>
            </a:r>
            <a:endParaRPr lang="en-US" sz="1400" dirty="0"/>
          </a:p>
        </p:txBody>
      </p:sp>
      <p:sp>
        <p:nvSpPr>
          <p:cNvPr id="10" name="Text 8"/>
          <p:cNvSpPr/>
          <p:nvPr/>
        </p:nvSpPr>
        <p:spPr>
          <a:xfrm>
            <a:off x="1373882" y="2204641"/>
            <a:ext cx="252016"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a:t>
            </a:r>
            <a:endParaRPr lang="en-US" sz="2200" dirty="0"/>
          </a:p>
        </p:txBody>
      </p:sp>
      <p:sp>
        <p:nvSpPr>
          <p:cNvPr id="11" name="Text 9"/>
          <p:cNvSpPr/>
          <p:nvPr/>
        </p:nvSpPr>
        <p:spPr>
          <a:xfrm>
            <a:off x="1689398" y="2204641"/>
            <a:ext cx="483195" cy="360660"/>
          </a:xfrm>
          <a:prstGeom prst="rect">
            <a:avLst/>
          </a:prstGeom>
          <a:noFill/>
          <a:ln/>
        </p:spPr>
        <p:txBody>
          <a:bodyPr wrap="square" lIns="0" tIns="0" rIns="0" bIns="0" rtlCol="0" anchor="t">
            <a:normAutofit/>
          </a:bodyPr>
          <a:lstStyle/>
          <a:p>
            <a:pPr algn="l" indent="0" marL="0">
              <a:lnSpc>
                <a:spcPts val="2640"/>
              </a:lnSpc>
              <a:buNone/>
            </a:pPr>
            <a:r>
              <a:rPr lang="en-US" sz="2200" i="1" dirty="0">
                <a:solidFill>
                  <a:srgbClr val="13202D"/>
                </a:solidFill>
                <a:latin typeface="STIX Two Text" pitchFamily="18" charset="0"/>
                <a:ea typeface="STIX Two Text" pitchFamily="18" charset="-122"/>
                <a:cs typeface="STIX Two Text" pitchFamily="18" charset="-120"/>
              </a:rPr>
              <a:t>f</a:t>
            </a:r>
            <a:r>
              <a:rPr lang="en-US" sz="2200" dirty="0">
                <a:solidFill>
                  <a:srgbClr val="13202D"/>
                </a:solidFill>
                <a:latin typeface="STIX Two Text" pitchFamily="18" charset="0"/>
                <a:ea typeface="STIX Two Text" pitchFamily="18" charset="-122"/>
                <a:cs typeface="STIX Two Text" pitchFamily="18" charset="-120"/>
              </a:rPr>
              <a:t>(</a:t>
            </a:r>
            <a:r>
              <a:rPr lang="en-US" sz="2200" i="1" dirty="0">
                <a:solidFill>
                  <a:srgbClr val="13202D"/>
                </a:solidFill>
                <a:latin typeface="STIX Two Text" pitchFamily="18" charset="0"/>
                <a:ea typeface="STIX Two Text" pitchFamily="18" charset="-122"/>
                <a:cs typeface="STIX Two Text" pitchFamily="18" charset="-120"/>
              </a:rPr>
              <a:t>W</a:t>
            </a:r>
            <a:endParaRPr lang="en-US" sz="2200" dirty="0"/>
          </a:p>
        </p:txBody>
      </p:sp>
      <p:sp>
        <p:nvSpPr>
          <p:cNvPr id="12" name="Text 10"/>
          <p:cNvSpPr/>
          <p:nvPr/>
        </p:nvSpPr>
        <p:spPr>
          <a:xfrm>
            <a:off x="2134493" y="2372221"/>
            <a:ext cx="319980" cy="203200"/>
          </a:xfrm>
          <a:prstGeom prst="rect">
            <a:avLst/>
          </a:prstGeom>
          <a:noFill/>
          <a:ln/>
        </p:spPr>
        <p:txBody>
          <a:bodyPr wrap="square" lIns="0" tIns="0" rIns="0" bIns="0" rtlCol="0" anchor="t">
            <a:normAutofit/>
          </a:bodyPr>
          <a:lstStyle/>
          <a:p>
            <a:pPr algn="l" indent="0" marL="0">
              <a:lnSpc>
                <a:spcPts val="1400"/>
              </a:lnSpc>
              <a:buNone/>
            </a:pPr>
            <a:r>
              <a:rPr lang="en-US" sz="1400" i="1" dirty="0">
                <a:solidFill>
                  <a:srgbClr val="13202D"/>
                </a:solidFill>
                <a:latin typeface="STIX Two Text" pitchFamily="18" charset="0"/>
                <a:ea typeface="STIX Two Text" pitchFamily="18" charset="-122"/>
                <a:cs typeface="STIX Two Text" pitchFamily="18" charset="-120"/>
              </a:rPr>
              <a:t>t</a:t>
            </a:r>
            <a:r>
              <a:rPr lang="en-US" sz="1400" dirty="0">
                <a:solidFill>
                  <a:srgbClr val="13202D"/>
                </a:solidFill>
                <a:latin typeface="STIX Two Text" pitchFamily="18" charset="0"/>
                <a:ea typeface="STIX Two Text" pitchFamily="18" charset="-122"/>
                <a:cs typeface="STIX Two Text" pitchFamily="18" charset="-120"/>
              </a:rPr>
              <a:t>−1</a:t>
            </a:r>
            <a:endParaRPr lang="en-US" sz="1400" dirty="0"/>
          </a:p>
        </p:txBody>
      </p:sp>
      <p:sp>
        <p:nvSpPr>
          <p:cNvPr id="13" name="Text 11"/>
          <p:cNvSpPr/>
          <p:nvPr/>
        </p:nvSpPr>
        <p:spPr>
          <a:xfrm>
            <a:off x="2416373" y="2204641"/>
            <a:ext cx="146645"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a:t>
            </a:r>
            <a:endParaRPr lang="en-US" sz="2200" dirty="0"/>
          </a:p>
        </p:txBody>
      </p:sp>
      <p:sp>
        <p:nvSpPr>
          <p:cNvPr id="14" name="Shape 12"/>
          <p:cNvSpPr/>
          <p:nvPr/>
        </p:nvSpPr>
        <p:spPr>
          <a:xfrm>
            <a:off x="1054100" y="2682776"/>
            <a:ext cx="3619500" cy="0"/>
          </a:xfrm>
          <a:prstGeom prst="line">
            <a:avLst/>
          </a:prstGeom>
          <a:noFill/>
          <a:ln w="6350">
            <a:solidFill>
              <a:srgbClr val="D3DAE1"/>
            </a:solidFill>
            <a:prstDash val="solid"/>
          </a:ln>
        </p:spPr>
      </p:sp>
      <p:sp>
        <p:nvSpPr>
          <p:cNvPr id="15" name="Text 13"/>
          <p:cNvSpPr/>
          <p:nvPr/>
        </p:nvSpPr>
        <p:spPr>
          <a:xfrm>
            <a:off x="1054100" y="2787551"/>
            <a:ext cx="37280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Greška u trenutku t</a:t>
            </a:r>
            <a:endParaRPr lang="en-US" sz="1200" dirty="0"/>
          </a:p>
        </p:txBody>
      </p:sp>
      <p:sp>
        <p:nvSpPr>
          <p:cNvPr id="16" name="Text 14"/>
          <p:cNvSpPr/>
          <p:nvPr/>
        </p:nvSpPr>
        <p:spPr>
          <a:xfrm>
            <a:off x="1054100" y="3140571"/>
            <a:ext cx="165993" cy="360660"/>
          </a:xfrm>
          <a:prstGeom prst="rect">
            <a:avLst/>
          </a:prstGeom>
          <a:noFill/>
          <a:ln/>
        </p:spPr>
        <p:txBody>
          <a:bodyPr wrap="square" lIns="0" tIns="0" rIns="0" bIns="0" rtlCol="0" anchor="t">
            <a:normAutofit/>
          </a:bodyPr>
          <a:lstStyle/>
          <a:p>
            <a:pPr algn="l" indent="0" marL="0">
              <a:lnSpc>
                <a:spcPts val="2640"/>
              </a:lnSpc>
              <a:buNone/>
            </a:pPr>
            <a:r>
              <a:rPr lang="en-US" sz="2200" i="1" dirty="0">
                <a:solidFill>
                  <a:srgbClr val="13202D"/>
                </a:solidFill>
                <a:latin typeface="STIX Two Text" pitchFamily="18" charset="0"/>
                <a:ea typeface="STIX Two Text" pitchFamily="18" charset="-122"/>
                <a:cs typeface="STIX Two Text" pitchFamily="18" charset="-120"/>
              </a:rPr>
              <a:t>e</a:t>
            </a:r>
            <a:endParaRPr lang="en-US" sz="2200" dirty="0"/>
          </a:p>
        </p:txBody>
      </p:sp>
      <p:sp>
        <p:nvSpPr>
          <p:cNvPr id="17" name="Text 15"/>
          <p:cNvSpPr/>
          <p:nvPr/>
        </p:nvSpPr>
        <p:spPr>
          <a:xfrm>
            <a:off x="1181993" y="3308152"/>
            <a:ext cx="103882" cy="203200"/>
          </a:xfrm>
          <a:prstGeom prst="rect">
            <a:avLst/>
          </a:prstGeom>
          <a:noFill/>
          <a:ln/>
        </p:spPr>
        <p:txBody>
          <a:bodyPr wrap="square" lIns="0" tIns="0" rIns="0" bIns="0" rtlCol="0" anchor="t">
            <a:normAutofit/>
          </a:bodyPr>
          <a:lstStyle/>
          <a:p>
            <a:pPr algn="l" indent="0" marL="0">
              <a:lnSpc>
                <a:spcPts val="1400"/>
              </a:lnSpc>
              <a:buNone/>
            </a:pPr>
            <a:r>
              <a:rPr lang="en-US" sz="1400" i="1" dirty="0">
                <a:solidFill>
                  <a:srgbClr val="13202D"/>
                </a:solidFill>
                <a:latin typeface="STIX Two Text" pitchFamily="18" charset="0"/>
                <a:ea typeface="STIX Two Text" pitchFamily="18" charset="-122"/>
                <a:cs typeface="STIX Two Text" pitchFamily="18" charset="-120"/>
              </a:rPr>
              <a:t>t</a:t>
            </a:r>
            <a:endParaRPr lang="en-US" sz="1400" dirty="0"/>
          </a:p>
        </p:txBody>
      </p:sp>
      <p:sp>
        <p:nvSpPr>
          <p:cNvPr id="18" name="Text 16"/>
          <p:cNvSpPr/>
          <p:nvPr/>
        </p:nvSpPr>
        <p:spPr>
          <a:xfrm>
            <a:off x="1349375" y="3140571"/>
            <a:ext cx="252016"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a:t>
            </a:r>
            <a:endParaRPr lang="en-US" sz="2200" dirty="0"/>
          </a:p>
        </p:txBody>
      </p:sp>
      <p:sp>
        <p:nvSpPr>
          <p:cNvPr id="19" name="Text 17"/>
          <p:cNvSpPr/>
          <p:nvPr/>
        </p:nvSpPr>
        <p:spPr>
          <a:xfrm>
            <a:off x="1664891" y="3140571"/>
            <a:ext cx="338038"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 </a:t>
            </a:r>
            <a:r>
              <a:rPr lang="en-US" sz="2200" b="1" i="1" dirty="0">
                <a:solidFill>
                  <a:srgbClr val="13202D"/>
                </a:solidFill>
                <a:latin typeface="STIX Two Text" pitchFamily="18" charset="0"/>
                <a:ea typeface="STIX Two Text" pitchFamily="18" charset="-122"/>
                <a:cs typeface="STIX Two Text" pitchFamily="18" charset="-120"/>
              </a:rPr>
              <a:t>x</a:t>
            </a:r>
            <a:endParaRPr lang="en-US" sz="2200" dirty="0"/>
          </a:p>
        </p:txBody>
      </p:sp>
      <p:sp>
        <p:nvSpPr>
          <p:cNvPr id="20" name="Text 18"/>
          <p:cNvSpPr/>
          <p:nvPr/>
        </p:nvSpPr>
        <p:spPr>
          <a:xfrm>
            <a:off x="1964829" y="3308152"/>
            <a:ext cx="103882" cy="203200"/>
          </a:xfrm>
          <a:prstGeom prst="rect">
            <a:avLst/>
          </a:prstGeom>
          <a:noFill/>
          <a:ln/>
        </p:spPr>
        <p:txBody>
          <a:bodyPr wrap="square" lIns="0" tIns="0" rIns="0" bIns="0" rtlCol="0" anchor="t">
            <a:normAutofit/>
          </a:bodyPr>
          <a:lstStyle/>
          <a:p>
            <a:pPr algn="l" indent="0" marL="0">
              <a:lnSpc>
                <a:spcPts val="1400"/>
              </a:lnSpc>
              <a:buNone/>
            </a:pPr>
            <a:r>
              <a:rPr lang="en-US" sz="1400" i="1" dirty="0">
                <a:solidFill>
                  <a:srgbClr val="13202D"/>
                </a:solidFill>
                <a:latin typeface="STIX Two Text" pitchFamily="18" charset="0"/>
                <a:ea typeface="STIX Two Text" pitchFamily="18" charset="-122"/>
                <a:cs typeface="STIX Two Text" pitchFamily="18" charset="-120"/>
              </a:rPr>
              <a:t>t</a:t>
            </a:r>
            <a:endParaRPr lang="en-US" sz="1400" dirty="0"/>
          </a:p>
        </p:txBody>
      </p:sp>
      <p:sp>
        <p:nvSpPr>
          <p:cNvPr id="21" name="Text 19"/>
          <p:cNvSpPr/>
          <p:nvPr/>
        </p:nvSpPr>
        <p:spPr>
          <a:xfrm>
            <a:off x="2106811" y="3140571"/>
            <a:ext cx="252016"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a:t>
            </a:r>
            <a:endParaRPr lang="en-US" sz="2200" dirty="0"/>
          </a:p>
        </p:txBody>
      </p:sp>
      <p:sp>
        <p:nvSpPr>
          <p:cNvPr id="22" name="Text 20"/>
          <p:cNvSpPr/>
          <p:nvPr/>
        </p:nvSpPr>
        <p:spPr>
          <a:xfrm>
            <a:off x="2396927" y="3140571"/>
            <a:ext cx="190500" cy="360660"/>
          </a:xfrm>
          <a:prstGeom prst="rect">
            <a:avLst/>
          </a:prstGeom>
          <a:noFill/>
          <a:ln/>
        </p:spPr>
        <p:txBody>
          <a:bodyPr wrap="square" lIns="0" tIns="0" rIns="0" bIns="0" rtlCol="0" anchor="t">
            <a:normAutofit/>
          </a:bodyPr>
          <a:lstStyle/>
          <a:p>
            <a:pPr algn="l" indent="0" marL="0">
              <a:lnSpc>
                <a:spcPts val="2640"/>
              </a:lnSpc>
              <a:buNone/>
            </a:pPr>
            <a:r>
              <a:rPr lang="en-US" sz="2200" b="1" i="1" dirty="0">
                <a:solidFill>
                  <a:srgbClr val="13202D"/>
                </a:solidFill>
                <a:latin typeface="STIX Two Text" pitchFamily="18" charset="0"/>
                <a:ea typeface="STIX Two Text" pitchFamily="18" charset="-122"/>
                <a:cs typeface="STIX Two Text" pitchFamily="18" charset="-120"/>
              </a:rPr>
              <a:t>x̂</a:t>
            </a:r>
            <a:endParaRPr lang="en-US" sz="2200" dirty="0"/>
          </a:p>
        </p:txBody>
      </p:sp>
      <p:sp>
        <p:nvSpPr>
          <p:cNvPr id="23" name="Text 21"/>
          <p:cNvSpPr/>
          <p:nvPr/>
        </p:nvSpPr>
        <p:spPr>
          <a:xfrm>
            <a:off x="2549327" y="3308152"/>
            <a:ext cx="103882" cy="203200"/>
          </a:xfrm>
          <a:prstGeom prst="rect">
            <a:avLst/>
          </a:prstGeom>
          <a:noFill/>
          <a:ln/>
        </p:spPr>
        <p:txBody>
          <a:bodyPr wrap="square" lIns="0" tIns="0" rIns="0" bIns="0" rtlCol="0" anchor="t">
            <a:normAutofit/>
          </a:bodyPr>
          <a:lstStyle/>
          <a:p>
            <a:pPr algn="l" indent="0" marL="0">
              <a:lnSpc>
                <a:spcPts val="1400"/>
              </a:lnSpc>
              <a:buNone/>
            </a:pPr>
            <a:r>
              <a:rPr lang="en-US" sz="1400" i="1" dirty="0">
                <a:solidFill>
                  <a:srgbClr val="13202D"/>
                </a:solidFill>
                <a:latin typeface="STIX Two Text" pitchFamily="18" charset="0"/>
                <a:ea typeface="STIX Two Text" pitchFamily="18" charset="-122"/>
                <a:cs typeface="STIX Two Text" pitchFamily="18" charset="-120"/>
              </a:rPr>
              <a:t>t</a:t>
            </a:r>
            <a:endParaRPr lang="en-US" sz="1400" dirty="0"/>
          </a:p>
        </p:txBody>
      </p:sp>
      <p:sp>
        <p:nvSpPr>
          <p:cNvPr id="24" name="Text 22"/>
          <p:cNvSpPr/>
          <p:nvPr/>
        </p:nvSpPr>
        <p:spPr>
          <a:xfrm>
            <a:off x="2653209" y="3140571"/>
            <a:ext cx="129282"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a:t>
            </a:r>
            <a:endParaRPr lang="en-US" sz="2200" dirty="0"/>
          </a:p>
        </p:txBody>
      </p:sp>
      <p:sp>
        <p:nvSpPr>
          <p:cNvPr id="25" name="Text 23"/>
          <p:cNvSpPr/>
          <p:nvPr/>
        </p:nvSpPr>
        <p:spPr>
          <a:xfrm>
            <a:off x="2744391" y="3308152"/>
            <a:ext cx="138906" cy="203200"/>
          </a:xfrm>
          <a:prstGeom prst="rect">
            <a:avLst/>
          </a:prstGeom>
          <a:noFill/>
          <a:ln/>
        </p:spPr>
        <p:txBody>
          <a:bodyPr wrap="square" lIns="0" tIns="0" rIns="0" bIns="0" rtlCol="0" anchor="t">
            <a:normAutofit/>
          </a:bodyPr>
          <a:lstStyle/>
          <a:p>
            <a:pPr algn="l" indent="0" marL="0">
              <a:lnSpc>
                <a:spcPts val="1400"/>
              </a:lnSpc>
              <a:buNone/>
            </a:pPr>
            <a:r>
              <a:rPr lang="en-US" sz="1400" dirty="0">
                <a:solidFill>
                  <a:srgbClr val="13202D"/>
                </a:solidFill>
                <a:latin typeface="STIX Two Text" pitchFamily="18" charset="0"/>
                <a:ea typeface="STIX Two Text" pitchFamily="18" charset="-122"/>
                <a:cs typeface="STIX Two Text" pitchFamily="18" charset="-120"/>
              </a:rPr>
              <a:t>2</a:t>
            </a:r>
            <a:endParaRPr lang="en-US" sz="1400" dirty="0"/>
          </a:p>
        </p:txBody>
      </p:sp>
      <p:sp>
        <p:nvSpPr>
          <p:cNvPr id="26" name="Shape 24"/>
          <p:cNvSpPr/>
          <p:nvPr/>
        </p:nvSpPr>
        <p:spPr>
          <a:xfrm>
            <a:off x="1054100" y="3618706"/>
            <a:ext cx="3619500" cy="0"/>
          </a:xfrm>
          <a:prstGeom prst="line">
            <a:avLst/>
          </a:prstGeom>
          <a:noFill/>
          <a:ln w="6350">
            <a:solidFill>
              <a:srgbClr val="D3DAE1"/>
            </a:solidFill>
            <a:prstDash val="solid"/>
          </a:ln>
        </p:spPr>
      </p:sp>
      <p:sp>
        <p:nvSpPr>
          <p:cNvPr id="27" name="Text 25"/>
          <p:cNvSpPr/>
          <p:nvPr/>
        </p:nvSpPr>
        <p:spPr>
          <a:xfrm>
            <a:off x="1054100" y="3723481"/>
            <a:ext cx="37280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Pravilo alarma</a:t>
            </a:r>
            <a:endParaRPr lang="en-US" sz="1200" dirty="0"/>
          </a:p>
        </p:txBody>
      </p:sp>
      <p:sp>
        <p:nvSpPr>
          <p:cNvPr id="28" name="Text 26"/>
          <p:cNvSpPr/>
          <p:nvPr/>
        </p:nvSpPr>
        <p:spPr>
          <a:xfrm>
            <a:off x="1054100" y="4076502"/>
            <a:ext cx="165993" cy="360660"/>
          </a:xfrm>
          <a:prstGeom prst="rect">
            <a:avLst/>
          </a:prstGeom>
          <a:noFill/>
          <a:ln/>
        </p:spPr>
        <p:txBody>
          <a:bodyPr wrap="square" lIns="0" tIns="0" rIns="0" bIns="0" rtlCol="0" anchor="t">
            <a:normAutofit/>
          </a:bodyPr>
          <a:lstStyle/>
          <a:p>
            <a:pPr algn="l" indent="0" marL="0">
              <a:lnSpc>
                <a:spcPts val="2640"/>
              </a:lnSpc>
              <a:buNone/>
            </a:pPr>
            <a:r>
              <a:rPr lang="en-US" sz="2200" i="1" dirty="0">
                <a:solidFill>
                  <a:srgbClr val="13202D"/>
                </a:solidFill>
                <a:latin typeface="STIX Two Text" pitchFamily="18" charset="0"/>
                <a:ea typeface="STIX Two Text" pitchFamily="18" charset="-122"/>
                <a:cs typeface="STIX Two Text" pitchFamily="18" charset="-120"/>
              </a:rPr>
              <a:t>e</a:t>
            </a:r>
            <a:endParaRPr lang="en-US" sz="2200" dirty="0"/>
          </a:p>
        </p:txBody>
      </p:sp>
      <p:sp>
        <p:nvSpPr>
          <p:cNvPr id="29" name="Text 27"/>
          <p:cNvSpPr/>
          <p:nvPr/>
        </p:nvSpPr>
        <p:spPr>
          <a:xfrm>
            <a:off x="1181993" y="4244082"/>
            <a:ext cx="103882" cy="203200"/>
          </a:xfrm>
          <a:prstGeom prst="rect">
            <a:avLst/>
          </a:prstGeom>
          <a:noFill/>
          <a:ln/>
        </p:spPr>
        <p:txBody>
          <a:bodyPr wrap="square" lIns="0" tIns="0" rIns="0" bIns="0" rtlCol="0" anchor="t">
            <a:normAutofit/>
          </a:bodyPr>
          <a:lstStyle/>
          <a:p>
            <a:pPr algn="l" indent="0" marL="0">
              <a:lnSpc>
                <a:spcPts val="1400"/>
              </a:lnSpc>
              <a:buNone/>
            </a:pPr>
            <a:r>
              <a:rPr lang="en-US" sz="1400" i="1" dirty="0">
                <a:solidFill>
                  <a:srgbClr val="13202D"/>
                </a:solidFill>
                <a:latin typeface="STIX Two Text" pitchFamily="18" charset="0"/>
                <a:ea typeface="STIX Two Text" pitchFamily="18" charset="-122"/>
                <a:cs typeface="STIX Two Text" pitchFamily="18" charset="-120"/>
              </a:rPr>
              <a:t>t</a:t>
            </a:r>
            <a:endParaRPr lang="en-US" sz="1400" dirty="0"/>
          </a:p>
        </p:txBody>
      </p:sp>
      <p:sp>
        <p:nvSpPr>
          <p:cNvPr id="30" name="Text 28"/>
          <p:cNvSpPr/>
          <p:nvPr/>
        </p:nvSpPr>
        <p:spPr>
          <a:xfrm>
            <a:off x="1349375" y="4076502"/>
            <a:ext cx="246757"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&gt;</a:t>
            </a:r>
            <a:endParaRPr lang="en-US" sz="2200" dirty="0"/>
          </a:p>
        </p:txBody>
      </p:sp>
      <p:sp>
        <p:nvSpPr>
          <p:cNvPr id="31" name="Text 29"/>
          <p:cNvSpPr/>
          <p:nvPr/>
        </p:nvSpPr>
        <p:spPr>
          <a:xfrm>
            <a:off x="1659632" y="4076502"/>
            <a:ext cx="161727" cy="360660"/>
          </a:xfrm>
          <a:prstGeom prst="rect">
            <a:avLst/>
          </a:prstGeom>
          <a:noFill/>
          <a:ln/>
        </p:spPr>
        <p:txBody>
          <a:bodyPr wrap="square" lIns="0" tIns="0" rIns="0" bIns="0" rtlCol="0" anchor="t">
            <a:normAutofit/>
          </a:bodyPr>
          <a:lstStyle/>
          <a:p>
            <a:pPr algn="l" indent="0" marL="0">
              <a:lnSpc>
                <a:spcPts val="2640"/>
              </a:lnSpc>
              <a:buNone/>
            </a:pPr>
            <a:r>
              <a:rPr lang="en-US" sz="2200" i="1" dirty="0">
                <a:solidFill>
                  <a:srgbClr val="A8520A"/>
                </a:solidFill>
                <a:latin typeface="STIX Two Text" pitchFamily="18" charset="0"/>
                <a:ea typeface="STIX Two Text" pitchFamily="18" charset="-122"/>
                <a:cs typeface="STIX Two Text" pitchFamily="18" charset="-120"/>
              </a:rPr>
              <a:t>τ</a:t>
            </a:r>
            <a:endParaRPr lang="en-US" sz="2200" dirty="0"/>
          </a:p>
        </p:txBody>
      </p:sp>
      <p:sp>
        <p:nvSpPr>
          <p:cNvPr id="32" name="Text 30"/>
          <p:cNvSpPr/>
          <p:nvPr/>
        </p:nvSpPr>
        <p:spPr>
          <a:xfrm>
            <a:off x="1935659" y="4137422"/>
            <a:ext cx="6825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 alarm</a:t>
            </a:r>
            <a:endParaRPr lang="en-US" sz="1200" dirty="0"/>
          </a:p>
        </p:txBody>
      </p:sp>
      <p:sp>
        <p:nvSpPr>
          <p:cNvPr id="33" name="Shape 31"/>
          <p:cNvSpPr/>
          <p:nvPr/>
        </p:nvSpPr>
        <p:spPr>
          <a:xfrm>
            <a:off x="5184775" y="1676995"/>
            <a:ext cx="6191250" cy="3549650"/>
          </a:xfrm>
          <a:prstGeom prst="roundRect">
            <a:avLst>
              <a:gd name="adj" fmla="val 2773"/>
            </a:avLst>
          </a:prstGeom>
          <a:solidFill>
            <a:srgbClr val="FCFCFB"/>
          </a:solidFill>
          <a:ln w="6350">
            <a:solidFill>
              <a:srgbClr val="D3DAE1"/>
            </a:solidFill>
            <a:prstDash val="solid"/>
          </a:ln>
        </p:spPr>
      </p:sp>
      <p:pic>
        <p:nvPicPr>
          <p:cNvPr id="34" name="Image 0" descr="Ilustracija greške predviđanja kroz vreme: tokom napada greška prelazi prag, a jedan kratak skok van napada izaziva lažni alarm">    </p:cNvPr>
          <p:cNvPicPr>
            <a:picLocks noChangeAspect="1"/>
          </p:cNvPicPr>
          <p:nvPr/>
        </p:nvPicPr>
        <p:blipFill>
          <a:blip r:embed="rId1"/>
          <a:srcRect l="0" r="0" t="0" b="0"/>
          <a:stretch/>
        </p:blipFill>
        <p:spPr>
          <a:xfrm>
            <a:off x="5791200" y="1927820"/>
            <a:ext cx="5334000" cy="2540000"/>
          </a:xfrm>
          <a:prstGeom prst="rect">
            <a:avLst/>
          </a:prstGeom>
        </p:spPr>
      </p:pic>
      <p:sp>
        <p:nvSpPr>
          <p:cNvPr id="35" name="Text 32"/>
          <p:cNvSpPr/>
          <p:nvPr/>
        </p:nvSpPr>
        <p:spPr>
          <a:xfrm>
            <a:off x="5283200" y="2778720"/>
            <a:ext cx="457200" cy="309860"/>
          </a:xfrm>
          <a:prstGeom prst="rect">
            <a:avLst/>
          </a:prstGeom>
          <a:noFill/>
          <a:ln/>
        </p:spPr>
        <p:txBody>
          <a:bodyPr wrap="square" lIns="0" tIns="0" rIns="0" bIns="0" rtlCol="0" anchor="t">
            <a:normAutofit/>
          </a:bodyPr>
          <a:lstStyle/>
          <a:p>
            <a:pPr algn="r" indent="0" marL="0">
              <a:lnSpc>
                <a:spcPts val="2240"/>
              </a:lnSpc>
              <a:buNone/>
            </a:pPr>
            <a:r>
              <a:rPr lang="en-US" sz="1600" i="1" dirty="0">
                <a:solidFill>
                  <a:srgbClr val="A8520A"/>
                </a:solidFill>
                <a:latin typeface="STIX Two Text" pitchFamily="18" charset="0"/>
                <a:ea typeface="STIX Two Text" pitchFamily="18" charset="-122"/>
                <a:cs typeface="STIX Two Text" pitchFamily="18" charset="-120"/>
              </a:rPr>
              <a:t>τ</a:t>
            </a:r>
            <a:endParaRPr lang="en-US" sz="1600" dirty="0"/>
          </a:p>
        </p:txBody>
      </p:sp>
      <p:sp>
        <p:nvSpPr>
          <p:cNvPr id="36" name="Text 33"/>
          <p:cNvSpPr/>
          <p:nvPr/>
        </p:nvSpPr>
        <p:spPr>
          <a:xfrm>
            <a:off x="5283200" y="1991320"/>
            <a:ext cx="457200" cy="309860"/>
          </a:xfrm>
          <a:prstGeom prst="rect">
            <a:avLst/>
          </a:prstGeom>
          <a:noFill/>
          <a:ln/>
        </p:spPr>
        <p:txBody>
          <a:bodyPr wrap="square" lIns="0" tIns="0" rIns="0" bIns="0" rtlCol="0" anchor="t">
            <a:normAutofit/>
          </a:bodyPr>
          <a:lstStyle/>
          <a:p>
            <a:pPr algn="r" indent="0" marL="0">
              <a:lnSpc>
                <a:spcPts val="2240"/>
              </a:lnSpc>
              <a:buNone/>
            </a:pPr>
            <a:r>
              <a:rPr lang="en-US" sz="1600" i="1" dirty="0">
                <a:solidFill>
                  <a:srgbClr val="13202D"/>
                </a:solidFill>
                <a:latin typeface="STIX Two Text" pitchFamily="18" charset="0"/>
                <a:ea typeface="STIX Two Text" pitchFamily="18" charset="-122"/>
                <a:cs typeface="STIX Two Text" pitchFamily="18" charset="-120"/>
              </a:rPr>
              <a:t>e</a:t>
            </a:r>
            <a:endParaRPr lang="en-US" sz="1600" dirty="0"/>
          </a:p>
        </p:txBody>
      </p:sp>
      <p:sp>
        <p:nvSpPr>
          <p:cNvPr id="37" name="Text 34"/>
          <p:cNvSpPr/>
          <p:nvPr/>
        </p:nvSpPr>
        <p:spPr>
          <a:xfrm>
            <a:off x="8966200" y="4544020"/>
            <a:ext cx="939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8520A"/>
                </a:solidFill>
                <a:latin typeface="IBM Plex Sans" pitchFamily="34" charset="0"/>
                <a:ea typeface="IBM Plex Sans" pitchFamily="34" charset="-122"/>
                <a:cs typeface="IBM Plex Sans" pitchFamily="34" charset="-120"/>
              </a:rPr>
              <a:t>napad</a:t>
            </a:r>
            <a:endParaRPr lang="en-US" sz="1200" dirty="0"/>
          </a:p>
        </p:txBody>
      </p:sp>
      <p:sp>
        <p:nvSpPr>
          <p:cNvPr id="38" name="Text 35"/>
          <p:cNvSpPr/>
          <p:nvPr/>
        </p:nvSpPr>
        <p:spPr>
          <a:xfrm>
            <a:off x="6743700" y="4544020"/>
            <a:ext cx="1320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lažni alarm</a:t>
            </a:r>
            <a:endParaRPr lang="en-US" sz="1200" dirty="0"/>
          </a:p>
        </p:txBody>
      </p:sp>
      <p:sp>
        <p:nvSpPr>
          <p:cNvPr id="39" name="Text 36"/>
          <p:cNvSpPr/>
          <p:nvPr/>
        </p:nvSpPr>
        <p:spPr>
          <a:xfrm>
            <a:off x="5711190" y="4848820"/>
            <a:ext cx="549402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vreme · ilustracija</a:t>
            </a:r>
            <a:endParaRPr lang="en-US" sz="1200" dirty="0"/>
          </a:p>
        </p:txBody>
      </p:sp>
      <p:sp>
        <p:nvSpPr>
          <p:cNvPr id="40" name="Shape 37"/>
          <p:cNvSpPr/>
          <p:nvPr/>
        </p:nvSpPr>
        <p:spPr>
          <a:xfrm>
            <a:off x="812800" y="6209705"/>
            <a:ext cx="10566400" cy="0"/>
          </a:xfrm>
          <a:prstGeom prst="line">
            <a:avLst/>
          </a:prstGeom>
          <a:noFill/>
          <a:ln w="6350">
            <a:solidFill>
              <a:srgbClr val="D3DAE1"/>
            </a:solidFill>
            <a:prstDash val="solid"/>
          </a:ln>
        </p:spPr>
      </p:sp>
      <p:sp>
        <p:nvSpPr>
          <p:cNvPr id="41" name="Text 38"/>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42" name="Text 3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ANALIZA PODATAKA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Procesne invarijante</a:t>
            </a:r>
            <a:endParaRPr lang="en-US" sz="3000" dirty="0"/>
          </a:p>
        </p:txBody>
      </p:sp>
      <p:sp>
        <p:nvSpPr>
          <p:cNvPr id="5" name="Shape 3"/>
          <p:cNvSpPr/>
          <p:nvPr/>
        </p:nvSpPr>
        <p:spPr>
          <a:xfrm>
            <a:off x="812800" y="1673820"/>
            <a:ext cx="10566400" cy="1798241"/>
          </a:xfrm>
          <a:prstGeom prst="roundRect">
            <a:avLst>
              <a:gd name="adj" fmla="val 4237"/>
            </a:avLst>
          </a:prstGeom>
          <a:solidFill>
            <a:srgbClr val="FCFCFB"/>
          </a:solidFill>
          <a:ln/>
        </p:spPr>
      </p:sp>
      <p:sp>
        <p:nvSpPr>
          <p:cNvPr id="6" name="Shape 4"/>
          <p:cNvSpPr/>
          <p:nvPr/>
        </p:nvSpPr>
        <p:spPr>
          <a:xfrm>
            <a:off x="812800" y="1673820"/>
            <a:ext cx="10566400" cy="1798241"/>
          </a:xfrm>
          <a:custGeom>
            <a:avLst/>
            <a:gdLst/>
            <a:ahLst/>
            <a:cxnLst/>
            <a:rect l="l" t="t" r="r" b="b"/>
            <a:pathLst>
              <a:path w="10566400" h="1798241">
                <a:moveTo>
                  <a:pt x="76200" y="1798241"/>
                </a:moveTo>
                <a:lnTo>
                  <a:pt x="76200" y="1798241"/>
                </a:lnTo>
                <a:arcTo hR="76200" wR="76200" stAng="5400000" swAng="5400000"/>
                <a:lnTo>
                  <a:pt x="0" y="76200"/>
                </a:lnTo>
                <a:arcTo hR="76200" wR="76200" stAng="10800000" swAng="5400000"/>
                <a:lnTo>
                  <a:pt x="76200" y="0"/>
                </a:lnTo>
                <a:arcTo hR="76200" wR="38100" stAng="16200000" swAng="-5400000"/>
                <a:lnTo>
                  <a:pt x="38100" y="1722041"/>
                </a:lnTo>
                <a:arcTo hR="76200" wR="38100" stAng="10800000" swAng="-5400000"/>
                <a:close/>
              </a:path>
            </a:pathLst>
          </a:custGeom>
          <a:solidFill>
            <a:srgbClr val="0A5CA8"/>
          </a:solidFill>
          <a:ln/>
        </p:spPr>
      </p:sp>
      <p:sp>
        <p:nvSpPr>
          <p:cNvPr id="7" name="Text 5"/>
          <p:cNvSpPr/>
          <p:nvPr/>
        </p:nvSpPr>
        <p:spPr>
          <a:xfrm>
            <a:off x="1079500" y="1851620"/>
            <a:ext cx="10373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Invarijanta je fizičko pravilo koje uvek važi u ispravnom radu. Primeri za prvu fazu postrojenja SWaT:</a:t>
            </a:r>
            <a:endParaRPr lang="en-US" sz="1200" dirty="0"/>
          </a:p>
        </p:txBody>
      </p:sp>
      <p:sp>
        <p:nvSpPr>
          <p:cNvPr id="8" name="Text 6"/>
          <p:cNvSpPr/>
          <p:nvPr/>
        </p:nvSpPr>
        <p:spPr>
          <a:xfrm>
            <a:off x="1079500" y="2226270"/>
            <a:ext cx="3556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5CA8"/>
                </a:solidFill>
                <a:latin typeface="IBM Plex Mono" pitchFamily="49" charset="0"/>
                <a:ea typeface="IBM Plex Mono" pitchFamily="49" charset="-122"/>
                <a:cs typeface="IBM Plex Mono" pitchFamily="49" charset="-120"/>
              </a:rPr>
              <a:t>I1</a:t>
            </a:r>
            <a:endParaRPr lang="en-US" sz="1400" dirty="0"/>
          </a:p>
        </p:txBody>
      </p:sp>
      <p:sp>
        <p:nvSpPr>
          <p:cNvPr id="9" name="Text 7"/>
          <p:cNvSpPr/>
          <p:nvPr/>
        </p:nvSpPr>
        <p:spPr>
          <a:xfrm>
            <a:off x="1536700" y="2191941"/>
            <a:ext cx="4134326"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13202D"/>
                </a:solidFill>
                <a:latin typeface="STIX Two Text" pitchFamily="18" charset="0"/>
                <a:ea typeface="STIX Two Text" pitchFamily="18" charset="-122"/>
                <a:cs typeface="STIX Two Text" pitchFamily="18" charset="-120"/>
              </a:rPr>
              <a:t>MV101 = otvoren ⇒ FIT101 &gt; 0</a:t>
            </a:r>
            <a:endParaRPr lang="en-US" sz="2000" dirty="0"/>
          </a:p>
        </p:txBody>
      </p:sp>
      <p:sp>
        <p:nvSpPr>
          <p:cNvPr id="10" name="Text 8"/>
          <p:cNvSpPr/>
          <p:nvPr/>
        </p:nvSpPr>
        <p:spPr>
          <a:xfrm>
            <a:off x="1079500" y="2670770"/>
            <a:ext cx="3556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5CA8"/>
                </a:solidFill>
                <a:latin typeface="IBM Plex Mono" pitchFamily="49" charset="0"/>
                <a:ea typeface="IBM Plex Mono" pitchFamily="49" charset="-122"/>
                <a:cs typeface="IBM Plex Mono" pitchFamily="49" charset="-120"/>
              </a:rPr>
              <a:t>I2</a:t>
            </a:r>
            <a:endParaRPr lang="en-US" sz="1400" dirty="0"/>
          </a:p>
        </p:txBody>
      </p:sp>
      <p:sp>
        <p:nvSpPr>
          <p:cNvPr id="11" name="Text 9"/>
          <p:cNvSpPr/>
          <p:nvPr/>
        </p:nvSpPr>
        <p:spPr>
          <a:xfrm>
            <a:off x="1536700" y="2636441"/>
            <a:ext cx="709017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13202D"/>
                </a:solidFill>
                <a:latin typeface="STIX Two Text" pitchFamily="18" charset="0"/>
                <a:ea typeface="STIX Two Text" pitchFamily="18" charset="-122"/>
                <a:cs typeface="STIX Two Text" pitchFamily="18" charset="-120"/>
              </a:rPr>
              <a:t>MV101 = zatvoren ∧ P101 = isključena ⇒ |ΔLIT101| ≤ </a:t>
            </a:r>
            <a:r>
              <a:rPr lang="en-US" sz="2000" i="1" dirty="0">
                <a:solidFill>
                  <a:srgbClr val="13202D"/>
                </a:solidFill>
                <a:latin typeface="STIX Two Text" pitchFamily="18" charset="0"/>
                <a:ea typeface="STIX Two Text" pitchFamily="18" charset="-122"/>
                <a:cs typeface="STIX Two Text" pitchFamily="18" charset="-120"/>
              </a:rPr>
              <a:t>ε</a:t>
            </a:r>
            <a:endParaRPr lang="en-US" sz="2000" dirty="0"/>
          </a:p>
        </p:txBody>
      </p:sp>
      <p:sp>
        <p:nvSpPr>
          <p:cNvPr id="12" name="Text 10"/>
          <p:cNvSpPr/>
          <p:nvPr/>
        </p:nvSpPr>
        <p:spPr>
          <a:xfrm>
            <a:off x="1079500" y="3080941"/>
            <a:ext cx="10373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Ako ventil propušta vodu, merač protoka mora pokazati protok. Bez dotoka i odvoda, nivo u rezervoaru ostaje praktično nepromenjen.</a:t>
            </a:r>
            <a:endParaRPr lang="en-US" sz="1200" dirty="0"/>
          </a:p>
        </p:txBody>
      </p:sp>
      <p:sp>
        <p:nvSpPr>
          <p:cNvPr id="13" name="Shape 11"/>
          <p:cNvSpPr/>
          <p:nvPr/>
        </p:nvSpPr>
        <p:spPr>
          <a:xfrm>
            <a:off x="812800" y="3726061"/>
            <a:ext cx="3416300" cy="1008261"/>
          </a:xfrm>
          <a:prstGeom prst="roundRect">
            <a:avLst>
              <a:gd name="adj" fmla="val 10077"/>
            </a:avLst>
          </a:prstGeom>
          <a:solidFill>
            <a:srgbClr val="DCE8F4"/>
          </a:solidFill>
          <a:ln/>
        </p:spPr>
      </p:sp>
      <p:sp>
        <p:nvSpPr>
          <p:cNvPr id="14" name="Text 12"/>
          <p:cNvSpPr/>
          <p:nvPr/>
        </p:nvSpPr>
        <p:spPr>
          <a:xfrm>
            <a:off x="990600" y="3878461"/>
            <a:ext cx="315252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Prednosti</a:t>
            </a:r>
            <a:endParaRPr lang="en-US" sz="1400" dirty="0"/>
          </a:p>
        </p:txBody>
      </p:sp>
      <p:sp>
        <p:nvSpPr>
          <p:cNvPr id="15" name="Text 13"/>
          <p:cNvSpPr/>
          <p:nvPr/>
        </p:nvSpPr>
        <p:spPr>
          <a:xfrm>
            <a:off x="990600" y="4142581"/>
            <a:ext cx="315252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Objašnjiv alarm, bez potrebe za primerima napada i bez obuke na velikom skupu.</a:t>
            </a:r>
            <a:endParaRPr lang="en-US" sz="1200" dirty="0"/>
          </a:p>
        </p:txBody>
      </p:sp>
      <p:sp>
        <p:nvSpPr>
          <p:cNvPr id="16" name="Shape 14"/>
          <p:cNvSpPr/>
          <p:nvPr/>
        </p:nvSpPr>
        <p:spPr>
          <a:xfrm>
            <a:off x="4381500" y="3726061"/>
            <a:ext cx="3416300" cy="1008261"/>
          </a:xfrm>
          <a:prstGeom prst="roundRect">
            <a:avLst>
              <a:gd name="adj" fmla="val 10077"/>
            </a:avLst>
          </a:prstGeom>
          <a:solidFill>
            <a:srgbClr val="FBF1E6"/>
          </a:solidFill>
          <a:ln/>
        </p:spPr>
      </p:sp>
      <p:sp>
        <p:nvSpPr>
          <p:cNvPr id="17" name="Text 15"/>
          <p:cNvSpPr/>
          <p:nvPr/>
        </p:nvSpPr>
        <p:spPr>
          <a:xfrm>
            <a:off x="4559300" y="3878461"/>
            <a:ext cx="315252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Ograničenja</a:t>
            </a:r>
            <a:endParaRPr lang="en-US" sz="1400" dirty="0"/>
          </a:p>
        </p:txBody>
      </p:sp>
      <p:sp>
        <p:nvSpPr>
          <p:cNvPr id="18" name="Text 16"/>
          <p:cNvSpPr/>
          <p:nvPr/>
        </p:nvSpPr>
        <p:spPr>
          <a:xfrm>
            <a:off x="4559300" y="4142581"/>
            <a:ext cx="315252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Šum merenja i prelazni režimi zahtevaju toleranciju ε i kašnjenje.</a:t>
            </a:r>
            <a:endParaRPr lang="en-US" sz="1200" dirty="0"/>
          </a:p>
        </p:txBody>
      </p:sp>
      <p:sp>
        <p:nvSpPr>
          <p:cNvPr id="19" name="Shape 17"/>
          <p:cNvSpPr/>
          <p:nvPr/>
        </p:nvSpPr>
        <p:spPr>
          <a:xfrm>
            <a:off x="7953375" y="3729236"/>
            <a:ext cx="3422650" cy="1001911"/>
          </a:xfrm>
          <a:prstGeom prst="roundRect">
            <a:avLst>
              <a:gd name="adj" fmla="val 9824"/>
            </a:avLst>
          </a:prstGeom>
          <a:solidFill>
            <a:srgbClr val="FCFCFB"/>
          </a:solidFill>
          <a:ln w="6350">
            <a:solidFill>
              <a:srgbClr val="D3DAE1"/>
            </a:solidFill>
            <a:prstDash val="solid"/>
          </a:ln>
        </p:spPr>
      </p:sp>
      <p:sp>
        <p:nvSpPr>
          <p:cNvPr id="20" name="Text 18"/>
          <p:cNvSpPr/>
          <p:nvPr/>
        </p:nvSpPr>
        <p:spPr>
          <a:xfrm>
            <a:off x="8134350" y="3884811"/>
            <a:ext cx="315252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Izvori invarijanti</a:t>
            </a:r>
            <a:endParaRPr lang="en-US" sz="1400" dirty="0"/>
          </a:p>
        </p:txBody>
      </p:sp>
      <p:sp>
        <p:nvSpPr>
          <p:cNvPr id="21" name="Text 19"/>
          <p:cNvSpPr/>
          <p:nvPr/>
        </p:nvSpPr>
        <p:spPr>
          <a:xfrm>
            <a:off x="8134350" y="4148931"/>
            <a:ext cx="315252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Projektna dokumentacija, fizički model ili rudarenje pravila iz podataka.</a:t>
            </a:r>
            <a:endParaRPr lang="en-US" sz="1200" dirty="0"/>
          </a:p>
        </p:txBody>
      </p:sp>
      <p:sp>
        <p:nvSpPr>
          <p:cNvPr id="22" name="Shape 20"/>
          <p:cNvSpPr/>
          <p:nvPr/>
        </p:nvSpPr>
        <p:spPr>
          <a:xfrm>
            <a:off x="812800" y="6209705"/>
            <a:ext cx="10566400" cy="0"/>
          </a:xfrm>
          <a:prstGeom prst="line">
            <a:avLst/>
          </a:prstGeom>
          <a:noFill/>
          <a:ln w="6350">
            <a:solidFill>
              <a:srgbClr val="D3DAE1"/>
            </a:solidFill>
            <a:prstDash val="solid"/>
          </a:ln>
        </p:spPr>
      </p:sp>
      <p:sp>
        <p:nvSpPr>
          <p:cNvPr id="23" name="Text 21"/>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24" name="Text 2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ANALIZA PODATAKA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Metrike za vrednovanje detekcije</a:t>
            </a:r>
            <a:endParaRPr lang="en-US" sz="3000" dirty="0"/>
          </a:p>
        </p:txBody>
      </p:sp>
      <p:sp>
        <p:nvSpPr>
          <p:cNvPr id="5" name="Text 3"/>
          <p:cNvSpPr/>
          <p:nvPr/>
        </p:nvSpPr>
        <p:spPr>
          <a:xfrm>
            <a:off x="787400" y="1724620"/>
            <a:ext cx="1320800" cy="6451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Stvarno: napad</a:t>
            </a:r>
            <a:endParaRPr lang="en-US" sz="1200" dirty="0"/>
          </a:p>
        </p:txBody>
      </p:sp>
      <p:sp>
        <p:nvSpPr>
          <p:cNvPr id="6" name="Text 4"/>
          <p:cNvSpPr/>
          <p:nvPr/>
        </p:nvSpPr>
        <p:spPr>
          <a:xfrm>
            <a:off x="2130616" y="1724620"/>
            <a:ext cx="1949069" cy="6451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Stvarno: normalno</a:t>
            </a:r>
            <a:endParaRPr lang="en-US" sz="1200" dirty="0"/>
          </a:p>
        </p:txBody>
      </p:sp>
      <p:sp>
        <p:nvSpPr>
          <p:cNvPr id="7" name="Text 5"/>
          <p:cNvSpPr/>
          <p:nvPr/>
        </p:nvSpPr>
        <p:spPr>
          <a:xfrm>
            <a:off x="4127500" y="1927820"/>
            <a:ext cx="194906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Alarm</a:t>
            </a:r>
            <a:endParaRPr lang="en-US" sz="1200" dirty="0"/>
          </a:p>
        </p:txBody>
      </p:sp>
      <p:sp>
        <p:nvSpPr>
          <p:cNvPr id="8" name="Shape 6"/>
          <p:cNvSpPr/>
          <p:nvPr/>
        </p:nvSpPr>
        <p:spPr>
          <a:xfrm>
            <a:off x="812800" y="2471341"/>
            <a:ext cx="1270000" cy="914301"/>
          </a:xfrm>
          <a:prstGeom prst="roundRect">
            <a:avLst>
              <a:gd name="adj" fmla="val 8334"/>
            </a:avLst>
          </a:prstGeom>
          <a:solidFill>
            <a:srgbClr val="0A5CA8"/>
          </a:solidFill>
          <a:ln/>
        </p:spPr>
      </p:sp>
      <p:sp>
        <p:nvSpPr>
          <p:cNvPr id="9" name="Text 7"/>
          <p:cNvSpPr/>
          <p:nvPr/>
        </p:nvSpPr>
        <p:spPr>
          <a:xfrm>
            <a:off x="1283146" y="2649141"/>
            <a:ext cx="329208" cy="34538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F6F7F5"/>
                </a:solidFill>
                <a:latin typeface="IBM Plex Mono" pitchFamily="49" charset="0"/>
                <a:ea typeface="IBM Plex Mono" pitchFamily="49" charset="-122"/>
                <a:cs typeface="IBM Plex Mono" pitchFamily="49" charset="-120"/>
              </a:rPr>
              <a:t>TP</a:t>
            </a:r>
            <a:endParaRPr lang="en-US" sz="1800" dirty="0"/>
          </a:p>
        </p:txBody>
      </p:sp>
      <p:sp>
        <p:nvSpPr>
          <p:cNvPr id="10" name="Text 8"/>
          <p:cNvSpPr/>
          <p:nvPr/>
        </p:nvSpPr>
        <p:spPr>
          <a:xfrm>
            <a:off x="836186" y="2994521"/>
            <a:ext cx="122312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CE8F4"/>
                </a:solidFill>
                <a:latin typeface="IBM Plex Sans" pitchFamily="34" charset="0"/>
                <a:ea typeface="IBM Plex Sans" pitchFamily="34" charset="-122"/>
                <a:cs typeface="IBM Plex Sans" pitchFamily="34" charset="-120"/>
              </a:rPr>
              <a:t>otkriven napad</a:t>
            </a:r>
            <a:endParaRPr lang="en-US" sz="1200" dirty="0"/>
          </a:p>
        </p:txBody>
      </p:sp>
      <p:sp>
        <p:nvSpPr>
          <p:cNvPr id="11" name="Shape 9"/>
          <p:cNvSpPr/>
          <p:nvPr/>
        </p:nvSpPr>
        <p:spPr>
          <a:xfrm>
            <a:off x="2165350" y="2477691"/>
            <a:ext cx="1879600" cy="901601"/>
          </a:xfrm>
          <a:prstGeom prst="roundRect">
            <a:avLst>
              <a:gd name="adj" fmla="val 7747"/>
            </a:avLst>
          </a:prstGeom>
          <a:solidFill>
            <a:srgbClr val="FBF1E6"/>
          </a:solidFill>
          <a:ln w="12700">
            <a:solidFill>
              <a:srgbClr val="E07B1F"/>
            </a:solidFill>
            <a:prstDash val="solid"/>
          </a:ln>
        </p:spPr>
      </p:sp>
      <p:sp>
        <p:nvSpPr>
          <p:cNvPr id="12" name="Text 10"/>
          <p:cNvSpPr/>
          <p:nvPr/>
        </p:nvSpPr>
        <p:spPr>
          <a:xfrm>
            <a:off x="2940496" y="2649141"/>
            <a:ext cx="329208" cy="34538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A8520A"/>
                </a:solidFill>
                <a:latin typeface="IBM Plex Mono" pitchFamily="49" charset="0"/>
                <a:ea typeface="IBM Plex Mono" pitchFamily="49" charset="-122"/>
                <a:cs typeface="IBM Plex Mono" pitchFamily="49" charset="-120"/>
              </a:rPr>
              <a:t>FP</a:t>
            </a:r>
            <a:endParaRPr lang="en-US" sz="1800" dirty="0"/>
          </a:p>
        </p:txBody>
      </p:sp>
      <p:sp>
        <p:nvSpPr>
          <p:cNvPr id="13" name="Text 11"/>
          <p:cNvSpPr/>
          <p:nvPr/>
        </p:nvSpPr>
        <p:spPr>
          <a:xfrm>
            <a:off x="2656651" y="2994521"/>
            <a:ext cx="89689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lažni alarm</a:t>
            </a:r>
            <a:endParaRPr lang="en-US" sz="1200" dirty="0"/>
          </a:p>
        </p:txBody>
      </p:sp>
      <p:sp>
        <p:nvSpPr>
          <p:cNvPr id="14" name="Text 12"/>
          <p:cNvSpPr/>
          <p:nvPr/>
        </p:nvSpPr>
        <p:spPr>
          <a:xfrm>
            <a:off x="4127500" y="2725341"/>
            <a:ext cx="1949069" cy="43170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Bez alarma</a:t>
            </a:r>
            <a:endParaRPr lang="en-US" sz="1200" dirty="0"/>
          </a:p>
        </p:txBody>
      </p:sp>
      <p:sp>
        <p:nvSpPr>
          <p:cNvPr id="15" name="Shape 13"/>
          <p:cNvSpPr/>
          <p:nvPr/>
        </p:nvSpPr>
        <p:spPr>
          <a:xfrm>
            <a:off x="819150" y="3468191"/>
            <a:ext cx="1257300" cy="1114921"/>
          </a:xfrm>
          <a:prstGeom prst="roundRect">
            <a:avLst>
              <a:gd name="adj" fmla="val 6265"/>
            </a:avLst>
          </a:prstGeom>
          <a:solidFill>
            <a:srgbClr val="FBF1E6"/>
          </a:solidFill>
          <a:ln w="12700">
            <a:solidFill>
              <a:srgbClr val="E07B1F"/>
            </a:solidFill>
            <a:prstDash val="solid"/>
          </a:ln>
        </p:spPr>
      </p:sp>
      <p:sp>
        <p:nvSpPr>
          <p:cNvPr id="16" name="Text 14"/>
          <p:cNvSpPr/>
          <p:nvPr/>
        </p:nvSpPr>
        <p:spPr>
          <a:xfrm>
            <a:off x="1283146" y="3639641"/>
            <a:ext cx="329208" cy="34538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A8520A"/>
                </a:solidFill>
                <a:latin typeface="IBM Plex Mono" pitchFamily="49" charset="0"/>
                <a:ea typeface="IBM Plex Mono" pitchFamily="49" charset="-122"/>
                <a:cs typeface="IBM Plex Mono" pitchFamily="49" charset="-120"/>
              </a:rPr>
              <a:t>FN</a:t>
            </a:r>
            <a:endParaRPr lang="en-US" sz="1800" dirty="0"/>
          </a:p>
        </p:txBody>
      </p:sp>
      <p:sp>
        <p:nvSpPr>
          <p:cNvPr id="17" name="Text 15"/>
          <p:cNvSpPr/>
          <p:nvPr/>
        </p:nvSpPr>
        <p:spPr>
          <a:xfrm>
            <a:off x="927100" y="3985022"/>
            <a:ext cx="1092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propušten napad</a:t>
            </a:r>
            <a:endParaRPr lang="en-US" sz="1200" dirty="0"/>
          </a:p>
        </p:txBody>
      </p:sp>
      <p:sp>
        <p:nvSpPr>
          <p:cNvPr id="18" name="Shape 16"/>
          <p:cNvSpPr/>
          <p:nvPr/>
        </p:nvSpPr>
        <p:spPr>
          <a:xfrm>
            <a:off x="2159000" y="3461841"/>
            <a:ext cx="1892300" cy="1127621"/>
          </a:xfrm>
          <a:prstGeom prst="roundRect">
            <a:avLst>
              <a:gd name="adj" fmla="val 6758"/>
            </a:avLst>
          </a:prstGeom>
          <a:solidFill>
            <a:srgbClr val="DCE8F4"/>
          </a:solidFill>
          <a:ln/>
        </p:spPr>
      </p:sp>
      <p:sp>
        <p:nvSpPr>
          <p:cNvPr id="19" name="Text 17"/>
          <p:cNvSpPr/>
          <p:nvPr/>
        </p:nvSpPr>
        <p:spPr>
          <a:xfrm>
            <a:off x="2940496" y="3746302"/>
            <a:ext cx="329208" cy="34538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0A5CA8"/>
                </a:solidFill>
                <a:latin typeface="IBM Plex Mono" pitchFamily="49" charset="0"/>
                <a:ea typeface="IBM Plex Mono" pitchFamily="49" charset="-122"/>
                <a:cs typeface="IBM Plex Mono" pitchFamily="49" charset="-120"/>
              </a:rPr>
              <a:t>TN</a:t>
            </a:r>
            <a:endParaRPr lang="en-US" sz="1800" dirty="0"/>
          </a:p>
        </p:txBody>
      </p:sp>
      <p:sp>
        <p:nvSpPr>
          <p:cNvPr id="20" name="Text 18"/>
          <p:cNvSpPr/>
          <p:nvPr/>
        </p:nvSpPr>
        <p:spPr>
          <a:xfrm>
            <a:off x="2282190" y="4091682"/>
            <a:ext cx="164592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ispravno bez alarma</a:t>
            </a:r>
            <a:endParaRPr lang="en-US" sz="1200" dirty="0"/>
          </a:p>
        </p:txBody>
      </p:sp>
      <p:sp>
        <p:nvSpPr>
          <p:cNvPr id="21" name="Text 19"/>
          <p:cNvSpPr/>
          <p:nvPr/>
        </p:nvSpPr>
        <p:spPr>
          <a:xfrm>
            <a:off x="6375400" y="228084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Preciznost</a:t>
            </a:r>
            <a:endParaRPr lang="en-US" sz="1200" dirty="0"/>
          </a:p>
        </p:txBody>
      </p:sp>
      <p:sp>
        <p:nvSpPr>
          <p:cNvPr id="22" name="Text 20"/>
          <p:cNvSpPr/>
          <p:nvPr/>
        </p:nvSpPr>
        <p:spPr>
          <a:xfrm>
            <a:off x="7747000" y="2209701"/>
            <a:ext cx="464582" cy="381000"/>
          </a:xfrm>
          <a:prstGeom prst="rect">
            <a:avLst/>
          </a:prstGeom>
          <a:noFill/>
          <a:ln/>
        </p:spPr>
        <p:txBody>
          <a:bodyPr wrap="square" lIns="0" tIns="0" rIns="0" bIns="0" rtlCol="0" anchor="t">
            <a:normAutofit/>
          </a:bodyPr>
          <a:lstStyle/>
          <a:p>
            <a:pPr algn="l" indent="0" marL="0">
              <a:lnSpc>
                <a:spcPts val="2800"/>
              </a:lnSpc>
              <a:buNone/>
            </a:pPr>
            <a:r>
              <a:rPr lang="en-US" sz="2000" i="1" dirty="0">
                <a:solidFill>
                  <a:srgbClr val="13202D"/>
                </a:solidFill>
                <a:latin typeface="STIX Two Text" pitchFamily="18" charset="0"/>
                <a:ea typeface="STIX Two Text" pitchFamily="18" charset="-122"/>
                <a:cs typeface="STIX Two Text" pitchFamily="18" charset="-120"/>
              </a:rPr>
              <a:t>P</a:t>
            </a:r>
            <a:r>
              <a:rPr lang="en-US" sz="2000" dirty="0">
                <a:solidFill>
                  <a:srgbClr val="13202D"/>
                </a:solidFill>
                <a:latin typeface="STIX Two Text" pitchFamily="18" charset="0"/>
                <a:ea typeface="STIX Two Text" pitchFamily="18" charset="-122"/>
                <a:cs typeface="STIX Two Text" pitchFamily="18" charset="-120"/>
              </a:rPr>
              <a:t> =</a:t>
            </a:r>
            <a:endParaRPr lang="en-US" sz="2000" dirty="0"/>
          </a:p>
        </p:txBody>
      </p:sp>
      <p:sp>
        <p:nvSpPr>
          <p:cNvPr id="23" name="Text 21"/>
          <p:cNvSpPr/>
          <p:nvPr/>
        </p:nvSpPr>
        <p:spPr>
          <a:xfrm>
            <a:off x="8623498" y="2104330"/>
            <a:ext cx="303907" cy="273645"/>
          </a:xfrm>
          <a:prstGeom prst="rect">
            <a:avLst/>
          </a:prstGeom>
          <a:noFill/>
          <a:ln/>
        </p:spPr>
        <p:txBody>
          <a:bodyPr wrap="square" lIns="0" tIns="0" rIns="0" bIns="0" rtlCol="0" anchor="t">
            <a:normAutofit/>
          </a:bodyPr>
          <a:lstStyle/>
          <a:p>
            <a:pPr algn="ctr" indent="0" marL="0">
              <a:lnSpc>
                <a:spcPts val="1955"/>
              </a:lnSpc>
              <a:buNone/>
            </a:pPr>
            <a:r>
              <a:rPr lang="en-US" sz="1700" dirty="0">
                <a:solidFill>
                  <a:srgbClr val="13202D"/>
                </a:solidFill>
                <a:latin typeface="STIX Two Text" pitchFamily="18" charset="0"/>
                <a:ea typeface="STIX Two Text" pitchFamily="18" charset="-122"/>
                <a:cs typeface="STIX Two Text" pitchFamily="18" charset="-120"/>
              </a:rPr>
              <a:t>TP</a:t>
            </a:r>
            <a:endParaRPr lang="en-US" sz="1700" dirty="0"/>
          </a:p>
        </p:txBody>
      </p:sp>
      <p:sp>
        <p:nvSpPr>
          <p:cNvPr id="24" name="Shape 22"/>
          <p:cNvSpPr/>
          <p:nvPr/>
        </p:nvSpPr>
        <p:spPr>
          <a:xfrm>
            <a:off x="8235752" y="2377976"/>
            <a:ext cx="1079500" cy="19050"/>
          </a:xfrm>
          <a:prstGeom prst="rect">
            <a:avLst/>
          </a:prstGeom>
          <a:solidFill>
            <a:srgbClr val="13202D"/>
          </a:solidFill>
          <a:ln/>
        </p:spPr>
      </p:sp>
      <p:sp>
        <p:nvSpPr>
          <p:cNvPr id="25" name="Text 23"/>
          <p:cNvSpPr/>
          <p:nvPr/>
        </p:nvSpPr>
        <p:spPr>
          <a:xfrm>
            <a:off x="8319611" y="2422426"/>
            <a:ext cx="911781" cy="273645"/>
          </a:xfrm>
          <a:prstGeom prst="rect">
            <a:avLst/>
          </a:prstGeom>
          <a:noFill/>
          <a:ln/>
        </p:spPr>
        <p:txBody>
          <a:bodyPr wrap="square" lIns="0" tIns="0" rIns="0" bIns="0" rtlCol="0" anchor="t">
            <a:normAutofit/>
          </a:bodyPr>
          <a:lstStyle/>
          <a:p>
            <a:pPr algn="ctr" indent="0" marL="0">
              <a:lnSpc>
                <a:spcPts val="1955"/>
              </a:lnSpc>
              <a:buNone/>
            </a:pPr>
            <a:r>
              <a:rPr lang="en-US" sz="1700" dirty="0">
                <a:solidFill>
                  <a:srgbClr val="13202D"/>
                </a:solidFill>
                <a:latin typeface="STIX Two Text" pitchFamily="18" charset="0"/>
                <a:ea typeface="STIX Two Text" pitchFamily="18" charset="-122"/>
                <a:cs typeface="STIX Two Text" pitchFamily="18" charset="-120"/>
              </a:rPr>
              <a:t>TP + FP</a:t>
            </a:r>
            <a:endParaRPr lang="en-US" sz="1700" dirty="0"/>
          </a:p>
        </p:txBody>
      </p:sp>
      <p:sp>
        <p:nvSpPr>
          <p:cNvPr id="26" name="Text 24"/>
          <p:cNvSpPr/>
          <p:nvPr/>
        </p:nvSpPr>
        <p:spPr>
          <a:xfrm>
            <a:off x="6375400" y="302498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Odziv</a:t>
            </a:r>
            <a:endParaRPr lang="en-US" sz="1200" dirty="0"/>
          </a:p>
        </p:txBody>
      </p:sp>
      <p:sp>
        <p:nvSpPr>
          <p:cNvPr id="27" name="Text 25"/>
          <p:cNvSpPr/>
          <p:nvPr/>
        </p:nvSpPr>
        <p:spPr>
          <a:xfrm>
            <a:off x="7747000" y="2953841"/>
            <a:ext cx="480179" cy="381000"/>
          </a:xfrm>
          <a:prstGeom prst="rect">
            <a:avLst/>
          </a:prstGeom>
          <a:noFill/>
          <a:ln/>
        </p:spPr>
        <p:txBody>
          <a:bodyPr wrap="square" lIns="0" tIns="0" rIns="0" bIns="0" rtlCol="0" anchor="t">
            <a:normAutofit/>
          </a:bodyPr>
          <a:lstStyle/>
          <a:p>
            <a:pPr algn="l" indent="0" marL="0">
              <a:lnSpc>
                <a:spcPts val="2800"/>
              </a:lnSpc>
              <a:buNone/>
            </a:pPr>
            <a:r>
              <a:rPr lang="en-US" sz="2000" i="1" dirty="0">
                <a:solidFill>
                  <a:srgbClr val="13202D"/>
                </a:solidFill>
                <a:latin typeface="STIX Two Text" pitchFamily="18" charset="0"/>
                <a:ea typeface="STIX Two Text" pitchFamily="18" charset="-122"/>
                <a:cs typeface="STIX Two Text" pitchFamily="18" charset="-120"/>
              </a:rPr>
              <a:t>R</a:t>
            </a:r>
            <a:r>
              <a:rPr lang="en-US" sz="2000" dirty="0">
                <a:solidFill>
                  <a:srgbClr val="13202D"/>
                </a:solidFill>
                <a:latin typeface="STIX Two Text" pitchFamily="18" charset="0"/>
                <a:ea typeface="STIX Two Text" pitchFamily="18" charset="-122"/>
                <a:cs typeface="STIX Two Text" pitchFamily="18" charset="-120"/>
              </a:rPr>
              <a:t> =</a:t>
            </a:r>
            <a:endParaRPr lang="en-US" sz="2000" dirty="0"/>
          </a:p>
        </p:txBody>
      </p:sp>
      <p:sp>
        <p:nvSpPr>
          <p:cNvPr id="28" name="Text 26"/>
          <p:cNvSpPr/>
          <p:nvPr/>
        </p:nvSpPr>
        <p:spPr>
          <a:xfrm>
            <a:off x="8636496" y="2848471"/>
            <a:ext cx="303907" cy="273645"/>
          </a:xfrm>
          <a:prstGeom prst="rect">
            <a:avLst/>
          </a:prstGeom>
          <a:noFill/>
          <a:ln/>
        </p:spPr>
        <p:txBody>
          <a:bodyPr wrap="square" lIns="0" tIns="0" rIns="0" bIns="0" rtlCol="0" anchor="t">
            <a:normAutofit/>
          </a:bodyPr>
          <a:lstStyle/>
          <a:p>
            <a:pPr algn="ctr" indent="0" marL="0">
              <a:lnSpc>
                <a:spcPts val="1955"/>
              </a:lnSpc>
              <a:buNone/>
            </a:pPr>
            <a:r>
              <a:rPr lang="en-US" sz="1700" dirty="0">
                <a:solidFill>
                  <a:srgbClr val="13202D"/>
                </a:solidFill>
                <a:latin typeface="STIX Two Text" pitchFamily="18" charset="0"/>
                <a:ea typeface="STIX Two Text" pitchFamily="18" charset="-122"/>
                <a:cs typeface="STIX Two Text" pitchFamily="18" charset="-120"/>
              </a:rPr>
              <a:t>TP</a:t>
            </a:r>
            <a:endParaRPr lang="en-US" sz="1700" dirty="0"/>
          </a:p>
        </p:txBody>
      </p:sp>
      <p:sp>
        <p:nvSpPr>
          <p:cNvPr id="29" name="Shape 27"/>
          <p:cNvSpPr/>
          <p:nvPr/>
        </p:nvSpPr>
        <p:spPr>
          <a:xfrm>
            <a:off x="8248749" y="3122116"/>
            <a:ext cx="1079500" cy="19050"/>
          </a:xfrm>
          <a:prstGeom prst="rect">
            <a:avLst/>
          </a:prstGeom>
          <a:solidFill>
            <a:srgbClr val="13202D"/>
          </a:solidFill>
          <a:ln/>
        </p:spPr>
      </p:sp>
      <p:sp>
        <p:nvSpPr>
          <p:cNvPr id="30" name="Text 28"/>
          <p:cNvSpPr/>
          <p:nvPr/>
        </p:nvSpPr>
        <p:spPr>
          <a:xfrm>
            <a:off x="8310225" y="3166566"/>
            <a:ext cx="956548" cy="273645"/>
          </a:xfrm>
          <a:prstGeom prst="rect">
            <a:avLst/>
          </a:prstGeom>
          <a:noFill/>
          <a:ln/>
        </p:spPr>
        <p:txBody>
          <a:bodyPr wrap="square" lIns="0" tIns="0" rIns="0" bIns="0" rtlCol="0" anchor="t">
            <a:normAutofit/>
          </a:bodyPr>
          <a:lstStyle/>
          <a:p>
            <a:pPr algn="ctr" indent="0" marL="0">
              <a:lnSpc>
                <a:spcPts val="1955"/>
              </a:lnSpc>
              <a:buNone/>
            </a:pPr>
            <a:r>
              <a:rPr lang="en-US" sz="1700" dirty="0">
                <a:solidFill>
                  <a:srgbClr val="13202D"/>
                </a:solidFill>
                <a:latin typeface="STIX Two Text" pitchFamily="18" charset="0"/>
                <a:ea typeface="STIX Two Text" pitchFamily="18" charset="-122"/>
                <a:cs typeface="STIX Two Text" pitchFamily="18" charset="-120"/>
              </a:rPr>
              <a:t>TP + FN</a:t>
            </a:r>
            <a:endParaRPr lang="en-US" sz="1700" dirty="0"/>
          </a:p>
        </p:txBody>
      </p:sp>
      <p:sp>
        <p:nvSpPr>
          <p:cNvPr id="31" name="Text 29"/>
          <p:cNvSpPr/>
          <p:nvPr/>
        </p:nvSpPr>
        <p:spPr>
          <a:xfrm>
            <a:off x="6375400" y="3769122"/>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F1 mera</a:t>
            </a:r>
            <a:endParaRPr lang="en-US" sz="1200" dirty="0"/>
          </a:p>
        </p:txBody>
      </p:sp>
      <p:sp>
        <p:nvSpPr>
          <p:cNvPr id="32" name="Text 30"/>
          <p:cNvSpPr/>
          <p:nvPr/>
        </p:nvSpPr>
        <p:spPr>
          <a:xfrm>
            <a:off x="7747000" y="3697982"/>
            <a:ext cx="619323" cy="381000"/>
          </a:xfrm>
          <a:prstGeom prst="rect">
            <a:avLst/>
          </a:prstGeom>
          <a:noFill/>
          <a:ln/>
        </p:spPr>
        <p:txBody>
          <a:bodyPr wrap="square" lIns="0" tIns="0" rIns="0" bIns="0" rtlCol="0" anchor="t">
            <a:normAutofit/>
          </a:bodyPr>
          <a:lstStyle/>
          <a:p>
            <a:pPr algn="l" indent="0" marL="0">
              <a:lnSpc>
                <a:spcPts val="2800"/>
              </a:lnSpc>
              <a:buNone/>
            </a:pPr>
            <a:r>
              <a:rPr lang="en-US" sz="2000" i="1" dirty="0">
                <a:solidFill>
                  <a:srgbClr val="13202D"/>
                </a:solidFill>
                <a:latin typeface="STIX Two Text" pitchFamily="18" charset="0"/>
                <a:ea typeface="STIX Two Text" pitchFamily="18" charset="-122"/>
                <a:cs typeface="STIX Two Text" pitchFamily="18" charset="-120"/>
              </a:rPr>
              <a:t>F</a:t>
            </a:r>
            <a:r>
              <a:rPr lang="en-US" sz="2000" dirty="0">
                <a:solidFill>
                  <a:srgbClr val="13202D"/>
                </a:solidFill>
                <a:latin typeface="STIX Two Text" pitchFamily="18" charset="0"/>
                <a:ea typeface="STIX Two Text" pitchFamily="18" charset="-122"/>
                <a:cs typeface="STIX Two Text" pitchFamily="18" charset="-120"/>
              </a:rPr>
              <a:t>₁ =</a:t>
            </a:r>
            <a:endParaRPr lang="en-US" sz="2000" dirty="0"/>
          </a:p>
        </p:txBody>
      </p:sp>
      <p:sp>
        <p:nvSpPr>
          <p:cNvPr id="33" name="Text 31"/>
          <p:cNvSpPr/>
          <p:nvPr/>
        </p:nvSpPr>
        <p:spPr>
          <a:xfrm>
            <a:off x="8501301" y="3592612"/>
            <a:ext cx="555546" cy="273645"/>
          </a:xfrm>
          <a:prstGeom prst="rect">
            <a:avLst/>
          </a:prstGeom>
          <a:noFill/>
          <a:ln/>
        </p:spPr>
        <p:txBody>
          <a:bodyPr wrap="square" lIns="0" tIns="0" rIns="0" bIns="0" rtlCol="0" anchor="t">
            <a:normAutofit/>
          </a:bodyPr>
          <a:lstStyle/>
          <a:p>
            <a:pPr algn="ctr" indent="0" marL="0">
              <a:lnSpc>
                <a:spcPts val="1955"/>
              </a:lnSpc>
              <a:buNone/>
            </a:pPr>
            <a:r>
              <a:rPr lang="en-US" sz="1700" dirty="0">
                <a:solidFill>
                  <a:srgbClr val="13202D"/>
                </a:solidFill>
                <a:latin typeface="STIX Two Text" pitchFamily="18" charset="0"/>
                <a:ea typeface="STIX Two Text" pitchFamily="18" charset="-122"/>
                <a:cs typeface="STIX Two Text" pitchFamily="18" charset="-120"/>
              </a:rPr>
              <a:t>2 </a:t>
            </a:r>
            <a:r>
              <a:rPr lang="en-US" sz="1700" i="1" dirty="0">
                <a:solidFill>
                  <a:srgbClr val="13202D"/>
                </a:solidFill>
                <a:latin typeface="STIX Two Text" pitchFamily="18" charset="0"/>
                <a:ea typeface="STIX Two Text" pitchFamily="18" charset="-122"/>
                <a:cs typeface="STIX Two Text" pitchFamily="18" charset="-120"/>
              </a:rPr>
              <a:t>P R</a:t>
            </a:r>
            <a:endParaRPr lang="en-US" sz="1700" dirty="0"/>
          </a:p>
        </p:txBody>
      </p:sp>
      <p:sp>
        <p:nvSpPr>
          <p:cNvPr id="34" name="Shape 32"/>
          <p:cNvSpPr/>
          <p:nvPr/>
        </p:nvSpPr>
        <p:spPr>
          <a:xfrm>
            <a:off x="8366323" y="3866257"/>
            <a:ext cx="825500" cy="19050"/>
          </a:xfrm>
          <a:prstGeom prst="rect">
            <a:avLst/>
          </a:prstGeom>
          <a:solidFill>
            <a:srgbClr val="13202D"/>
          </a:solidFill>
          <a:ln/>
        </p:spPr>
      </p:sp>
      <p:sp>
        <p:nvSpPr>
          <p:cNvPr id="35" name="Text 33"/>
          <p:cNvSpPr/>
          <p:nvPr/>
        </p:nvSpPr>
        <p:spPr>
          <a:xfrm>
            <a:off x="8470711" y="3910707"/>
            <a:ext cx="616625" cy="273645"/>
          </a:xfrm>
          <a:prstGeom prst="rect">
            <a:avLst/>
          </a:prstGeom>
          <a:noFill/>
          <a:ln/>
        </p:spPr>
        <p:txBody>
          <a:bodyPr wrap="square" lIns="0" tIns="0" rIns="0" bIns="0" rtlCol="0" anchor="t">
            <a:normAutofit/>
          </a:bodyPr>
          <a:lstStyle/>
          <a:p>
            <a:pPr algn="ctr" indent="0" marL="0">
              <a:lnSpc>
                <a:spcPts val="1955"/>
              </a:lnSpc>
              <a:buNone/>
            </a:pPr>
            <a:r>
              <a:rPr lang="en-US" sz="1700" i="1" dirty="0">
                <a:solidFill>
                  <a:srgbClr val="13202D"/>
                </a:solidFill>
                <a:latin typeface="STIX Two Text" pitchFamily="18" charset="0"/>
                <a:ea typeface="STIX Two Text" pitchFamily="18" charset="-122"/>
                <a:cs typeface="STIX Two Text" pitchFamily="18" charset="-120"/>
              </a:rPr>
              <a:t>P</a:t>
            </a:r>
            <a:r>
              <a:rPr lang="en-US" sz="1700" dirty="0">
                <a:solidFill>
                  <a:srgbClr val="13202D"/>
                </a:solidFill>
                <a:latin typeface="STIX Two Text" pitchFamily="18" charset="0"/>
                <a:ea typeface="STIX Two Text" pitchFamily="18" charset="-122"/>
                <a:cs typeface="STIX Two Text" pitchFamily="18" charset="-120"/>
              </a:rPr>
              <a:t> + </a:t>
            </a:r>
            <a:r>
              <a:rPr lang="en-US" sz="1700" i="1" dirty="0">
                <a:solidFill>
                  <a:srgbClr val="13202D"/>
                </a:solidFill>
                <a:latin typeface="STIX Two Text" pitchFamily="18" charset="0"/>
                <a:ea typeface="STIX Two Text" pitchFamily="18" charset="-122"/>
                <a:cs typeface="STIX Two Text" pitchFamily="18" charset="-120"/>
              </a:rPr>
              <a:t>R</a:t>
            </a:r>
            <a:endParaRPr lang="en-US" sz="1700" dirty="0"/>
          </a:p>
        </p:txBody>
      </p:sp>
      <p:sp>
        <p:nvSpPr>
          <p:cNvPr id="36" name="Shape 34"/>
          <p:cNvSpPr/>
          <p:nvPr/>
        </p:nvSpPr>
        <p:spPr>
          <a:xfrm>
            <a:off x="812800" y="6209705"/>
            <a:ext cx="10566400" cy="0"/>
          </a:xfrm>
          <a:prstGeom prst="line">
            <a:avLst/>
          </a:prstGeom>
          <a:noFill/>
          <a:ln w="6350">
            <a:solidFill>
              <a:srgbClr val="D3DAE1"/>
            </a:solidFill>
            <a:prstDash val="solid"/>
          </a:ln>
        </p:spPr>
      </p:sp>
      <p:sp>
        <p:nvSpPr>
          <p:cNvPr id="37" name="Text 35"/>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38" name="Text 3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ANALIZA PODATAKA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Česte zamke pri vrednovanju</a:t>
            </a:r>
            <a:endParaRPr lang="en-US" sz="3000" dirty="0"/>
          </a:p>
        </p:txBody>
      </p:sp>
      <p:sp>
        <p:nvSpPr>
          <p:cNvPr id="5" name="Shape 3"/>
          <p:cNvSpPr/>
          <p:nvPr/>
        </p:nvSpPr>
        <p:spPr>
          <a:xfrm>
            <a:off x="815975" y="1676995"/>
            <a:ext cx="3414117" cy="1253331"/>
          </a:xfrm>
          <a:prstGeom prst="roundRect">
            <a:avLst>
              <a:gd name="adj" fmla="val 7853"/>
            </a:avLst>
          </a:prstGeom>
          <a:solidFill>
            <a:srgbClr val="FCFCFB"/>
          </a:solidFill>
          <a:ln w="6350">
            <a:solidFill>
              <a:srgbClr val="D3DAE1"/>
            </a:solidFill>
            <a:prstDash val="solid"/>
          </a:ln>
        </p:spPr>
      </p:sp>
      <p:sp>
        <p:nvSpPr>
          <p:cNvPr id="6" name="Text 4"/>
          <p:cNvSpPr/>
          <p:nvPr/>
        </p:nvSpPr>
        <p:spPr>
          <a:xfrm>
            <a:off x="1009650" y="1845270"/>
            <a:ext cx="31175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Neuravnotežene klase</a:t>
            </a:r>
            <a:endParaRPr lang="en-US" sz="1400" dirty="0"/>
          </a:p>
        </p:txBody>
      </p:sp>
      <p:sp>
        <p:nvSpPr>
          <p:cNvPr id="7" name="Text 5"/>
          <p:cNvSpPr/>
          <p:nvPr/>
        </p:nvSpPr>
        <p:spPr>
          <a:xfrm>
            <a:off x="1009650" y="2122091"/>
            <a:ext cx="31175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Napadi su mali deo zapisa, pa tačnost izgleda visoko i kada detektor ne radi ništa.</a:t>
            </a:r>
            <a:endParaRPr lang="en-US" sz="1200" dirty="0"/>
          </a:p>
        </p:txBody>
      </p:sp>
      <p:sp>
        <p:nvSpPr>
          <p:cNvPr id="8" name="Shape 6"/>
          <p:cNvSpPr/>
          <p:nvPr/>
        </p:nvSpPr>
        <p:spPr>
          <a:xfrm>
            <a:off x="4388842" y="1676995"/>
            <a:ext cx="3414216" cy="1253331"/>
          </a:xfrm>
          <a:prstGeom prst="roundRect">
            <a:avLst>
              <a:gd name="adj" fmla="val 7853"/>
            </a:avLst>
          </a:prstGeom>
          <a:solidFill>
            <a:srgbClr val="FCFCFB"/>
          </a:solidFill>
          <a:ln w="6350">
            <a:solidFill>
              <a:srgbClr val="D3DAE1"/>
            </a:solidFill>
            <a:prstDash val="solid"/>
          </a:ln>
        </p:spPr>
      </p:sp>
      <p:sp>
        <p:nvSpPr>
          <p:cNvPr id="9" name="Text 7"/>
          <p:cNvSpPr/>
          <p:nvPr/>
        </p:nvSpPr>
        <p:spPr>
          <a:xfrm>
            <a:off x="4582517" y="1845270"/>
            <a:ext cx="311767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Prilagođavanje tačaka</a:t>
            </a:r>
            <a:endParaRPr lang="en-US" sz="1400" dirty="0"/>
          </a:p>
        </p:txBody>
      </p:sp>
      <p:sp>
        <p:nvSpPr>
          <p:cNvPr id="10" name="Text 8"/>
          <p:cNvSpPr/>
          <p:nvPr/>
        </p:nvSpPr>
        <p:spPr>
          <a:xfrm>
            <a:off x="4582517" y="2122091"/>
            <a:ext cx="311767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Ako se ceo napad računa kao otkriven zbog jednog pogotka, F1 mera postaje nerealno visoka.</a:t>
            </a:r>
            <a:endParaRPr lang="en-US" sz="1200" dirty="0"/>
          </a:p>
        </p:txBody>
      </p:sp>
      <p:sp>
        <p:nvSpPr>
          <p:cNvPr id="11" name="Shape 9"/>
          <p:cNvSpPr/>
          <p:nvPr/>
        </p:nvSpPr>
        <p:spPr>
          <a:xfrm>
            <a:off x="7961809" y="1676995"/>
            <a:ext cx="3414216" cy="1253331"/>
          </a:xfrm>
          <a:prstGeom prst="roundRect">
            <a:avLst>
              <a:gd name="adj" fmla="val 7853"/>
            </a:avLst>
          </a:prstGeom>
          <a:solidFill>
            <a:srgbClr val="FCFCFB"/>
          </a:solidFill>
          <a:ln w="6350">
            <a:solidFill>
              <a:srgbClr val="D3DAE1"/>
            </a:solidFill>
            <a:prstDash val="solid"/>
          </a:ln>
        </p:spPr>
      </p:sp>
      <p:sp>
        <p:nvSpPr>
          <p:cNvPr id="12" name="Text 10"/>
          <p:cNvSpPr/>
          <p:nvPr/>
        </p:nvSpPr>
        <p:spPr>
          <a:xfrm>
            <a:off x="8155484" y="1845270"/>
            <a:ext cx="311767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Curenje podataka</a:t>
            </a:r>
            <a:endParaRPr lang="en-US" sz="1400" dirty="0"/>
          </a:p>
        </p:txBody>
      </p:sp>
      <p:sp>
        <p:nvSpPr>
          <p:cNvPr id="13" name="Text 11"/>
          <p:cNvSpPr/>
          <p:nvPr/>
        </p:nvSpPr>
        <p:spPr>
          <a:xfrm>
            <a:off x="8155484" y="2122091"/>
            <a:ext cx="311767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Slučajna podela vremenske serije ili normalizacija na celom skupu otkrivaju budućnost modelu.</a:t>
            </a:r>
            <a:endParaRPr lang="en-US" sz="1200" dirty="0"/>
          </a:p>
        </p:txBody>
      </p:sp>
      <p:sp>
        <p:nvSpPr>
          <p:cNvPr id="14" name="Shape 12"/>
          <p:cNvSpPr/>
          <p:nvPr/>
        </p:nvSpPr>
        <p:spPr>
          <a:xfrm>
            <a:off x="815975" y="3089077"/>
            <a:ext cx="3414117" cy="1040011"/>
          </a:xfrm>
          <a:prstGeom prst="roundRect">
            <a:avLst>
              <a:gd name="adj" fmla="val 9464"/>
            </a:avLst>
          </a:prstGeom>
          <a:solidFill>
            <a:srgbClr val="FCFCFB"/>
          </a:solidFill>
          <a:ln w="6350">
            <a:solidFill>
              <a:srgbClr val="D3DAE1"/>
            </a:solidFill>
            <a:prstDash val="solid"/>
          </a:ln>
        </p:spPr>
      </p:sp>
      <p:sp>
        <p:nvSpPr>
          <p:cNvPr id="15" name="Text 13"/>
          <p:cNvSpPr/>
          <p:nvPr/>
        </p:nvSpPr>
        <p:spPr>
          <a:xfrm>
            <a:off x="1009650" y="3257352"/>
            <a:ext cx="31175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Prag izabran na testu</a:t>
            </a:r>
            <a:endParaRPr lang="en-US" sz="1400" dirty="0"/>
          </a:p>
        </p:txBody>
      </p:sp>
      <p:sp>
        <p:nvSpPr>
          <p:cNvPr id="16" name="Text 14"/>
          <p:cNvSpPr/>
          <p:nvPr/>
        </p:nvSpPr>
        <p:spPr>
          <a:xfrm>
            <a:off x="1009650" y="3534172"/>
            <a:ext cx="31175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Prag podešen prema napadima iz test skupa daje optimistički rezultat.</a:t>
            </a:r>
            <a:endParaRPr lang="en-US" sz="1200" dirty="0"/>
          </a:p>
        </p:txBody>
      </p:sp>
      <p:sp>
        <p:nvSpPr>
          <p:cNvPr id="17" name="Shape 15"/>
          <p:cNvSpPr/>
          <p:nvPr/>
        </p:nvSpPr>
        <p:spPr>
          <a:xfrm>
            <a:off x="4388842" y="3089077"/>
            <a:ext cx="3414216" cy="1040011"/>
          </a:xfrm>
          <a:prstGeom prst="roundRect">
            <a:avLst>
              <a:gd name="adj" fmla="val 9464"/>
            </a:avLst>
          </a:prstGeom>
          <a:solidFill>
            <a:srgbClr val="FCFCFB"/>
          </a:solidFill>
          <a:ln w="6350">
            <a:solidFill>
              <a:srgbClr val="D3DAE1"/>
            </a:solidFill>
            <a:prstDash val="solid"/>
          </a:ln>
        </p:spPr>
      </p:sp>
      <p:sp>
        <p:nvSpPr>
          <p:cNvPr id="18" name="Text 16"/>
          <p:cNvSpPr/>
          <p:nvPr/>
        </p:nvSpPr>
        <p:spPr>
          <a:xfrm>
            <a:off x="4582517" y="3257352"/>
            <a:ext cx="311767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Zanemareno vreme</a:t>
            </a:r>
            <a:endParaRPr lang="en-US" sz="1400" dirty="0"/>
          </a:p>
        </p:txBody>
      </p:sp>
      <p:sp>
        <p:nvSpPr>
          <p:cNvPr id="19" name="Text 17"/>
          <p:cNvSpPr/>
          <p:nvPr/>
        </p:nvSpPr>
        <p:spPr>
          <a:xfrm>
            <a:off x="4582517" y="3534172"/>
            <a:ext cx="311767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Detekcija posle završetka napada nema praktičnu vrednost za operatera.</a:t>
            </a:r>
            <a:endParaRPr lang="en-US" sz="1200" dirty="0"/>
          </a:p>
        </p:txBody>
      </p:sp>
      <p:sp>
        <p:nvSpPr>
          <p:cNvPr id="20" name="Shape 18"/>
          <p:cNvSpPr/>
          <p:nvPr/>
        </p:nvSpPr>
        <p:spPr>
          <a:xfrm>
            <a:off x="7958634" y="3085902"/>
            <a:ext cx="3420566" cy="1046361"/>
          </a:xfrm>
          <a:prstGeom prst="roundRect">
            <a:avLst>
              <a:gd name="adj" fmla="val 9710"/>
            </a:avLst>
          </a:prstGeom>
          <a:solidFill>
            <a:srgbClr val="DCE8F4"/>
          </a:solidFill>
          <a:ln/>
        </p:spPr>
      </p:sp>
      <p:sp>
        <p:nvSpPr>
          <p:cNvPr id="21" name="Text 19"/>
          <p:cNvSpPr/>
          <p:nvPr/>
        </p:nvSpPr>
        <p:spPr>
          <a:xfrm>
            <a:off x="8149134" y="3251002"/>
            <a:ext cx="313075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Preporuka</a:t>
            </a:r>
            <a:endParaRPr lang="en-US" sz="1400" dirty="0"/>
          </a:p>
        </p:txBody>
      </p:sp>
      <p:sp>
        <p:nvSpPr>
          <p:cNvPr id="22" name="Text 20"/>
          <p:cNvSpPr/>
          <p:nvPr/>
        </p:nvSpPr>
        <p:spPr>
          <a:xfrm>
            <a:off x="8149134" y="3527822"/>
            <a:ext cx="313075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Izveštavati više metrika, vreme do detekcije i broj lažnih alarma po danu.</a:t>
            </a:r>
            <a:endParaRPr lang="en-US" sz="1200" dirty="0"/>
          </a:p>
        </p:txBody>
      </p:sp>
      <p:sp>
        <p:nvSpPr>
          <p:cNvPr id="23" name="Shape 21"/>
          <p:cNvSpPr/>
          <p:nvPr/>
        </p:nvSpPr>
        <p:spPr>
          <a:xfrm>
            <a:off x="812800" y="6209705"/>
            <a:ext cx="10566400" cy="0"/>
          </a:xfrm>
          <a:prstGeom prst="line">
            <a:avLst/>
          </a:prstGeom>
          <a:noFill/>
          <a:ln w="6350">
            <a:solidFill>
              <a:srgbClr val="D3DAE1"/>
            </a:solidFill>
            <a:prstDash val="solid"/>
          </a:ln>
        </p:spPr>
      </p:sp>
      <p:sp>
        <p:nvSpPr>
          <p:cNvPr id="24" name="Text 22"/>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25" name="Text 2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BF0F5"/>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0A5CA8"/>
                </a:solidFill>
                <a:latin typeface="IBM Plex Mono" pitchFamily="49" charset="0"/>
                <a:ea typeface="IBM Plex Mono" pitchFamily="49" charset="-122"/>
                <a:cs typeface="IBM Plex Mono" pitchFamily="49" charset="-120"/>
              </a:rPr>
              <a:t>03</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DEO TREĆI</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SWaT i HAI</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Dva ispitna postrojenja i njihovi skupovi podataka: građa, sadržaj, napadi, verzije i međusobno poređenje.</a:t>
            </a:r>
            <a:endParaRPr lang="en-US" sz="1400" dirty="0"/>
          </a:p>
        </p:txBody>
      </p:sp>
      <p:sp>
        <p:nvSpPr>
          <p:cNvPr id="6" name="Text 4"/>
          <p:cNvSpPr/>
          <p:nvPr/>
        </p:nvSpPr>
        <p:spPr>
          <a:xfrm>
            <a:off x="4270375" y="3915966"/>
            <a:ext cx="1449388"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Postrojenje SWaT</a:t>
            </a:r>
            <a:endParaRPr lang="en-US" sz="1200" dirty="0"/>
          </a:p>
        </p:txBody>
      </p:sp>
      <p:sp>
        <p:nvSpPr>
          <p:cNvPr id="7" name="Text 5"/>
          <p:cNvSpPr/>
          <p:nvPr/>
        </p:nvSpPr>
        <p:spPr>
          <a:xfrm>
            <a:off x="5802313" y="3915966"/>
            <a:ext cx="1030784"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Arhitektura</a:t>
            </a:r>
            <a:endParaRPr lang="en-US" sz="1200" dirty="0"/>
          </a:p>
        </p:txBody>
      </p:sp>
      <p:sp>
        <p:nvSpPr>
          <p:cNvPr id="8" name="Text 6"/>
          <p:cNvSpPr/>
          <p:nvPr/>
        </p:nvSpPr>
        <p:spPr>
          <a:xfrm>
            <a:off x="6915646" y="3915966"/>
            <a:ext cx="1277938"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Skup podataka</a:t>
            </a:r>
            <a:endParaRPr lang="en-US" sz="1200" dirty="0"/>
          </a:p>
        </p:txBody>
      </p:sp>
      <p:sp>
        <p:nvSpPr>
          <p:cNvPr id="9" name="Text 7"/>
          <p:cNvSpPr/>
          <p:nvPr/>
        </p:nvSpPr>
        <p:spPr>
          <a:xfrm>
            <a:off x="8276134" y="3915966"/>
            <a:ext cx="1653778"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Oznake promenljivih</a:t>
            </a:r>
            <a:endParaRPr lang="en-US" sz="1200" dirty="0"/>
          </a:p>
        </p:txBody>
      </p:sp>
      <p:sp>
        <p:nvSpPr>
          <p:cNvPr id="10" name="Text 8"/>
          <p:cNvSpPr/>
          <p:nvPr/>
        </p:nvSpPr>
        <p:spPr>
          <a:xfrm>
            <a:off x="4270375" y="4319786"/>
            <a:ext cx="745827"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Napadi</a:t>
            </a:r>
            <a:endParaRPr lang="en-US" sz="1200" dirty="0"/>
          </a:p>
        </p:txBody>
      </p:sp>
      <p:sp>
        <p:nvSpPr>
          <p:cNvPr id="11" name="Text 9"/>
          <p:cNvSpPr/>
          <p:nvPr/>
        </p:nvSpPr>
        <p:spPr>
          <a:xfrm>
            <a:off x="5098752" y="4319786"/>
            <a:ext cx="718840"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Verzije</a:t>
            </a:r>
            <a:endParaRPr lang="en-US" sz="1200" dirty="0"/>
          </a:p>
        </p:txBody>
      </p:sp>
      <p:sp>
        <p:nvSpPr>
          <p:cNvPr id="12" name="Text 10"/>
          <p:cNvSpPr/>
          <p:nvPr/>
        </p:nvSpPr>
        <p:spPr>
          <a:xfrm>
            <a:off x="5900142" y="4319786"/>
            <a:ext cx="1334691"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Postrojenje HAI</a:t>
            </a:r>
            <a:endParaRPr lang="en-US" sz="1200" dirty="0"/>
          </a:p>
        </p:txBody>
      </p:sp>
      <p:sp>
        <p:nvSpPr>
          <p:cNvPr id="13" name="Text 11"/>
          <p:cNvSpPr/>
          <p:nvPr/>
        </p:nvSpPr>
        <p:spPr>
          <a:xfrm>
            <a:off x="7317383" y="4319786"/>
            <a:ext cx="954782"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Poređenje</a:t>
            </a:r>
            <a:endParaRPr lang="en-US" sz="1200" dirty="0"/>
          </a:p>
        </p:txBody>
      </p:sp>
      <p:sp>
        <p:nvSpPr>
          <p:cNvPr id="14" name="Shape 12"/>
          <p:cNvSpPr/>
          <p:nvPr/>
        </p:nvSpPr>
        <p:spPr>
          <a:xfrm>
            <a:off x="812800" y="6209705"/>
            <a:ext cx="10566400" cy="0"/>
          </a:xfrm>
          <a:prstGeom prst="line">
            <a:avLst/>
          </a:prstGeom>
          <a:noFill/>
          <a:ln w="6350">
            <a:solidFill>
              <a:srgbClr val="C3CEDA"/>
            </a:solidFill>
            <a:prstDash val="solid"/>
          </a:ln>
        </p:spPr>
      </p:sp>
      <p:sp>
        <p:nvSpPr>
          <p:cNvPr id="15" name="Text 13"/>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16" name="Text 1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SWAT I HAI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Postrojenje SWaT: šest faza prečišćavanja</a:t>
            </a:r>
            <a:endParaRPr lang="en-US" sz="3000" dirty="0"/>
          </a:p>
        </p:txBody>
      </p:sp>
      <p:sp>
        <p:nvSpPr>
          <p:cNvPr id="5" name="Shape 3"/>
          <p:cNvSpPr/>
          <p:nvPr/>
        </p:nvSpPr>
        <p:spPr>
          <a:xfrm>
            <a:off x="819150" y="1680170"/>
            <a:ext cx="1765300" cy="1130300"/>
          </a:xfrm>
          <a:prstGeom prst="roundRect">
            <a:avLst>
              <a:gd name="adj" fmla="val 6180"/>
            </a:avLst>
          </a:prstGeom>
          <a:solidFill>
            <a:srgbClr val="FCFCFB"/>
          </a:solidFill>
          <a:ln w="12700">
            <a:solidFill>
              <a:srgbClr val="13202D"/>
            </a:solidFill>
            <a:prstDash val="solid"/>
          </a:ln>
        </p:spPr>
      </p:sp>
      <p:sp>
        <p:nvSpPr>
          <p:cNvPr id="6" name="Text 4"/>
          <p:cNvSpPr/>
          <p:nvPr/>
        </p:nvSpPr>
        <p:spPr>
          <a:xfrm>
            <a:off x="952500" y="1788120"/>
            <a:ext cx="15494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P1</a:t>
            </a:r>
            <a:endParaRPr lang="en-US" sz="1200" dirty="0"/>
          </a:p>
        </p:txBody>
      </p:sp>
      <p:sp>
        <p:nvSpPr>
          <p:cNvPr id="7" name="Text 5"/>
          <p:cNvSpPr/>
          <p:nvPr/>
        </p:nvSpPr>
        <p:spPr>
          <a:xfrm>
            <a:off x="952500" y="2026841"/>
            <a:ext cx="15494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Sirova voda</a:t>
            </a:r>
            <a:endParaRPr lang="en-US" sz="1300" dirty="0"/>
          </a:p>
        </p:txBody>
      </p:sp>
      <p:sp>
        <p:nvSpPr>
          <p:cNvPr id="8" name="Text 6"/>
          <p:cNvSpPr/>
          <p:nvPr/>
        </p:nvSpPr>
        <p:spPr>
          <a:xfrm>
            <a:off x="952500" y="2283321"/>
            <a:ext cx="15494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4505D"/>
                </a:solidFill>
                <a:latin typeface="IBM Plex Sans" pitchFamily="34" charset="0"/>
                <a:ea typeface="IBM Plex Sans" pitchFamily="34" charset="-122"/>
                <a:cs typeface="IBM Plex Sans" pitchFamily="34" charset="-120"/>
              </a:rPr>
              <a:t>Dotok i skladištenje</a:t>
            </a:r>
            <a:endParaRPr lang="en-US" sz="1200" dirty="0"/>
          </a:p>
        </p:txBody>
      </p:sp>
      <p:sp>
        <p:nvSpPr>
          <p:cNvPr id="9" name="Shape 7"/>
          <p:cNvSpPr/>
          <p:nvPr/>
        </p:nvSpPr>
        <p:spPr>
          <a:xfrm>
            <a:off x="3016250" y="1680170"/>
            <a:ext cx="1765300" cy="1130300"/>
          </a:xfrm>
          <a:prstGeom prst="roundRect">
            <a:avLst>
              <a:gd name="adj" fmla="val 6180"/>
            </a:avLst>
          </a:prstGeom>
          <a:solidFill>
            <a:srgbClr val="FCFCFB"/>
          </a:solidFill>
          <a:ln w="12700">
            <a:solidFill>
              <a:srgbClr val="13202D"/>
            </a:solidFill>
            <a:prstDash val="solid"/>
          </a:ln>
        </p:spPr>
      </p:sp>
      <p:sp>
        <p:nvSpPr>
          <p:cNvPr id="10" name="Text 8"/>
          <p:cNvSpPr/>
          <p:nvPr/>
        </p:nvSpPr>
        <p:spPr>
          <a:xfrm>
            <a:off x="3149600" y="1788120"/>
            <a:ext cx="15494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P2</a:t>
            </a:r>
            <a:endParaRPr lang="en-US" sz="1200" dirty="0"/>
          </a:p>
        </p:txBody>
      </p:sp>
      <p:sp>
        <p:nvSpPr>
          <p:cNvPr id="11" name="Text 9"/>
          <p:cNvSpPr/>
          <p:nvPr/>
        </p:nvSpPr>
        <p:spPr>
          <a:xfrm>
            <a:off x="3149600" y="2026841"/>
            <a:ext cx="15494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Predtretman</a:t>
            </a:r>
            <a:endParaRPr lang="en-US" sz="1300" dirty="0"/>
          </a:p>
        </p:txBody>
      </p:sp>
      <p:sp>
        <p:nvSpPr>
          <p:cNvPr id="12" name="Text 10"/>
          <p:cNvSpPr/>
          <p:nvPr/>
        </p:nvSpPr>
        <p:spPr>
          <a:xfrm>
            <a:off x="3149600" y="2283321"/>
            <a:ext cx="154940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4505D"/>
                </a:solidFill>
                <a:latin typeface="IBM Plex Sans" pitchFamily="34" charset="0"/>
                <a:ea typeface="IBM Plex Sans" pitchFamily="34" charset="-122"/>
                <a:cs typeface="IBM Plex Sans" pitchFamily="34" charset="-120"/>
              </a:rPr>
              <a:t>Hemijsko doziranje i analiza kvaliteta</a:t>
            </a:r>
            <a:endParaRPr lang="en-US" sz="1200" dirty="0"/>
          </a:p>
        </p:txBody>
      </p:sp>
      <p:sp>
        <p:nvSpPr>
          <p:cNvPr id="13" name="Shape 11"/>
          <p:cNvSpPr/>
          <p:nvPr/>
        </p:nvSpPr>
        <p:spPr>
          <a:xfrm>
            <a:off x="5213350" y="1680170"/>
            <a:ext cx="1765300" cy="1130300"/>
          </a:xfrm>
          <a:prstGeom prst="roundRect">
            <a:avLst>
              <a:gd name="adj" fmla="val 6180"/>
            </a:avLst>
          </a:prstGeom>
          <a:solidFill>
            <a:srgbClr val="DCE8F4"/>
          </a:solidFill>
          <a:ln w="12700">
            <a:solidFill>
              <a:srgbClr val="0A5CA8"/>
            </a:solidFill>
            <a:prstDash val="solid"/>
          </a:ln>
        </p:spPr>
      </p:sp>
      <p:sp>
        <p:nvSpPr>
          <p:cNvPr id="14" name="Text 12"/>
          <p:cNvSpPr/>
          <p:nvPr/>
        </p:nvSpPr>
        <p:spPr>
          <a:xfrm>
            <a:off x="5346700" y="1788120"/>
            <a:ext cx="15494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P3</a:t>
            </a:r>
            <a:endParaRPr lang="en-US" sz="1200" dirty="0"/>
          </a:p>
        </p:txBody>
      </p:sp>
      <p:sp>
        <p:nvSpPr>
          <p:cNvPr id="15" name="Text 13"/>
          <p:cNvSpPr/>
          <p:nvPr/>
        </p:nvSpPr>
        <p:spPr>
          <a:xfrm>
            <a:off x="5346700" y="2026841"/>
            <a:ext cx="15494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Ultrafiltracija</a:t>
            </a:r>
            <a:endParaRPr lang="en-US" sz="1300" dirty="0"/>
          </a:p>
        </p:txBody>
      </p:sp>
      <p:sp>
        <p:nvSpPr>
          <p:cNvPr id="16" name="Text 14"/>
          <p:cNvSpPr/>
          <p:nvPr/>
        </p:nvSpPr>
        <p:spPr>
          <a:xfrm>
            <a:off x="5346700" y="2283321"/>
            <a:ext cx="15748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4505D"/>
                </a:solidFill>
                <a:latin typeface="IBM Plex Sans" pitchFamily="34" charset="0"/>
                <a:ea typeface="IBM Plex Sans" pitchFamily="34" charset="-122"/>
                <a:cs typeface="IBM Plex Sans" pitchFamily="34" charset="-120"/>
              </a:rPr>
              <a:t>Membranska filtracija</a:t>
            </a:r>
            <a:endParaRPr lang="en-US" sz="1200" dirty="0"/>
          </a:p>
        </p:txBody>
      </p:sp>
      <p:sp>
        <p:nvSpPr>
          <p:cNvPr id="17" name="Shape 15"/>
          <p:cNvSpPr/>
          <p:nvPr/>
        </p:nvSpPr>
        <p:spPr>
          <a:xfrm>
            <a:off x="7410450" y="1680170"/>
            <a:ext cx="1765300" cy="1130300"/>
          </a:xfrm>
          <a:prstGeom prst="roundRect">
            <a:avLst>
              <a:gd name="adj" fmla="val 6180"/>
            </a:avLst>
          </a:prstGeom>
          <a:solidFill>
            <a:srgbClr val="FCFCFB"/>
          </a:solidFill>
          <a:ln w="12700">
            <a:solidFill>
              <a:srgbClr val="13202D"/>
            </a:solidFill>
            <a:prstDash val="solid"/>
          </a:ln>
        </p:spPr>
      </p:sp>
      <p:sp>
        <p:nvSpPr>
          <p:cNvPr id="18" name="Text 16"/>
          <p:cNvSpPr/>
          <p:nvPr/>
        </p:nvSpPr>
        <p:spPr>
          <a:xfrm>
            <a:off x="7543800" y="1788120"/>
            <a:ext cx="15494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P4</a:t>
            </a:r>
            <a:endParaRPr lang="en-US" sz="1200" dirty="0"/>
          </a:p>
        </p:txBody>
      </p:sp>
      <p:sp>
        <p:nvSpPr>
          <p:cNvPr id="19" name="Text 17"/>
          <p:cNvSpPr/>
          <p:nvPr/>
        </p:nvSpPr>
        <p:spPr>
          <a:xfrm>
            <a:off x="7543800" y="2026841"/>
            <a:ext cx="15494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Deklorinacija</a:t>
            </a:r>
            <a:endParaRPr lang="en-US" sz="1300" dirty="0"/>
          </a:p>
        </p:txBody>
      </p:sp>
      <p:sp>
        <p:nvSpPr>
          <p:cNvPr id="20" name="Text 18"/>
          <p:cNvSpPr/>
          <p:nvPr/>
        </p:nvSpPr>
        <p:spPr>
          <a:xfrm>
            <a:off x="7543800" y="2283321"/>
            <a:ext cx="154940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4505D"/>
                </a:solidFill>
                <a:latin typeface="IBM Plex Sans" pitchFamily="34" charset="0"/>
                <a:ea typeface="IBM Plex Sans" pitchFamily="34" charset="-122"/>
                <a:cs typeface="IBM Plex Sans" pitchFamily="34" charset="-120"/>
              </a:rPr>
              <a:t>Uklanjanje hlora UV lampama</a:t>
            </a:r>
            <a:endParaRPr lang="en-US" sz="1200" dirty="0"/>
          </a:p>
        </p:txBody>
      </p:sp>
      <p:sp>
        <p:nvSpPr>
          <p:cNvPr id="21" name="Shape 19"/>
          <p:cNvSpPr/>
          <p:nvPr/>
        </p:nvSpPr>
        <p:spPr>
          <a:xfrm>
            <a:off x="9607550" y="1680170"/>
            <a:ext cx="1765300" cy="1130300"/>
          </a:xfrm>
          <a:prstGeom prst="roundRect">
            <a:avLst>
              <a:gd name="adj" fmla="val 6180"/>
            </a:avLst>
          </a:prstGeom>
          <a:solidFill>
            <a:srgbClr val="FCFCFB"/>
          </a:solidFill>
          <a:ln w="12700">
            <a:solidFill>
              <a:srgbClr val="13202D"/>
            </a:solidFill>
            <a:prstDash val="solid"/>
          </a:ln>
        </p:spPr>
      </p:sp>
      <p:sp>
        <p:nvSpPr>
          <p:cNvPr id="22" name="Text 20"/>
          <p:cNvSpPr/>
          <p:nvPr/>
        </p:nvSpPr>
        <p:spPr>
          <a:xfrm>
            <a:off x="9740900" y="1788120"/>
            <a:ext cx="15494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P5</a:t>
            </a:r>
            <a:endParaRPr lang="en-US" sz="1200" dirty="0"/>
          </a:p>
        </p:txBody>
      </p:sp>
      <p:sp>
        <p:nvSpPr>
          <p:cNvPr id="23" name="Text 21"/>
          <p:cNvSpPr/>
          <p:nvPr/>
        </p:nvSpPr>
        <p:spPr>
          <a:xfrm>
            <a:off x="9740900" y="2026841"/>
            <a:ext cx="15494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Reverzna osmoza</a:t>
            </a:r>
            <a:endParaRPr lang="en-US" sz="1300" dirty="0"/>
          </a:p>
        </p:txBody>
      </p:sp>
      <p:sp>
        <p:nvSpPr>
          <p:cNvPr id="24" name="Text 22"/>
          <p:cNvSpPr/>
          <p:nvPr/>
        </p:nvSpPr>
        <p:spPr>
          <a:xfrm>
            <a:off x="9740900" y="2283321"/>
            <a:ext cx="154940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4505D"/>
                </a:solidFill>
                <a:latin typeface="IBM Plex Sans" pitchFamily="34" charset="0"/>
                <a:ea typeface="IBM Plex Sans" pitchFamily="34" charset="-122"/>
                <a:cs typeface="IBM Plex Sans" pitchFamily="34" charset="-120"/>
              </a:rPr>
              <a:t>Uklanjanje rastvorenih soli</a:t>
            </a:r>
            <a:endParaRPr lang="en-US" sz="1200" dirty="0"/>
          </a:p>
        </p:txBody>
      </p:sp>
      <p:sp>
        <p:nvSpPr>
          <p:cNvPr id="25" name="Shape 23"/>
          <p:cNvSpPr/>
          <p:nvPr/>
        </p:nvSpPr>
        <p:spPr>
          <a:xfrm>
            <a:off x="7410450" y="3267670"/>
            <a:ext cx="1765300" cy="1130300"/>
          </a:xfrm>
          <a:prstGeom prst="roundRect">
            <a:avLst>
              <a:gd name="adj" fmla="val 6180"/>
            </a:avLst>
          </a:prstGeom>
          <a:solidFill>
            <a:srgbClr val="FCFCFB"/>
          </a:solidFill>
          <a:ln w="12700">
            <a:solidFill>
              <a:srgbClr val="13202D"/>
            </a:solidFill>
            <a:prstDash val="solid"/>
          </a:ln>
        </p:spPr>
      </p:sp>
      <p:sp>
        <p:nvSpPr>
          <p:cNvPr id="26" name="Text 24"/>
          <p:cNvSpPr/>
          <p:nvPr/>
        </p:nvSpPr>
        <p:spPr>
          <a:xfrm>
            <a:off x="7543800" y="3375620"/>
            <a:ext cx="15494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P6</a:t>
            </a:r>
            <a:endParaRPr lang="en-US" sz="1200" dirty="0"/>
          </a:p>
        </p:txBody>
      </p:sp>
      <p:sp>
        <p:nvSpPr>
          <p:cNvPr id="27" name="Text 25"/>
          <p:cNvSpPr/>
          <p:nvPr/>
        </p:nvSpPr>
        <p:spPr>
          <a:xfrm>
            <a:off x="7543800" y="3614341"/>
            <a:ext cx="15494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Ispiranje</a:t>
            </a:r>
            <a:endParaRPr lang="en-US" sz="1300" dirty="0"/>
          </a:p>
        </p:txBody>
      </p:sp>
      <p:sp>
        <p:nvSpPr>
          <p:cNvPr id="28" name="Text 26"/>
          <p:cNvSpPr/>
          <p:nvPr/>
        </p:nvSpPr>
        <p:spPr>
          <a:xfrm>
            <a:off x="7543800" y="3870821"/>
            <a:ext cx="154940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4505D"/>
                </a:solidFill>
                <a:latin typeface="IBM Plex Sans" pitchFamily="34" charset="0"/>
                <a:ea typeface="IBM Plex Sans" pitchFamily="34" charset="-122"/>
                <a:cs typeface="IBM Plex Sans" pitchFamily="34" charset="-120"/>
              </a:rPr>
              <a:t>Čišćenje UF membrana</a:t>
            </a:r>
            <a:endParaRPr lang="en-US" sz="1200" dirty="0"/>
          </a:p>
        </p:txBody>
      </p:sp>
      <p:pic>
        <p:nvPicPr>
          <p:cNvPr id="29" name="Image 0" descr="connector">    </p:cNvPr>
          <p:cNvPicPr>
            <a:picLocks noChangeAspect="1"/>
          </p:cNvPicPr>
          <p:nvPr/>
        </p:nvPicPr>
        <p:blipFill>
          <a:blip r:embed="rId1"/>
          <a:srcRect l="0" r="0" t="0" b="0"/>
          <a:stretch/>
        </p:blipFill>
        <p:spPr>
          <a:xfrm>
            <a:off x="2527300" y="2181820"/>
            <a:ext cx="546100" cy="127000"/>
          </a:xfrm>
          <a:prstGeom prst="rect">
            <a:avLst/>
          </a:prstGeom>
        </p:spPr>
      </p:pic>
      <p:pic>
        <p:nvPicPr>
          <p:cNvPr id="30" name="Image 1" descr="connector">    </p:cNvPr>
          <p:cNvPicPr>
            <a:picLocks noChangeAspect="1"/>
          </p:cNvPicPr>
          <p:nvPr/>
        </p:nvPicPr>
        <p:blipFill>
          <a:blip r:embed="rId2"/>
          <a:srcRect l="0" r="0" t="0" b="0"/>
          <a:stretch/>
        </p:blipFill>
        <p:spPr>
          <a:xfrm>
            <a:off x="4724400" y="2181820"/>
            <a:ext cx="546100" cy="127000"/>
          </a:xfrm>
          <a:prstGeom prst="rect">
            <a:avLst/>
          </a:prstGeom>
        </p:spPr>
      </p:pic>
      <p:pic>
        <p:nvPicPr>
          <p:cNvPr id="31" name="Image 2" descr="connector">    </p:cNvPr>
          <p:cNvPicPr>
            <a:picLocks noChangeAspect="1"/>
          </p:cNvPicPr>
          <p:nvPr/>
        </p:nvPicPr>
        <p:blipFill>
          <a:blip r:embed="rId3"/>
          <a:srcRect l="0" r="0" t="0" b="0"/>
          <a:stretch/>
        </p:blipFill>
        <p:spPr>
          <a:xfrm>
            <a:off x="6921500" y="2181820"/>
            <a:ext cx="546100" cy="127000"/>
          </a:xfrm>
          <a:prstGeom prst="rect">
            <a:avLst/>
          </a:prstGeom>
        </p:spPr>
      </p:pic>
      <p:pic>
        <p:nvPicPr>
          <p:cNvPr id="32" name="Image 3" descr="connector">    </p:cNvPr>
          <p:cNvPicPr>
            <a:picLocks noChangeAspect="1"/>
          </p:cNvPicPr>
          <p:nvPr/>
        </p:nvPicPr>
        <p:blipFill>
          <a:blip r:embed="rId4"/>
          <a:srcRect l="0" r="0" t="0" b="0"/>
          <a:stretch/>
        </p:blipFill>
        <p:spPr>
          <a:xfrm>
            <a:off x="9118600" y="2181820"/>
            <a:ext cx="546100" cy="127000"/>
          </a:xfrm>
          <a:prstGeom prst="rect">
            <a:avLst/>
          </a:prstGeom>
        </p:spPr>
      </p:pic>
      <p:pic>
        <p:nvPicPr>
          <p:cNvPr id="33" name="Image 4" descr="connector">    </p:cNvPr>
          <p:cNvPicPr>
            <a:picLocks noChangeAspect="1"/>
          </p:cNvPicPr>
          <p:nvPr/>
        </p:nvPicPr>
        <p:blipFill>
          <a:blip r:embed="rId5"/>
          <a:srcRect l="0" r="0" t="0" b="0"/>
          <a:stretch/>
        </p:blipFill>
        <p:spPr>
          <a:xfrm>
            <a:off x="9118600" y="2753320"/>
            <a:ext cx="1435100" cy="1143000"/>
          </a:xfrm>
          <a:prstGeom prst="rect">
            <a:avLst/>
          </a:prstGeom>
        </p:spPr>
      </p:pic>
      <p:pic>
        <p:nvPicPr>
          <p:cNvPr id="34" name="Image 5" descr="connector">    </p:cNvPr>
          <p:cNvPicPr>
            <a:picLocks noChangeAspect="1"/>
          </p:cNvPicPr>
          <p:nvPr/>
        </p:nvPicPr>
        <p:blipFill>
          <a:blip r:embed="rId6"/>
          <a:srcRect l="0" r="0" t="0" b="0"/>
          <a:stretch/>
        </p:blipFill>
        <p:spPr>
          <a:xfrm>
            <a:off x="6032500" y="2753320"/>
            <a:ext cx="1435100" cy="1143000"/>
          </a:xfrm>
          <a:prstGeom prst="rect">
            <a:avLst/>
          </a:prstGeom>
        </p:spPr>
      </p:pic>
      <p:sp>
        <p:nvSpPr>
          <p:cNvPr id="35" name="Text 27"/>
          <p:cNvSpPr/>
          <p:nvPr/>
        </p:nvSpPr>
        <p:spPr>
          <a:xfrm>
            <a:off x="3272790" y="3578820"/>
            <a:ext cx="2747010" cy="421481"/>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0A5CA8"/>
                </a:solidFill>
                <a:latin typeface="IBM Plex Sans" pitchFamily="34" charset="0"/>
                <a:ea typeface="IBM Plex Sans" pitchFamily="34" charset="-122"/>
                <a:cs typeface="IBM Plex Sans" pitchFamily="34" charset="-120"/>
              </a:rPr>
              <a:t>voda za ispiranje</a:t>
            </a:r>
            <a:endParaRPr lang="en-US" sz="1200" dirty="0"/>
          </a:p>
          <a:p>
            <a:pPr algn="r" indent="0" marL="0">
              <a:lnSpc>
                <a:spcPts val="1560"/>
              </a:lnSpc>
              <a:buNone/>
            </a:pPr>
            <a:r>
              <a:rPr lang="en-US" sz="1200" dirty="0">
                <a:solidFill>
                  <a:srgbClr val="0A5CA8"/>
                </a:solidFill>
                <a:latin typeface="IBM Plex Sans" pitchFamily="34" charset="0"/>
                <a:ea typeface="IBM Plex Sans" pitchFamily="34" charset="-122"/>
                <a:cs typeface="IBM Plex Sans" pitchFamily="34" charset="-120"/>
              </a:rPr>
              <a:t>vraća se u P3</a:t>
            </a:r>
            <a:endParaRPr lang="en-US" sz="1200" dirty="0"/>
          </a:p>
        </p:txBody>
      </p:sp>
      <p:sp>
        <p:nvSpPr>
          <p:cNvPr id="36" name="Text 28"/>
          <p:cNvSpPr/>
          <p:nvPr/>
        </p:nvSpPr>
        <p:spPr>
          <a:xfrm>
            <a:off x="9321800" y="4061420"/>
            <a:ext cx="209296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4505D"/>
                </a:solidFill>
                <a:latin typeface="IBM Plex Sans" pitchFamily="34" charset="0"/>
                <a:ea typeface="IBM Plex Sans" pitchFamily="34" charset="-122"/>
                <a:cs typeface="IBM Plex Sans" pitchFamily="34" charset="-120"/>
              </a:rPr>
              <a:t>prečišćena voda</a:t>
            </a:r>
            <a:endParaRPr lang="en-US" sz="1200" dirty="0"/>
          </a:p>
        </p:txBody>
      </p:sp>
      <p:sp>
        <p:nvSpPr>
          <p:cNvPr id="37" name="Text 29"/>
          <p:cNvSpPr/>
          <p:nvPr/>
        </p:nvSpPr>
        <p:spPr>
          <a:xfrm>
            <a:off x="812800" y="4658320"/>
            <a:ext cx="1778695" cy="314920"/>
          </a:xfrm>
          <a:prstGeom prst="roundRect">
            <a:avLst>
              <a:gd name="adj" fmla="val 50000"/>
            </a:avLst>
          </a:prstGeom>
          <a:solidFill>
            <a:srgbClr val="EBF0F5"/>
          </a:solidFill>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iTrust, SUTD, Singapur</a:t>
            </a:r>
            <a:endParaRPr lang="en-US" sz="1200" dirty="0"/>
          </a:p>
        </p:txBody>
      </p:sp>
      <p:sp>
        <p:nvSpPr>
          <p:cNvPr id="38" name="Text 30"/>
          <p:cNvSpPr/>
          <p:nvPr/>
        </p:nvSpPr>
        <p:spPr>
          <a:xfrm>
            <a:off x="2693095" y="4658320"/>
            <a:ext cx="2882305" cy="314920"/>
          </a:xfrm>
          <a:prstGeom prst="roundRect">
            <a:avLst>
              <a:gd name="adj" fmla="val 50000"/>
            </a:avLst>
          </a:prstGeom>
          <a:solidFill>
            <a:srgbClr val="EBF0F5"/>
          </a:solidFill>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Umanjena replika stvarnog postrojenja</a:t>
            </a:r>
            <a:endParaRPr lang="en-US" sz="1200" dirty="0"/>
          </a:p>
        </p:txBody>
      </p:sp>
      <p:sp>
        <p:nvSpPr>
          <p:cNvPr id="39" name="Text 31"/>
          <p:cNvSpPr/>
          <p:nvPr/>
        </p:nvSpPr>
        <p:spPr>
          <a:xfrm>
            <a:off x="5676999" y="4658320"/>
            <a:ext cx="1725315" cy="314920"/>
          </a:xfrm>
          <a:prstGeom prst="roundRect">
            <a:avLst>
              <a:gd name="adj" fmla="val 50000"/>
            </a:avLst>
          </a:prstGeom>
          <a:solidFill>
            <a:srgbClr val="EBF0F5"/>
          </a:solidFill>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Oko 19 litara u minuti</a:t>
            </a:r>
            <a:endParaRPr lang="en-US" sz="1200" dirty="0"/>
          </a:p>
        </p:txBody>
      </p:sp>
      <p:sp>
        <p:nvSpPr>
          <p:cNvPr id="40" name="Text 32"/>
          <p:cNvSpPr/>
          <p:nvPr/>
        </p:nvSpPr>
        <p:spPr>
          <a:xfrm>
            <a:off x="7503914" y="4658320"/>
            <a:ext cx="1866007" cy="314920"/>
          </a:xfrm>
          <a:prstGeom prst="roundRect">
            <a:avLst>
              <a:gd name="adj" fmla="val 50000"/>
            </a:avLst>
          </a:prstGeom>
          <a:solidFill>
            <a:srgbClr val="EBF0F5"/>
          </a:solidFill>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Svaka faza ima svoj PLC</a:t>
            </a:r>
            <a:endParaRPr lang="en-US" sz="1200" dirty="0"/>
          </a:p>
        </p:txBody>
      </p:sp>
      <p:sp>
        <p:nvSpPr>
          <p:cNvPr id="41" name="Shape 33"/>
          <p:cNvSpPr/>
          <p:nvPr/>
        </p:nvSpPr>
        <p:spPr>
          <a:xfrm>
            <a:off x="812800" y="6209705"/>
            <a:ext cx="10566400" cy="0"/>
          </a:xfrm>
          <a:prstGeom prst="line">
            <a:avLst/>
          </a:prstGeom>
          <a:noFill/>
          <a:ln w="6350">
            <a:solidFill>
              <a:srgbClr val="D3DAE1"/>
            </a:solidFill>
            <a:prstDash val="solid"/>
          </a:ln>
        </p:spPr>
      </p:sp>
      <p:sp>
        <p:nvSpPr>
          <p:cNvPr id="42" name="Text 34"/>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43" name="Text 3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SWAT I HAI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Upravljačka arhitektura postrojenja SWaT</a:t>
            </a:r>
            <a:endParaRPr lang="en-US" sz="3000" dirty="0"/>
          </a:p>
        </p:txBody>
      </p:sp>
      <p:sp>
        <p:nvSpPr>
          <p:cNvPr id="5" name="Shape 3"/>
          <p:cNvSpPr/>
          <p:nvPr/>
        </p:nvSpPr>
        <p:spPr>
          <a:xfrm>
            <a:off x="812800" y="1673820"/>
            <a:ext cx="6096000" cy="459680"/>
          </a:xfrm>
          <a:prstGeom prst="roundRect">
            <a:avLst>
              <a:gd name="adj" fmla="val 16577"/>
            </a:avLst>
          </a:prstGeom>
          <a:solidFill>
            <a:srgbClr val="DCE8F4"/>
          </a:solidFill>
          <a:ln/>
        </p:spPr>
      </p:sp>
      <p:sp>
        <p:nvSpPr>
          <p:cNvPr id="6" name="Text 4"/>
          <p:cNvSpPr/>
          <p:nvPr/>
        </p:nvSpPr>
        <p:spPr>
          <a:xfrm>
            <a:off x="965200" y="1796951"/>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Nivo 3</a:t>
            </a:r>
            <a:endParaRPr lang="en-US" sz="1200" dirty="0"/>
          </a:p>
        </p:txBody>
      </p:sp>
      <p:sp>
        <p:nvSpPr>
          <p:cNvPr id="7" name="Text 5"/>
          <p:cNvSpPr/>
          <p:nvPr/>
        </p:nvSpPr>
        <p:spPr>
          <a:xfrm>
            <a:off x="1879600" y="1788120"/>
            <a:ext cx="1701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Historian</a:t>
            </a:r>
            <a:endParaRPr lang="en-US" sz="1300" dirty="0"/>
          </a:p>
        </p:txBody>
      </p:sp>
      <p:sp>
        <p:nvSpPr>
          <p:cNvPr id="8" name="Text 6"/>
          <p:cNvSpPr/>
          <p:nvPr/>
        </p:nvSpPr>
        <p:spPr>
          <a:xfrm>
            <a:off x="3683000" y="1796951"/>
            <a:ext cx="31656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Beleži sve vrednosti, izvor skupa</a:t>
            </a:r>
            <a:endParaRPr lang="en-US" sz="1200" dirty="0"/>
          </a:p>
        </p:txBody>
      </p:sp>
      <p:sp>
        <p:nvSpPr>
          <p:cNvPr id="9" name="Shape 7"/>
          <p:cNvSpPr/>
          <p:nvPr/>
        </p:nvSpPr>
        <p:spPr>
          <a:xfrm>
            <a:off x="812800" y="2197001"/>
            <a:ext cx="6096000" cy="655241"/>
          </a:xfrm>
          <a:prstGeom prst="roundRect">
            <a:avLst>
              <a:gd name="adj" fmla="val 11629"/>
            </a:avLst>
          </a:prstGeom>
          <a:solidFill>
            <a:srgbClr val="DCE8F4"/>
          </a:solidFill>
          <a:ln/>
        </p:spPr>
      </p:sp>
      <p:sp>
        <p:nvSpPr>
          <p:cNvPr id="10" name="Text 8"/>
          <p:cNvSpPr/>
          <p:nvPr/>
        </p:nvSpPr>
        <p:spPr>
          <a:xfrm>
            <a:off x="965200" y="2417961"/>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Nivo 2</a:t>
            </a:r>
            <a:endParaRPr lang="en-US" sz="1200" dirty="0"/>
          </a:p>
        </p:txBody>
      </p:sp>
      <p:sp>
        <p:nvSpPr>
          <p:cNvPr id="11" name="Text 9"/>
          <p:cNvSpPr/>
          <p:nvPr/>
        </p:nvSpPr>
        <p:spPr>
          <a:xfrm>
            <a:off x="1879600" y="2409031"/>
            <a:ext cx="1701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SCADA i HMI</a:t>
            </a:r>
            <a:endParaRPr lang="en-US" sz="1300" dirty="0"/>
          </a:p>
        </p:txBody>
      </p:sp>
      <p:sp>
        <p:nvSpPr>
          <p:cNvPr id="12" name="Text 10"/>
          <p:cNvSpPr/>
          <p:nvPr/>
        </p:nvSpPr>
        <p:spPr>
          <a:xfrm>
            <a:off x="3683000" y="2311301"/>
            <a:ext cx="316560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Nadzor, ručno upravljanje, inženjerska stanica</a:t>
            </a:r>
            <a:endParaRPr lang="en-US" sz="1200" dirty="0"/>
          </a:p>
        </p:txBody>
      </p:sp>
      <p:sp>
        <p:nvSpPr>
          <p:cNvPr id="13" name="Shape 11"/>
          <p:cNvSpPr/>
          <p:nvPr/>
        </p:nvSpPr>
        <p:spPr>
          <a:xfrm>
            <a:off x="815975" y="2918916"/>
            <a:ext cx="6089650" cy="466030"/>
          </a:xfrm>
          <a:prstGeom prst="roundRect">
            <a:avLst>
              <a:gd name="adj" fmla="val 15670"/>
            </a:avLst>
          </a:prstGeom>
          <a:solidFill>
            <a:srgbClr val="FCFCFB"/>
          </a:solidFill>
          <a:ln w="6350">
            <a:solidFill>
              <a:srgbClr val="D3DAE1"/>
            </a:solidFill>
            <a:prstDash val="solid"/>
          </a:ln>
        </p:spPr>
      </p:sp>
      <p:sp>
        <p:nvSpPr>
          <p:cNvPr id="14" name="Text 12"/>
          <p:cNvSpPr/>
          <p:nvPr/>
        </p:nvSpPr>
        <p:spPr>
          <a:xfrm>
            <a:off x="971550" y="3045222"/>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Nivo 1</a:t>
            </a:r>
            <a:endParaRPr lang="en-US" sz="1200" dirty="0"/>
          </a:p>
        </p:txBody>
      </p:sp>
      <p:sp>
        <p:nvSpPr>
          <p:cNvPr id="15" name="Text 13"/>
          <p:cNvSpPr/>
          <p:nvPr/>
        </p:nvSpPr>
        <p:spPr>
          <a:xfrm>
            <a:off x="1885950" y="3036391"/>
            <a:ext cx="1701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PLC po fazi</a:t>
            </a:r>
            <a:endParaRPr lang="en-US" sz="1300" dirty="0"/>
          </a:p>
        </p:txBody>
      </p:sp>
      <p:sp>
        <p:nvSpPr>
          <p:cNvPr id="16" name="Text 14"/>
          <p:cNvSpPr/>
          <p:nvPr/>
        </p:nvSpPr>
        <p:spPr>
          <a:xfrm>
            <a:off x="3689350" y="3045222"/>
            <a:ext cx="31525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Šest PLC-ova, uz rezervni za svaku fazu</a:t>
            </a:r>
            <a:endParaRPr lang="en-US" sz="1200" dirty="0"/>
          </a:p>
        </p:txBody>
      </p:sp>
      <p:sp>
        <p:nvSpPr>
          <p:cNvPr id="17" name="Shape 15"/>
          <p:cNvSpPr/>
          <p:nvPr/>
        </p:nvSpPr>
        <p:spPr>
          <a:xfrm>
            <a:off x="815975" y="3454797"/>
            <a:ext cx="6089650" cy="466030"/>
          </a:xfrm>
          <a:prstGeom prst="roundRect">
            <a:avLst>
              <a:gd name="adj" fmla="val 15670"/>
            </a:avLst>
          </a:prstGeom>
          <a:solidFill>
            <a:srgbClr val="FBF1E6"/>
          </a:solidFill>
          <a:ln w="6350">
            <a:solidFill>
              <a:srgbClr val="E9B98C"/>
            </a:solidFill>
            <a:prstDash val="solid"/>
          </a:ln>
        </p:spPr>
      </p:sp>
      <p:sp>
        <p:nvSpPr>
          <p:cNvPr id="18" name="Text 16"/>
          <p:cNvSpPr/>
          <p:nvPr/>
        </p:nvSpPr>
        <p:spPr>
          <a:xfrm>
            <a:off x="971550" y="3581102"/>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Nivo 0</a:t>
            </a:r>
            <a:endParaRPr lang="en-US" sz="1200" dirty="0"/>
          </a:p>
        </p:txBody>
      </p:sp>
      <p:sp>
        <p:nvSpPr>
          <p:cNvPr id="19" name="Text 17"/>
          <p:cNvSpPr/>
          <p:nvPr/>
        </p:nvSpPr>
        <p:spPr>
          <a:xfrm>
            <a:off x="1885950" y="3572272"/>
            <a:ext cx="1701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Polje</a:t>
            </a:r>
            <a:endParaRPr lang="en-US" sz="1300" dirty="0"/>
          </a:p>
        </p:txBody>
      </p:sp>
      <p:sp>
        <p:nvSpPr>
          <p:cNvPr id="20" name="Text 18"/>
          <p:cNvSpPr/>
          <p:nvPr/>
        </p:nvSpPr>
        <p:spPr>
          <a:xfrm>
            <a:off x="3689350" y="3581102"/>
            <a:ext cx="31525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Senzori i aktuatori, ukupno 51</a:t>
            </a:r>
            <a:endParaRPr lang="en-US" sz="1200" dirty="0"/>
          </a:p>
        </p:txBody>
      </p:sp>
      <p:sp>
        <p:nvSpPr>
          <p:cNvPr id="21" name="Shape 19"/>
          <p:cNvSpPr/>
          <p:nvPr/>
        </p:nvSpPr>
        <p:spPr>
          <a:xfrm>
            <a:off x="7277100" y="1673820"/>
            <a:ext cx="0" cy="708521"/>
          </a:xfrm>
          <a:prstGeom prst="line">
            <a:avLst/>
          </a:prstGeom>
          <a:noFill/>
          <a:ln w="25400">
            <a:solidFill>
              <a:srgbClr val="0A5CA8"/>
            </a:solidFill>
            <a:prstDash val="solid"/>
          </a:ln>
        </p:spPr>
      </p:sp>
      <p:sp>
        <p:nvSpPr>
          <p:cNvPr id="22" name="Text 20"/>
          <p:cNvSpPr/>
          <p:nvPr/>
        </p:nvSpPr>
        <p:spPr>
          <a:xfrm>
            <a:off x="7442200" y="1686520"/>
            <a:ext cx="405511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Dve mreže</a:t>
            </a:r>
            <a:endParaRPr lang="en-US" sz="1300" dirty="0"/>
          </a:p>
        </p:txBody>
      </p:sp>
      <p:sp>
        <p:nvSpPr>
          <p:cNvPr id="23" name="Text 21"/>
          <p:cNvSpPr/>
          <p:nvPr/>
        </p:nvSpPr>
        <p:spPr>
          <a:xfrm>
            <a:off x="7442200" y="1943001"/>
            <a:ext cx="40551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Senzori i aktuatori povezani su sa PLC-ovima Ethernet prstenom, a PLC-ovi međusobno posebnom mrežom.</a:t>
            </a:r>
            <a:endParaRPr lang="en-US" sz="1200" dirty="0"/>
          </a:p>
        </p:txBody>
      </p:sp>
      <p:sp>
        <p:nvSpPr>
          <p:cNvPr id="24" name="Shape 22"/>
          <p:cNvSpPr/>
          <p:nvPr/>
        </p:nvSpPr>
        <p:spPr>
          <a:xfrm>
            <a:off x="7277100" y="2522041"/>
            <a:ext cx="0" cy="495201"/>
          </a:xfrm>
          <a:prstGeom prst="line">
            <a:avLst/>
          </a:prstGeom>
          <a:noFill/>
          <a:ln w="25400">
            <a:solidFill>
              <a:srgbClr val="0A5CA8"/>
            </a:solidFill>
            <a:prstDash val="solid"/>
          </a:ln>
        </p:spPr>
      </p:sp>
      <p:sp>
        <p:nvSpPr>
          <p:cNvPr id="25" name="Text 23"/>
          <p:cNvSpPr/>
          <p:nvPr/>
        </p:nvSpPr>
        <p:spPr>
          <a:xfrm>
            <a:off x="7442200" y="2534741"/>
            <a:ext cx="405511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Protokoli</a:t>
            </a:r>
            <a:endParaRPr lang="en-US" sz="1300" dirty="0"/>
          </a:p>
        </p:txBody>
      </p:sp>
      <p:sp>
        <p:nvSpPr>
          <p:cNvPr id="26" name="Text 24"/>
          <p:cNvSpPr/>
          <p:nvPr/>
        </p:nvSpPr>
        <p:spPr>
          <a:xfrm>
            <a:off x="7442200" y="2791222"/>
            <a:ext cx="40551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EtherNet/IP i CIP, standardni za industrijsku opremu.</a:t>
            </a:r>
            <a:endParaRPr lang="en-US" sz="1200" dirty="0"/>
          </a:p>
        </p:txBody>
      </p:sp>
      <p:sp>
        <p:nvSpPr>
          <p:cNvPr id="27" name="Shape 25"/>
          <p:cNvSpPr/>
          <p:nvPr/>
        </p:nvSpPr>
        <p:spPr>
          <a:xfrm>
            <a:off x="7277100" y="3156942"/>
            <a:ext cx="0" cy="708521"/>
          </a:xfrm>
          <a:prstGeom prst="line">
            <a:avLst/>
          </a:prstGeom>
          <a:noFill/>
          <a:ln w="25400">
            <a:solidFill>
              <a:srgbClr val="E07B1F"/>
            </a:solidFill>
            <a:prstDash val="solid"/>
          </a:ln>
        </p:spPr>
      </p:sp>
      <p:sp>
        <p:nvSpPr>
          <p:cNvPr id="28" name="Text 26"/>
          <p:cNvSpPr/>
          <p:nvPr/>
        </p:nvSpPr>
        <p:spPr>
          <a:xfrm>
            <a:off x="7442200" y="3169642"/>
            <a:ext cx="405511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Veza sa teorijom</a:t>
            </a:r>
            <a:endParaRPr lang="en-US" sz="1300" dirty="0"/>
          </a:p>
        </p:txBody>
      </p:sp>
      <p:sp>
        <p:nvSpPr>
          <p:cNvPr id="29" name="Text 27"/>
          <p:cNvSpPr/>
          <p:nvPr/>
        </p:nvSpPr>
        <p:spPr>
          <a:xfrm>
            <a:off x="7442200" y="3426123"/>
            <a:ext cx="40551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Nivoi odgovaraju Purdue modelu iz prethodne prezentacije.</a:t>
            </a:r>
            <a:endParaRPr lang="en-US" sz="1200" dirty="0"/>
          </a:p>
        </p:txBody>
      </p:sp>
      <p:sp>
        <p:nvSpPr>
          <p:cNvPr id="30" name="Shape 28"/>
          <p:cNvSpPr/>
          <p:nvPr/>
        </p:nvSpPr>
        <p:spPr>
          <a:xfrm>
            <a:off x="812800" y="6209705"/>
            <a:ext cx="10566400" cy="0"/>
          </a:xfrm>
          <a:prstGeom prst="line">
            <a:avLst/>
          </a:prstGeom>
          <a:noFill/>
          <a:ln w="6350">
            <a:solidFill>
              <a:srgbClr val="D3DAE1"/>
            </a:solidFill>
            <a:prstDash val="solid"/>
          </a:ln>
        </p:spPr>
      </p:sp>
      <p:sp>
        <p:nvSpPr>
          <p:cNvPr id="31" name="Text 29"/>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32" name="Text 3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SWAT I HAI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Skup podataka SWaT iz 2015. godine</a:t>
            </a:r>
            <a:endParaRPr lang="en-US" sz="3000" dirty="0"/>
          </a:p>
        </p:txBody>
      </p:sp>
      <p:sp>
        <p:nvSpPr>
          <p:cNvPr id="5" name="Shape 3"/>
          <p:cNvSpPr/>
          <p:nvPr/>
        </p:nvSpPr>
        <p:spPr>
          <a:xfrm>
            <a:off x="815975" y="1676995"/>
            <a:ext cx="2520950" cy="1509911"/>
          </a:xfrm>
          <a:prstGeom prst="roundRect">
            <a:avLst>
              <a:gd name="adj" fmla="val 6519"/>
            </a:avLst>
          </a:prstGeom>
          <a:solidFill>
            <a:srgbClr val="FCFCFB"/>
          </a:solidFill>
          <a:ln w="6350">
            <a:solidFill>
              <a:srgbClr val="D3DAE1"/>
            </a:solidFill>
            <a:prstDash val="solid"/>
          </a:ln>
        </p:spPr>
      </p:sp>
      <p:sp>
        <p:nvSpPr>
          <p:cNvPr id="6" name="Text 4"/>
          <p:cNvSpPr/>
          <p:nvPr/>
        </p:nvSpPr>
        <p:spPr>
          <a:xfrm>
            <a:off x="1022350" y="1857970"/>
            <a:ext cx="2171446"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0A5CA8"/>
                </a:solidFill>
                <a:latin typeface="IBM Plex Mono" pitchFamily="49" charset="0"/>
                <a:ea typeface="IBM Plex Mono" pitchFamily="49" charset="-122"/>
                <a:cs typeface="IBM Plex Mono" pitchFamily="49" charset="-120"/>
              </a:rPr>
              <a:t>11</a:t>
            </a:r>
            <a:endParaRPr lang="en-US" sz="4800" dirty="0"/>
          </a:p>
        </p:txBody>
      </p:sp>
      <p:sp>
        <p:nvSpPr>
          <p:cNvPr id="7" name="Text 5"/>
          <p:cNvSpPr/>
          <p:nvPr/>
        </p:nvSpPr>
        <p:spPr>
          <a:xfrm>
            <a:off x="1022350" y="257929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dana neprekidnog rada: 7 normalnih i 4 sa napadima</a:t>
            </a:r>
            <a:endParaRPr lang="en-US" sz="1200" dirty="0"/>
          </a:p>
        </p:txBody>
      </p:sp>
      <p:sp>
        <p:nvSpPr>
          <p:cNvPr id="8" name="Shape 6"/>
          <p:cNvSpPr/>
          <p:nvPr/>
        </p:nvSpPr>
        <p:spPr>
          <a:xfrm>
            <a:off x="3495675" y="1676995"/>
            <a:ext cx="2520950" cy="1509911"/>
          </a:xfrm>
          <a:prstGeom prst="roundRect">
            <a:avLst>
              <a:gd name="adj" fmla="val 6519"/>
            </a:avLst>
          </a:prstGeom>
          <a:solidFill>
            <a:srgbClr val="FCFCFB"/>
          </a:solidFill>
          <a:ln w="6350">
            <a:solidFill>
              <a:srgbClr val="D3DAE1"/>
            </a:solidFill>
            <a:prstDash val="solid"/>
          </a:ln>
        </p:spPr>
      </p:sp>
      <p:sp>
        <p:nvSpPr>
          <p:cNvPr id="9" name="Text 7"/>
          <p:cNvSpPr/>
          <p:nvPr/>
        </p:nvSpPr>
        <p:spPr>
          <a:xfrm>
            <a:off x="3702050" y="1857970"/>
            <a:ext cx="2171446"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0A5CA8"/>
                </a:solidFill>
                <a:latin typeface="IBM Plex Mono" pitchFamily="49" charset="0"/>
                <a:ea typeface="IBM Plex Mono" pitchFamily="49" charset="-122"/>
                <a:cs typeface="IBM Plex Mono" pitchFamily="49" charset="-120"/>
              </a:rPr>
              <a:t>51</a:t>
            </a:r>
            <a:endParaRPr lang="en-US" sz="4800" dirty="0"/>
          </a:p>
        </p:txBody>
      </p:sp>
      <p:sp>
        <p:nvSpPr>
          <p:cNvPr id="10" name="Text 8"/>
          <p:cNvSpPr/>
          <p:nvPr/>
        </p:nvSpPr>
        <p:spPr>
          <a:xfrm>
            <a:off x="3702050" y="257929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senzor i aktuator čije se vrednosti beleže</a:t>
            </a:r>
            <a:endParaRPr lang="en-US" sz="1200" dirty="0"/>
          </a:p>
        </p:txBody>
      </p:sp>
      <p:sp>
        <p:nvSpPr>
          <p:cNvPr id="11" name="Shape 9"/>
          <p:cNvSpPr/>
          <p:nvPr/>
        </p:nvSpPr>
        <p:spPr>
          <a:xfrm>
            <a:off x="6175375" y="1676995"/>
            <a:ext cx="2520950" cy="1509911"/>
          </a:xfrm>
          <a:prstGeom prst="roundRect">
            <a:avLst>
              <a:gd name="adj" fmla="val 6519"/>
            </a:avLst>
          </a:prstGeom>
          <a:solidFill>
            <a:srgbClr val="FCFCFB"/>
          </a:solidFill>
          <a:ln w="6350">
            <a:solidFill>
              <a:srgbClr val="D3DAE1"/>
            </a:solidFill>
            <a:prstDash val="solid"/>
          </a:ln>
        </p:spPr>
      </p:sp>
      <p:sp>
        <p:nvSpPr>
          <p:cNvPr id="12" name="Text 10"/>
          <p:cNvSpPr/>
          <p:nvPr/>
        </p:nvSpPr>
        <p:spPr>
          <a:xfrm>
            <a:off x="6381750" y="1857970"/>
            <a:ext cx="2171446"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A8520A"/>
                </a:solidFill>
                <a:latin typeface="IBM Plex Mono" pitchFamily="49" charset="0"/>
                <a:ea typeface="IBM Plex Mono" pitchFamily="49" charset="-122"/>
                <a:cs typeface="IBM Plex Mono" pitchFamily="49" charset="-120"/>
              </a:rPr>
              <a:t>41</a:t>
            </a:r>
            <a:endParaRPr lang="en-US" sz="4800" dirty="0"/>
          </a:p>
        </p:txBody>
      </p:sp>
      <p:sp>
        <p:nvSpPr>
          <p:cNvPr id="13" name="Text 11"/>
          <p:cNvSpPr/>
          <p:nvPr/>
        </p:nvSpPr>
        <p:spPr>
          <a:xfrm>
            <a:off x="6381750" y="257929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izveden napad tokom poslednja četiri dana</a:t>
            </a:r>
            <a:endParaRPr lang="en-US" sz="1200" dirty="0"/>
          </a:p>
        </p:txBody>
      </p:sp>
      <p:sp>
        <p:nvSpPr>
          <p:cNvPr id="14" name="Shape 12"/>
          <p:cNvSpPr/>
          <p:nvPr/>
        </p:nvSpPr>
        <p:spPr>
          <a:xfrm>
            <a:off x="8855075" y="1676995"/>
            <a:ext cx="2520950" cy="1509911"/>
          </a:xfrm>
          <a:prstGeom prst="roundRect">
            <a:avLst>
              <a:gd name="adj" fmla="val 6519"/>
            </a:avLst>
          </a:prstGeom>
          <a:solidFill>
            <a:srgbClr val="FCFCFB"/>
          </a:solidFill>
          <a:ln w="6350">
            <a:solidFill>
              <a:srgbClr val="D3DAE1"/>
            </a:solidFill>
            <a:prstDash val="solid"/>
          </a:ln>
        </p:spPr>
      </p:sp>
      <p:sp>
        <p:nvSpPr>
          <p:cNvPr id="15" name="Text 13"/>
          <p:cNvSpPr/>
          <p:nvPr/>
        </p:nvSpPr>
        <p:spPr>
          <a:xfrm>
            <a:off x="9061450" y="1857970"/>
            <a:ext cx="2171446"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13202D"/>
                </a:solidFill>
                <a:latin typeface="IBM Plex Mono" pitchFamily="49" charset="0"/>
                <a:ea typeface="IBM Plex Mono" pitchFamily="49" charset="-122"/>
                <a:cs typeface="IBM Plex Mono" pitchFamily="49" charset="-120"/>
              </a:rPr>
              <a:t>1 s</a:t>
            </a:r>
            <a:endParaRPr lang="en-US" sz="4800" dirty="0"/>
          </a:p>
        </p:txBody>
      </p:sp>
      <p:sp>
        <p:nvSpPr>
          <p:cNvPr id="16" name="Text 14"/>
          <p:cNvSpPr/>
          <p:nvPr/>
        </p:nvSpPr>
        <p:spPr>
          <a:xfrm>
            <a:off x="9061450" y="257929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razmak između zapisa, oko 950.000 redova ukupno</a:t>
            </a:r>
            <a:endParaRPr lang="en-US" sz="1200" dirty="0"/>
          </a:p>
        </p:txBody>
      </p:sp>
      <p:sp>
        <p:nvSpPr>
          <p:cNvPr id="17" name="Shape 15"/>
          <p:cNvSpPr/>
          <p:nvPr/>
        </p:nvSpPr>
        <p:spPr>
          <a:xfrm>
            <a:off x="812800" y="3444081"/>
            <a:ext cx="5200650" cy="1000621"/>
          </a:xfrm>
          <a:prstGeom prst="roundRect">
            <a:avLst>
              <a:gd name="adj" fmla="val 10154"/>
            </a:avLst>
          </a:prstGeom>
          <a:solidFill>
            <a:srgbClr val="DCE8F4"/>
          </a:solidFill>
          <a:ln/>
        </p:spPr>
      </p:sp>
      <p:pic>
        <p:nvPicPr>
          <p:cNvPr id="18" name="Image 0" descr="Database">    </p:cNvPr>
          <p:cNvPicPr>
            <a:picLocks noChangeAspect="1"/>
          </p:cNvPicPr>
          <p:nvPr/>
        </p:nvPicPr>
        <p:blipFill>
          <a:blip r:embed="rId1"/>
          <a:srcRect l="0" r="0" t="0" b="0"/>
          <a:stretch/>
        </p:blipFill>
        <p:spPr>
          <a:xfrm>
            <a:off x="990600" y="3596481"/>
            <a:ext cx="254000" cy="254000"/>
          </a:xfrm>
          <a:prstGeom prst="rect">
            <a:avLst/>
          </a:prstGeom>
        </p:spPr>
      </p:pic>
      <p:sp>
        <p:nvSpPr>
          <p:cNvPr id="19" name="Text 16"/>
          <p:cNvSpPr/>
          <p:nvPr/>
        </p:nvSpPr>
        <p:spPr>
          <a:xfrm>
            <a:off x="1371600" y="3596481"/>
            <a:ext cx="459797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Sadržaj</a:t>
            </a:r>
            <a:endParaRPr lang="en-US" sz="1300" dirty="0"/>
          </a:p>
        </p:txBody>
      </p:sp>
      <p:sp>
        <p:nvSpPr>
          <p:cNvPr id="20" name="Text 17"/>
          <p:cNvSpPr/>
          <p:nvPr/>
        </p:nvSpPr>
        <p:spPr>
          <a:xfrm>
            <a:off x="1371600" y="3852962"/>
            <a:ext cx="459797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Podaci historiana u CSV obliku, snimljen mrežni saobraćaj i oznaka normalno ili napad za svaki zapis.</a:t>
            </a:r>
            <a:endParaRPr lang="en-US" sz="1200" dirty="0"/>
          </a:p>
        </p:txBody>
      </p:sp>
      <p:sp>
        <p:nvSpPr>
          <p:cNvPr id="21" name="Shape 18"/>
          <p:cNvSpPr/>
          <p:nvPr/>
        </p:nvSpPr>
        <p:spPr>
          <a:xfrm>
            <a:off x="6169025" y="3447256"/>
            <a:ext cx="5207000" cy="994271"/>
          </a:xfrm>
          <a:prstGeom prst="roundRect">
            <a:avLst>
              <a:gd name="adj" fmla="val 9899"/>
            </a:avLst>
          </a:prstGeom>
          <a:solidFill>
            <a:srgbClr val="FCFCFB"/>
          </a:solidFill>
          <a:ln w="6350">
            <a:solidFill>
              <a:srgbClr val="D3DAE1"/>
            </a:solidFill>
            <a:prstDash val="solid"/>
          </a:ln>
        </p:spPr>
      </p:sp>
      <p:pic>
        <p:nvPicPr>
          <p:cNvPr id="22" name="Image 1" descr="Key">    </p:cNvPr>
          <p:cNvPicPr>
            <a:picLocks noChangeAspect="1"/>
          </p:cNvPicPr>
          <p:nvPr/>
        </p:nvPicPr>
        <p:blipFill>
          <a:blip r:embed="rId2"/>
          <a:srcRect l="0" r="0" t="0" b="0"/>
          <a:stretch/>
        </p:blipFill>
        <p:spPr>
          <a:xfrm>
            <a:off x="6350000" y="3602831"/>
            <a:ext cx="254000" cy="254000"/>
          </a:xfrm>
          <a:prstGeom prst="rect">
            <a:avLst/>
          </a:prstGeom>
        </p:spPr>
      </p:pic>
      <p:sp>
        <p:nvSpPr>
          <p:cNvPr id="23" name="Text 19"/>
          <p:cNvSpPr/>
          <p:nvPr/>
        </p:nvSpPr>
        <p:spPr>
          <a:xfrm>
            <a:off x="6731000" y="3602831"/>
            <a:ext cx="459797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Pristup</a:t>
            </a:r>
            <a:endParaRPr lang="en-US" sz="1300" dirty="0"/>
          </a:p>
        </p:txBody>
      </p:sp>
      <p:sp>
        <p:nvSpPr>
          <p:cNvPr id="24" name="Text 20"/>
          <p:cNvSpPr/>
          <p:nvPr/>
        </p:nvSpPr>
        <p:spPr>
          <a:xfrm>
            <a:off x="6731000" y="3859312"/>
            <a:ext cx="459797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Popunjavanjem zahteva na stranici instituta iTrust, uz uslove korišćenja i obavezu citiranja.</a:t>
            </a:r>
            <a:endParaRPr lang="en-US" sz="1200" dirty="0"/>
          </a:p>
        </p:txBody>
      </p:sp>
      <p:sp>
        <p:nvSpPr>
          <p:cNvPr id="25" name="Shape 21"/>
          <p:cNvSpPr/>
          <p:nvPr/>
        </p:nvSpPr>
        <p:spPr>
          <a:xfrm>
            <a:off x="812800" y="6209705"/>
            <a:ext cx="10566400" cy="0"/>
          </a:xfrm>
          <a:prstGeom prst="line">
            <a:avLst/>
          </a:prstGeom>
          <a:noFill/>
          <a:ln w="6350">
            <a:solidFill>
              <a:srgbClr val="D3DAE1"/>
            </a:solidFill>
            <a:prstDash val="solid"/>
          </a:ln>
        </p:spPr>
      </p:sp>
      <p:sp>
        <p:nvSpPr>
          <p:cNvPr id="26" name="Text 22"/>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27" name="Text 2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SWAT I HAI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Oznake senzora i aktuatora</a:t>
            </a:r>
            <a:endParaRPr lang="en-US" sz="3000" dirty="0"/>
          </a:p>
        </p:txBody>
      </p:sp>
      <p:sp>
        <p:nvSpPr>
          <p:cNvPr id="5" name="Shape 3"/>
          <p:cNvSpPr/>
          <p:nvPr/>
        </p:nvSpPr>
        <p:spPr>
          <a:xfrm>
            <a:off x="812800" y="1673820"/>
            <a:ext cx="6858000" cy="2985294"/>
          </a:xfrm>
          <a:prstGeom prst="roundRect">
            <a:avLst>
              <a:gd name="adj" fmla="val 3403"/>
            </a:avLst>
          </a:prstGeom>
          <a:solidFill>
            <a:srgbClr val="FCFCFB"/>
          </a:solidFill>
          <a:ln/>
        </p:spPr>
      </p:sp>
      <p:sp>
        <p:nvSpPr>
          <p:cNvPr id="6" name="Shape 4"/>
          <p:cNvSpPr/>
          <p:nvPr/>
        </p:nvSpPr>
        <p:spPr>
          <a:xfrm>
            <a:off x="812800" y="1673820"/>
            <a:ext cx="6858000" cy="2985294"/>
          </a:xfrm>
          <a:custGeom>
            <a:avLst/>
            <a:gdLst/>
            <a:ahLst/>
            <a:cxnLst/>
            <a:rect l="l" t="t" r="r" b="b"/>
            <a:pathLst>
              <a:path w="6858000" h="2985294">
                <a:moveTo>
                  <a:pt x="6756400" y="0"/>
                </a:moveTo>
                <a:lnTo>
                  <a:pt x="6756400" y="0"/>
                </a:lnTo>
                <a:arcTo hR="101600" wR="101600" stAng="16200000" swAng="5400000"/>
                <a:lnTo>
                  <a:pt x="6858000" y="2883694"/>
                </a:lnTo>
                <a:arcTo hR="101600" wR="101600" stAng="0" swAng="5400000"/>
                <a:lnTo>
                  <a:pt x="101600" y="2985294"/>
                </a:lnTo>
                <a:arcTo hR="101600" wR="101600" stAng="5400000" swAng="5400000"/>
                <a:lnTo>
                  <a:pt x="0" y="2883694"/>
                </a:lnTo>
                <a:arcTo hR="95250" wR="101600" stAng="10800000" swAng="-5400000"/>
                <a:lnTo>
                  <a:pt x="6756400" y="2978944"/>
                </a:lnTo>
                <a:arcTo hR="95250" wR="95250" stAng="5400000" swAng="-5400000"/>
                <a:lnTo>
                  <a:pt x="6851650" y="101600"/>
                </a:lnTo>
                <a:arcTo hR="101600" wR="95250" stAng="0" swAng="-5400000"/>
                <a:close/>
              </a:path>
            </a:pathLst>
          </a:custGeom>
          <a:solidFill>
            <a:srgbClr val="D3DAE1"/>
          </a:solidFill>
          <a:ln/>
        </p:spPr>
      </p:sp>
      <p:sp>
        <p:nvSpPr>
          <p:cNvPr id="7" name="Shape 5"/>
          <p:cNvSpPr/>
          <p:nvPr/>
        </p:nvSpPr>
        <p:spPr>
          <a:xfrm>
            <a:off x="812800" y="1673820"/>
            <a:ext cx="6858000" cy="2985294"/>
          </a:xfrm>
          <a:custGeom>
            <a:avLst/>
            <a:gdLst/>
            <a:ahLst/>
            <a:cxnLst/>
            <a:rect l="l" t="t" r="r" b="b"/>
            <a:pathLst>
              <a:path w="6858000" h="2985294">
                <a:moveTo>
                  <a:pt x="101600" y="2985294"/>
                </a:moveTo>
                <a:lnTo>
                  <a:pt x="101600" y="2985294"/>
                </a:lnTo>
                <a:arcTo hR="101600" wR="101600" stAng="5400000" swAng="5400000"/>
                <a:lnTo>
                  <a:pt x="0" y="101600"/>
                </a:lnTo>
                <a:arcTo hR="101600" wR="101600" stAng="10800000" swAng="5400000"/>
                <a:lnTo>
                  <a:pt x="6756400" y="0"/>
                </a:lnTo>
                <a:arcTo hR="101600" wR="101600" stAng="16200000" swAng="5400000"/>
                <a:lnTo>
                  <a:pt x="6858000" y="101600"/>
                </a:lnTo>
                <a:arcTo hR="88900" wR="101600" stAng="0" swAng="-5400000"/>
                <a:lnTo>
                  <a:pt x="101600" y="12700"/>
                </a:lnTo>
                <a:arcTo hR="88900" wR="88900" stAng="16200000" swAng="-5400000"/>
                <a:lnTo>
                  <a:pt x="12700" y="2883694"/>
                </a:lnTo>
                <a:arcTo hR="101600" wR="8890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686520"/>
          <a:ext cx="6838950" cy="2966244"/>
        </p:xfrm>
        <a:graphic>
          <a:graphicData uri="http://schemas.openxmlformats.org/drawingml/2006/table">
            <a:tbl>
              <a:tblPr/>
              <a:tblGrid>
                <a:gridCol w="1094232"/>
                <a:gridCol w="2735580"/>
                <a:gridCol w="1641348"/>
                <a:gridCol w="1367790"/>
              </a:tblGrid>
              <a:tr h="370780">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Prefiks</a:t>
                      </a:r>
                      <a:endParaRPr lang="en-US" sz="1200" dirty="0">
                        <a:latin typeface="IBM Plex Sans" charset="0"/>
                        <a:ea typeface="IBM Plex Sans" charset="0"/>
                        <a:cs typeface="IBM Plex Sans" charset="0"/>
                      </a:endParaRPr>
                    </a:p>
                  </a:txBody>
                  <a:tcPr marL="139700" marR="139700" marT="76200" marB="76200" anchor="t">
                    <a:lnL w="0" cap="flat" cmpd="sng" algn="ctr">
                      <a:noFill/>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Značenje</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Vrednost</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Primer</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r>
              <a:tr h="37078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LIT</a:t>
                      </a:r>
                      <a:endParaRPr lang="en-US" sz="1200" dirty="0">
                        <a:latin typeface="IBM Plex Sans" charset="0"/>
                        <a:ea typeface="IBM Plex Sans" charset="0"/>
                        <a:cs typeface="IBM Plex Sans" charset="0"/>
                      </a:endParaRPr>
                    </a:p>
                  </a:txBody>
                  <a:tcPr marL="139700" marR="1397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Merač i pokazivač nivoa</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mm</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LIT101</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7078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FIT</a:t>
                      </a:r>
                      <a:endParaRPr lang="en-US" sz="1200" dirty="0">
                        <a:latin typeface="IBM Plex Sans" charset="0"/>
                        <a:ea typeface="IBM Plex Sans" charset="0"/>
                        <a:cs typeface="IBM Plex Sans" charset="0"/>
                      </a:endParaRPr>
                    </a:p>
                  </a:txBody>
                  <a:tcPr marL="139700" marR="1397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Merač i pokazivač protoka</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m³/h</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FIT101</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7078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AIT</a:t>
                      </a:r>
                      <a:endParaRPr lang="en-US" sz="1200" dirty="0">
                        <a:latin typeface="IBM Plex Sans" charset="0"/>
                        <a:ea typeface="IBM Plex Sans" charset="0"/>
                        <a:cs typeface="IBM Plex Sans" charset="0"/>
                      </a:endParaRPr>
                    </a:p>
                  </a:txBody>
                  <a:tcPr marL="139700" marR="1397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Analizator kvaliteta vode</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kontinualna</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AIT201</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7078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DPIT</a:t>
                      </a:r>
                      <a:endParaRPr lang="en-US" sz="1200" dirty="0">
                        <a:latin typeface="IBM Plex Sans" charset="0"/>
                        <a:ea typeface="IBM Plex Sans" charset="0"/>
                        <a:cs typeface="IBM Plex Sans" charset="0"/>
                      </a:endParaRPr>
                    </a:p>
                  </a:txBody>
                  <a:tcPr marL="139700" marR="1397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Merač razlike pritisaka</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kontinualna</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DPIT301</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7078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MV</a:t>
                      </a:r>
                      <a:endParaRPr lang="en-US" sz="1200" dirty="0">
                        <a:latin typeface="IBM Plex Sans" charset="0"/>
                        <a:ea typeface="IBM Plex Sans" charset="0"/>
                        <a:cs typeface="IBM Plex Sans" charset="0"/>
                      </a:endParaRPr>
                    </a:p>
                  </a:txBody>
                  <a:tcPr marL="139700" marR="1397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Motorni ventil</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diskretno stanje</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MV101</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7078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P</a:t>
                      </a:r>
                      <a:endParaRPr lang="en-US" sz="1200" dirty="0">
                        <a:latin typeface="IBM Plex Sans" charset="0"/>
                        <a:ea typeface="IBM Plex Sans" charset="0"/>
                        <a:cs typeface="IBM Plex Sans" charset="0"/>
                      </a:endParaRPr>
                    </a:p>
                  </a:txBody>
                  <a:tcPr marL="139700" marR="1397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Pumpa</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diskretno stanje</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P101</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7078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UV</a:t>
                      </a:r>
                      <a:endParaRPr lang="en-US" sz="1200" dirty="0">
                        <a:latin typeface="IBM Plex Sans" charset="0"/>
                        <a:ea typeface="IBM Plex Sans" charset="0"/>
                        <a:cs typeface="IBM Plex Sans" charset="0"/>
                      </a:endParaRPr>
                    </a:p>
                  </a:txBody>
                  <a:tcPr marL="139700" marR="1397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UV lampa za deklorinaciju</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diskretno stanje</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UV401</a:t>
                      </a:r>
                      <a:endParaRPr lang="en-US" sz="1200" dirty="0">
                        <a:latin typeface="IBM Plex Sans" charset="0"/>
                        <a:ea typeface="IBM Plex Sans" charset="0"/>
                        <a:cs typeface="IBM Plex Sans" charset="0"/>
                      </a:endParaRPr>
                    </a:p>
                  </a:txBody>
                  <a:tcPr marL="139700" marR="1397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9" name="Shape 6"/>
          <p:cNvSpPr/>
          <p:nvPr/>
        </p:nvSpPr>
        <p:spPr>
          <a:xfrm>
            <a:off x="7975600" y="1673820"/>
            <a:ext cx="3403600" cy="1274961"/>
          </a:xfrm>
          <a:prstGeom prst="roundRect">
            <a:avLst>
              <a:gd name="adj" fmla="val 7969"/>
            </a:avLst>
          </a:prstGeom>
          <a:solidFill>
            <a:srgbClr val="DCE8F4"/>
          </a:solidFill>
          <a:ln/>
        </p:spPr>
      </p:sp>
      <p:sp>
        <p:nvSpPr>
          <p:cNvPr id="10" name="Text 7"/>
          <p:cNvSpPr/>
          <p:nvPr/>
        </p:nvSpPr>
        <p:spPr>
          <a:xfrm>
            <a:off x="8153400" y="1826220"/>
            <a:ext cx="31394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Čitanje oznake</a:t>
            </a:r>
            <a:endParaRPr lang="en-US" sz="1200" dirty="0"/>
          </a:p>
        </p:txBody>
      </p:sp>
      <p:sp>
        <p:nvSpPr>
          <p:cNvPr id="11" name="Text 8"/>
          <p:cNvSpPr/>
          <p:nvPr/>
        </p:nvSpPr>
        <p:spPr>
          <a:xfrm>
            <a:off x="8153400" y="2115741"/>
            <a:ext cx="55374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A5CA8"/>
                </a:solidFill>
                <a:latin typeface="IBM Plex Mono" pitchFamily="49" charset="0"/>
                <a:ea typeface="IBM Plex Mono" pitchFamily="49" charset="-122"/>
                <a:cs typeface="IBM Plex Mono" pitchFamily="49" charset="-120"/>
              </a:rPr>
              <a:t>LIT</a:t>
            </a:r>
            <a:endParaRPr lang="en-US" sz="2200" dirty="0"/>
          </a:p>
        </p:txBody>
      </p:sp>
      <p:sp>
        <p:nvSpPr>
          <p:cNvPr id="12" name="Text 9"/>
          <p:cNvSpPr/>
          <p:nvPr/>
        </p:nvSpPr>
        <p:spPr>
          <a:xfrm>
            <a:off x="8669040" y="2115741"/>
            <a:ext cx="21848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8520A"/>
                </a:solidFill>
                <a:latin typeface="IBM Plex Mono" pitchFamily="49" charset="0"/>
                <a:ea typeface="IBM Plex Mono" pitchFamily="49" charset="-122"/>
                <a:cs typeface="IBM Plex Mono" pitchFamily="49" charset="-120"/>
              </a:rPr>
              <a:t>1</a:t>
            </a:r>
            <a:endParaRPr lang="en-US" sz="2200" dirty="0"/>
          </a:p>
        </p:txBody>
      </p:sp>
      <p:sp>
        <p:nvSpPr>
          <p:cNvPr id="13" name="Text 10"/>
          <p:cNvSpPr/>
          <p:nvPr/>
        </p:nvSpPr>
        <p:spPr>
          <a:xfrm>
            <a:off x="8849420" y="2115741"/>
            <a:ext cx="40243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3202D"/>
                </a:solidFill>
                <a:latin typeface="IBM Plex Mono" pitchFamily="49" charset="0"/>
                <a:ea typeface="IBM Plex Mono" pitchFamily="49" charset="-122"/>
                <a:cs typeface="IBM Plex Mono" pitchFamily="49" charset="-120"/>
              </a:rPr>
              <a:t>01</a:t>
            </a:r>
            <a:endParaRPr lang="en-US" sz="2200" dirty="0"/>
          </a:p>
        </p:txBody>
      </p:sp>
      <p:sp>
        <p:nvSpPr>
          <p:cNvPr id="14" name="Text 11"/>
          <p:cNvSpPr/>
          <p:nvPr/>
        </p:nvSpPr>
        <p:spPr>
          <a:xfrm>
            <a:off x="8153400" y="2583061"/>
            <a:ext cx="31394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vrsta instrumenta</a:t>
            </a:r>
            <a:r>
              <a:rPr lang="en-US" sz="1200" dirty="0">
                <a:solidFill>
                  <a:srgbClr val="44505D"/>
                </a:solidFill>
                <a:latin typeface="IBM Plex Sans" pitchFamily="34" charset="0"/>
                <a:ea typeface="IBM Plex Sans" pitchFamily="34" charset="-122"/>
                <a:cs typeface="IBM Plex Sans" pitchFamily="34" charset="-120"/>
              </a:rPr>
              <a:t> · </a:t>
            </a:r>
            <a:r>
              <a:rPr lang="en-US" sz="1200" dirty="0">
                <a:solidFill>
                  <a:srgbClr val="A8520A"/>
                </a:solidFill>
                <a:latin typeface="IBM Plex Sans" pitchFamily="34" charset="0"/>
                <a:ea typeface="IBM Plex Sans" pitchFamily="34" charset="-122"/>
                <a:cs typeface="IBM Plex Sans" pitchFamily="34" charset="-120"/>
              </a:rPr>
              <a:t>faza</a:t>
            </a:r>
            <a:r>
              <a:rPr lang="en-US" sz="1200" dirty="0">
                <a:solidFill>
                  <a:srgbClr val="44505D"/>
                </a:solidFill>
                <a:latin typeface="IBM Plex Sans" pitchFamily="34" charset="0"/>
                <a:ea typeface="IBM Plex Sans" pitchFamily="34" charset="-122"/>
                <a:cs typeface="IBM Plex Sans" pitchFamily="34" charset="-120"/>
              </a:rPr>
              <a:t> · redni broj</a:t>
            </a:r>
            <a:endParaRPr lang="en-US" sz="1200" dirty="0"/>
          </a:p>
        </p:txBody>
      </p:sp>
      <p:sp>
        <p:nvSpPr>
          <p:cNvPr id="15" name="Text 12"/>
          <p:cNvSpPr/>
          <p:nvPr/>
        </p:nvSpPr>
        <p:spPr>
          <a:xfrm>
            <a:off x="7975600" y="3075781"/>
            <a:ext cx="350570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Imenovanje prati konvenciju ISA-5.1 iz prethodne prezentacije: prvo slovo je merena veličina, a naredna slova funkcija.</a:t>
            </a:r>
            <a:endParaRPr lang="en-US" sz="1200" dirty="0"/>
          </a:p>
        </p:txBody>
      </p:sp>
      <p:sp>
        <p:nvSpPr>
          <p:cNvPr id="16" name="Shape 13"/>
          <p:cNvSpPr/>
          <p:nvPr/>
        </p:nvSpPr>
        <p:spPr>
          <a:xfrm>
            <a:off x="812800" y="6209705"/>
            <a:ext cx="10566400" cy="0"/>
          </a:xfrm>
          <a:prstGeom prst="line">
            <a:avLst/>
          </a:prstGeom>
          <a:noFill/>
          <a:ln w="6350">
            <a:solidFill>
              <a:srgbClr val="D3DAE1"/>
            </a:solidFill>
            <a:prstDash val="solid"/>
          </a:ln>
        </p:spPr>
      </p:sp>
      <p:sp>
        <p:nvSpPr>
          <p:cNvPr id="17" name="Text 14"/>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18" name="Text 1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SWAT I HAI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Tipologija napada u skupu SWaT</a:t>
            </a:r>
            <a:endParaRPr lang="en-US" sz="3000" dirty="0"/>
          </a:p>
        </p:txBody>
      </p:sp>
      <p:sp>
        <p:nvSpPr>
          <p:cNvPr id="5" name="Text 3"/>
          <p:cNvSpPr/>
          <p:nvPr/>
        </p:nvSpPr>
        <p:spPr>
          <a:xfrm>
            <a:off x="787400" y="1724620"/>
            <a:ext cx="1447800" cy="746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Jedna tačka</a:t>
            </a:r>
            <a:endParaRPr lang="en-US" sz="1200" dirty="0"/>
          </a:p>
        </p:txBody>
      </p:sp>
      <p:sp>
        <p:nvSpPr>
          <p:cNvPr id="6" name="Text 4"/>
          <p:cNvSpPr/>
          <p:nvPr/>
        </p:nvSpPr>
        <p:spPr>
          <a:xfrm>
            <a:off x="2256663" y="1724620"/>
            <a:ext cx="2014474" cy="746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Više tačaka</a:t>
            </a:r>
            <a:endParaRPr lang="en-US" sz="1200" dirty="0"/>
          </a:p>
        </p:txBody>
      </p:sp>
      <p:sp>
        <p:nvSpPr>
          <p:cNvPr id="7" name="Text 5"/>
          <p:cNvSpPr/>
          <p:nvPr/>
        </p:nvSpPr>
        <p:spPr>
          <a:xfrm>
            <a:off x="4318000" y="1978620"/>
            <a:ext cx="201447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Jedna faza</a:t>
            </a:r>
            <a:endParaRPr lang="en-US" sz="1200" dirty="0"/>
          </a:p>
        </p:txBody>
      </p:sp>
      <p:sp>
        <p:nvSpPr>
          <p:cNvPr id="8" name="Shape 6"/>
          <p:cNvSpPr/>
          <p:nvPr/>
        </p:nvSpPr>
        <p:spPr>
          <a:xfrm>
            <a:off x="812800" y="2572941"/>
            <a:ext cx="1397000" cy="1033661"/>
          </a:xfrm>
          <a:prstGeom prst="roundRect">
            <a:avLst>
              <a:gd name="adj" fmla="val 7372"/>
            </a:avLst>
          </a:prstGeom>
          <a:solidFill>
            <a:srgbClr val="0A5CA8"/>
          </a:solidFill>
          <a:ln/>
        </p:spPr>
      </p:sp>
      <p:sp>
        <p:nvSpPr>
          <p:cNvPr id="9" name="Text 7"/>
          <p:cNvSpPr/>
          <p:nvPr/>
        </p:nvSpPr>
        <p:spPr>
          <a:xfrm>
            <a:off x="1182092" y="2725341"/>
            <a:ext cx="658416" cy="528241"/>
          </a:xfrm>
          <a:prstGeom prst="rect">
            <a:avLst/>
          </a:prstGeom>
          <a:noFill/>
          <a:ln/>
        </p:spPr>
        <p:txBody>
          <a:bodyPr wrap="square" lIns="0" tIns="0" rIns="0" bIns="0" rtlCol="0" anchor="t">
            <a:normAutofit/>
          </a:bodyPr>
          <a:lstStyle/>
          <a:p>
            <a:pPr algn="ctr" indent="0" marL="0">
              <a:lnSpc>
                <a:spcPts val="3960"/>
              </a:lnSpc>
              <a:buNone/>
            </a:pPr>
            <a:r>
              <a:rPr lang="en-US" sz="3600" dirty="0">
                <a:solidFill>
                  <a:srgbClr val="F6F7F5"/>
                </a:solidFill>
                <a:latin typeface="IBM Plex Mono" pitchFamily="49" charset="0"/>
                <a:ea typeface="IBM Plex Mono" pitchFamily="49" charset="-122"/>
                <a:cs typeface="IBM Plex Mono" pitchFamily="49" charset="-120"/>
              </a:rPr>
              <a:t>26</a:t>
            </a:r>
            <a:endParaRPr lang="en-US" sz="3600" dirty="0"/>
          </a:p>
        </p:txBody>
      </p:sp>
      <p:sp>
        <p:nvSpPr>
          <p:cNvPr id="10" name="Text 8"/>
          <p:cNvSpPr/>
          <p:nvPr/>
        </p:nvSpPr>
        <p:spPr>
          <a:xfrm>
            <a:off x="1291759" y="3240881"/>
            <a:ext cx="43898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CE8F4"/>
                </a:solidFill>
                <a:latin typeface="IBM Plex Mono" pitchFamily="49" charset="0"/>
                <a:ea typeface="IBM Plex Mono" pitchFamily="49" charset="-122"/>
                <a:cs typeface="IBM Plex Mono" pitchFamily="49" charset="-120"/>
              </a:rPr>
              <a:t>SSSP</a:t>
            </a:r>
            <a:endParaRPr lang="en-US" sz="1200" dirty="0"/>
          </a:p>
        </p:txBody>
      </p:sp>
      <p:sp>
        <p:nvSpPr>
          <p:cNvPr id="11" name="Shape 9"/>
          <p:cNvSpPr/>
          <p:nvPr/>
        </p:nvSpPr>
        <p:spPr>
          <a:xfrm>
            <a:off x="2286000" y="2572941"/>
            <a:ext cx="1955800" cy="1033661"/>
          </a:xfrm>
          <a:prstGeom prst="roundRect">
            <a:avLst>
              <a:gd name="adj" fmla="val 7372"/>
            </a:avLst>
          </a:prstGeom>
          <a:solidFill>
            <a:srgbClr val="C3D7EC"/>
          </a:solidFill>
          <a:ln/>
        </p:spPr>
      </p:sp>
      <p:sp>
        <p:nvSpPr>
          <p:cNvPr id="12" name="Text 10"/>
          <p:cNvSpPr/>
          <p:nvPr/>
        </p:nvSpPr>
        <p:spPr>
          <a:xfrm>
            <a:off x="3099246" y="2725341"/>
            <a:ext cx="329208" cy="528241"/>
          </a:xfrm>
          <a:prstGeom prst="rect">
            <a:avLst/>
          </a:prstGeom>
          <a:noFill/>
          <a:ln/>
        </p:spPr>
        <p:txBody>
          <a:bodyPr wrap="square" lIns="0" tIns="0" rIns="0" bIns="0" rtlCol="0" anchor="t">
            <a:normAutofit/>
          </a:bodyPr>
          <a:lstStyle/>
          <a:p>
            <a:pPr algn="ctr" indent="0" marL="0">
              <a:lnSpc>
                <a:spcPts val="3960"/>
              </a:lnSpc>
              <a:buNone/>
            </a:pPr>
            <a:r>
              <a:rPr lang="en-US" sz="3600" dirty="0">
                <a:solidFill>
                  <a:srgbClr val="13202D"/>
                </a:solidFill>
                <a:latin typeface="IBM Plex Mono" pitchFamily="49" charset="0"/>
                <a:ea typeface="IBM Plex Mono" pitchFamily="49" charset="-122"/>
                <a:cs typeface="IBM Plex Mono" pitchFamily="49" charset="-120"/>
              </a:rPr>
              <a:t>4</a:t>
            </a:r>
            <a:endParaRPr lang="en-US" sz="3600" dirty="0"/>
          </a:p>
        </p:txBody>
      </p:sp>
      <p:sp>
        <p:nvSpPr>
          <p:cNvPr id="13" name="Text 11"/>
          <p:cNvSpPr/>
          <p:nvPr/>
        </p:nvSpPr>
        <p:spPr>
          <a:xfrm>
            <a:off x="3044359" y="3240881"/>
            <a:ext cx="43898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SSMP</a:t>
            </a:r>
            <a:endParaRPr lang="en-US" sz="1200" dirty="0"/>
          </a:p>
        </p:txBody>
      </p:sp>
      <p:sp>
        <p:nvSpPr>
          <p:cNvPr id="14" name="Text 12"/>
          <p:cNvSpPr/>
          <p:nvPr/>
        </p:nvSpPr>
        <p:spPr>
          <a:xfrm>
            <a:off x="4318000" y="2877741"/>
            <a:ext cx="2014474" cy="4494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Više faza</a:t>
            </a:r>
            <a:endParaRPr lang="en-US" sz="1200" dirty="0"/>
          </a:p>
        </p:txBody>
      </p:sp>
      <p:sp>
        <p:nvSpPr>
          <p:cNvPr id="15" name="Shape 13"/>
          <p:cNvSpPr/>
          <p:nvPr/>
        </p:nvSpPr>
        <p:spPr>
          <a:xfrm>
            <a:off x="812800" y="3682802"/>
            <a:ext cx="1397000" cy="1033661"/>
          </a:xfrm>
          <a:prstGeom prst="roundRect">
            <a:avLst>
              <a:gd name="adj" fmla="val 7372"/>
            </a:avLst>
          </a:prstGeom>
          <a:solidFill>
            <a:srgbClr val="DCE8F4"/>
          </a:solidFill>
          <a:ln/>
        </p:spPr>
      </p:sp>
      <p:sp>
        <p:nvSpPr>
          <p:cNvPr id="16" name="Text 14"/>
          <p:cNvSpPr/>
          <p:nvPr/>
        </p:nvSpPr>
        <p:spPr>
          <a:xfrm>
            <a:off x="1346646" y="3835202"/>
            <a:ext cx="329208" cy="528241"/>
          </a:xfrm>
          <a:prstGeom prst="rect">
            <a:avLst/>
          </a:prstGeom>
          <a:noFill/>
          <a:ln/>
        </p:spPr>
        <p:txBody>
          <a:bodyPr wrap="square" lIns="0" tIns="0" rIns="0" bIns="0" rtlCol="0" anchor="t">
            <a:normAutofit/>
          </a:bodyPr>
          <a:lstStyle/>
          <a:p>
            <a:pPr algn="ctr" indent="0" marL="0">
              <a:lnSpc>
                <a:spcPts val="3960"/>
              </a:lnSpc>
              <a:buNone/>
            </a:pPr>
            <a:r>
              <a:rPr lang="en-US" sz="3600" dirty="0">
                <a:solidFill>
                  <a:srgbClr val="13202D"/>
                </a:solidFill>
                <a:latin typeface="IBM Plex Mono" pitchFamily="49" charset="0"/>
                <a:ea typeface="IBM Plex Mono" pitchFamily="49" charset="-122"/>
                <a:cs typeface="IBM Plex Mono" pitchFamily="49" charset="-120"/>
              </a:rPr>
              <a:t>2</a:t>
            </a:r>
            <a:endParaRPr lang="en-US" sz="3600" dirty="0"/>
          </a:p>
        </p:txBody>
      </p:sp>
      <p:sp>
        <p:nvSpPr>
          <p:cNvPr id="17" name="Text 15"/>
          <p:cNvSpPr/>
          <p:nvPr/>
        </p:nvSpPr>
        <p:spPr>
          <a:xfrm>
            <a:off x="1291759" y="4350742"/>
            <a:ext cx="43898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MSSP</a:t>
            </a:r>
            <a:endParaRPr lang="en-US" sz="1200" dirty="0"/>
          </a:p>
        </p:txBody>
      </p:sp>
      <p:sp>
        <p:nvSpPr>
          <p:cNvPr id="18" name="Shape 16"/>
          <p:cNvSpPr/>
          <p:nvPr/>
        </p:nvSpPr>
        <p:spPr>
          <a:xfrm>
            <a:off x="2286000" y="3682802"/>
            <a:ext cx="1955800" cy="1033661"/>
          </a:xfrm>
          <a:prstGeom prst="roundRect">
            <a:avLst>
              <a:gd name="adj" fmla="val 7372"/>
            </a:avLst>
          </a:prstGeom>
          <a:solidFill>
            <a:srgbClr val="C3D7EC"/>
          </a:solidFill>
          <a:ln/>
        </p:spPr>
      </p:sp>
      <p:sp>
        <p:nvSpPr>
          <p:cNvPr id="19" name="Text 17"/>
          <p:cNvSpPr/>
          <p:nvPr/>
        </p:nvSpPr>
        <p:spPr>
          <a:xfrm>
            <a:off x="3099246" y="3835202"/>
            <a:ext cx="329208" cy="528241"/>
          </a:xfrm>
          <a:prstGeom prst="rect">
            <a:avLst/>
          </a:prstGeom>
          <a:noFill/>
          <a:ln/>
        </p:spPr>
        <p:txBody>
          <a:bodyPr wrap="square" lIns="0" tIns="0" rIns="0" bIns="0" rtlCol="0" anchor="t">
            <a:normAutofit/>
          </a:bodyPr>
          <a:lstStyle/>
          <a:p>
            <a:pPr algn="ctr" indent="0" marL="0">
              <a:lnSpc>
                <a:spcPts val="3960"/>
              </a:lnSpc>
              <a:buNone/>
            </a:pPr>
            <a:r>
              <a:rPr lang="en-US" sz="3600" dirty="0">
                <a:solidFill>
                  <a:srgbClr val="13202D"/>
                </a:solidFill>
                <a:latin typeface="IBM Plex Mono" pitchFamily="49" charset="0"/>
                <a:ea typeface="IBM Plex Mono" pitchFamily="49" charset="-122"/>
                <a:cs typeface="IBM Plex Mono" pitchFamily="49" charset="-120"/>
              </a:rPr>
              <a:t>4</a:t>
            </a:r>
            <a:endParaRPr lang="en-US" sz="3600" dirty="0"/>
          </a:p>
        </p:txBody>
      </p:sp>
      <p:sp>
        <p:nvSpPr>
          <p:cNvPr id="20" name="Text 18"/>
          <p:cNvSpPr/>
          <p:nvPr/>
        </p:nvSpPr>
        <p:spPr>
          <a:xfrm>
            <a:off x="3044359" y="4350742"/>
            <a:ext cx="43898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MSMP</a:t>
            </a:r>
            <a:endParaRPr lang="en-US" sz="1200" dirty="0"/>
          </a:p>
        </p:txBody>
      </p:sp>
      <p:sp>
        <p:nvSpPr>
          <p:cNvPr id="21" name="Shape 19"/>
          <p:cNvSpPr/>
          <p:nvPr/>
        </p:nvSpPr>
        <p:spPr>
          <a:xfrm>
            <a:off x="6642100" y="1673820"/>
            <a:ext cx="0" cy="495201"/>
          </a:xfrm>
          <a:prstGeom prst="line">
            <a:avLst/>
          </a:prstGeom>
          <a:noFill/>
          <a:ln w="25400">
            <a:solidFill>
              <a:srgbClr val="0A5CA8"/>
            </a:solidFill>
            <a:prstDash val="solid"/>
          </a:ln>
        </p:spPr>
      </p:sp>
      <p:sp>
        <p:nvSpPr>
          <p:cNvPr id="22" name="Text 20"/>
          <p:cNvSpPr/>
          <p:nvPr/>
        </p:nvSpPr>
        <p:spPr>
          <a:xfrm>
            <a:off x="6807200" y="1686520"/>
            <a:ext cx="47091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Tačka napada</a:t>
            </a:r>
            <a:endParaRPr lang="en-US" sz="1300" dirty="0"/>
          </a:p>
        </p:txBody>
      </p:sp>
      <p:sp>
        <p:nvSpPr>
          <p:cNvPr id="23" name="Text 21"/>
          <p:cNvSpPr/>
          <p:nvPr/>
        </p:nvSpPr>
        <p:spPr>
          <a:xfrm>
            <a:off x="6807200" y="1943001"/>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Jedan senzor ili aktuator čija se vrednost ili komanda menja.</a:t>
            </a:r>
            <a:endParaRPr lang="en-US" sz="1200" dirty="0"/>
          </a:p>
        </p:txBody>
      </p:sp>
      <p:sp>
        <p:nvSpPr>
          <p:cNvPr id="24" name="Shape 22"/>
          <p:cNvSpPr/>
          <p:nvPr/>
        </p:nvSpPr>
        <p:spPr>
          <a:xfrm>
            <a:off x="6642100" y="2308721"/>
            <a:ext cx="0" cy="708521"/>
          </a:xfrm>
          <a:prstGeom prst="line">
            <a:avLst/>
          </a:prstGeom>
          <a:noFill/>
          <a:ln w="25400">
            <a:solidFill>
              <a:srgbClr val="0A5CA8"/>
            </a:solidFill>
            <a:prstDash val="solid"/>
          </a:ln>
        </p:spPr>
      </p:sp>
      <p:sp>
        <p:nvSpPr>
          <p:cNvPr id="25" name="Text 23"/>
          <p:cNvSpPr/>
          <p:nvPr/>
        </p:nvSpPr>
        <p:spPr>
          <a:xfrm>
            <a:off x="6807200" y="2321421"/>
            <a:ext cx="47091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Način izvođenja</a:t>
            </a:r>
            <a:endParaRPr lang="en-US" sz="1300" dirty="0"/>
          </a:p>
        </p:txBody>
      </p:sp>
      <p:sp>
        <p:nvSpPr>
          <p:cNvPr id="26" name="Text 24"/>
          <p:cNvSpPr/>
          <p:nvPr/>
        </p:nvSpPr>
        <p:spPr>
          <a:xfrm>
            <a:off x="6807200" y="2577902"/>
            <a:ext cx="47091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Napadi su izvedeni preko mreže, lažiranjem vrednosti senzora i komandi aktuatorima.</a:t>
            </a:r>
            <a:endParaRPr lang="en-US" sz="1200" dirty="0"/>
          </a:p>
        </p:txBody>
      </p:sp>
      <p:sp>
        <p:nvSpPr>
          <p:cNvPr id="27" name="Shape 25"/>
          <p:cNvSpPr/>
          <p:nvPr/>
        </p:nvSpPr>
        <p:spPr>
          <a:xfrm>
            <a:off x="6642100" y="3156942"/>
            <a:ext cx="0" cy="708521"/>
          </a:xfrm>
          <a:prstGeom prst="line">
            <a:avLst/>
          </a:prstGeom>
          <a:noFill/>
          <a:ln w="25400">
            <a:solidFill>
              <a:srgbClr val="E07B1F"/>
            </a:solidFill>
            <a:prstDash val="solid"/>
          </a:ln>
        </p:spPr>
      </p:sp>
      <p:sp>
        <p:nvSpPr>
          <p:cNvPr id="28" name="Text 26"/>
          <p:cNvSpPr/>
          <p:nvPr/>
        </p:nvSpPr>
        <p:spPr>
          <a:xfrm>
            <a:off x="6807200" y="3169642"/>
            <a:ext cx="47091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Višefazni napadi</a:t>
            </a:r>
            <a:endParaRPr lang="en-US" sz="1300" dirty="0"/>
          </a:p>
        </p:txBody>
      </p:sp>
      <p:sp>
        <p:nvSpPr>
          <p:cNvPr id="29" name="Text 27"/>
          <p:cNvSpPr/>
          <p:nvPr/>
        </p:nvSpPr>
        <p:spPr>
          <a:xfrm>
            <a:off x="6807200" y="3426123"/>
            <a:ext cx="47091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Najteži za otkrivanje, jer se posledica pojavljuje daleko od tačke napada.</a:t>
            </a:r>
            <a:endParaRPr lang="en-US" sz="1200" dirty="0"/>
          </a:p>
        </p:txBody>
      </p:sp>
      <p:sp>
        <p:nvSpPr>
          <p:cNvPr id="30" name="Text 28"/>
          <p:cNvSpPr/>
          <p:nvPr/>
        </p:nvSpPr>
        <p:spPr>
          <a:xfrm>
            <a:off x="6629400" y="4005163"/>
            <a:ext cx="48922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Tipologija obuhvata 36 napada opisanih u literaturi, dok iTrust navodi ukupno 41 izveden napad.</a:t>
            </a:r>
            <a:endParaRPr lang="en-US" sz="1200" dirty="0"/>
          </a:p>
        </p:txBody>
      </p:sp>
      <p:sp>
        <p:nvSpPr>
          <p:cNvPr id="31" name="Shape 29"/>
          <p:cNvSpPr/>
          <p:nvPr/>
        </p:nvSpPr>
        <p:spPr>
          <a:xfrm>
            <a:off x="812800" y="6209705"/>
            <a:ext cx="10566400" cy="0"/>
          </a:xfrm>
          <a:prstGeom prst="line">
            <a:avLst/>
          </a:prstGeom>
          <a:noFill/>
          <a:ln w="6350">
            <a:solidFill>
              <a:srgbClr val="D3DAE1"/>
            </a:solidFill>
            <a:prstDash val="solid"/>
          </a:ln>
        </p:spPr>
      </p:sp>
      <p:sp>
        <p:nvSpPr>
          <p:cNvPr id="32" name="Text 30"/>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33" name="Text 3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SWAT I HAI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Primer napada: prelivanje rezervoara</a:t>
            </a:r>
            <a:endParaRPr lang="en-US" sz="3000" dirty="0"/>
          </a:p>
        </p:txBody>
      </p:sp>
      <p:sp>
        <p:nvSpPr>
          <p:cNvPr id="5" name="Shape 3"/>
          <p:cNvSpPr/>
          <p:nvPr/>
        </p:nvSpPr>
        <p:spPr>
          <a:xfrm>
            <a:off x="815975" y="1676995"/>
            <a:ext cx="6724650" cy="3549650"/>
          </a:xfrm>
          <a:prstGeom prst="roundRect">
            <a:avLst>
              <a:gd name="adj" fmla="val 2773"/>
            </a:avLst>
          </a:prstGeom>
          <a:solidFill>
            <a:srgbClr val="FCFCFB"/>
          </a:solidFill>
          <a:ln w="6350">
            <a:solidFill>
              <a:srgbClr val="D3DAE1"/>
            </a:solidFill>
            <a:prstDash val="solid"/>
          </a:ln>
        </p:spPr>
      </p:sp>
      <p:pic>
        <p:nvPicPr>
          <p:cNvPr id="6" name="Image 0" descr="Ilustracija: nivo LIT101 normalno osciluje između granica L i H, a kada napadač drži ventil MV101 otvorenim, nivo prelazi granicu HH">    </p:cNvPr>
          <p:cNvPicPr>
            <a:picLocks noChangeAspect="1"/>
          </p:cNvPicPr>
          <p:nvPr/>
        </p:nvPicPr>
        <p:blipFill>
          <a:blip r:embed="rId1"/>
          <a:srcRect l="0" r="0" t="0" b="0"/>
          <a:stretch/>
        </p:blipFill>
        <p:spPr>
          <a:xfrm>
            <a:off x="1574800" y="1864320"/>
            <a:ext cx="5715000" cy="2921000"/>
          </a:xfrm>
          <a:prstGeom prst="rect">
            <a:avLst/>
          </a:prstGeom>
        </p:spPr>
      </p:pic>
      <p:sp>
        <p:nvSpPr>
          <p:cNvPr id="7" name="Text 4"/>
          <p:cNvSpPr/>
          <p:nvPr/>
        </p:nvSpPr>
        <p:spPr>
          <a:xfrm>
            <a:off x="863600" y="2010370"/>
            <a:ext cx="6604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HH</a:t>
            </a:r>
            <a:endParaRPr lang="en-US" sz="1200" dirty="0"/>
          </a:p>
        </p:txBody>
      </p:sp>
      <p:sp>
        <p:nvSpPr>
          <p:cNvPr id="8" name="Text 5"/>
          <p:cNvSpPr/>
          <p:nvPr/>
        </p:nvSpPr>
        <p:spPr>
          <a:xfrm>
            <a:off x="863600" y="2327870"/>
            <a:ext cx="660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H</a:t>
            </a:r>
            <a:endParaRPr lang="en-US" sz="1200" dirty="0"/>
          </a:p>
        </p:txBody>
      </p:sp>
      <p:sp>
        <p:nvSpPr>
          <p:cNvPr id="9" name="Text 6"/>
          <p:cNvSpPr/>
          <p:nvPr/>
        </p:nvSpPr>
        <p:spPr>
          <a:xfrm>
            <a:off x="863600" y="3216870"/>
            <a:ext cx="660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L</a:t>
            </a:r>
            <a:endParaRPr lang="en-US" sz="1200" dirty="0"/>
          </a:p>
        </p:txBody>
      </p:sp>
      <p:sp>
        <p:nvSpPr>
          <p:cNvPr id="10" name="Text 7"/>
          <p:cNvSpPr/>
          <p:nvPr/>
        </p:nvSpPr>
        <p:spPr>
          <a:xfrm>
            <a:off x="812800" y="2708870"/>
            <a:ext cx="711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A5CA8"/>
                </a:solidFill>
                <a:latin typeface="IBM Plex Mono" pitchFamily="49" charset="0"/>
                <a:ea typeface="IBM Plex Mono" pitchFamily="49" charset="-122"/>
                <a:cs typeface="IBM Plex Mono" pitchFamily="49" charset="-120"/>
              </a:rPr>
              <a:t>LIT101</a:t>
            </a:r>
            <a:endParaRPr lang="en-US" sz="1200" dirty="0"/>
          </a:p>
        </p:txBody>
      </p:sp>
      <p:sp>
        <p:nvSpPr>
          <p:cNvPr id="11" name="Text 8"/>
          <p:cNvSpPr/>
          <p:nvPr/>
        </p:nvSpPr>
        <p:spPr>
          <a:xfrm>
            <a:off x="787400" y="3743920"/>
            <a:ext cx="736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MV101</a:t>
            </a:r>
            <a:endParaRPr lang="en-US" sz="1200" dirty="0"/>
          </a:p>
        </p:txBody>
      </p:sp>
      <p:sp>
        <p:nvSpPr>
          <p:cNvPr id="12" name="Text 9"/>
          <p:cNvSpPr/>
          <p:nvPr/>
        </p:nvSpPr>
        <p:spPr>
          <a:xfrm>
            <a:off x="787400" y="4042370"/>
            <a:ext cx="736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otvoren</a:t>
            </a:r>
            <a:endParaRPr lang="en-US" sz="1200" dirty="0"/>
          </a:p>
        </p:txBody>
      </p:sp>
      <p:sp>
        <p:nvSpPr>
          <p:cNvPr id="13" name="Text 10"/>
          <p:cNvSpPr/>
          <p:nvPr/>
        </p:nvSpPr>
        <p:spPr>
          <a:xfrm>
            <a:off x="787400" y="4423370"/>
            <a:ext cx="736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zatvoren</a:t>
            </a:r>
            <a:endParaRPr lang="en-US" sz="1200" dirty="0"/>
          </a:p>
        </p:txBody>
      </p:sp>
      <p:sp>
        <p:nvSpPr>
          <p:cNvPr id="14" name="Text 11"/>
          <p:cNvSpPr/>
          <p:nvPr/>
        </p:nvSpPr>
        <p:spPr>
          <a:xfrm>
            <a:off x="5200650" y="3718520"/>
            <a:ext cx="160655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8520A"/>
                </a:solidFill>
                <a:latin typeface="IBM Plex Sans" pitchFamily="34" charset="0"/>
                <a:ea typeface="IBM Plex Sans" pitchFamily="34" charset="-122"/>
                <a:cs typeface="IBM Plex Sans" pitchFamily="34" charset="-120"/>
              </a:rPr>
              <a:t>napad</a:t>
            </a:r>
            <a:endParaRPr lang="en-US" sz="1200" dirty="0"/>
          </a:p>
        </p:txBody>
      </p:sp>
      <p:sp>
        <p:nvSpPr>
          <p:cNvPr id="15" name="Text 12"/>
          <p:cNvSpPr/>
          <p:nvPr/>
        </p:nvSpPr>
        <p:spPr>
          <a:xfrm>
            <a:off x="1489075" y="4899620"/>
            <a:ext cx="58864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vreme · ilustracija prema opisu napada u dokumentaciji</a:t>
            </a:r>
            <a:endParaRPr lang="en-US" sz="1200" dirty="0"/>
          </a:p>
        </p:txBody>
      </p:sp>
      <p:sp>
        <p:nvSpPr>
          <p:cNvPr id="16" name="Text 13"/>
          <p:cNvSpPr/>
          <p:nvPr/>
        </p:nvSpPr>
        <p:spPr>
          <a:xfrm>
            <a:off x="7848600" y="1673820"/>
            <a:ext cx="304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520A"/>
                </a:solidFill>
                <a:latin typeface="IBM Plex Mono" pitchFamily="49" charset="0"/>
                <a:ea typeface="IBM Plex Mono" pitchFamily="49" charset="-122"/>
                <a:cs typeface="IBM Plex Mono" pitchFamily="49" charset="-120"/>
              </a:rPr>
              <a:t>1</a:t>
            </a:r>
            <a:endParaRPr lang="en-US" sz="1400" dirty="0"/>
          </a:p>
        </p:txBody>
      </p:sp>
      <p:sp>
        <p:nvSpPr>
          <p:cNvPr id="17" name="Text 14"/>
          <p:cNvSpPr/>
          <p:nvPr/>
        </p:nvSpPr>
        <p:spPr>
          <a:xfrm>
            <a:off x="8204200" y="1673820"/>
            <a:ext cx="32702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Napadač drži ventil MV101 otvorenim i posle granice H.</a:t>
            </a:r>
            <a:endParaRPr lang="en-US" sz="1200" dirty="0"/>
          </a:p>
        </p:txBody>
      </p:sp>
      <p:sp>
        <p:nvSpPr>
          <p:cNvPr id="18" name="Text 15"/>
          <p:cNvSpPr/>
          <p:nvPr/>
        </p:nvSpPr>
        <p:spPr>
          <a:xfrm>
            <a:off x="7848600" y="2227461"/>
            <a:ext cx="304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520A"/>
                </a:solidFill>
                <a:latin typeface="IBM Plex Mono" pitchFamily="49" charset="0"/>
                <a:ea typeface="IBM Plex Mono" pitchFamily="49" charset="-122"/>
                <a:cs typeface="IBM Plex Mono" pitchFamily="49" charset="-120"/>
              </a:rPr>
              <a:t>2</a:t>
            </a:r>
            <a:endParaRPr lang="en-US" sz="1400" dirty="0"/>
          </a:p>
        </p:txBody>
      </p:sp>
      <p:sp>
        <p:nvSpPr>
          <p:cNvPr id="19" name="Text 16"/>
          <p:cNvSpPr/>
          <p:nvPr/>
        </p:nvSpPr>
        <p:spPr>
          <a:xfrm>
            <a:off x="8204200" y="2227461"/>
            <a:ext cx="32702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Dotok se nastavlja, a nivo prelazi granicu HH.</a:t>
            </a:r>
            <a:endParaRPr lang="en-US" sz="1200" dirty="0"/>
          </a:p>
        </p:txBody>
      </p:sp>
      <p:sp>
        <p:nvSpPr>
          <p:cNvPr id="20" name="Text 17"/>
          <p:cNvSpPr/>
          <p:nvPr/>
        </p:nvSpPr>
        <p:spPr>
          <a:xfrm>
            <a:off x="7848600" y="2603302"/>
            <a:ext cx="304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520A"/>
                </a:solidFill>
                <a:latin typeface="IBM Plex Mono" pitchFamily="49" charset="0"/>
                <a:ea typeface="IBM Plex Mono" pitchFamily="49" charset="-122"/>
                <a:cs typeface="IBM Plex Mono" pitchFamily="49" charset="-120"/>
              </a:rPr>
              <a:t>3</a:t>
            </a:r>
            <a:endParaRPr lang="en-US" sz="1400" dirty="0"/>
          </a:p>
        </p:txBody>
      </p:sp>
      <p:sp>
        <p:nvSpPr>
          <p:cNvPr id="21" name="Text 18"/>
          <p:cNvSpPr/>
          <p:nvPr/>
        </p:nvSpPr>
        <p:spPr>
          <a:xfrm>
            <a:off x="8204200" y="2603302"/>
            <a:ext cx="32702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Rezervoar T101 se preliva, što je fizička posledica napada.</a:t>
            </a:r>
            <a:endParaRPr lang="en-US" sz="1200" dirty="0"/>
          </a:p>
        </p:txBody>
      </p:sp>
      <p:sp>
        <p:nvSpPr>
          <p:cNvPr id="22" name="Shape 19"/>
          <p:cNvSpPr/>
          <p:nvPr/>
        </p:nvSpPr>
        <p:spPr>
          <a:xfrm>
            <a:off x="7848600" y="3156942"/>
            <a:ext cx="3530600" cy="944761"/>
          </a:xfrm>
          <a:prstGeom prst="roundRect">
            <a:avLst>
              <a:gd name="adj" fmla="val 8066"/>
            </a:avLst>
          </a:prstGeom>
          <a:solidFill>
            <a:srgbClr val="DCE8F4"/>
          </a:solidFill>
          <a:ln/>
        </p:spPr>
      </p:sp>
      <p:sp>
        <p:nvSpPr>
          <p:cNvPr id="23" name="Text 20"/>
          <p:cNvSpPr/>
          <p:nvPr/>
        </p:nvSpPr>
        <p:spPr>
          <a:xfrm>
            <a:off x="8001000" y="3283942"/>
            <a:ext cx="332257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Kako se otkriva</a:t>
            </a:r>
            <a:endParaRPr lang="en-US" sz="1200" dirty="0"/>
          </a:p>
        </p:txBody>
      </p:sp>
      <p:sp>
        <p:nvSpPr>
          <p:cNvPr id="24" name="Text 21"/>
          <p:cNvSpPr/>
          <p:nvPr/>
        </p:nvSpPr>
        <p:spPr>
          <a:xfrm>
            <a:off x="8001000" y="3548063"/>
            <a:ext cx="332257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Narušeno je pravilo da ventil mora da se zatvori kada nivo dostigne granicu H.</a:t>
            </a:r>
            <a:endParaRPr lang="en-US" sz="1200" dirty="0"/>
          </a:p>
        </p:txBody>
      </p:sp>
      <p:sp>
        <p:nvSpPr>
          <p:cNvPr id="25" name="Shape 22"/>
          <p:cNvSpPr/>
          <p:nvPr/>
        </p:nvSpPr>
        <p:spPr>
          <a:xfrm>
            <a:off x="812800" y="6209705"/>
            <a:ext cx="10566400" cy="0"/>
          </a:xfrm>
          <a:prstGeom prst="line">
            <a:avLst/>
          </a:prstGeom>
          <a:noFill/>
          <a:ln w="6350">
            <a:solidFill>
              <a:srgbClr val="D3DAE1"/>
            </a:solidFill>
            <a:prstDash val="solid"/>
          </a:ln>
        </p:spPr>
      </p:sp>
      <p:sp>
        <p:nvSpPr>
          <p:cNvPr id="26" name="Text 23"/>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27" name="Text 2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Shape 1"/>
          <p:cNvSpPr/>
          <p:nvPr/>
        </p:nvSpPr>
        <p:spPr>
          <a:xfrm>
            <a:off x="990600" y="1841500"/>
            <a:ext cx="8553450" cy="25400"/>
          </a:xfrm>
          <a:prstGeom prst="rect">
            <a:avLst/>
          </a:prstGeom>
          <a:solidFill>
            <a:srgbClr val="C3CEDA"/>
          </a:solidFill>
          <a:ln/>
        </p:spPr>
      </p:sp>
      <p:sp>
        <p:nvSpPr>
          <p:cNvPr id="4" name="Text 2"/>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SWAT I HAI</a:t>
            </a:r>
            <a:endParaRPr lang="en-US" sz="1200" dirty="0"/>
          </a:p>
        </p:txBody>
      </p:sp>
      <p:sp>
        <p:nvSpPr>
          <p:cNvPr id="5" name="Text 3"/>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Razvoj skupa SWaT kroz verzije</a:t>
            </a:r>
            <a:endParaRPr lang="en-US" sz="3000" dirty="0"/>
          </a:p>
        </p:txBody>
      </p:sp>
      <p:sp>
        <p:nvSpPr>
          <p:cNvPr id="6" name="Shape 4"/>
          <p:cNvSpPr/>
          <p:nvPr/>
        </p:nvSpPr>
        <p:spPr>
          <a:xfrm>
            <a:off x="812800" y="1673820"/>
            <a:ext cx="355600" cy="355600"/>
          </a:xfrm>
          <a:prstGeom prst="roundRect">
            <a:avLst>
              <a:gd name="adj" fmla="val 50000"/>
            </a:avLst>
          </a:prstGeom>
          <a:solidFill>
            <a:srgbClr val="0A5CA8"/>
          </a:solidFill>
          <a:ln/>
        </p:spPr>
      </p:sp>
      <p:sp>
        <p:nvSpPr>
          <p:cNvPr id="7" name="Shape 5"/>
          <p:cNvSpPr/>
          <p:nvPr/>
        </p:nvSpPr>
        <p:spPr>
          <a:xfrm>
            <a:off x="815975" y="2184995"/>
            <a:ext cx="2005310" cy="1889522"/>
          </a:xfrm>
          <a:prstGeom prst="roundRect">
            <a:avLst>
              <a:gd name="adj" fmla="val 5209"/>
            </a:avLst>
          </a:prstGeom>
          <a:solidFill>
            <a:srgbClr val="FCFCFB"/>
          </a:solidFill>
          <a:ln w="6350">
            <a:solidFill>
              <a:srgbClr val="D3DAE1"/>
            </a:solidFill>
            <a:prstDash val="solid"/>
          </a:ln>
        </p:spPr>
      </p:sp>
      <p:sp>
        <p:nvSpPr>
          <p:cNvPr id="8" name="Text 6"/>
          <p:cNvSpPr/>
          <p:nvPr/>
        </p:nvSpPr>
        <p:spPr>
          <a:xfrm>
            <a:off x="971550" y="2327870"/>
            <a:ext cx="17449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2015 · A1</a:t>
            </a:r>
            <a:endParaRPr lang="en-US" sz="1200" dirty="0"/>
          </a:p>
        </p:txBody>
      </p:sp>
      <p:sp>
        <p:nvSpPr>
          <p:cNvPr id="9" name="Text 7"/>
          <p:cNvSpPr/>
          <p:nvPr/>
        </p:nvSpPr>
        <p:spPr>
          <a:xfrm>
            <a:off x="971550" y="2591991"/>
            <a:ext cx="174498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Osnovni skup</a:t>
            </a:r>
            <a:endParaRPr lang="en-US" sz="1400" dirty="0"/>
          </a:p>
        </p:txBody>
      </p:sp>
      <p:sp>
        <p:nvSpPr>
          <p:cNvPr id="10" name="Text 8"/>
          <p:cNvSpPr/>
          <p:nvPr/>
        </p:nvSpPr>
        <p:spPr>
          <a:xfrm>
            <a:off x="971550" y="2865041"/>
            <a:ext cx="1744985"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11 dana, 41 napad. Dopuna iz 2018. uklanja prvih 30 minuta normalnih podataka.</a:t>
            </a:r>
            <a:endParaRPr lang="en-US" sz="1200" dirty="0"/>
          </a:p>
        </p:txBody>
      </p:sp>
      <p:sp>
        <p:nvSpPr>
          <p:cNvPr id="11" name="Shape 9"/>
          <p:cNvSpPr/>
          <p:nvPr/>
        </p:nvSpPr>
        <p:spPr>
          <a:xfrm>
            <a:off x="2951460" y="1673820"/>
            <a:ext cx="355600" cy="355600"/>
          </a:xfrm>
          <a:prstGeom prst="roundRect">
            <a:avLst>
              <a:gd name="adj" fmla="val 50000"/>
            </a:avLst>
          </a:prstGeom>
          <a:solidFill>
            <a:srgbClr val="0A5CA8"/>
          </a:solidFill>
          <a:ln/>
        </p:spPr>
      </p:sp>
      <p:sp>
        <p:nvSpPr>
          <p:cNvPr id="12" name="Shape 10"/>
          <p:cNvSpPr/>
          <p:nvPr/>
        </p:nvSpPr>
        <p:spPr>
          <a:xfrm>
            <a:off x="2954635" y="2184995"/>
            <a:ext cx="2005409" cy="1889522"/>
          </a:xfrm>
          <a:prstGeom prst="roundRect">
            <a:avLst>
              <a:gd name="adj" fmla="val 5209"/>
            </a:avLst>
          </a:prstGeom>
          <a:solidFill>
            <a:srgbClr val="FCFCFB"/>
          </a:solidFill>
          <a:ln w="6350">
            <a:solidFill>
              <a:srgbClr val="D3DAE1"/>
            </a:solidFill>
            <a:prstDash val="solid"/>
          </a:ln>
        </p:spPr>
      </p:sp>
      <p:sp>
        <p:nvSpPr>
          <p:cNvPr id="13" name="Text 11"/>
          <p:cNvSpPr/>
          <p:nvPr/>
        </p:nvSpPr>
        <p:spPr>
          <a:xfrm>
            <a:off x="3110210" y="2327870"/>
            <a:ext cx="174508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2017 · A3</a:t>
            </a:r>
            <a:endParaRPr lang="en-US" sz="1200" dirty="0"/>
          </a:p>
        </p:txBody>
      </p:sp>
      <p:sp>
        <p:nvSpPr>
          <p:cNvPr id="14" name="Text 12"/>
          <p:cNvSpPr/>
          <p:nvPr/>
        </p:nvSpPr>
        <p:spPr>
          <a:xfrm>
            <a:off x="3110210" y="2591991"/>
            <a:ext cx="1745087"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Normalan rad</a:t>
            </a:r>
            <a:endParaRPr lang="en-US" sz="1400" dirty="0"/>
          </a:p>
        </p:txBody>
      </p:sp>
      <p:sp>
        <p:nvSpPr>
          <p:cNvPr id="15" name="Text 13"/>
          <p:cNvSpPr/>
          <p:nvPr/>
        </p:nvSpPr>
        <p:spPr>
          <a:xfrm>
            <a:off x="3110210" y="2865041"/>
            <a:ext cx="174508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136 sati mrežnog saobraćaja i podataka historiana, bez napada.</a:t>
            </a:r>
            <a:endParaRPr lang="en-US" sz="1200" dirty="0"/>
          </a:p>
        </p:txBody>
      </p:sp>
      <p:sp>
        <p:nvSpPr>
          <p:cNvPr id="16" name="Shape 14"/>
          <p:cNvSpPr/>
          <p:nvPr/>
        </p:nvSpPr>
        <p:spPr>
          <a:xfrm>
            <a:off x="5090220" y="1673820"/>
            <a:ext cx="355600" cy="355600"/>
          </a:xfrm>
          <a:prstGeom prst="roundRect">
            <a:avLst>
              <a:gd name="adj" fmla="val 50000"/>
            </a:avLst>
          </a:prstGeom>
          <a:solidFill>
            <a:srgbClr val="E07B1F"/>
          </a:solidFill>
          <a:ln/>
        </p:spPr>
      </p:sp>
      <p:sp>
        <p:nvSpPr>
          <p:cNvPr id="17" name="Shape 15"/>
          <p:cNvSpPr/>
          <p:nvPr/>
        </p:nvSpPr>
        <p:spPr>
          <a:xfrm>
            <a:off x="5093395" y="2184995"/>
            <a:ext cx="2005310" cy="1889522"/>
          </a:xfrm>
          <a:prstGeom prst="roundRect">
            <a:avLst>
              <a:gd name="adj" fmla="val 5209"/>
            </a:avLst>
          </a:prstGeom>
          <a:solidFill>
            <a:srgbClr val="FCFCFB"/>
          </a:solidFill>
          <a:ln w="6350">
            <a:solidFill>
              <a:srgbClr val="D3DAE1"/>
            </a:solidFill>
            <a:prstDash val="solid"/>
          </a:ln>
        </p:spPr>
      </p:sp>
      <p:sp>
        <p:nvSpPr>
          <p:cNvPr id="18" name="Text 16"/>
          <p:cNvSpPr/>
          <p:nvPr/>
        </p:nvSpPr>
        <p:spPr>
          <a:xfrm>
            <a:off x="5248970" y="2327870"/>
            <a:ext cx="17449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2019 · A4–A6</a:t>
            </a:r>
            <a:endParaRPr lang="en-US" sz="1200" dirty="0"/>
          </a:p>
        </p:txBody>
      </p:sp>
      <p:sp>
        <p:nvSpPr>
          <p:cNvPr id="19" name="Text 17"/>
          <p:cNvSpPr/>
          <p:nvPr/>
        </p:nvSpPr>
        <p:spPr>
          <a:xfrm>
            <a:off x="5248970" y="2591991"/>
            <a:ext cx="174498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Kratki scenariji</a:t>
            </a:r>
            <a:endParaRPr lang="en-US" sz="1400" dirty="0"/>
          </a:p>
        </p:txBody>
      </p:sp>
      <p:sp>
        <p:nvSpPr>
          <p:cNvPr id="20" name="Text 18"/>
          <p:cNvSpPr/>
          <p:nvPr/>
        </p:nvSpPr>
        <p:spPr>
          <a:xfrm>
            <a:off x="5248970" y="2865041"/>
            <a:ext cx="1744985" cy="10920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Po 3 sata normalnog rada i 1 sat sa 6 napada, uključujući zlonamerni softver na inženjerskoj stanici.</a:t>
            </a:r>
            <a:endParaRPr lang="en-US" sz="1200" dirty="0"/>
          </a:p>
        </p:txBody>
      </p:sp>
      <p:sp>
        <p:nvSpPr>
          <p:cNvPr id="21" name="Shape 19"/>
          <p:cNvSpPr/>
          <p:nvPr/>
        </p:nvSpPr>
        <p:spPr>
          <a:xfrm>
            <a:off x="7228880" y="1673820"/>
            <a:ext cx="355600" cy="355600"/>
          </a:xfrm>
          <a:prstGeom prst="roundRect">
            <a:avLst>
              <a:gd name="adj" fmla="val 50000"/>
            </a:avLst>
          </a:prstGeom>
          <a:solidFill>
            <a:srgbClr val="0A5CA8"/>
          </a:solidFill>
          <a:ln/>
        </p:spPr>
      </p:sp>
      <p:sp>
        <p:nvSpPr>
          <p:cNvPr id="22" name="Shape 20"/>
          <p:cNvSpPr/>
          <p:nvPr/>
        </p:nvSpPr>
        <p:spPr>
          <a:xfrm>
            <a:off x="7232055" y="2184995"/>
            <a:ext cx="2005310" cy="1889522"/>
          </a:xfrm>
          <a:prstGeom prst="roundRect">
            <a:avLst>
              <a:gd name="adj" fmla="val 5209"/>
            </a:avLst>
          </a:prstGeom>
          <a:solidFill>
            <a:srgbClr val="FCFCFB"/>
          </a:solidFill>
          <a:ln w="6350">
            <a:solidFill>
              <a:srgbClr val="D3DAE1"/>
            </a:solidFill>
            <a:prstDash val="solid"/>
          </a:ln>
        </p:spPr>
      </p:sp>
      <p:sp>
        <p:nvSpPr>
          <p:cNvPr id="23" name="Text 21"/>
          <p:cNvSpPr/>
          <p:nvPr/>
        </p:nvSpPr>
        <p:spPr>
          <a:xfrm>
            <a:off x="7387630" y="2327870"/>
            <a:ext cx="17449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2020 · A7</a:t>
            </a:r>
            <a:endParaRPr lang="en-US" sz="1200" dirty="0"/>
          </a:p>
        </p:txBody>
      </p:sp>
      <p:sp>
        <p:nvSpPr>
          <p:cNvPr id="24" name="Text 22"/>
          <p:cNvSpPr/>
          <p:nvPr/>
        </p:nvSpPr>
        <p:spPr>
          <a:xfrm>
            <a:off x="7387630" y="2591991"/>
            <a:ext cx="174498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Kontrolni rad</a:t>
            </a:r>
            <a:endParaRPr lang="en-US" sz="1400" dirty="0"/>
          </a:p>
        </p:txBody>
      </p:sp>
      <p:sp>
        <p:nvSpPr>
          <p:cNvPr id="25" name="Text 23"/>
          <p:cNvSpPr/>
          <p:nvPr/>
        </p:nvSpPr>
        <p:spPr>
          <a:xfrm>
            <a:off x="7387630" y="2865041"/>
            <a:ext cx="1744985"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Četiri pokretanja od 2 ili 4 sata, sa mrežnim saobraćajem, bez napada.</a:t>
            </a:r>
            <a:endParaRPr lang="en-US" sz="1200" dirty="0"/>
          </a:p>
        </p:txBody>
      </p:sp>
      <p:sp>
        <p:nvSpPr>
          <p:cNvPr id="26" name="Shape 24"/>
          <p:cNvSpPr/>
          <p:nvPr/>
        </p:nvSpPr>
        <p:spPr>
          <a:xfrm>
            <a:off x="9367540" y="1673820"/>
            <a:ext cx="355600" cy="355600"/>
          </a:xfrm>
          <a:prstGeom prst="roundRect">
            <a:avLst>
              <a:gd name="adj" fmla="val 50000"/>
            </a:avLst>
          </a:prstGeom>
          <a:solidFill>
            <a:srgbClr val="0A5CA8"/>
          </a:solidFill>
          <a:ln/>
        </p:spPr>
      </p:sp>
      <p:sp>
        <p:nvSpPr>
          <p:cNvPr id="27" name="Shape 25"/>
          <p:cNvSpPr/>
          <p:nvPr/>
        </p:nvSpPr>
        <p:spPr>
          <a:xfrm>
            <a:off x="9370715" y="2184995"/>
            <a:ext cx="2005310" cy="1889522"/>
          </a:xfrm>
          <a:prstGeom prst="roundRect">
            <a:avLst>
              <a:gd name="adj" fmla="val 5209"/>
            </a:avLst>
          </a:prstGeom>
          <a:solidFill>
            <a:srgbClr val="FCFCFB"/>
          </a:solidFill>
          <a:ln w="6350">
            <a:solidFill>
              <a:srgbClr val="D3DAE1"/>
            </a:solidFill>
            <a:prstDash val="solid"/>
          </a:ln>
        </p:spPr>
      </p:sp>
      <p:sp>
        <p:nvSpPr>
          <p:cNvPr id="28" name="Text 26"/>
          <p:cNvSpPr/>
          <p:nvPr/>
        </p:nvSpPr>
        <p:spPr>
          <a:xfrm>
            <a:off x="9526290" y="2327870"/>
            <a:ext cx="17449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2023 · A9</a:t>
            </a:r>
            <a:endParaRPr lang="en-US" sz="1200" dirty="0"/>
          </a:p>
        </p:txBody>
      </p:sp>
      <p:sp>
        <p:nvSpPr>
          <p:cNvPr id="29" name="Text 27"/>
          <p:cNvSpPr/>
          <p:nvPr/>
        </p:nvSpPr>
        <p:spPr>
          <a:xfrm>
            <a:off x="9526290" y="2591991"/>
            <a:ext cx="174498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Dugi rad</a:t>
            </a:r>
            <a:endParaRPr lang="en-US" sz="1400" dirty="0"/>
          </a:p>
        </p:txBody>
      </p:sp>
      <p:sp>
        <p:nvSpPr>
          <p:cNvPr id="30" name="Text 28"/>
          <p:cNvSpPr/>
          <p:nvPr/>
        </p:nvSpPr>
        <p:spPr>
          <a:xfrm>
            <a:off x="9526290" y="2865041"/>
            <a:ext cx="174498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105 sati zajedničkog rada sa postrojenjem WADI, bez napada.</a:t>
            </a:r>
            <a:endParaRPr lang="en-US" sz="1200" dirty="0"/>
          </a:p>
        </p:txBody>
      </p:sp>
      <p:sp>
        <p:nvSpPr>
          <p:cNvPr id="31" name="Shape 29"/>
          <p:cNvSpPr/>
          <p:nvPr/>
        </p:nvSpPr>
        <p:spPr>
          <a:xfrm>
            <a:off x="812800" y="4331692"/>
            <a:ext cx="10566400" cy="508000"/>
          </a:xfrm>
          <a:prstGeom prst="roundRect">
            <a:avLst>
              <a:gd name="adj" fmla="val 15000"/>
            </a:avLst>
          </a:prstGeom>
          <a:solidFill>
            <a:srgbClr val="DCE8F4"/>
          </a:solidFill>
          <a:ln/>
        </p:spPr>
      </p:sp>
      <p:pic>
        <p:nvPicPr>
          <p:cNvPr id="32" name="Image 0" descr="Lightbulb">    </p:cNvPr>
          <p:cNvPicPr>
            <a:picLocks noChangeAspect="1"/>
          </p:cNvPicPr>
          <p:nvPr/>
        </p:nvPicPr>
        <p:blipFill>
          <a:blip r:embed="rId1"/>
          <a:srcRect l="0" r="0" t="0" b="0"/>
          <a:stretch/>
        </p:blipFill>
        <p:spPr>
          <a:xfrm>
            <a:off x="990600" y="4458692"/>
            <a:ext cx="254000" cy="254000"/>
          </a:xfrm>
          <a:prstGeom prst="rect">
            <a:avLst/>
          </a:prstGeom>
        </p:spPr>
      </p:pic>
      <p:sp>
        <p:nvSpPr>
          <p:cNvPr id="33" name="Text 30"/>
          <p:cNvSpPr/>
          <p:nvPr/>
        </p:nvSpPr>
        <p:spPr>
          <a:xfrm>
            <a:off x="1371600" y="4479032"/>
            <a:ext cx="10124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U radu se uvek navodi tačna verzija skupa, jer se verzije razlikuju po sadržaju i ispravkama.</a:t>
            </a:r>
            <a:endParaRPr lang="en-US" sz="1200" dirty="0"/>
          </a:p>
        </p:txBody>
      </p:sp>
      <p:sp>
        <p:nvSpPr>
          <p:cNvPr id="34" name="Shape 31"/>
          <p:cNvSpPr/>
          <p:nvPr/>
        </p:nvSpPr>
        <p:spPr>
          <a:xfrm>
            <a:off x="812800" y="6209705"/>
            <a:ext cx="10566400" cy="0"/>
          </a:xfrm>
          <a:prstGeom prst="line">
            <a:avLst/>
          </a:prstGeom>
          <a:noFill/>
          <a:ln w="6350">
            <a:solidFill>
              <a:srgbClr val="D3DAE1"/>
            </a:solidFill>
            <a:prstDash val="solid"/>
          </a:ln>
        </p:spPr>
      </p:sp>
      <p:sp>
        <p:nvSpPr>
          <p:cNvPr id="35" name="Text 32"/>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36" name="Text 3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SWAT I HAI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Dodatni skup: postrojenje HAI</a:t>
            </a:r>
            <a:endParaRPr lang="en-US" sz="3000" dirty="0"/>
          </a:p>
        </p:txBody>
      </p:sp>
      <p:sp>
        <p:nvSpPr>
          <p:cNvPr id="5" name="Shape 3"/>
          <p:cNvSpPr/>
          <p:nvPr/>
        </p:nvSpPr>
        <p:spPr>
          <a:xfrm>
            <a:off x="819150" y="1680170"/>
            <a:ext cx="3035300" cy="939800"/>
          </a:xfrm>
          <a:prstGeom prst="roundRect">
            <a:avLst>
              <a:gd name="adj" fmla="val 7432"/>
            </a:avLst>
          </a:prstGeom>
          <a:solidFill>
            <a:srgbClr val="FCFCFB"/>
          </a:solidFill>
          <a:ln w="12700">
            <a:solidFill>
              <a:srgbClr val="13202D"/>
            </a:solidFill>
            <a:prstDash val="solid"/>
          </a:ln>
        </p:spPr>
      </p:sp>
      <p:sp>
        <p:nvSpPr>
          <p:cNvPr id="6" name="Text 4"/>
          <p:cNvSpPr/>
          <p:nvPr/>
        </p:nvSpPr>
        <p:spPr>
          <a:xfrm>
            <a:off x="965200" y="1788120"/>
            <a:ext cx="28254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P1 · Kotao</a:t>
            </a:r>
            <a:endParaRPr lang="en-US" sz="1200" dirty="0"/>
          </a:p>
        </p:txBody>
      </p:sp>
      <p:sp>
        <p:nvSpPr>
          <p:cNvPr id="7" name="Text 5"/>
          <p:cNvSpPr/>
          <p:nvPr/>
        </p:nvSpPr>
        <p:spPr>
          <a:xfrm>
            <a:off x="965200" y="2026841"/>
            <a:ext cx="282549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Emerson Ovation DCS</a:t>
            </a:r>
            <a:endParaRPr lang="en-US" sz="1200" dirty="0"/>
          </a:p>
        </p:txBody>
      </p:sp>
      <p:sp>
        <p:nvSpPr>
          <p:cNvPr id="8" name="Shape 6"/>
          <p:cNvSpPr/>
          <p:nvPr/>
        </p:nvSpPr>
        <p:spPr>
          <a:xfrm>
            <a:off x="4578350" y="1680170"/>
            <a:ext cx="3035300" cy="939800"/>
          </a:xfrm>
          <a:prstGeom prst="roundRect">
            <a:avLst>
              <a:gd name="adj" fmla="val 7432"/>
            </a:avLst>
          </a:prstGeom>
          <a:solidFill>
            <a:srgbClr val="FCFCFB"/>
          </a:solidFill>
          <a:ln w="12700">
            <a:solidFill>
              <a:srgbClr val="13202D"/>
            </a:solidFill>
            <a:prstDash val="solid"/>
          </a:ln>
        </p:spPr>
      </p:sp>
      <p:sp>
        <p:nvSpPr>
          <p:cNvPr id="9" name="Text 7"/>
          <p:cNvSpPr/>
          <p:nvPr/>
        </p:nvSpPr>
        <p:spPr>
          <a:xfrm>
            <a:off x="4724400" y="1788120"/>
            <a:ext cx="28254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P2 · Turbina</a:t>
            </a:r>
            <a:endParaRPr lang="en-US" sz="1200" dirty="0"/>
          </a:p>
        </p:txBody>
      </p:sp>
      <p:sp>
        <p:nvSpPr>
          <p:cNvPr id="10" name="Text 8"/>
          <p:cNvSpPr/>
          <p:nvPr/>
        </p:nvSpPr>
        <p:spPr>
          <a:xfrm>
            <a:off x="4724400" y="2026841"/>
            <a:ext cx="282549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GE Mark VIe DCS, rotor</a:t>
            </a:r>
            <a:endParaRPr lang="en-US" sz="1200" dirty="0"/>
          </a:p>
        </p:txBody>
      </p:sp>
      <p:sp>
        <p:nvSpPr>
          <p:cNvPr id="11" name="Shape 9"/>
          <p:cNvSpPr/>
          <p:nvPr/>
        </p:nvSpPr>
        <p:spPr>
          <a:xfrm>
            <a:off x="8337550" y="1680170"/>
            <a:ext cx="3035300" cy="939800"/>
          </a:xfrm>
          <a:prstGeom prst="roundRect">
            <a:avLst>
              <a:gd name="adj" fmla="val 7432"/>
            </a:avLst>
          </a:prstGeom>
          <a:solidFill>
            <a:srgbClr val="FCFCFB"/>
          </a:solidFill>
          <a:ln w="12700">
            <a:solidFill>
              <a:srgbClr val="13202D"/>
            </a:solidFill>
            <a:prstDash val="solid"/>
          </a:ln>
        </p:spPr>
      </p:sp>
      <p:sp>
        <p:nvSpPr>
          <p:cNvPr id="12" name="Text 10"/>
          <p:cNvSpPr/>
          <p:nvPr/>
        </p:nvSpPr>
        <p:spPr>
          <a:xfrm>
            <a:off x="8483600" y="1788120"/>
            <a:ext cx="28254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P3 · Prečišćavanje vode</a:t>
            </a:r>
            <a:endParaRPr lang="en-US" sz="1200" dirty="0"/>
          </a:p>
        </p:txBody>
      </p:sp>
      <p:sp>
        <p:nvSpPr>
          <p:cNvPr id="13" name="Text 11"/>
          <p:cNvSpPr/>
          <p:nvPr/>
        </p:nvSpPr>
        <p:spPr>
          <a:xfrm>
            <a:off x="8483600" y="2026841"/>
            <a:ext cx="282549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Siemens S7-300 PLC, pumpanje između dva rezervoara</a:t>
            </a:r>
            <a:endParaRPr lang="en-US" sz="1200" dirty="0"/>
          </a:p>
        </p:txBody>
      </p:sp>
      <p:sp>
        <p:nvSpPr>
          <p:cNvPr id="14" name="Shape 12"/>
          <p:cNvSpPr/>
          <p:nvPr/>
        </p:nvSpPr>
        <p:spPr>
          <a:xfrm>
            <a:off x="4572000" y="3388320"/>
            <a:ext cx="3048000" cy="1079500"/>
          </a:xfrm>
          <a:prstGeom prst="roundRect">
            <a:avLst>
              <a:gd name="adj" fmla="val 7059"/>
            </a:avLst>
          </a:prstGeom>
          <a:solidFill>
            <a:srgbClr val="0A5CA8"/>
          </a:solidFill>
          <a:ln/>
        </p:spPr>
      </p:sp>
      <p:sp>
        <p:nvSpPr>
          <p:cNvPr id="15" name="Text 13"/>
          <p:cNvSpPr/>
          <p:nvPr/>
        </p:nvSpPr>
        <p:spPr>
          <a:xfrm>
            <a:off x="4711700" y="3489920"/>
            <a:ext cx="285165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CE8F4"/>
                </a:solidFill>
                <a:latin typeface="IBM Plex Mono" pitchFamily="49" charset="0"/>
                <a:ea typeface="IBM Plex Mono" pitchFamily="49" charset="-122"/>
                <a:cs typeface="IBM Plex Mono" pitchFamily="49" charset="-120"/>
              </a:rPr>
              <a:t>P4 · HIL simulacija</a:t>
            </a:r>
            <a:endParaRPr lang="en-US" sz="1200" dirty="0"/>
          </a:p>
        </p:txBody>
      </p:sp>
      <p:sp>
        <p:nvSpPr>
          <p:cNvPr id="16" name="Text 14"/>
          <p:cNvSpPr/>
          <p:nvPr/>
        </p:nvSpPr>
        <p:spPr>
          <a:xfrm>
            <a:off x="4711700" y="3728641"/>
            <a:ext cx="2851658"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6F7F5"/>
                </a:solidFill>
                <a:latin typeface="IBM Plex Sans" pitchFamily="34" charset="0"/>
                <a:ea typeface="IBM Plex Sans" pitchFamily="34" charset="-122"/>
                <a:cs typeface="IBM Plex Sans" pitchFamily="34" charset="-120"/>
              </a:rPr>
              <a:t>dSPACE SCALEXIO i Siemens S7-1500 povezuju procese u simulaciju proizvodnje električne energije</a:t>
            </a:r>
            <a:endParaRPr lang="en-US" sz="1200" dirty="0"/>
          </a:p>
        </p:txBody>
      </p:sp>
      <p:sp>
        <p:nvSpPr>
          <p:cNvPr id="17" name="Shape 15"/>
          <p:cNvSpPr/>
          <p:nvPr/>
        </p:nvSpPr>
        <p:spPr>
          <a:xfrm>
            <a:off x="8334375" y="3518495"/>
            <a:ext cx="3041650" cy="819150"/>
          </a:xfrm>
          <a:prstGeom prst="roundRect">
            <a:avLst>
              <a:gd name="adj" fmla="val 8915"/>
            </a:avLst>
          </a:prstGeom>
          <a:solidFill>
            <a:srgbClr val="DCE8F4"/>
          </a:solidFill>
          <a:ln w="6350">
            <a:solidFill>
              <a:srgbClr val="A9C2DC"/>
            </a:solidFill>
            <a:prstDash val="solid"/>
          </a:ln>
        </p:spPr>
      </p:sp>
      <p:sp>
        <p:nvSpPr>
          <p:cNvPr id="18" name="Text 16"/>
          <p:cNvSpPr/>
          <p:nvPr/>
        </p:nvSpPr>
        <p:spPr>
          <a:xfrm>
            <a:off x="8477250" y="3623270"/>
            <a:ext cx="2838577" cy="224929"/>
          </a:xfrm>
          <a:prstGeom prst="rect">
            <a:avLst/>
          </a:prstGeom>
          <a:noFill/>
          <a:ln/>
        </p:spPr>
        <p:txBody>
          <a:bodyPr wrap="square" lIns="0" tIns="0" rIns="0" bIns="0" rtlCol="0" anchor="t">
            <a:normAutofit/>
          </a:bodyPr>
          <a:lstStyle/>
          <a:p>
            <a:pPr algn="l" indent="0" marL="0">
              <a:lnSpc>
                <a:spcPts val="1570"/>
              </a:lnSpc>
              <a:buNone/>
            </a:pPr>
            <a:r>
              <a:rPr lang="en-US" sz="1121" b="1" dirty="0">
                <a:solidFill>
                  <a:srgbClr val="13202D"/>
                </a:solidFill>
                <a:latin typeface="IBM Plex Sans" pitchFamily="34" charset="0"/>
                <a:ea typeface="IBM Plex Sans" pitchFamily="34" charset="-122"/>
                <a:cs typeface="IBM Plex Sans" pitchFamily="34" charset="-120"/>
              </a:rPr>
              <a:t>Prikupljanje podataka</a:t>
            </a:r>
            <a:endParaRPr lang="en-US" sz="1121" dirty="0"/>
          </a:p>
        </p:txBody>
      </p:sp>
      <p:sp>
        <p:nvSpPr>
          <p:cNvPr id="19" name="Text 17"/>
          <p:cNvSpPr/>
          <p:nvPr/>
        </p:nvSpPr>
        <p:spPr>
          <a:xfrm>
            <a:off x="8477250" y="3848199"/>
            <a:ext cx="2838577" cy="410071"/>
          </a:xfrm>
          <a:prstGeom prst="rect">
            <a:avLst/>
          </a:prstGeom>
          <a:noFill/>
          <a:ln/>
        </p:spPr>
        <p:txBody>
          <a:bodyPr wrap="square" lIns="0" tIns="0" rIns="0" bIns="0" rtlCol="0" anchor="t">
            <a:normAutofit/>
          </a:bodyPr>
          <a:lstStyle/>
          <a:p>
            <a:pPr algn="l" indent="0" marL="0">
              <a:lnSpc>
                <a:spcPts val="1534"/>
              </a:lnSpc>
              <a:buNone/>
            </a:pPr>
            <a:r>
              <a:rPr lang="en-US" sz="1136" dirty="0">
                <a:solidFill>
                  <a:srgbClr val="44505D"/>
                </a:solidFill>
                <a:latin typeface="IBM Plex Sans" pitchFamily="34" charset="0"/>
                <a:ea typeface="IBM Plex Sans" pitchFamily="34" charset="-122"/>
                <a:cs typeface="IBM Plex Sans" pitchFamily="34" charset="-120"/>
              </a:rPr>
              <a:t>OPC UA mrežni prolaz, zapis svake sekunde</a:t>
            </a:r>
            <a:endParaRPr lang="en-US" sz="1136" dirty="0"/>
          </a:p>
        </p:txBody>
      </p:sp>
      <p:pic>
        <p:nvPicPr>
          <p:cNvPr id="20" name="Image 0" descr="connector">    </p:cNvPr>
          <p:cNvPicPr>
            <a:picLocks noChangeAspect="1"/>
          </p:cNvPicPr>
          <p:nvPr/>
        </p:nvPicPr>
        <p:blipFill>
          <a:blip r:embed="rId1"/>
          <a:srcRect l="0" r="0" t="0" b="0"/>
          <a:stretch/>
        </p:blipFill>
        <p:spPr>
          <a:xfrm>
            <a:off x="2286000" y="2575520"/>
            <a:ext cx="101600" cy="482600"/>
          </a:xfrm>
          <a:prstGeom prst="rect">
            <a:avLst/>
          </a:prstGeom>
        </p:spPr>
      </p:pic>
      <p:pic>
        <p:nvPicPr>
          <p:cNvPr id="21" name="Image 1" descr="connector">    </p:cNvPr>
          <p:cNvPicPr>
            <a:picLocks noChangeAspect="1"/>
          </p:cNvPicPr>
          <p:nvPr/>
        </p:nvPicPr>
        <p:blipFill>
          <a:blip r:embed="rId2"/>
          <a:srcRect l="0" r="0" t="0" b="0"/>
          <a:stretch/>
        </p:blipFill>
        <p:spPr>
          <a:xfrm>
            <a:off x="2286000" y="2956520"/>
            <a:ext cx="3352800" cy="101600"/>
          </a:xfrm>
          <a:prstGeom prst="rect">
            <a:avLst/>
          </a:prstGeom>
        </p:spPr>
      </p:pic>
      <p:pic>
        <p:nvPicPr>
          <p:cNvPr id="22" name="Image 2" descr="connector">    </p:cNvPr>
          <p:cNvPicPr>
            <a:picLocks noChangeAspect="1"/>
          </p:cNvPicPr>
          <p:nvPr/>
        </p:nvPicPr>
        <p:blipFill>
          <a:blip r:embed="rId3"/>
          <a:srcRect l="0" r="0" t="0" b="0"/>
          <a:stretch/>
        </p:blipFill>
        <p:spPr>
          <a:xfrm>
            <a:off x="5537200" y="2956520"/>
            <a:ext cx="101600" cy="482600"/>
          </a:xfrm>
          <a:prstGeom prst="rect">
            <a:avLst/>
          </a:prstGeom>
        </p:spPr>
      </p:pic>
      <p:pic>
        <p:nvPicPr>
          <p:cNvPr id="23" name="Image 3" descr="connector">    </p:cNvPr>
          <p:cNvPicPr>
            <a:picLocks noChangeAspect="1"/>
          </p:cNvPicPr>
          <p:nvPr/>
        </p:nvPicPr>
        <p:blipFill>
          <a:blip r:embed="rId4"/>
          <a:srcRect l="0" r="0" t="0" b="0"/>
          <a:stretch/>
        </p:blipFill>
        <p:spPr>
          <a:xfrm>
            <a:off x="6045200" y="2575520"/>
            <a:ext cx="101600" cy="863600"/>
          </a:xfrm>
          <a:prstGeom prst="rect">
            <a:avLst/>
          </a:prstGeom>
        </p:spPr>
      </p:pic>
      <p:pic>
        <p:nvPicPr>
          <p:cNvPr id="24" name="Image 4" descr="connector">    </p:cNvPr>
          <p:cNvPicPr>
            <a:picLocks noChangeAspect="1"/>
          </p:cNvPicPr>
          <p:nvPr/>
        </p:nvPicPr>
        <p:blipFill>
          <a:blip r:embed="rId5"/>
          <a:srcRect l="0" r="0" t="0" b="0"/>
          <a:stretch/>
        </p:blipFill>
        <p:spPr>
          <a:xfrm>
            <a:off x="9804400" y="2575520"/>
            <a:ext cx="101600" cy="482600"/>
          </a:xfrm>
          <a:prstGeom prst="rect">
            <a:avLst/>
          </a:prstGeom>
        </p:spPr>
      </p:pic>
      <p:pic>
        <p:nvPicPr>
          <p:cNvPr id="25" name="Image 5" descr="connector">    </p:cNvPr>
          <p:cNvPicPr>
            <a:picLocks noChangeAspect="1"/>
          </p:cNvPicPr>
          <p:nvPr/>
        </p:nvPicPr>
        <p:blipFill>
          <a:blip r:embed="rId6"/>
          <a:srcRect l="0" r="0" t="0" b="0"/>
          <a:stretch/>
        </p:blipFill>
        <p:spPr>
          <a:xfrm>
            <a:off x="6553200" y="2956520"/>
            <a:ext cx="3352800" cy="101600"/>
          </a:xfrm>
          <a:prstGeom prst="rect">
            <a:avLst/>
          </a:prstGeom>
        </p:spPr>
      </p:pic>
      <p:pic>
        <p:nvPicPr>
          <p:cNvPr id="26" name="Image 6" descr="connector">    </p:cNvPr>
          <p:cNvPicPr>
            <a:picLocks noChangeAspect="1"/>
          </p:cNvPicPr>
          <p:nvPr/>
        </p:nvPicPr>
        <p:blipFill>
          <a:blip r:embed="rId7"/>
          <a:srcRect l="0" r="0" t="0" b="0"/>
          <a:stretch/>
        </p:blipFill>
        <p:spPr>
          <a:xfrm>
            <a:off x="6553200" y="2956520"/>
            <a:ext cx="101600" cy="482600"/>
          </a:xfrm>
          <a:prstGeom prst="rect">
            <a:avLst/>
          </a:prstGeom>
        </p:spPr>
      </p:pic>
      <p:pic>
        <p:nvPicPr>
          <p:cNvPr id="27" name="Image 7" descr="connector">    </p:cNvPr>
          <p:cNvPicPr>
            <a:picLocks noChangeAspect="1"/>
          </p:cNvPicPr>
          <p:nvPr/>
        </p:nvPicPr>
        <p:blipFill>
          <a:blip r:embed="rId8"/>
          <a:srcRect l="0" r="0" t="0" b="0"/>
          <a:stretch/>
        </p:blipFill>
        <p:spPr>
          <a:xfrm>
            <a:off x="7569200" y="3877270"/>
            <a:ext cx="812800" cy="101600"/>
          </a:xfrm>
          <a:prstGeom prst="rect">
            <a:avLst/>
          </a:prstGeom>
        </p:spPr>
      </p:pic>
      <p:sp>
        <p:nvSpPr>
          <p:cNvPr id="28" name="Text 18"/>
          <p:cNvSpPr/>
          <p:nvPr/>
        </p:nvSpPr>
        <p:spPr>
          <a:xfrm>
            <a:off x="812800" y="3515320"/>
            <a:ext cx="34010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Napadi menjaju zadate vrednosti, procesne promenljive, upravljačke izlaze i parametre regulatora.</a:t>
            </a:r>
            <a:endParaRPr lang="en-US" sz="1200" dirty="0"/>
          </a:p>
        </p:txBody>
      </p:sp>
      <p:sp>
        <p:nvSpPr>
          <p:cNvPr id="29" name="Text 19"/>
          <p:cNvSpPr/>
          <p:nvPr/>
        </p:nvSpPr>
        <p:spPr>
          <a:xfrm>
            <a:off x="812800" y="4721820"/>
            <a:ext cx="2179737" cy="314920"/>
          </a:xfrm>
          <a:prstGeom prst="roundRect">
            <a:avLst>
              <a:gd name="adj" fmla="val 50000"/>
            </a:avLst>
          </a:prstGeom>
          <a:solidFill>
            <a:srgbClr val="EBF0F5"/>
          </a:solidFill>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ETRI, Daejeon, Južna Koreja</a:t>
            </a:r>
            <a:endParaRPr lang="en-US" sz="1200" dirty="0"/>
          </a:p>
        </p:txBody>
      </p:sp>
      <p:sp>
        <p:nvSpPr>
          <p:cNvPr id="30" name="Text 20"/>
          <p:cNvSpPr/>
          <p:nvPr/>
        </p:nvSpPr>
        <p:spPr>
          <a:xfrm>
            <a:off x="3094137" y="4721820"/>
            <a:ext cx="2362200" cy="314920"/>
          </a:xfrm>
          <a:prstGeom prst="roundRect">
            <a:avLst>
              <a:gd name="adj" fmla="val 50000"/>
            </a:avLst>
          </a:prstGeom>
          <a:solidFill>
            <a:srgbClr val="EBF0F5"/>
          </a:solidFill>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Tri stvarna upravljačka sistema</a:t>
            </a:r>
            <a:endParaRPr lang="en-US" sz="1200" dirty="0"/>
          </a:p>
        </p:txBody>
      </p:sp>
      <p:sp>
        <p:nvSpPr>
          <p:cNvPr id="31" name="Text 21"/>
          <p:cNvSpPr/>
          <p:nvPr/>
        </p:nvSpPr>
        <p:spPr>
          <a:xfrm>
            <a:off x="5557937" y="4721820"/>
            <a:ext cx="1301651" cy="314920"/>
          </a:xfrm>
          <a:prstGeom prst="roundRect">
            <a:avLst>
              <a:gd name="adj" fmla="val 50000"/>
            </a:avLst>
          </a:prstGeom>
          <a:solidFill>
            <a:srgbClr val="EBF0F5"/>
          </a:solidFill>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Hardver u petlji</a:t>
            </a:r>
            <a:endParaRPr lang="en-US" sz="1200" dirty="0"/>
          </a:p>
        </p:txBody>
      </p:sp>
      <p:sp>
        <p:nvSpPr>
          <p:cNvPr id="32" name="Shape 22"/>
          <p:cNvSpPr/>
          <p:nvPr/>
        </p:nvSpPr>
        <p:spPr>
          <a:xfrm>
            <a:off x="812800" y="6209705"/>
            <a:ext cx="10566400" cy="0"/>
          </a:xfrm>
          <a:prstGeom prst="line">
            <a:avLst/>
          </a:prstGeom>
          <a:noFill/>
          <a:ln w="6350">
            <a:solidFill>
              <a:srgbClr val="D3DAE1"/>
            </a:solidFill>
            <a:prstDash val="solid"/>
          </a:ln>
        </p:spPr>
      </p:sp>
      <p:sp>
        <p:nvSpPr>
          <p:cNvPr id="33" name="Text 23"/>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34" name="Text 2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SWAT I HAI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Verzije skupa HAI</a:t>
            </a:r>
            <a:endParaRPr lang="en-US" sz="3000" dirty="0"/>
          </a:p>
        </p:txBody>
      </p:sp>
      <p:sp>
        <p:nvSpPr>
          <p:cNvPr id="5" name="Shape 3"/>
          <p:cNvSpPr/>
          <p:nvPr/>
        </p:nvSpPr>
        <p:spPr>
          <a:xfrm>
            <a:off x="812800" y="1673820"/>
            <a:ext cx="10566400" cy="2700933"/>
          </a:xfrm>
          <a:prstGeom prst="roundRect">
            <a:avLst>
              <a:gd name="adj" fmla="val 3762"/>
            </a:avLst>
          </a:prstGeom>
          <a:solidFill>
            <a:srgbClr val="FCFCFB"/>
          </a:solidFill>
          <a:ln/>
        </p:spPr>
      </p:sp>
      <p:sp>
        <p:nvSpPr>
          <p:cNvPr id="6" name="Shape 4"/>
          <p:cNvSpPr/>
          <p:nvPr/>
        </p:nvSpPr>
        <p:spPr>
          <a:xfrm>
            <a:off x="812800" y="1673820"/>
            <a:ext cx="10566400" cy="2700933"/>
          </a:xfrm>
          <a:custGeom>
            <a:avLst/>
            <a:gdLst/>
            <a:ahLst/>
            <a:cxnLst/>
            <a:rect l="l" t="t" r="r" b="b"/>
            <a:pathLst>
              <a:path w="10566400" h="2700933">
                <a:moveTo>
                  <a:pt x="10464800" y="0"/>
                </a:moveTo>
                <a:lnTo>
                  <a:pt x="10464800" y="0"/>
                </a:lnTo>
                <a:arcTo hR="101600" wR="101600" stAng="16200000" swAng="5400000"/>
                <a:lnTo>
                  <a:pt x="10566400" y="2599333"/>
                </a:lnTo>
                <a:arcTo hR="101600" wR="101600" stAng="0" swAng="5400000"/>
                <a:lnTo>
                  <a:pt x="101600" y="2700933"/>
                </a:lnTo>
                <a:arcTo hR="101600" wR="101600" stAng="5400000" swAng="5400000"/>
                <a:lnTo>
                  <a:pt x="0" y="2599333"/>
                </a:lnTo>
                <a:arcTo hR="95250" wR="101600" stAng="10800000" swAng="-5400000"/>
                <a:lnTo>
                  <a:pt x="10464800" y="2694583"/>
                </a:lnTo>
                <a:arcTo hR="95250" wR="95250" stAng="5400000" swAng="-5400000"/>
                <a:lnTo>
                  <a:pt x="10560050" y="101600"/>
                </a:lnTo>
                <a:arcTo hR="101600" wR="95250" stAng="0" swAng="-5400000"/>
                <a:close/>
              </a:path>
            </a:pathLst>
          </a:custGeom>
          <a:solidFill>
            <a:srgbClr val="D3DAE1"/>
          </a:solidFill>
          <a:ln/>
        </p:spPr>
      </p:sp>
      <p:sp>
        <p:nvSpPr>
          <p:cNvPr id="7" name="Shape 5"/>
          <p:cNvSpPr/>
          <p:nvPr/>
        </p:nvSpPr>
        <p:spPr>
          <a:xfrm>
            <a:off x="812800" y="1673820"/>
            <a:ext cx="10566400" cy="2700933"/>
          </a:xfrm>
          <a:custGeom>
            <a:avLst/>
            <a:gdLst/>
            <a:ahLst/>
            <a:cxnLst/>
            <a:rect l="l" t="t" r="r" b="b"/>
            <a:pathLst>
              <a:path w="10566400" h="2700933">
                <a:moveTo>
                  <a:pt x="101600" y="2700933"/>
                </a:moveTo>
                <a:lnTo>
                  <a:pt x="101600" y="2700933"/>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599333"/>
                </a:lnTo>
                <a:arcTo hR="101600" wR="8890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686520"/>
          <a:ext cx="10547350" cy="2681883"/>
        </p:xfrm>
        <a:graphic>
          <a:graphicData uri="http://schemas.openxmlformats.org/drawingml/2006/table">
            <a:tbl>
              <a:tblPr/>
              <a:tblGrid>
                <a:gridCol w="2109470"/>
                <a:gridCol w="2109470"/>
                <a:gridCol w="2109470"/>
                <a:gridCol w="2109470"/>
                <a:gridCol w="2109470"/>
              </a:tblGrid>
              <a:tr h="446980">
                <a:tc>
                  <a:txBody>
                    <a:bodyPr/>
                    <a:lstStyle/>
                    <a:p>
                      <a:pPr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Verzija</a:t>
                      </a:r>
                      <a:endParaRPr lang="en-US" sz="1300" dirty="0">
                        <a:latin typeface="IBM Plex Sans" charset="0"/>
                        <a:ea typeface="IBM Plex Sans" charset="0"/>
                        <a:cs typeface="IBM Plex Sans" charset="0"/>
                      </a:endParaRPr>
                    </a:p>
                  </a:txBody>
                  <a:tcPr marL="177800" marR="177800" marT="101600" marB="101600" anchor="t">
                    <a:lnL w="0" cap="flat" cmpd="sng" algn="ctr">
                      <a:noFill/>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algn="r"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Tačaka</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algn="r"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Normalan rad</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algn="r"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Napadi</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algn="r"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Trajanje testa</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r>
              <a:tr h="446980">
                <a:tc>
                  <a:txBody>
                    <a:bodyPr/>
                    <a:lstStyle/>
                    <a:p>
                      <a:pPr indent="0" marL="0">
                        <a:lnSpc>
                          <a:spcPts val="1820"/>
                        </a:lnSpc>
                        <a:buNone/>
                      </a:pPr>
                      <a:r>
                        <a:rPr lang="en-US" sz="1300" dirty="0">
                          <a:solidFill>
                            <a:srgbClr val="0A5CA8"/>
                          </a:solidFill>
                          <a:latin typeface="IBM Plex Sans" pitchFamily="34" charset="0"/>
                          <a:ea typeface="IBM Plex Sans" pitchFamily="34" charset="-122"/>
                          <a:cs typeface="IBM Plex Sans" pitchFamily="34" charset="-120"/>
                        </a:rPr>
                        <a:t>HAI 20.07</a:t>
                      </a:r>
                      <a:endParaRPr lang="en-US" sz="1300" dirty="0">
                        <a:latin typeface="IBM Plex Sans" charset="0"/>
                        <a:ea typeface="IBM Plex Sans" charset="0"/>
                        <a:cs typeface="IBM Plex Sans" charset="0"/>
                      </a:endParaRPr>
                    </a:p>
                  </a:txBody>
                  <a:tcPr marL="177800" marR="177800" marT="101600" marB="1016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59</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177 h</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38</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123 h</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46980">
                <a:tc>
                  <a:txBody>
                    <a:bodyPr/>
                    <a:lstStyle/>
                    <a:p>
                      <a:pPr indent="0" marL="0">
                        <a:lnSpc>
                          <a:spcPts val="1820"/>
                        </a:lnSpc>
                        <a:buNone/>
                      </a:pPr>
                      <a:r>
                        <a:rPr lang="en-US" sz="1300" dirty="0">
                          <a:solidFill>
                            <a:srgbClr val="0A5CA8"/>
                          </a:solidFill>
                          <a:latin typeface="IBM Plex Sans" pitchFamily="34" charset="0"/>
                          <a:ea typeface="IBM Plex Sans" pitchFamily="34" charset="-122"/>
                          <a:cs typeface="IBM Plex Sans" pitchFamily="34" charset="-120"/>
                        </a:rPr>
                        <a:t>HAI 21.03</a:t>
                      </a:r>
                      <a:endParaRPr lang="en-US" sz="1300" dirty="0">
                        <a:latin typeface="IBM Plex Sans" charset="0"/>
                        <a:ea typeface="IBM Plex Sans" charset="0"/>
                        <a:cs typeface="IBM Plex Sans" charset="0"/>
                      </a:endParaRPr>
                    </a:p>
                  </a:txBody>
                  <a:tcPr marL="177800" marR="177800" marT="101600" marB="1016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78</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352 h</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50</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112 h</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46980">
                <a:tc>
                  <a:txBody>
                    <a:bodyPr/>
                    <a:lstStyle/>
                    <a:p>
                      <a:pPr indent="0" marL="0">
                        <a:lnSpc>
                          <a:spcPts val="1820"/>
                        </a:lnSpc>
                        <a:buNone/>
                      </a:pPr>
                      <a:r>
                        <a:rPr lang="en-US" sz="1300" dirty="0">
                          <a:solidFill>
                            <a:srgbClr val="0A5CA8"/>
                          </a:solidFill>
                          <a:latin typeface="IBM Plex Sans" pitchFamily="34" charset="0"/>
                          <a:ea typeface="IBM Plex Sans" pitchFamily="34" charset="-122"/>
                          <a:cs typeface="IBM Plex Sans" pitchFamily="34" charset="-120"/>
                        </a:rPr>
                        <a:t>HAI 22.04</a:t>
                      </a:r>
                      <a:endParaRPr lang="en-US" sz="1300" dirty="0">
                        <a:latin typeface="IBM Plex Sans" charset="0"/>
                        <a:ea typeface="IBM Plex Sans" charset="0"/>
                        <a:cs typeface="IBM Plex Sans" charset="0"/>
                      </a:endParaRPr>
                    </a:p>
                  </a:txBody>
                  <a:tcPr marL="177800" marR="177800" marT="101600" marB="1016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86</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279 h</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58</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100,3 h</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46980">
                <a:tc>
                  <a:txBody>
                    <a:bodyPr/>
                    <a:lstStyle/>
                    <a:p>
                      <a:pPr indent="0" marL="0">
                        <a:lnSpc>
                          <a:spcPts val="1820"/>
                        </a:lnSpc>
                        <a:buNone/>
                      </a:pPr>
                      <a:r>
                        <a:rPr lang="en-US" sz="1300" dirty="0">
                          <a:solidFill>
                            <a:srgbClr val="0A5CA8"/>
                          </a:solidFill>
                          <a:latin typeface="IBM Plex Sans" pitchFamily="34" charset="0"/>
                          <a:ea typeface="IBM Plex Sans" pitchFamily="34" charset="-122"/>
                          <a:cs typeface="IBM Plex Sans" pitchFamily="34" charset="-120"/>
                        </a:rPr>
                        <a:t>HAI 23.05</a:t>
                      </a:r>
                      <a:endParaRPr lang="en-US" sz="1300" dirty="0">
                        <a:latin typeface="IBM Plex Sans" charset="0"/>
                        <a:ea typeface="IBM Plex Sans" charset="0"/>
                        <a:cs typeface="IBM Plex Sans" charset="0"/>
                      </a:endParaRPr>
                    </a:p>
                  </a:txBody>
                  <a:tcPr marL="177800" marR="177800" marT="101600" marB="1016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86</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249 h</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52</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79 h</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46980">
                <a:tc>
                  <a:txBody>
                    <a:bodyPr/>
                    <a:lstStyle/>
                    <a:p>
                      <a:pPr indent="0" marL="0">
                        <a:lnSpc>
                          <a:spcPts val="1820"/>
                        </a:lnSpc>
                        <a:buNone/>
                      </a:pPr>
                      <a:r>
                        <a:rPr lang="en-US" sz="1300" dirty="0">
                          <a:solidFill>
                            <a:srgbClr val="0A5CA8"/>
                          </a:solidFill>
                          <a:latin typeface="IBM Plex Sans" pitchFamily="34" charset="0"/>
                          <a:ea typeface="IBM Plex Sans" pitchFamily="34" charset="-122"/>
                          <a:cs typeface="IBM Plex Sans" pitchFamily="34" charset="-120"/>
                        </a:rPr>
                        <a:t>HAIEnd 23.05</a:t>
                      </a:r>
                      <a:endParaRPr lang="en-US" sz="1300" dirty="0">
                        <a:latin typeface="IBM Plex Sans" charset="0"/>
                        <a:ea typeface="IBM Plex Sans" charset="0"/>
                        <a:cs typeface="IBM Plex Sans" charset="0"/>
                      </a:endParaRPr>
                    </a:p>
                  </a:txBody>
                  <a:tcPr marL="177800" marR="177800" marT="101600" marB="1016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225</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249 h</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52</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79 h</a:t>
                      </a:r>
                      <a:endParaRPr lang="en-US" sz="13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9" name="Text 6"/>
          <p:cNvSpPr/>
          <p:nvPr/>
        </p:nvSpPr>
        <p:spPr>
          <a:xfrm>
            <a:off x="812800" y="4628753"/>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Naziv verzije označava godinu i mesec objavljivanja. HAIEnd 23.05 sadrži iste periode kao HAI 23.05, ali sa proširenim skupom tačaka. Izvor: repozitorijum icsdataset/hai.</a:t>
            </a:r>
            <a:endParaRPr lang="en-US" sz="1200" dirty="0"/>
          </a:p>
        </p:txBody>
      </p:sp>
      <p:sp>
        <p:nvSpPr>
          <p:cNvPr id="10" name="Shape 7"/>
          <p:cNvSpPr/>
          <p:nvPr/>
        </p:nvSpPr>
        <p:spPr>
          <a:xfrm>
            <a:off x="812800" y="6209705"/>
            <a:ext cx="10566400" cy="0"/>
          </a:xfrm>
          <a:prstGeom prst="line">
            <a:avLst/>
          </a:prstGeom>
          <a:noFill/>
          <a:ln w="6350">
            <a:solidFill>
              <a:srgbClr val="D3DAE1"/>
            </a:solidFill>
            <a:prstDash val="solid"/>
          </a:ln>
        </p:spPr>
      </p:sp>
      <p:sp>
        <p:nvSpPr>
          <p:cNvPr id="11" name="Text 8"/>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12" name="Text 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SWAT I HAI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Format, pristup i licenca skupa HAI</a:t>
            </a:r>
            <a:endParaRPr lang="en-US" sz="3000" dirty="0"/>
          </a:p>
        </p:txBody>
      </p:sp>
      <p:sp>
        <p:nvSpPr>
          <p:cNvPr id="5" name="Shape 3"/>
          <p:cNvSpPr/>
          <p:nvPr/>
        </p:nvSpPr>
        <p:spPr>
          <a:xfrm>
            <a:off x="812800" y="1673820"/>
            <a:ext cx="10566400" cy="1031081"/>
          </a:xfrm>
          <a:prstGeom prst="roundRect">
            <a:avLst>
              <a:gd name="adj" fmla="val 7390"/>
            </a:avLst>
          </a:prstGeom>
          <a:solidFill>
            <a:srgbClr val="FCFCFB"/>
          </a:solidFill>
          <a:ln/>
        </p:spPr>
      </p:sp>
      <p:sp>
        <p:nvSpPr>
          <p:cNvPr id="6" name="Shape 4"/>
          <p:cNvSpPr/>
          <p:nvPr/>
        </p:nvSpPr>
        <p:spPr>
          <a:xfrm>
            <a:off x="812800" y="1673820"/>
            <a:ext cx="10566400" cy="1031081"/>
          </a:xfrm>
          <a:custGeom>
            <a:avLst/>
            <a:gdLst/>
            <a:ahLst/>
            <a:cxnLst/>
            <a:rect l="l" t="t" r="r" b="b"/>
            <a:pathLst>
              <a:path w="10566400" h="1031081">
                <a:moveTo>
                  <a:pt x="76200" y="1031081"/>
                </a:moveTo>
                <a:lnTo>
                  <a:pt x="76200" y="1031081"/>
                </a:lnTo>
                <a:arcTo hR="76200" wR="76200" stAng="5400000" swAng="5400000"/>
                <a:lnTo>
                  <a:pt x="0" y="76200"/>
                </a:lnTo>
                <a:arcTo hR="76200" wR="76200" stAng="10800000" swAng="5400000"/>
                <a:lnTo>
                  <a:pt x="76200" y="0"/>
                </a:lnTo>
                <a:arcTo hR="76200" wR="38100" stAng="16200000" swAng="-5400000"/>
                <a:lnTo>
                  <a:pt x="38100" y="954881"/>
                </a:lnTo>
                <a:arcTo hR="76200" wR="38100" stAng="10800000" swAng="-5400000"/>
                <a:close/>
              </a:path>
            </a:pathLst>
          </a:custGeom>
          <a:solidFill>
            <a:srgbClr val="0A5CA8"/>
          </a:solidFill>
          <a:ln/>
        </p:spPr>
      </p:sp>
      <p:sp>
        <p:nvSpPr>
          <p:cNvPr id="7" name="Text 5"/>
          <p:cNvSpPr/>
          <p:nvPr/>
        </p:nvSpPr>
        <p:spPr>
          <a:xfrm>
            <a:off x="1054100" y="1813520"/>
            <a:ext cx="104255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test1.csv.gz · oblik zapisa</a:t>
            </a:r>
            <a:endParaRPr lang="en-US" sz="1200" dirty="0"/>
          </a:p>
        </p:txBody>
      </p:sp>
      <p:sp>
        <p:nvSpPr>
          <p:cNvPr id="8" name="Text 6"/>
          <p:cNvSpPr/>
          <p:nvPr/>
        </p:nvSpPr>
        <p:spPr>
          <a:xfrm>
            <a:off x="1054100" y="2064941"/>
            <a:ext cx="1042555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Mono" pitchFamily="49" charset="0"/>
                <a:ea typeface="IBM Plex Mono" pitchFamily="49" charset="-122"/>
                <a:cs typeface="IBM Plex Mono" pitchFamily="49" charset="-120"/>
              </a:rPr>
              <a:t>timestamp, P1_…, P2_…, P3_…, P4_…, attack</a:t>
            </a:r>
            <a:endParaRPr lang="en-US" sz="1300" dirty="0"/>
          </a:p>
        </p:txBody>
      </p:sp>
      <p:sp>
        <p:nvSpPr>
          <p:cNvPr id="9" name="Text 7"/>
          <p:cNvSpPr/>
          <p:nvPr/>
        </p:nvSpPr>
        <p:spPr>
          <a:xfrm>
            <a:off x="1054100" y="2334121"/>
            <a:ext cx="1042555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Mono" pitchFamily="49" charset="0"/>
                <a:ea typeface="IBM Plex Mono" pitchFamily="49" charset="-122"/>
                <a:cs typeface="IBM Plex Mono" pitchFamily="49" charset="-120"/>
              </a:rPr>
              <a:t>gggg-MM-dd hh:mm:ss, vrednosti tačaka, 0 ili 1</a:t>
            </a:r>
            <a:endParaRPr lang="en-US" sz="1300" dirty="0"/>
          </a:p>
        </p:txBody>
      </p:sp>
      <p:sp>
        <p:nvSpPr>
          <p:cNvPr id="10" name="Shape 8"/>
          <p:cNvSpPr/>
          <p:nvPr/>
        </p:nvSpPr>
        <p:spPr>
          <a:xfrm>
            <a:off x="815975" y="2962077"/>
            <a:ext cx="3414117" cy="1357511"/>
          </a:xfrm>
          <a:prstGeom prst="roundRect">
            <a:avLst>
              <a:gd name="adj" fmla="val 7250"/>
            </a:avLst>
          </a:prstGeom>
          <a:solidFill>
            <a:srgbClr val="FCFCFB"/>
          </a:solidFill>
          <a:ln w="6350">
            <a:solidFill>
              <a:srgbClr val="D3DAE1"/>
            </a:solidFill>
            <a:prstDash val="solid"/>
          </a:ln>
        </p:spPr>
      </p:sp>
      <p:pic>
        <p:nvPicPr>
          <p:cNvPr id="11" name="Image 0" descr="Book">    </p:cNvPr>
          <p:cNvPicPr>
            <a:picLocks noChangeAspect="1"/>
          </p:cNvPicPr>
          <p:nvPr/>
        </p:nvPicPr>
        <p:blipFill>
          <a:blip r:embed="rId1"/>
          <a:srcRect l="0" r="0" t="0" b="0"/>
          <a:stretch/>
        </p:blipFill>
        <p:spPr>
          <a:xfrm>
            <a:off x="1009650" y="3130352"/>
            <a:ext cx="254000" cy="254000"/>
          </a:xfrm>
          <a:prstGeom prst="rect">
            <a:avLst/>
          </a:prstGeom>
        </p:spPr>
      </p:pic>
      <p:sp>
        <p:nvSpPr>
          <p:cNvPr id="12" name="Text 9"/>
          <p:cNvSpPr/>
          <p:nvPr/>
        </p:nvSpPr>
        <p:spPr>
          <a:xfrm>
            <a:off x="1009650" y="3447852"/>
            <a:ext cx="31175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Format</a:t>
            </a:r>
            <a:endParaRPr lang="en-US" sz="1400" dirty="0"/>
          </a:p>
        </p:txBody>
      </p:sp>
      <p:sp>
        <p:nvSpPr>
          <p:cNvPr id="13" name="Text 10"/>
          <p:cNvSpPr/>
          <p:nvPr/>
        </p:nvSpPr>
        <p:spPr>
          <a:xfrm>
            <a:off x="1009650" y="3724672"/>
            <a:ext cx="31175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CSV komprimovan alatom gzip, prva kolona je vreme, poslednja oznaka napada.</a:t>
            </a:r>
            <a:endParaRPr lang="en-US" sz="1200" dirty="0"/>
          </a:p>
        </p:txBody>
      </p:sp>
      <p:sp>
        <p:nvSpPr>
          <p:cNvPr id="14" name="Shape 11"/>
          <p:cNvSpPr/>
          <p:nvPr/>
        </p:nvSpPr>
        <p:spPr>
          <a:xfrm>
            <a:off x="4388842" y="2962077"/>
            <a:ext cx="3414216" cy="1357511"/>
          </a:xfrm>
          <a:prstGeom prst="roundRect">
            <a:avLst>
              <a:gd name="adj" fmla="val 7250"/>
            </a:avLst>
          </a:prstGeom>
          <a:solidFill>
            <a:srgbClr val="FCFCFB"/>
          </a:solidFill>
          <a:ln w="6350">
            <a:solidFill>
              <a:srgbClr val="D3DAE1"/>
            </a:solidFill>
            <a:prstDash val="solid"/>
          </a:ln>
        </p:spPr>
      </p:sp>
      <p:pic>
        <p:nvPicPr>
          <p:cNvPr id="15" name="Image 1" descr="Globe">    </p:cNvPr>
          <p:cNvPicPr>
            <a:picLocks noChangeAspect="1"/>
          </p:cNvPicPr>
          <p:nvPr/>
        </p:nvPicPr>
        <p:blipFill>
          <a:blip r:embed="rId2"/>
          <a:srcRect l="0" r="0" t="0" b="0"/>
          <a:stretch/>
        </p:blipFill>
        <p:spPr>
          <a:xfrm>
            <a:off x="4582517" y="3130352"/>
            <a:ext cx="254000" cy="254000"/>
          </a:xfrm>
          <a:prstGeom prst="rect">
            <a:avLst/>
          </a:prstGeom>
        </p:spPr>
      </p:pic>
      <p:sp>
        <p:nvSpPr>
          <p:cNvPr id="16" name="Text 12"/>
          <p:cNvSpPr/>
          <p:nvPr/>
        </p:nvSpPr>
        <p:spPr>
          <a:xfrm>
            <a:off x="4582517" y="3447852"/>
            <a:ext cx="311767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Distribucija</a:t>
            </a:r>
            <a:endParaRPr lang="en-US" sz="1400" dirty="0"/>
          </a:p>
        </p:txBody>
      </p:sp>
      <p:sp>
        <p:nvSpPr>
          <p:cNvPr id="17" name="Text 13"/>
          <p:cNvSpPr/>
          <p:nvPr/>
        </p:nvSpPr>
        <p:spPr>
          <a:xfrm>
            <a:off x="4582517" y="3724672"/>
            <a:ext cx="311767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Repozitorijum na GitHubu, uz Git LFS za novije verzije, i platforma Kaggle.</a:t>
            </a:r>
            <a:endParaRPr lang="en-US" sz="1200" dirty="0"/>
          </a:p>
        </p:txBody>
      </p:sp>
      <p:sp>
        <p:nvSpPr>
          <p:cNvPr id="18" name="Shape 14"/>
          <p:cNvSpPr/>
          <p:nvPr/>
        </p:nvSpPr>
        <p:spPr>
          <a:xfrm>
            <a:off x="7961809" y="2962077"/>
            <a:ext cx="3414216" cy="1357511"/>
          </a:xfrm>
          <a:prstGeom prst="roundRect">
            <a:avLst>
              <a:gd name="adj" fmla="val 7250"/>
            </a:avLst>
          </a:prstGeom>
          <a:solidFill>
            <a:srgbClr val="DCE8F4"/>
          </a:solidFill>
          <a:ln w="6350">
            <a:solidFill>
              <a:srgbClr val="A9C2DC"/>
            </a:solidFill>
            <a:prstDash val="solid"/>
          </a:ln>
        </p:spPr>
      </p:sp>
      <p:pic>
        <p:nvPicPr>
          <p:cNvPr id="19" name="Image 2" descr="Key">    </p:cNvPr>
          <p:cNvPicPr>
            <a:picLocks noChangeAspect="1"/>
          </p:cNvPicPr>
          <p:nvPr/>
        </p:nvPicPr>
        <p:blipFill>
          <a:blip r:embed="rId3"/>
          <a:srcRect l="0" r="0" t="0" b="0"/>
          <a:stretch/>
        </p:blipFill>
        <p:spPr>
          <a:xfrm>
            <a:off x="8155484" y="3130352"/>
            <a:ext cx="254000" cy="254000"/>
          </a:xfrm>
          <a:prstGeom prst="rect">
            <a:avLst/>
          </a:prstGeom>
        </p:spPr>
      </p:pic>
      <p:sp>
        <p:nvSpPr>
          <p:cNvPr id="20" name="Text 15"/>
          <p:cNvSpPr/>
          <p:nvPr/>
        </p:nvSpPr>
        <p:spPr>
          <a:xfrm>
            <a:off x="8155484" y="3447852"/>
            <a:ext cx="311767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Licenca</a:t>
            </a:r>
            <a:endParaRPr lang="en-US" sz="1400" dirty="0"/>
          </a:p>
        </p:txBody>
      </p:sp>
      <p:sp>
        <p:nvSpPr>
          <p:cNvPr id="21" name="Text 16"/>
          <p:cNvSpPr/>
          <p:nvPr/>
        </p:nvSpPr>
        <p:spPr>
          <a:xfrm>
            <a:off x="8155484" y="3724672"/>
            <a:ext cx="311767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Slobodna licenca Creative Commons, bez zahteva za pristup.</a:t>
            </a:r>
            <a:endParaRPr lang="en-US" sz="1200" dirty="0"/>
          </a:p>
        </p:txBody>
      </p:sp>
      <p:sp>
        <p:nvSpPr>
          <p:cNvPr id="22" name="Shape 17"/>
          <p:cNvSpPr/>
          <p:nvPr/>
        </p:nvSpPr>
        <p:spPr>
          <a:xfrm>
            <a:off x="812800" y="4576763"/>
            <a:ext cx="10566400" cy="508000"/>
          </a:xfrm>
          <a:prstGeom prst="roundRect">
            <a:avLst>
              <a:gd name="adj" fmla="val 15000"/>
            </a:avLst>
          </a:prstGeom>
          <a:solidFill>
            <a:srgbClr val="EBF0F5"/>
          </a:solidFill>
          <a:ln/>
        </p:spPr>
      </p:sp>
      <p:pic>
        <p:nvPicPr>
          <p:cNvPr id="23" name="Image 3" descr="Star">    </p:cNvPr>
          <p:cNvPicPr>
            <a:picLocks noChangeAspect="1"/>
          </p:cNvPicPr>
          <p:nvPr/>
        </p:nvPicPr>
        <p:blipFill>
          <a:blip r:embed="rId4"/>
          <a:srcRect l="0" r="0" t="0" b="0"/>
          <a:stretch/>
        </p:blipFill>
        <p:spPr>
          <a:xfrm>
            <a:off x="990600" y="4703763"/>
            <a:ext cx="254000" cy="254000"/>
          </a:xfrm>
          <a:prstGeom prst="rect">
            <a:avLst/>
          </a:prstGeom>
        </p:spPr>
      </p:pic>
      <p:sp>
        <p:nvSpPr>
          <p:cNvPr id="24" name="Text 18"/>
          <p:cNvSpPr/>
          <p:nvPr/>
        </p:nvSpPr>
        <p:spPr>
          <a:xfrm>
            <a:off x="1371600" y="4724102"/>
            <a:ext cx="10124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Skup je korišćen na takmičenjima HAICon u detekciji anomalija, pa postoje javno uporedivi rezultati.</a:t>
            </a:r>
            <a:endParaRPr lang="en-US" sz="1200" dirty="0"/>
          </a:p>
        </p:txBody>
      </p:sp>
      <p:sp>
        <p:nvSpPr>
          <p:cNvPr id="25" name="Shape 19"/>
          <p:cNvSpPr/>
          <p:nvPr/>
        </p:nvSpPr>
        <p:spPr>
          <a:xfrm>
            <a:off x="812800" y="6209705"/>
            <a:ext cx="10566400" cy="0"/>
          </a:xfrm>
          <a:prstGeom prst="line">
            <a:avLst/>
          </a:prstGeom>
          <a:noFill/>
          <a:ln w="6350">
            <a:solidFill>
              <a:srgbClr val="D3DAE1"/>
            </a:solidFill>
            <a:prstDash val="solid"/>
          </a:ln>
        </p:spPr>
      </p:sp>
      <p:sp>
        <p:nvSpPr>
          <p:cNvPr id="26" name="Text 20"/>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27"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SWAT I HAI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Poređenje skupova SWaT i HAI</a:t>
            </a:r>
            <a:endParaRPr lang="en-US" sz="3000" dirty="0"/>
          </a:p>
        </p:txBody>
      </p:sp>
      <p:sp>
        <p:nvSpPr>
          <p:cNvPr id="5" name="Shape 3"/>
          <p:cNvSpPr/>
          <p:nvPr/>
        </p:nvSpPr>
        <p:spPr>
          <a:xfrm>
            <a:off x="812800" y="1673820"/>
            <a:ext cx="10566400" cy="3249613"/>
          </a:xfrm>
          <a:prstGeom prst="roundRect">
            <a:avLst>
              <a:gd name="adj" fmla="val 3127"/>
            </a:avLst>
          </a:prstGeom>
          <a:solidFill>
            <a:srgbClr val="FCFCFB"/>
          </a:solidFill>
          <a:ln/>
        </p:spPr>
      </p:sp>
      <p:sp>
        <p:nvSpPr>
          <p:cNvPr id="6" name="Shape 4"/>
          <p:cNvSpPr/>
          <p:nvPr/>
        </p:nvSpPr>
        <p:spPr>
          <a:xfrm>
            <a:off x="812800" y="1673820"/>
            <a:ext cx="10566400" cy="3249613"/>
          </a:xfrm>
          <a:custGeom>
            <a:avLst/>
            <a:gdLst/>
            <a:ahLst/>
            <a:cxnLst/>
            <a:rect l="l" t="t" r="r" b="b"/>
            <a:pathLst>
              <a:path w="10566400" h="3249613">
                <a:moveTo>
                  <a:pt x="10464800" y="0"/>
                </a:moveTo>
                <a:lnTo>
                  <a:pt x="10464800" y="0"/>
                </a:lnTo>
                <a:arcTo hR="101600" wR="101600" stAng="16200000" swAng="5400000"/>
                <a:lnTo>
                  <a:pt x="10566400" y="3148013"/>
                </a:lnTo>
                <a:arcTo hR="101600" wR="101600" stAng="0" swAng="5400000"/>
                <a:lnTo>
                  <a:pt x="101600" y="3249613"/>
                </a:lnTo>
                <a:arcTo hR="101600" wR="101600" stAng="5400000" swAng="5400000"/>
                <a:lnTo>
                  <a:pt x="0" y="3148013"/>
                </a:lnTo>
                <a:arcTo hR="95250" wR="101600" stAng="10800000" swAng="-5400000"/>
                <a:lnTo>
                  <a:pt x="10464800" y="3243263"/>
                </a:lnTo>
                <a:arcTo hR="95250" wR="95250" stAng="5400000" swAng="-5400000"/>
                <a:lnTo>
                  <a:pt x="10560050" y="101600"/>
                </a:lnTo>
                <a:arcTo hR="101600" wR="95250" stAng="0" swAng="-5400000"/>
                <a:close/>
              </a:path>
            </a:pathLst>
          </a:custGeom>
          <a:solidFill>
            <a:srgbClr val="D3DAE1"/>
          </a:solidFill>
          <a:ln/>
        </p:spPr>
      </p:sp>
      <p:sp>
        <p:nvSpPr>
          <p:cNvPr id="7" name="Shape 5"/>
          <p:cNvSpPr/>
          <p:nvPr/>
        </p:nvSpPr>
        <p:spPr>
          <a:xfrm>
            <a:off x="812800" y="1673820"/>
            <a:ext cx="10566400" cy="3249613"/>
          </a:xfrm>
          <a:custGeom>
            <a:avLst/>
            <a:gdLst/>
            <a:ahLst/>
            <a:cxnLst/>
            <a:rect l="l" t="t" r="r" b="b"/>
            <a:pathLst>
              <a:path w="10566400" h="3249613">
                <a:moveTo>
                  <a:pt x="101600" y="3249613"/>
                </a:moveTo>
                <a:lnTo>
                  <a:pt x="101600" y="3249613"/>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3148013"/>
                </a:lnTo>
                <a:arcTo hR="101600" wR="8890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686520"/>
          <a:ext cx="10547350" cy="3230563"/>
        </p:xfrm>
        <a:graphic>
          <a:graphicData uri="http://schemas.openxmlformats.org/drawingml/2006/table">
            <a:tbl>
              <a:tblPr/>
              <a:tblGrid>
                <a:gridCol w="2531364"/>
                <a:gridCol w="4007993"/>
                <a:gridCol w="4007993"/>
              </a:tblGrid>
              <a:tr h="403820">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Obeležje</a:t>
                      </a:r>
                      <a:endParaRPr lang="en-US" sz="1200" dirty="0">
                        <a:latin typeface="IBM Plex Sans" charset="0"/>
                        <a:ea typeface="IBM Plex Sans" charset="0"/>
                        <a:cs typeface="IBM Plex Sans" charset="0"/>
                      </a:endParaRPr>
                    </a:p>
                  </a:txBody>
                  <a:tcPr marL="177800" marR="177800" marT="88900" marB="88900" anchor="t">
                    <a:lnL w="0" cap="flat" cmpd="sng" algn="ctr">
                      <a:noFill/>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0A5CA8"/>
                          </a:solidFill>
                          <a:latin typeface="IBM Plex Sans" pitchFamily="34" charset="0"/>
                          <a:ea typeface="IBM Plex Sans" pitchFamily="34" charset="-122"/>
                          <a:cs typeface="IBM Plex Sans" pitchFamily="34" charset="-120"/>
                        </a:rPr>
                        <a:t>SWaT (A1, 2015)</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0A5CA8"/>
                          </a:solidFill>
                          <a:latin typeface="IBM Plex Sans" pitchFamily="34" charset="0"/>
                          <a:ea typeface="IBM Plex Sans" pitchFamily="34" charset="-122"/>
                          <a:cs typeface="IBM Plex Sans" pitchFamily="34" charset="-120"/>
                        </a:rPr>
                        <a:t>HAI (23.05)</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r>
              <a:tr h="4038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Postrojenje</a:t>
                      </a:r>
                      <a:endParaRPr lang="en-US" sz="1200" dirty="0">
                        <a:latin typeface="IBM Plex Sans" charset="0"/>
                        <a:ea typeface="IBM Plex Sans" charset="0"/>
                        <a:cs typeface="IBM Plex Sans" charset="0"/>
                      </a:endParaRPr>
                    </a:p>
                  </a:txBody>
                  <a:tcPr marL="177800" marR="1778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Fizička replika prečišćavanja vode</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Tri stvarna sistema povezana HIL simulacijom</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Broj promenljivih</a:t>
                      </a:r>
                      <a:endParaRPr lang="en-US" sz="1200" dirty="0">
                        <a:latin typeface="IBM Plex Sans" charset="0"/>
                        <a:ea typeface="IBM Plex Sans" charset="0"/>
                        <a:cs typeface="IBM Plex Sans" charset="0"/>
                      </a:endParaRPr>
                    </a:p>
                  </a:txBody>
                  <a:tcPr marL="177800" marR="1778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51 senzor i aktuator</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86 tačaka (225 u verziji HAIEnd)</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Normalan rad</a:t>
                      </a:r>
                      <a:endParaRPr lang="en-US" sz="1200" dirty="0">
                        <a:latin typeface="IBM Plex Sans" charset="0"/>
                        <a:ea typeface="IBM Plex Sans" charset="0"/>
                        <a:cs typeface="IBM Plex Sans" charset="0"/>
                      </a:endParaRPr>
                    </a:p>
                  </a:txBody>
                  <a:tcPr marL="177800" marR="1778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7 dana</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249 sati</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Napadi</a:t>
                      </a:r>
                      <a:endParaRPr lang="en-US" sz="1200" dirty="0">
                        <a:latin typeface="IBM Plex Sans" charset="0"/>
                        <a:ea typeface="IBM Plex Sans" charset="0"/>
                        <a:cs typeface="IBM Plex Sans" charset="0"/>
                      </a:endParaRPr>
                    </a:p>
                  </a:txBody>
                  <a:tcPr marL="177800" marR="1778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41 napad tokom 4 dana</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52 napada tokom 79 sati</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Mrežni saobraćaj</a:t>
                      </a:r>
                      <a:endParaRPr lang="en-US" sz="1200" dirty="0">
                        <a:latin typeface="IBM Plex Sans" charset="0"/>
                        <a:ea typeface="IBM Plex Sans" charset="0"/>
                        <a:cs typeface="IBM Plex Sans" charset="0"/>
                      </a:endParaRPr>
                    </a:p>
                  </a:txBody>
                  <a:tcPr marL="177800" marR="1778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Da</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Ne, samo procesni podaci</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Pristup</a:t>
                      </a:r>
                      <a:endParaRPr lang="en-US" sz="1200" dirty="0">
                        <a:latin typeface="IBM Plex Sans" charset="0"/>
                        <a:ea typeface="IBM Plex Sans" charset="0"/>
                        <a:cs typeface="IBM Plex Sans" charset="0"/>
                      </a:endParaRPr>
                    </a:p>
                  </a:txBody>
                  <a:tcPr marL="177800" marR="1778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Zahtev institutu iTrust</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Slobodno preuzimanje</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Glavna prednost</a:t>
                      </a:r>
                      <a:endParaRPr lang="en-US" sz="1200" dirty="0">
                        <a:latin typeface="IBM Plex Sans" charset="0"/>
                        <a:ea typeface="IBM Plex Sans" charset="0"/>
                        <a:cs typeface="IBM Plex Sans" charset="0"/>
                      </a:endParaRPr>
                    </a:p>
                  </a:txBody>
                  <a:tcPr marL="177800" marR="1778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Najčešće korišćen, mnogo uporedivih radova</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Novije verzije i raznovrsniji napadi</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9" name="Shape 6"/>
          <p:cNvSpPr/>
          <p:nvPr/>
        </p:nvSpPr>
        <p:spPr>
          <a:xfrm>
            <a:off x="812800" y="5177433"/>
            <a:ext cx="10566400" cy="508000"/>
          </a:xfrm>
          <a:prstGeom prst="roundRect">
            <a:avLst>
              <a:gd name="adj" fmla="val 15000"/>
            </a:avLst>
          </a:prstGeom>
          <a:solidFill>
            <a:srgbClr val="DCE8F4"/>
          </a:solidFill>
          <a:ln/>
        </p:spPr>
      </p:sp>
      <p:pic>
        <p:nvPicPr>
          <p:cNvPr id="10" name="Image 0" descr="Lightbulb">    </p:cNvPr>
          <p:cNvPicPr>
            <a:picLocks noChangeAspect="1"/>
          </p:cNvPicPr>
          <p:nvPr/>
        </p:nvPicPr>
        <p:blipFill>
          <a:blip r:embed="rId1"/>
          <a:srcRect l="0" r="0" t="0" b="0"/>
          <a:stretch/>
        </p:blipFill>
        <p:spPr>
          <a:xfrm>
            <a:off x="990600" y="5304433"/>
            <a:ext cx="254000" cy="254000"/>
          </a:xfrm>
          <a:prstGeom prst="rect">
            <a:avLst/>
          </a:prstGeom>
        </p:spPr>
      </p:pic>
      <p:sp>
        <p:nvSpPr>
          <p:cNvPr id="11" name="Text 7"/>
          <p:cNvSpPr/>
          <p:nvPr/>
        </p:nvSpPr>
        <p:spPr>
          <a:xfrm>
            <a:off x="1371600" y="5324773"/>
            <a:ext cx="10124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Provera na dva različita skupa smanjuje rizik da metoda bude prilagođena samo jednom postrojenju.</a:t>
            </a:r>
            <a:endParaRPr lang="en-US" sz="1200" dirty="0"/>
          </a:p>
        </p:txBody>
      </p:sp>
      <p:sp>
        <p:nvSpPr>
          <p:cNvPr id="12" name="Shape 8"/>
          <p:cNvSpPr/>
          <p:nvPr/>
        </p:nvSpPr>
        <p:spPr>
          <a:xfrm>
            <a:off x="812800" y="6209705"/>
            <a:ext cx="10566400" cy="0"/>
          </a:xfrm>
          <a:prstGeom prst="line">
            <a:avLst/>
          </a:prstGeom>
          <a:noFill/>
          <a:ln w="6350">
            <a:solidFill>
              <a:srgbClr val="D3DAE1"/>
            </a:solidFill>
            <a:prstDash val="solid"/>
          </a:ln>
        </p:spPr>
      </p:sp>
      <p:sp>
        <p:nvSpPr>
          <p:cNvPr id="13" name="Text 9"/>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14" name="Text 1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BF0F5"/>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0A5CA8"/>
                </a:solidFill>
                <a:latin typeface="IBM Plex Mono" pitchFamily="49" charset="0"/>
                <a:ea typeface="IBM Plex Mono" pitchFamily="49" charset="-122"/>
                <a:cs typeface="IBM Plex Mono" pitchFamily="49" charset="-120"/>
              </a:rPr>
              <a:t>04</a:t>
            </a:r>
            <a:endParaRPr lang="en-US" sz="14000" dirty="0"/>
          </a:p>
        </p:txBody>
      </p:sp>
      <p:sp>
        <p:nvSpPr>
          <p:cNvPr id="3" name="Text 1"/>
          <p:cNvSpPr/>
          <p:nvPr/>
        </p:nvSpPr>
        <p:spPr>
          <a:xfrm>
            <a:off x="4267200" y="1797149"/>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DEO ČETVRTI</a:t>
            </a:r>
            <a:endParaRPr lang="en-US" sz="1200" dirty="0"/>
          </a:p>
        </p:txBody>
      </p:sp>
      <p:sp>
        <p:nvSpPr>
          <p:cNvPr id="4" name="Text 2"/>
          <p:cNvSpPr/>
          <p:nvPr>
            <p:ph type="title"/>
          </p:nvPr>
        </p:nvSpPr>
        <p:spPr>
          <a:xfrm>
            <a:off x="4267200" y="2188270"/>
            <a:ext cx="7325360" cy="1092200"/>
          </a:xfrm>
          <a:prstGeom prst="rect">
            <a:avLst/>
          </a:prstGeom>
          <a:noFill/>
          <a:ln/>
        </p:spPr>
        <p:txBody>
          <a:bodyPr wrap="square" lIns="0" tIns="0" rIns="0" bIns="0" rtlCol="0" anchor="t">
            <a:normAutofit/>
          </a:bodyPr>
          <a:lstStyle/>
          <a:p>
            <a:pPr algn="l" indent="0" marL="0">
              <a:lnSpc>
                <a:spcPts val="4200"/>
              </a:lnSpc>
              <a:buNone/>
            </a:pPr>
            <a:r>
              <a:rPr lang="en-US" sz="4000" b="1" i="0" spc="-100" kern="0" dirty="0">
                <a:solidFill>
                  <a:srgbClr val="13202D"/>
                </a:solidFill>
                <a:latin typeface="IBM Plex Sans" pitchFamily="34" charset="0"/>
                <a:ea typeface="IBM Plex Sans" pitchFamily="34" charset="-122"/>
                <a:cs typeface="IBM Plex Sans" pitchFamily="34" charset="-120"/>
              </a:rPr>
              <a:t>Bitnost u informacionim sistemima</a:t>
            </a:r>
            <a:endParaRPr lang="en-US" sz="4000" dirty="0"/>
          </a:p>
        </p:txBody>
      </p:sp>
      <p:sp>
        <p:nvSpPr>
          <p:cNvPr id="5" name="Text 3"/>
          <p:cNvSpPr/>
          <p:nvPr/>
        </p:nvSpPr>
        <p:spPr>
          <a:xfrm>
            <a:off x="4267200" y="343287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Zašto su javno dostupni podaci važni za bezbednost informacionih sistema i koji rizici prate njihovu upotrebu.</a:t>
            </a:r>
            <a:endParaRPr lang="en-US" sz="1400" dirty="0"/>
          </a:p>
        </p:txBody>
      </p:sp>
      <p:sp>
        <p:nvSpPr>
          <p:cNvPr id="6" name="Text 4"/>
          <p:cNvSpPr/>
          <p:nvPr/>
        </p:nvSpPr>
        <p:spPr>
          <a:xfrm>
            <a:off x="4270375" y="4129385"/>
            <a:ext cx="1327150"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Uloga podataka</a:t>
            </a:r>
            <a:endParaRPr lang="en-US" sz="1200" dirty="0"/>
          </a:p>
        </p:txBody>
      </p:sp>
      <p:sp>
        <p:nvSpPr>
          <p:cNvPr id="7" name="Text 5"/>
          <p:cNvSpPr/>
          <p:nvPr/>
        </p:nvSpPr>
        <p:spPr>
          <a:xfrm>
            <a:off x="5680075" y="4129385"/>
            <a:ext cx="1560413"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Obaveštajni podaci</a:t>
            </a:r>
            <a:endParaRPr lang="en-US" sz="1200" dirty="0"/>
          </a:p>
        </p:txBody>
      </p:sp>
      <p:sp>
        <p:nvSpPr>
          <p:cNvPr id="8" name="Text 6"/>
          <p:cNvSpPr/>
          <p:nvPr/>
        </p:nvSpPr>
        <p:spPr>
          <a:xfrm>
            <a:off x="7323038" y="4129385"/>
            <a:ext cx="1481733"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Dvostrana priroda</a:t>
            </a:r>
            <a:endParaRPr lang="en-US" sz="1200" dirty="0"/>
          </a:p>
        </p:txBody>
      </p:sp>
      <p:sp>
        <p:nvSpPr>
          <p:cNvPr id="9" name="Text 7"/>
          <p:cNvSpPr/>
          <p:nvPr/>
        </p:nvSpPr>
        <p:spPr>
          <a:xfrm>
            <a:off x="4270375" y="4533205"/>
            <a:ext cx="1740495"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Upravljanje podacima</a:t>
            </a:r>
            <a:endParaRPr lang="en-US" sz="1200" dirty="0"/>
          </a:p>
        </p:txBody>
      </p:sp>
      <p:sp>
        <p:nvSpPr>
          <p:cNvPr id="10" name="Text 8"/>
          <p:cNvSpPr/>
          <p:nvPr/>
        </p:nvSpPr>
        <p:spPr>
          <a:xfrm>
            <a:off x="6093420" y="4533205"/>
            <a:ext cx="1538684"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Integritet i poreklo</a:t>
            </a:r>
            <a:endParaRPr lang="en-US" sz="1200" dirty="0"/>
          </a:p>
        </p:txBody>
      </p:sp>
      <p:sp>
        <p:nvSpPr>
          <p:cNvPr id="11" name="Shape 9"/>
          <p:cNvSpPr/>
          <p:nvPr/>
        </p:nvSpPr>
        <p:spPr>
          <a:xfrm>
            <a:off x="812800" y="6209705"/>
            <a:ext cx="10566400" cy="0"/>
          </a:xfrm>
          <a:prstGeom prst="line">
            <a:avLst/>
          </a:prstGeom>
          <a:noFill/>
          <a:ln w="6350">
            <a:solidFill>
              <a:srgbClr val="C3CEDA"/>
            </a:solidFill>
            <a:prstDash val="solid"/>
          </a:ln>
        </p:spPr>
      </p:sp>
      <p:sp>
        <p:nvSpPr>
          <p:cNvPr id="12" name="Text 10"/>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04 · INFORMACIONI SISTEMI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Uloga javnih podataka u bezbednosti</a:t>
            </a:r>
            <a:endParaRPr lang="en-US" sz="3000" dirty="0"/>
          </a:p>
        </p:txBody>
      </p:sp>
      <p:sp>
        <p:nvSpPr>
          <p:cNvPr id="5" name="Shape 3"/>
          <p:cNvSpPr/>
          <p:nvPr/>
        </p:nvSpPr>
        <p:spPr>
          <a:xfrm>
            <a:off x="815975" y="1676995"/>
            <a:ext cx="5200650" cy="1040011"/>
          </a:xfrm>
          <a:prstGeom prst="roundRect">
            <a:avLst>
              <a:gd name="adj" fmla="val 9464"/>
            </a:avLst>
          </a:prstGeom>
          <a:solidFill>
            <a:srgbClr val="FCFCFB"/>
          </a:solidFill>
          <a:ln w="6350">
            <a:solidFill>
              <a:srgbClr val="D3DAE1"/>
            </a:solidFill>
            <a:prstDash val="solid"/>
          </a:ln>
        </p:spPr>
      </p:sp>
      <p:pic>
        <p:nvPicPr>
          <p:cNvPr id="6" name="Image 0" descr="Verified">    </p:cNvPr>
          <p:cNvPicPr>
            <a:picLocks noChangeAspect="1"/>
          </p:cNvPicPr>
          <p:nvPr/>
        </p:nvPicPr>
        <p:blipFill>
          <a:blip r:embed="rId1"/>
          <a:srcRect l="0" r="0" t="0" b="0"/>
          <a:stretch/>
        </p:blipFill>
        <p:spPr>
          <a:xfrm>
            <a:off x="1022350" y="1857970"/>
            <a:ext cx="279400" cy="279400"/>
          </a:xfrm>
          <a:prstGeom prst="rect">
            <a:avLst/>
          </a:prstGeom>
        </p:spPr>
      </p:pic>
      <p:sp>
        <p:nvSpPr>
          <p:cNvPr id="7" name="Text 4"/>
          <p:cNvSpPr/>
          <p:nvPr/>
        </p:nvSpPr>
        <p:spPr>
          <a:xfrm>
            <a:off x="1454150" y="1857970"/>
            <a:ext cx="448678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Ponovljivost istraživanja</a:t>
            </a:r>
            <a:endParaRPr lang="en-US" sz="1400" dirty="0"/>
          </a:p>
        </p:txBody>
      </p:sp>
      <p:sp>
        <p:nvSpPr>
          <p:cNvPr id="8" name="Text 5"/>
          <p:cNvSpPr/>
          <p:nvPr/>
        </p:nvSpPr>
        <p:spPr>
          <a:xfrm>
            <a:off x="1454150" y="2109391"/>
            <a:ext cx="4486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Drugi istraživači mogu ponoviti eksperiment i proveriti zaključke.</a:t>
            </a:r>
            <a:endParaRPr lang="en-US" sz="1200" dirty="0"/>
          </a:p>
        </p:txBody>
      </p:sp>
      <p:sp>
        <p:nvSpPr>
          <p:cNvPr id="9" name="Shape 6"/>
          <p:cNvSpPr/>
          <p:nvPr/>
        </p:nvSpPr>
        <p:spPr>
          <a:xfrm>
            <a:off x="6175375" y="1676995"/>
            <a:ext cx="5200650" cy="1040011"/>
          </a:xfrm>
          <a:prstGeom prst="roundRect">
            <a:avLst>
              <a:gd name="adj" fmla="val 9464"/>
            </a:avLst>
          </a:prstGeom>
          <a:solidFill>
            <a:srgbClr val="FCFCFB"/>
          </a:solidFill>
          <a:ln w="6350">
            <a:solidFill>
              <a:srgbClr val="D3DAE1"/>
            </a:solidFill>
            <a:prstDash val="solid"/>
          </a:ln>
        </p:spPr>
      </p:sp>
      <p:pic>
        <p:nvPicPr>
          <p:cNvPr id="10" name="Image 1" descr="Chart">    </p:cNvPr>
          <p:cNvPicPr>
            <a:picLocks noChangeAspect="1"/>
          </p:cNvPicPr>
          <p:nvPr/>
        </p:nvPicPr>
        <p:blipFill>
          <a:blip r:embed="rId2"/>
          <a:srcRect l="0" r="0" t="0" b="0"/>
          <a:stretch/>
        </p:blipFill>
        <p:spPr>
          <a:xfrm>
            <a:off x="6381750" y="1857970"/>
            <a:ext cx="279400" cy="279400"/>
          </a:xfrm>
          <a:prstGeom prst="rect">
            <a:avLst/>
          </a:prstGeom>
        </p:spPr>
      </p:pic>
      <p:sp>
        <p:nvSpPr>
          <p:cNvPr id="11" name="Text 7"/>
          <p:cNvSpPr/>
          <p:nvPr/>
        </p:nvSpPr>
        <p:spPr>
          <a:xfrm>
            <a:off x="6813550" y="1857970"/>
            <a:ext cx="448678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Uporedivost metoda</a:t>
            </a:r>
            <a:endParaRPr lang="en-US" sz="1400" dirty="0"/>
          </a:p>
        </p:txBody>
      </p:sp>
      <p:sp>
        <p:nvSpPr>
          <p:cNvPr id="12" name="Text 8"/>
          <p:cNvSpPr/>
          <p:nvPr/>
        </p:nvSpPr>
        <p:spPr>
          <a:xfrm>
            <a:off x="6813550" y="2109391"/>
            <a:ext cx="4486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Različiti pristupi vrednuju se na istim podacima i istim metrikama.</a:t>
            </a:r>
            <a:endParaRPr lang="en-US" sz="1200" dirty="0"/>
          </a:p>
        </p:txBody>
      </p:sp>
      <p:sp>
        <p:nvSpPr>
          <p:cNvPr id="13" name="Shape 9"/>
          <p:cNvSpPr/>
          <p:nvPr/>
        </p:nvSpPr>
        <p:spPr>
          <a:xfrm>
            <a:off x="815975" y="2875756"/>
            <a:ext cx="5200650" cy="1040011"/>
          </a:xfrm>
          <a:prstGeom prst="roundRect">
            <a:avLst>
              <a:gd name="adj" fmla="val 9464"/>
            </a:avLst>
          </a:prstGeom>
          <a:solidFill>
            <a:srgbClr val="FCFCFB"/>
          </a:solidFill>
          <a:ln w="6350">
            <a:solidFill>
              <a:srgbClr val="D3DAE1"/>
            </a:solidFill>
            <a:prstDash val="solid"/>
          </a:ln>
        </p:spPr>
      </p:sp>
      <p:pic>
        <p:nvPicPr>
          <p:cNvPr id="14" name="Image 2" descr="Settings">    </p:cNvPr>
          <p:cNvPicPr>
            <a:picLocks noChangeAspect="1"/>
          </p:cNvPicPr>
          <p:nvPr/>
        </p:nvPicPr>
        <p:blipFill>
          <a:blip r:embed="rId3"/>
          <a:srcRect l="0" r="0" t="0" b="0"/>
          <a:stretch/>
        </p:blipFill>
        <p:spPr>
          <a:xfrm>
            <a:off x="1022350" y="3056731"/>
            <a:ext cx="279400" cy="279400"/>
          </a:xfrm>
          <a:prstGeom prst="rect">
            <a:avLst/>
          </a:prstGeom>
        </p:spPr>
      </p:pic>
      <p:sp>
        <p:nvSpPr>
          <p:cNvPr id="15" name="Text 10"/>
          <p:cNvSpPr/>
          <p:nvPr/>
        </p:nvSpPr>
        <p:spPr>
          <a:xfrm>
            <a:off x="1454150" y="3056731"/>
            <a:ext cx="448678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Razvoj i provera alata</a:t>
            </a:r>
            <a:endParaRPr lang="en-US" sz="1400" dirty="0"/>
          </a:p>
        </p:txBody>
      </p:sp>
      <p:sp>
        <p:nvSpPr>
          <p:cNvPr id="16" name="Text 11"/>
          <p:cNvSpPr/>
          <p:nvPr/>
        </p:nvSpPr>
        <p:spPr>
          <a:xfrm>
            <a:off x="1454150" y="3308152"/>
            <a:ext cx="4486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Sistemi za detekciju upada testiraju se pre uvođenja u stvarno okruženje.</a:t>
            </a:r>
            <a:endParaRPr lang="en-US" sz="1200" dirty="0"/>
          </a:p>
        </p:txBody>
      </p:sp>
      <p:sp>
        <p:nvSpPr>
          <p:cNvPr id="17" name="Shape 12"/>
          <p:cNvSpPr/>
          <p:nvPr/>
        </p:nvSpPr>
        <p:spPr>
          <a:xfrm>
            <a:off x="6175375" y="2875756"/>
            <a:ext cx="5200650" cy="1040011"/>
          </a:xfrm>
          <a:prstGeom prst="roundRect">
            <a:avLst>
              <a:gd name="adj" fmla="val 9464"/>
            </a:avLst>
          </a:prstGeom>
          <a:solidFill>
            <a:srgbClr val="FCFCFB"/>
          </a:solidFill>
          <a:ln w="6350">
            <a:solidFill>
              <a:srgbClr val="D3DAE1"/>
            </a:solidFill>
            <a:prstDash val="solid"/>
          </a:ln>
        </p:spPr>
      </p:sp>
      <p:pic>
        <p:nvPicPr>
          <p:cNvPr id="18" name="Image 3" descr="GraduationCap">    </p:cNvPr>
          <p:cNvPicPr>
            <a:picLocks noChangeAspect="1"/>
          </p:cNvPicPr>
          <p:nvPr/>
        </p:nvPicPr>
        <p:blipFill>
          <a:blip r:embed="rId4"/>
          <a:srcRect l="0" r="0" t="0" b="0"/>
          <a:stretch/>
        </p:blipFill>
        <p:spPr>
          <a:xfrm>
            <a:off x="6381750" y="3056731"/>
            <a:ext cx="279400" cy="279400"/>
          </a:xfrm>
          <a:prstGeom prst="rect">
            <a:avLst/>
          </a:prstGeom>
        </p:spPr>
      </p:pic>
      <p:sp>
        <p:nvSpPr>
          <p:cNvPr id="19" name="Text 13"/>
          <p:cNvSpPr/>
          <p:nvPr/>
        </p:nvSpPr>
        <p:spPr>
          <a:xfrm>
            <a:off x="6813550" y="3056731"/>
            <a:ext cx="448678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Obrazovanje i vežbe</a:t>
            </a:r>
            <a:endParaRPr lang="en-US" sz="1400" dirty="0"/>
          </a:p>
        </p:txBody>
      </p:sp>
      <p:sp>
        <p:nvSpPr>
          <p:cNvPr id="20" name="Text 14"/>
          <p:cNvSpPr/>
          <p:nvPr/>
        </p:nvSpPr>
        <p:spPr>
          <a:xfrm>
            <a:off x="6813550" y="3308152"/>
            <a:ext cx="4486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Studenti i operateri uče na realnim podacima, bez pristupa stvarnom postrojenju.</a:t>
            </a:r>
            <a:endParaRPr lang="en-US" sz="1200" dirty="0"/>
          </a:p>
        </p:txBody>
      </p:sp>
      <p:sp>
        <p:nvSpPr>
          <p:cNvPr id="21" name="Shape 15"/>
          <p:cNvSpPr/>
          <p:nvPr/>
        </p:nvSpPr>
        <p:spPr>
          <a:xfrm>
            <a:off x="812800" y="4172942"/>
            <a:ext cx="10566400" cy="508000"/>
          </a:xfrm>
          <a:prstGeom prst="roundRect">
            <a:avLst>
              <a:gd name="adj" fmla="val 15000"/>
            </a:avLst>
          </a:prstGeom>
          <a:solidFill>
            <a:srgbClr val="DCE8F4"/>
          </a:solidFill>
          <a:ln/>
        </p:spPr>
      </p:sp>
      <p:pic>
        <p:nvPicPr>
          <p:cNvPr id="22" name="Image 4" descr="Lightbulb">    </p:cNvPr>
          <p:cNvPicPr>
            <a:picLocks noChangeAspect="1"/>
          </p:cNvPicPr>
          <p:nvPr/>
        </p:nvPicPr>
        <p:blipFill>
          <a:blip r:embed="rId5"/>
          <a:srcRect l="0" r="0" t="0" b="0"/>
          <a:stretch/>
        </p:blipFill>
        <p:spPr>
          <a:xfrm>
            <a:off x="990600" y="4299942"/>
            <a:ext cx="254000" cy="254000"/>
          </a:xfrm>
          <a:prstGeom prst="rect">
            <a:avLst/>
          </a:prstGeom>
        </p:spPr>
      </p:pic>
      <p:sp>
        <p:nvSpPr>
          <p:cNvPr id="23" name="Text 16"/>
          <p:cNvSpPr/>
          <p:nvPr/>
        </p:nvSpPr>
        <p:spPr>
          <a:xfrm>
            <a:off x="1371600" y="4320282"/>
            <a:ext cx="10124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Bezbednosna odluka je onoliko dobra koliko su dobri podaci na kojima je doneta.</a:t>
            </a:r>
            <a:endParaRPr lang="en-US" sz="1200" dirty="0"/>
          </a:p>
        </p:txBody>
      </p:sp>
      <p:sp>
        <p:nvSpPr>
          <p:cNvPr id="24" name="Shape 17"/>
          <p:cNvSpPr/>
          <p:nvPr/>
        </p:nvSpPr>
        <p:spPr>
          <a:xfrm>
            <a:off x="812800" y="6209705"/>
            <a:ext cx="10566400" cy="0"/>
          </a:xfrm>
          <a:prstGeom prst="line">
            <a:avLst/>
          </a:prstGeom>
          <a:noFill/>
          <a:ln w="6350">
            <a:solidFill>
              <a:srgbClr val="D3DAE1"/>
            </a:solidFill>
            <a:prstDash val="solid"/>
          </a:ln>
        </p:spPr>
      </p:sp>
      <p:sp>
        <p:nvSpPr>
          <p:cNvPr id="25" name="Text 18"/>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26" name="Text 1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04 · INFORMACIONI SISTEMI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Javni obaveštajni podaci o pretnjama</a:t>
            </a:r>
            <a:endParaRPr lang="en-US" sz="3000" dirty="0"/>
          </a:p>
        </p:txBody>
      </p:sp>
      <p:sp>
        <p:nvSpPr>
          <p:cNvPr id="5" name="Shape 3"/>
          <p:cNvSpPr/>
          <p:nvPr/>
        </p:nvSpPr>
        <p:spPr>
          <a:xfrm>
            <a:off x="812800" y="1673820"/>
            <a:ext cx="10566400" cy="2441972"/>
          </a:xfrm>
          <a:prstGeom prst="roundRect">
            <a:avLst>
              <a:gd name="adj" fmla="val 4161"/>
            </a:avLst>
          </a:prstGeom>
          <a:solidFill>
            <a:srgbClr val="FCFCFB"/>
          </a:solidFill>
          <a:ln/>
        </p:spPr>
      </p:sp>
      <p:sp>
        <p:nvSpPr>
          <p:cNvPr id="6" name="Shape 4"/>
          <p:cNvSpPr/>
          <p:nvPr/>
        </p:nvSpPr>
        <p:spPr>
          <a:xfrm>
            <a:off x="812800" y="1673820"/>
            <a:ext cx="10566400" cy="2441972"/>
          </a:xfrm>
          <a:custGeom>
            <a:avLst/>
            <a:gdLst/>
            <a:ahLst/>
            <a:cxnLst/>
            <a:rect l="l" t="t" r="r" b="b"/>
            <a:pathLst>
              <a:path w="10566400" h="2441972">
                <a:moveTo>
                  <a:pt x="10464800" y="0"/>
                </a:moveTo>
                <a:lnTo>
                  <a:pt x="10464800" y="0"/>
                </a:lnTo>
                <a:arcTo hR="101600" wR="101600" stAng="16200000" swAng="5400000"/>
                <a:lnTo>
                  <a:pt x="10566400" y="2340372"/>
                </a:lnTo>
                <a:arcTo hR="101600" wR="101600" stAng="0" swAng="5400000"/>
                <a:lnTo>
                  <a:pt x="101600" y="2441972"/>
                </a:lnTo>
                <a:arcTo hR="101600" wR="101600" stAng="5400000" swAng="5400000"/>
                <a:lnTo>
                  <a:pt x="0" y="2340372"/>
                </a:lnTo>
                <a:arcTo hR="95250" wR="101600" stAng="10800000" swAng="-5400000"/>
                <a:lnTo>
                  <a:pt x="10464800" y="2435622"/>
                </a:lnTo>
                <a:arcTo hR="95250" wR="95250" stAng="5400000" swAng="-5400000"/>
                <a:lnTo>
                  <a:pt x="10560050" y="101600"/>
                </a:lnTo>
                <a:arcTo hR="101600" wR="95250" stAng="0" swAng="-5400000"/>
                <a:close/>
              </a:path>
            </a:pathLst>
          </a:custGeom>
          <a:solidFill>
            <a:srgbClr val="D3DAE1"/>
          </a:solidFill>
          <a:ln/>
        </p:spPr>
      </p:sp>
      <p:sp>
        <p:nvSpPr>
          <p:cNvPr id="7" name="Shape 5"/>
          <p:cNvSpPr/>
          <p:nvPr/>
        </p:nvSpPr>
        <p:spPr>
          <a:xfrm>
            <a:off x="812800" y="1673820"/>
            <a:ext cx="10566400" cy="2441972"/>
          </a:xfrm>
          <a:custGeom>
            <a:avLst/>
            <a:gdLst/>
            <a:ahLst/>
            <a:cxnLst/>
            <a:rect l="l" t="t" r="r" b="b"/>
            <a:pathLst>
              <a:path w="10566400" h="2441972">
                <a:moveTo>
                  <a:pt x="101600" y="2441972"/>
                </a:moveTo>
                <a:lnTo>
                  <a:pt x="101600" y="2441972"/>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340372"/>
                </a:lnTo>
                <a:arcTo hR="101600" wR="8890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686520"/>
          <a:ext cx="10547350" cy="2422922"/>
        </p:xfrm>
        <a:graphic>
          <a:graphicData uri="http://schemas.openxmlformats.org/drawingml/2006/table">
            <a:tbl>
              <a:tblPr/>
              <a:tblGrid>
                <a:gridCol w="2953258"/>
                <a:gridCol w="4007993"/>
                <a:gridCol w="3586099"/>
              </a:tblGrid>
              <a:tr h="403820">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Izvor</a:t>
                      </a:r>
                      <a:endParaRPr lang="en-US" sz="1200" dirty="0">
                        <a:latin typeface="IBM Plex Sans" charset="0"/>
                        <a:ea typeface="IBM Plex Sans" charset="0"/>
                        <a:cs typeface="IBM Plex Sans" charset="0"/>
                      </a:endParaRPr>
                    </a:p>
                  </a:txBody>
                  <a:tcPr marL="177800" marR="177800" marT="88900" marB="88900" anchor="t">
                    <a:lnL w="0" cap="flat" cmpd="sng" algn="ctr">
                      <a:noFill/>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Sadržaj</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Upotreba</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r>
              <a:tr h="40382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CVE i NVD</a:t>
                      </a:r>
                      <a:endParaRPr lang="en-US" sz="1200" dirty="0">
                        <a:latin typeface="IBM Plex Sans" charset="0"/>
                        <a:ea typeface="IBM Plex Sans" charset="0"/>
                        <a:cs typeface="IBM Plex Sans" charset="0"/>
                      </a:endParaRPr>
                    </a:p>
                  </a:txBody>
                  <a:tcPr marL="177800" marR="1778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Identifikatori i opisi ranjivosti, ocena CVSS</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Procena rizika i redosled zakrpa</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Upozorenja CISA za ICS</a:t>
                      </a:r>
                      <a:endParaRPr lang="en-US" sz="1200" dirty="0">
                        <a:latin typeface="IBM Plex Sans" charset="0"/>
                        <a:ea typeface="IBM Plex Sans" charset="0"/>
                        <a:cs typeface="IBM Plex Sans" charset="0"/>
                      </a:endParaRPr>
                    </a:p>
                  </a:txBody>
                  <a:tcPr marL="177800" marR="1778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Ranjivosti industrijske opreme po proizvođaču</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Praćenje opreme u inventaru</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MITRE ATT&amp;CK for ICS</a:t>
                      </a:r>
                      <a:endParaRPr lang="en-US" sz="1200" dirty="0">
                        <a:latin typeface="IBM Plex Sans" charset="0"/>
                        <a:ea typeface="IBM Plex Sans" charset="0"/>
                        <a:cs typeface="IBM Plex Sans" charset="0"/>
                      </a:endParaRPr>
                    </a:p>
                  </a:txBody>
                  <a:tcPr marL="177800" marR="1778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Taktike i tehnike napadača</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Modelovanje pretnji i planiranje detekcije</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Izveštaji o incidentima</a:t>
                      </a:r>
                      <a:endParaRPr lang="en-US" sz="1200" dirty="0">
                        <a:latin typeface="IBM Plex Sans" charset="0"/>
                        <a:ea typeface="IBM Plex Sans" charset="0"/>
                        <a:cs typeface="IBM Plex Sans" charset="0"/>
                      </a:endParaRPr>
                    </a:p>
                  </a:txBody>
                  <a:tcPr marL="177800" marR="1778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Analize stvarnih napada</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Učenje iz tuđih iskustava</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STIX i TAXII</a:t>
                      </a:r>
                      <a:endParaRPr lang="en-US" sz="1200" dirty="0">
                        <a:latin typeface="IBM Plex Sans" charset="0"/>
                        <a:ea typeface="IBM Plex Sans" charset="0"/>
                        <a:cs typeface="IBM Plex Sans" charset="0"/>
                      </a:endParaRPr>
                    </a:p>
                  </a:txBody>
                  <a:tcPr marL="177800" marR="1778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Standardni format i protokol razmene</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Automatsko deljenje indikatora</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9" name="Shape 6"/>
          <p:cNvSpPr/>
          <p:nvPr/>
        </p:nvSpPr>
        <p:spPr>
          <a:xfrm>
            <a:off x="812800" y="4369792"/>
            <a:ext cx="10566400" cy="508000"/>
          </a:xfrm>
          <a:prstGeom prst="roundRect">
            <a:avLst>
              <a:gd name="adj" fmla="val 15000"/>
            </a:avLst>
          </a:prstGeom>
          <a:solidFill>
            <a:srgbClr val="DCE8F4"/>
          </a:solidFill>
          <a:ln/>
        </p:spPr>
      </p:sp>
      <p:pic>
        <p:nvPicPr>
          <p:cNvPr id="10" name="Image 0" descr="Link">    </p:cNvPr>
          <p:cNvPicPr>
            <a:picLocks noChangeAspect="1"/>
          </p:cNvPicPr>
          <p:nvPr/>
        </p:nvPicPr>
        <p:blipFill>
          <a:blip r:embed="rId1"/>
          <a:srcRect l="0" r="0" t="0" b="0"/>
          <a:stretch/>
        </p:blipFill>
        <p:spPr>
          <a:xfrm>
            <a:off x="990600" y="4496792"/>
            <a:ext cx="254000" cy="254000"/>
          </a:xfrm>
          <a:prstGeom prst="rect">
            <a:avLst/>
          </a:prstGeom>
        </p:spPr>
      </p:pic>
      <p:sp>
        <p:nvSpPr>
          <p:cNvPr id="11" name="Text 7"/>
          <p:cNvSpPr/>
          <p:nvPr/>
        </p:nvSpPr>
        <p:spPr>
          <a:xfrm>
            <a:off x="1371600" y="4517132"/>
            <a:ext cx="10124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Povezivanjem upozorenja sa inventarom opreme organizacija zna koje se pretnje odnose upravo na nju.</a:t>
            </a:r>
            <a:endParaRPr lang="en-US" sz="1200" dirty="0"/>
          </a:p>
        </p:txBody>
      </p:sp>
      <p:sp>
        <p:nvSpPr>
          <p:cNvPr id="12" name="Shape 8"/>
          <p:cNvSpPr/>
          <p:nvPr/>
        </p:nvSpPr>
        <p:spPr>
          <a:xfrm>
            <a:off x="812800" y="6209705"/>
            <a:ext cx="10566400" cy="0"/>
          </a:xfrm>
          <a:prstGeom prst="line">
            <a:avLst/>
          </a:prstGeom>
          <a:noFill/>
          <a:ln w="6350">
            <a:solidFill>
              <a:srgbClr val="D3DAE1"/>
            </a:solidFill>
            <a:prstDash val="solid"/>
          </a:ln>
        </p:spPr>
      </p:sp>
      <p:sp>
        <p:nvSpPr>
          <p:cNvPr id="13" name="Text 9"/>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14" name="Text 1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04 · INFORMACIONI SISTEMI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Dvostrana priroda javnih podataka</a:t>
            </a:r>
            <a:endParaRPr lang="en-US" sz="3000" dirty="0"/>
          </a:p>
        </p:txBody>
      </p:sp>
      <p:sp>
        <p:nvSpPr>
          <p:cNvPr id="5" name="Shape 3"/>
          <p:cNvSpPr/>
          <p:nvPr/>
        </p:nvSpPr>
        <p:spPr>
          <a:xfrm>
            <a:off x="815975" y="1676995"/>
            <a:ext cx="5175250" cy="1634331"/>
          </a:xfrm>
          <a:prstGeom prst="roundRect">
            <a:avLst>
              <a:gd name="adj" fmla="val 6022"/>
            </a:avLst>
          </a:prstGeom>
          <a:solidFill>
            <a:srgbClr val="DCE8F4"/>
          </a:solidFill>
          <a:ln w="6350">
            <a:solidFill>
              <a:srgbClr val="A9C2DC"/>
            </a:solidFill>
            <a:prstDash val="solid"/>
          </a:ln>
        </p:spPr>
      </p:sp>
      <p:pic>
        <p:nvPicPr>
          <p:cNvPr id="6" name="Image 0" descr="Lock">    </p:cNvPr>
          <p:cNvPicPr>
            <a:picLocks noChangeAspect="1"/>
          </p:cNvPicPr>
          <p:nvPr/>
        </p:nvPicPr>
        <p:blipFill>
          <a:blip r:embed="rId1"/>
          <a:srcRect l="0" r="0" t="0" b="0"/>
          <a:stretch/>
        </p:blipFill>
        <p:spPr>
          <a:xfrm>
            <a:off x="1047750" y="1883370"/>
            <a:ext cx="254000" cy="254000"/>
          </a:xfrm>
          <a:prstGeom prst="rect">
            <a:avLst/>
          </a:prstGeom>
        </p:spPr>
      </p:pic>
      <p:sp>
        <p:nvSpPr>
          <p:cNvPr id="7" name="Text 4"/>
          <p:cNvSpPr/>
          <p:nvPr/>
        </p:nvSpPr>
        <p:spPr>
          <a:xfrm>
            <a:off x="1403350" y="1888430"/>
            <a:ext cx="93452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Branilac</a:t>
            </a:r>
            <a:endParaRPr lang="en-US" sz="1600" dirty="0"/>
          </a:p>
        </p:txBody>
      </p:sp>
      <p:sp>
        <p:nvSpPr>
          <p:cNvPr id="8" name="Text 5"/>
          <p:cNvSpPr/>
          <p:nvPr/>
        </p:nvSpPr>
        <p:spPr>
          <a:xfrm>
            <a:off x="1146556" y="2251670"/>
            <a:ext cx="4746625" cy="87868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44505D"/>
                </a:solidFill>
                <a:latin typeface="IBM Plex Sans" pitchFamily="34" charset="0"/>
                <a:ea typeface="IBM Plex Sans" pitchFamily="34" charset="-122"/>
                <a:cs typeface="IBM Plex Sans" pitchFamily="34" charset="-120"/>
              </a:rPr>
              <a:t>Obučava i proverava detektore napada</a:t>
            </a:r>
            <a:endParaRPr lang="en-US" sz="1200" dirty="0"/>
          </a:p>
          <a:p>
            <a:pPr algn="l" marL="155194" indent="-155194">
              <a:lnSpc>
                <a:spcPts val="1680"/>
              </a:lnSpc>
              <a:buSzPct val="100000"/>
              <a:buChar char="•"/>
            </a:pPr>
            <a:r>
              <a:rPr lang="en-US" sz="1200" dirty="0">
                <a:solidFill>
                  <a:srgbClr val="44505D"/>
                </a:solidFill>
                <a:latin typeface="IBM Plex Sans" pitchFamily="34" charset="0"/>
                <a:ea typeface="IBM Plex Sans" pitchFamily="34" charset="-122"/>
                <a:cs typeface="IBM Plex Sans" pitchFamily="34" charset="-120"/>
              </a:rPr>
              <a:t>Procenjuje izloženost sopstvenih sistema</a:t>
            </a:r>
            <a:endParaRPr lang="en-US" sz="1200" dirty="0"/>
          </a:p>
          <a:p>
            <a:pPr algn="l" marL="155194" indent="-155194">
              <a:lnSpc>
                <a:spcPts val="1680"/>
              </a:lnSpc>
              <a:buSzPct val="100000"/>
              <a:buChar char="•"/>
            </a:pPr>
            <a:r>
              <a:rPr lang="en-US" sz="1200" dirty="0">
                <a:solidFill>
                  <a:srgbClr val="44505D"/>
                </a:solidFill>
                <a:latin typeface="IBM Plex Sans" pitchFamily="34" charset="0"/>
                <a:ea typeface="IBM Plex Sans" pitchFamily="34" charset="-122"/>
                <a:cs typeface="IBM Plex Sans" pitchFamily="34" charset="-120"/>
              </a:rPr>
              <a:t>Uči iz analiza stvarnih incidenata</a:t>
            </a:r>
            <a:endParaRPr lang="en-US" sz="1200" dirty="0"/>
          </a:p>
          <a:p>
            <a:pPr algn="l" marL="155194" indent="-155194">
              <a:lnSpc>
                <a:spcPts val="1680"/>
              </a:lnSpc>
              <a:buSzPct val="100000"/>
              <a:buChar char="•"/>
            </a:pPr>
            <a:r>
              <a:rPr lang="en-US" sz="1200" dirty="0">
                <a:solidFill>
                  <a:srgbClr val="44505D"/>
                </a:solidFill>
                <a:latin typeface="IBM Plex Sans" pitchFamily="34" charset="0"/>
                <a:ea typeface="IBM Plex Sans" pitchFamily="34" charset="-122"/>
                <a:cs typeface="IBM Plex Sans" pitchFamily="34" charset="-120"/>
              </a:rPr>
              <a:t>Planira zaštitu prema poznatim tehnikama</a:t>
            </a:r>
            <a:endParaRPr lang="en-US" sz="1200" dirty="0"/>
          </a:p>
        </p:txBody>
      </p:sp>
      <p:sp>
        <p:nvSpPr>
          <p:cNvPr id="9" name="Shape 6"/>
          <p:cNvSpPr/>
          <p:nvPr/>
        </p:nvSpPr>
        <p:spPr>
          <a:xfrm>
            <a:off x="6200775" y="1676995"/>
            <a:ext cx="5175250" cy="1634331"/>
          </a:xfrm>
          <a:prstGeom prst="roundRect">
            <a:avLst>
              <a:gd name="adj" fmla="val 6022"/>
            </a:avLst>
          </a:prstGeom>
          <a:solidFill>
            <a:srgbClr val="FBF1E6"/>
          </a:solidFill>
          <a:ln w="6350">
            <a:solidFill>
              <a:srgbClr val="E9B98C"/>
            </a:solidFill>
            <a:prstDash val="solid"/>
          </a:ln>
        </p:spPr>
      </p:sp>
      <p:pic>
        <p:nvPicPr>
          <p:cNvPr id="10" name="Image 1" descr="Warning">    </p:cNvPr>
          <p:cNvPicPr>
            <a:picLocks noChangeAspect="1"/>
          </p:cNvPicPr>
          <p:nvPr/>
        </p:nvPicPr>
        <p:blipFill>
          <a:blip r:embed="rId2"/>
          <a:srcRect l="0" r="0" t="0" b="0"/>
          <a:stretch/>
        </p:blipFill>
        <p:spPr>
          <a:xfrm>
            <a:off x="6432550" y="1883370"/>
            <a:ext cx="254000" cy="254000"/>
          </a:xfrm>
          <a:prstGeom prst="rect">
            <a:avLst/>
          </a:prstGeom>
        </p:spPr>
      </p:pic>
      <p:sp>
        <p:nvSpPr>
          <p:cNvPr id="11" name="Text 7"/>
          <p:cNvSpPr/>
          <p:nvPr/>
        </p:nvSpPr>
        <p:spPr>
          <a:xfrm>
            <a:off x="6788150" y="1888430"/>
            <a:ext cx="100155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Napadač</a:t>
            </a:r>
            <a:endParaRPr lang="en-US" sz="1600" dirty="0"/>
          </a:p>
        </p:txBody>
      </p:sp>
      <p:sp>
        <p:nvSpPr>
          <p:cNvPr id="12" name="Text 8"/>
          <p:cNvSpPr/>
          <p:nvPr/>
        </p:nvSpPr>
        <p:spPr>
          <a:xfrm>
            <a:off x="6531356" y="2251670"/>
            <a:ext cx="4746625" cy="87868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44505D"/>
                </a:solidFill>
                <a:latin typeface="IBM Plex Sans" pitchFamily="34" charset="0"/>
                <a:ea typeface="IBM Plex Sans" pitchFamily="34" charset="-122"/>
                <a:cs typeface="IBM Plex Sans" pitchFamily="34" charset="-120"/>
              </a:rPr>
              <a:t>Pronalazi izložene uređaje preko javnih pretraživača</a:t>
            </a:r>
            <a:endParaRPr lang="en-US" sz="1200" dirty="0"/>
          </a:p>
          <a:p>
            <a:pPr algn="l" marL="155194" indent="-155194">
              <a:lnSpc>
                <a:spcPts val="1680"/>
              </a:lnSpc>
              <a:buSzPct val="100000"/>
              <a:buChar char="•"/>
            </a:pPr>
            <a:r>
              <a:rPr lang="en-US" sz="1200" dirty="0">
                <a:solidFill>
                  <a:srgbClr val="44505D"/>
                </a:solidFill>
                <a:latin typeface="IBM Plex Sans" pitchFamily="34" charset="0"/>
                <a:ea typeface="IBM Plex Sans" pitchFamily="34" charset="-122"/>
                <a:cs typeface="IBM Plex Sans" pitchFamily="34" charset="-120"/>
              </a:rPr>
              <a:t>Koristi javnu tehničku dokumentaciju i tendere</a:t>
            </a:r>
            <a:endParaRPr lang="en-US" sz="1200" dirty="0"/>
          </a:p>
          <a:p>
            <a:pPr algn="l" marL="155194" indent="-155194">
              <a:lnSpc>
                <a:spcPts val="1680"/>
              </a:lnSpc>
              <a:buSzPct val="100000"/>
              <a:buChar char="•"/>
            </a:pPr>
            <a:r>
              <a:rPr lang="en-US" sz="1200" dirty="0">
                <a:solidFill>
                  <a:srgbClr val="44505D"/>
                </a:solidFill>
                <a:latin typeface="IBM Plex Sans" pitchFamily="34" charset="0"/>
                <a:ea typeface="IBM Plex Sans" pitchFamily="34" charset="-122"/>
                <a:cs typeface="IBM Plex Sans" pitchFamily="34" charset="-120"/>
              </a:rPr>
              <a:t>Prati objavljene ranjivosti pre nego što se zakrpe</a:t>
            </a:r>
            <a:endParaRPr lang="en-US" sz="1200" dirty="0"/>
          </a:p>
          <a:p>
            <a:pPr algn="l" marL="155194" indent="-155194">
              <a:lnSpc>
                <a:spcPts val="1680"/>
              </a:lnSpc>
              <a:buSzPct val="100000"/>
              <a:buChar char="•"/>
            </a:pPr>
            <a:r>
              <a:rPr lang="en-US" sz="1200" dirty="0">
                <a:solidFill>
                  <a:srgbClr val="44505D"/>
                </a:solidFill>
                <a:latin typeface="IBM Plex Sans" pitchFamily="34" charset="0"/>
                <a:ea typeface="IBM Plex Sans" pitchFamily="34" charset="-122"/>
                <a:cs typeface="IBM Plex Sans" pitchFamily="34" charset="-120"/>
              </a:rPr>
              <a:t>Uči kako se izbegavaju poznate metode detekcije</a:t>
            </a:r>
            <a:endParaRPr lang="en-US" sz="1200" dirty="0"/>
          </a:p>
        </p:txBody>
      </p:sp>
      <p:sp>
        <p:nvSpPr>
          <p:cNvPr id="13" name="Shape 9"/>
          <p:cNvSpPr/>
          <p:nvPr/>
        </p:nvSpPr>
        <p:spPr>
          <a:xfrm>
            <a:off x="812800" y="3568502"/>
            <a:ext cx="10566400" cy="508000"/>
          </a:xfrm>
          <a:prstGeom prst="roundRect">
            <a:avLst>
              <a:gd name="adj" fmla="val 15000"/>
            </a:avLst>
          </a:prstGeom>
          <a:solidFill>
            <a:srgbClr val="EBF0F5"/>
          </a:solidFill>
          <a:ln/>
        </p:spPr>
      </p:sp>
      <p:pic>
        <p:nvPicPr>
          <p:cNvPr id="14" name="Image 2" descr="Trust">    </p:cNvPr>
          <p:cNvPicPr>
            <a:picLocks noChangeAspect="1"/>
          </p:cNvPicPr>
          <p:nvPr/>
        </p:nvPicPr>
        <p:blipFill>
          <a:blip r:embed="rId3"/>
          <a:srcRect l="0" r="0" t="0" b="0"/>
          <a:stretch/>
        </p:blipFill>
        <p:spPr>
          <a:xfrm>
            <a:off x="990600" y="3695502"/>
            <a:ext cx="254000" cy="254000"/>
          </a:xfrm>
          <a:prstGeom prst="rect">
            <a:avLst/>
          </a:prstGeom>
        </p:spPr>
      </p:pic>
      <p:sp>
        <p:nvSpPr>
          <p:cNvPr id="15" name="Text 10"/>
          <p:cNvSpPr/>
          <p:nvPr/>
        </p:nvSpPr>
        <p:spPr>
          <a:xfrm>
            <a:off x="1371600" y="3715841"/>
            <a:ext cx="10124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Zato se primenjuje odgovorno objavljivanje: korisno znanje se deli, a osetljivi detalji se kontrolišu do otklanjanja ranjivosti.</a:t>
            </a:r>
            <a:endParaRPr lang="en-US" sz="1200" dirty="0"/>
          </a:p>
        </p:txBody>
      </p:sp>
      <p:sp>
        <p:nvSpPr>
          <p:cNvPr id="16" name="Shape 11"/>
          <p:cNvSpPr/>
          <p:nvPr/>
        </p:nvSpPr>
        <p:spPr>
          <a:xfrm>
            <a:off x="812800" y="6209705"/>
            <a:ext cx="10566400" cy="0"/>
          </a:xfrm>
          <a:prstGeom prst="line">
            <a:avLst/>
          </a:prstGeom>
          <a:noFill/>
          <a:ln w="6350">
            <a:solidFill>
              <a:srgbClr val="D3DAE1"/>
            </a:solidFill>
            <a:prstDash val="solid"/>
          </a:ln>
        </p:spPr>
      </p:sp>
      <p:sp>
        <p:nvSpPr>
          <p:cNvPr id="17" name="Text 12"/>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18" name="Text 1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04 · INFORMACIONI SISTEMI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Poverljivost, anonimizacija i etika</a:t>
            </a:r>
            <a:endParaRPr lang="en-US" sz="3000" dirty="0"/>
          </a:p>
        </p:txBody>
      </p:sp>
      <p:sp>
        <p:nvSpPr>
          <p:cNvPr id="5" name="Shape 3"/>
          <p:cNvSpPr/>
          <p:nvPr/>
        </p:nvSpPr>
        <p:spPr>
          <a:xfrm>
            <a:off x="815975" y="1676995"/>
            <a:ext cx="5200650" cy="1080691"/>
          </a:xfrm>
          <a:prstGeom prst="roundRect">
            <a:avLst>
              <a:gd name="adj" fmla="val 9108"/>
            </a:avLst>
          </a:prstGeom>
          <a:solidFill>
            <a:srgbClr val="FCFCFB"/>
          </a:solidFill>
          <a:ln w="6350">
            <a:solidFill>
              <a:srgbClr val="D3DAE1"/>
            </a:solidFill>
            <a:prstDash val="solid"/>
          </a:ln>
        </p:spPr>
      </p:sp>
      <p:pic>
        <p:nvPicPr>
          <p:cNvPr id="6" name="Image 0" descr="Lock">    </p:cNvPr>
          <p:cNvPicPr>
            <a:picLocks noChangeAspect="1"/>
          </p:cNvPicPr>
          <p:nvPr/>
        </p:nvPicPr>
        <p:blipFill>
          <a:blip r:embed="rId1"/>
          <a:srcRect l="0" r="0" t="0" b="0"/>
          <a:stretch/>
        </p:blipFill>
        <p:spPr>
          <a:xfrm>
            <a:off x="1009650" y="1845270"/>
            <a:ext cx="254000" cy="254000"/>
          </a:xfrm>
          <a:prstGeom prst="rect">
            <a:avLst/>
          </a:prstGeom>
        </p:spPr>
      </p:pic>
      <p:sp>
        <p:nvSpPr>
          <p:cNvPr id="7" name="Text 4"/>
          <p:cNvSpPr/>
          <p:nvPr/>
        </p:nvSpPr>
        <p:spPr>
          <a:xfrm>
            <a:off x="1365250" y="1865610"/>
            <a:ext cx="219063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Klasifikacija podataka</a:t>
            </a:r>
            <a:endParaRPr lang="en-US" sz="1400" dirty="0"/>
          </a:p>
        </p:txBody>
      </p:sp>
      <p:sp>
        <p:nvSpPr>
          <p:cNvPr id="8" name="Text 5"/>
          <p:cNvSpPr/>
          <p:nvPr/>
        </p:nvSpPr>
        <p:spPr>
          <a:xfrm>
            <a:off x="1009650" y="2162770"/>
            <a:ext cx="495769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Pre objavljivanja se procenjuje šta podatak otkriva o postrojenju, opremi i ranjivostima.</a:t>
            </a:r>
            <a:endParaRPr lang="en-US" sz="1200" dirty="0"/>
          </a:p>
        </p:txBody>
      </p:sp>
      <p:sp>
        <p:nvSpPr>
          <p:cNvPr id="9" name="Shape 6"/>
          <p:cNvSpPr/>
          <p:nvPr/>
        </p:nvSpPr>
        <p:spPr>
          <a:xfrm>
            <a:off x="6175375" y="1676995"/>
            <a:ext cx="5200650" cy="1080691"/>
          </a:xfrm>
          <a:prstGeom prst="roundRect">
            <a:avLst>
              <a:gd name="adj" fmla="val 9108"/>
            </a:avLst>
          </a:prstGeom>
          <a:solidFill>
            <a:srgbClr val="FCFCFB"/>
          </a:solidFill>
          <a:ln w="6350">
            <a:solidFill>
              <a:srgbClr val="D3DAE1"/>
            </a:solidFill>
            <a:prstDash val="solid"/>
          </a:ln>
        </p:spPr>
      </p:sp>
      <p:pic>
        <p:nvPicPr>
          <p:cNvPr id="10" name="Image 1" descr="Settings">    </p:cNvPr>
          <p:cNvPicPr>
            <a:picLocks noChangeAspect="1"/>
          </p:cNvPicPr>
          <p:nvPr/>
        </p:nvPicPr>
        <p:blipFill>
          <a:blip r:embed="rId2"/>
          <a:srcRect l="0" r="0" t="0" b="0"/>
          <a:stretch/>
        </p:blipFill>
        <p:spPr>
          <a:xfrm>
            <a:off x="6369050" y="1845270"/>
            <a:ext cx="254000" cy="254000"/>
          </a:xfrm>
          <a:prstGeom prst="rect">
            <a:avLst/>
          </a:prstGeom>
        </p:spPr>
      </p:pic>
      <p:sp>
        <p:nvSpPr>
          <p:cNvPr id="11" name="Text 7"/>
          <p:cNvSpPr/>
          <p:nvPr/>
        </p:nvSpPr>
        <p:spPr>
          <a:xfrm>
            <a:off x="6724650" y="1865610"/>
            <a:ext cx="269724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Anonimizacija OT podataka</a:t>
            </a:r>
            <a:endParaRPr lang="en-US" sz="1400" dirty="0"/>
          </a:p>
        </p:txBody>
      </p:sp>
      <p:sp>
        <p:nvSpPr>
          <p:cNvPr id="12" name="Text 8"/>
          <p:cNvSpPr/>
          <p:nvPr/>
        </p:nvSpPr>
        <p:spPr>
          <a:xfrm>
            <a:off x="6369050" y="2162770"/>
            <a:ext cx="495769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Uklanjanje IP adresa i naziva lokacija, preimenovanje tagova, skaliranje vrednosti i pomeranje vremena.</a:t>
            </a:r>
            <a:endParaRPr lang="en-US" sz="1200" dirty="0"/>
          </a:p>
        </p:txBody>
      </p:sp>
      <p:sp>
        <p:nvSpPr>
          <p:cNvPr id="13" name="Shape 9"/>
          <p:cNvSpPr/>
          <p:nvPr/>
        </p:nvSpPr>
        <p:spPr>
          <a:xfrm>
            <a:off x="815975" y="2916436"/>
            <a:ext cx="5200650" cy="1080691"/>
          </a:xfrm>
          <a:prstGeom prst="roundRect">
            <a:avLst>
              <a:gd name="adj" fmla="val 9108"/>
            </a:avLst>
          </a:prstGeom>
          <a:solidFill>
            <a:srgbClr val="FCFCFB"/>
          </a:solidFill>
          <a:ln w="6350">
            <a:solidFill>
              <a:srgbClr val="D3DAE1"/>
            </a:solidFill>
            <a:prstDash val="solid"/>
          </a:ln>
        </p:spPr>
      </p:sp>
      <p:pic>
        <p:nvPicPr>
          <p:cNvPr id="14" name="Image 2" descr="Users">    </p:cNvPr>
          <p:cNvPicPr>
            <a:picLocks noChangeAspect="1"/>
          </p:cNvPicPr>
          <p:nvPr/>
        </p:nvPicPr>
        <p:blipFill>
          <a:blip r:embed="rId3"/>
          <a:srcRect l="0" r="0" t="0" b="0"/>
          <a:stretch/>
        </p:blipFill>
        <p:spPr>
          <a:xfrm>
            <a:off x="1009650" y="3084711"/>
            <a:ext cx="254000" cy="254000"/>
          </a:xfrm>
          <a:prstGeom prst="rect">
            <a:avLst/>
          </a:prstGeom>
        </p:spPr>
      </p:pic>
      <p:sp>
        <p:nvSpPr>
          <p:cNvPr id="15" name="Text 10"/>
          <p:cNvSpPr/>
          <p:nvPr/>
        </p:nvSpPr>
        <p:spPr>
          <a:xfrm>
            <a:off x="1365250" y="3105051"/>
            <a:ext cx="160841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Podaci o ličnosti</a:t>
            </a:r>
            <a:endParaRPr lang="en-US" sz="1400" dirty="0"/>
          </a:p>
        </p:txBody>
      </p:sp>
      <p:sp>
        <p:nvSpPr>
          <p:cNvPr id="16" name="Text 11"/>
          <p:cNvSpPr/>
          <p:nvPr/>
        </p:nvSpPr>
        <p:spPr>
          <a:xfrm>
            <a:off x="1009650" y="3402211"/>
            <a:ext cx="495769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Korisnički nalozi u logovima podležu propisima o zaštiti podataka o ličnosti.</a:t>
            </a:r>
            <a:endParaRPr lang="en-US" sz="1200" dirty="0"/>
          </a:p>
        </p:txBody>
      </p:sp>
      <p:sp>
        <p:nvSpPr>
          <p:cNvPr id="17" name="Shape 12"/>
          <p:cNvSpPr/>
          <p:nvPr/>
        </p:nvSpPr>
        <p:spPr>
          <a:xfrm>
            <a:off x="6175375" y="2916436"/>
            <a:ext cx="5200650" cy="1080691"/>
          </a:xfrm>
          <a:prstGeom prst="roundRect">
            <a:avLst>
              <a:gd name="adj" fmla="val 9108"/>
            </a:avLst>
          </a:prstGeom>
          <a:solidFill>
            <a:srgbClr val="FCFCFB"/>
          </a:solidFill>
          <a:ln w="6350">
            <a:solidFill>
              <a:srgbClr val="D3DAE1"/>
            </a:solidFill>
            <a:prstDash val="solid"/>
          </a:ln>
        </p:spPr>
      </p:sp>
      <p:pic>
        <p:nvPicPr>
          <p:cNvPr id="18" name="Image 3" descr="GraduationCap">    </p:cNvPr>
          <p:cNvPicPr>
            <a:picLocks noChangeAspect="1"/>
          </p:cNvPicPr>
          <p:nvPr/>
        </p:nvPicPr>
        <p:blipFill>
          <a:blip r:embed="rId4"/>
          <a:srcRect l="0" r="0" t="0" b="0"/>
          <a:stretch/>
        </p:blipFill>
        <p:spPr>
          <a:xfrm>
            <a:off x="6369050" y="3084711"/>
            <a:ext cx="254000" cy="254000"/>
          </a:xfrm>
          <a:prstGeom prst="rect">
            <a:avLst/>
          </a:prstGeom>
        </p:spPr>
      </p:pic>
      <p:sp>
        <p:nvSpPr>
          <p:cNvPr id="19" name="Text 13"/>
          <p:cNvSpPr/>
          <p:nvPr/>
        </p:nvSpPr>
        <p:spPr>
          <a:xfrm>
            <a:off x="6724650" y="3105051"/>
            <a:ext cx="176474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Istraživačka etika</a:t>
            </a:r>
            <a:endParaRPr lang="en-US" sz="1400" dirty="0"/>
          </a:p>
        </p:txBody>
      </p:sp>
      <p:sp>
        <p:nvSpPr>
          <p:cNvPr id="20" name="Text 14"/>
          <p:cNvSpPr/>
          <p:nvPr/>
        </p:nvSpPr>
        <p:spPr>
          <a:xfrm>
            <a:off x="6369050" y="3402211"/>
            <a:ext cx="495769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Napadi se izvode samo na ispitnim postrojenjima i simulacijama, a podaci koriste u skladu sa licencom.</a:t>
            </a:r>
            <a:endParaRPr lang="en-US" sz="1200" dirty="0"/>
          </a:p>
        </p:txBody>
      </p:sp>
      <p:sp>
        <p:nvSpPr>
          <p:cNvPr id="21" name="Shape 15"/>
          <p:cNvSpPr/>
          <p:nvPr/>
        </p:nvSpPr>
        <p:spPr>
          <a:xfrm>
            <a:off x="812800" y="4254302"/>
            <a:ext cx="10566400" cy="508000"/>
          </a:xfrm>
          <a:prstGeom prst="roundRect">
            <a:avLst>
              <a:gd name="adj" fmla="val 15000"/>
            </a:avLst>
          </a:prstGeom>
          <a:solidFill>
            <a:srgbClr val="FBF1E6"/>
          </a:solidFill>
          <a:ln/>
        </p:spPr>
      </p:sp>
      <p:pic>
        <p:nvPicPr>
          <p:cNvPr id="22" name="Image 4" descr="Warning">    </p:cNvPr>
          <p:cNvPicPr>
            <a:picLocks noChangeAspect="1"/>
          </p:cNvPicPr>
          <p:nvPr/>
        </p:nvPicPr>
        <p:blipFill>
          <a:blip r:embed="rId5"/>
          <a:srcRect l="0" r="0" t="0" b="0"/>
          <a:stretch/>
        </p:blipFill>
        <p:spPr>
          <a:xfrm>
            <a:off x="990600" y="4381302"/>
            <a:ext cx="254000" cy="254000"/>
          </a:xfrm>
          <a:prstGeom prst="rect">
            <a:avLst/>
          </a:prstGeom>
        </p:spPr>
      </p:pic>
      <p:sp>
        <p:nvSpPr>
          <p:cNvPr id="23" name="Text 16"/>
          <p:cNvSpPr/>
          <p:nvPr/>
        </p:nvSpPr>
        <p:spPr>
          <a:xfrm>
            <a:off x="1371600" y="4401641"/>
            <a:ext cx="10124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Anonimizacija procesnih podataka je teška: oblik signala i odnosi među promenljivima mogu otkriti vrstu i lokaciju postrojenja.</a:t>
            </a:r>
            <a:endParaRPr lang="en-US" sz="1200" dirty="0"/>
          </a:p>
        </p:txBody>
      </p:sp>
      <p:sp>
        <p:nvSpPr>
          <p:cNvPr id="24" name="Shape 17"/>
          <p:cNvSpPr/>
          <p:nvPr/>
        </p:nvSpPr>
        <p:spPr>
          <a:xfrm>
            <a:off x="812800" y="6209705"/>
            <a:ext cx="10566400" cy="0"/>
          </a:xfrm>
          <a:prstGeom prst="line">
            <a:avLst/>
          </a:prstGeom>
          <a:noFill/>
          <a:ln w="6350">
            <a:solidFill>
              <a:srgbClr val="D3DAE1"/>
            </a:solidFill>
            <a:prstDash val="solid"/>
          </a:ln>
        </p:spPr>
      </p:sp>
      <p:sp>
        <p:nvSpPr>
          <p:cNvPr id="25" name="Text 18"/>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26" name="Text 1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04 · INFORMACIONI SISTEMI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Integritet i poreklo podataka</a:t>
            </a:r>
            <a:endParaRPr lang="en-US" sz="3000" dirty="0"/>
          </a:p>
        </p:txBody>
      </p:sp>
      <p:sp>
        <p:nvSpPr>
          <p:cNvPr id="5" name="Shape 3"/>
          <p:cNvSpPr/>
          <p:nvPr/>
        </p:nvSpPr>
        <p:spPr>
          <a:xfrm>
            <a:off x="815975" y="1676995"/>
            <a:ext cx="5175250" cy="2304752"/>
          </a:xfrm>
          <a:prstGeom prst="roundRect">
            <a:avLst>
              <a:gd name="adj" fmla="val 4271"/>
            </a:avLst>
          </a:prstGeom>
          <a:solidFill>
            <a:srgbClr val="FBF1E6"/>
          </a:solidFill>
          <a:ln w="6350">
            <a:solidFill>
              <a:srgbClr val="E9B98C"/>
            </a:solidFill>
            <a:prstDash val="solid"/>
          </a:ln>
        </p:spPr>
      </p:sp>
      <p:sp>
        <p:nvSpPr>
          <p:cNvPr id="6" name="Text 4"/>
          <p:cNvSpPr/>
          <p:nvPr/>
        </p:nvSpPr>
        <p:spPr>
          <a:xfrm>
            <a:off x="1022350" y="1857970"/>
            <a:ext cx="49053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Pretnje</a:t>
            </a:r>
            <a:endParaRPr lang="en-US" sz="1500" dirty="0"/>
          </a:p>
        </p:txBody>
      </p:sp>
      <p:sp>
        <p:nvSpPr>
          <p:cNvPr id="7" name="Text 5"/>
          <p:cNvSpPr/>
          <p:nvPr/>
        </p:nvSpPr>
        <p:spPr>
          <a:xfrm>
            <a:off x="1022350" y="2188170"/>
            <a:ext cx="490537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Trovanje podataka za obuku</a:t>
            </a:r>
            <a:endParaRPr lang="en-US" sz="1300" dirty="0"/>
          </a:p>
        </p:txBody>
      </p:sp>
      <p:sp>
        <p:nvSpPr>
          <p:cNvPr id="8" name="Text 6"/>
          <p:cNvSpPr/>
          <p:nvPr/>
        </p:nvSpPr>
        <p:spPr>
          <a:xfrm>
            <a:off x="1022350" y="2444651"/>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Model nauči napad kao normalno ponašanje.</a:t>
            </a:r>
            <a:endParaRPr lang="en-US" sz="1200" dirty="0"/>
          </a:p>
        </p:txBody>
      </p:sp>
      <p:sp>
        <p:nvSpPr>
          <p:cNvPr id="9" name="Text 7"/>
          <p:cNvSpPr/>
          <p:nvPr/>
        </p:nvSpPr>
        <p:spPr>
          <a:xfrm>
            <a:off x="1022350" y="2759571"/>
            <a:ext cx="490537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Lažni podaci u radu</a:t>
            </a:r>
            <a:endParaRPr lang="en-US" sz="1300" dirty="0"/>
          </a:p>
        </p:txBody>
      </p:sp>
      <p:sp>
        <p:nvSpPr>
          <p:cNvPr id="10" name="Text 8"/>
          <p:cNvSpPr/>
          <p:nvPr/>
        </p:nvSpPr>
        <p:spPr>
          <a:xfrm>
            <a:off x="1022350" y="3016052"/>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Detektor dobija prilagođene vrednosti umesto stvarnih.</a:t>
            </a:r>
            <a:endParaRPr lang="en-US" sz="1200" dirty="0"/>
          </a:p>
        </p:txBody>
      </p:sp>
      <p:sp>
        <p:nvSpPr>
          <p:cNvPr id="11" name="Text 9"/>
          <p:cNvSpPr/>
          <p:nvPr/>
        </p:nvSpPr>
        <p:spPr>
          <a:xfrm>
            <a:off x="1022350" y="3330972"/>
            <a:ext cx="490537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Pogrešne oznake</a:t>
            </a:r>
            <a:endParaRPr lang="en-US" sz="1300" dirty="0"/>
          </a:p>
        </p:txBody>
      </p:sp>
      <p:sp>
        <p:nvSpPr>
          <p:cNvPr id="12" name="Text 10"/>
          <p:cNvSpPr/>
          <p:nvPr/>
        </p:nvSpPr>
        <p:spPr>
          <a:xfrm>
            <a:off x="1022350" y="3587452"/>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Netačan početak ili kraj napada iskrivljuje metrike.</a:t>
            </a:r>
            <a:endParaRPr lang="en-US" sz="1200" dirty="0"/>
          </a:p>
        </p:txBody>
      </p:sp>
      <p:sp>
        <p:nvSpPr>
          <p:cNvPr id="13" name="Shape 11"/>
          <p:cNvSpPr/>
          <p:nvPr/>
        </p:nvSpPr>
        <p:spPr>
          <a:xfrm>
            <a:off x="6200775" y="1676995"/>
            <a:ext cx="5175250" cy="2304752"/>
          </a:xfrm>
          <a:prstGeom prst="roundRect">
            <a:avLst>
              <a:gd name="adj" fmla="val 4271"/>
            </a:avLst>
          </a:prstGeom>
          <a:solidFill>
            <a:srgbClr val="DCE8F4"/>
          </a:solidFill>
          <a:ln w="6350">
            <a:solidFill>
              <a:srgbClr val="A9C2DC"/>
            </a:solidFill>
            <a:prstDash val="solid"/>
          </a:ln>
        </p:spPr>
      </p:sp>
      <p:sp>
        <p:nvSpPr>
          <p:cNvPr id="14" name="Text 12"/>
          <p:cNvSpPr/>
          <p:nvPr/>
        </p:nvSpPr>
        <p:spPr>
          <a:xfrm>
            <a:off x="6407150" y="1857970"/>
            <a:ext cx="49053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Mere</a:t>
            </a:r>
            <a:endParaRPr lang="en-US" sz="1500" dirty="0"/>
          </a:p>
        </p:txBody>
      </p:sp>
      <p:sp>
        <p:nvSpPr>
          <p:cNvPr id="15" name="Text 13"/>
          <p:cNvSpPr/>
          <p:nvPr/>
        </p:nvSpPr>
        <p:spPr>
          <a:xfrm>
            <a:off x="6407150" y="2188170"/>
            <a:ext cx="490537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Heš vrednosti i verzije</a:t>
            </a:r>
            <a:endParaRPr lang="en-US" sz="1300" dirty="0"/>
          </a:p>
        </p:txBody>
      </p:sp>
      <p:sp>
        <p:nvSpPr>
          <p:cNvPr id="16" name="Text 14"/>
          <p:cNvSpPr/>
          <p:nvPr/>
        </p:nvSpPr>
        <p:spPr>
          <a:xfrm>
            <a:off x="6407150" y="2444651"/>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Svaki fajl skupa ima kontrolni zbir, a rad navodi verziju.</a:t>
            </a:r>
            <a:endParaRPr lang="en-US" sz="1200" dirty="0"/>
          </a:p>
        </p:txBody>
      </p:sp>
      <p:sp>
        <p:nvSpPr>
          <p:cNvPr id="17" name="Text 15"/>
          <p:cNvSpPr/>
          <p:nvPr/>
        </p:nvSpPr>
        <p:spPr>
          <a:xfrm>
            <a:off x="6407150" y="2759571"/>
            <a:ext cx="490537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Praćenje porekla</a:t>
            </a:r>
            <a:endParaRPr lang="en-US" sz="1300" dirty="0"/>
          </a:p>
        </p:txBody>
      </p:sp>
      <p:sp>
        <p:nvSpPr>
          <p:cNvPr id="18" name="Text 16"/>
          <p:cNvSpPr/>
          <p:nvPr/>
        </p:nvSpPr>
        <p:spPr>
          <a:xfrm>
            <a:off x="6407150" y="3016052"/>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Zna se ko je podatak napravio, izmenio i kada.</a:t>
            </a:r>
            <a:endParaRPr lang="en-US" sz="1200" dirty="0"/>
          </a:p>
        </p:txBody>
      </p:sp>
      <p:sp>
        <p:nvSpPr>
          <p:cNvPr id="19" name="Text 17"/>
          <p:cNvSpPr/>
          <p:nvPr/>
        </p:nvSpPr>
        <p:spPr>
          <a:xfrm>
            <a:off x="6407150" y="3330972"/>
            <a:ext cx="490537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Fizička provera</a:t>
            </a:r>
            <a:endParaRPr lang="en-US" sz="1300" dirty="0"/>
          </a:p>
        </p:txBody>
      </p:sp>
      <p:sp>
        <p:nvSpPr>
          <p:cNvPr id="20" name="Text 18"/>
          <p:cNvSpPr/>
          <p:nvPr/>
        </p:nvSpPr>
        <p:spPr>
          <a:xfrm>
            <a:off x="6407150" y="3587452"/>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Vrednosti se porede sa invarijantama procesa.</a:t>
            </a:r>
            <a:endParaRPr lang="en-US" sz="1200" dirty="0"/>
          </a:p>
        </p:txBody>
      </p:sp>
      <p:sp>
        <p:nvSpPr>
          <p:cNvPr id="21" name="Shape 19"/>
          <p:cNvSpPr/>
          <p:nvPr/>
        </p:nvSpPr>
        <p:spPr>
          <a:xfrm>
            <a:off x="812800" y="6209705"/>
            <a:ext cx="10566400" cy="0"/>
          </a:xfrm>
          <a:prstGeom prst="line">
            <a:avLst/>
          </a:prstGeom>
          <a:noFill/>
          <a:ln w="6350">
            <a:solidFill>
              <a:srgbClr val="D3DAE1"/>
            </a:solidFill>
            <a:prstDash val="solid"/>
          </a:ln>
        </p:spPr>
      </p:sp>
      <p:sp>
        <p:nvSpPr>
          <p:cNvPr id="22" name="Text 20"/>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23"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EBF0F5"/>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0A5CA8"/>
                </a:solidFill>
                <a:latin typeface="IBM Plex Mono" pitchFamily="49" charset="0"/>
                <a:ea typeface="IBM Plex Mono" pitchFamily="49" charset="-122"/>
                <a:cs typeface="IBM Plex Mono" pitchFamily="49" charset="-120"/>
              </a:rPr>
              <a:t>05</a:t>
            </a:r>
            <a:endParaRPr lang="en-US" sz="14000" dirty="0"/>
          </a:p>
        </p:txBody>
      </p:sp>
      <p:sp>
        <p:nvSpPr>
          <p:cNvPr id="3" name="Text 1"/>
          <p:cNvSpPr/>
          <p:nvPr/>
        </p:nvSpPr>
        <p:spPr>
          <a:xfrm>
            <a:off x="4267200" y="1797149"/>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DEO PETI</a:t>
            </a:r>
            <a:endParaRPr lang="en-US" sz="1200" dirty="0"/>
          </a:p>
        </p:txBody>
      </p:sp>
      <p:sp>
        <p:nvSpPr>
          <p:cNvPr id="4" name="Text 2"/>
          <p:cNvSpPr/>
          <p:nvPr>
            <p:ph type="title"/>
          </p:nvPr>
        </p:nvSpPr>
        <p:spPr>
          <a:xfrm>
            <a:off x="4267200" y="2188270"/>
            <a:ext cx="7325360" cy="1092200"/>
          </a:xfrm>
          <a:prstGeom prst="rect">
            <a:avLst/>
          </a:prstGeom>
          <a:noFill/>
          <a:ln/>
        </p:spPr>
        <p:txBody>
          <a:bodyPr wrap="square" lIns="0" tIns="0" rIns="0" bIns="0" rtlCol="0" anchor="t">
            <a:normAutofit/>
          </a:bodyPr>
          <a:lstStyle/>
          <a:p>
            <a:pPr algn="l" indent="0" marL="0">
              <a:lnSpc>
                <a:spcPts val="4200"/>
              </a:lnSpc>
              <a:buNone/>
            </a:pPr>
            <a:r>
              <a:rPr lang="en-US" sz="4000" b="1" i="0" spc="-100" kern="0" dirty="0">
                <a:solidFill>
                  <a:srgbClr val="13202D"/>
                </a:solidFill>
                <a:latin typeface="IBM Plex Sans" pitchFamily="34" charset="0"/>
                <a:ea typeface="IBM Plex Sans" pitchFamily="34" charset="-122"/>
                <a:cs typeface="IBM Plex Sans" pitchFamily="34" charset="-120"/>
              </a:rPr>
              <a:t>Primena u našoj SCADA platformi</a:t>
            </a:r>
            <a:endParaRPr lang="en-US" sz="4000" dirty="0"/>
          </a:p>
        </p:txBody>
      </p:sp>
      <p:sp>
        <p:nvSpPr>
          <p:cNvPr id="5" name="Text 3"/>
          <p:cNvSpPr/>
          <p:nvPr/>
        </p:nvSpPr>
        <p:spPr>
          <a:xfrm>
            <a:off x="4267200" y="343287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Kako se javni skupovi podataka uvoze, mapiraju na tagove i reprodukuju u platformi SCADALattice.</a:t>
            </a:r>
            <a:endParaRPr lang="en-US" sz="1400" dirty="0"/>
          </a:p>
        </p:txBody>
      </p:sp>
      <p:sp>
        <p:nvSpPr>
          <p:cNvPr id="6" name="Text 4"/>
          <p:cNvSpPr/>
          <p:nvPr/>
        </p:nvSpPr>
        <p:spPr>
          <a:xfrm>
            <a:off x="4270375" y="4129385"/>
            <a:ext cx="1607939"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Zahtev specifikacije</a:t>
            </a:r>
            <a:endParaRPr lang="en-US" sz="1200" dirty="0"/>
          </a:p>
        </p:txBody>
      </p:sp>
      <p:sp>
        <p:nvSpPr>
          <p:cNvPr id="7" name="Text 5"/>
          <p:cNvSpPr/>
          <p:nvPr/>
        </p:nvSpPr>
        <p:spPr>
          <a:xfrm>
            <a:off x="5960864" y="4129385"/>
            <a:ext cx="936327"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Tok uvoza</a:t>
            </a:r>
            <a:endParaRPr lang="en-US" sz="1200" dirty="0"/>
          </a:p>
        </p:txBody>
      </p:sp>
      <p:sp>
        <p:nvSpPr>
          <p:cNvPr id="8" name="Text 6"/>
          <p:cNvSpPr/>
          <p:nvPr/>
        </p:nvSpPr>
        <p:spPr>
          <a:xfrm>
            <a:off x="6979741" y="4129385"/>
            <a:ext cx="1430834"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Mapiranje kolona</a:t>
            </a:r>
            <a:endParaRPr lang="en-US" sz="1200" dirty="0"/>
          </a:p>
        </p:txBody>
      </p:sp>
      <p:sp>
        <p:nvSpPr>
          <p:cNvPr id="9" name="Text 7"/>
          <p:cNvSpPr/>
          <p:nvPr/>
        </p:nvSpPr>
        <p:spPr>
          <a:xfrm>
            <a:off x="8493125" y="4129385"/>
            <a:ext cx="1436588"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Kvalitet pri uvozu</a:t>
            </a:r>
            <a:endParaRPr lang="en-US" sz="1200" dirty="0"/>
          </a:p>
        </p:txBody>
      </p:sp>
      <p:sp>
        <p:nvSpPr>
          <p:cNvPr id="10" name="Text 8"/>
          <p:cNvSpPr/>
          <p:nvPr/>
        </p:nvSpPr>
        <p:spPr>
          <a:xfrm>
            <a:off x="4270375" y="4533205"/>
            <a:ext cx="1155105"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Reprodukcija</a:t>
            </a:r>
            <a:endParaRPr lang="en-US" sz="1200" dirty="0"/>
          </a:p>
        </p:txBody>
      </p:sp>
      <p:sp>
        <p:nvSpPr>
          <p:cNvPr id="11" name="Text 9"/>
          <p:cNvSpPr/>
          <p:nvPr/>
        </p:nvSpPr>
        <p:spPr>
          <a:xfrm>
            <a:off x="5508030" y="4533205"/>
            <a:ext cx="1757164"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Planirani eksperiment</a:t>
            </a:r>
            <a:endParaRPr lang="en-US" sz="1200" dirty="0"/>
          </a:p>
        </p:txBody>
      </p:sp>
      <p:sp>
        <p:nvSpPr>
          <p:cNvPr id="12" name="Shape 10"/>
          <p:cNvSpPr/>
          <p:nvPr/>
        </p:nvSpPr>
        <p:spPr>
          <a:xfrm>
            <a:off x="812800" y="6209705"/>
            <a:ext cx="10566400" cy="0"/>
          </a:xfrm>
          <a:prstGeom prst="line">
            <a:avLst/>
          </a:prstGeom>
          <a:noFill/>
          <a:ln w="6350">
            <a:solidFill>
              <a:srgbClr val="C3CEDA"/>
            </a:solidFill>
            <a:prstDash val="solid"/>
          </a:ln>
        </p:spPr>
      </p:sp>
      <p:sp>
        <p:nvSpPr>
          <p:cNvPr id="13" name="Text 11"/>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14" name="Text 1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05 · PRIMENA U PLATFORMI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Zahtev SC-11: reprodukcija podataka</a:t>
            </a:r>
            <a:endParaRPr lang="en-US" sz="3000" dirty="0"/>
          </a:p>
        </p:txBody>
      </p:sp>
      <p:sp>
        <p:nvSpPr>
          <p:cNvPr id="5" name="Shape 3"/>
          <p:cNvSpPr/>
          <p:nvPr/>
        </p:nvSpPr>
        <p:spPr>
          <a:xfrm>
            <a:off x="812800" y="1673820"/>
            <a:ext cx="10566400" cy="3084413"/>
          </a:xfrm>
          <a:prstGeom prst="roundRect">
            <a:avLst>
              <a:gd name="adj" fmla="val 3294"/>
            </a:avLst>
          </a:prstGeom>
          <a:solidFill>
            <a:srgbClr val="FCFCFB"/>
          </a:solidFill>
          <a:ln/>
        </p:spPr>
      </p:sp>
      <p:sp>
        <p:nvSpPr>
          <p:cNvPr id="6" name="Shape 4"/>
          <p:cNvSpPr/>
          <p:nvPr/>
        </p:nvSpPr>
        <p:spPr>
          <a:xfrm>
            <a:off x="812800" y="1673820"/>
            <a:ext cx="10566400" cy="3084413"/>
          </a:xfrm>
          <a:custGeom>
            <a:avLst/>
            <a:gdLst/>
            <a:ahLst/>
            <a:cxnLst/>
            <a:rect l="l" t="t" r="r" b="b"/>
            <a:pathLst>
              <a:path w="10566400" h="3084413">
                <a:moveTo>
                  <a:pt x="10464800" y="0"/>
                </a:moveTo>
                <a:lnTo>
                  <a:pt x="10464800" y="0"/>
                </a:lnTo>
                <a:arcTo hR="101600" wR="101600" stAng="16200000" swAng="5400000"/>
                <a:lnTo>
                  <a:pt x="10566400" y="2982813"/>
                </a:lnTo>
                <a:arcTo hR="101600" wR="101600" stAng="0" swAng="5400000"/>
                <a:lnTo>
                  <a:pt x="101600" y="3084413"/>
                </a:lnTo>
                <a:arcTo hR="101600" wR="101600" stAng="5400000" swAng="5400000"/>
                <a:lnTo>
                  <a:pt x="0" y="2982813"/>
                </a:lnTo>
                <a:arcTo hR="95250" wR="101600" stAng="10800000" swAng="-5400000"/>
                <a:lnTo>
                  <a:pt x="10464800" y="3078063"/>
                </a:lnTo>
                <a:arcTo hR="95250" wR="95250" stAng="5400000" swAng="-5400000"/>
                <a:lnTo>
                  <a:pt x="10560050" y="101600"/>
                </a:lnTo>
                <a:arcTo hR="101600" wR="95250" stAng="0" swAng="-5400000"/>
                <a:close/>
              </a:path>
            </a:pathLst>
          </a:custGeom>
          <a:solidFill>
            <a:srgbClr val="D3DAE1"/>
          </a:solidFill>
          <a:ln/>
        </p:spPr>
      </p:sp>
      <p:sp>
        <p:nvSpPr>
          <p:cNvPr id="7" name="Shape 5"/>
          <p:cNvSpPr/>
          <p:nvPr/>
        </p:nvSpPr>
        <p:spPr>
          <a:xfrm>
            <a:off x="812800" y="1673820"/>
            <a:ext cx="10566400" cy="3084413"/>
          </a:xfrm>
          <a:custGeom>
            <a:avLst/>
            <a:gdLst/>
            <a:ahLst/>
            <a:cxnLst/>
            <a:rect l="l" t="t" r="r" b="b"/>
            <a:pathLst>
              <a:path w="10566400" h="3084413">
                <a:moveTo>
                  <a:pt x="101600" y="3084413"/>
                </a:moveTo>
                <a:lnTo>
                  <a:pt x="101600" y="3084413"/>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982813"/>
                </a:lnTo>
                <a:arcTo hR="101600" wR="8890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686520"/>
          <a:ext cx="10547350" cy="3065363"/>
        </p:xfrm>
        <a:graphic>
          <a:graphicData uri="http://schemas.openxmlformats.org/drawingml/2006/table">
            <a:tbl>
              <a:tblPr/>
              <a:tblGrid>
                <a:gridCol w="2531364"/>
                <a:gridCol w="8015986"/>
              </a:tblGrid>
              <a:tr h="472380">
                <a:tc>
                  <a:txBody>
                    <a:bodyPr/>
                    <a:lstStyle/>
                    <a:p>
                      <a:pPr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Element</a:t>
                      </a:r>
                      <a:endParaRPr lang="en-US" sz="1300" dirty="0">
                        <a:latin typeface="IBM Plex Sans" charset="0"/>
                        <a:ea typeface="IBM Plex Sans" charset="0"/>
                        <a:cs typeface="IBM Plex Sans" charset="0"/>
                      </a:endParaRPr>
                    </a:p>
                  </a:txBody>
                  <a:tcPr marL="177800" marR="177800" marT="114300" marB="114300" anchor="t">
                    <a:lnL w="0" cap="flat" cmpd="sng" algn="ctr">
                      <a:noFill/>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Sadržaj iz specifikacije SCADALattice</a:t>
                      </a:r>
                      <a:endParaRPr lang="en-US" sz="1300" dirty="0">
                        <a:latin typeface="IBM Plex Sans" charset="0"/>
                        <a:ea typeface="IBM Plex Sans" charset="0"/>
                        <a:cs typeface="IBM Plex Sans" charset="0"/>
                      </a:endParaRPr>
                    </a:p>
                  </a:txBody>
                  <a:tcPr marL="177800" marR="177800" marT="114300" marB="1143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r>
              <a:tr h="472380">
                <a:tc>
                  <a:txBody>
                    <a:bodyPr/>
                    <a:lstStyle/>
                    <a:p>
                      <a:pPr indent="0" marL="0">
                        <a:lnSpc>
                          <a:spcPts val="1820"/>
                        </a:lnSpc>
                        <a:buNone/>
                      </a:pPr>
                      <a:r>
                        <a:rPr lang="en-US" sz="1300" dirty="0">
                          <a:solidFill>
                            <a:srgbClr val="0A5CA8"/>
                          </a:solidFill>
                          <a:latin typeface="IBM Plex Sans" pitchFamily="34" charset="0"/>
                          <a:ea typeface="IBM Plex Sans" pitchFamily="34" charset="-122"/>
                          <a:cs typeface="IBM Plex Sans" pitchFamily="34" charset="-120"/>
                        </a:rPr>
                        <a:t>Zahtev</a:t>
                      </a:r>
                      <a:endParaRPr lang="en-US" sz="1300" dirty="0">
                        <a:latin typeface="IBM Plex Sans" charset="0"/>
                        <a:ea typeface="IBM Plex Sans" charset="0"/>
                        <a:cs typeface="IBM Plex Sans" charset="0"/>
                      </a:endParaRPr>
                    </a:p>
                  </a:txBody>
                  <a:tcPr marL="177800" marR="1778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Sistem mora uvoziti strukturirane vremenske podatke i mapirati kolone na postojeće tagove.</a:t>
                      </a:r>
                      <a:endParaRPr lang="en-US" sz="1300" dirty="0">
                        <a:latin typeface="IBM Plex Sans" charset="0"/>
                        <a:ea typeface="IBM Plex Sans" charset="0"/>
                        <a:cs typeface="IBM Plex Sans" charset="0"/>
                      </a:endParaRPr>
                    </a:p>
                  </a:txBody>
                  <a:tcPr marL="177800" marR="1778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72380">
                <a:tc>
                  <a:txBody>
                    <a:bodyPr/>
                    <a:lstStyle/>
                    <a:p>
                      <a:pPr indent="0" marL="0">
                        <a:lnSpc>
                          <a:spcPts val="1820"/>
                        </a:lnSpc>
                        <a:buNone/>
                      </a:pPr>
                      <a:r>
                        <a:rPr lang="en-US" sz="1300" dirty="0">
                          <a:solidFill>
                            <a:srgbClr val="0A5CA8"/>
                          </a:solidFill>
                          <a:latin typeface="IBM Plex Sans" pitchFamily="34" charset="0"/>
                          <a:ea typeface="IBM Plex Sans" pitchFamily="34" charset="-122"/>
                          <a:cs typeface="IBM Plex Sans" pitchFamily="34" charset="-120"/>
                        </a:rPr>
                        <a:t>Primer</a:t>
                      </a:r>
                      <a:endParaRPr lang="en-US" sz="1300" dirty="0">
                        <a:latin typeface="IBM Plex Sans" charset="0"/>
                        <a:ea typeface="IBM Plex Sans" charset="0"/>
                        <a:cs typeface="IBM Plex Sans" charset="0"/>
                      </a:endParaRPr>
                    </a:p>
                  </a:txBody>
                  <a:tcPr marL="177800" marR="1778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CSV sa kolonama timestamp, level i flow prikazuje se kao nezavisan izvor telemetrije.</a:t>
                      </a:r>
                      <a:endParaRPr lang="en-US" sz="1300" dirty="0">
                        <a:latin typeface="IBM Plex Sans" charset="0"/>
                        <a:ea typeface="IBM Plex Sans" charset="0"/>
                        <a:cs typeface="IBM Plex Sans" charset="0"/>
                      </a:endParaRPr>
                    </a:p>
                  </a:txBody>
                  <a:tcPr marL="177800" marR="1778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72380">
                <a:tc>
                  <a:txBody>
                    <a:bodyPr/>
                    <a:lstStyle/>
                    <a:p>
                      <a:pPr indent="0" marL="0">
                        <a:lnSpc>
                          <a:spcPts val="1820"/>
                        </a:lnSpc>
                        <a:buNone/>
                      </a:pPr>
                      <a:r>
                        <a:rPr lang="en-US" sz="1300" dirty="0">
                          <a:solidFill>
                            <a:srgbClr val="0A5CA8"/>
                          </a:solidFill>
                          <a:latin typeface="IBM Plex Sans" pitchFamily="34" charset="0"/>
                          <a:ea typeface="IBM Plex Sans" pitchFamily="34" charset="-122"/>
                          <a:cs typeface="IBM Plex Sans" pitchFamily="34" charset="-120"/>
                        </a:rPr>
                        <a:t>Granični uslovi</a:t>
                      </a:r>
                      <a:endParaRPr lang="en-US" sz="1300" dirty="0">
                        <a:latin typeface="IBM Plex Sans" charset="0"/>
                        <a:ea typeface="IBM Plex Sans" charset="0"/>
                        <a:cs typeface="IBM Plex Sans" charset="0"/>
                      </a:endParaRPr>
                    </a:p>
                  </a:txBody>
                  <a:tcPr marL="177800" marR="1778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Nepoznata kolona, netačan format datuma ili nedostajuća vrednost dobijaju eksplicitan kvalitet.</a:t>
                      </a:r>
                      <a:endParaRPr lang="en-US" sz="1300" dirty="0">
                        <a:latin typeface="IBM Plex Sans" charset="0"/>
                        <a:ea typeface="IBM Plex Sans" charset="0"/>
                        <a:cs typeface="IBM Plex Sans" charset="0"/>
                      </a:endParaRPr>
                    </a:p>
                  </a:txBody>
                  <a:tcPr marL="177800" marR="1778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72380">
                <a:tc>
                  <a:txBody>
                    <a:bodyPr/>
                    <a:lstStyle/>
                    <a:p>
                      <a:pPr indent="0" marL="0">
                        <a:lnSpc>
                          <a:spcPts val="1820"/>
                        </a:lnSpc>
                        <a:buNone/>
                      </a:pPr>
                      <a:r>
                        <a:rPr lang="en-US" sz="1300" dirty="0">
                          <a:solidFill>
                            <a:srgbClr val="0A5CA8"/>
                          </a:solidFill>
                          <a:latin typeface="IBM Plex Sans" pitchFamily="34" charset="0"/>
                          <a:ea typeface="IBM Plex Sans" pitchFamily="34" charset="-122"/>
                          <a:cs typeface="IBM Plex Sans" pitchFamily="34" charset="-120"/>
                        </a:rPr>
                        <a:t>Provera</a:t>
                      </a:r>
                      <a:endParaRPr lang="en-US" sz="1300" dirty="0">
                        <a:latin typeface="IBM Plex Sans" charset="0"/>
                        <a:ea typeface="IBM Plex Sans" charset="0"/>
                        <a:cs typeface="IBM Plex Sans" charset="0"/>
                      </a:endParaRPr>
                    </a:p>
                  </a:txBody>
                  <a:tcPr marL="177800" marR="1778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Skup podataka može da se reprodukuje i zaustavi bez promena izvornog fajla.</a:t>
                      </a:r>
                      <a:endParaRPr lang="en-US" sz="1300" dirty="0">
                        <a:latin typeface="IBM Plex Sans" charset="0"/>
                        <a:ea typeface="IBM Plex Sans" charset="0"/>
                        <a:cs typeface="IBM Plex Sans" charset="0"/>
                      </a:endParaRPr>
                    </a:p>
                  </a:txBody>
                  <a:tcPr marL="177800" marR="1778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703461">
                <a:tc>
                  <a:txBody>
                    <a:bodyPr/>
                    <a:lstStyle/>
                    <a:p>
                      <a:pPr indent="0" marL="0">
                        <a:lnSpc>
                          <a:spcPts val="1820"/>
                        </a:lnSpc>
                        <a:buNone/>
                      </a:pPr>
                      <a:r>
                        <a:rPr lang="en-US" sz="1300" dirty="0">
                          <a:solidFill>
                            <a:srgbClr val="A8520A"/>
                          </a:solidFill>
                          <a:latin typeface="IBM Plex Sans" pitchFamily="34" charset="0"/>
                          <a:ea typeface="IBM Plex Sans" pitchFamily="34" charset="-122"/>
                          <a:cs typeface="IBM Plex Sans" pitchFamily="34" charset="-120"/>
                        </a:rPr>
                        <a:t>Test AT-SC-09</a:t>
                      </a:r>
                      <a:endParaRPr lang="en-US" sz="1300" dirty="0">
                        <a:latin typeface="IBM Plex Sans" charset="0"/>
                        <a:ea typeface="IBM Plex Sans" charset="0"/>
                        <a:cs typeface="IBM Plex Sans" charset="0"/>
                      </a:endParaRPr>
                    </a:p>
                  </a:txBody>
                  <a:tcPr marL="177800" marR="1778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CSV sa neispravnim vremenom u jednom redu: greška reda je navedena, a nevažeći podatak ne prepisuje aktuelni tag.</a:t>
                      </a:r>
                      <a:endParaRPr lang="en-US" sz="1300" dirty="0">
                        <a:latin typeface="IBM Plex Sans" charset="0"/>
                        <a:ea typeface="IBM Plex Sans" charset="0"/>
                        <a:cs typeface="IBM Plex Sans" charset="0"/>
                      </a:endParaRPr>
                    </a:p>
                  </a:txBody>
                  <a:tcPr marL="177800" marR="1778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9" name="Text 6"/>
          <p:cNvSpPr/>
          <p:nvPr/>
        </p:nvSpPr>
        <p:spPr>
          <a:xfrm>
            <a:off x="812800" y="501223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Skupovi SWaT i HAI imaju upravo ovaj oblik: CSV sa vremenskom kolonom, kolonama promenljivih i oznakom.</a:t>
            </a:r>
            <a:endParaRPr lang="en-US" sz="1200" dirty="0"/>
          </a:p>
        </p:txBody>
      </p:sp>
      <p:sp>
        <p:nvSpPr>
          <p:cNvPr id="10" name="Shape 7"/>
          <p:cNvSpPr/>
          <p:nvPr/>
        </p:nvSpPr>
        <p:spPr>
          <a:xfrm>
            <a:off x="812800" y="6209705"/>
            <a:ext cx="10566400" cy="0"/>
          </a:xfrm>
          <a:prstGeom prst="line">
            <a:avLst/>
          </a:prstGeom>
          <a:noFill/>
          <a:ln w="6350">
            <a:solidFill>
              <a:srgbClr val="D3DAE1"/>
            </a:solidFill>
            <a:prstDash val="solid"/>
          </a:ln>
        </p:spPr>
      </p:sp>
      <p:sp>
        <p:nvSpPr>
          <p:cNvPr id="11" name="Text 8"/>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12" name="Text 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05 · PRIMENA U PLATFORMI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Tok uvoza skupa podataka u platformu</a:t>
            </a:r>
            <a:endParaRPr lang="en-US" sz="3000" dirty="0"/>
          </a:p>
        </p:txBody>
      </p:sp>
      <p:sp>
        <p:nvSpPr>
          <p:cNvPr id="5" name="Shape 3"/>
          <p:cNvSpPr/>
          <p:nvPr/>
        </p:nvSpPr>
        <p:spPr>
          <a:xfrm>
            <a:off x="815975" y="1676995"/>
            <a:ext cx="1781770" cy="1299766"/>
          </a:xfrm>
          <a:prstGeom prst="roundRect">
            <a:avLst>
              <a:gd name="adj" fmla="val 7573"/>
            </a:avLst>
          </a:prstGeom>
          <a:solidFill>
            <a:srgbClr val="FBF1E6"/>
          </a:solidFill>
          <a:ln w="6350">
            <a:solidFill>
              <a:srgbClr val="E9B98C"/>
            </a:solidFill>
            <a:prstDash val="solid"/>
          </a:ln>
        </p:spPr>
      </p:sp>
      <p:pic>
        <p:nvPicPr>
          <p:cNvPr id="6" name="Image 0" descr="Book">    </p:cNvPr>
          <p:cNvPicPr>
            <a:picLocks noChangeAspect="1"/>
          </p:cNvPicPr>
          <p:nvPr/>
        </p:nvPicPr>
        <p:blipFill>
          <a:blip r:embed="rId1"/>
          <a:srcRect l="0" r="0" t="0" b="0"/>
          <a:stretch/>
        </p:blipFill>
        <p:spPr>
          <a:xfrm>
            <a:off x="958850" y="1819870"/>
            <a:ext cx="254000" cy="254000"/>
          </a:xfrm>
          <a:prstGeom prst="rect">
            <a:avLst/>
          </a:prstGeom>
        </p:spPr>
      </p:pic>
      <p:sp>
        <p:nvSpPr>
          <p:cNvPr id="7" name="Text 4"/>
          <p:cNvSpPr/>
          <p:nvPr/>
        </p:nvSpPr>
        <p:spPr>
          <a:xfrm>
            <a:off x="958850" y="2137370"/>
            <a:ext cx="154682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3202D"/>
                </a:solidFill>
                <a:latin typeface="IBM Plex Sans" pitchFamily="34" charset="0"/>
                <a:ea typeface="IBM Plex Sans" pitchFamily="34" charset="-122"/>
                <a:cs typeface="IBM Plex Sans" pitchFamily="34" charset="-120"/>
              </a:rPr>
              <a:t>CSV skup</a:t>
            </a:r>
            <a:endParaRPr lang="en-US" sz="1300" dirty="0"/>
          </a:p>
        </p:txBody>
      </p:sp>
      <p:sp>
        <p:nvSpPr>
          <p:cNvPr id="8" name="Text 5"/>
          <p:cNvSpPr/>
          <p:nvPr/>
        </p:nvSpPr>
        <p:spPr>
          <a:xfrm>
            <a:off x="958850" y="2407245"/>
            <a:ext cx="15468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Izvorni fajl samo za čitanje</a:t>
            </a:r>
            <a:endParaRPr lang="en-US" sz="1200" dirty="0"/>
          </a:p>
        </p:txBody>
      </p:sp>
      <p:pic>
        <p:nvPicPr>
          <p:cNvPr id="9" name="Image 1" descr="arrow-right">    </p:cNvPr>
          <p:cNvPicPr>
            <a:picLocks noChangeAspect="1"/>
          </p:cNvPicPr>
          <p:nvPr/>
        </p:nvPicPr>
        <p:blipFill>
          <a:blip r:embed="rId2"/>
          <a:srcRect l="0" r="0" t="0" b="0"/>
          <a:stretch/>
        </p:blipFill>
        <p:spPr>
          <a:xfrm>
            <a:off x="2677120" y="2263378"/>
            <a:ext cx="254000" cy="127000"/>
          </a:xfrm>
          <a:prstGeom prst="rect">
            <a:avLst/>
          </a:prstGeom>
        </p:spPr>
      </p:pic>
      <p:sp>
        <p:nvSpPr>
          <p:cNvPr id="10" name="Shape 6"/>
          <p:cNvSpPr/>
          <p:nvPr/>
        </p:nvSpPr>
        <p:spPr>
          <a:xfrm>
            <a:off x="3010495" y="1676995"/>
            <a:ext cx="1781870" cy="1299766"/>
          </a:xfrm>
          <a:prstGeom prst="roundRect">
            <a:avLst>
              <a:gd name="adj" fmla="val 7573"/>
            </a:avLst>
          </a:prstGeom>
          <a:solidFill>
            <a:srgbClr val="FCFCFB"/>
          </a:solidFill>
          <a:ln w="6350">
            <a:solidFill>
              <a:srgbClr val="D3DAE1"/>
            </a:solidFill>
            <a:prstDash val="solid"/>
          </a:ln>
        </p:spPr>
      </p:sp>
      <p:pic>
        <p:nvPicPr>
          <p:cNvPr id="11" name="Image 2" descr="CheckCircle">    </p:cNvPr>
          <p:cNvPicPr>
            <a:picLocks noChangeAspect="1"/>
          </p:cNvPicPr>
          <p:nvPr/>
        </p:nvPicPr>
        <p:blipFill>
          <a:blip r:embed="rId3"/>
          <a:srcRect l="0" r="0" t="0" b="0"/>
          <a:stretch/>
        </p:blipFill>
        <p:spPr>
          <a:xfrm>
            <a:off x="3153370" y="1819870"/>
            <a:ext cx="254000" cy="254000"/>
          </a:xfrm>
          <a:prstGeom prst="rect">
            <a:avLst/>
          </a:prstGeom>
        </p:spPr>
      </p:pic>
      <p:sp>
        <p:nvSpPr>
          <p:cNvPr id="12" name="Text 7"/>
          <p:cNvSpPr/>
          <p:nvPr/>
        </p:nvSpPr>
        <p:spPr>
          <a:xfrm>
            <a:off x="3153370" y="2137370"/>
            <a:ext cx="154692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3202D"/>
                </a:solidFill>
                <a:latin typeface="IBM Plex Sans" pitchFamily="34" charset="0"/>
                <a:ea typeface="IBM Plex Sans" pitchFamily="34" charset="-122"/>
                <a:cs typeface="IBM Plex Sans" pitchFamily="34" charset="-120"/>
              </a:rPr>
              <a:t>Validacija</a:t>
            </a:r>
            <a:endParaRPr lang="en-US" sz="1300" dirty="0"/>
          </a:p>
        </p:txBody>
      </p:sp>
      <p:sp>
        <p:nvSpPr>
          <p:cNvPr id="13" name="Text 8"/>
          <p:cNvSpPr/>
          <p:nvPr/>
        </p:nvSpPr>
        <p:spPr>
          <a:xfrm>
            <a:off x="3153370" y="2407245"/>
            <a:ext cx="15469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Šema, format vremena i redosled</a:t>
            </a:r>
            <a:endParaRPr lang="en-US" sz="1200" dirty="0"/>
          </a:p>
        </p:txBody>
      </p:sp>
      <p:pic>
        <p:nvPicPr>
          <p:cNvPr id="14" name="Image 3" descr="arrow-right">    </p:cNvPr>
          <p:cNvPicPr>
            <a:picLocks noChangeAspect="1"/>
          </p:cNvPicPr>
          <p:nvPr/>
        </p:nvPicPr>
        <p:blipFill>
          <a:blip r:embed="rId4"/>
          <a:srcRect l="0" r="0" t="0" b="0"/>
          <a:stretch/>
        </p:blipFill>
        <p:spPr>
          <a:xfrm>
            <a:off x="4871740" y="2263378"/>
            <a:ext cx="254000" cy="127000"/>
          </a:xfrm>
          <a:prstGeom prst="rect">
            <a:avLst/>
          </a:prstGeom>
        </p:spPr>
      </p:pic>
      <p:sp>
        <p:nvSpPr>
          <p:cNvPr id="15" name="Shape 9"/>
          <p:cNvSpPr/>
          <p:nvPr/>
        </p:nvSpPr>
        <p:spPr>
          <a:xfrm>
            <a:off x="5205115" y="1676995"/>
            <a:ext cx="1781770" cy="1299766"/>
          </a:xfrm>
          <a:prstGeom prst="roundRect">
            <a:avLst>
              <a:gd name="adj" fmla="val 7573"/>
            </a:avLst>
          </a:prstGeom>
          <a:solidFill>
            <a:srgbClr val="FCFCFB"/>
          </a:solidFill>
          <a:ln w="6350">
            <a:solidFill>
              <a:srgbClr val="D3DAE1"/>
            </a:solidFill>
            <a:prstDash val="solid"/>
          </a:ln>
        </p:spPr>
      </p:sp>
      <p:pic>
        <p:nvPicPr>
          <p:cNvPr id="16" name="Image 4" descr="Link">    </p:cNvPr>
          <p:cNvPicPr>
            <a:picLocks noChangeAspect="1"/>
          </p:cNvPicPr>
          <p:nvPr/>
        </p:nvPicPr>
        <p:blipFill>
          <a:blip r:embed="rId5"/>
          <a:srcRect l="0" r="0" t="0" b="0"/>
          <a:stretch/>
        </p:blipFill>
        <p:spPr>
          <a:xfrm>
            <a:off x="5347990" y="1819870"/>
            <a:ext cx="254000" cy="254000"/>
          </a:xfrm>
          <a:prstGeom prst="rect">
            <a:avLst/>
          </a:prstGeom>
        </p:spPr>
      </p:pic>
      <p:sp>
        <p:nvSpPr>
          <p:cNvPr id="17" name="Text 10"/>
          <p:cNvSpPr/>
          <p:nvPr/>
        </p:nvSpPr>
        <p:spPr>
          <a:xfrm>
            <a:off x="5347990" y="2137370"/>
            <a:ext cx="154682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3202D"/>
                </a:solidFill>
                <a:latin typeface="IBM Plex Sans" pitchFamily="34" charset="0"/>
                <a:ea typeface="IBM Plex Sans" pitchFamily="34" charset="-122"/>
                <a:cs typeface="IBM Plex Sans" pitchFamily="34" charset="-120"/>
              </a:rPr>
              <a:t>Mapiranje</a:t>
            </a:r>
            <a:endParaRPr lang="en-US" sz="1300" dirty="0"/>
          </a:p>
        </p:txBody>
      </p:sp>
      <p:sp>
        <p:nvSpPr>
          <p:cNvPr id="18" name="Text 11"/>
          <p:cNvSpPr/>
          <p:nvPr/>
        </p:nvSpPr>
        <p:spPr>
          <a:xfrm>
            <a:off x="5347990" y="2407245"/>
            <a:ext cx="15468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Kolona na tag, tip i jedinicu</a:t>
            </a:r>
            <a:endParaRPr lang="en-US" sz="1200" dirty="0"/>
          </a:p>
        </p:txBody>
      </p:sp>
      <p:pic>
        <p:nvPicPr>
          <p:cNvPr id="19" name="Image 5" descr="arrow-right">    </p:cNvPr>
          <p:cNvPicPr>
            <a:picLocks noChangeAspect="1"/>
          </p:cNvPicPr>
          <p:nvPr/>
        </p:nvPicPr>
        <p:blipFill>
          <a:blip r:embed="rId6"/>
          <a:srcRect l="0" r="0" t="0" b="0"/>
          <a:stretch/>
        </p:blipFill>
        <p:spPr>
          <a:xfrm>
            <a:off x="7066260" y="2263378"/>
            <a:ext cx="254000" cy="127000"/>
          </a:xfrm>
          <a:prstGeom prst="rect">
            <a:avLst/>
          </a:prstGeom>
        </p:spPr>
      </p:pic>
      <p:sp>
        <p:nvSpPr>
          <p:cNvPr id="20" name="Shape 12"/>
          <p:cNvSpPr/>
          <p:nvPr/>
        </p:nvSpPr>
        <p:spPr>
          <a:xfrm>
            <a:off x="7399635" y="1676995"/>
            <a:ext cx="1781870" cy="1299766"/>
          </a:xfrm>
          <a:prstGeom prst="roundRect">
            <a:avLst>
              <a:gd name="adj" fmla="val 7573"/>
            </a:avLst>
          </a:prstGeom>
          <a:solidFill>
            <a:srgbClr val="FCFCFB"/>
          </a:solidFill>
          <a:ln w="6350">
            <a:solidFill>
              <a:srgbClr val="D3DAE1"/>
            </a:solidFill>
            <a:prstDash val="solid"/>
          </a:ln>
        </p:spPr>
      </p:sp>
      <p:pic>
        <p:nvPicPr>
          <p:cNvPr id="21" name="Image 6" descr="Verified">    </p:cNvPr>
          <p:cNvPicPr>
            <a:picLocks noChangeAspect="1"/>
          </p:cNvPicPr>
          <p:nvPr/>
        </p:nvPicPr>
        <p:blipFill>
          <a:blip r:embed="rId7"/>
          <a:srcRect l="0" r="0" t="0" b="0"/>
          <a:stretch/>
        </p:blipFill>
        <p:spPr>
          <a:xfrm>
            <a:off x="7542510" y="1819870"/>
            <a:ext cx="254000" cy="254000"/>
          </a:xfrm>
          <a:prstGeom prst="rect">
            <a:avLst/>
          </a:prstGeom>
        </p:spPr>
      </p:pic>
      <p:sp>
        <p:nvSpPr>
          <p:cNvPr id="22" name="Text 13"/>
          <p:cNvSpPr/>
          <p:nvPr/>
        </p:nvSpPr>
        <p:spPr>
          <a:xfrm>
            <a:off x="7542510" y="2137370"/>
            <a:ext cx="154692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3202D"/>
                </a:solidFill>
                <a:latin typeface="IBM Plex Sans" pitchFamily="34" charset="0"/>
                <a:ea typeface="IBM Plex Sans" pitchFamily="34" charset="-122"/>
                <a:cs typeface="IBM Plex Sans" pitchFamily="34" charset="-120"/>
              </a:rPr>
              <a:t>Kvalitet</a:t>
            </a:r>
            <a:endParaRPr lang="en-US" sz="1300" dirty="0"/>
          </a:p>
        </p:txBody>
      </p:sp>
      <p:sp>
        <p:nvSpPr>
          <p:cNvPr id="23" name="Text 14"/>
          <p:cNvSpPr/>
          <p:nvPr/>
        </p:nvSpPr>
        <p:spPr>
          <a:xfrm>
            <a:off x="7542510" y="2407245"/>
            <a:ext cx="15469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GOOD, BAD ili greška reda</a:t>
            </a:r>
            <a:endParaRPr lang="en-US" sz="1200" dirty="0"/>
          </a:p>
        </p:txBody>
      </p:sp>
      <p:pic>
        <p:nvPicPr>
          <p:cNvPr id="24" name="Image 7" descr="arrow-right">    </p:cNvPr>
          <p:cNvPicPr>
            <a:picLocks noChangeAspect="1"/>
          </p:cNvPicPr>
          <p:nvPr/>
        </p:nvPicPr>
        <p:blipFill>
          <a:blip r:embed="rId8"/>
          <a:srcRect l="0" r="0" t="0" b="0"/>
          <a:stretch/>
        </p:blipFill>
        <p:spPr>
          <a:xfrm>
            <a:off x="9260880" y="2263378"/>
            <a:ext cx="254000" cy="127000"/>
          </a:xfrm>
          <a:prstGeom prst="rect">
            <a:avLst/>
          </a:prstGeom>
        </p:spPr>
      </p:pic>
      <p:sp>
        <p:nvSpPr>
          <p:cNvPr id="25" name="Shape 15"/>
          <p:cNvSpPr/>
          <p:nvPr/>
        </p:nvSpPr>
        <p:spPr>
          <a:xfrm>
            <a:off x="9594255" y="1676995"/>
            <a:ext cx="1781770" cy="1299766"/>
          </a:xfrm>
          <a:prstGeom prst="roundRect">
            <a:avLst>
              <a:gd name="adj" fmla="val 7573"/>
            </a:avLst>
          </a:prstGeom>
          <a:solidFill>
            <a:srgbClr val="DCE8F4"/>
          </a:solidFill>
          <a:ln w="6350">
            <a:solidFill>
              <a:srgbClr val="A9C2DC"/>
            </a:solidFill>
            <a:prstDash val="solid"/>
          </a:ln>
        </p:spPr>
      </p:sp>
      <p:pic>
        <p:nvPicPr>
          <p:cNvPr id="26" name="Image 8" descr="Play">    </p:cNvPr>
          <p:cNvPicPr>
            <a:picLocks noChangeAspect="1"/>
          </p:cNvPicPr>
          <p:nvPr/>
        </p:nvPicPr>
        <p:blipFill>
          <a:blip r:embed="rId9"/>
          <a:srcRect l="0" r="0" t="0" b="0"/>
          <a:stretch/>
        </p:blipFill>
        <p:spPr>
          <a:xfrm>
            <a:off x="9737130" y="1819870"/>
            <a:ext cx="254000" cy="254000"/>
          </a:xfrm>
          <a:prstGeom prst="rect">
            <a:avLst/>
          </a:prstGeom>
        </p:spPr>
      </p:pic>
      <p:sp>
        <p:nvSpPr>
          <p:cNvPr id="27" name="Text 16"/>
          <p:cNvSpPr/>
          <p:nvPr/>
        </p:nvSpPr>
        <p:spPr>
          <a:xfrm>
            <a:off x="9737130" y="2137370"/>
            <a:ext cx="154682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3202D"/>
                </a:solidFill>
                <a:latin typeface="IBM Plex Sans" pitchFamily="34" charset="0"/>
                <a:ea typeface="IBM Plex Sans" pitchFamily="34" charset="-122"/>
                <a:cs typeface="IBM Plex Sans" pitchFamily="34" charset="-120"/>
              </a:rPr>
              <a:t>Reprodukcija</a:t>
            </a:r>
            <a:endParaRPr lang="en-US" sz="1300" dirty="0"/>
          </a:p>
        </p:txBody>
      </p:sp>
      <p:sp>
        <p:nvSpPr>
          <p:cNvPr id="28" name="Text 17"/>
          <p:cNvSpPr/>
          <p:nvPr/>
        </p:nvSpPr>
        <p:spPr>
          <a:xfrm>
            <a:off x="9737130" y="2407245"/>
            <a:ext cx="15468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Izvor telemetrije kao simulator</a:t>
            </a:r>
            <a:endParaRPr lang="en-US" sz="1200" dirty="0"/>
          </a:p>
        </p:txBody>
      </p:sp>
      <p:sp>
        <p:nvSpPr>
          <p:cNvPr id="29" name="Shape 18"/>
          <p:cNvSpPr/>
          <p:nvPr/>
        </p:nvSpPr>
        <p:spPr>
          <a:xfrm>
            <a:off x="825500" y="3233936"/>
            <a:ext cx="0" cy="934541"/>
          </a:xfrm>
          <a:prstGeom prst="line">
            <a:avLst/>
          </a:prstGeom>
          <a:noFill/>
          <a:ln w="25400">
            <a:solidFill>
              <a:srgbClr val="0A5CA8"/>
            </a:solidFill>
            <a:prstDash val="solid"/>
          </a:ln>
        </p:spPr>
      </p:sp>
      <p:sp>
        <p:nvSpPr>
          <p:cNvPr id="30" name="Text 19"/>
          <p:cNvSpPr/>
          <p:nvPr/>
        </p:nvSpPr>
        <p:spPr>
          <a:xfrm>
            <a:off x="990600" y="3246636"/>
            <a:ext cx="333994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Isti put kao simulator</a:t>
            </a:r>
            <a:endParaRPr lang="en-US" sz="1300" dirty="0"/>
          </a:p>
        </p:txBody>
      </p:sp>
      <p:sp>
        <p:nvSpPr>
          <p:cNvPr id="31" name="Text 20"/>
          <p:cNvSpPr/>
          <p:nvPr/>
        </p:nvSpPr>
        <p:spPr>
          <a:xfrm>
            <a:off x="990600" y="3515816"/>
            <a:ext cx="333994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Reprodukovani podaci prolaze kroz isti adapter i port, pa HMI, historian i alarmi rade bez izmena.</a:t>
            </a:r>
            <a:endParaRPr lang="en-US" sz="1200" dirty="0"/>
          </a:p>
        </p:txBody>
      </p:sp>
      <p:sp>
        <p:nvSpPr>
          <p:cNvPr id="32" name="Shape 21"/>
          <p:cNvSpPr/>
          <p:nvPr/>
        </p:nvSpPr>
        <p:spPr>
          <a:xfrm>
            <a:off x="4398367" y="3233936"/>
            <a:ext cx="0" cy="934541"/>
          </a:xfrm>
          <a:prstGeom prst="line">
            <a:avLst/>
          </a:prstGeom>
          <a:noFill/>
          <a:ln w="25400">
            <a:solidFill>
              <a:srgbClr val="0A5CA8"/>
            </a:solidFill>
            <a:prstDash val="solid"/>
          </a:ln>
        </p:spPr>
      </p:sp>
      <p:sp>
        <p:nvSpPr>
          <p:cNvPr id="33" name="Text 22"/>
          <p:cNvSpPr/>
          <p:nvPr/>
        </p:nvSpPr>
        <p:spPr>
          <a:xfrm>
            <a:off x="4563467" y="3246636"/>
            <a:ext cx="334004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Izolacija</a:t>
            </a:r>
            <a:endParaRPr lang="en-US" sz="1300" dirty="0"/>
          </a:p>
        </p:txBody>
      </p:sp>
      <p:sp>
        <p:nvSpPr>
          <p:cNvPr id="34" name="Text 23"/>
          <p:cNvSpPr/>
          <p:nvPr/>
        </p:nvSpPr>
        <p:spPr>
          <a:xfrm>
            <a:off x="4563467" y="3515816"/>
            <a:ext cx="334004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Reprodukcija je zasebna instanca i ne meša se sa telemetrijom drugih izvora.</a:t>
            </a:r>
            <a:endParaRPr lang="en-US" sz="1200" dirty="0"/>
          </a:p>
        </p:txBody>
      </p:sp>
      <p:sp>
        <p:nvSpPr>
          <p:cNvPr id="35" name="Shape 24"/>
          <p:cNvSpPr/>
          <p:nvPr/>
        </p:nvSpPr>
        <p:spPr>
          <a:xfrm>
            <a:off x="7971334" y="3233936"/>
            <a:ext cx="0" cy="934541"/>
          </a:xfrm>
          <a:prstGeom prst="line">
            <a:avLst/>
          </a:prstGeom>
          <a:noFill/>
          <a:ln w="25400">
            <a:solidFill>
              <a:srgbClr val="E07B1F"/>
            </a:solidFill>
            <a:prstDash val="solid"/>
          </a:ln>
        </p:spPr>
      </p:sp>
      <p:sp>
        <p:nvSpPr>
          <p:cNvPr id="36" name="Text 25"/>
          <p:cNvSpPr/>
          <p:nvPr/>
        </p:nvSpPr>
        <p:spPr>
          <a:xfrm>
            <a:off x="8136434" y="3246636"/>
            <a:ext cx="334004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Bez izmene izvora</a:t>
            </a:r>
            <a:endParaRPr lang="en-US" sz="1300" dirty="0"/>
          </a:p>
        </p:txBody>
      </p:sp>
      <p:sp>
        <p:nvSpPr>
          <p:cNvPr id="37" name="Text 26"/>
          <p:cNvSpPr/>
          <p:nvPr/>
        </p:nvSpPr>
        <p:spPr>
          <a:xfrm>
            <a:off x="8136434" y="3515816"/>
            <a:ext cx="334004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Izvorni fajl se samo čita, pa se eksperiment uvek može ponoviti.</a:t>
            </a:r>
            <a:endParaRPr lang="en-US" sz="1200" dirty="0"/>
          </a:p>
        </p:txBody>
      </p:sp>
      <p:sp>
        <p:nvSpPr>
          <p:cNvPr id="38" name="Shape 27"/>
          <p:cNvSpPr/>
          <p:nvPr/>
        </p:nvSpPr>
        <p:spPr>
          <a:xfrm>
            <a:off x="812800" y="6209705"/>
            <a:ext cx="10566400" cy="0"/>
          </a:xfrm>
          <a:prstGeom prst="line">
            <a:avLst/>
          </a:prstGeom>
          <a:noFill/>
          <a:ln w="6350">
            <a:solidFill>
              <a:srgbClr val="D3DAE1"/>
            </a:solidFill>
            <a:prstDash val="solid"/>
          </a:ln>
        </p:spPr>
      </p:sp>
      <p:sp>
        <p:nvSpPr>
          <p:cNvPr id="39" name="Text 28"/>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40" name="Text 2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05 · PRIMENA U PLATFORMI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Mapiranje kolona skupa SWaT na tagove</a:t>
            </a:r>
            <a:endParaRPr lang="en-US" sz="3000" dirty="0"/>
          </a:p>
        </p:txBody>
      </p:sp>
      <p:sp>
        <p:nvSpPr>
          <p:cNvPr id="5" name="Shape 3"/>
          <p:cNvSpPr/>
          <p:nvPr/>
        </p:nvSpPr>
        <p:spPr>
          <a:xfrm>
            <a:off x="812800" y="1673820"/>
            <a:ext cx="10566400" cy="3059113"/>
          </a:xfrm>
          <a:prstGeom prst="roundRect">
            <a:avLst>
              <a:gd name="adj" fmla="val 3321"/>
            </a:avLst>
          </a:prstGeom>
          <a:solidFill>
            <a:srgbClr val="FCFCFB"/>
          </a:solidFill>
          <a:ln/>
        </p:spPr>
      </p:sp>
      <p:sp>
        <p:nvSpPr>
          <p:cNvPr id="6" name="Shape 4"/>
          <p:cNvSpPr/>
          <p:nvPr/>
        </p:nvSpPr>
        <p:spPr>
          <a:xfrm>
            <a:off x="812800" y="1673820"/>
            <a:ext cx="10566400" cy="3059113"/>
          </a:xfrm>
          <a:custGeom>
            <a:avLst/>
            <a:gdLst/>
            <a:ahLst/>
            <a:cxnLst/>
            <a:rect l="l" t="t" r="r" b="b"/>
            <a:pathLst>
              <a:path w="10566400" h="3059113">
                <a:moveTo>
                  <a:pt x="10464800" y="0"/>
                </a:moveTo>
                <a:lnTo>
                  <a:pt x="10464800" y="0"/>
                </a:lnTo>
                <a:arcTo hR="101600" wR="101600" stAng="16200000" swAng="5400000"/>
                <a:lnTo>
                  <a:pt x="10566400" y="2957513"/>
                </a:lnTo>
                <a:arcTo hR="101600" wR="101600" stAng="0" swAng="5400000"/>
                <a:lnTo>
                  <a:pt x="101600" y="3059113"/>
                </a:lnTo>
                <a:arcTo hR="101600" wR="101600" stAng="5400000" swAng="5400000"/>
                <a:lnTo>
                  <a:pt x="0" y="2957513"/>
                </a:lnTo>
                <a:arcTo hR="95250" wR="101600" stAng="10800000" swAng="-5400000"/>
                <a:lnTo>
                  <a:pt x="10464800" y="3052763"/>
                </a:lnTo>
                <a:arcTo hR="95250" wR="95250" stAng="5400000" swAng="-5400000"/>
                <a:lnTo>
                  <a:pt x="10560050" y="101600"/>
                </a:lnTo>
                <a:arcTo hR="101600" wR="95250" stAng="0" swAng="-5400000"/>
                <a:close/>
              </a:path>
            </a:pathLst>
          </a:custGeom>
          <a:solidFill>
            <a:srgbClr val="D3DAE1"/>
          </a:solidFill>
          <a:ln/>
        </p:spPr>
      </p:sp>
      <p:sp>
        <p:nvSpPr>
          <p:cNvPr id="7" name="Shape 5"/>
          <p:cNvSpPr/>
          <p:nvPr/>
        </p:nvSpPr>
        <p:spPr>
          <a:xfrm>
            <a:off x="812800" y="1673820"/>
            <a:ext cx="10566400" cy="3059113"/>
          </a:xfrm>
          <a:custGeom>
            <a:avLst/>
            <a:gdLst/>
            <a:ahLst/>
            <a:cxnLst/>
            <a:rect l="l" t="t" r="r" b="b"/>
            <a:pathLst>
              <a:path w="10566400" h="3059113">
                <a:moveTo>
                  <a:pt x="101600" y="3059113"/>
                </a:moveTo>
                <a:lnTo>
                  <a:pt x="101600" y="3059113"/>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957513"/>
                </a:lnTo>
                <a:arcTo hR="101600" wR="8890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686520"/>
          <a:ext cx="10547350" cy="3040063"/>
        </p:xfrm>
        <a:graphic>
          <a:graphicData uri="http://schemas.openxmlformats.org/drawingml/2006/table">
            <a:tbl>
              <a:tblPr/>
              <a:tblGrid>
                <a:gridCol w="1898523"/>
                <a:gridCol w="2953258"/>
                <a:gridCol w="2320417"/>
                <a:gridCol w="3375152"/>
              </a:tblGrid>
              <a:tr h="403820">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Kolona</a:t>
                      </a:r>
                      <a:endParaRPr lang="en-US" sz="1200" dirty="0">
                        <a:latin typeface="IBM Plex Sans" charset="0"/>
                        <a:ea typeface="IBM Plex Sans" charset="0"/>
                        <a:cs typeface="IBM Plex Sans" charset="0"/>
                      </a:endParaRPr>
                    </a:p>
                  </a:txBody>
                  <a:tcPr marL="165100" marR="165100" marT="88900" marB="88900" anchor="t">
                    <a:lnL w="0" cap="flat" cmpd="sng" algn="ctr">
                      <a:noFill/>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Tag u platformi</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Tip</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Jedinica i napomena</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r>
              <a:tr h="40382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LIT101</a:t>
                      </a:r>
                      <a:endParaRPr lang="en-US" sz="1200" dirty="0">
                        <a:latin typeface="IBM Plex Sans" charset="0"/>
                        <a:ea typeface="IBM Plex Sans" charset="0"/>
                        <a:cs typeface="IBM Plex Sans" charset="0"/>
                      </a:endParaRPr>
                    </a:p>
                  </a:txBody>
                  <a:tcPr marL="165100" marR="1651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swat.p1.lit101</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realan broj</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mm, samo čitanje</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FIT101</a:t>
                      </a:r>
                      <a:endParaRPr lang="en-US" sz="1200" dirty="0">
                        <a:latin typeface="IBM Plex Sans" charset="0"/>
                        <a:ea typeface="IBM Plex Sans" charset="0"/>
                        <a:cs typeface="IBM Plex Sans" charset="0"/>
                      </a:endParaRPr>
                    </a:p>
                  </a:txBody>
                  <a:tcPr marL="165100" marR="1651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swat.p1.fit101</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realan broj</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m³/h, samo čitanje</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MV101</a:t>
                      </a:r>
                      <a:endParaRPr lang="en-US" sz="1200" dirty="0">
                        <a:latin typeface="IBM Plex Sans" charset="0"/>
                        <a:ea typeface="IBM Plex Sans" charset="0"/>
                        <a:cs typeface="IBM Plex Sans" charset="0"/>
                      </a:endParaRPr>
                    </a:p>
                  </a:txBody>
                  <a:tcPr marL="165100" marR="1651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swat.p1.mv101</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nabrojivi tip</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stanja ventila prema dokumentaciji</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P101</a:t>
                      </a:r>
                      <a:endParaRPr lang="en-US" sz="1200" dirty="0">
                        <a:latin typeface="IBM Plex Sans" charset="0"/>
                        <a:ea typeface="IBM Plex Sans" charset="0"/>
                        <a:cs typeface="IBM Plex Sans" charset="0"/>
                      </a:endParaRPr>
                    </a:p>
                  </a:txBody>
                  <a:tcPr marL="165100" marR="1651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swat.p1.p101</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nabrojivi tip</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uključena ili isključena</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AIT201</a:t>
                      </a:r>
                      <a:endParaRPr lang="en-US" sz="1200" dirty="0">
                        <a:latin typeface="IBM Plex Sans" charset="0"/>
                        <a:ea typeface="IBM Plex Sans" charset="0"/>
                        <a:cs typeface="IBM Plex Sans" charset="0"/>
                      </a:endParaRPr>
                    </a:p>
                  </a:txBody>
                  <a:tcPr marL="165100" marR="1651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swat.p2.ait201</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realan broj</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jedinica prema dokumentaciji</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617141">
                <a:tc>
                  <a:txBody>
                    <a:bodyPr/>
                    <a:lstStyle/>
                    <a:p>
                      <a:pPr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Oznaka</a:t>
                      </a:r>
                      <a:endParaRPr lang="en-US" sz="1200" dirty="0">
                        <a:latin typeface="IBM Plex Sans" charset="0"/>
                        <a:ea typeface="IBM Plex Sans" charset="0"/>
                        <a:cs typeface="IBM Plex Sans" charset="0"/>
                      </a:endParaRPr>
                    </a:p>
                  </a:txBody>
                  <a:tcPr marL="165100" marR="165100" marT="88900" marB="88900" anchor="t">
                    <a:lnL w="0" cap="flat" cmpd="sng" algn="ctr">
                      <a:noFill/>
                    </a:lnL>
                    <a:lnR w="12700" cap="flat" cmpd="sng" algn="ctr">
                      <a:solidFill>
                        <a:srgbClr val="C8C0B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8C0B8"/>
                      </a:solidFill>
                      <a:prstDash val="solid"/>
                      <a:round/>
                      <a:headEnd type="none" w="med" len="med"/>
                      <a:tailEnd type="none" w="med" len="med"/>
                    </a:lnB>
                    <a:solidFill>
                      <a:srgbClr val="FBF1E6"/>
                    </a:solidFill>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swat.label</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8C0B8"/>
                      </a:solidFill>
                      <a:prstDash val="solid"/>
                      <a:round/>
                      <a:headEnd type="none" w="med" len="med"/>
                      <a:tailEnd type="none" w="med" len="med"/>
                    </a:lnL>
                    <a:lnR w="12700" cap="flat" cmpd="sng" algn="ctr">
                      <a:solidFill>
                        <a:srgbClr val="C8C0B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8C0B8"/>
                      </a:solidFill>
                      <a:prstDash val="solid"/>
                      <a:round/>
                      <a:headEnd type="none" w="med" len="med"/>
                      <a:tailEnd type="none" w="med" len="med"/>
                    </a:lnB>
                    <a:solidFill>
                      <a:srgbClr val="FBF1E6"/>
                    </a:solidFill>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oznaka napada</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8C0B8"/>
                      </a:solidFill>
                      <a:prstDash val="solid"/>
                      <a:round/>
                      <a:headEnd type="none" w="med" len="med"/>
                      <a:tailEnd type="none" w="med" len="med"/>
                    </a:lnL>
                    <a:lnR w="12700" cap="flat" cmpd="sng" algn="ctr">
                      <a:solidFill>
                        <a:srgbClr val="C8C0B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8C0B8"/>
                      </a:solidFill>
                      <a:prstDash val="solid"/>
                      <a:round/>
                      <a:headEnd type="none" w="med" len="med"/>
                      <a:tailEnd type="none" w="med" len="med"/>
                    </a:lnB>
                    <a:solidFill>
                      <a:srgbClr val="FBF1E6"/>
                    </a:solidFill>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samo za vrednovanje, ne prikazuje se operateru</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8C0B8"/>
                      </a:solidFill>
                      <a:prstDash val="solid"/>
                      <a:round/>
                      <a:headEnd type="none" w="med" len="med"/>
                      <a:tailEnd type="none" w="med" len="med"/>
                    </a:lnL>
                    <a:lnR w="12700" cap="flat" cmpd="sng" algn="ctr">
                      <a:solidFill>
                        <a:srgbClr val="C8C0B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8C0B8"/>
                      </a:solidFill>
                      <a:prstDash val="solid"/>
                      <a:round/>
                      <a:headEnd type="none" w="med" len="med"/>
                      <a:tailEnd type="none" w="med" len="med"/>
                    </a:lnB>
                    <a:solidFill>
                      <a:srgbClr val="FBF1E6"/>
                    </a:solidFill>
                  </a:tcPr>
                </a:tc>
              </a:tr>
            </a:tbl>
          </a:graphicData>
        </a:graphic>
      </p:graphicFrame>
      <p:sp>
        <p:nvSpPr>
          <p:cNvPr id="9" name="Text 6"/>
          <p:cNvSpPr/>
          <p:nvPr/>
        </p:nvSpPr>
        <p:spPr>
          <a:xfrm>
            <a:off x="812800" y="498693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Mapiranje se čuva kao verzionisana konfiguracija projekta, pa se isti uvoz može ponoviti i proveriti.</a:t>
            </a:r>
            <a:endParaRPr lang="en-US" sz="1200" dirty="0"/>
          </a:p>
        </p:txBody>
      </p:sp>
      <p:sp>
        <p:nvSpPr>
          <p:cNvPr id="10" name="Shape 7"/>
          <p:cNvSpPr/>
          <p:nvPr/>
        </p:nvSpPr>
        <p:spPr>
          <a:xfrm>
            <a:off x="812800" y="6209705"/>
            <a:ext cx="10566400" cy="0"/>
          </a:xfrm>
          <a:prstGeom prst="line">
            <a:avLst/>
          </a:prstGeom>
          <a:noFill/>
          <a:ln w="6350">
            <a:solidFill>
              <a:srgbClr val="D3DAE1"/>
            </a:solidFill>
            <a:prstDash val="solid"/>
          </a:ln>
        </p:spPr>
      </p:sp>
      <p:sp>
        <p:nvSpPr>
          <p:cNvPr id="11" name="Text 8"/>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12" name="Text 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05 · PRIMENA U PLATFORMI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Kvalitet podataka pri uvozu</a:t>
            </a:r>
            <a:endParaRPr lang="en-US" sz="3000" dirty="0"/>
          </a:p>
        </p:txBody>
      </p:sp>
      <p:sp>
        <p:nvSpPr>
          <p:cNvPr id="5" name="Shape 3"/>
          <p:cNvSpPr/>
          <p:nvPr/>
        </p:nvSpPr>
        <p:spPr>
          <a:xfrm>
            <a:off x="812800" y="1673820"/>
            <a:ext cx="10566400" cy="2845792"/>
          </a:xfrm>
          <a:prstGeom prst="roundRect">
            <a:avLst>
              <a:gd name="adj" fmla="val 3570"/>
            </a:avLst>
          </a:prstGeom>
          <a:solidFill>
            <a:srgbClr val="FCFCFB"/>
          </a:solidFill>
          <a:ln/>
        </p:spPr>
      </p:sp>
      <p:sp>
        <p:nvSpPr>
          <p:cNvPr id="6" name="Shape 4"/>
          <p:cNvSpPr/>
          <p:nvPr/>
        </p:nvSpPr>
        <p:spPr>
          <a:xfrm>
            <a:off x="812800" y="1673820"/>
            <a:ext cx="10566400" cy="2845792"/>
          </a:xfrm>
          <a:custGeom>
            <a:avLst/>
            <a:gdLst/>
            <a:ahLst/>
            <a:cxnLst/>
            <a:rect l="l" t="t" r="r" b="b"/>
            <a:pathLst>
              <a:path w="10566400" h="2845792">
                <a:moveTo>
                  <a:pt x="10464800" y="0"/>
                </a:moveTo>
                <a:lnTo>
                  <a:pt x="10464800" y="0"/>
                </a:lnTo>
                <a:arcTo hR="101600" wR="101600" stAng="16200000" swAng="5400000"/>
                <a:lnTo>
                  <a:pt x="10566400" y="2744192"/>
                </a:lnTo>
                <a:arcTo hR="101600" wR="101600" stAng="0" swAng="5400000"/>
                <a:lnTo>
                  <a:pt x="101600" y="2845792"/>
                </a:lnTo>
                <a:arcTo hR="101600" wR="101600" stAng="5400000" swAng="5400000"/>
                <a:lnTo>
                  <a:pt x="0" y="2744192"/>
                </a:lnTo>
                <a:arcTo hR="95250" wR="101600" stAng="10800000" swAng="-5400000"/>
                <a:lnTo>
                  <a:pt x="10464800" y="2839442"/>
                </a:lnTo>
                <a:arcTo hR="95250" wR="95250" stAng="5400000" swAng="-5400000"/>
                <a:lnTo>
                  <a:pt x="10560050" y="101600"/>
                </a:lnTo>
                <a:arcTo hR="101600" wR="95250" stAng="0" swAng="-5400000"/>
                <a:close/>
              </a:path>
            </a:pathLst>
          </a:custGeom>
          <a:solidFill>
            <a:srgbClr val="D3DAE1"/>
          </a:solidFill>
          <a:ln/>
        </p:spPr>
      </p:sp>
      <p:sp>
        <p:nvSpPr>
          <p:cNvPr id="7" name="Shape 5"/>
          <p:cNvSpPr/>
          <p:nvPr/>
        </p:nvSpPr>
        <p:spPr>
          <a:xfrm>
            <a:off x="812800" y="1673820"/>
            <a:ext cx="10566400" cy="2845792"/>
          </a:xfrm>
          <a:custGeom>
            <a:avLst/>
            <a:gdLst/>
            <a:ahLst/>
            <a:cxnLst/>
            <a:rect l="l" t="t" r="r" b="b"/>
            <a:pathLst>
              <a:path w="10566400" h="2845792">
                <a:moveTo>
                  <a:pt x="101600" y="2845792"/>
                </a:moveTo>
                <a:lnTo>
                  <a:pt x="101600" y="2845792"/>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744192"/>
                </a:lnTo>
                <a:arcTo hR="101600" wR="8890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686520"/>
          <a:ext cx="10547350" cy="2826742"/>
        </p:xfrm>
        <a:graphic>
          <a:graphicData uri="http://schemas.openxmlformats.org/drawingml/2006/table">
            <a:tbl>
              <a:tblPr/>
              <a:tblGrid>
                <a:gridCol w="3164205"/>
                <a:gridCol w="5062728"/>
                <a:gridCol w="2320417"/>
              </a:tblGrid>
              <a:tr h="403820">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Slučaj u fajlu</a:t>
                      </a:r>
                      <a:endParaRPr lang="en-US" sz="1200" dirty="0">
                        <a:latin typeface="IBM Plex Sans" charset="0"/>
                        <a:ea typeface="IBM Plex Sans" charset="0"/>
                        <a:cs typeface="IBM Plex Sans" charset="0"/>
                      </a:endParaRPr>
                    </a:p>
                  </a:txBody>
                  <a:tcPr marL="165100" marR="165100" marT="88900" marB="88900" anchor="t">
                    <a:lnL w="0" cap="flat" cmpd="sng" algn="ctr">
                      <a:noFill/>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Ponašanje platforme</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Kvalitet</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r>
              <a:tr h="4038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Ispravan red</a:t>
                      </a:r>
                      <a:endParaRPr lang="en-US" sz="1200" dirty="0">
                        <a:latin typeface="IBM Plex Sans" charset="0"/>
                        <a:ea typeface="IBM Plex Sans" charset="0"/>
                        <a:cs typeface="IBM Plex Sans" charset="0"/>
                      </a:endParaRPr>
                    </a:p>
                  </a:txBody>
                  <a:tcPr marL="165100" marR="1651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Vrednost se upisuje u tag i istoriju</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GOOD</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Nedostajuća vrednost</a:t>
                      </a:r>
                      <a:endParaRPr lang="en-US" sz="1200" dirty="0">
                        <a:latin typeface="IBM Plex Sans" charset="0"/>
                        <a:ea typeface="IBM Plex Sans" charset="0"/>
                        <a:cs typeface="IBM Plex Sans" charset="0"/>
                      </a:endParaRPr>
                    </a:p>
                  </a:txBody>
                  <a:tcPr marL="165100" marR="1651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Vrednost se ne izmišlja, beleži se nedostatak</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BAD</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Vrednost van opsega</a:t>
                      </a:r>
                      <a:endParaRPr lang="en-US" sz="1200" dirty="0">
                        <a:latin typeface="IBM Plex Sans" charset="0"/>
                        <a:ea typeface="IBM Plex Sans" charset="0"/>
                        <a:cs typeface="IBM Plex Sans" charset="0"/>
                      </a:endParaRPr>
                    </a:p>
                  </a:txBody>
                  <a:tcPr marL="165100" marR="1651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Ne prepisuje pouzdanu vrednost taga</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BAD</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Neispravno vreme</a:t>
                      </a:r>
                      <a:endParaRPr lang="en-US" sz="1200" dirty="0">
                        <a:latin typeface="IBM Plex Sans" charset="0"/>
                        <a:ea typeface="IBM Plex Sans" charset="0"/>
                        <a:cs typeface="IBM Plex Sans" charset="0"/>
                      </a:endParaRPr>
                    </a:p>
                  </a:txBody>
                  <a:tcPr marL="165100" marR="1651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Greška reda se prijavljuje, red se ne primenjuje</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greška reda</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Nepoznata kolona</a:t>
                      </a:r>
                      <a:endParaRPr lang="en-US" sz="1200" dirty="0">
                        <a:latin typeface="IBM Plex Sans" charset="0"/>
                        <a:ea typeface="IBM Plex Sans" charset="0"/>
                        <a:cs typeface="IBM Plex Sans" charset="0"/>
                      </a:endParaRPr>
                    </a:p>
                  </a:txBody>
                  <a:tcPr marL="165100" marR="1651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Kolona se prijavljuje i ne mapira se</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upozorenje</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Prekid u podacima</a:t>
                      </a:r>
                      <a:endParaRPr lang="en-US" sz="1200" dirty="0">
                        <a:latin typeface="IBM Plex Sans" charset="0"/>
                        <a:ea typeface="IBM Plex Sans" charset="0"/>
                        <a:cs typeface="IBM Plex Sans" charset="0"/>
                      </a:endParaRPr>
                    </a:p>
                  </a:txBody>
                  <a:tcPr marL="165100" marR="1651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Posle isteka roka svežine tag postaje zastareo</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STALE</a:t>
                      </a:r>
                      <a:endParaRPr lang="en-US" sz="1200" dirty="0">
                        <a:latin typeface="IBM Plex Sans" charset="0"/>
                        <a:ea typeface="IBM Plex Sans" charset="0"/>
                        <a:cs typeface="IBM Plex Sans" charset="0"/>
                      </a:endParaRPr>
                    </a:p>
                  </a:txBody>
                  <a:tcPr marL="165100" marR="1651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9" name="Text 6"/>
          <p:cNvSpPr/>
          <p:nvPr/>
        </p:nvSpPr>
        <p:spPr>
          <a:xfrm>
            <a:off x="812800" y="477361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Isti model kvaliteta važi i za simulatore, pa operater uvek zna koliko može da veruje prikazanoj vrednosti.</a:t>
            </a:r>
            <a:endParaRPr lang="en-US" sz="1200" dirty="0"/>
          </a:p>
        </p:txBody>
      </p:sp>
      <p:sp>
        <p:nvSpPr>
          <p:cNvPr id="10" name="Shape 7"/>
          <p:cNvSpPr/>
          <p:nvPr/>
        </p:nvSpPr>
        <p:spPr>
          <a:xfrm>
            <a:off x="812800" y="6209705"/>
            <a:ext cx="10566400" cy="0"/>
          </a:xfrm>
          <a:prstGeom prst="line">
            <a:avLst/>
          </a:prstGeom>
          <a:noFill/>
          <a:ln w="6350">
            <a:solidFill>
              <a:srgbClr val="D3DAE1"/>
            </a:solidFill>
            <a:prstDash val="solid"/>
          </a:ln>
        </p:spPr>
      </p:sp>
      <p:sp>
        <p:nvSpPr>
          <p:cNvPr id="11" name="Text 8"/>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12" name="Text 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05 · PRIMENA U PLATFORMI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Reprodukcija i vremenske oznake</a:t>
            </a:r>
            <a:endParaRPr lang="en-US" sz="3000" dirty="0"/>
          </a:p>
        </p:txBody>
      </p:sp>
      <p:sp>
        <p:nvSpPr>
          <p:cNvPr id="5" name="Shape 3"/>
          <p:cNvSpPr/>
          <p:nvPr/>
        </p:nvSpPr>
        <p:spPr>
          <a:xfrm>
            <a:off x="812800" y="1673820"/>
            <a:ext cx="4826000" cy="2033091"/>
          </a:xfrm>
          <a:prstGeom prst="roundRect">
            <a:avLst>
              <a:gd name="adj" fmla="val 3748"/>
            </a:avLst>
          </a:prstGeom>
          <a:solidFill>
            <a:srgbClr val="FCFCFB"/>
          </a:solidFill>
          <a:ln/>
        </p:spPr>
      </p:sp>
      <p:sp>
        <p:nvSpPr>
          <p:cNvPr id="6" name="Shape 4"/>
          <p:cNvSpPr/>
          <p:nvPr/>
        </p:nvSpPr>
        <p:spPr>
          <a:xfrm>
            <a:off x="812800" y="1673820"/>
            <a:ext cx="4826000" cy="2033091"/>
          </a:xfrm>
          <a:custGeom>
            <a:avLst/>
            <a:gdLst/>
            <a:ahLst/>
            <a:cxnLst/>
            <a:rect l="l" t="t" r="r" b="b"/>
            <a:pathLst>
              <a:path w="4826000" h="2033091">
                <a:moveTo>
                  <a:pt x="76200" y="2033091"/>
                </a:moveTo>
                <a:lnTo>
                  <a:pt x="76200" y="2033091"/>
                </a:lnTo>
                <a:arcTo hR="76200" wR="76200" stAng="5400000" swAng="5400000"/>
                <a:lnTo>
                  <a:pt x="0" y="76200"/>
                </a:lnTo>
                <a:arcTo hR="76200" wR="76200" stAng="10800000" swAng="5400000"/>
                <a:lnTo>
                  <a:pt x="76200" y="0"/>
                </a:lnTo>
                <a:arcTo hR="76200" wR="38100" stAng="16200000" swAng="-5400000"/>
                <a:lnTo>
                  <a:pt x="38100" y="1956891"/>
                </a:lnTo>
                <a:arcTo hR="76200" wR="38100" stAng="10800000" swAng="-5400000"/>
                <a:close/>
              </a:path>
            </a:pathLst>
          </a:custGeom>
          <a:solidFill>
            <a:srgbClr val="0A5CA8"/>
          </a:solidFill>
          <a:ln/>
        </p:spPr>
      </p:sp>
      <p:sp>
        <p:nvSpPr>
          <p:cNvPr id="7" name="Text 5"/>
          <p:cNvSpPr/>
          <p:nvPr/>
        </p:nvSpPr>
        <p:spPr>
          <a:xfrm>
            <a:off x="1054100" y="1851620"/>
            <a:ext cx="45129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Vreme iz skupa koje odgovara trenutku reprodukcije τ</a:t>
            </a:r>
            <a:endParaRPr lang="en-US" sz="1200" dirty="0"/>
          </a:p>
        </p:txBody>
      </p:sp>
      <p:sp>
        <p:nvSpPr>
          <p:cNvPr id="8" name="Text 6"/>
          <p:cNvSpPr/>
          <p:nvPr/>
        </p:nvSpPr>
        <p:spPr>
          <a:xfrm>
            <a:off x="1054100" y="2204641"/>
            <a:ext cx="134144" cy="360660"/>
          </a:xfrm>
          <a:prstGeom prst="rect">
            <a:avLst/>
          </a:prstGeom>
          <a:noFill/>
          <a:ln/>
        </p:spPr>
        <p:txBody>
          <a:bodyPr wrap="square" lIns="0" tIns="0" rIns="0" bIns="0" rtlCol="0" anchor="t">
            <a:normAutofit/>
          </a:bodyPr>
          <a:lstStyle/>
          <a:p>
            <a:pPr algn="l" indent="0" marL="0">
              <a:lnSpc>
                <a:spcPts val="2640"/>
              </a:lnSpc>
              <a:buNone/>
            </a:pPr>
            <a:r>
              <a:rPr lang="en-US" sz="2200" i="1" dirty="0">
                <a:solidFill>
                  <a:srgbClr val="13202D"/>
                </a:solidFill>
                <a:latin typeface="STIX Two Text" pitchFamily="18" charset="0"/>
                <a:ea typeface="STIX Two Text" pitchFamily="18" charset="-122"/>
                <a:cs typeface="STIX Two Text" pitchFamily="18" charset="-120"/>
              </a:rPr>
              <a:t>t</a:t>
            </a:r>
            <a:endParaRPr lang="en-US" sz="2200" dirty="0"/>
          </a:p>
        </p:txBody>
      </p:sp>
      <p:sp>
        <p:nvSpPr>
          <p:cNvPr id="9" name="Text 7"/>
          <p:cNvSpPr/>
          <p:nvPr/>
        </p:nvSpPr>
        <p:spPr>
          <a:xfrm>
            <a:off x="1150144" y="2372221"/>
            <a:ext cx="436126" cy="203200"/>
          </a:xfrm>
          <a:prstGeom prst="rect">
            <a:avLst/>
          </a:prstGeom>
          <a:noFill/>
          <a:ln/>
        </p:spPr>
        <p:txBody>
          <a:bodyPr wrap="square" lIns="0" tIns="0" rIns="0" bIns="0" rtlCol="0" anchor="t">
            <a:normAutofit/>
          </a:bodyPr>
          <a:lstStyle/>
          <a:p>
            <a:pPr algn="l" indent="0" marL="0">
              <a:lnSpc>
                <a:spcPts val="1400"/>
              </a:lnSpc>
              <a:buNone/>
            </a:pPr>
            <a:r>
              <a:rPr lang="en-US" sz="1400" dirty="0">
                <a:solidFill>
                  <a:srgbClr val="13202D"/>
                </a:solidFill>
                <a:latin typeface="STIX Two Text" pitchFamily="18" charset="0"/>
                <a:ea typeface="STIX Two Text" pitchFamily="18" charset="-122"/>
                <a:cs typeface="STIX Two Text" pitchFamily="18" charset="-120"/>
              </a:rPr>
              <a:t>skup</a:t>
            </a:r>
            <a:endParaRPr lang="en-US" sz="1400" dirty="0"/>
          </a:p>
        </p:txBody>
      </p:sp>
      <p:sp>
        <p:nvSpPr>
          <p:cNvPr id="10" name="Text 8"/>
          <p:cNvSpPr/>
          <p:nvPr/>
        </p:nvSpPr>
        <p:spPr>
          <a:xfrm>
            <a:off x="1627882" y="2204641"/>
            <a:ext cx="252016"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a:t>
            </a:r>
            <a:endParaRPr lang="en-US" sz="2200" dirty="0"/>
          </a:p>
        </p:txBody>
      </p:sp>
      <p:sp>
        <p:nvSpPr>
          <p:cNvPr id="11" name="Text 9"/>
          <p:cNvSpPr/>
          <p:nvPr/>
        </p:nvSpPr>
        <p:spPr>
          <a:xfrm>
            <a:off x="1943398" y="2204641"/>
            <a:ext cx="134144" cy="360660"/>
          </a:xfrm>
          <a:prstGeom prst="rect">
            <a:avLst/>
          </a:prstGeom>
          <a:noFill/>
          <a:ln/>
        </p:spPr>
        <p:txBody>
          <a:bodyPr wrap="square" lIns="0" tIns="0" rIns="0" bIns="0" rtlCol="0" anchor="t">
            <a:normAutofit/>
          </a:bodyPr>
          <a:lstStyle/>
          <a:p>
            <a:pPr algn="l" indent="0" marL="0">
              <a:lnSpc>
                <a:spcPts val="2640"/>
              </a:lnSpc>
              <a:buNone/>
            </a:pPr>
            <a:r>
              <a:rPr lang="en-US" sz="2200" i="1" dirty="0">
                <a:solidFill>
                  <a:srgbClr val="13202D"/>
                </a:solidFill>
                <a:latin typeface="STIX Two Text" pitchFamily="18" charset="0"/>
                <a:ea typeface="STIX Two Text" pitchFamily="18" charset="-122"/>
                <a:cs typeface="STIX Two Text" pitchFamily="18" charset="-120"/>
              </a:rPr>
              <a:t>t</a:t>
            </a:r>
            <a:endParaRPr lang="en-US" sz="2200" dirty="0"/>
          </a:p>
        </p:txBody>
      </p:sp>
      <p:sp>
        <p:nvSpPr>
          <p:cNvPr id="12" name="Text 10"/>
          <p:cNvSpPr/>
          <p:nvPr/>
        </p:nvSpPr>
        <p:spPr>
          <a:xfrm>
            <a:off x="2039441" y="2372221"/>
            <a:ext cx="138906" cy="203200"/>
          </a:xfrm>
          <a:prstGeom prst="rect">
            <a:avLst/>
          </a:prstGeom>
          <a:noFill/>
          <a:ln/>
        </p:spPr>
        <p:txBody>
          <a:bodyPr wrap="square" lIns="0" tIns="0" rIns="0" bIns="0" rtlCol="0" anchor="t">
            <a:normAutofit/>
          </a:bodyPr>
          <a:lstStyle/>
          <a:p>
            <a:pPr algn="l" indent="0" marL="0">
              <a:lnSpc>
                <a:spcPts val="1400"/>
              </a:lnSpc>
              <a:buNone/>
            </a:pPr>
            <a:r>
              <a:rPr lang="en-US" sz="1400" dirty="0">
                <a:solidFill>
                  <a:srgbClr val="13202D"/>
                </a:solidFill>
                <a:latin typeface="STIX Two Text" pitchFamily="18" charset="0"/>
                <a:ea typeface="STIX Two Text" pitchFamily="18" charset="-122"/>
                <a:cs typeface="STIX Two Text" pitchFamily="18" charset="-120"/>
              </a:rPr>
              <a:t>0</a:t>
            </a:r>
            <a:endParaRPr lang="en-US" sz="1400" dirty="0"/>
          </a:p>
        </p:txBody>
      </p:sp>
      <p:sp>
        <p:nvSpPr>
          <p:cNvPr id="13" name="Text 11"/>
          <p:cNvSpPr/>
          <p:nvPr/>
        </p:nvSpPr>
        <p:spPr>
          <a:xfrm>
            <a:off x="2241848" y="2204641"/>
            <a:ext cx="252016"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a:t>
            </a:r>
            <a:endParaRPr lang="en-US" sz="2200" dirty="0"/>
          </a:p>
        </p:txBody>
      </p:sp>
      <p:sp>
        <p:nvSpPr>
          <p:cNvPr id="14" name="Text 12"/>
          <p:cNvSpPr/>
          <p:nvPr/>
        </p:nvSpPr>
        <p:spPr>
          <a:xfrm>
            <a:off x="2557363" y="2204641"/>
            <a:ext cx="862608" cy="360660"/>
          </a:xfrm>
          <a:prstGeom prst="rect">
            <a:avLst/>
          </a:prstGeom>
          <a:noFill/>
          <a:ln/>
        </p:spPr>
        <p:txBody>
          <a:bodyPr wrap="square" lIns="0" tIns="0" rIns="0" bIns="0" rtlCol="0" anchor="t">
            <a:normAutofit/>
          </a:bodyPr>
          <a:lstStyle/>
          <a:p>
            <a:pPr algn="l" indent="0" marL="0">
              <a:lnSpc>
                <a:spcPts val="2640"/>
              </a:lnSpc>
              <a:buNone/>
            </a:pPr>
            <a:r>
              <a:rPr lang="en-US" sz="2200" i="1" dirty="0">
                <a:solidFill>
                  <a:srgbClr val="13202D"/>
                </a:solidFill>
                <a:latin typeface="STIX Two Text" pitchFamily="18" charset="0"/>
                <a:ea typeface="STIX Two Text" pitchFamily="18" charset="-122"/>
                <a:cs typeface="STIX Two Text" pitchFamily="18" charset="-120"/>
              </a:rPr>
              <a:t>s</a:t>
            </a:r>
            <a:r>
              <a:rPr lang="en-US" sz="2200" dirty="0">
                <a:solidFill>
                  <a:srgbClr val="13202D"/>
                </a:solidFill>
                <a:latin typeface="STIX Two Text" pitchFamily="18" charset="0"/>
                <a:ea typeface="STIX Two Text" pitchFamily="18" charset="-122"/>
                <a:cs typeface="STIX Two Text" pitchFamily="18" charset="-120"/>
              </a:rPr>
              <a:t> · (</a:t>
            </a:r>
            <a:r>
              <a:rPr lang="en-US" sz="2200" i="1" dirty="0">
                <a:solidFill>
                  <a:srgbClr val="13202D"/>
                </a:solidFill>
                <a:latin typeface="STIX Two Text" pitchFamily="18" charset="0"/>
                <a:ea typeface="STIX Two Text" pitchFamily="18" charset="-122"/>
                <a:cs typeface="STIX Two Text" pitchFamily="18" charset="-120"/>
              </a:rPr>
              <a:t>τ</a:t>
            </a:r>
            <a:r>
              <a:rPr lang="en-US" sz="2200" dirty="0">
                <a:solidFill>
                  <a:srgbClr val="13202D"/>
                </a:solidFill>
                <a:latin typeface="STIX Two Text" pitchFamily="18" charset="0"/>
                <a:ea typeface="STIX Two Text" pitchFamily="18" charset="-122"/>
                <a:cs typeface="STIX Two Text" pitchFamily="18" charset="-120"/>
              </a:rPr>
              <a:t> −</a:t>
            </a:r>
            <a:endParaRPr lang="en-US" sz="2200" dirty="0"/>
          </a:p>
        </p:txBody>
      </p:sp>
      <p:sp>
        <p:nvSpPr>
          <p:cNvPr id="15" name="Text 13"/>
          <p:cNvSpPr/>
          <p:nvPr/>
        </p:nvSpPr>
        <p:spPr>
          <a:xfrm>
            <a:off x="3419971" y="2204641"/>
            <a:ext cx="161727" cy="360660"/>
          </a:xfrm>
          <a:prstGeom prst="rect">
            <a:avLst/>
          </a:prstGeom>
          <a:noFill/>
          <a:ln/>
        </p:spPr>
        <p:txBody>
          <a:bodyPr wrap="square" lIns="0" tIns="0" rIns="0" bIns="0" rtlCol="0" anchor="t">
            <a:normAutofit/>
          </a:bodyPr>
          <a:lstStyle/>
          <a:p>
            <a:pPr algn="l" indent="0" marL="0">
              <a:lnSpc>
                <a:spcPts val="2640"/>
              </a:lnSpc>
              <a:buNone/>
            </a:pPr>
            <a:r>
              <a:rPr lang="en-US" sz="2200" i="1" dirty="0">
                <a:solidFill>
                  <a:srgbClr val="13202D"/>
                </a:solidFill>
                <a:latin typeface="STIX Two Text" pitchFamily="18" charset="0"/>
                <a:ea typeface="STIX Two Text" pitchFamily="18" charset="-122"/>
                <a:cs typeface="STIX Two Text" pitchFamily="18" charset="-120"/>
              </a:rPr>
              <a:t>τ</a:t>
            </a:r>
            <a:endParaRPr lang="en-US" sz="2200" dirty="0"/>
          </a:p>
        </p:txBody>
      </p:sp>
      <p:sp>
        <p:nvSpPr>
          <p:cNvPr id="16" name="Text 14"/>
          <p:cNvSpPr/>
          <p:nvPr/>
        </p:nvSpPr>
        <p:spPr>
          <a:xfrm>
            <a:off x="3543598" y="2372221"/>
            <a:ext cx="138906" cy="203200"/>
          </a:xfrm>
          <a:prstGeom prst="rect">
            <a:avLst/>
          </a:prstGeom>
          <a:noFill/>
          <a:ln/>
        </p:spPr>
        <p:txBody>
          <a:bodyPr wrap="square" lIns="0" tIns="0" rIns="0" bIns="0" rtlCol="0" anchor="t">
            <a:normAutofit/>
          </a:bodyPr>
          <a:lstStyle/>
          <a:p>
            <a:pPr algn="l" indent="0" marL="0">
              <a:lnSpc>
                <a:spcPts val="1400"/>
              </a:lnSpc>
              <a:buNone/>
            </a:pPr>
            <a:r>
              <a:rPr lang="en-US" sz="1400" dirty="0">
                <a:solidFill>
                  <a:srgbClr val="13202D"/>
                </a:solidFill>
                <a:latin typeface="STIX Two Text" pitchFamily="18" charset="0"/>
                <a:ea typeface="STIX Two Text" pitchFamily="18" charset="-122"/>
                <a:cs typeface="STIX Two Text" pitchFamily="18" charset="-120"/>
              </a:rPr>
              <a:t>0</a:t>
            </a:r>
            <a:endParaRPr lang="en-US" sz="1400" dirty="0"/>
          </a:p>
        </p:txBody>
      </p:sp>
      <p:sp>
        <p:nvSpPr>
          <p:cNvPr id="17" name="Text 15"/>
          <p:cNvSpPr/>
          <p:nvPr/>
        </p:nvSpPr>
        <p:spPr>
          <a:xfrm>
            <a:off x="3644404" y="2204641"/>
            <a:ext cx="146645"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a:t>
            </a:r>
            <a:endParaRPr lang="en-US" sz="2200" dirty="0"/>
          </a:p>
        </p:txBody>
      </p:sp>
      <p:sp>
        <p:nvSpPr>
          <p:cNvPr id="18" name="Shape 16"/>
          <p:cNvSpPr/>
          <p:nvPr/>
        </p:nvSpPr>
        <p:spPr>
          <a:xfrm>
            <a:off x="1054100" y="2682776"/>
            <a:ext cx="4381500" cy="0"/>
          </a:xfrm>
          <a:prstGeom prst="line">
            <a:avLst/>
          </a:prstGeom>
          <a:noFill/>
          <a:ln w="6350">
            <a:solidFill>
              <a:srgbClr val="D3DAE1"/>
            </a:solidFill>
            <a:prstDash val="solid"/>
          </a:ln>
        </p:spPr>
      </p:sp>
      <p:sp>
        <p:nvSpPr>
          <p:cNvPr id="19" name="Text 17"/>
          <p:cNvSpPr/>
          <p:nvPr/>
        </p:nvSpPr>
        <p:spPr>
          <a:xfrm>
            <a:off x="1054100" y="2787551"/>
            <a:ext cx="451294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t₀</a:t>
            </a:r>
            <a:r>
              <a:rPr lang="en-US" sz="1200" dirty="0">
                <a:solidFill>
                  <a:srgbClr val="44505D"/>
                </a:solidFill>
                <a:latin typeface="IBM Plex Sans" pitchFamily="34" charset="0"/>
                <a:ea typeface="IBM Plex Sans" pitchFamily="34" charset="-122"/>
                <a:cs typeface="IBM Plex Sans" pitchFamily="34" charset="-120"/>
              </a:rPr>
              <a:t> početak izabranog segmenta skupa</a:t>
            </a:r>
            <a:endParaRPr lang="en-US" sz="1200" dirty="0"/>
          </a:p>
        </p:txBody>
      </p:sp>
      <p:sp>
        <p:nvSpPr>
          <p:cNvPr id="20" name="Text 18"/>
          <p:cNvSpPr/>
          <p:nvPr/>
        </p:nvSpPr>
        <p:spPr>
          <a:xfrm>
            <a:off x="1054100" y="3051671"/>
            <a:ext cx="451294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τ₀</a:t>
            </a:r>
            <a:r>
              <a:rPr lang="en-US" sz="1200" dirty="0">
                <a:solidFill>
                  <a:srgbClr val="44505D"/>
                </a:solidFill>
                <a:latin typeface="IBM Plex Sans" pitchFamily="34" charset="0"/>
                <a:ea typeface="IBM Plex Sans" pitchFamily="34" charset="-122"/>
                <a:cs typeface="IBM Plex Sans" pitchFamily="34" charset="-120"/>
              </a:rPr>
              <a:t> trenutak pokretanja reprodukcije</a:t>
            </a:r>
            <a:endParaRPr lang="en-US" sz="1200" dirty="0"/>
          </a:p>
        </p:txBody>
      </p:sp>
      <p:sp>
        <p:nvSpPr>
          <p:cNvPr id="21" name="Text 19"/>
          <p:cNvSpPr/>
          <p:nvPr/>
        </p:nvSpPr>
        <p:spPr>
          <a:xfrm>
            <a:off x="1054100" y="3315791"/>
            <a:ext cx="451294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s</a:t>
            </a:r>
            <a:r>
              <a:rPr lang="en-US" sz="1200" dirty="0">
                <a:solidFill>
                  <a:srgbClr val="44505D"/>
                </a:solidFill>
                <a:latin typeface="IBM Plex Sans" pitchFamily="34" charset="0"/>
                <a:ea typeface="IBM Plex Sans" pitchFamily="34" charset="-122"/>
                <a:cs typeface="IBM Plex Sans" pitchFamily="34" charset="-120"/>
              </a:rPr>
              <a:t> faktor ubrzanja, na primer 1, 10 ili 60</a:t>
            </a:r>
            <a:endParaRPr lang="en-US" sz="1200" dirty="0"/>
          </a:p>
        </p:txBody>
      </p:sp>
      <p:sp>
        <p:nvSpPr>
          <p:cNvPr id="22" name="Shape 20"/>
          <p:cNvSpPr/>
          <p:nvPr/>
        </p:nvSpPr>
        <p:spPr>
          <a:xfrm>
            <a:off x="5943600" y="1673820"/>
            <a:ext cx="5435600" cy="718741"/>
          </a:xfrm>
          <a:prstGeom prst="roundRect">
            <a:avLst>
              <a:gd name="adj" fmla="val 10602"/>
            </a:avLst>
          </a:prstGeom>
          <a:solidFill>
            <a:srgbClr val="DCE8F4"/>
          </a:solidFill>
          <a:ln/>
        </p:spPr>
      </p:sp>
      <p:sp>
        <p:nvSpPr>
          <p:cNvPr id="23" name="Text 21"/>
          <p:cNvSpPr/>
          <p:nvPr/>
        </p:nvSpPr>
        <p:spPr>
          <a:xfrm>
            <a:off x="6096000" y="1800820"/>
            <a:ext cx="528472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simulatedAt</a:t>
            </a:r>
            <a:endParaRPr lang="en-US" sz="1200" dirty="0"/>
          </a:p>
        </p:txBody>
      </p:sp>
      <p:sp>
        <p:nvSpPr>
          <p:cNvPr id="24" name="Text 22"/>
          <p:cNvSpPr/>
          <p:nvPr/>
        </p:nvSpPr>
        <p:spPr>
          <a:xfrm>
            <a:off x="6096000" y="2052241"/>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Vreme iz skupa, za analizu i poređenje sa oznakom napada.</a:t>
            </a:r>
            <a:endParaRPr lang="en-US" sz="1200" dirty="0"/>
          </a:p>
        </p:txBody>
      </p:sp>
      <p:sp>
        <p:nvSpPr>
          <p:cNvPr id="25" name="Shape 23"/>
          <p:cNvSpPr/>
          <p:nvPr/>
        </p:nvSpPr>
        <p:spPr>
          <a:xfrm>
            <a:off x="5943600" y="2519561"/>
            <a:ext cx="5435600" cy="718741"/>
          </a:xfrm>
          <a:prstGeom prst="roundRect">
            <a:avLst>
              <a:gd name="adj" fmla="val 10602"/>
            </a:avLst>
          </a:prstGeom>
          <a:solidFill>
            <a:srgbClr val="DCE8F4"/>
          </a:solidFill>
          <a:ln/>
        </p:spPr>
      </p:sp>
      <p:sp>
        <p:nvSpPr>
          <p:cNvPr id="26" name="Text 24"/>
          <p:cNvSpPr/>
          <p:nvPr/>
        </p:nvSpPr>
        <p:spPr>
          <a:xfrm>
            <a:off x="6096000" y="2646561"/>
            <a:ext cx="528472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receivedAt</a:t>
            </a:r>
            <a:endParaRPr lang="en-US" sz="1200" dirty="0"/>
          </a:p>
        </p:txBody>
      </p:sp>
      <p:sp>
        <p:nvSpPr>
          <p:cNvPr id="27" name="Text 25"/>
          <p:cNvSpPr/>
          <p:nvPr/>
        </p:nvSpPr>
        <p:spPr>
          <a:xfrm>
            <a:off x="6096000" y="2897981"/>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Stvarno vreme prijema, za svežinu podatka i revizioni zapis.</a:t>
            </a:r>
            <a:endParaRPr lang="en-US" sz="1200" dirty="0"/>
          </a:p>
        </p:txBody>
      </p:sp>
      <p:sp>
        <p:nvSpPr>
          <p:cNvPr id="28" name="Shape 26"/>
          <p:cNvSpPr/>
          <p:nvPr/>
        </p:nvSpPr>
        <p:spPr>
          <a:xfrm>
            <a:off x="5946775" y="3368477"/>
            <a:ext cx="5429250" cy="725091"/>
          </a:xfrm>
          <a:prstGeom prst="roundRect">
            <a:avLst>
              <a:gd name="adj" fmla="val 10071"/>
            </a:avLst>
          </a:prstGeom>
          <a:solidFill>
            <a:srgbClr val="FCFCFB"/>
          </a:solidFill>
          <a:ln w="6350">
            <a:solidFill>
              <a:srgbClr val="D3DAE1"/>
            </a:solidFill>
            <a:prstDash val="solid"/>
          </a:ln>
        </p:spPr>
      </p:sp>
      <p:sp>
        <p:nvSpPr>
          <p:cNvPr id="29" name="Text 27"/>
          <p:cNvSpPr/>
          <p:nvPr/>
        </p:nvSpPr>
        <p:spPr>
          <a:xfrm>
            <a:off x="6102350" y="3498652"/>
            <a:ext cx="527164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Upravljanje reprodukcijom</a:t>
            </a:r>
            <a:endParaRPr lang="en-US" sz="1200" dirty="0"/>
          </a:p>
        </p:txBody>
      </p:sp>
      <p:sp>
        <p:nvSpPr>
          <p:cNvPr id="30" name="Text 28"/>
          <p:cNvSpPr/>
          <p:nvPr/>
        </p:nvSpPr>
        <p:spPr>
          <a:xfrm>
            <a:off x="6102350" y="3750072"/>
            <a:ext cx="52716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Pokretanje, pauza i zaustavljanje kao kod svake instance.</a:t>
            </a:r>
            <a:endParaRPr lang="en-US" sz="1200" dirty="0"/>
          </a:p>
        </p:txBody>
      </p:sp>
      <p:sp>
        <p:nvSpPr>
          <p:cNvPr id="31" name="Shape 29"/>
          <p:cNvSpPr/>
          <p:nvPr/>
        </p:nvSpPr>
        <p:spPr>
          <a:xfrm>
            <a:off x="812800" y="6209705"/>
            <a:ext cx="10566400" cy="0"/>
          </a:xfrm>
          <a:prstGeom prst="line">
            <a:avLst/>
          </a:prstGeom>
          <a:noFill/>
          <a:ln w="6350">
            <a:solidFill>
              <a:srgbClr val="D3DAE1"/>
            </a:solidFill>
            <a:prstDash val="solid"/>
          </a:ln>
        </p:spPr>
      </p:sp>
      <p:sp>
        <p:nvSpPr>
          <p:cNvPr id="32" name="Text 30"/>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33" name="Text 3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05 · PRIMENA U PLATFORMI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Plan eksperimenta sa skupom SWaT</a:t>
            </a:r>
            <a:endParaRPr lang="en-US" sz="3000" dirty="0"/>
          </a:p>
        </p:txBody>
      </p:sp>
      <p:sp>
        <p:nvSpPr>
          <p:cNvPr id="5" name="Shape 3"/>
          <p:cNvSpPr/>
          <p:nvPr/>
        </p:nvSpPr>
        <p:spPr>
          <a:xfrm>
            <a:off x="815975" y="1676995"/>
            <a:ext cx="10560050" cy="422870"/>
          </a:xfrm>
          <a:prstGeom prst="roundRect">
            <a:avLst>
              <a:gd name="adj" fmla="val 17269"/>
            </a:avLst>
          </a:prstGeom>
          <a:solidFill>
            <a:srgbClr val="FCFCFB"/>
          </a:solidFill>
          <a:ln w="6350">
            <a:solidFill>
              <a:srgbClr val="D3DAE1"/>
            </a:solidFill>
            <a:prstDash val="solid"/>
          </a:ln>
        </p:spPr>
      </p:sp>
      <p:sp>
        <p:nvSpPr>
          <p:cNvPr id="6" name="Text 4"/>
          <p:cNvSpPr/>
          <p:nvPr/>
        </p:nvSpPr>
        <p:spPr>
          <a:xfrm>
            <a:off x="971550" y="1781770"/>
            <a:ext cx="355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01</a:t>
            </a:r>
            <a:endParaRPr lang="en-US" sz="1200" dirty="0"/>
          </a:p>
        </p:txBody>
      </p:sp>
      <p:sp>
        <p:nvSpPr>
          <p:cNvPr id="7" name="Text 5"/>
          <p:cNvSpPr/>
          <p:nvPr/>
        </p:nvSpPr>
        <p:spPr>
          <a:xfrm>
            <a:off x="1428750" y="1781770"/>
            <a:ext cx="41859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Izdvojiti segment sa napadom na prvu fazu</a:t>
            </a:r>
            <a:endParaRPr lang="en-US" sz="1200" dirty="0"/>
          </a:p>
        </p:txBody>
      </p:sp>
      <p:sp>
        <p:nvSpPr>
          <p:cNvPr id="8" name="Text 6"/>
          <p:cNvSpPr/>
          <p:nvPr/>
        </p:nvSpPr>
        <p:spPr>
          <a:xfrm>
            <a:off x="5645150" y="1781770"/>
            <a:ext cx="57425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Normalan rad pre napada, napad i oporavak</a:t>
            </a:r>
            <a:endParaRPr lang="en-US" sz="1200" dirty="0"/>
          </a:p>
        </p:txBody>
      </p:sp>
      <p:sp>
        <p:nvSpPr>
          <p:cNvPr id="9" name="Shape 7"/>
          <p:cNvSpPr/>
          <p:nvPr/>
        </p:nvSpPr>
        <p:spPr>
          <a:xfrm>
            <a:off x="815975" y="2169716"/>
            <a:ext cx="10560050" cy="422870"/>
          </a:xfrm>
          <a:prstGeom prst="roundRect">
            <a:avLst>
              <a:gd name="adj" fmla="val 17269"/>
            </a:avLst>
          </a:prstGeom>
          <a:solidFill>
            <a:srgbClr val="FCFCFB"/>
          </a:solidFill>
          <a:ln w="6350">
            <a:solidFill>
              <a:srgbClr val="D3DAE1"/>
            </a:solidFill>
            <a:prstDash val="solid"/>
          </a:ln>
        </p:spPr>
      </p:sp>
      <p:sp>
        <p:nvSpPr>
          <p:cNvPr id="10" name="Text 8"/>
          <p:cNvSpPr/>
          <p:nvPr/>
        </p:nvSpPr>
        <p:spPr>
          <a:xfrm>
            <a:off x="971550" y="2274491"/>
            <a:ext cx="355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02</a:t>
            </a:r>
            <a:endParaRPr lang="en-US" sz="1200" dirty="0"/>
          </a:p>
        </p:txBody>
      </p:sp>
      <p:sp>
        <p:nvSpPr>
          <p:cNvPr id="11" name="Text 9"/>
          <p:cNvSpPr/>
          <p:nvPr/>
        </p:nvSpPr>
        <p:spPr>
          <a:xfrm>
            <a:off x="1428750" y="2274491"/>
            <a:ext cx="41859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Mapirati LIT101, FIT101, MV101 i P101</a:t>
            </a:r>
            <a:endParaRPr lang="en-US" sz="1200" dirty="0"/>
          </a:p>
        </p:txBody>
      </p:sp>
      <p:sp>
        <p:nvSpPr>
          <p:cNvPr id="12" name="Text 10"/>
          <p:cNvSpPr/>
          <p:nvPr/>
        </p:nvSpPr>
        <p:spPr>
          <a:xfrm>
            <a:off x="5645150" y="2274491"/>
            <a:ext cx="57425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Verzionisana konfiguracija uvoza</a:t>
            </a:r>
            <a:endParaRPr lang="en-US" sz="1200" dirty="0"/>
          </a:p>
        </p:txBody>
      </p:sp>
      <p:sp>
        <p:nvSpPr>
          <p:cNvPr id="13" name="Shape 11"/>
          <p:cNvSpPr/>
          <p:nvPr/>
        </p:nvSpPr>
        <p:spPr>
          <a:xfrm>
            <a:off x="815975" y="2662436"/>
            <a:ext cx="10560050" cy="422870"/>
          </a:xfrm>
          <a:prstGeom prst="roundRect">
            <a:avLst>
              <a:gd name="adj" fmla="val 17269"/>
            </a:avLst>
          </a:prstGeom>
          <a:solidFill>
            <a:srgbClr val="FCFCFB"/>
          </a:solidFill>
          <a:ln w="6350">
            <a:solidFill>
              <a:srgbClr val="D3DAE1"/>
            </a:solidFill>
            <a:prstDash val="solid"/>
          </a:ln>
        </p:spPr>
      </p:sp>
      <p:sp>
        <p:nvSpPr>
          <p:cNvPr id="14" name="Text 12"/>
          <p:cNvSpPr/>
          <p:nvPr/>
        </p:nvSpPr>
        <p:spPr>
          <a:xfrm>
            <a:off x="971550" y="2767211"/>
            <a:ext cx="355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03</a:t>
            </a:r>
            <a:endParaRPr lang="en-US" sz="1200" dirty="0"/>
          </a:p>
        </p:txBody>
      </p:sp>
      <p:sp>
        <p:nvSpPr>
          <p:cNvPr id="15" name="Text 13"/>
          <p:cNvSpPr/>
          <p:nvPr/>
        </p:nvSpPr>
        <p:spPr>
          <a:xfrm>
            <a:off x="1428750" y="2767211"/>
            <a:ext cx="41859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Podesiti alarm visokog nivoa za LIT101</a:t>
            </a:r>
            <a:endParaRPr lang="en-US" sz="1200" dirty="0"/>
          </a:p>
        </p:txBody>
      </p:sp>
      <p:sp>
        <p:nvSpPr>
          <p:cNvPr id="16" name="Text 14"/>
          <p:cNvSpPr/>
          <p:nvPr/>
        </p:nvSpPr>
        <p:spPr>
          <a:xfrm>
            <a:off x="5645150" y="2767211"/>
            <a:ext cx="57425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Prag, histereza i kašnjenje</a:t>
            </a:r>
            <a:endParaRPr lang="en-US" sz="1200" dirty="0"/>
          </a:p>
        </p:txBody>
      </p:sp>
      <p:sp>
        <p:nvSpPr>
          <p:cNvPr id="17" name="Shape 15"/>
          <p:cNvSpPr/>
          <p:nvPr/>
        </p:nvSpPr>
        <p:spPr>
          <a:xfrm>
            <a:off x="815975" y="3155156"/>
            <a:ext cx="10560050" cy="422870"/>
          </a:xfrm>
          <a:prstGeom prst="roundRect">
            <a:avLst>
              <a:gd name="adj" fmla="val 17269"/>
            </a:avLst>
          </a:prstGeom>
          <a:solidFill>
            <a:srgbClr val="FCFCFB"/>
          </a:solidFill>
          <a:ln w="6350">
            <a:solidFill>
              <a:srgbClr val="D3DAE1"/>
            </a:solidFill>
            <a:prstDash val="solid"/>
          </a:ln>
        </p:spPr>
      </p:sp>
      <p:sp>
        <p:nvSpPr>
          <p:cNvPr id="18" name="Text 16"/>
          <p:cNvSpPr/>
          <p:nvPr/>
        </p:nvSpPr>
        <p:spPr>
          <a:xfrm>
            <a:off x="971550" y="3259931"/>
            <a:ext cx="355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04</a:t>
            </a:r>
            <a:endParaRPr lang="en-US" sz="1200" dirty="0"/>
          </a:p>
        </p:txBody>
      </p:sp>
      <p:sp>
        <p:nvSpPr>
          <p:cNvPr id="19" name="Text 17"/>
          <p:cNvSpPr/>
          <p:nvPr/>
        </p:nvSpPr>
        <p:spPr>
          <a:xfrm>
            <a:off x="1428750" y="3259931"/>
            <a:ext cx="41859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Dodati invarijantu ventil i protok</a:t>
            </a:r>
            <a:endParaRPr lang="en-US" sz="1200" dirty="0"/>
          </a:p>
        </p:txBody>
      </p:sp>
      <p:sp>
        <p:nvSpPr>
          <p:cNvPr id="20" name="Text 18"/>
          <p:cNvSpPr/>
          <p:nvPr/>
        </p:nvSpPr>
        <p:spPr>
          <a:xfrm>
            <a:off x="5645150" y="3259931"/>
            <a:ext cx="57425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Otvoren MV101 zahteva protok na FIT101</a:t>
            </a:r>
            <a:endParaRPr lang="en-US" sz="1200" dirty="0"/>
          </a:p>
        </p:txBody>
      </p:sp>
      <p:sp>
        <p:nvSpPr>
          <p:cNvPr id="21" name="Shape 19"/>
          <p:cNvSpPr/>
          <p:nvPr/>
        </p:nvSpPr>
        <p:spPr>
          <a:xfrm>
            <a:off x="815975" y="3647877"/>
            <a:ext cx="10560050" cy="422870"/>
          </a:xfrm>
          <a:prstGeom prst="roundRect">
            <a:avLst>
              <a:gd name="adj" fmla="val 17269"/>
            </a:avLst>
          </a:prstGeom>
          <a:solidFill>
            <a:srgbClr val="FCFCFB"/>
          </a:solidFill>
          <a:ln w="6350">
            <a:solidFill>
              <a:srgbClr val="D3DAE1"/>
            </a:solidFill>
            <a:prstDash val="solid"/>
          </a:ln>
        </p:spPr>
      </p:sp>
      <p:sp>
        <p:nvSpPr>
          <p:cNvPr id="22" name="Text 20"/>
          <p:cNvSpPr/>
          <p:nvPr/>
        </p:nvSpPr>
        <p:spPr>
          <a:xfrm>
            <a:off x="971550" y="3752652"/>
            <a:ext cx="355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05</a:t>
            </a:r>
            <a:endParaRPr lang="en-US" sz="1200" dirty="0"/>
          </a:p>
        </p:txBody>
      </p:sp>
      <p:sp>
        <p:nvSpPr>
          <p:cNvPr id="23" name="Text 21"/>
          <p:cNvSpPr/>
          <p:nvPr/>
        </p:nvSpPr>
        <p:spPr>
          <a:xfrm>
            <a:off x="1428750" y="3752652"/>
            <a:ext cx="41859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Reprodukovati segment uz ubrzanje</a:t>
            </a:r>
            <a:endParaRPr lang="en-US" sz="1200" dirty="0"/>
          </a:p>
        </p:txBody>
      </p:sp>
      <p:sp>
        <p:nvSpPr>
          <p:cNvPr id="24" name="Text 22"/>
          <p:cNvSpPr/>
          <p:nvPr/>
        </p:nvSpPr>
        <p:spPr>
          <a:xfrm>
            <a:off x="5645150" y="3752652"/>
            <a:ext cx="57425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HMI, trend i alarmi rade kao sa simulatorom</a:t>
            </a:r>
            <a:endParaRPr lang="en-US" sz="1200" dirty="0"/>
          </a:p>
        </p:txBody>
      </p:sp>
      <p:sp>
        <p:nvSpPr>
          <p:cNvPr id="25" name="Shape 23"/>
          <p:cNvSpPr/>
          <p:nvPr/>
        </p:nvSpPr>
        <p:spPr>
          <a:xfrm>
            <a:off x="815975" y="4140597"/>
            <a:ext cx="10560050" cy="422870"/>
          </a:xfrm>
          <a:prstGeom prst="roundRect">
            <a:avLst>
              <a:gd name="adj" fmla="val 17269"/>
            </a:avLst>
          </a:prstGeom>
          <a:solidFill>
            <a:srgbClr val="FBF1E6"/>
          </a:solidFill>
          <a:ln w="6350">
            <a:solidFill>
              <a:srgbClr val="E9B98C"/>
            </a:solidFill>
            <a:prstDash val="solid"/>
          </a:ln>
        </p:spPr>
      </p:sp>
      <p:sp>
        <p:nvSpPr>
          <p:cNvPr id="26" name="Text 24"/>
          <p:cNvSpPr/>
          <p:nvPr/>
        </p:nvSpPr>
        <p:spPr>
          <a:xfrm>
            <a:off x="971550" y="4245372"/>
            <a:ext cx="355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06</a:t>
            </a:r>
            <a:endParaRPr lang="en-US" sz="1200" dirty="0"/>
          </a:p>
        </p:txBody>
      </p:sp>
      <p:sp>
        <p:nvSpPr>
          <p:cNvPr id="27" name="Text 25"/>
          <p:cNvSpPr/>
          <p:nvPr/>
        </p:nvSpPr>
        <p:spPr>
          <a:xfrm>
            <a:off x="1428750" y="4245372"/>
            <a:ext cx="41859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Uporediti alarme sa oznakom napada</a:t>
            </a:r>
            <a:endParaRPr lang="en-US" sz="1200" dirty="0"/>
          </a:p>
        </p:txBody>
      </p:sp>
      <p:sp>
        <p:nvSpPr>
          <p:cNvPr id="28" name="Text 26"/>
          <p:cNvSpPr/>
          <p:nvPr/>
        </p:nvSpPr>
        <p:spPr>
          <a:xfrm>
            <a:off x="5645150" y="4245372"/>
            <a:ext cx="57425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Preciznost, odziv i vreme do detekcije</a:t>
            </a:r>
            <a:endParaRPr lang="en-US" sz="1200" dirty="0"/>
          </a:p>
        </p:txBody>
      </p:sp>
      <p:sp>
        <p:nvSpPr>
          <p:cNvPr id="29" name="Text 27"/>
          <p:cNvSpPr/>
          <p:nvPr/>
        </p:nvSpPr>
        <p:spPr>
          <a:xfrm>
            <a:off x="812800" y="482064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Eksperiment je planiran. Rezultati će biti prikazani nakon realizacije uvoza u platformi.</a:t>
            </a:r>
            <a:endParaRPr lang="en-US" sz="1200" dirty="0"/>
          </a:p>
        </p:txBody>
      </p:sp>
      <p:sp>
        <p:nvSpPr>
          <p:cNvPr id="30" name="Shape 28"/>
          <p:cNvSpPr/>
          <p:nvPr/>
        </p:nvSpPr>
        <p:spPr>
          <a:xfrm>
            <a:off x="812800" y="6209705"/>
            <a:ext cx="10566400" cy="0"/>
          </a:xfrm>
          <a:prstGeom prst="line">
            <a:avLst/>
          </a:prstGeom>
          <a:noFill/>
          <a:ln w="6350">
            <a:solidFill>
              <a:srgbClr val="D3DAE1"/>
            </a:solidFill>
            <a:prstDash val="solid"/>
          </a:ln>
        </p:spPr>
      </p:sp>
      <p:sp>
        <p:nvSpPr>
          <p:cNvPr id="31" name="Text 29"/>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32" name="Text 3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EBF0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ZAVRŠNI DEO</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Zaključak</a:t>
            </a:r>
            <a:endParaRPr lang="en-US" sz="3000" dirty="0"/>
          </a:p>
        </p:txBody>
      </p:sp>
      <p:sp>
        <p:nvSpPr>
          <p:cNvPr id="5" name="Shape 3"/>
          <p:cNvSpPr/>
          <p:nvPr/>
        </p:nvSpPr>
        <p:spPr>
          <a:xfrm>
            <a:off x="815975" y="1626195"/>
            <a:ext cx="5213350" cy="951111"/>
          </a:xfrm>
          <a:prstGeom prst="roundRect">
            <a:avLst>
              <a:gd name="adj" fmla="val 10348"/>
            </a:avLst>
          </a:prstGeom>
          <a:solidFill>
            <a:srgbClr val="FCFCFB"/>
          </a:solidFill>
          <a:ln w="6350">
            <a:solidFill>
              <a:srgbClr val="C3CEDA"/>
            </a:solidFill>
            <a:prstDash val="solid"/>
          </a:ln>
        </p:spPr>
      </p:sp>
      <p:sp>
        <p:nvSpPr>
          <p:cNvPr id="6" name="Text 4"/>
          <p:cNvSpPr/>
          <p:nvPr/>
        </p:nvSpPr>
        <p:spPr>
          <a:xfrm>
            <a:off x="1022350" y="1769070"/>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A5CA8"/>
                </a:solidFill>
                <a:latin typeface="IBM Plex Mono" pitchFamily="49" charset="0"/>
                <a:ea typeface="IBM Plex Mono" pitchFamily="49" charset="-122"/>
                <a:cs typeface="IBM Plex Mono" pitchFamily="49" charset="-120"/>
              </a:rPr>
              <a:t>01</a:t>
            </a:r>
            <a:endParaRPr lang="en-US" sz="2200" dirty="0"/>
          </a:p>
        </p:txBody>
      </p:sp>
      <p:sp>
        <p:nvSpPr>
          <p:cNvPr id="7" name="Text 5"/>
          <p:cNvSpPr/>
          <p:nvPr/>
        </p:nvSpPr>
        <p:spPr>
          <a:xfrm>
            <a:off x="1510109" y="1769070"/>
            <a:ext cx="44422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Javni podaci</a:t>
            </a:r>
            <a:endParaRPr lang="en-US" sz="1400" dirty="0"/>
          </a:p>
        </p:txBody>
      </p:sp>
      <p:sp>
        <p:nvSpPr>
          <p:cNvPr id="8" name="Text 6"/>
          <p:cNvSpPr/>
          <p:nvPr/>
        </p:nvSpPr>
        <p:spPr>
          <a:xfrm>
            <a:off x="1510109" y="2007791"/>
            <a:ext cx="44422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Omogućavaju istraživanje bez pristupa stvarnim postrojenjima, ali imaju jasna ograničenja.</a:t>
            </a:r>
            <a:endParaRPr lang="en-US" sz="1200" dirty="0"/>
          </a:p>
        </p:txBody>
      </p:sp>
      <p:sp>
        <p:nvSpPr>
          <p:cNvPr id="9" name="Shape 7"/>
          <p:cNvSpPr/>
          <p:nvPr/>
        </p:nvSpPr>
        <p:spPr>
          <a:xfrm>
            <a:off x="6162675" y="1626195"/>
            <a:ext cx="5213350" cy="951111"/>
          </a:xfrm>
          <a:prstGeom prst="roundRect">
            <a:avLst>
              <a:gd name="adj" fmla="val 10348"/>
            </a:avLst>
          </a:prstGeom>
          <a:solidFill>
            <a:srgbClr val="FCFCFB"/>
          </a:solidFill>
          <a:ln w="6350">
            <a:solidFill>
              <a:srgbClr val="C3CEDA"/>
            </a:solidFill>
            <a:prstDash val="solid"/>
          </a:ln>
        </p:spPr>
      </p:sp>
      <p:sp>
        <p:nvSpPr>
          <p:cNvPr id="10" name="Text 8"/>
          <p:cNvSpPr/>
          <p:nvPr/>
        </p:nvSpPr>
        <p:spPr>
          <a:xfrm>
            <a:off x="6369050" y="1769070"/>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A5CA8"/>
                </a:solidFill>
                <a:latin typeface="IBM Plex Mono" pitchFamily="49" charset="0"/>
                <a:ea typeface="IBM Plex Mono" pitchFamily="49" charset="-122"/>
                <a:cs typeface="IBM Plex Mono" pitchFamily="49" charset="-120"/>
              </a:rPr>
              <a:t>02</a:t>
            </a:r>
            <a:endParaRPr lang="en-US" sz="2200" dirty="0"/>
          </a:p>
        </p:txBody>
      </p:sp>
      <p:sp>
        <p:nvSpPr>
          <p:cNvPr id="11" name="Text 9"/>
          <p:cNvSpPr/>
          <p:nvPr/>
        </p:nvSpPr>
        <p:spPr>
          <a:xfrm>
            <a:off x="6856809" y="1769070"/>
            <a:ext cx="44422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Analiza</a:t>
            </a:r>
            <a:endParaRPr lang="en-US" sz="1400" dirty="0"/>
          </a:p>
        </p:txBody>
      </p:sp>
      <p:sp>
        <p:nvSpPr>
          <p:cNvPr id="12" name="Text 10"/>
          <p:cNvSpPr/>
          <p:nvPr/>
        </p:nvSpPr>
        <p:spPr>
          <a:xfrm>
            <a:off x="6856809" y="2007791"/>
            <a:ext cx="45160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Pravilna priprema i evaluacija važnije su od složenosti modela.</a:t>
            </a:r>
            <a:endParaRPr lang="en-US" sz="1200" dirty="0"/>
          </a:p>
        </p:txBody>
      </p:sp>
      <p:sp>
        <p:nvSpPr>
          <p:cNvPr id="13" name="Shape 11"/>
          <p:cNvSpPr/>
          <p:nvPr/>
        </p:nvSpPr>
        <p:spPr>
          <a:xfrm>
            <a:off x="815975" y="2710656"/>
            <a:ext cx="5213350" cy="951111"/>
          </a:xfrm>
          <a:prstGeom prst="roundRect">
            <a:avLst>
              <a:gd name="adj" fmla="val 10348"/>
            </a:avLst>
          </a:prstGeom>
          <a:solidFill>
            <a:srgbClr val="FCFCFB"/>
          </a:solidFill>
          <a:ln w="6350">
            <a:solidFill>
              <a:srgbClr val="C3CEDA"/>
            </a:solidFill>
            <a:prstDash val="solid"/>
          </a:ln>
        </p:spPr>
      </p:sp>
      <p:sp>
        <p:nvSpPr>
          <p:cNvPr id="14" name="Text 12"/>
          <p:cNvSpPr/>
          <p:nvPr/>
        </p:nvSpPr>
        <p:spPr>
          <a:xfrm>
            <a:off x="1022350" y="285353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A5CA8"/>
                </a:solidFill>
                <a:latin typeface="IBM Plex Mono" pitchFamily="49" charset="0"/>
                <a:ea typeface="IBM Plex Mono" pitchFamily="49" charset="-122"/>
                <a:cs typeface="IBM Plex Mono" pitchFamily="49" charset="-120"/>
              </a:rPr>
              <a:t>03</a:t>
            </a:r>
            <a:endParaRPr lang="en-US" sz="2200" dirty="0"/>
          </a:p>
        </p:txBody>
      </p:sp>
      <p:sp>
        <p:nvSpPr>
          <p:cNvPr id="15" name="Text 13"/>
          <p:cNvSpPr/>
          <p:nvPr/>
        </p:nvSpPr>
        <p:spPr>
          <a:xfrm>
            <a:off x="1510109" y="2853531"/>
            <a:ext cx="44422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SWaT i HAI</a:t>
            </a:r>
            <a:endParaRPr lang="en-US" sz="1400" dirty="0"/>
          </a:p>
        </p:txBody>
      </p:sp>
      <p:sp>
        <p:nvSpPr>
          <p:cNvPr id="16" name="Text 14"/>
          <p:cNvSpPr/>
          <p:nvPr/>
        </p:nvSpPr>
        <p:spPr>
          <a:xfrm>
            <a:off x="1510109" y="3092252"/>
            <a:ext cx="44422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Dopunjuju se po vrsti postrojenja, sadržaju i načinu pristupa.</a:t>
            </a:r>
            <a:endParaRPr lang="en-US" sz="1200" dirty="0"/>
          </a:p>
        </p:txBody>
      </p:sp>
      <p:sp>
        <p:nvSpPr>
          <p:cNvPr id="17" name="Shape 15"/>
          <p:cNvSpPr/>
          <p:nvPr/>
        </p:nvSpPr>
        <p:spPr>
          <a:xfrm>
            <a:off x="6162675" y="2710656"/>
            <a:ext cx="5213350" cy="951111"/>
          </a:xfrm>
          <a:prstGeom prst="roundRect">
            <a:avLst>
              <a:gd name="adj" fmla="val 10348"/>
            </a:avLst>
          </a:prstGeom>
          <a:solidFill>
            <a:srgbClr val="FCFCFB"/>
          </a:solidFill>
          <a:ln w="6350">
            <a:solidFill>
              <a:srgbClr val="C3CEDA"/>
            </a:solidFill>
            <a:prstDash val="solid"/>
          </a:ln>
        </p:spPr>
      </p:sp>
      <p:sp>
        <p:nvSpPr>
          <p:cNvPr id="18" name="Text 16"/>
          <p:cNvSpPr/>
          <p:nvPr/>
        </p:nvSpPr>
        <p:spPr>
          <a:xfrm>
            <a:off x="6369050" y="285353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A5CA8"/>
                </a:solidFill>
                <a:latin typeface="IBM Plex Mono" pitchFamily="49" charset="0"/>
                <a:ea typeface="IBM Plex Mono" pitchFamily="49" charset="-122"/>
                <a:cs typeface="IBM Plex Mono" pitchFamily="49" charset="-120"/>
              </a:rPr>
              <a:t>04</a:t>
            </a:r>
            <a:endParaRPr lang="en-US" sz="2200" dirty="0"/>
          </a:p>
        </p:txBody>
      </p:sp>
      <p:sp>
        <p:nvSpPr>
          <p:cNvPr id="19" name="Text 17"/>
          <p:cNvSpPr/>
          <p:nvPr/>
        </p:nvSpPr>
        <p:spPr>
          <a:xfrm>
            <a:off x="6856809" y="2853531"/>
            <a:ext cx="44422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Informacioni sistemi</a:t>
            </a:r>
            <a:endParaRPr lang="en-US" sz="1400" dirty="0"/>
          </a:p>
        </p:txBody>
      </p:sp>
      <p:sp>
        <p:nvSpPr>
          <p:cNvPr id="20" name="Text 18"/>
          <p:cNvSpPr/>
          <p:nvPr/>
        </p:nvSpPr>
        <p:spPr>
          <a:xfrm>
            <a:off x="6856809" y="3092252"/>
            <a:ext cx="44422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Vrednost podataka zavisi od njihovog integriteta, porekla i odgovornog deljenja.</a:t>
            </a:r>
            <a:endParaRPr lang="en-US" sz="1200" dirty="0"/>
          </a:p>
        </p:txBody>
      </p:sp>
      <p:sp>
        <p:nvSpPr>
          <p:cNvPr id="21" name="Shape 19"/>
          <p:cNvSpPr/>
          <p:nvPr/>
        </p:nvSpPr>
        <p:spPr>
          <a:xfrm>
            <a:off x="815975" y="3795117"/>
            <a:ext cx="10560050" cy="737791"/>
          </a:xfrm>
          <a:prstGeom prst="roundRect">
            <a:avLst>
              <a:gd name="adj" fmla="val 13340"/>
            </a:avLst>
          </a:prstGeom>
          <a:solidFill>
            <a:srgbClr val="FCFCFB"/>
          </a:solidFill>
          <a:ln w="6350">
            <a:solidFill>
              <a:srgbClr val="C3CEDA"/>
            </a:solidFill>
            <a:prstDash val="solid"/>
          </a:ln>
        </p:spPr>
      </p:sp>
      <p:sp>
        <p:nvSpPr>
          <p:cNvPr id="22" name="Text 20"/>
          <p:cNvSpPr/>
          <p:nvPr/>
        </p:nvSpPr>
        <p:spPr>
          <a:xfrm>
            <a:off x="1022350" y="3937992"/>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A5CA8"/>
                </a:solidFill>
                <a:latin typeface="IBM Plex Mono" pitchFamily="49" charset="0"/>
                <a:ea typeface="IBM Plex Mono" pitchFamily="49" charset="-122"/>
                <a:cs typeface="IBM Plex Mono" pitchFamily="49" charset="-120"/>
              </a:rPr>
              <a:t>05</a:t>
            </a:r>
            <a:endParaRPr lang="en-US" sz="2200" dirty="0"/>
          </a:p>
        </p:txBody>
      </p:sp>
      <p:sp>
        <p:nvSpPr>
          <p:cNvPr id="23" name="Text 21"/>
          <p:cNvSpPr/>
          <p:nvPr/>
        </p:nvSpPr>
        <p:spPr>
          <a:xfrm>
            <a:off x="1510109" y="3937992"/>
            <a:ext cx="99493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Primena u platformi</a:t>
            </a:r>
            <a:endParaRPr lang="en-US" sz="1400" dirty="0"/>
          </a:p>
        </p:txBody>
      </p:sp>
      <p:sp>
        <p:nvSpPr>
          <p:cNvPr id="24" name="Text 22"/>
          <p:cNvSpPr/>
          <p:nvPr/>
        </p:nvSpPr>
        <p:spPr>
          <a:xfrm>
            <a:off x="1510109" y="4176712"/>
            <a:ext cx="99493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Zahvaljujući zajedničkom portu, javni skup se u platformi SCADALattice reprodukuje kao simulator, uz isti model kvaliteta, alarme i prikaze.</a:t>
            </a:r>
            <a:endParaRPr lang="en-US" sz="1200" dirty="0"/>
          </a:p>
        </p:txBody>
      </p:sp>
      <p:sp>
        <p:nvSpPr>
          <p:cNvPr id="25" name="Shape 23"/>
          <p:cNvSpPr/>
          <p:nvPr/>
        </p:nvSpPr>
        <p:spPr>
          <a:xfrm>
            <a:off x="812800" y="6209705"/>
            <a:ext cx="10566400" cy="0"/>
          </a:xfrm>
          <a:prstGeom prst="line">
            <a:avLst/>
          </a:prstGeom>
          <a:noFill/>
          <a:ln w="6350">
            <a:solidFill>
              <a:srgbClr val="C3CEDA"/>
            </a:solidFill>
            <a:prstDash val="solid"/>
          </a:ln>
        </p:spPr>
      </p:sp>
      <p:sp>
        <p:nvSpPr>
          <p:cNvPr id="26" name="Text 24"/>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27" name="Text 2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ZAVRŠNI DEO</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Literatura</a:t>
            </a:r>
            <a:endParaRPr lang="en-US" sz="3000" dirty="0"/>
          </a:p>
        </p:txBody>
      </p:sp>
      <p:sp>
        <p:nvSpPr>
          <p:cNvPr id="5" name="Text 3"/>
          <p:cNvSpPr/>
          <p:nvPr/>
        </p:nvSpPr>
        <p:spPr>
          <a:xfrm>
            <a:off x="812800" y="1597620"/>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[1]</a:t>
            </a:r>
            <a:endParaRPr lang="en-US" sz="1200" dirty="0"/>
          </a:p>
        </p:txBody>
      </p:sp>
      <p:sp>
        <p:nvSpPr>
          <p:cNvPr id="6" name="Text 4"/>
          <p:cNvSpPr/>
          <p:nvPr/>
        </p:nvSpPr>
        <p:spPr>
          <a:xfrm>
            <a:off x="1371600" y="1597620"/>
            <a:ext cx="1030782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J. Goh, S. Adepu, K. N. Junejo, A. Mathur, „A Dataset to Support Research in the Design of Secure Water Treatment Systems”, CRITIS, 2016.</a:t>
            </a:r>
            <a:endParaRPr lang="en-US" sz="1200" dirty="0"/>
          </a:p>
        </p:txBody>
      </p:sp>
      <p:sp>
        <p:nvSpPr>
          <p:cNvPr id="7" name="Text 5"/>
          <p:cNvSpPr/>
          <p:nvPr/>
        </p:nvSpPr>
        <p:spPr>
          <a:xfrm>
            <a:off x="812800" y="1861741"/>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[2]</a:t>
            </a:r>
            <a:endParaRPr lang="en-US" sz="1200" dirty="0"/>
          </a:p>
        </p:txBody>
      </p:sp>
      <p:sp>
        <p:nvSpPr>
          <p:cNvPr id="8" name="Text 6"/>
          <p:cNvSpPr/>
          <p:nvPr/>
        </p:nvSpPr>
        <p:spPr>
          <a:xfrm>
            <a:off x="1371600" y="1861741"/>
            <a:ext cx="1030782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A. P. Mathur, N. O. Tippenhauer, „SWaT: A Water Treatment Testbed for Research and Training on ICS Security”, CySWater, 2016.</a:t>
            </a:r>
            <a:endParaRPr lang="en-US" sz="1200" dirty="0"/>
          </a:p>
        </p:txBody>
      </p:sp>
      <p:sp>
        <p:nvSpPr>
          <p:cNvPr id="9" name="Text 7"/>
          <p:cNvSpPr/>
          <p:nvPr/>
        </p:nvSpPr>
        <p:spPr>
          <a:xfrm>
            <a:off x="812800" y="2125861"/>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[3]</a:t>
            </a:r>
            <a:endParaRPr lang="en-US" sz="1200" dirty="0"/>
          </a:p>
        </p:txBody>
      </p:sp>
      <p:sp>
        <p:nvSpPr>
          <p:cNvPr id="10" name="Text 8"/>
          <p:cNvSpPr/>
          <p:nvPr/>
        </p:nvSpPr>
        <p:spPr>
          <a:xfrm>
            <a:off x="1371600" y="2125861"/>
            <a:ext cx="10307828"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C. M. Ahmed, V. R. Palleti, A. P. Mathur, „WADI: A Water Distribution Testbed for Research in the Design of Secure Cyber Physical Systems”, CySWater, 2017.</a:t>
            </a:r>
            <a:endParaRPr lang="en-US" sz="1200" dirty="0"/>
          </a:p>
        </p:txBody>
      </p:sp>
      <p:sp>
        <p:nvSpPr>
          <p:cNvPr id="11" name="Text 9"/>
          <p:cNvSpPr/>
          <p:nvPr/>
        </p:nvSpPr>
        <p:spPr>
          <a:xfrm>
            <a:off x="812800" y="2588022"/>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[4]</a:t>
            </a:r>
            <a:endParaRPr lang="en-US" sz="1200" dirty="0"/>
          </a:p>
        </p:txBody>
      </p:sp>
      <p:sp>
        <p:nvSpPr>
          <p:cNvPr id="12" name="Text 10"/>
          <p:cNvSpPr/>
          <p:nvPr/>
        </p:nvSpPr>
        <p:spPr>
          <a:xfrm>
            <a:off x="1371600" y="2588022"/>
            <a:ext cx="1030782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H.-K. Shin i dr., „HAI 1.0: HIL-based Augmented ICS Security Dataset”, USENIX CSET, 2020.</a:t>
            </a:r>
            <a:endParaRPr lang="en-US" sz="1200" dirty="0"/>
          </a:p>
        </p:txBody>
      </p:sp>
      <p:sp>
        <p:nvSpPr>
          <p:cNvPr id="13" name="Text 11"/>
          <p:cNvSpPr/>
          <p:nvPr/>
        </p:nvSpPr>
        <p:spPr>
          <a:xfrm>
            <a:off x="812800" y="2852142"/>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[5]</a:t>
            </a:r>
            <a:endParaRPr lang="en-US" sz="1200" dirty="0"/>
          </a:p>
        </p:txBody>
      </p:sp>
      <p:sp>
        <p:nvSpPr>
          <p:cNvPr id="14" name="Text 12"/>
          <p:cNvSpPr/>
          <p:nvPr/>
        </p:nvSpPr>
        <p:spPr>
          <a:xfrm>
            <a:off x="1371600" y="2852142"/>
            <a:ext cx="1030782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H.-K. Shin i dr., „Two ICS Security Datasets and Anomaly Detection Contest on the HIL-based Augmented ICS Testbed”, CSET, 2021.</a:t>
            </a:r>
            <a:endParaRPr lang="en-US" sz="1200" dirty="0"/>
          </a:p>
        </p:txBody>
      </p:sp>
      <p:sp>
        <p:nvSpPr>
          <p:cNvPr id="15" name="Text 13"/>
          <p:cNvSpPr/>
          <p:nvPr/>
        </p:nvSpPr>
        <p:spPr>
          <a:xfrm>
            <a:off x="812800" y="3116263"/>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[6]</a:t>
            </a:r>
            <a:endParaRPr lang="en-US" sz="1200" dirty="0"/>
          </a:p>
        </p:txBody>
      </p:sp>
      <p:sp>
        <p:nvSpPr>
          <p:cNvPr id="16" name="Text 14"/>
          <p:cNvSpPr/>
          <p:nvPr/>
        </p:nvSpPr>
        <p:spPr>
          <a:xfrm>
            <a:off x="1371600" y="3116263"/>
            <a:ext cx="10307828"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R. Taormina i dr., „Battle of the Attack Detection Algorithms: Disclosing Cyber Attacks on Water Distribution Networks”, J. Water Resour. Plan. Manage., 2018.</a:t>
            </a:r>
            <a:endParaRPr lang="en-US" sz="1200" dirty="0"/>
          </a:p>
        </p:txBody>
      </p:sp>
      <p:sp>
        <p:nvSpPr>
          <p:cNvPr id="17" name="Text 15"/>
          <p:cNvSpPr/>
          <p:nvPr/>
        </p:nvSpPr>
        <p:spPr>
          <a:xfrm>
            <a:off x="812800" y="3578423"/>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[7]</a:t>
            </a:r>
            <a:endParaRPr lang="en-US" sz="1200" dirty="0"/>
          </a:p>
        </p:txBody>
      </p:sp>
      <p:sp>
        <p:nvSpPr>
          <p:cNvPr id="18" name="Text 16"/>
          <p:cNvSpPr/>
          <p:nvPr/>
        </p:nvSpPr>
        <p:spPr>
          <a:xfrm>
            <a:off x="1371600" y="3578423"/>
            <a:ext cx="10307828"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M. Conti, D. Donadel, F. Turrin, „A Survey on Industrial Control System Testbeds and Datasets for Security Research”, IEEE Commun. Surveys Tuts., 2021.</a:t>
            </a:r>
            <a:endParaRPr lang="en-US" sz="1200" dirty="0"/>
          </a:p>
        </p:txBody>
      </p:sp>
      <p:sp>
        <p:nvSpPr>
          <p:cNvPr id="19" name="Text 17"/>
          <p:cNvSpPr/>
          <p:nvPr/>
        </p:nvSpPr>
        <p:spPr>
          <a:xfrm>
            <a:off x="812800" y="4040584"/>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[8]</a:t>
            </a:r>
            <a:endParaRPr lang="en-US" sz="1200" dirty="0"/>
          </a:p>
        </p:txBody>
      </p:sp>
      <p:sp>
        <p:nvSpPr>
          <p:cNvPr id="20" name="Text 18"/>
          <p:cNvSpPr/>
          <p:nvPr/>
        </p:nvSpPr>
        <p:spPr>
          <a:xfrm>
            <a:off x="1371600" y="4040584"/>
            <a:ext cx="1030782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A. Tantawy, „On the Elements of Datasets for Cyber Physical Systems Security”, arXiv:2208.08255, 2022.</a:t>
            </a:r>
            <a:endParaRPr lang="en-US" sz="1200" dirty="0"/>
          </a:p>
        </p:txBody>
      </p:sp>
      <p:sp>
        <p:nvSpPr>
          <p:cNvPr id="21" name="Text 19"/>
          <p:cNvSpPr/>
          <p:nvPr/>
        </p:nvSpPr>
        <p:spPr>
          <a:xfrm>
            <a:off x="812800" y="4304705"/>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[9]</a:t>
            </a:r>
            <a:endParaRPr lang="en-US" sz="1200" dirty="0"/>
          </a:p>
        </p:txBody>
      </p:sp>
      <p:sp>
        <p:nvSpPr>
          <p:cNvPr id="22" name="Text 20"/>
          <p:cNvSpPr/>
          <p:nvPr/>
        </p:nvSpPr>
        <p:spPr>
          <a:xfrm>
            <a:off x="1371600" y="4304705"/>
            <a:ext cx="1030782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M. D. Wilkinson i dr., „The FAIR Guiding Principles for Scientific Data Management and Stewardship”, Scientific Data, 2016.</a:t>
            </a:r>
            <a:endParaRPr lang="en-US" sz="1200" dirty="0"/>
          </a:p>
        </p:txBody>
      </p:sp>
      <p:sp>
        <p:nvSpPr>
          <p:cNvPr id="23" name="Text 21"/>
          <p:cNvSpPr/>
          <p:nvPr/>
        </p:nvSpPr>
        <p:spPr>
          <a:xfrm>
            <a:off x="812800" y="4568825"/>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[10]</a:t>
            </a:r>
            <a:endParaRPr lang="en-US" sz="1200" dirty="0"/>
          </a:p>
        </p:txBody>
      </p:sp>
      <p:sp>
        <p:nvSpPr>
          <p:cNvPr id="24" name="Text 22"/>
          <p:cNvSpPr/>
          <p:nvPr/>
        </p:nvSpPr>
        <p:spPr>
          <a:xfrm>
            <a:off x="1371600" y="4568825"/>
            <a:ext cx="1030782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S. Kim i dr., „Towards a Rigorous Evaluation of Time-Series Anomaly Detection”, AAAI, 2022.</a:t>
            </a:r>
            <a:endParaRPr lang="en-US" sz="1200" dirty="0"/>
          </a:p>
        </p:txBody>
      </p:sp>
      <p:sp>
        <p:nvSpPr>
          <p:cNvPr id="25" name="Text 23"/>
          <p:cNvSpPr/>
          <p:nvPr/>
        </p:nvSpPr>
        <p:spPr>
          <a:xfrm>
            <a:off x="812800" y="4832945"/>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[11]</a:t>
            </a:r>
            <a:endParaRPr lang="en-US" sz="1200" dirty="0"/>
          </a:p>
        </p:txBody>
      </p:sp>
      <p:sp>
        <p:nvSpPr>
          <p:cNvPr id="26" name="Text 24"/>
          <p:cNvSpPr/>
          <p:nvPr/>
        </p:nvSpPr>
        <p:spPr>
          <a:xfrm>
            <a:off x="1371600" y="4832945"/>
            <a:ext cx="1030782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iTrust, SUTD, opisi skupova SWaT i WaDi, sutd.edu.sg/itrust · repozitorijum HAI, github.com/icsdataset/hai.</a:t>
            </a:r>
            <a:endParaRPr lang="en-US" sz="1200" dirty="0"/>
          </a:p>
        </p:txBody>
      </p:sp>
      <p:sp>
        <p:nvSpPr>
          <p:cNvPr id="27" name="Text 25"/>
          <p:cNvSpPr/>
          <p:nvPr/>
        </p:nvSpPr>
        <p:spPr>
          <a:xfrm>
            <a:off x="812800" y="5097066"/>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[12]</a:t>
            </a:r>
            <a:endParaRPr lang="en-US" sz="1200" dirty="0"/>
          </a:p>
        </p:txBody>
      </p:sp>
      <p:sp>
        <p:nvSpPr>
          <p:cNvPr id="28" name="Text 26"/>
          <p:cNvSpPr/>
          <p:nvPr/>
        </p:nvSpPr>
        <p:spPr>
          <a:xfrm>
            <a:off x="1371600" y="5097066"/>
            <a:ext cx="1030782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SCADALattice — Tehnička specifikacija, Projekat 01, Fakultet tehničkih nauka, Novi Sad.</a:t>
            </a:r>
            <a:endParaRPr lang="en-US" sz="1200" dirty="0"/>
          </a:p>
        </p:txBody>
      </p:sp>
      <p:sp>
        <p:nvSpPr>
          <p:cNvPr id="29" name="Shape 27"/>
          <p:cNvSpPr/>
          <p:nvPr/>
        </p:nvSpPr>
        <p:spPr>
          <a:xfrm>
            <a:off x="812800" y="6209705"/>
            <a:ext cx="10566400" cy="0"/>
          </a:xfrm>
          <a:prstGeom prst="line">
            <a:avLst/>
          </a:prstGeom>
          <a:noFill/>
          <a:ln w="6350">
            <a:solidFill>
              <a:srgbClr val="D3DAE1"/>
            </a:solidFill>
            <a:prstDash val="solid"/>
          </a:ln>
        </p:spPr>
      </p:sp>
      <p:sp>
        <p:nvSpPr>
          <p:cNvPr id="30" name="Text 28"/>
          <p:cNvSpPr/>
          <p:nvPr/>
        </p:nvSpPr>
        <p:spPr>
          <a:xfrm>
            <a:off x="812800" y="6314480"/>
            <a:ext cx="184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Javno dostupni podaci</a:t>
            </a:r>
            <a:endParaRPr lang="en-US" sz="1200" dirty="0"/>
          </a:p>
        </p:txBody>
      </p:sp>
      <p:sp>
        <p:nvSpPr>
          <p:cNvPr id="31" name="Text 2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47</a:t>
            </a:r>
            <a:endParaRPr lang="en-US" sz="1200" dirty="0"/>
          </a:p>
        </p:txBody>
      </p:sp>
    </p:spTree>
  </p:cSld>
  <p:clrMapOvr>
    <a:masterClrMapping/>
  </p:clrMapOvr>
</p:sld>
</file>

<file path=ppt/theme/theme1.xml><?xml version="1.0" encoding="utf-8"?>
<a:theme xmlns:a="http://schemas.openxmlformats.org/drawingml/2006/main" name="Javno dostupni podaci u bezbednosti SCADA sistema">
  <a:themeElements>
    <a:clrScheme name="Javno dostupni podaci u bezbednosti SCADA sistema">
      <a:dk1>
        <a:srgbClr val="13202D"/>
      </a:dk1>
      <a:lt1>
        <a:srgbClr val="F6F7F5"/>
      </a:lt1>
      <a:dk2>
        <a:srgbClr val="4C565F"/>
      </a:dk2>
      <a:lt2>
        <a:srgbClr val="DFE2E1"/>
      </a:lt2>
      <a:accent1>
        <a:srgbClr val="0A5CA8"/>
      </a:accent1>
      <a:accent2>
        <a:srgbClr val="A8520A"/>
      </a:accent2>
      <a:accent3>
        <a:srgbClr val="E07B1F"/>
      </a:accent3>
      <a:accent4>
        <a:srgbClr val="C3D7EC"/>
      </a:accent4>
      <a:accent5>
        <a:srgbClr val="8FB0D3"/>
      </a:accent5>
      <a:accent6>
        <a:srgbClr val="44505D"/>
      </a:accent6>
      <a:hlink>
        <a:srgbClr val="0563C1"/>
      </a:hlink>
      <a:folHlink>
        <a:srgbClr val="954F72"/>
      </a:folHlink>
    </a:clrScheme>
    <a:fontScheme name="Javno dostupni podaci u bezbednosti SCADA sistema">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Javno dostupni podaci u bezbednosti SCADA sistema</dc:title>
  <dc:subject/>
  <dc:creator/>
  <cp:lastModifiedBy/>
  <cp:revision>1</cp:revision>
  <dcterms:created xsi:type="dcterms:W3CDTF">2026-10-09T08:40:43Z</dcterms:created>
  <dcterms:modified xsi:type="dcterms:W3CDTF">2026-10-09T08:40:43Z</dcterms:modified>
</cp:coreProperties>
</file>