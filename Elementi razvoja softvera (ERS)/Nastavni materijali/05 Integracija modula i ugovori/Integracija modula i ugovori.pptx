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ове вежбе је интеграција модула. Два модула, Reservations и Inventory, сарађују преко уговора, а не преко директног приступа подацима. Радимо на заједничком извршивом примеру EquipmentReservation, који ћемо до краја семестра надограђивати AI радним током, MCP-ом и guardrails механизмима.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Вежба има пет делова. Прво покрећемо solution и проверавамо смер зависности. Затим гледамо доменско правило и валидацију. Трећи део је централни: уговор између модула Reservations и Inventory, handler и идемпотентност. Четврти део су докази и ризици интеграције, а последњи задатак на вежби и припрема.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 ове вежбе радимо на једном заједничком примеру, EquipmentReservation. Студент прати како се исти систем развија: данас кроз интеграцију модула, а затим кроз контролисан AI радни ток, MCP и guardrails. Улазна тачка је увек исти solution, EquipmentReservation.sln.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део почиње практично: покрећемо пример и проверавамо да ли се компајлира и да ли тестови пролазе. Затим гледамо структуру solution-а и одговорност сваког пројекта.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Прва провера је увек иста и изводи се над целим solution-ом: restore преузима пакете, build компајлира у Release конфигурацији без поновног restore-а, а test покреће тестове над већ изграђеним кодом. Ове команде нису декорација, већ доказ да систем ради. Ако build или неки тест падне, то решавамо пре било какве даље интеграције.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Ово је смер зависности у solution-у. Api зависи од Application, а Application од Domain-а. Infrastructure такође показује ка језгру: зависи од Domain-а и имплементира портове из Application слоја. Api је composition root, па у доњем луку саставља и Infrastructure. Из Domain-а не излази ниједна стрелица. Mcp и Guardrails су развојни алати у истом solution-у, а пословно језгро од њих не зависи. Тестови проверавају слојеве. Важан је смер зависности, а не физички распоред директоријума.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Свих седам пројеката има по једну јасну одговорност. Domain садржи ентитете и правила и нема пројектних зависности. Application садржи случајеве употребе и портове према другим модулима. Infrastructure имплементира те портове. Api је composition root и HTTP граница. Mcp контролисано излаже контекст AI клијенту, Guardrails садржи детерминистичке политике за ризичне позиве, а Tests проверава домен, случајеве употребе и guardrail политике.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Други део је кратак, али важан. Видећемо где се налази пословно правило о залихи и како се разликује од валидације облика и опсега улаза.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Модел InventoryItem носи само стање залихе и не зна ништа о HTTP-у, бази, MCP-у или AI алатима. Правило спроводи доменски сервис InventoryReservationService: количина мора бити позитивна и не сме се резервисати више јединица него што је расположиво. Пример са пет расположивих комада показује три исхода: захтев за три је дозвољен, захтев за шест се одбија, а захтев за нула се одбија јер количина мора бити позитивна. Пошто је правило на једном месту, користе га API, тестови и будући адаптери без дуплирања.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Валидатор проверава облик и опсег улаза. Команда мора постојати, идентификатор захтева не сме бити празан, а количина мора бити позитивна. Сваки неуспех враћа стабилан код из CreateReservationErrorCodes. Валидатор не зна ништа о залихи, то је посао доменског сервиса. Handler позива валидатор пре било ког позива порта, па невалидан захтев никада не стиже до другог модула.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Трећи део је срж вежбе. Модул Reservations треба да резервише залиху у модулу Inventory. Видећемо како то ради преко минималног уговора, како изгледа handler случаја употребе и зашто поновљени захтев не сме да произведе други ефекат.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Модул Reservations не приступа директно залихи. Његов handler зна само за уговор IInventoryModule, који је у апликационом слоју и нуди једну операцију, ReserveAsync. Модул Inventory реализује уговор адаптером у инфраструктури. Обе стрелице показују ка уговору: то је DIP. Уговор је мали и садржи само оно што случају употребе треба: то је ISP. Уговор не сме да прослеђује ORM ентитет, да отвара интерно складиште другог модула нити да на други начин крши његову границу.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Уговор има два дела. Захтев је непроменљив record са три поља: опрема, количина и идентификатор резервације. Сам порт има једну асинхрону операцију која враћа Result и прима CancellationToken. Порт живи у апликационом слоју, инфраструктура га реализује, а случај употребе не зна ништа о томе како Inventory интерно чува залиху.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Handler је подељен на два слајда. Први део штити улаз у сценарио. Прво се позива валидатор, па невалидан захтев одмах враћа исход Invalid и никада не стиже до порта. Затим handler узима закључавање по идентификатору захтева, како се исти захтев не би обрађивао два пута истовремено. На крају проверава да ли резервација са истим RequestId већ постоји. Ако постоји, враћа је као поновљени исход, без икаквог новог ефекта.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Други део handler-а је сам пословни ток. Идентификатор резервације долази од генератора, што је још једна зависност коју тест може да контролише. Handler позива Inventory искључиво преко порта. Ако је резервација залихе успела, настаје потврђена резервација, а ако није, одбијена резервација са кодом грешке из Inventory модула. У оба случаја резервација се чува, па је и одбијање траг у систему. На крају handler враћа стабилан исход API слоју. Нумерација линија наставља се на претходни слајд.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Мрежа није поуздана: клијент може да пошаље исти захтев два пута, на пример када не добије одговор на време. Idempotency key, у нашем примеру RequestId, решава тај проблем. Први позив нема постојећу резервацију, позива Inventory и враћа потврђену резервацију. Други позив са истим идентификатором налази постојећу резервацију, не позива Inventory поново и враћа исту резервацију са ознаком да је поновљен. Један захтев има тачно један ефекат.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Тест позива handler два пута са истом командом. Први позив мора да врати потврђену резервацију. Други позив мора да врати исту резервацију са ознаком да је поновљен. Најважнија је последња провера: преостала количина мора бити три, што значи да је залиха смањена само једном. Вредност три зависи од почетне залихе и количине у командама из припреме теста, које на слајду нису приказане.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Четврти део говори о доказима. Интеграција није готова када код ради на нашем рачунару, већ када build, тестови, diff и уговор потврде да је све на свом месту. Прегледаћемо и типичне ризике интеграције и везу са AI радним током.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Четири доказа заједно потврђују интеграцију. Цео solution се компајлира. Пословни и интеграциони сценарији пролазе. Diff показује да је промена ограничена на очекиване слојеве. Уговор између модула је стабилан, односно није се мењао без разлога. Ако било који од четири сигнала изостане, интеграција није завршена.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пројекат је composition root и HTTP граница. Он прима захтев, мапира DTO у команду, позива handler и мапира Result у HTTP одговор. Он не проверава залиху, не мења доменско стање мимо случаја употребе, не чита интерну базу другог модула и не доноси пословне одлуке. Ако у API-ју видите if који проверава количину, правило је на погрешном месту.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 сваки типичан ризик интеграције имамо конкретну проверу. Погрешан смер зависности открива се кроз референце између пројеката и build. Дуплирана правила у API-ју открива преглед кода и diff. Поновљени захтев покрива тест идемпотентности. Порт који пропушта интерне детаље откривамо прегледом апликационог уговора, а увлачење MCP-а или guardrail-а у домен провером правила зависности.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Цео поступак интеграције може се свести на ланац. Случај употребе изражава потребу, порт је уговор, адаптер га реализује, тест доказује понашање, а преглед кода је тренутак када тим прихвата промену. Модули се повезују само преко стабилних уговора са јасним пословним значењем.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Стабилне границе модула директно помажу AI радном току са наредне вежбе. Када су границе јасне, знамо које пројекте измена погађа, знамо шта не сме да се мења, а build, тестови и diff су довољни сигнали да проверимо резултат. Што су границе јасније, то је AI задатак мањи и лакши за проверу.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Последњи део је задатак на вежби, резиме и припрема за наредну вежбу.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вежби отварамо EquipmentReservation.sln и проверавамо build и test команде. Затим тражимо доменско правило и апликациони порт, објашњавамо како CreateReservationHandler користи Inventory модул и показујемо тест који штити идемпотентност или уговор између модула.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Добра интеграција значи да модули сарађују преко јасних уговора, док пословно језгро остаје заштићено од детаља транспорта, складишта и развојних алата. Порт, адаптер, тест и преглед кода су кораци који то обезбеђују. На наредној вежби овај solution користимо за контролисан AI радни ток.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 наредну вежбу забележите како се solution покреће и тестира и опишите границе главних пројеката. Изаберите један мали захтев за промену правила, наведите фајлове које та промена сме да погађа и припремите проверу кроз build, тестове и diff. То је улаз за контролисан AI радни ток.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2.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5"/>
        </a:solidFill>
      </p:bgPr>
    </p:bg>
    <p:spTree>
      <p:nvGrpSpPr>
        <p:cNvPr id="1" name=""/>
        <p:cNvGrpSpPr/>
        <p:nvPr/>
      </p:nvGrpSpPr>
      <p:grpSpPr>
        <a:xfrm>
          <a:off x="0" y="0"/>
          <a:ext cx="0" cy="0"/>
          <a:chOff x="0" y="0"/>
          <a:chExt cx="0" cy="0"/>
        </a:xfrm>
      </p:grpSpPr>
      <p:pic>
        <p:nvPicPr>
          <p:cNvPr id="2" name="Image 0" descr="Скица интеграције: два модула повезана преко уговора, као утикач и утичница, са потврђеном провером испод">    </p:cNvPr>
          <p:cNvPicPr>
            <a:picLocks noChangeAspect="1"/>
          </p:cNvPicPr>
          <p:nvPr/>
        </p:nvPicPr>
        <p:blipFill>
          <a:blip r:embed="rId1"/>
          <a:srcRect l="0" r="0" t="0" b="0"/>
          <a:stretch/>
        </p:blipFill>
        <p:spPr>
          <a:xfrm>
            <a:off x="7848600" y="1206500"/>
            <a:ext cx="3530600" cy="3530600"/>
          </a:xfrm>
          <a:prstGeom prst="rect">
            <a:avLst/>
          </a:prstGeom>
        </p:spPr>
      </p:pic>
      <p:sp>
        <p:nvSpPr>
          <p:cNvPr id="3" name="Text 0"/>
          <p:cNvSpPr/>
          <p:nvPr/>
        </p:nvSpPr>
        <p:spPr>
          <a:xfrm>
            <a:off x="812800" y="812800"/>
            <a:ext cx="6932930" cy="4826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3A46A5"/>
                </a:solidFill>
                <a:latin typeface="IBM Plex Mono" pitchFamily="49" charset="0"/>
                <a:ea typeface="IBM Plex Mono" pitchFamily="49" charset="-122"/>
                <a:cs typeface="IBM Plex Mono" pitchFamily="49" charset="-120"/>
              </a:rPr>
              <a:t>ПРИМЕЊЕНО СОФТВЕРСКО ИНЖЕЊЕРСТВО</a:t>
            </a:r>
            <a:endParaRPr lang="en-US" sz="1200" dirty="0"/>
          </a:p>
          <a:p>
            <a:pPr algn="l" indent="0" marL="0">
              <a:lnSpc>
                <a:spcPts val="1800"/>
              </a:lnSpc>
              <a:buNone/>
            </a:pPr>
            <a:r>
              <a:rPr lang="en-US" sz="1200" spc="100" kern="0" dirty="0">
                <a:solidFill>
                  <a:srgbClr val="3A46A5"/>
                </a:solidFill>
                <a:latin typeface="IBM Plex Mono" pitchFamily="49" charset="0"/>
                <a:ea typeface="IBM Plex Mono" pitchFamily="49" charset="-122"/>
                <a:cs typeface="IBM Plex Mono" pitchFamily="49" charset="-120"/>
              </a:rPr>
              <a:t>ЕЛЕМЕНТИ РАЗВОЈА СОФТВЕРА</a:t>
            </a:r>
            <a:endParaRPr lang="en-US" sz="1200" dirty="0"/>
          </a:p>
        </p:txBody>
      </p:sp>
      <p:sp>
        <p:nvSpPr>
          <p:cNvPr id="4" name="Text 1"/>
          <p:cNvSpPr/>
          <p:nvPr>
            <p:ph type="title"/>
          </p:nvPr>
        </p:nvSpPr>
        <p:spPr>
          <a:xfrm>
            <a:off x="812800" y="1447800"/>
            <a:ext cx="6932930" cy="1252141"/>
          </a:xfrm>
          <a:prstGeom prst="rect">
            <a:avLst/>
          </a:prstGeom>
          <a:noFill/>
          <a:ln/>
        </p:spPr>
        <p:txBody>
          <a:bodyPr wrap="square" lIns="0" tIns="0" rIns="0" bIns="0" rtlCol="0" anchor="t">
            <a:normAutofit/>
          </a:bodyPr>
          <a:lstStyle/>
          <a:p>
            <a:pPr algn="l" indent="0" marL="0">
              <a:lnSpc>
                <a:spcPts val="4830"/>
              </a:lnSpc>
              <a:buNone/>
            </a:pPr>
            <a:r>
              <a:rPr lang="en-US" sz="4600" b="1" i="0" spc="-100" kern="0" dirty="0">
                <a:solidFill>
                  <a:srgbClr val="13202D"/>
                </a:solidFill>
                <a:latin typeface="IBM Plex Sans" pitchFamily="34" charset="0"/>
                <a:ea typeface="IBM Plex Sans" pitchFamily="34" charset="-122"/>
                <a:cs typeface="IBM Plex Sans" pitchFamily="34" charset="-120"/>
              </a:rPr>
              <a:t>Интеграција модула, уговори и подаци</a:t>
            </a:r>
            <a:endParaRPr lang="en-US" sz="4600" dirty="0"/>
          </a:p>
        </p:txBody>
      </p:sp>
      <p:sp>
        <p:nvSpPr>
          <p:cNvPr id="5" name="Text 2"/>
          <p:cNvSpPr/>
          <p:nvPr/>
        </p:nvSpPr>
        <p:spPr>
          <a:xfrm>
            <a:off x="812800" y="2852341"/>
            <a:ext cx="62788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D"/>
                </a:solidFill>
                <a:latin typeface="IBM Plex Sans" pitchFamily="34" charset="0"/>
                <a:ea typeface="IBM Plex Sans" pitchFamily="34" charset="-122"/>
                <a:cs typeface="IBM Plex Sans" pitchFamily="34" charset="-120"/>
              </a:rPr>
              <a:t>EquipmentReservation као извршива основа за интеграцију модула и наставак развоја.</a:t>
            </a:r>
            <a:endParaRPr lang="en-US" sz="1600" dirty="0"/>
          </a:p>
        </p:txBody>
      </p:sp>
      <p:sp>
        <p:nvSpPr>
          <p:cNvPr id="6" name="Shape 3"/>
          <p:cNvSpPr/>
          <p:nvPr/>
        </p:nvSpPr>
        <p:spPr>
          <a:xfrm>
            <a:off x="812800" y="5376664"/>
            <a:ext cx="6731000" cy="0"/>
          </a:xfrm>
          <a:prstGeom prst="line">
            <a:avLst/>
          </a:prstGeom>
          <a:noFill/>
          <a:ln w="6350">
            <a:solidFill>
              <a:srgbClr val="D3DAE1"/>
            </a:solidFill>
            <a:prstDash val="solid"/>
          </a:ln>
        </p:spPr>
      </p:sp>
      <p:sp>
        <p:nvSpPr>
          <p:cNvPr id="7" name="Text 4"/>
          <p:cNvSpPr/>
          <p:nvPr/>
        </p:nvSpPr>
        <p:spPr>
          <a:xfrm>
            <a:off x="812800" y="5532239"/>
            <a:ext cx="69329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Факултет техничких наука · Универзитет у Новом Саду</a:t>
            </a:r>
            <a:endParaRPr lang="en-US" sz="1400" dirty="0"/>
          </a:p>
        </p:txBody>
      </p:sp>
      <p:sp>
        <p:nvSpPr>
          <p:cNvPr id="8" name="Text 5"/>
          <p:cNvSpPr/>
          <p:nvPr/>
        </p:nvSpPr>
        <p:spPr>
          <a:xfrm>
            <a:off x="812800" y="5831880"/>
            <a:ext cx="6932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Нови Сад</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ПРЕГЛЕД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Садржај презентације</a:t>
            </a:r>
            <a:endParaRPr lang="en-US" sz="3000" dirty="0"/>
          </a:p>
        </p:txBody>
      </p:sp>
      <p:sp>
        <p:nvSpPr>
          <p:cNvPr id="5" name="Shape 3"/>
          <p:cNvSpPr/>
          <p:nvPr/>
        </p:nvSpPr>
        <p:spPr>
          <a:xfrm>
            <a:off x="815975" y="1676995"/>
            <a:ext cx="2005310" cy="2543572"/>
          </a:xfrm>
          <a:prstGeom prst="roundRect">
            <a:avLst>
              <a:gd name="adj" fmla="val 4908"/>
            </a:avLst>
          </a:prstGeom>
          <a:solidFill>
            <a:srgbClr val="FCFCFB"/>
          </a:solidFill>
          <a:ln w="6350">
            <a:solidFill>
              <a:srgbClr val="D3DAE1"/>
            </a:solidFill>
            <a:prstDash val="solid"/>
          </a:ln>
        </p:spPr>
      </p:sp>
      <p:sp>
        <p:nvSpPr>
          <p:cNvPr id="6" name="Shape 4"/>
          <p:cNvSpPr/>
          <p:nvPr/>
        </p:nvSpPr>
        <p:spPr>
          <a:xfrm>
            <a:off x="996950" y="1857970"/>
            <a:ext cx="355600" cy="38100"/>
          </a:xfrm>
          <a:prstGeom prst="roundRect">
            <a:avLst>
              <a:gd name="adj" fmla="val 50000"/>
            </a:avLst>
          </a:prstGeom>
          <a:solidFill>
            <a:srgbClr val="3A46A5"/>
          </a:solidFill>
          <a:ln/>
        </p:spPr>
      </p:sp>
      <p:sp>
        <p:nvSpPr>
          <p:cNvPr id="7" name="Text 5"/>
          <p:cNvSpPr/>
          <p:nvPr/>
        </p:nvSpPr>
        <p:spPr>
          <a:xfrm>
            <a:off x="99695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3A46A5"/>
                </a:solidFill>
                <a:latin typeface="IBM Plex Mono" pitchFamily="49" charset="0"/>
                <a:ea typeface="IBM Plex Mono" pitchFamily="49" charset="-122"/>
                <a:cs typeface="IBM Plex Mono" pitchFamily="49" charset="-120"/>
              </a:rPr>
              <a:t>01</a:t>
            </a:r>
            <a:endParaRPr lang="en-US" sz="3000" dirty="0"/>
          </a:p>
        </p:txBody>
      </p:sp>
      <p:sp>
        <p:nvSpPr>
          <p:cNvPr id="8" name="Text 6"/>
          <p:cNvSpPr/>
          <p:nvPr/>
        </p:nvSpPr>
        <p:spPr>
          <a:xfrm>
            <a:off x="99695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Solution и границе</a:t>
            </a:r>
            <a:endParaRPr lang="en-US" sz="1400" dirty="0"/>
          </a:p>
        </p:txBody>
      </p:sp>
      <p:sp>
        <p:nvSpPr>
          <p:cNvPr id="9" name="Text 7"/>
          <p:cNvSpPr/>
          <p:nvPr/>
        </p:nvSpPr>
        <p:spPr>
          <a:xfrm>
            <a:off x="996950" y="2795191"/>
            <a:ext cx="1694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Покретање, смер зависности и одговорности пројеката.</a:t>
            </a:r>
            <a:endParaRPr lang="en-US" sz="1200" dirty="0"/>
          </a:p>
        </p:txBody>
      </p:sp>
      <p:sp>
        <p:nvSpPr>
          <p:cNvPr id="10" name="Text 8"/>
          <p:cNvSpPr/>
          <p:nvPr/>
        </p:nvSpPr>
        <p:spPr>
          <a:xfrm>
            <a:off x="99695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04–07</a:t>
            </a:r>
            <a:endParaRPr lang="en-US" sz="1200" dirty="0"/>
          </a:p>
        </p:txBody>
      </p:sp>
      <p:sp>
        <p:nvSpPr>
          <p:cNvPr id="11" name="Shape 9"/>
          <p:cNvSpPr/>
          <p:nvPr/>
        </p:nvSpPr>
        <p:spPr>
          <a:xfrm>
            <a:off x="2954635" y="1676995"/>
            <a:ext cx="2005409" cy="2543572"/>
          </a:xfrm>
          <a:prstGeom prst="roundRect">
            <a:avLst>
              <a:gd name="adj" fmla="val 4908"/>
            </a:avLst>
          </a:prstGeom>
          <a:solidFill>
            <a:srgbClr val="FCFCFB"/>
          </a:solidFill>
          <a:ln w="6350">
            <a:solidFill>
              <a:srgbClr val="D3DAE1"/>
            </a:solidFill>
            <a:prstDash val="solid"/>
          </a:ln>
        </p:spPr>
      </p:sp>
      <p:sp>
        <p:nvSpPr>
          <p:cNvPr id="12" name="Shape 10"/>
          <p:cNvSpPr/>
          <p:nvPr/>
        </p:nvSpPr>
        <p:spPr>
          <a:xfrm>
            <a:off x="3135610" y="1857970"/>
            <a:ext cx="355600" cy="38100"/>
          </a:xfrm>
          <a:prstGeom prst="roundRect">
            <a:avLst>
              <a:gd name="adj" fmla="val 50000"/>
            </a:avLst>
          </a:prstGeom>
          <a:solidFill>
            <a:srgbClr val="3A46A5"/>
          </a:solidFill>
          <a:ln/>
        </p:spPr>
      </p:sp>
      <p:sp>
        <p:nvSpPr>
          <p:cNvPr id="13" name="Text 11"/>
          <p:cNvSpPr/>
          <p:nvPr/>
        </p:nvSpPr>
        <p:spPr>
          <a:xfrm>
            <a:off x="3135610" y="1984970"/>
            <a:ext cx="1694259"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3A46A5"/>
                </a:solidFill>
                <a:latin typeface="IBM Plex Mono" pitchFamily="49" charset="0"/>
                <a:ea typeface="IBM Plex Mono" pitchFamily="49" charset="-122"/>
                <a:cs typeface="IBM Plex Mono" pitchFamily="49" charset="-120"/>
              </a:rPr>
              <a:t>02</a:t>
            </a:r>
            <a:endParaRPr lang="en-US" sz="3000" dirty="0"/>
          </a:p>
        </p:txBody>
      </p:sp>
      <p:sp>
        <p:nvSpPr>
          <p:cNvPr id="14" name="Text 12"/>
          <p:cNvSpPr/>
          <p:nvPr/>
        </p:nvSpPr>
        <p:spPr>
          <a:xfrm>
            <a:off x="3135610" y="2492970"/>
            <a:ext cx="1694259"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Правило и валидација</a:t>
            </a:r>
            <a:endParaRPr lang="en-US" sz="1400" dirty="0"/>
          </a:p>
        </p:txBody>
      </p:sp>
      <p:sp>
        <p:nvSpPr>
          <p:cNvPr id="15" name="Text 13"/>
          <p:cNvSpPr/>
          <p:nvPr/>
        </p:nvSpPr>
        <p:spPr>
          <a:xfrm>
            <a:off x="3135610" y="3008511"/>
            <a:ext cx="16942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Правило залихе у доменском сервису и валидатор команде.</a:t>
            </a:r>
            <a:endParaRPr lang="en-US" sz="1200" dirty="0"/>
          </a:p>
        </p:txBody>
      </p:sp>
      <p:sp>
        <p:nvSpPr>
          <p:cNvPr id="16" name="Text 14"/>
          <p:cNvSpPr/>
          <p:nvPr/>
        </p:nvSpPr>
        <p:spPr>
          <a:xfrm>
            <a:off x="3135610" y="3826272"/>
            <a:ext cx="1694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08–10</a:t>
            </a:r>
            <a:endParaRPr lang="en-US" sz="1200" dirty="0"/>
          </a:p>
        </p:txBody>
      </p:sp>
      <p:sp>
        <p:nvSpPr>
          <p:cNvPr id="17" name="Shape 15"/>
          <p:cNvSpPr/>
          <p:nvPr/>
        </p:nvSpPr>
        <p:spPr>
          <a:xfrm>
            <a:off x="5093395" y="1676995"/>
            <a:ext cx="2005310" cy="2543572"/>
          </a:xfrm>
          <a:prstGeom prst="roundRect">
            <a:avLst>
              <a:gd name="adj" fmla="val 4908"/>
            </a:avLst>
          </a:prstGeom>
          <a:solidFill>
            <a:srgbClr val="FCFCFB"/>
          </a:solidFill>
          <a:ln w="6350">
            <a:solidFill>
              <a:srgbClr val="D3DAE1"/>
            </a:solidFill>
            <a:prstDash val="solid"/>
          </a:ln>
        </p:spPr>
      </p:sp>
      <p:sp>
        <p:nvSpPr>
          <p:cNvPr id="18" name="Shape 16"/>
          <p:cNvSpPr/>
          <p:nvPr/>
        </p:nvSpPr>
        <p:spPr>
          <a:xfrm>
            <a:off x="5274370" y="1857970"/>
            <a:ext cx="355600" cy="38100"/>
          </a:xfrm>
          <a:prstGeom prst="roundRect">
            <a:avLst>
              <a:gd name="adj" fmla="val 50000"/>
            </a:avLst>
          </a:prstGeom>
          <a:solidFill>
            <a:srgbClr val="3A46A5"/>
          </a:solidFill>
          <a:ln/>
        </p:spPr>
      </p:sp>
      <p:sp>
        <p:nvSpPr>
          <p:cNvPr id="19" name="Text 17"/>
          <p:cNvSpPr/>
          <p:nvPr/>
        </p:nvSpPr>
        <p:spPr>
          <a:xfrm>
            <a:off x="527437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3A46A5"/>
                </a:solidFill>
                <a:latin typeface="IBM Plex Mono" pitchFamily="49" charset="0"/>
                <a:ea typeface="IBM Plex Mono" pitchFamily="49" charset="-122"/>
                <a:cs typeface="IBM Plex Mono" pitchFamily="49" charset="-120"/>
              </a:rPr>
              <a:t>03</a:t>
            </a:r>
            <a:endParaRPr lang="en-US" sz="3000" dirty="0"/>
          </a:p>
        </p:txBody>
      </p:sp>
      <p:sp>
        <p:nvSpPr>
          <p:cNvPr id="20" name="Text 18"/>
          <p:cNvSpPr/>
          <p:nvPr/>
        </p:nvSpPr>
        <p:spPr>
          <a:xfrm>
            <a:off x="5274370" y="2492970"/>
            <a:ext cx="169416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Уговор између модула</a:t>
            </a:r>
            <a:endParaRPr lang="en-US" sz="1400" dirty="0"/>
          </a:p>
        </p:txBody>
      </p:sp>
      <p:sp>
        <p:nvSpPr>
          <p:cNvPr id="21" name="Text 19"/>
          <p:cNvSpPr/>
          <p:nvPr/>
        </p:nvSpPr>
        <p:spPr>
          <a:xfrm>
            <a:off x="5274370" y="3008511"/>
            <a:ext cx="1694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Порт, handler, idempotency key и тест.</a:t>
            </a:r>
            <a:endParaRPr lang="en-US" sz="1200" dirty="0"/>
          </a:p>
        </p:txBody>
      </p:sp>
      <p:sp>
        <p:nvSpPr>
          <p:cNvPr id="22" name="Text 20"/>
          <p:cNvSpPr/>
          <p:nvPr/>
        </p:nvSpPr>
        <p:spPr>
          <a:xfrm>
            <a:off x="527437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11–17</a:t>
            </a:r>
            <a:endParaRPr lang="en-US" sz="1200" dirty="0"/>
          </a:p>
        </p:txBody>
      </p:sp>
      <p:sp>
        <p:nvSpPr>
          <p:cNvPr id="23" name="Shape 21"/>
          <p:cNvSpPr/>
          <p:nvPr/>
        </p:nvSpPr>
        <p:spPr>
          <a:xfrm>
            <a:off x="7232055" y="1676995"/>
            <a:ext cx="2005310" cy="2543572"/>
          </a:xfrm>
          <a:prstGeom prst="roundRect">
            <a:avLst>
              <a:gd name="adj" fmla="val 4908"/>
            </a:avLst>
          </a:prstGeom>
          <a:solidFill>
            <a:srgbClr val="FCFCFB"/>
          </a:solidFill>
          <a:ln w="6350">
            <a:solidFill>
              <a:srgbClr val="D3DAE1"/>
            </a:solidFill>
            <a:prstDash val="solid"/>
          </a:ln>
        </p:spPr>
      </p:sp>
      <p:sp>
        <p:nvSpPr>
          <p:cNvPr id="24" name="Shape 22"/>
          <p:cNvSpPr/>
          <p:nvPr/>
        </p:nvSpPr>
        <p:spPr>
          <a:xfrm>
            <a:off x="7413030" y="1857970"/>
            <a:ext cx="355600" cy="38100"/>
          </a:xfrm>
          <a:prstGeom prst="roundRect">
            <a:avLst>
              <a:gd name="adj" fmla="val 50000"/>
            </a:avLst>
          </a:prstGeom>
          <a:solidFill>
            <a:srgbClr val="3A46A5"/>
          </a:solidFill>
          <a:ln/>
        </p:spPr>
      </p:sp>
      <p:sp>
        <p:nvSpPr>
          <p:cNvPr id="25" name="Text 23"/>
          <p:cNvSpPr/>
          <p:nvPr/>
        </p:nvSpPr>
        <p:spPr>
          <a:xfrm>
            <a:off x="741303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3A46A5"/>
                </a:solidFill>
                <a:latin typeface="IBM Plex Mono" pitchFamily="49" charset="0"/>
                <a:ea typeface="IBM Plex Mono" pitchFamily="49" charset="-122"/>
                <a:cs typeface="IBM Plex Mono" pitchFamily="49" charset="-120"/>
              </a:rPr>
              <a:t>04</a:t>
            </a:r>
            <a:endParaRPr lang="en-US" sz="3000" dirty="0"/>
          </a:p>
        </p:txBody>
      </p:sp>
      <p:sp>
        <p:nvSpPr>
          <p:cNvPr id="26" name="Text 24"/>
          <p:cNvSpPr/>
          <p:nvPr/>
        </p:nvSpPr>
        <p:spPr>
          <a:xfrm>
            <a:off x="741303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Докази и ризици</a:t>
            </a:r>
            <a:endParaRPr lang="en-US" sz="1400" dirty="0"/>
          </a:p>
        </p:txBody>
      </p:sp>
      <p:sp>
        <p:nvSpPr>
          <p:cNvPr id="27" name="Text 25"/>
          <p:cNvSpPr/>
          <p:nvPr/>
        </p:nvSpPr>
        <p:spPr>
          <a:xfrm>
            <a:off x="7413030" y="2795191"/>
            <a:ext cx="1694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Build, тестови, diff, API граница и AI радни ток.</a:t>
            </a:r>
            <a:endParaRPr lang="en-US" sz="1200" dirty="0"/>
          </a:p>
        </p:txBody>
      </p:sp>
      <p:sp>
        <p:nvSpPr>
          <p:cNvPr id="28" name="Text 26"/>
          <p:cNvSpPr/>
          <p:nvPr/>
        </p:nvSpPr>
        <p:spPr>
          <a:xfrm>
            <a:off x="741303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18–23</a:t>
            </a:r>
            <a:endParaRPr lang="en-US" sz="1200" dirty="0"/>
          </a:p>
        </p:txBody>
      </p:sp>
      <p:sp>
        <p:nvSpPr>
          <p:cNvPr id="29" name="Shape 27"/>
          <p:cNvSpPr/>
          <p:nvPr/>
        </p:nvSpPr>
        <p:spPr>
          <a:xfrm>
            <a:off x="9370715" y="1676995"/>
            <a:ext cx="2005310" cy="2543572"/>
          </a:xfrm>
          <a:prstGeom prst="roundRect">
            <a:avLst>
              <a:gd name="adj" fmla="val 4908"/>
            </a:avLst>
          </a:prstGeom>
          <a:solidFill>
            <a:srgbClr val="FCFCFB"/>
          </a:solidFill>
          <a:ln w="6350">
            <a:solidFill>
              <a:srgbClr val="D3DAE1"/>
            </a:solidFill>
            <a:prstDash val="solid"/>
          </a:ln>
        </p:spPr>
      </p:sp>
      <p:sp>
        <p:nvSpPr>
          <p:cNvPr id="30" name="Shape 28"/>
          <p:cNvSpPr/>
          <p:nvPr/>
        </p:nvSpPr>
        <p:spPr>
          <a:xfrm>
            <a:off x="9551690" y="1857970"/>
            <a:ext cx="355600" cy="38100"/>
          </a:xfrm>
          <a:prstGeom prst="roundRect">
            <a:avLst>
              <a:gd name="adj" fmla="val 50000"/>
            </a:avLst>
          </a:prstGeom>
          <a:solidFill>
            <a:srgbClr val="E07B1F"/>
          </a:solidFill>
          <a:ln/>
        </p:spPr>
      </p:sp>
      <p:sp>
        <p:nvSpPr>
          <p:cNvPr id="31" name="Text 29"/>
          <p:cNvSpPr/>
          <p:nvPr/>
        </p:nvSpPr>
        <p:spPr>
          <a:xfrm>
            <a:off x="955169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3A46A5"/>
                </a:solidFill>
                <a:latin typeface="IBM Plex Mono" pitchFamily="49" charset="0"/>
                <a:ea typeface="IBM Plex Mono" pitchFamily="49" charset="-122"/>
                <a:cs typeface="IBM Plex Mono" pitchFamily="49" charset="-120"/>
              </a:rPr>
              <a:t>05</a:t>
            </a:r>
            <a:endParaRPr lang="en-US" sz="3000" dirty="0"/>
          </a:p>
        </p:txBody>
      </p:sp>
      <p:sp>
        <p:nvSpPr>
          <p:cNvPr id="32" name="Text 30"/>
          <p:cNvSpPr/>
          <p:nvPr/>
        </p:nvSpPr>
        <p:spPr>
          <a:xfrm>
            <a:off x="9551690" y="2492970"/>
            <a:ext cx="1821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Вежба и припрема</a:t>
            </a:r>
            <a:endParaRPr lang="en-US" sz="1400" dirty="0"/>
          </a:p>
        </p:txBody>
      </p:sp>
      <p:sp>
        <p:nvSpPr>
          <p:cNvPr id="33" name="Text 31"/>
          <p:cNvSpPr/>
          <p:nvPr/>
        </p:nvSpPr>
        <p:spPr>
          <a:xfrm>
            <a:off x="9551690" y="2795191"/>
            <a:ext cx="1694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Задатак на вежби, резиме и припрема.</a:t>
            </a:r>
            <a:endParaRPr lang="en-US" sz="1200" dirty="0"/>
          </a:p>
        </p:txBody>
      </p:sp>
      <p:sp>
        <p:nvSpPr>
          <p:cNvPr id="34" name="Text 32"/>
          <p:cNvSpPr/>
          <p:nvPr/>
        </p:nvSpPr>
        <p:spPr>
          <a:xfrm>
            <a:off x="955169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24–27</a:t>
            </a:r>
            <a:endParaRPr lang="en-US" sz="1200" dirty="0"/>
          </a:p>
        </p:txBody>
      </p:sp>
      <p:sp>
        <p:nvSpPr>
          <p:cNvPr id="35" name="Text 33"/>
          <p:cNvSpPr/>
          <p:nvPr/>
        </p:nvSpPr>
        <p:spPr>
          <a:xfrm>
            <a:off x="812800" y="4477742"/>
            <a:ext cx="10566400" cy="416520"/>
          </a:xfrm>
          <a:prstGeom prst="roundRect">
            <a:avLst>
              <a:gd name="adj" fmla="val 18294"/>
            </a:avLst>
          </a:prstGeom>
          <a:solidFill>
            <a:srgbClr val="E6E8EE"/>
          </a:solidFill>
          <a:ln/>
        </p:spPr>
        <p:txBody>
          <a:bodyPr wrap="square" lIns="130082" tIns="79282" rIns="0" bIns="53882" rtlCol="0" anchor="t">
            <a:normAutofit/>
          </a:bodyPr>
          <a:lstStyle/>
          <a:p>
            <a:pPr algn="l" indent="0" marL="0">
              <a:lnSpc>
                <a:spcPts val="1680"/>
              </a:lnSpc>
              <a:buNone/>
            </a:pPr>
            <a:r>
              <a:rPr lang="en-US" sz="1200" b="1" dirty="0">
                <a:solidFill>
                  <a:srgbClr val="44505D"/>
                </a:solidFill>
                <a:latin typeface="IBM Plex Sans" pitchFamily="34" charset="0"/>
                <a:ea typeface="IBM Plex Sans" pitchFamily="34" charset="-122"/>
                <a:cs typeface="IBM Plex Sans" pitchFamily="34" charset="-120"/>
              </a:rPr>
              <a:t>Увод</a:t>
            </a:r>
            <a:r>
              <a:rPr lang="en-US" sz="1200" dirty="0">
                <a:solidFill>
                  <a:srgbClr val="44505D"/>
                </a:solidFill>
                <a:latin typeface="IBM Plex Sans" pitchFamily="34" charset="0"/>
                <a:ea typeface="IBM Plex Sans" pitchFamily="34" charset="-122"/>
                <a:cs typeface="IBM Plex Sans" pitchFamily="34" charset="-120"/>
              </a:rPr>
              <a:t> · заједнички извршиви пример (03)</a:t>
            </a:r>
            <a:endParaRPr lang="en-US" sz="1200" dirty="0"/>
          </a:p>
        </p:txBody>
      </p:sp>
      <p:sp>
        <p:nvSpPr>
          <p:cNvPr id="36" name="Shape 34"/>
          <p:cNvSpPr/>
          <p:nvPr/>
        </p:nvSpPr>
        <p:spPr>
          <a:xfrm>
            <a:off x="812800" y="6209705"/>
            <a:ext cx="10566400" cy="0"/>
          </a:xfrm>
          <a:prstGeom prst="line">
            <a:avLst/>
          </a:prstGeom>
          <a:noFill/>
          <a:ln w="6350">
            <a:solidFill>
              <a:srgbClr val="D3DAE1"/>
            </a:solidFill>
            <a:prstDash val="solid"/>
          </a:ln>
        </p:spPr>
      </p:sp>
      <p:sp>
        <p:nvSpPr>
          <p:cNvPr id="37" name="Text 3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8" name="Text 3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УВОД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Заједнички извршиви пример</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EquipmentReservation се надограђује кроз интеграцију, AI радни ток, MCP и guardrails.</a:t>
            </a:r>
            <a:endParaRPr lang="en-US" sz="1400" dirty="0"/>
          </a:p>
        </p:txBody>
      </p:sp>
      <p:sp>
        <p:nvSpPr>
          <p:cNvPr id="6" name="Shape 4"/>
          <p:cNvSpPr/>
          <p:nvPr/>
        </p:nvSpPr>
        <p:spPr>
          <a:xfrm>
            <a:off x="812800" y="2176661"/>
            <a:ext cx="2327275" cy="1150541"/>
          </a:xfrm>
          <a:prstGeom prst="roundRect">
            <a:avLst>
              <a:gd name="adj" fmla="val 8831"/>
            </a:avLst>
          </a:prstGeom>
          <a:solidFill>
            <a:srgbClr val="3A46A5"/>
          </a:solidFill>
          <a:ln/>
        </p:spPr>
      </p:sp>
      <p:sp>
        <p:nvSpPr>
          <p:cNvPr id="7" name="Text 5"/>
          <p:cNvSpPr/>
          <p:nvPr/>
        </p:nvSpPr>
        <p:spPr>
          <a:xfrm>
            <a:off x="977900" y="2341761"/>
            <a:ext cx="20569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6BBDE"/>
                </a:solidFill>
                <a:latin typeface="IBM Plex Mono" pitchFamily="49" charset="0"/>
                <a:ea typeface="IBM Plex Mono" pitchFamily="49" charset="-122"/>
                <a:cs typeface="IBM Plex Mono" pitchFamily="49" charset="-120"/>
              </a:rPr>
              <a:t>Вежба 5 · данас</a:t>
            </a:r>
            <a:endParaRPr lang="en-US" sz="1200" dirty="0"/>
          </a:p>
        </p:txBody>
      </p:sp>
      <p:sp>
        <p:nvSpPr>
          <p:cNvPr id="8" name="Text 6"/>
          <p:cNvSpPr/>
          <p:nvPr/>
        </p:nvSpPr>
        <p:spPr>
          <a:xfrm>
            <a:off x="977900" y="2631281"/>
            <a:ext cx="20569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CFCFB"/>
                </a:solidFill>
                <a:latin typeface="IBM Plex Sans" pitchFamily="34" charset="0"/>
                <a:ea typeface="IBM Plex Sans" pitchFamily="34" charset="-122"/>
                <a:cs typeface="IBM Plex Sans" pitchFamily="34" charset="-120"/>
              </a:rPr>
              <a:t>Интеграција</a:t>
            </a:r>
            <a:endParaRPr lang="en-US" sz="1500" dirty="0"/>
          </a:p>
        </p:txBody>
      </p:sp>
      <p:sp>
        <p:nvSpPr>
          <p:cNvPr id="9" name="Text 7"/>
          <p:cNvSpPr/>
          <p:nvPr/>
        </p:nvSpPr>
        <p:spPr>
          <a:xfrm>
            <a:off x="977900" y="2936081"/>
            <a:ext cx="20569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5F2"/>
                </a:solidFill>
                <a:latin typeface="IBM Plex Sans" pitchFamily="34" charset="0"/>
                <a:ea typeface="IBM Plex Sans" pitchFamily="34" charset="-122"/>
                <a:cs typeface="IBM Plex Sans" pitchFamily="34" charset="-120"/>
              </a:rPr>
              <a:t>модули и уговори</a:t>
            </a:r>
            <a:endParaRPr lang="en-US" sz="1200" dirty="0"/>
          </a:p>
        </p:txBody>
      </p:sp>
      <p:pic>
        <p:nvPicPr>
          <p:cNvPr id="10" name="Image 0" descr="arrow-right">    </p:cNvPr>
          <p:cNvPicPr>
            <a:picLocks noChangeAspect="1"/>
          </p:cNvPicPr>
          <p:nvPr/>
        </p:nvPicPr>
        <p:blipFill>
          <a:blip r:embed="rId1"/>
          <a:srcRect l="0" r="0" t="0" b="0"/>
          <a:stretch/>
        </p:blipFill>
        <p:spPr>
          <a:xfrm>
            <a:off x="3228975" y="2694781"/>
            <a:ext cx="228600" cy="114300"/>
          </a:xfrm>
          <a:prstGeom prst="rect">
            <a:avLst/>
          </a:prstGeom>
        </p:spPr>
      </p:pic>
      <p:sp>
        <p:nvSpPr>
          <p:cNvPr id="11" name="Shape 8"/>
          <p:cNvSpPr/>
          <p:nvPr/>
        </p:nvSpPr>
        <p:spPr>
          <a:xfrm>
            <a:off x="3549650" y="2179836"/>
            <a:ext cx="2333625" cy="1144191"/>
          </a:xfrm>
          <a:prstGeom prst="roundRect">
            <a:avLst>
              <a:gd name="adj" fmla="val 8602"/>
            </a:avLst>
          </a:prstGeom>
          <a:solidFill>
            <a:srgbClr val="FCFCFB"/>
          </a:solidFill>
          <a:ln w="6350">
            <a:solidFill>
              <a:srgbClr val="D3DAE1"/>
            </a:solidFill>
            <a:prstDash val="solid"/>
          </a:ln>
        </p:spPr>
      </p:sp>
      <p:sp>
        <p:nvSpPr>
          <p:cNvPr id="12" name="Text 9"/>
          <p:cNvSpPr/>
          <p:nvPr/>
        </p:nvSpPr>
        <p:spPr>
          <a:xfrm>
            <a:off x="3717925" y="2348111"/>
            <a:ext cx="20569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Вежба 6</a:t>
            </a:r>
            <a:endParaRPr lang="en-US" sz="1200" dirty="0"/>
          </a:p>
        </p:txBody>
      </p:sp>
      <p:sp>
        <p:nvSpPr>
          <p:cNvPr id="13" name="Text 10"/>
          <p:cNvSpPr/>
          <p:nvPr/>
        </p:nvSpPr>
        <p:spPr>
          <a:xfrm>
            <a:off x="3717925" y="2637631"/>
            <a:ext cx="20569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AI workflow</a:t>
            </a:r>
            <a:endParaRPr lang="en-US" sz="1500" dirty="0"/>
          </a:p>
        </p:txBody>
      </p:sp>
      <p:sp>
        <p:nvSpPr>
          <p:cNvPr id="14" name="Text 11"/>
          <p:cNvSpPr/>
          <p:nvPr/>
        </p:nvSpPr>
        <p:spPr>
          <a:xfrm>
            <a:off x="3717925" y="2942431"/>
            <a:ext cx="20569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контролисане измене</a:t>
            </a:r>
            <a:endParaRPr lang="en-US" sz="1200" dirty="0"/>
          </a:p>
        </p:txBody>
      </p:sp>
      <p:pic>
        <p:nvPicPr>
          <p:cNvPr id="15" name="Image 1" descr="arrow-right">    </p:cNvPr>
          <p:cNvPicPr>
            <a:picLocks noChangeAspect="1"/>
          </p:cNvPicPr>
          <p:nvPr/>
        </p:nvPicPr>
        <p:blipFill>
          <a:blip r:embed="rId2"/>
          <a:srcRect l="0" r="0" t="0" b="0"/>
          <a:stretch/>
        </p:blipFill>
        <p:spPr>
          <a:xfrm>
            <a:off x="5975350" y="2694781"/>
            <a:ext cx="228600" cy="114300"/>
          </a:xfrm>
          <a:prstGeom prst="rect">
            <a:avLst/>
          </a:prstGeom>
        </p:spPr>
      </p:pic>
      <p:sp>
        <p:nvSpPr>
          <p:cNvPr id="16" name="Shape 12"/>
          <p:cNvSpPr/>
          <p:nvPr/>
        </p:nvSpPr>
        <p:spPr>
          <a:xfrm>
            <a:off x="6296025" y="2179836"/>
            <a:ext cx="2333625" cy="1144191"/>
          </a:xfrm>
          <a:prstGeom prst="roundRect">
            <a:avLst>
              <a:gd name="adj" fmla="val 8602"/>
            </a:avLst>
          </a:prstGeom>
          <a:solidFill>
            <a:srgbClr val="FCFCFB"/>
          </a:solidFill>
          <a:ln w="6350">
            <a:solidFill>
              <a:srgbClr val="D3DAE1"/>
            </a:solidFill>
            <a:prstDash val="solid"/>
          </a:ln>
        </p:spPr>
      </p:sp>
      <p:sp>
        <p:nvSpPr>
          <p:cNvPr id="17" name="Text 13"/>
          <p:cNvSpPr/>
          <p:nvPr/>
        </p:nvSpPr>
        <p:spPr>
          <a:xfrm>
            <a:off x="6464300" y="2348111"/>
            <a:ext cx="20569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Вежба 7</a:t>
            </a:r>
            <a:endParaRPr lang="en-US" sz="1200" dirty="0"/>
          </a:p>
        </p:txBody>
      </p:sp>
      <p:sp>
        <p:nvSpPr>
          <p:cNvPr id="18" name="Text 14"/>
          <p:cNvSpPr/>
          <p:nvPr/>
        </p:nvSpPr>
        <p:spPr>
          <a:xfrm>
            <a:off x="6464300" y="2637631"/>
            <a:ext cx="20569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MCP</a:t>
            </a:r>
            <a:endParaRPr lang="en-US" sz="1500" dirty="0"/>
          </a:p>
        </p:txBody>
      </p:sp>
      <p:sp>
        <p:nvSpPr>
          <p:cNvPr id="19" name="Text 15"/>
          <p:cNvSpPr/>
          <p:nvPr/>
        </p:nvSpPr>
        <p:spPr>
          <a:xfrm>
            <a:off x="6464300" y="2942431"/>
            <a:ext cx="20569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контекст за AI клијента</a:t>
            </a:r>
            <a:endParaRPr lang="en-US" sz="1200" dirty="0"/>
          </a:p>
        </p:txBody>
      </p:sp>
      <p:pic>
        <p:nvPicPr>
          <p:cNvPr id="20" name="Image 2" descr="arrow-right">    </p:cNvPr>
          <p:cNvPicPr>
            <a:picLocks noChangeAspect="1"/>
          </p:cNvPicPr>
          <p:nvPr/>
        </p:nvPicPr>
        <p:blipFill>
          <a:blip r:embed="rId3"/>
          <a:srcRect l="0" r="0" t="0" b="0"/>
          <a:stretch/>
        </p:blipFill>
        <p:spPr>
          <a:xfrm>
            <a:off x="8721725" y="2694781"/>
            <a:ext cx="228600" cy="114300"/>
          </a:xfrm>
          <a:prstGeom prst="rect">
            <a:avLst/>
          </a:prstGeom>
        </p:spPr>
      </p:pic>
      <p:sp>
        <p:nvSpPr>
          <p:cNvPr id="21" name="Shape 16"/>
          <p:cNvSpPr/>
          <p:nvPr/>
        </p:nvSpPr>
        <p:spPr>
          <a:xfrm>
            <a:off x="9042400" y="2179836"/>
            <a:ext cx="2333625" cy="1144191"/>
          </a:xfrm>
          <a:prstGeom prst="roundRect">
            <a:avLst>
              <a:gd name="adj" fmla="val 8602"/>
            </a:avLst>
          </a:prstGeom>
          <a:solidFill>
            <a:srgbClr val="FCFCFB"/>
          </a:solidFill>
          <a:ln w="6350">
            <a:solidFill>
              <a:srgbClr val="D3DAE1"/>
            </a:solidFill>
            <a:prstDash val="solid"/>
          </a:ln>
        </p:spPr>
      </p:sp>
      <p:sp>
        <p:nvSpPr>
          <p:cNvPr id="22" name="Text 17"/>
          <p:cNvSpPr/>
          <p:nvPr/>
        </p:nvSpPr>
        <p:spPr>
          <a:xfrm>
            <a:off x="9210675" y="2348111"/>
            <a:ext cx="20569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Вежба 8</a:t>
            </a:r>
            <a:endParaRPr lang="en-US" sz="1200" dirty="0"/>
          </a:p>
        </p:txBody>
      </p:sp>
      <p:sp>
        <p:nvSpPr>
          <p:cNvPr id="23" name="Text 18"/>
          <p:cNvSpPr/>
          <p:nvPr/>
        </p:nvSpPr>
        <p:spPr>
          <a:xfrm>
            <a:off x="9210675" y="2637631"/>
            <a:ext cx="20569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Guardrails</a:t>
            </a:r>
            <a:endParaRPr lang="en-US" sz="1500" dirty="0"/>
          </a:p>
        </p:txBody>
      </p:sp>
      <p:sp>
        <p:nvSpPr>
          <p:cNvPr id="24" name="Text 19"/>
          <p:cNvSpPr/>
          <p:nvPr/>
        </p:nvSpPr>
        <p:spPr>
          <a:xfrm>
            <a:off x="9210675" y="2942431"/>
            <a:ext cx="20569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извршиве политике</a:t>
            </a:r>
            <a:endParaRPr lang="en-US" sz="1200" dirty="0"/>
          </a:p>
        </p:txBody>
      </p:sp>
      <p:sp>
        <p:nvSpPr>
          <p:cNvPr id="25" name="Shape 20"/>
          <p:cNvSpPr/>
          <p:nvPr/>
        </p:nvSpPr>
        <p:spPr>
          <a:xfrm>
            <a:off x="812800" y="3581202"/>
            <a:ext cx="10566400" cy="783530"/>
          </a:xfrm>
          <a:prstGeom prst="roundRect">
            <a:avLst>
              <a:gd name="adj" fmla="val 12967"/>
            </a:avLst>
          </a:prstGeom>
          <a:solidFill>
            <a:srgbClr val="E6E8EE"/>
          </a:solidFill>
          <a:ln/>
        </p:spPr>
      </p:sp>
      <p:sp>
        <p:nvSpPr>
          <p:cNvPr id="26" name="Shape 21"/>
          <p:cNvSpPr/>
          <p:nvPr/>
        </p:nvSpPr>
        <p:spPr>
          <a:xfrm>
            <a:off x="812800" y="358120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3A46A5"/>
          </a:solidFill>
          <a:ln/>
        </p:spPr>
      </p:sp>
      <p:sp>
        <p:nvSpPr>
          <p:cNvPr id="27" name="Text 22"/>
          <p:cNvSpPr/>
          <p:nvPr/>
        </p:nvSpPr>
        <p:spPr>
          <a:xfrm>
            <a:off x="1054100" y="373360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A46A5"/>
                </a:solidFill>
                <a:latin typeface="IBM Plex Mono" pitchFamily="49" charset="0"/>
                <a:ea typeface="IBM Plex Mono" pitchFamily="49" charset="-122"/>
                <a:cs typeface="IBM Plex Mono" pitchFamily="49" charset="-120"/>
              </a:rPr>
              <a:t>НАПОМЕНА</a:t>
            </a:r>
            <a:endParaRPr lang="en-US" sz="1200" dirty="0"/>
          </a:p>
        </p:txBody>
      </p:sp>
      <p:sp>
        <p:nvSpPr>
          <p:cNvPr id="28" name="Text 23"/>
          <p:cNvSpPr/>
          <p:nvPr/>
        </p:nvSpPr>
        <p:spPr>
          <a:xfrm>
            <a:off x="1054100" y="3972322"/>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EquipmentReservation.sln је главна улазна тачка наставног примера.</a:t>
            </a:r>
            <a:endParaRPr lang="en-US" sz="1400" dirty="0"/>
          </a:p>
        </p:txBody>
      </p:sp>
      <p:sp>
        <p:nvSpPr>
          <p:cNvPr id="29" name="Shape 24"/>
          <p:cNvSpPr/>
          <p:nvPr/>
        </p:nvSpPr>
        <p:spPr>
          <a:xfrm>
            <a:off x="812800" y="6209705"/>
            <a:ext cx="10566400" cy="0"/>
          </a:xfrm>
          <a:prstGeom prst="line">
            <a:avLst/>
          </a:prstGeom>
          <a:noFill/>
          <a:ln w="6350">
            <a:solidFill>
              <a:srgbClr val="D3DAE1"/>
            </a:solidFill>
            <a:prstDash val="solid"/>
          </a:ln>
        </p:spPr>
      </p:sp>
      <p:sp>
        <p:nvSpPr>
          <p:cNvPr id="30"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1"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6E8EE"/>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3A46A5"/>
                </a:solidFill>
                <a:latin typeface="IBM Plex Mono" pitchFamily="49" charset="0"/>
                <a:ea typeface="IBM Plex Mono" pitchFamily="49" charset="-122"/>
                <a:cs typeface="IBM Plex Mono" pitchFamily="49" charset="-120"/>
              </a:rPr>
              <a:t>01</a:t>
            </a:r>
            <a:endParaRPr lang="en-US" sz="14000" dirty="0"/>
          </a:p>
        </p:txBody>
      </p:sp>
      <p:sp>
        <p:nvSpPr>
          <p:cNvPr id="3" name="Text 1"/>
          <p:cNvSpPr/>
          <p:nvPr/>
        </p:nvSpPr>
        <p:spPr>
          <a:xfrm>
            <a:off x="4267200" y="2341265"/>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ПРВИ ДЕО</a:t>
            </a:r>
            <a:endParaRPr lang="en-US" sz="1200" dirty="0"/>
          </a:p>
        </p:txBody>
      </p:sp>
      <p:sp>
        <p:nvSpPr>
          <p:cNvPr id="4" name="Text 2"/>
          <p:cNvSpPr/>
          <p:nvPr>
            <p:ph type="title"/>
          </p:nvPr>
        </p:nvSpPr>
        <p:spPr>
          <a:xfrm>
            <a:off x="4267200" y="2732385"/>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Solution и границе</a:t>
            </a:r>
            <a:endParaRPr lang="en-US" sz="4800" dirty="0"/>
          </a:p>
        </p:txBody>
      </p:sp>
      <p:sp>
        <p:nvSpPr>
          <p:cNvPr id="5" name="Text 3"/>
          <p:cNvSpPr/>
          <p:nvPr/>
        </p:nvSpPr>
        <p:spPr>
          <a:xfrm>
            <a:off x="4267200" y="3550245"/>
            <a:ext cx="627888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Покретање примера и провера да ли пројекти зависе у добром смеру.</a:t>
            </a:r>
            <a:endParaRPr lang="en-US" sz="1400" dirty="0"/>
          </a:p>
        </p:txBody>
      </p:sp>
      <p:sp>
        <p:nvSpPr>
          <p:cNvPr id="6" name="Text 4"/>
          <p:cNvSpPr/>
          <p:nvPr/>
        </p:nvSpPr>
        <p:spPr>
          <a:xfrm>
            <a:off x="4270375" y="3988991"/>
            <a:ext cx="1507331"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restore, build, test</a:t>
            </a:r>
            <a:endParaRPr lang="en-US" sz="1200" dirty="0"/>
          </a:p>
        </p:txBody>
      </p:sp>
      <p:sp>
        <p:nvSpPr>
          <p:cNvPr id="7" name="Text 5"/>
          <p:cNvSpPr/>
          <p:nvPr/>
        </p:nvSpPr>
        <p:spPr>
          <a:xfrm>
            <a:off x="5860256" y="3988991"/>
            <a:ext cx="1491159"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Смер зависности</a:t>
            </a:r>
            <a:endParaRPr lang="en-US" sz="1200" dirty="0"/>
          </a:p>
        </p:txBody>
      </p:sp>
      <p:sp>
        <p:nvSpPr>
          <p:cNvPr id="8" name="Text 6"/>
          <p:cNvSpPr/>
          <p:nvPr/>
        </p:nvSpPr>
        <p:spPr>
          <a:xfrm>
            <a:off x="7433965" y="3988991"/>
            <a:ext cx="2009973"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Одговорности пројеката</a:t>
            </a:r>
            <a:endParaRPr lang="en-US" sz="1200" dirty="0"/>
          </a:p>
        </p:txBody>
      </p:sp>
      <p:sp>
        <p:nvSpPr>
          <p:cNvPr id="9" name="Shape 7"/>
          <p:cNvSpPr/>
          <p:nvPr/>
        </p:nvSpPr>
        <p:spPr>
          <a:xfrm>
            <a:off x="812800" y="6209705"/>
            <a:ext cx="10566400" cy="0"/>
          </a:xfrm>
          <a:prstGeom prst="line">
            <a:avLst/>
          </a:prstGeom>
          <a:noFill/>
          <a:ln w="6350">
            <a:solidFill>
              <a:srgbClr val="B5BCD0"/>
            </a:solidFill>
            <a:prstDash val="solid"/>
          </a:ln>
        </p:spPr>
      </p:sp>
      <p:sp>
        <p:nvSpPr>
          <p:cNvPr id="10" name="Text 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1"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01 · SOLUTION И ГРАНИЦЕ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Покретање и провера наставног примера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Прва провера обухвата restore, build и test команде над solution-ом.</a:t>
            </a:r>
            <a:endParaRPr lang="en-US" sz="1400" dirty="0"/>
          </a:p>
        </p:txBody>
      </p:sp>
      <p:sp>
        <p:nvSpPr>
          <p:cNvPr id="6" name="Shape 4"/>
          <p:cNvSpPr/>
          <p:nvPr/>
        </p:nvSpPr>
        <p:spPr>
          <a:xfrm>
            <a:off x="815975" y="2179836"/>
            <a:ext cx="10560050" cy="1766292"/>
          </a:xfrm>
          <a:prstGeom prst="roundRect">
            <a:avLst>
              <a:gd name="adj" fmla="val 5572"/>
            </a:avLst>
          </a:prstGeom>
          <a:solidFill>
            <a:srgbClr val="FCFCFB"/>
          </a:solidFill>
          <a:ln w="6350">
            <a:solidFill>
              <a:srgbClr val="D3DAE1"/>
            </a:solidFill>
            <a:prstDash val="solid"/>
          </a:ln>
        </p:spPr>
      </p:sp>
      <p:sp>
        <p:nvSpPr>
          <p:cNvPr id="7" name="Text 5"/>
          <p:cNvSpPr/>
          <p:nvPr/>
        </p:nvSpPr>
        <p:spPr>
          <a:xfrm>
            <a:off x="1022350" y="2360811"/>
            <a:ext cx="104517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terminal</a:t>
            </a:r>
            <a:endParaRPr lang="en-US" sz="1200" dirty="0"/>
          </a:p>
        </p:txBody>
      </p:sp>
      <p:sp>
        <p:nvSpPr>
          <p:cNvPr id="8" name="Text 6"/>
          <p:cNvSpPr/>
          <p:nvPr/>
        </p:nvSpPr>
        <p:spPr>
          <a:xfrm>
            <a:off x="1022350" y="2675731"/>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675731"/>
            <a:ext cx="10059289"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3A46A5"/>
                </a:solidFill>
                <a:latin typeface="IBM Plex Mono" pitchFamily="49" charset="0"/>
                <a:ea typeface="IBM Plex Mono" pitchFamily="49" charset="-122"/>
                <a:cs typeface="IBM Plex Mono" pitchFamily="49" charset="-120"/>
              </a:rPr>
              <a:t>cd</a:t>
            </a:r>
            <a:r>
              <a:rPr lang="en-US" sz="1200" dirty="0">
                <a:solidFill>
                  <a:srgbClr val="13202D"/>
                </a:solidFill>
                <a:latin typeface="IBM Plex Mono" pitchFamily="49" charset="0"/>
                <a:ea typeface="IBM Plex Mono" pitchFamily="49" charset="-122"/>
                <a:cs typeface="IBM Plex Mono" pitchFamily="49" charset="-120"/>
              </a:rPr>
              <a:t> examples/ers-ai-workflow</a:t>
            </a:r>
            <a:endParaRPr lang="en-US" sz="1200" dirty="0"/>
          </a:p>
        </p:txBody>
      </p:sp>
      <p:sp>
        <p:nvSpPr>
          <p:cNvPr id="10" name="Text 8"/>
          <p:cNvSpPr/>
          <p:nvPr/>
        </p:nvSpPr>
        <p:spPr>
          <a:xfrm>
            <a:off x="1022350" y="2957612"/>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957612"/>
            <a:ext cx="10059289"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3A46A5"/>
                </a:solidFill>
                <a:latin typeface="IBM Plex Mono" pitchFamily="49" charset="0"/>
                <a:ea typeface="IBM Plex Mono" pitchFamily="49" charset="-122"/>
                <a:cs typeface="IBM Plex Mono" pitchFamily="49" charset="-120"/>
              </a:rPr>
              <a:t>dotnet</a:t>
            </a:r>
            <a:r>
              <a:rPr lang="en-US" sz="1200" dirty="0">
                <a:solidFill>
                  <a:srgbClr val="13202D"/>
                </a:solidFill>
                <a:latin typeface="IBM Plex Mono" pitchFamily="49" charset="0"/>
                <a:ea typeface="IBM Plex Mono" pitchFamily="49" charset="-122"/>
                <a:cs typeface="IBM Plex Mono" pitchFamily="49" charset="-120"/>
              </a:rPr>
              <a:t> restore EquipmentReservation.sln</a:t>
            </a:r>
            <a:endParaRPr lang="en-US" sz="1200" dirty="0"/>
          </a:p>
        </p:txBody>
      </p:sp>
      <p:sp>
        <p:nvSpPr>
          <p:cNvPr id="12" name="Text 10"/>
          <p:cNvSpPr/>
          <p:nvPr/>
        </p:nvSpPr>
        <p:spPr>
          <a:xfrm>
            <a:off x="1022350" y="3239492"/>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239492"/>
            <a:ext cx="10059289"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3A46A5"/>
                </a:solidFill>
                <a:latin typeface="IBM Plex Mono" pitchFamily="49" charset="0"/>
                <a:ea typeface="IBM Plex Mono" pitchFamily="49" charset="-122"/>
                <a:cs typeface="IBM Plex Mono" pitchFamily="49" charset="-120"/>
              </a:rPr>
              <a:t>dotnet</a:t>
            </a:r>
            <a:r>
              <a:rPr lang="en-US" sz="1200" dirty="0">
                <a:solidFill>
                  <a:srgbClr val="13202D"/>
                </a:solidFill>
                <a:latin typeface="IBM Plex Mono" pitchFamily="49" charset="0"/>
                <a:ea typeface="IBM Plex Mono" pitchFamily="49" charset="-122"/>
                <a:cs typeface="IBM Plex Mono" pitchFamily="49" charset="-120"/>
              </a:rPr>
              <a:t> build EquipmentReservation.sln -c Release --no-restore</a:t>
            </a:r>
            <a:endParaRPr lang="en-US" sz="1200" dirty="0"/>
          </a:p>
        </p:txBody>
      </p:sp>
      <p:sp>
        <p:nvSpPr>
          <p:cNvPr id="14" name="Text 12"/>
          <p:cNvSpPr/>
          <p:nvPr/>
        </p:nvSpPr>
        <p:spPr>
          <a:xfrm>
            <a:off x="1022350" y="3521373"/>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403350" y="3521373"/>
            <a:ext cx="10059289"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3A46A5"/>
                </a:solidFill>
                <a:latin typeface="IBM Plex Mono" pitchFamily="49" charset="0"/>
                <a:ea typeface="IBM Plex Mono" pitchFamily="49" charset="-122"/>
                <a:cs typeface="IBM Plex Mono" pitchFamily="49" charset="-120"/>
              </a:rPr>
              <a:t>dotnet</a:t>
            </a:r>
            <a:r>
              <a:rPr lang="en-US" sz="1200" dirty="0">
                <a:solidFill>
                  <a:srgbClr val="13202D"/>
                </a:solidFill>
                <a:latin typeface="IBM Plex Mono" pitchFamily="49" charset="0"/>
                <a:ea typeface="IBM Plex Mono" pitchFamily="49" charset="-122"/>
                <a:cs typeface="IBM Plex Mono" pitchFamily="49" charset="-120"/>
              </a:rPr>
              <a:t> test EquipmentReservation.sln -c Release --no-build</a:t>
            </a:r>
            <a:endParaRPr lang="en-US" sz="1200" dirty="0"/>
          </a:p>
        </p:txBody>
      </p:sp>
      <p:sp>
        <p:nvSpPr>
          <p:cNvPr id="16" name="Shape 14"/>
          <p:cNvSpPr/>
          <p:nvPr/>
        </p:nvSpPr>
        <p:spPr>
          <a:xfrm>
            <a:off x="825500" y="4203303"/>
            <a:ext cx="0" cy="487561"/>
          </a:xfrm>
          <a:prstGeom prst="line">
            <a:avLst/>
          </a:prstGeom>
          <a:noFill/>
          <a:ln w="25400">
            <a:solidFill>
              <a:srgbClr val="3A46A5"/>
            </a:solidFill>
            <a:prstDash val="solid"/>
          </a:ln>
        </p:spPr>
      </p:sp>
      <p:sp>
        <p:nvSpPr>
          <p:cNvPr id="17" name="Text 15"/>
          <p:cNvSpPr/>
          <p:nvPr/>
        </p:nvSpPr>
        <p:spPr>
          <a:xfrm>
            <a:off x="977900" y="4216003"/>
            <a:ext cx="335302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Радимо над целим solution-ом.</a:t>
            </a:r>
            <a:endParaRPr lang="en-US" sz="1300" dirty="0"/>
          </a:p>
        </p:txBody>
      </p:sp>
      <p:sp>
        <p:nvSpPr>
          <p:cNvPr id="18" name="Shape 16"/>
          <p:cNvSpPr/>
          <p:nvPr/>
        </p:nvSpPr>
        <p:spPr>
          <a:xfrm>
            <a:off x="4398367" y="4203303"/>
            <a:ext cx="0" cy="487561"/>
          </a:xfrm>
          <a:prstGeom prst="line">
            <a:avLst/>
          </a:prstGeom>
          <a:noFill/>
          <a:ln w="25400">
            <a:solidFill>
              <a:srgbClr val="3A46A5"/>
            </a:solidFill>
            <a:prstDash val="solid"/>
          </a:ln>
        </p:spPr>
      </p:sp>
      <p:sp>
        <p:nvSpPr>
          <p:cNvPr id="19" name="Text 17"/>
          <p:cNvSpPr/>
          <p:nvPr/>
        </p:nvSpPr>
        <p:spPr>
          <a:xfrm>
            <a:off x="4550767" y="4216003"/>
            <a:ext cx="335313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Команде су део доказа, а не декоративан додатак.</a:t>
            </a:r>
            <a:endParaRPr lang="en-US" sz="1300" dirty="0"/>
          </a:p>
        </p:txBody>
      </p:sp>
      <p:sp>
        <p:nvSpPr>
          <p:cNvPr id="20" name="Shape 18"/>
          <p:cNvSpPr/>
          <p:nvPr/>
        </p:nvSpPr>
        <p:spPr>
          <a:xfrm>
            <a:off x="7971334" y="4203303"/>
            <a:ext cx="0" cy="487561"/>
          </a:xfrm>
          <a:prstGeom prst="line">
            <a:avLst/>
          </a:prstGeom>
          <a:noFill/>
          <a:ln w="25400">
            <a:solidFill>
              <a:srgbClr val="E07B1F"/>
            </a:solidFill>
            <a:prstDash val="solid"/>
          </a:ln>
        </p:spPr>
      </p:sp>
      <p:sp>
        <p:nvSpPr>
          <p:cNvPr id="21" name="Text 19"/>
          <p:cNvSpPr/>
          <p:nvPr/>
        </p:nvSpPr>
        <p:spPr>
          <a:xfrm>
            <a:off x="8123734" y="4216003"/>
            <a:ext cx="335313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Пад build-а или теста мора се решити пре даље интеграције.</a:t>
            </a:r>
            <a:endParaRPr lang="en-US" sz="1300" dirty="0"/>
          </a:p>
        </p:txBody>
      </p:sp>
      <p:sp>
        <p:nvSpPr>
          <p:cNvPr id="22" name="Shape 20"/>
          <p:cNvSpPr/>
          <p:nvPr/>
        </p:nvSpPr>
        <p:spPr>
          <a:xfrm>
            <a:off x="812800" y="6209705"/>
            <a:ext cx="10566400" cy="0"/>
          </a:xfrm>
          <a:prstGeom prst="line">
            <a:avLst/>
          </a:prstGeom>
          <a:noFill/>
          <a:ln w="6350">
            <a:solidFill>
              <a:srgbClr val="D3DAE1"/>
            </a:solidFill>
            <a:prstDash val="solid"/>
          </a:ln>
        </p:spPr>
      </p:sp>
      <p:sp>
        <p:nvSpPr>
          <p:cNvPr id="23"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4"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pic>
        <p:nvPicPr>
          <p:cNvPr id="3" name="Image 0" descr="Смер зависности у solution-у: Api зависи од Application, Application од Domain, Infrastructure зависи од Domain и имплементира портове из Application, а Api као composition root саставља и Infrastructure. Из Domain-а не излази ниједна стрелица.">    </p:cNvPr>
          <p:cNvPicPr>
            <a:picLocks noChangeAspect="1"/>
          </p:cNvPicPr>
          <p:nvPr/>
        </p:nvPicPr>
        <p:blipFill>
          <a:blip r:embed="rId1"/>
          <a:srcRect l="0" r="0" t="-19" b="-19"/>
          <a:stretch/>
        </p:blipFill>
        <p:spPr>
          <a:xfrm>
            <a:off x="812800" y="2159000"/>
            <a:ext cx="10566400" cy="2095500"/>
          </a:xfrm>
          <a:prstGeom prst="rect">
            <a:avLst/>
          </a:prstGeom>
        </p:spPr>
      </p:pic>
      <p:sp>
        <p:nvSpPr>
          <p:cNvPr id="4"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01 · SOLUTION И ГРАНИЦЕ</a:t>
            </a:r>
            <a:endParaRPr lang="en-US" sz="1200" dirty="0"/>
          </a:p>
        </p:txBody>
      </p:sp>
      <p:sp>
        <p:nvSpPr>
          <p:cNvPr id="5"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Структура solution-а и смер зависности</a:t>
            </a:r>
            <a:endParaRPr lang="en-US" sz="3000" dirty="0"/>
          </a:p>
        </p:txBody>
      </p:sp>
      <p:sp>
        <p:nvSpPr>
          <p:cNvPr id="6"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MCP и Guardrails припадају истом solution-у, без увођења зависности у пословно језгро.</a:t>
            </a:r>
            <a:endParaRPr lang="en-US" sz="1400" dirty="0"/>
          </a:p>
        </p:txBody>
      </p:sp>
      <p:sp>
        <p:nvSpPr>
          <p:cNvPr id="7" name="Text 4"/>
          <p:cNvSpPr/>
          <p:nvPr/>
        </p:nvSpPr>
        <p:spPr>
          <a:xfrm>
            <a:off x="6381115" y="243840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6A5"/>
                </a:solidFill>
                <a:latin typeface="IBM Plex Sans" pitchFamily="34" charset="0"/>
                <a:ea typeface="IBM Plex Sans" pitchFamily="34" charset="-122"/>
                <a:cs typeface="IBM Plex Sans" pitchFamily="34" charset="-120"/>
              </a:rPr>
              <a:t>имплементира портове</a:t>
            </a:r>
            <a:endParaRPr lang="en-US" sz="1200" dirty="0"/>
          </a:p>
        </p:txBody>
      </p:sp>
      <p:sp>
        <p:nvSpPr>
          <p:cNvPr id="8" name="Text 5"/>
          <p:cNvSpPr/>
          <p:nvPr/>
        </p:nvSpPr>
        <p:spPr>
          <a:xfrm>
            <a:off x="780415" y="2984500"/>
            <a:ext cx="222377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3202D"/>
                </a:solidFill>
                <a:latin typeface="IBM Plex Sans" pitchFamily="34" charset="0"/>
                <a:ea typeface="IBM Plex Sans" pitchFamily="34" charset="-122"/>
                <a:cs typeface="IBM Plex Sans" pitchFamily="34" charset="-120"/>
              </a:rPr>
              <a:t>Api</a:t>
            </a:r>
            <a:endParaRPr lang="en-US" sz="1600" dirty="0"/>
          </a:p>
        </p:txBody>
      </p:sp>
      <p:sp>
        <p:nvSpPr>
          <p:cNvPr id="9" name="Text 6"/>
          <p:cNvSpPr/>
          <p:nvPr/>
        </p:nvSpPr>
        <p:spPr>
          <a:xfrm>
            <a:off x="780415" y="330200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composition root</a:t>
            </a:r>
            <a:endParaRPr lang="en-US" sz="1200" dirty="0"/>
          </a:p>
        </p:txBody>
      </p:sp>
      <p:sp>
        <p:nvSpPr>
          <p:cNvPr id="10" name="Text 7"/>
          <p:cNvSpPr/>
          <p:nvPr/>
        </p:nvSpPr>
        <p:spPr>
          <a:xfrm>
            <a:off x="3580765" y="2984500"/>
            <a:ext cx="222377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3202D"/>
                </a:solidFill>
                <a:latin typeface="IBM Plex Sans" pitchFamily="34" charset="0"/>
                <a:ea typeface="IBM Plex Sans" pitchFamily="34" charset="-122"/>
                <a:cs typeface="IBM Plex Sans" pitchFamily="34" charset="-120"/>
              </a:rPr>
              <a:t>Application</a:t>
            </a:r>
            <a:endParaRPr lang="en-US" sz="1600" dirty="0"/>
          </a:p>
        </p:txBody>
      </p:sp>
      <p:sp>
        <p:nvSpPr>
          <p:cNvPr id="11" name="Text 8"/>
          <p:cNvSpPr/>
          <p:nvPr/>
        </p:nvSpPr>
        <p:spPr>
          <a:xfrm>
            <a:off x="3580765" y="330200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6A5"/>
                </a:solidFill>
                <a:latin typeface="IBM Plex Mono" pitchFamily="49" charset="0"/>
                <a:ea typeface="IBM Plex Mono" pitchFamily="49" charset="-122"/>
                <a:cs typeface="IBM Plex Mono" pitchFamily="49" charset="-120"/>
              </a:rPr>
              <a:t>портови</a:t>
            </a:r>
            <a:endParaRPr lang="en-US" sz="1200" dirty="0"/>
          </a:p>
        </p:txBody>
      </p:sp>
      <p:sp>
        <p:nvSpPr>
          <p:cNvPr id="12" name="Text 9"/>
          <p:cNvSpPr/>
          <p:nvPr/>
        </p:nvSpPr>
        <p:spPr>
          <a:xfrm>
            <a:off x="6381115" y="2984500"/>
            <a:ext cx="222377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CFCFB"/>
                </a:solidFill>
                <a:latin typeface="IBM Plex Sans" pitchFamily="34" charset="0"/>
                <a:ea typeface="IBM Plex Sans" pitchFamily="34" charset="-122"/>
                <a:cs typeface="IBM Plex Sans" pitchFamily="34" charset="-120"/>
              </a:rPr>
              <a:t>Domain</a:t>
            </a:r>
            <a:endParaRPr lang="en-US" sz="1600" dirty="0"/>
          </a:p>
        </p:txBody>
      </p:sp>
      <p:sp>
        <p:nvSpPr>
          <p:cNvPr id="13" name="Text 10"/>
          <p:cNvSpPr/>
          <p:nvPr/>
        </p:nvSpPr>
        <p:spPr>
          <a:xfrm>
            <a:off x="6381115" y="330200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3E5F2"/>
                </a:solidFill>
                <a:latin typeface="IBM Plex Mono" pitchFamily="49" charset="0"/>
                <a:ea typeface="IBM Plex Mono" pitchFamily="49" charset="-122"/>
                <a:cs typeface="IBM Plex Mono" pitchFamily="49" charset="-120"/>
              </a:rPr>
              <a:t>правила</a:t>
            </a:r>
            <a:endParaRPr lang="en-US" sz="1200" dirty="0"/>
          </a:p>
        </p:txBody>
      </p:sp>
      <p:sp>
        <p:nvSpPr>
          <p:cNvPr id="14" name="Text 11"/>
          <p:cNvSpPr/>
          <p:nvPr/>
        </p:nvSpPr>
        <p:spPr>
          <a:xfrm>
            <a:off x="9181465" y="2984500"/>
            <a:ext cx="222377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3202D"/>
                </a:solidFill>
                <a:latin typeface="IBM Plex Sans" pitchFamily="34" charset="0"/>
                <a:ea typeface="IBM Plex Sans" pitchFamily="34" charset="-122"/>
                <a:cs typeface="IBM Plex Sans" pitchFamily="34" charset="-120"/>
              </a:rPr>
              <a:t>Infrastructure</a:t>
            </a:r>
            <a:endParaRPr lang="en-US" sz="1600" dirty="0"/>
          </a:p>
        </p:txBody>
      </p:sp>
      <p:sp>
        <p:nvSpPr>
          <p:cNvPr id="15" name="Text 12"/>
          <p:cNvSpPr/>
          <p:nvPr/>
        </p:nvSpPr>
        <p:spPr>
          <a:xfrm>
            <a:off x="9181465" y="330200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адаптери</a:t>
            </a:r>
            <a:endParaRPr lang="en-US" sz="1200" dirty="0"/>
          </a:p>
        </p:txBody>
      </p:sp>
      <p:sp>
        <p:nvSpPr>
          <p:cNvPr id="16" name="Text 13"/>
          <p:cNvSpPr/>
          <p:nvPr/>
        </p:nvSpPr>
        <p:spPr>
          <a:xfrm>
            <a:off x="4977765" y="421640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саставља граф</a:t>
            </a:r>
            <a:endParaRPr lang="en-US" sz="1200" dirty="0"/>
          </a:p>
        </p:txBody>
      </p:sp>
      <p:sp>
        <p:nvSpPr>
          <p:cNvPr id="17" name="Shape 14"/>
          <p:cNvSpPr/>
          <p:nvPr/>
        </p:nvSpPr>
        <p:spPr>
          <a:xfrm>
            <a:off x="815975" y="4549775"/>
            <a:ext cx="2329259" cy="808831"/>
          </a:xfrm>
          <a:prstGeom prst="roundRect">
            <a:avLst>
              <a:gd name="adj" fmla="val 10599"/>
            </a:avLst>
          </a:prstGeom>
          <a:solidFill>
            <a:srgbClr val="FCFCFB"/>
          </a:solidFill>
          <a:ln w="6350">
            <a:solidFill>
              <a:srgbClr val="A9B6C3"/>
            </a:solidFill>
            <a:prstDash val="dash"/>
          </a:ln>
        </p:spPr>
      </p:sp>
      <p:sp>
        <p:nvSpPr>
          <p:cNvPr id="18" name="Text 15"/>
          <p:cNvSpPr/>
          <p:nvPr/>
        </p:nvSpPr>
        <p:spPr>
          <a:xfrm>
            <a:off x="958850" y="4838601"/>
            <a:ext cx="35671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Mono" pitchFamily="49" charset="0"/>
                <a:ea typeface="IBM Plex Mono" pitchFamily="49" charset="-122"/>
                <a:cs typeface="IBM Plex Mono" pitchFamily="49" charset="-120"/>
              </a:rPr>
              <a:t>Mcp</a:t>
            </a:r>
            <a:endParaRPr lang="en-US" sz="1300" dirty="0"/>
          </a:p>
        </p:txBody>
      </p:sp>
      <p:sp>
        <p:nvSpPr>
          <p:cNvPr id="19" name="Text 16"/>
          <p:cNvSpPr/>
          <p:nvPr/>
        </p:nvSpPr>
        <p:spPr>
          <a:xfrm>
            <a:off x="1357709" y="4851301"/>
            <a:ext cx="169545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развојни алат</a:t>
            </a:r>
            <a:endParaRPr lang="en-US" sz="1200" dirty="0"/>
          </a:p>
        </p:txBody>
      </p:sp>
      <p:sp>
        <p:nvSpPr>
          <p:cNvPr id="20" name="Shape 17"/>
          <p:cNvSpPr/>
          <p:nvPr/>
        </p:nvSpPr>
        <p:spPr>
          <a:xfrm>
            <a:off x="3278584" y="4549775"/>
            <a:ext cx="2329359" cy="808831"/>
          </a:xfrm>
          <a:prstGeom prst="roundRect">
            <a:avLst>
              <a:gd name="adj" fmla="val 10599"/>
            </a:avLst>
          </a:prstGeom>
          <a:solidFill>
            <a:srgbClr val="FCFCFB"/>
          </a:solidFill>
          <a:ln w="6350">
            <a:solidFill>
              <a:srgbClr val="A9B6C3"/>
            </a:solidFill>
            <a:prstDash val="dash"/>
          </a:ln>
        </p:spPr>
      </p:sp>
      <p:sp>
        <p:nvSpPr>
          <p:cNvPr id="21" name="Text 18"/>
          <p:cNvSpPr/>
          <p:nvPr/>
        </p:nvSpPr>
        <p:spPr>
          <a:xfrm>
            <a:off x="3421459" y="4838601"/>
            <a:ext cx="10922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Mono" pitchFamily="49" charset="0"/>
                <a:ea typeface="IBM Plex Mono" pitchFamily="49" charset="-122"/>
                <a:cs typeface="IBM Plex Mono" pitchFamily="49" charset="-120"/>
              </a:rPr>
              <a:t>Guardrails</a:t>
            </a:r>
            <a:endParaRPr lang="en-US" sz="1300" dirty="0"/>
          </a:p>
        </p:txBody>
      </p:sp>
      <p:sp>
        <p:nvSpPr>
          <p:cNvPr id="22" name="Text 19"/>
          <p:cNvSpPr/>
          <p:nvPr/>
        </p:nvSpPr>
        <p:spPr>
          <a:xfrm>
            <a:off x="4513659" y="4748510"/>
            <a:ext cx="1002209"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развојни алат</a:t>
            </a:r>
            <a:endParaRPr lang="en-US" sz="1200" dirty="0"/>
          </a:p>
        </p:txBody>
      </p:sp>
      <p:sp>
        <p:nvSpPr>
          <p:cNvPr id="23" name="Shape 20"/>
          <p:cNvSpPr/>
          <p:nvPr/>
        </p:nvSpPr>
        <p:spPr>
          <a:xfrm>
            <a:off x="5741293" y="4549775"/>
            <a:ext cx="2329259" cy="808831"/>
          </a:xfrm>
          <a:prstGeom prst="roundRect">
            <a:avLst>
              <a:gd name="adj" fmla="val 10599"/>
            </a:avLst>
          </a:prstGeom>
          <a:solidFill>
            <a:srgbClr val="FCFCFB"/>
          </a:solidFill>
          <a:ln w="6350">
            <a:solidFill>
              <a:srgbClr val="A9B6C3"/>
            </a:solidFill>
            <a:prstDash val="dash"/>
          </a:ln>
        </p:spPr>
      </p:sp>
      <p:sp>
        <p:nvSpPr>
          <p:cNvPr id="24" name="Text 21"/>
          <p:cNvSpPr/>
          <p:nvPr/>
        </p:nvSpPr>
        <p:spPr>
          <a:xfrm>
            <a:off x="5884168" y="4838601"/>
            <a:ext cx="5943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Mono" pitchFamily="49" charset="0"/>
                <a:ea typeface="IBM Plex Mono" pitchFamily="49" charset="-122"/>
                <a:cs typeface="IBM Plex Mono" pitchFamily="49" charset="-120"/>
              </a:rPr>
              <a:t>Tests</a:t>
            </a:r>
            <a:endParaRPr lang="en-US" sz="1300" dirty="0"/>
          </a:p>
        </p:txBody>
      </p:sp>
      <p:sp>
        <p:nvSpPr>
          <p:cNvPr id="25" name="Text 22"/>
          <p:cNvSpPr/>
          <p:nvPr/>
        </p:nvSpPr>
        <p:spPr>
          <a:xfrm>
            <a:off x="6481068" y="4851301"/>
            <a:ext cx="149740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проверава слојеве</a:t>
            </a:r>
            <a:endParaRPr lang="en-US" sz="1200" dirty="0"/>
          </a:p>
        </p:txBody>
      </p:sp>
      <p:sp>
        <p:nvSpPr>
          <p:cNvPr id="26" name="Shape 23"/>
          <p:cNvSpPr/>
          <p:nvPr/>
        </p:nvSpPr>
        <p:spPr>
          <a:xfrm>
            <a:off x="8200727" y="4546600"/>
            <a:ext cx="3178473" cy="815181"/>
          </a:xfrm>
          <a:prstGeom prst="roundRect">
            <a:avLst>
              <a:gd name="adj" fmla="val 10906"/>
            </a:avLst>
          </a:prstGeom>
          <a:solidFill>
            <a:srgbClr val="E6E8EE"/>
          </a:solidFill>
          <a:ln/>
        </p:spPr>
      </p:sp>
      <p:sp>
        <p:nvSpPr>
          <p:cNvPr id="27" name="Shape 24"/>
          <p:cNvSpPr/>
          <p:nvPr/>
        </p:nvSpPr>
        <p:spPr>
          <a:xfrm>
            <a:off x="8200727" y="4546600"/>
            <a:ext cx="3178473" cy="815181"/>
          </a:xfrm>
          <a:custGeom>
            <a:avLst/>
            <a:gdLst/>
            <a:ahLst/>
            <a:cxnLst/>
            <a:rect l="l" t="t" r="r" b="b"/>
            <a:pathLst>
              <a:path w="3178473" h="815181">
                <a:moveTo>
                  <a:pt x="88900" y="815181"/>
                </a:moveTo>
                <a:lnTo>
                  <a:pt x="88900" y="815181"/>
                </a:lnTo>
                <a:arcTo hR="88900" wR="88900" stAng="5400000" swAng="5400000"/>
                <a:lnTo>
                  <a:pt x="0" y="88900"/>
                </a:lnTo>
                <a:arcTo hR="88900" wR="88900" stAng="10800000" swAng="5400000"/>
                <a:lnTo>
                  <a:pt x="88900" y="0"/>
                </a:lnTo>
                <a:arcTo hR="88900" wR="50800" stAng="16200000" swAng="-5400000"/>
                <a:lnTo>
                  <a:pt x="38100" y="726281"/>
                </a:lnTo>
                <a:arcTo hR="88900" wR="50800" stAng="10800000" swAng="-5400000"/>
                <a:close/>
              </a:path>
            </a:pathLst>
          </a:custGeom>
          <a:solidFill>
            <a:srgbClr val="3A46A5"/>
          </a:solidFill>
          <a:ln/>
        </p:spPr>
      </p:sp>
      <p:sp>
        <p:nvSpPr>
          <p:cNvPr id="28" name="Text 25"/>
          <p:cNvSpPr/>
          <p:nvPr/>
        </p:nvSpPr>
        <p:spPr>
          <a:xfrm>
            <a:off x="8378527" y="4635500"/>
            <a:ext cx="294680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A46A5"/>
                </a:solidFill>
                <a:latin typeface="IBM Plex Mono" pitchFamily="49" charset="0"/>
                <a:ea typeface="IBM Plex Mono" pitchFamily="49" charset="-122"/>
                <a:cs typeface="IBM Plex Mono" pitchFamily="49" charset="-120"/>
              </a:rPr>
              <a:t>НАПОМЕНА</a:t>
            </a:r>
            <a:endParaRPr lang="en-US" sz="1200" dirty="0"/>
          </a:p>
        </p:txBody>
      </p:sp>
      <p:sp>
        <p:nvSpPr>
          <p:cNvPr id="29" name="Text 26"/>
          <p:cNvSpPr/>
          <p:nvPr/>
        </p:nvSpPr>
        <p:spPr>
          <a:xfrm>
            <a:off x="8378527" y="4861520"/>
            <a:ext cx="2946802"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Sans" pitchFamily="34" charset="0"/>
                <a:ea typeface="IBM Plex Sans" pitchFamily="34" charset="-122"/>
                <a:cs typeface="IBM Plex Sans" pitchFamily="34" charset="-120"/>
              </a:rPr>
              <a:t>Смер зависности има предност над распоредом директоријума.</a:t>
            </a:r>
            <a:endParaRPr lang="en-US" sz="1200" dirty="0"/>
          </a:p>
        </p:txBody>
      </p:sp>
      <p:sp>
        <p:nvSpPr>
          <p:cNvPr id="30" name="Shape 27"/>
          <p:cNvSpPr/>
          <p:nvPr/>
        </p:nvSpPr>
        <p:spPr>
          <a:xfrm>
            <a:off x="812800" y="6209705"/>
            <a:ext cx="10566400" cy="0"/>
          </a:xfrm>
          <a:prstGeom prst="line">
            <a:avLst/>
          </a:prstGeom>
          <a:noFill/>
          <a:ln w="6350">
            <a:solidFill>
              <a:srgbClr val="D3DAE1"/>
            </a:solidFill>
            <a:prstDash val="solid"/>
          </a:ln>
        </p:spPr>
      </p:sp>
      <p:sp>
        <p:nvSpPr>
          <p:cNvPr id="31" name="Text 2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2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01 · SOLUTION И ГРАНИЦЕ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Одговорности пројеката у solution-у</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Сваки пројекат има јасно дефинисану одговорност.</a:t>
            </a:r>
            <a:endParaRPr lang="en-US" sz="1400" dirty="0"/>
          </a:p>
        </p:txBody>
      </p:sp>
      <p:sp>
        <p:nvSpPr>
          <p:cNvPr id="6" name="Shape 4"/>
          <p:cNvSpPr/>
          <p:nvPr/>
        </p:nvSpPr>
        <p:spPr>
          <a:xfrm>
            <a:off x="812800" y="2125861"/>
            <a:ext cx="10566400" cy="3122613"/>
          </a:xfrm>
          <a:prstGeom prst="roundRect">
            <a:avLst>
              <a:gd name="adj" fmla="val 3254"/>
            </a:avLst>
          </a:prstGeom>
          <a:solidFill>
            <a:srgbClr val="FCFCFB"/>
          </a:solidFill>
          <a:ln/>
        </p:spPr>
      </p:sp>
      <p:sp>
        <p:nvSpPr>
          <p:cNvPr id="7" name="Shape 5"/>
          <p:cNvSpPr/>
          <p:nvPr/>
        </p:nvSpPr>
        <p:spPr>
          <a:xfrm>
            <a:off x="812800" y="2125861"/>
            <a:ext cx="10566400" cy="3122613"/>
          </a:xfrm>
          <a:custGeom>
            <a:avLst/>
            <a:gdLst/>
            <a:ahLst/>
            <a:cxnLst/>
            <a:rect l="l" t="t" r="r" b="b"/>
            <a:pathLst>
              <a:path w="10566400" h="3122613">
                <a:moveTo>
                  <a:pt x="10464800" y="0"/>
                </a:moveTo>
                <a:lnTo>
                  <a:pt x="10464800" y="0"/>
                </a:lnTo>
                <a:arcTo hR="101600" wR="101600" stAng="16200000" swAng="5400000"/>
                <a:lnTo>
                  <a:pt x="10566400" y="3021013"/>
                </a:lnTo>
                <a:arcTo hR="101600" wR="101600" stAng="0" swAng="5400000"/>
                <a:lnTo>
                  <a:pt x="101600" y="3122613"/>
                </a:lnTo>
                <a:arcTo hR="101600" wR="101600" stAng="5400000" swAng="5400000"/>
                <a:lnTo>
                  <a:pt x="0" y="3021013"/>
                </a:lnTo>
                <a:arcTo hR="95250" wR="101600" stAng="10800000" swAng="-5400000"/>
                <a:lnTo>
                  <a:pt x="10464800" y="3116263"/>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25861"/>
            <a:ext cx="10566400" cy="3122613"/>
          </a:xfrm>
          <a:custGeom>
            <a:avLst/>
            <a:gdLst/>
            <a:ahLst/>
            <a:cxnLst/>
            <a:rect l="l" t="t" r="r" b="b"/>
            <a:pathLst>
              <a:path w="10566400" h="3122613">
                <a:moveTo>
                  <a:pt x="101600" y="3122613"/>
                </a:moveTo>
                <a:lnTo>
                  <a:pt x="101600" y="312261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3021013"/>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38561"/>
          <a:ext cx="10547350" cy="3103562"/>
        </p:xfrm>
        <a:graphic>
          <a:graphicData uri="http://schemas.openxmlformats.org/drawingml/2006/table">
            <a:tbl>
              <a:tblPr/>
              <a:tblGrid>
                <a:gridCol w="2953258"/>
                <a:gridCol w="7594092"/>
              </a:tblGrid>
              <a:tr h="387945">
                <a:tc>
                  <a:txBody>
                    <a:bodyPr/>
                    <a:lstStyle/>
                    <a:p>
                      <a:pP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Пројекат</a:t>
                      </a:r>
                      <a:endParaRPr lang="en-US" sz="13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B8B9BE"/>
                      </a:solidFill>
                      <a:prstDash val="solid"/>
                      <a:round/>
                      <a:headEnd type="none" w="med" len="med"/>
                      <a:tailEnd type="none" w="med" len="med"/>
                    </a:lnR>
                    <a:lnT w="0" cap="flat" cmpd="sng" algn="ctr">
                      <a:noFill/>
                    </a:lnT>
                    <a:lnB w="12700" cap="flat" cmpd="sng" algn="ctr">
                      <a:solidFill>
                        <a:srgbClr val="B8B9BE"/>
                      </a:solidFill>
                      <a:prstDash val="solid"/>
                      <a:round/>
                      <a:headEnd type="none" w="med" len="med"/>
                      <a:tailEnd type="none" w="med" len="med"/>
                    </a:lnB>
                    <a:solidFill>
                      <a:srgbClr val="E6E8EE"/>
                    </a:solidFill>
                  </a:tcPr>
                </a:tc>
                <a:tc>
                  <a:txBody>
                    <a:bodyPr/>
                    <a:lstStyle/>
                    <a:p>
                      <a:pPr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Одговорност</a:t>
                      </a:r>
                      <a:endParaRPr lang="en-US" sz="1300" dirty="0">
                        <a:latin typeface="IBM Plex Sans" charset="0"/>
                        <a:ea typeface="IBM Plex Sans" charset="0"/>
                        <a:cs typeface="IBM Plex Sans" charset="0"/>
                      </a:endParaRPr>
                    </a:p>
                  </a:txBody>
                  <a:tcPr marL="177800" marR="177800" marT="76200" marB="76200" anchor="t">
                    <a:lnL w="12700" cap="flat" cmpd="sng" algn="ctr">
                      <a:solidFill>
                        <a:srgbClr val="B8B9BE"/>
                      </a:solidFill>
                      <a:prstDash val="solid"/>
                      <a:round/>
                      <a:headEnd type="none" w="med" len="med"/>
                      <a:tailEnd type="none" w="med" len="med"/>
                    </a:lnL>
                    <a:lnR w="12700" cap="flat" cmpd="sng" algn="ctr">
                      <a:solidFill>
                        <a:srgbClr val="B8B9BE"/>
                      </a:solidFill>
                      <a:prstDash val="solid"/>
                      <a:round/>
                      <a:headEnd type="none" w="med" len="med"/>
                      <a:tailEnd type="none" w="med" len="med"/>
                    </a:lnR>
                    <a:lnT w="0" cap="flat" cmpd="sng" algn="ctr">
                      <a:noFill/>
                    </a:lnT>
                    <a:lnB w="12700" cap="flat" cmpd="sng" algn="ctr">
                      <a:solidFill>
                        <a:srgbClr val="B8B9BE"/>
                      </a:solidFill>
                      <a:prstDash val="solid"/>
                      <a:round/>
                      <a:headEnd type="none" w="med" len="med"/>
                      <a:tailEnd type="none" w="med" len="med"/>
                    </a:lnB>
                    <a:solidFill>
                      <a:srgbClr val="E6E8EE"/>
                    </a:solidFill>
                  </a:tcPr>
                </a:tc>
              </a:tr>
              <a:tr h="387945">
                <a:tc>
                  <a:txBody>
                    <a:bodyPr/>
                    <a:lstStyle/>
                    <a:p>
                      <a:pPr indent="0" marL="0">
                        <a:lnSpc>
                          <a:spcPts val="1820"/>
                        </a:lnSpc>
                        <a:buNone/>
                      </a:pPr>
                      <a:r>
                        <a:rPr lang="en-US" sz="1300" dirty="0">
                          <a:solidFill>
                            <a:srgbClr val="3A46A5"/>
                          </a:solidFill>
                          <a:latin typeface="IBM Plex Sans" pitchFamily="34" charset="0"/>
                          <a:ea typeface="IBM Plex Sans" pitchFamily="34" charset="-122"/>
                          <a:cs typeface="IBM Plex Sans" pitchFamily="34" charset="-120"/>
                        </a:rPr>
                        <a:t>Domain</a:t>
                      </a:r>
                      <a:endParaRPr lang="en-US" sz="13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8B9BE"/>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ентитети и пословна правила, без пројектних зависности</a:t>
                      </a:r>
                      <a:endParaRPr lang="en-US" sz="13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8B9BE"/>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87945">
                <a:tc>
                  <a:txBody>
                    <a:bodyPr/>
                    <a:lstStyle/>
                    <a:p>
                      <a:pPr indent="0" marL="0">
                        <a:lnSpc>
                          <a:spcPts val="1820"/>
                        </a:lnSpc>
                        <a:buNone/>
                      </a:pPr>
                      <a:r>
                        <a:rPr lang="en-US" sz="1300" dirty="0">
                          <a:solidFill>
                            <a:srgbClr val="3A46A5"/>
                          </a:solidFill>
                          <a:latin typeface="IBM Plex Sans" pitchFamily="34" charset="0"/>
                          <a:ea typeface="IBM Plex Sans" pitchFamily="34" charset="-122"/>
                          <a:cs typeface="IBM Plex Sans" pitchFamily="34" charset="-120"/>
                        </a:rPr>
                        <a:t>Application</a:t>
                      </a:r>
                      <a:endParaRPr lang="en-US" sz="13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use-case-ови и портови према другим модулима</a:t>
                      </a:r>
                      <a:endParaRPr lang="en-US" sz="13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87945">
                <a:tc>
                  <a:txBody>
                    <a:bodyPr/>
                    <a:lstStyle/>
                    <a:p>
                      <a:pPr indent="0" marL="0">
                        <a:lnSpc>
                          <a:spcPts val="1820"/>
                        </a:lnSpc>
                        <a:buNone/>
                      </a:pPr>
                      <a:r>
                        <a:rPr lang="en-US" sz="1300" dirty="0">
                          <a:solidFill>
                            <a:srgbClr val="3A46A5"/>
                          </a:solidFill>
                          <a:latin typeface="IBM Plex Sans" pitchFamily="34" charset="0"/>
                          <a:ea typeface="IBM Plex Sans" pitchFamily="34" charset="-122"/>
                          <a:cs typeface="IBM Plex Sans" pitchFamily="34" charset="-120"/>
                        </a:rPr>
                        <a:t>Infrastructure</a:t>
                      </a:r>
                      <a:endParaRPr lang="en-US" sz="13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имплементације портова</a:t>
                      </a:r>
                      <a:endParaRPr lang="en-US" sz="13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87945">
                <a:tc>
                  <a:txBody>
                    <a:bodyPr/>
                    <a:lstStyle/>
                    <a:p>
                      <a:pPr indent="0" marL="0">
                        <a:lnSpc>
                          <a:spcPts val="1820"/>
                        </a:lnSpc>
                        <a:buNone/>
                      </a:pPr>
                      <a:r>
                        <a:rPr lang="en-US" sz="1300" dirty="0">
                          <a:solidFill>
                            <a:srgbClr val="3A46A5"/>
                          </a:solidFill>
                          <a:latin typeface="IBM Plex Sans" pitchFamily="34" charset="0"/>
                          <a:ea typeface="IBM Plex Sans" pitchFamily="34" charset="-122"/>
                          <a:cs typeface="IBM Plex Sans" pitchFamily="34" charset="-120"/>
                        </a:rPr>
                        <a:t>Api</a:t>
                      </a:r>
                      <a:endParaRPr lang="en-US" sz="13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composition root и HTTP граница</a:t>
                      </a:r>
                      <a:endParaRPr lang="en-US" sz="13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87945">
                <a:tc>
                  <a:txBody>
                    <a:bodyPr/>
                    <a:lstStyle/>
                    <a:p>
                      <a:pPr indent="0" marL="0">
                        <a:lnSpc>
                          <a:spcPts val="1820"/>
                        </a:lnSpc>
                        <a:buNone/>
                      </a:pPr>
                      <a:r>
                        <a:rPr lang="en-US" sz="1300" dirty="0">
                          <a:solidFill>
                            <a:srgbClr val="A8520A"/>
                          </a:solidFill>
                          <a:latin typeface="IBM Plex Sans" pitchFamily="34" charset="0"/>
                          <a:ea typeface="IBM Plex Sans" pitchFamily="34" charset="-122"/>
                          <a:cs typeface="IBM Plex Sans" pitchFamily="34" charset="-120"/>
                        </a:rPr>
                        <a:t>Mcp</a:t>
                      </a:r>
                      <a:endParaRPr lang="en-US" sz="13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контролисано излагање контекста AI клијенту</a:t>
                      </a:r>
                      <a:endParaRPr lang="en-US" sz="13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87945">
                <a:tc>
                  <a:txBody>
                    <a:bodyPr/>
                    <a:lstStyle/>
                    <a:p>
                      <a:pPr indent="0" marL="0">
                        <a:lnSpc>
                          <a:spcPts val="1820"/>
                        </a:lnSpc>
                        <a:buNone/>
                      </a:pPr>
                      <a:r>
                        <a:rPr lang="en-US" sz="1300" dirty="0">
                          <a:solidFill>
                            <a:srgbClr val="A8520A"/>
                          </a:solidFill>
                          <a:latin typeface="IBM Plex Sans" pitchFamily="34" charset="0"/>
                          <a:ea typeface="IBM Plex Sans" pitchFamily="34" charset="-122"/>
                          <a:cs typeface="IBM Plex Sans" pitchFamily="34" charset="-120"/>
                        </a:rPr>
                        <a:t>Guardrails</a:t>
                      </a:r>
                      <a:endParaRPr lang="en-US" sz="13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детерминистичке политике за ризичне позиве</a:t>
                      </a:r>
                      <a:endParaRPr lang="en-US" sz="13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87945">
                <a:tc>
                  <a:txBody>
                    <a:bodyPr/>
                    <a:lstStyle/>
                    <a:p>
                      <a:pPr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Tests</a:t>
                      </a:r>
                      <a:endParaRPr lang="en-US" sz="13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NUnit провере домена, use-case-а и guardrail-а</a:t>
                      </a:r>
                      <a:endParaRPr lang="en-US" sz="13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2800" y="6209705"/>
            <a:ext cx="10566400" cy="0"/>
          </a:xfrm>
          <a:prstGeom prst="line">
            <a:avLst/>
          </a:prstGeom>
          <a:noFill/>
          <a:ln w="6350">
            <a:solidFill>
              <a:srgbClr val="D3DAE1"/>
            </a:solidFill>
            <a:prstDash val="solid"/>
          </a:ln>
        </p:spPr>
      </p:sp>
      <p:sp>
        <p:nvSpPr>
          <p:cNvPr id="11" name="Text 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6E8EE"/>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3A46A5"/>
                </a:solidFill>
                <a:latin typeface="IBM Plex Mono" pitchFamily="49" charset="0"/>
                <a:ea typeface="IBM Plex Mono" pitchFamily="49" charset="-122"/>
                <a:cs typeface="IBM Plex Mono" pitchFamily="49" charset="-120"/>
              </a:rPr>
              <a:t>02</a:t>
            </a:r>
            <a:endParaRPr lang="en-US" sz="14000" dirty="0"/>
          </a:p>
        </p:txBody>
      </p:sp>
      <p:sp>
        <p:nvSpPr>
          <p:cNvPr id="3" name="Text 1"/>
          <p:cNvSpPr/>
          <p:nvPr/>
        </p:nvSpPr>
        <p:spPr>
          <a:xfrm>
            <a:off x="4267200" y="221238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ДРУГИ ДЕО</a:t>
            </a:r>
            <a:endParaRPr lang="en-US" sz="1200" dirty="0"/>
          </a:p>
        </p:txBody>
      </p:sp>
      <p:sp>
        <p:nvSpPr>
          <p:cNvPr id="4" name="Text 2"/>
          <p:cNvSpPr/>
          <p:nvPr>
            <p:ph type="title"/>
          </p:nvPr>
        </p:nvSpPr>
        <p:spPr>
          <a:xfrm>
            <a:off x="4267200" y="260350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Правило и валидација</a:t>
            </a:r>
            <a:endParaRPr lang="en-US" sz="4800" dirty="0"/>
          </a:p>
        </p:txBody>
      </p:sp>
      <p:sp>
        <p:nvSpPr>
          <p:cNvPr id="5" name="Text 3"/>
          <p:cNvSpPr/>
          <p:nvPr/>
        </p:nvSpPr>
        <p:spPr>
          <a:xfrm>
            <a:off x="4267200" y="342136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Где живи правило о залихи и шта валидатор проверава пре пословног тока.</a:t>
            </a:r>
            <a:endParaRPr lang="en-US" sz="1400" dirty="0"/>
          </a:p>
        </p:txBody>
      </p:sp>
      <p:sp>
        <p:nvSpPr>
          <p:cNvPr id="6" name="Text 4"/>
          <p:cNvSpPr/>
          <p:nvPr/>
        </p:nvSpPr>
        <p:spPr>
          <a:xfrm>
            <a:off x="4270375" y="4117876"/>
            <a:ext cx="1252934"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InventoryItem</a:t>
            </a:r>
            <a:endParaRPr lang="en-US" sz="1200" dirty="0"/>
          </a:p>
        </p:txBody>
      </p:sp>
      <p:sp>
        <p:nvSpPr>
          <p:cNvPr id="7" name="Text 5"/>
          <p:cNvSpPr/>
          <p:nvPr/>
        </p:nvSpPr>
        <p:spPr>
          <a:xfrm>
            <a:off x="5605859" y="4117876"/>
            <a:ext cx="2237284"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InventoryReservationService</a:t>
            </a:r>
            <a:endParaRPr lang="en-US" sz="1200" dirty="0"/>
          </a:p>
        </p:txBody>
      </p:sp>
      <p:sp>
        <p:nvSpPr>
          <p:cNvPr id="8" name="Text 6"/>
          <p:cNvSpPr/>
          <p:nvPr/>
        </p:nvSpPr>
        <p:spPr>
          <a:xfrm>
            <a:off x="7925693" y="4117876"/>
            <a:ext cx="1686123"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Валидатор команде</a:t>
            </a:r>
            <a:endParaRPr lang="en-US" sz="1200" dirty="0"/>
          </a:p>
        </p:txBody>
      </p:sp>
      <p:sp>
        <p:nvSpPr>
          <p:cNvPr id="9" name="Shape 7"/>
          <p:cNvSpPr/>
          <p:nvPr/>
        </p:nvSpPr>
        <p:spPr>
          <a:xfrm>
            <a:off x="812800" y="6209705"/>
            <a:ext cx="10566400" cy="0"/>
          </a:xfrm>
          <a:prstGeom prst="line">
            <a:avLst/>
          </a:prstGeom>
          <a:noFill/>
          <a:ln w="6350">
            <a:solidFill>
              <a:srgbClr val="B5BCD0"/>
            </a:solidFill>
            <a:prstDash val="solid"/>
          </a:ln>
        </p:spPr>
      </p:sp>
      <p:sp>
        <p:nvSpPr>
          <p:cNvPr id="10" name="Text 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1"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02 · ПРАВИЛО И ВАЛИДАЦИЈА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Пословно правило у доменском сервису</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InventoryItem представља стање и нема зависности од HTTP-а, базе, MCP-а или AI алата.</a:t>
            </a:r>
            <a:endParaRPr lang="en-US" sz="1400" dirty="0"/>
          </a:p>
        </p:txBody>
      </p:sp>
      <p:sp>
        <p:nvSpPr>
          <p:cNvPr id="6" name="Shape 4"/>
          <p:cNvSpPr/>
          <p:nvPr/>
        </p:nvSpPr>
        <p:spPr>
          <a:xfrm>
            <a:off x="831850" y="2075061"/>
            <a:ext cx="0" cy="599281"/>
          </a:xfrm>
          <a:prstGeom prst="line">
            <a:avLst/>
          </a:prstGeom>
          <a:noFill/>
          <a:ln w="38100">
            <a:solidFill>
              <a:srgbClr val="3A46A5"/>
            </a:solidFill>
            <a:prstDash val="solid"/>
          </a:ln>
        </p:spPr>
      </p:sp>
      <p:sp>
        <p:nvSpPr>
          <p:cNvPr id="7" name="Text 5"/>
          <p:cNvSpPr/>
          <p:nvPr/>
        </p:nvSpPr>
        <p:spPr>
          <a:xfrm>
            <a:off x="1054100" y="2100461"/>
            <a:ext cx="10634853" cy="573881"/>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3202D"/>
                </a:solidFill>
                <a:latin typeface="IBM Plex Sans" pitchFamily="34" charset="0"/>
                <a:ea typeface="IBM Plex Sans" pitchFamily="34" charset="-122"/>
                <a:cs typeface="IBM Plex Sans" pitchFamily="34" charset="-120"/>
              </a:rPr>
              <a:t>InventoryReservationService: количина мора бити позитивна и не сме бити већа од расположиве количине.</a:t>
            </a:r>
            <a:endParaRPr lang="en-US" sz="1600" dirty="0"/>
          </a:p>
        </p:txBody>
      </p:sp>
      <p:sp>
        <p:nvSpPr>
          <p:cNvPr id="8" name="Shape 6"/>
          <p:cNvSpPr/>
          <p:nvPr/>
        </p:nvSpPr>
        <p:spPr>
          <a:xfrm>
            <a:off x="815975" y="2880717"/>
            <a:ext cx="10560050" cy="1680170"/>
          </a:xfrm>
          <a:prstGeom prst="roundRect">
            <a:avLst>
              <a:gd name="adj" fmla="val 5858"/>
            </a:avLst>
          </a:prstGeom>
          <a:solidFill>
            <a:srgbClr val="FCFCFB"/>
          </a:solidFill>
          <a:ln w="6350">
            <a:solidFill>
              <a:srgbClr val="D3DAE1"/>
            </a:solidFill>
            <a:prstDash val="solid"/>
          </a:ln>
        </p:spPr>
      </p:sp>
      <p:sp>
        <p:nvSpPr>
          <p:cNvPr id="9" name="Text 7"/>
          <p:cNvSpPr/>
          <p:nvPr/>
        </p:nvSpPr>
        <p:spPr>
          <a:xfrm>
            <a:off x="1022350" y="3023592"/>
            <a:ext cx="104517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ПРИМЕР · РАСПОЛОЖИВО 5 КОМАДА</a:t>
            </a:r>
            <a:endParaRPr lang="en-US" sz="1200" dirty="0"/>
          </a:p>
        </p:txBody>
      </p:sp>
      <p:sp>
        <p:nvSpPr>
          <p:cNvPr id="10" name="Text 8"/>
          <p:cNvSpPr/>
          <p:nvPr/>
        </p:nvSpPr>
        <p:spPr>
          <a:xfrm>
            <a:off x="1022350" y="3362623"/>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захтев 3</a:t>
            </a:r>
            <a:endParaRPr lang="en-US" sz="1300" dirty="0"/>
          </a:p>
        </p:txBody>
      </p:sp>
      <p:sp>
        <p:nvSpPr>
          <p:cNvPr id="11" name="Shape 9"/>
          <p:cNvSpPr/>
          <p:nvPr/>
        </p:nvSpPr>
        <p:spPr>
          <a:xfrm>
            <a:off x="2317750" y="3325813"/>
            <a:ext cx="304800" cy="304800"/>
          </a:xfrm>
          <a:prstGeom prst="roundRect">
            <a:avLst>
              <a:gd name="adj" fmla="val 16667"/>
            </a:avLst>
          </a:prstGeom>
          <a:solidFill>
            <a:srgbClr val="3A46A5"/>
          </a:solidFill>
          <a:ln/>
        </p:spPr>
      </p:sp>
      <p:sp>
        <p:nvSpPr>
          <p:cNvPr id="12" name="Shape 10"/>
          <p:cNvSpPr/>
          <p:nvPr/>
        </p:nvSpPr>
        <p:spPr>
          <a:xfrm>
            <a:off x="2673350" y="3325813"/>
            <a:ext cx="304800" cy="304800"/>
          </a:xfrm>
          <a:prstGeom prst="roundRect">
            <a:avLst>
              <a:gd name="adj" fmla="val 16667"/>
            </a:avLst>
          </a:prstGeom>
          <a:solidFill>
            <a:srgbClr val="3A46A5"/>
          </a:solidFill>
          <a:ln/>
        </p:spPr>
      </p:sp>
      <p:sp>
        <p:nvSpPr>
          <p:cNvPr id="13" name="Shape 11"/>
          <p:cNvSpPr/>
          <p:nvPr/>
        </p:nvSpPr>
        <p:spPr>
          <a:xfrm>
            <a:off x="3028950" y="3325813"/>
            <a:ext cx="304800" cy="304800"/>
          </a:xfrm>
          <a:prstGeom prst="roundRect">
            <a:avLst>
              <a:gd name="adj" fmla="val 16667"/>
            </a:avLst>
          </a:prstGeom>
          <a:solidFill>
            <a:srgbClr val="3A46A5"/>
          </a:solidFill>
          <a:ln/>
        </p:spPr>
      </p:sp>
      <p:sp>
        <p:nvSpPr>
          <p:cNvPr id="14" name="Shape 12"/>
          <p:cNvSpPr/>
          <p:nvPr/>
        </p:nvSpPr>
        <p:spPr>
          <a:xfrm>
            <a:off x="3390900" y="3332163"/>
            <a:ext cx="292100" cy="292100"/>
          </a:xfrm>
          <a:prstGeom prst="roundRect">
            <a:avLst>
              <a:gd name="adj" fmla="val 15217"/>
            </a:avLst>
          </a:prstGeom>
          <a:solidFill>
            <a:srgbClr val="FCFCFB"/>
          </a:solidFill>
          <a:ln w="12700">
            <a:solidFill>
              <a:srgbClr val="B6BBDE"/>
            </a:solidFill>
            <a:prstDash val="solid"/>
          </a:ln>
        </p:spPr>
      </p:sp>
      <p:sp>
        <p:nvSpPr>
          <p:cNvPr id="15" name="Shape 13"/>
          <p:cNvSpPr/>
          <p:nvPr/>
        </p:nvSpPr>
        <p:spPr>
          <a:xfrm>
            <a:off x="3746500" y="3332163"/>
            <a:ext cx="292100" cy="292100"/>
          </a:xfrm>
          <a:prstGeom prst="roundRect">
            <a:avLst>
              <a:gd name="adj" fmla="val 15217"/>
            </a:avLst>
          </a:prstGeom>
          <a:solidFill>
            <a:srgbClr val="FCFCFB"/>
          </a:solidFill>
          <a:ln w="12700">
            <a:solidFill>
              <a:srgbClr val="B6BBDE"/>
            </a:solidFill>
            <a:prstDash val="solid"/>
          </a:ln>
        </p:spPr>
      </p:sp>
      <p:sp>
        <p:nvSpPr>
          <p:cNvPr id="16" name="Text 14"/>
          <p:cNvSpPr/>
          <p:nvPr/>
        </p:nvSpPr>
        <p:spPr>
          <a:xfrm>
            <a:off x="4197350" y="3362623"/>
            <a:ext cx="718146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6A5"/>
                </a:solidFill>
                <a:latin typeface="IBM Plex Sans" pitchFamily="34" charset="0"/>
                <a:ea typeface="IBM Plex Sans" pitchFamily="34" charset="-122"/>
                <a:cs typeface="IBM Plex Sans" pitchFamily="34" charset="-120"/>
              </a:rPr>
              <a:t>дозвољено, остају 2</a:t>
            </a:r>
            <a:endParaRPr lang="en-US" sz="1300" dirty="0"/>
          </a:p>
        </p:txBody>
      </p:sp>
      <p:sp>
        <p:nvSpPr>
          <p:cNvPr id="17" name="Text 15"/>
          <p:cNvSpPr/>
          <p:nvPr/>
        </p:nvSpPr>
        <p:spPr>
          <a:xfrm>
            <a:off x="1022350" y="3756323"/>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захтев 6</a:t>
            </a:r>
            <a:endParaRPr lang="en-US" sz="1300" dirty="0"/>
          </a:p>
        </p:txBody>
      </p:sp>
      <p:sp>
        <p:nvSpPr>
          <p:cNvPr id="18" name="Shape 16"/>
          <p:cNvSpPr/>
          <p:nvPr/>
        </p:nvSpPr>
        <p:spPr>
          <a:xfrm>
            <a:off x="2317750" y="3719512"/>
            <a:ext cx="304800" cy="304800"/>
          </a:xfrm>
          <a:prstGeom prst="roundRect">
            <a:avLst>
              <a:gd name="adj" fmla="val 16667"/>
            </a:avLst>
          </a:prstGeom>
          <a:solidFill>
            <a:srgbClr val="E9B98C"/>
          </a:solidFill>
          <a:ln/>
        </p:spPr>
      </p:sp>
      <p:sp>
        <p:nvSpPr>
          <p:cNvPr id="19" name="Shape 17"/>
          <p:cNvSpPr/>
          <p:nvPr/>
        </p:nvSpPr>
        <p:spPr>
          <a:xfrm>
            <a:off x="2673350" y="3719512"/>
            <a:ext cx="304800" cy="304800"/>
          </a:xfrm>
          <a:prstGeom prst="roundRect">
            <a:avLst>
              <a:gd name="adj" fmla="val 16667"/>
            </a:avLst>
          </a:prstGeom>
          <a:solidFill>
            <a:srgbClr val="E9B98C"/>
          </a:solidFill>
          <a:ln/>
        </p:spPr>
      </p:sp>
      <p:sp>
        <p:nvSpPr>
          <p:cNvPr id="20" name="Shape 18"/>
          <p:cNvSpPr/>
          <p:nvPr/>
        </p:nvSpPr>
        <p:spPr>
          <a:xfrm>
            <a:off x="3028950" y="3719512"/>
            <a:ext cx="304800" cy="304800"/>
          </a:xfrm>
          <a:prstGeom prst="roundRect">
            <a:avLst>
              <a:gd name="adj" fmla="val 16667"/>
            </a:avLst>
          </a:prstGeom>
          <a:solidFill>
            <a:srgbClr val="E9B98C"/>
          </a:solidFill>
          <a:ln/>
        </p:spPr>
      </p:sp>
      <p:sp>
        <p:nvSpPr>
          <p:cNvPr id="21" name="Shape 19"/>
          <p:cNvSpPr/>
          <p:nvPr/>
        </p:nvSpPr>
        <p:spPr>
          <a:xfrm>
            <a:off x="3384550" y="3719512"/>
            <a:ext cx="304800" cy="304800"/>
          </a:xfrm>
          <a:prstGeom prst="roundRect">
            <a:avLst>
              <a:gd name="adj" fmla="val 16667"/>
            </a:avLst>
          </a:prstGeom>
          <a:solidFill>
            <a:srgbClr val="E9B98C"/>
          </a:solidFill>
          <a:ln/>
        </p:spPr>
      </p:sp>
      <p:sp>
        <p:nvSpPr>
          <p:cNvPr id="22" name="Shape 20"/>
          <p:cNvSpPr/>
          <p:nvPr/>
        </p:nvSpPr>
        <p:spPr>
          <a:xfrm>
            <a:off x="3740150" y="3719512"/>
            <a:ext cx="304800" cy="304800"/>
          </a:xfrm>
          <a:prstGeom prst="roundRect">
            <a:avLst>
              <a:gd name="adj" fmla="val 16667"/>
            </a:avLst>
          </a:prstGeom>
          <a:solidFill>
            <a:srgbClr val="E9B98C"/>
          </a:solidFill>
          <a:ln/>
        </p:spPr>
      </p:sp>
      <p:sp>
        <p:nvSpPr>
          <p:cNvPr id="23" name="Shape 21"/>
          <p:cNvSpPr/>
          <p:nvPr/>
        </p:nvSpPr>
        <p:spPr>
          <a:xfrm>
            <a:off x="4102100" y="3725863"/>
            <a:ext cx="292100" cy="292100"/>
          </a:xfrm>
          <a:prstGeom prst="roundRect">
            <a:avLst>
              <a:gd name="adj" fmla="val 15217"/>
            </a:avLst>
          </a:prstGeom>
          <a:solidFill>
            <a:srgbClr val="FCFCFB"/>
          </a:solidFill>
          <a:ln w="12700">
            <a:solidFill>
              <a:srgbClr val="E07B1F"/>
            </a:solidFill>
            <a:prstDash val="dash"/>
          </a:ln>
        </p:spPr>
      </p:sp>
      <p:sp>
        <p:nvSpPr>
          <p:cNvPr id="24" name="Text 22"/>
          <p:cNvSpPr/>
          <p:nvPr/>
        </p:nvSpPr>
        <p:spPr>
          <a:xfrm>
            <a:off x="4552950" y="3756323"/>
            <a:ext cx="681520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8520A"/>
                </a:solidFill>
                <a:latin typeface="IBM Plex Sans" pitchFamily="34" charset="0"/>
                <a:ea typeface="IBM Plex Sans" pitchFamily="34" charset="-122"/>
                <a:cs typeface="IBM Plex Sans" pitchFamily="34" charset="-120"/>
              </a:rPr>
              <a:t>одбијено, више од расположивог</a:t>
            </a:r>
            <a:endParaRPr lang="en-US" sz="1300" dirty="0"/>
          </a:p>
        </p:txBody>
      </p:sp>
      <p:sp>
        <p:nvSpPr>
          <p:cNvPr id="25" name="Text 23"/>
          <p:cNvSpPr/>
          <p:nvPr/>
        </p:nvSpPr>
        <p:spPr>
          <a:xfrm>
            <a:off x="1022350" y="4150023"/>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захтев 0</a:t>
            </a:r>
            <a:endParaRPr lang="en-US" sz="1300" dirty="0"/>
          </a:p>
        </p:txBody>
      </p:sp>
      <p:sp>
        <p:nvSpPr>
          <p:cNvPr id="26" name="Shape 24"/>
          <p:cNvSpPr/>
          <p:nvPr/>
        </p:nvSpPr>
        <p:spPr>
          <a:xfrm>
            <a:off x="2324100" y="4119562"/>
            <a:ext cx="292100" cy="292100"/>
          </a:xfrm>
          <a:prstGeom prst="roundRect">
            <a:avLst>
              <a:gd name="adj" fmla="val 15217"/>
            </a:avLst>
          </a:prstGeom>
          <a:solidFill>
            <a:srgbClr val="FCFCFB"/>
          </a:solidFill>
          <a:ln w="12700">
            <a:solidFill>
              <a:srgbClr val="E07B1F"/>
            </a:solidFill>
            <a:prstDash val="dash"/>
          </a:ln>
        </p:spPr>
      </p:sp>
      <p:sp>
        <p:nvSpPr>
          <p:cNvPr id="27" name="Text 25"/>
          <p:cNvSpPr/>
          <p:nvPr/>
        </p:nvSpPr>
        <p:spPr>
          <a:xfrm>
            <a:off x="2774950" y="4150023"/>
            <a:ext cx="864654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8520A"/>
                </a:solidFill>
                <a:latin typeface="IBM Plex Sans" pitchFamily="34" charset="0"/>
                <a:ea typeface="IBM Plex Sans" pitchFamily="34" charset="-122"/>
                <a:cs typeface="IBM Plex Sans" pitchFamily="34" charset="-120"/>
              </a:rPr>
              <a:t>одбијено, количина мора бити позитивна</a:t>
            </a:r>
            <a:endParaRPr lang="en-US" sz="1300" dirty="0"/>
          </a:p>
        </p:txBody>
      </p:sp>
      <p:sp>
        <p:nvSpPr>
          <p:cNvPr id="28" name="Shape 26"/>
          <p:cNvSpPr/>
          <p:nvPr/>
        </p:nvSpPr>
        <p:spPr>
          <a:xfrm>
            <a:off x="812800" y="4767263"/>
            <a:ext cx="10566400" cy="715566"/>
          </a:xfrm>
          <a:prstGeom prst="roundRect">
            <a:avLst>
              <a:gd name="adj" fmla="val 14199"/>
            </a:avLst>
          </a:prstGeom>
          <a:solidFill>
            <a:srgbClr val="E6E8EE"/>
          </a:solidFill>
          <a:ln/>
        </p:spPr>
      </p:sp>
      <p:sp>
        <p:nvSpPr>
          <p:cNvPr id="29" name="Shape 27"/>
          <p:cNvSpPr/>
          <p:nvPr/>
        </p:nvSpPr>
        <p:spPr>
          <a:xfrm>
            <a:off x="812800" y="4767263"/>
            <a:ext cx="10566400" cy="715566"/>
          </a:xfrm>
          <a:custGeom>
            <a:avLst/>
            <a:gdLst/>
            <a:ahLst/>
            <a:cxnLst/>
            <a:rect l="l" t="t" r="r" b="b"/>
            <a:pathLst>
              <a:path w="10566400" h="715566">
                <a:moveTo>
                  <a:pt x="101600" y="715566"/>
                </a:moveTo>
                <a:lnTo>
                  <a:pt x="101600" y="715566"/>
                </a:lnTo>
                <a:arcTo hR="101600" wR="101600" stAng="5400000" swAng="5400000"/>
                <a:lnTo>
                  <a:pt x="0" y="101600"/>
                </a:lnTo>
                <a:arcTo hR="101600" wR="101600" stAng="10800000" swAng="5400000"/>
                <a:lnTo>
                  <a:pt x="101600" y="0"/>
                </a:lnTo>
                <a:arcTo hR="101600" wR="63500" stAng="16200000" swAng="-5400000"/>
                <a:lnTo>
                  <a:pt x="38100" y="613966"/>
                </a:lnTo>
                <a:arcTo hR="101600" wR="63500" stAng="10800000" swAng="-5400000"/>
                <a:close/>
              </a:path>
            </a:pathLst>
          </a:custGeom>
          <a:solidFill>
            <a:srgbClr val="3A46A5"/>
          </a:solidFill>
          <a:ln/>
        </p:spPr>
      </p:sp>
      <p:sp>
        <p:nvSpPr>
          <p:cNvPr id="30" name="Text 28"/>
          <p:cNvSpPr/>
          <p:nvPr/>
        </p:nvSpPr>
        <p:spPr>
          <a:xfrm>
            <a:off x="1054100" y="489426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A46A5"/>
                </a:solidFill>
                <a:latin typeface="IBM Plex Mono" pitchFamily="49" charset="0"/>
                <a:ea typeface="IBM Plex Mono" pitchFamily="49" charset="-122"/>
                <a:cs typeface="IBM Plex Mono" pitchFamily="49" charset="-120"/>
              </a:rPr>
              <a:t>НАПОМЕНА</a:t>
            </a:r>
            <a:endParaRPr lang="en-US" sz="1200" dirty="0"/>
          </a:p>
        </p:txBody>
      </p:sp>
      <p:sp>
        <p:nvSpPr>
          <p:cNvPr id="31" name="Text 29"/>
          <p:cNvSpPr/>
          <p:nvPr/>
        </p:nvSpPr>
        <p:spPr>
          <a:xfrm>
            <a:off x="1054100" y="5132983"/>
            <a:ext cx="1042555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Исто правило користе API, тестови и будући адаптери без дуплирања.</a:t>
            </a:r>
            <a:endParaRPr lang="en-US" sz="1300" dirty="0"/>
          </a:p>
        </p:txBody>
      </p:sp>
      <p:sp>
        <p:nvSpPr>
          <p:cNvPr id="32" name="Shape 30"/>
          <p:cNvSpPr/>
          <p:nvPr/>
        </p:nvSpPr>
        <p:spPr>
          <a:xfrm>
            <a:off x="812800" y="6209705"/>
            <a:ext cx="10566400" cy="0"/>
          </a:xfrm>
          <a:prstGeom prst="line">
            <a:avLst/>
          </a:prstGeom>
          <a:noFill/>
          <a:ln w="6350">
            <a:solidFill>
              <a:srgbClr val="D3DAE1"/>
            </a:solidFill>
            <a:prstDash val="solid"/>
          </a:ln>
        </p:spPr>
      </p:sp>
      <p:sp>
        <p:nvSpPr>
          <p:cNvPr id="33" name="Text 3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4" name="Text 3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02 · ПРАВИЛО И ВАЛИДАЦИЈА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Валидација захтева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Валидатор проверава облик и опсег улаза пре покретања пословног тока.</a:t>
            </a:r>
            <a:endParaRPr lang="en-US" sz="1400" dirty="0"/>
          </a:p>
        </p:txBody>
      </p:sp>
      <p:sp>
        <p:nvSpPr>
          <p:cNvPr id="6" name="Shape 4"/>
          <p:cNvSpPr/>
          <p:nvPr/>
        </p:nvSpPr>
        <p:spPr>
          <a:xfrm>
            <a:off x="815975" y="2129036"/>
            <a:ext cx="7613650" cy="3036094"/>
          </a:xfrm>
          <a:prstGeom prst="roundRect">
            <a:avLst>
              <a:gd name="adj" fmla="val 3242"/>
            </a:avLst>
          </a:prstGeom>
          <a:solidFill>
            <a:srgbClr val="FCFCFB"/>
          </a:solidFill>
          <a:ln w="6350">
            <a:solidFill>
              <a:srgbClr val="D3DAE1"/>
            </a:solidFill>
            <a:prstDash val="solid"/>
          </a:ln>
        </p:spPr>
      </p:sp>
      <p:sp>
        <p:nvSpPr>
          <p:cNvPr id="7" name="Text 5"/>
          <p:cNvSpPr/>
          <p:nvPr/>
        </p:nvSpPr>
        <p:spPr>
          <a:xfrm>
            <a:off x="1009650" y="2271911"/>
            <a:ext cx="74430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Application</a:t>
            </a:r>
            <a:endParaRPr lang="en-US" sz="1200" dirty="0"/>
          </a:p>
        </p:txBody>
      </p:sp>
      <p:sp>
        <p:nvSpPr>
          <p:cNvPr id="8" name="Text 6"/>
          <p:cNvSpPr/>
          <p:nvPr/>
        </p:nvSpPr>
        <p:spPr>
          <a:xfrm>
            <a:off x="1009650" y="25487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90650" y="2548731"/>
            <a:ext cx="70506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A5"/>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Result Validate(CreateReservationCommand command)</a:t>
            </a:r>
            <a:endParaRPr lang="en-US" sz="1200" dirty="0"/>
          </a:p>
        </p:txBody>
      </p:sp>
      <p:sp>
        <p:nvSpPr>
          <p:cNvPr id="10" name="Text 8"/>
          <p:cNvSpPr/>
          <p:nvPr/>
        </p:nvSpPr>
        <p:spPr>
          <a:xfrm>
            <a:off x="1009650" y="27747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90650" y="2774752"/>
            <a:ext cx="70506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1009650" y="30007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90650" y="3000772"/>
            <a:ext cx="70506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ArgumentNullException.ThrowIfNull(command);</a:t>
            </a:r>
            <a:endParaRPr lang="en-US" sz="1200" dirty="0"/>
          </a:p>
        </p:txBody>
      </p:sp>
      <p:sp>
        <p:nvSpPr>
          <p:cNvPr id="14" name="Text 12"/>
          <p:cNvSpPr/>
          <p:nvPr/>
        </p:nvSpPr>
        <p:spPr>
          <a:xfrm>
            <a:off x="1009650" y="3226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90650" y="3226792"/>
            <a:ext cx="70506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3A46A5"/>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(command.RequestId == Guid.Empty)</a:t>
            </a:r>
            <a:endParaRPr lang="en-US" sz="1200" dirty="0"/>
          </a:p>
        </p:txBody>
      </p:sp>
      <p:sp>
        <p:nvSpPr>
          <p:cNvPr id="16" name="Text 14"/>
          <p:cNvSpPr/>
          <p:nvPr/>
        </p:nvSpPr>
        <p:spPr>
          <a:xfrm>
            <a:off x="1009650" y="34528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90650" y="3452813"/>
            <a:ext cx="70506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3A46A5"/>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Result.Fail(</a:t>
            </a:r>
            <a:endParaRPr lang="en-US" sz="1200" dirty="0"/>
          </a:p>
        </p:txBody>
      </p:sp>
      <p:sp>
        <p:nvSpPr>
          <p:cNvPr id="18" name="Text 16"/>
          <p:cNvSpPr/>
          <p:nvPr/>
        </p:nvSpPr>
        <p:spPr>
          <a:xfrm>
            <a:off x="1009650" y="36788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90650" y="3678833"/>
            <a:ext cx="70506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CreateReservationErrorCodes.</a:t>
            </a:r>
            <a:r>
              <a:rPr lang="en-US" sz="1200" dirty="0">
                <a:solidFill>
                  <a:srgbClr val="A8520A"/>
                </a:solidFill>
                <a:latin typeface="IBM Plex Mono" pitchFamily="49" charset="0"/>
                <a:ea typeface="IBM Plex Mono" pitchFamily="49" charset="-122"/>
                <a:cs typeface="IBM Plex Mono" pitchFamily="49" charset="-120"/>
              </a:rPr>
              <a:t>RequestIdRequired</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0" name="Text 18"/>
          <p:cNvSpPr/>
          <p:nvPr/>
        </p:nvSpPr>
        <p:spPr>
          <a:xfrm>
            <a:off x="1009650" y="39048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90650" y="3904853"/>
            <a:ext cx="70506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3A46A5"/>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(command.Quantity &lt;= 0)</a:t>
            </a:r>
            <a:endParaRPr lang="en-US" sz="1200" dirty="0"/>
          </a:p>
        </p:txBody>
      </p:sp>
      <p:sp>
        <p:nvSpPr>
          <p:cNvPr id="22" name="Text 20"/>
          <p:cNvSpPr/>
          <p:nvPr/>
        </p:nvSpPr>
        <p:spPr>
          <a:xfrm>
            <a:off x="1009650" y="41308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90650" y="4130873"/>
            <a:ext cx="70506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3A46A5"/>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Result.Fail(</a:t>
            </a:r>
            <a:endParaRPr lang="en-US" sz="1200" dirty="0"/>
          </a:p>
        </p:txBody>
      </p:sp>
      <p:sp>
        <p:nvSpPr>
          <p:cNvPr id="24" name="Text 22"/>
          <p:cNvSpPr/>
          <p:nvPr/>
        </p:nvSpPr>
        <p:spPr>
          <a:xfrm>
            <a:off x="1009650" y="43568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390650" y="4356894"/>
            <a:ext cx="70506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CreateReservationErrorCodes.</a:t>
            </a:r>
            <a:r>
              <a:rPr lang="en-US" sz="1200" dirty="0">
                <a:solidFill>
                  <a:srgbClr val="A8520A"/>
                </a:solidFill>
                <a:latin typeface="IBM Plex Mono" pitchFamily="49" charset="0"/>
                <a:ea typeface="IBM Plex Mono" pitchFamily="49" charset="-122"/>
                <a:cs typeface="IBM Plex Mono" pitchFamily="49" charset="-120"/>
              </a:rPr>
              <a:t>QuantityMustBePositive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6" name="Text 24"/>
          <p:cNvSpPr/>
          <p:nvPr/>
        </p:nvSpPr>
        <p:spPr>
          <a:xfrm>
            <a:off x="1009650" y="45829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7" name="Text 25"/>
          <p:cNvSpPr/>
          <p:nvPr/>
        </p:nvSpPr>
        <p:spPr>
          <a:xfrm>
            <a:off x="1390650" y="4582914"/>
            <a:ext cx="70506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3A46A5"/>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Result.Ok();</a:t>
            </a:r>
            <a:endParaRPr lang="en-US" sz="1200" dirty="0"/>
          </a:p>
        </p:txBody>
      </p:sp>
      <p:sp>
        <p:nvSpPr>
          <p:cNvPr id="28" name="Text 26"/>
          <p:cNvSpPr/>
          <p:nvPr/>
        </p:nvSpPr>
        <p:spPr>
          <a:xfrm>
            <a:off x="1009650" y="48089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9" name="Text 27"/>
          <p:cNvSpPr/>
          <p:nvPr/>
        </p:nvSpPr>
        <p:spPr>
          <a:xfrm>
            <a:off x="1390650" y="4808934"/>
            <a:ext cx="70506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0" name="Text 28"/>
          <p:cNvSpPr/>
          <p:nvPr/>
        </p:nvSpPr>
        <p:spPr>
          <a:xfrm>
            <a:off x="8712200" y="2125861"/>
            <a:ext cx="27470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1" name="Shape 29"/>
          <p:cNvSpPr/>
          <p:nvPr/>
        </p:nvSpPr>
        <p:spPr>
          <a:xfrm>
            <a:off x="8724900" y="2466181"/>
            <a:ext cx="0" cy="256480"/>
          </a:xfrm>
          <a:prstGeom prst="line">
            <a:avLst/>
          </a:prstGeom>
          <a:noFill/>
          <a:ln w="25400">
            <a:solidFill>
              <a:srgbClr val="3A46A5"/>
            </a:solidFill>
            <a:prstDash val="solid"/>
          </a:ln>
        </p:spPr>
      </p:sp>
      <p:sp>
        <p:nvSpPr>
          <p:cNvPr id="32" name="Text 30"/>
          <p:cNvSpPr/>
          <p:nvPr/>
        </p:nvSpPr>
        <p:spPr>
          <a:xfrm>
            <a:off x="8877300" y="2478881"/>
            <a:ext cx="257695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Модел само носи стање.</a:t>
            </a:r>
            <a:endParaRPr lang="en-US" sz="1300" dirty="0"/>
          </a:p>
        </p:txBody>
      </p:sp>
      <p:sp>
        <p:nvSpPr>
          <p:cNvPr id="33" name="Shape 31"/>
          <p:cNvSpPr/>
          <p:nvPr/>
        </p:nvSpPr>
        <p:spPr>
          <a:xfrm>
            <a:off x="8724900" y="2849662"/>
            <a:ext cx="0" cy="487561"/>
          </a:xfrm>
          <a:prstGeom prst="line">
            <a:avLst/>
          </a:prstGeom>
          <a:noFill/>
          <a:ln w="25400">
            <a:solidFill>
              <a:srgbClr val="3A46A5"/>
            </a:solidFill>
            <a:prstDash val="solid"/>
          </a:ln>
        </p:spPr>
      </p:sp>
      <p:sp>
        <p:nvSpPr>
          <p:cNvPr id="34" name="Text 32"/>
          <p:cNvSpPr/>
          <p:nvPr/>
        </p:nvSpPr>
        <p:spPr>
          <a:xfrm>
            <a:off x="8877300" y="2862362"/>
            <a:ext cx="257695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Validator проверава обавезна поља и опсег.</a:t>
            </a:r>
            <a:endParaRPr lang="en-US" sz="1300" dirty="0"/>
          </a:p>
        </p:txBody>
      </p:sp>
      <p:sp>
        <p:nvSpPr>
          <p:cNvPr id="35" name="Shape 33"/>
          <p:cNvSpPr/>
          <p:nvPr/>
        </p:nvSpPr>
        <p:spPr>
          <a:xfrm>
            <a:off x="8724900" y="3464223"/>
            <a:ext cx="0" cy="487561"/>
          </a:xfrm>
          <a:prstGeom prst="line">
            <a:avLst/>
          </a:prstGeom>
          <a:noFill/>
          <a:ln w="25400">
            <a:solidFill>
              <a:srgbClr val="E07B1F"/>
            </a:solidFill>
            <a:prstDash val="solid"/>
          </a:ln>
        </p:spPr>
      </p:sp>
      <p:sp>
        <p:nvSpPr>
          <p:cNvPr id="36" name="Text 34"/>
          <p:cNvSpPr/>
          <p:nvPr/>
        </p:nvSpPr>
        <p:spPr>
          <a:xfrm>
            <a:off x="8877300" y="3476923"/>
            <a:ext cx="257695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Handler покреће проверу пре позива портова.</a:t>
            </a:r>
            <a:endParaRPr lang="en-US" sz="1300" dirty="0"/>
          </a:p>
        </p:txBody>
      </p:sp>
      <p:sp>
        <p:nvSpPr>
          <p:cNvPr id="37" name="Shape 35"/>
          <p:cNvSpPr/>
          <p:nvPr/>
        </p:nvSpPr>
        <p:spPr>
          <a:xfrm>
            <a:off x="812800" y="6209705"/>
            <a:ext cx="10566400" cy="0"/>
          </a:xfrm>
          <a:prstGeom prst="line">
            <a:avLst/>
          </a:prstGeom>
          <a:noFill/>
          <a:ln w="6350">
            <a:solidFill>
              <a:srgbClr val="D3DAE1"/>
            </a:solidFill>
            <a:prstDash val="solid"/>
          </a:ln>
        </p:spPr>
      </p:sp>
      <p:sp>
        <p:nvSpPr>
          <p:cNvPr id="38" name="Text 3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9" name="Text 3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6E8EE"/>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3A46A5"/>
                </a:solidFill>
                <a:latin typeface="IBM Plex Mono" pitchFamily="49" charset="0"/>
                <a:ea typeface="IBM Plex Mono" pitchFamily="49" charset="-122"/>
                <a:cs typeface="IBM Plex Mono" pitchFamily="49" charset="-120"/>
              </a:rPr>
              <a:t>03</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ТРЕЋИ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Уговор између модула</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Како Reservations користи Inventory без увида у његове интерне детаље.</a:t>
            </a:r>
            <a:endParaRPr lang="en-US" sz="1400" dirty="0"/>
          </a:p>
        </p:txBody>
      </p:sp>
      <p:sp>
        <p:nvSpPr>
          <p:cNvPr id="6" name="Text 4"/>
          <p:cNvSpPr/>
          <p:nvPr/>
        </p:nvSpPr>
        <p:spPr>
          <a:xfrm>
            <a:off x="4270375" y="3915966"/>
            <a:ext cx="1492548"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IInventoryModule</a:t>
            </a:r>
            <a:endParaRPr lang="en-US" sz="1200" dirty="0"/>
          </a:p>
        </p:txBody>
      </p:sp>
      <p:sp>
        <p:nvSpPr>
          <p:cNvPr id="7" name="Text 5"/>
          <p:cNvSpPr/>
          <p:nvPr/>
        </p:nvSpPr>
        <p:spPr>
          <a:xfrm>
            <a:off x="5845473" y="3915966"/>
            <a:ext cx="2069703"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CreateReservationHandler</a:t>
            </a:r>
            <a:endParaRPr lang="en-US" sz="1200" dirty="0"/>
          </a:p>
        </p:txBody>
      </p:sp>
      <p:sp>
        <p:nvSpPr>
          <p:cNvPr id="8" name="Text 6"/>
          <p:cNvSpPr/>
          <p:nvPr/>
        </p:nvSpPr>
        <p:spPr>
          <a:xfrm>
            <a:off x="7997726" y="3915966"/>
            <a:ext cx="1447899"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Idempotency key</a:t>
            </a:r>
            <a:endParaRPr lang="en-US" sz="1200" dirty="0"/>
          </a:p>
        </p:txBody>
      </p:sp>
      <p:sp>
        <p:nvSpPr>
          <p:cNvPr id="9" name="Text 7"/>
          <p:cNvSpPr/>
          <p:nvPr/>
        </p:nvSpPr>
        <p:spPr>
          <a:xfrm>
            <a:off x="4270375" y="4319786"/>
            <a:ext cx="1876425"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Тест идемпотентности</a:t>
            </a:r>
            <a:endParaRPr lang="en-US" sz="1200" dirty="0"/>
          </a:p>
        </p:txBody>
      </p:sp>
      <p:sp>
        <p:nvSpPr>
          <p:cNvPr id="10" name="Shape 8"/>
          <p:cNvSpPr/>
          <p:nvPr/>
        </p:nvSpPr>
        <p:spPr>
          <a:xfrm>
            <a:off x="812800" y="6209705"/>
            <a:ext cx="10566400" cy="0"/>
          </a:xfrm>
          <a:prstGeom prst="line">
            <a:avLst/>
          </a:prstGeom>
          <a:noFill/>
          <a:ln w="6350">
            <a:solidFill>
              <a:srgbClr val="B5BCD0"/>
            </a:solidFill>
            <a:prstDash val="solid"/>
          </a:ln>
        </p:spPr>
      </p:sp>
      <p:sp>
        <p:nvSpPr>
          <p:cNvPr id="11" name="Text 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03 · УГОВОР ИЗМЕЂУ МОДУЛА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Уговор између модула Reservations и Inventory</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Апликациони слој описује минималне операције потребне случају употребе.</a:t>
            </a:r>
            <a:endParaRPr lang="en-US" sz="1400" dirty="0"/>
          </a:p>
        </p:txBody>
      </p:sp>
      <p:sp>
        <p:nvSpPr>
          <p:cNvPr id="6" name="Shape 4"/>
          <p:cNvSpPr/>
          <p:nvPr/>
        </p:nvSpPr>
        <p:spPr>
          <a:xfrm>
            <a:off x="815975" y="2129036"/>
            <a:ext cx="3240584" cy="1141611"/>
          </a:xfrm>
          <a:prstGeom prst="roundRect">
            <a:avLst>
              <a:gd name="adj" fmla="val 8622"/>
            </a:avLst>
          </a:prstGeom>
          <a:solidFill>
            <a:srgbClr val="E3E5F2"/>
          </a:solidFill>
          <a:ln w="6350">
            <a:solidFill>
              <a:srgbClr val="B6BBDE"/>
            </a:solidFill>
            <a:prstDash val="solid"/>
          </a:ln>
        </p:spPr>
      </p:sp>
      <p:sp>
        <p:nvSpPr>
          <p:cNvPr id="7" name="Text 5"/>
          <p:cNvSpPr/>
          <p:nvPr/>
        </p:nvSpPr>
        <p:spPr>
          <a:xfrm>
            <a:off x="996950" y="2297311"/>
            <a:ext cx="296499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A46A5"/>
                </a:solidFill>
                <a:latin typeface="IBM Plex Mono" pitchFamily="49" charset="0"/>
                <a:ea typeface="IBM Plex Mono" pitchFamily="49" charset="-122"/>
                <a:cs typeface="IBM Plex Mono" pitchFamily="49" charset="-120"/>
              </a:rPr>
              <a:t>МОДУЛ RESERVATIONS</a:t>
            </a:r>
            <a:endParaRPr lang="en-US" sz="1200" dirty="0"/>
          </a:p>
        </p:txBody>
      </p:sp>
      <p:sp>
        <p:nvSpPr>
          <p:cNvPr id="8" name="Text 6"/>
          <p:cNvSpPr/>
          <p:nvPr/>
        </p:nvSpPr>
        <p:spPr>
          <a:xfrm>
            <a:off x="996950" y="2586831"/>
            <a:ext cx="296499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Mono" pitchFamily="49" charset="0"/>
                <a:ea typeface="IBM Plex Mono" pitchFamily="49" charset="-122"/>
                <a:cs typeface="IBM Plex Mono" pitchFamily="49" charset="-120"/>
              </a:rPr>
              <a:t>CreateReservationHandler</a:t>
            </a:r>
            <a:endParaRPr lang="en-US" sz="1400" dirty="0"/>
          </a:p>
        </p:txBody>
      </p:sp>
      <p:sp>
        <p:nvSpPr>
          <p:cNvPr id="9" name="Text 7"/>
          <p:cNvSpPr/>
          <p:nvPr/>
        </p:nvSpPr>
        <p:spPr>
          <a:xfrm>
            <a:off x="996950" y="2876352"/>
            <a:ext cx="29649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треба му резервација залихе</a:t>
            </a:r>
            <a:endParaRPr lang="en-US" sz="1200" dirty="0"/>
          </a:p>
        </p:txBody>
      </p:sp>
      <p:pic>
        <p:nvPicPr>
          <p:cNvPr id="10" name="Image 0" descr="arrow-right">    </p:cNvPr>
          <p:cNvPicPr>
            <a:picLocks noChangeAspect="1"/>
          </p:cNvPicPr>
          <p:nvPr/>
        </p:nvPicPr>
        <p:blipFill>
          <a:blip r:embed="rId1"/>
          <a:srcRect l="0" r="0" t="0" b="0"/>
          <a:stretch/>
        </p:blipFill>
        <p:spPr>
          <a:xfrm>
            <a:off x="4148634" y="2642691"/>
            <a:ext cx="228600" cy="114300"/>
          </a:xfrm>
          <a:prstGeom prst="rect">
            <a:avLst/>
          </a:prstGeom>
        </p:spPr>
      </p:pic>
      <p:sp>
        <p:nvSpPr>
          <p:cNvPr id="11" name="Shape 8"/>
          <p:cNvSpPr/>
          <p:nvPr/>
        </p:nvSpPr>
        <p:spPr>
          <a:xfrm>
            <a:off x="4472484" y="2132211"/>
            <a:ext cx="3247033" cy="1135261"/>
          </a:xfrm>
          <a:prstGeom prst="roundRect">
            <a:avLst>
              <a:gd name="adj" fmla="val 8390"/>
            </a:avLst>
          </a:prstGeom>
          <a:solidFill>
            <a:srgbClr val="FCFCFB"/>
          </a:solidFill>
          <a:ln w="12700">
            <a:solidFill>
              <a:srgbClr val="3A46A5"/>
            </a:solidFill>
            <a:prstDash val="dash"/>
          </a:ln>
        </p:spPr>
      </p:sp>
      <p:sp>
        <p:nvSpPr>
          <p:cNvPr id="12" name="Text 9"/>
          <p:cNvSpPr/>
          <p:nvPr/>
        </p:nvSpPr>
        <p:spPr>
          <a:xfrm>
            <a:off x="4656634" y="2303661"/>
            <a:ext cx="296509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A46A5"/>
                </a:solidFill>
                <a:latin typeface="IBM Plex Mono" pitchFamily="49" charset="0"/>
                <a:ea typeface="IBM Plex Mono" pitchFamily="49" charset="-122"/>
                <a:cs typeface="IBM Plex Mono" pitchFamily="49" charset="-120"/>
              </a:rPr>
              <a:t>ПОРТ · APPLICATION</a:t>
            </a:r>
            <a:endParaRPr lang="en-US" sz="1200" dirty="0"/>
          </a:p>
        </p:txBody>
      </p:sp>
      <p:sp>
        <p:nvSpPr>
          <p:cNvPr id="13" name="Text 10"/>
          <p:cNvSpPr/>
          <p:nvPr/>
        </p:nvSpPr>
        <p:spPr>
          <a:xfrm>
            <a:off x="4656634" y="2593181"/>
            <a:ext cx="296509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Mono" pitchFamily="49" charset="0"/>
                <a:ea typeface="IBM Plex Mono" pitchFamily="49" charset="-122"/>
                <a:cs typeface="IBM Plex Mono" pitchFamily="49" charset="-120"/>
              </a:rPr>
              <a:t>IInventoryModule</a:t>
            </a:r>
            <a:endParaRPr lang="en-US" sz="1400" dirty="0"/>
          </a:p>
        </p:txBody>
      </p:sp>
      <p:sp>
        <p:nvSpPr>
          <p:cNvPr id="14" name="Text 11"/>
          <p:cNvSpPr/>
          <p:nvPr/>
        </p:nvSpPr>
        <p:spPr>
          <a:xfrm>
            <a:off x="4656634" y="2882702"/>
            <a:ext cx="2965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једна операција: ReserveAsync</a:t>
            </a:r>
            <a:endParaRPr lang="en-US" sz="1200" dirty="0"/>
          </a:p>
        </p:txBody>
      </p:sp>
      <p:pic>
        <p:nvPicPr>
          <p:cNvPr id="15" name="Image 1" descr="arrow-left">    </p:cNvPr>
          <p:cNvPicPr>
            <a:picLocks noChangeAspect="1"/>
          </p:cNvPicPr>
          <p:nvPr/>
        </p:nvPicPr>
        <p:blipFill>
          <a:blip r:embed="rId2"/>
          <a:srcRect l="0" r="0" t="0" b="0"/>
          <a:stretch/>
        </p:blipFill>
        <p:spPr>
          <a:xfrm>
            <a:off x="7814766" y="2642691"/>
            <a:ext cx="228600" cy="114300"/>
          </a:xfrm>
          <a:prstGeom prst="rect">
            <a:avLst/>
          </a:prstGeom>
        </p:spPr>
      </p:pic>
      <p:sp>
        <p:nvSpPr>
          <p:cNvPr id="16" name="Shape 12"/>
          <p:cNvSpPr/>
          <p:nvPr/>
        </p:nvSpPr>
        <p:spPr>
          <a:xfrm>
            <a:off x="8135441" y="2129036"/>
            <a:ext cx="3240584" cy="1141611"/>
          </a:xfrm>
          <a:prstGeom prst="roundRect">
            <a:avLst>
              <a:gd name="adj" fmla="val 8622"/>
            </a:avLst>
          </a:prstGeom>
          <a:solidFill>
            <a:srgbClr val="FBF1E6"/>
          </a:solidFill>
          <a:ln w="6350">
            <a:solidFill>
              <a:srgbClr val="E9B98C"/>
            </a:solidFill>
            <a:prstDash val="solid"/>
          </a:ln>
        </p:spPr>
      </p:sp>
      <p:sp>
        <p:nvSpPr>
          <p:cNvPr id="17" name="Text 13"/>
          <p:cNvSpPr/>
          <p:nvPr/>
        </p:nvSpPr>
        <p:spPr>
          <a:xfrm>
            <a:off x="8316416" y="2297311"/>
            <a:ext cx="296499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МОДУЛ INVENTORY</a:t>
            </a:r>
            <a:endParaRPr lang="en-US" sz="1200" dirty="0"/>
          </a:p>
        </p:txBody>
      </p:sp>
      <p:sp>
        <p:nvSpPr>
          <p:cNvPr id="18" name="Text 14"/>
          <p:cNvSpPr/>
          <p:nvPr/>
        </p:nvSpPr>
        <p:spPr>
          <a:xfrm>
            <a:off x="8316416" y="2586831"/>
            <a:ext cx="296499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адаптер у Infrastructure</a:t>
            </a:r>
            <a:endParaRPr lang="en-US" sz="1400" dirty="0"/>
          </a:p>
        </p:txBody>
      </p:sp>
      <p:sp>
        <p:nvSpPr>
          <p:cNvPr id="19" name="Text 15"/>
          <p:cNvSpPr/>
          <p:nvPr/>
        </p:nvSpPr>
        <p:spPr>
          <a:xfrm>
            <a:off x="8316416" y="2876352"/>
            <a:ext cx="29649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реализује уговор</a:t>
            </a:r>
            <a:endParaRPr lang="en-US" sz="1200" dirty="0"/>
          </a:p>
        </p:txBody>
      </p:sp>
      <p:sp>
        <p:nvSpPr>
          <p:cNvPr id="20" name="Shape 16"/>
          <p:cNvSpPr/>
          <p:nvPr/>
        </p:nvSpPr>
        <p:spPr>
          <a:xfrm>
            <a:off x="815975" y="3505597"/>
            <a:ext cx="10560050" cy="963216"/>
          </a:xfrm>
          <a:prstGeom prst="roundRect">
            <a:avLst>
              <a:gd name="adj" fmla="val 10218"/>
            </a:avLst>
          </a:prstGeom>
          <a:solidFill>
            <a:srgbClr val="FCFCFB"/>
          </a:solidFill>
          <a:ln w="6350">
            <a:solidFill>
              <a:srgbClr val="E9B98C"/>
            </a:solidFill>
            <a:prstDash val="solid"/>
          </a:ln>
        </p:spPr>
      </p:sp>
      <p:sp>
        <p:nvSpPr>
          <p:cNvPr id="21" name="Text 17"/>
          <p:cNvSpPr/>
          <p:nvPr/>
        </p:nvSpPr>
        <p:spPr>
          <a:xfrm>
            <a:off x="1022350" y="3648472"/>
            <a:ext cx="104517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УГОВОР НЕ СМЕ ДА</a:t>
            </a:r>
            <a:endParaRPr lang="en-US" sz="1200" dirty="0"/>
          </a:p>
        </p:txBody>
      </p:sp>
      <p:sp>
        <p:nvSpPr>
          <p:cNvPr id="22" name="Text 18"/>
          <p:cNvSpPr/>
          <p:nvPr/>
        </p:nvSpPr>
        <p:spPr>
          <a:xfrm>
            <a:off x="1022350" y="3950692"/>
            <a:ext cx="3314700" cy="375245"/>
          </a:xfrm>
          <a:prstGeom prst="roundRect">
            <a:avLst>
              <a:gd name="adj" fmla="val 16922"/>
            </a:avLst>
          </a:prstGeom>
          <a:solidFill>
            <a:srgbClr val="FBF1E6"/>
          </a:solidFill>
          <a:ln/>
        </p:spPr>
        <p:txBody>
          <a:bodyPr wrap="square" lIns="95701" tIns="57601" rIns="3118" bIns="32201"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проследи ORM ентитет</a:t>
            </a:r>
            <a:endParaRPr lang="en-US" sz="1300" dirty="0"/>
          </a:p>
        </p:txBody>
      </p:sp>
      <p:sp>
        <p:nvSpPr>
          <p:cNvPr id="23" name="Text 19"/>
          <p:cNvSpPr/>
          <p:nvPr/>
        </p:nvSpPr>
        <p:spPr>
          <a:xfrm>
            <a:off x="4438650" y="3950692"/>
            <a:ext cx="3314700" cy="375245"/>
          </a:xfrm>
          <a:prstGeom prst="roundRect">
            <a:avLst>
              <a:gd name="adj" fmla="val 16922"/>
            </a:avLst>
          </a:prstGeom>
          <a:solidFill>
            <a:srgbClr val="FBF1E6"/>
          </a:solidFill>
          <a:ln/>
        </p:spPr>
        <p:txBody>
          <a:bodyPr wrap="square" lIns="95701" tIns="57601" rIns="3118" bIns="32201"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отвори интерно складиште</a:t>
            </a:r>
            <a:endParaRPr lang="en-US" sz="1300" dirty="0"/>
          </a:p>
        </p:txBody>
      </p:sp>
      <p:sp>
        <p:nvSpPr>
          <p:cNvPr id="24" name="Text 20"/>
          <p:cNvSpPr/>
          <p:nvPr/>
        </p:nvSpPr>
        <p:spPr>
          <a:xfrm>
            <a:off x="7854950" y="3950692"/>
            <a:ext cx="3314700" cy="375245"/>
          </a:xfrm>
          <a:prstGeom prst="roundRect">
            <a:avLst>
              <a:gd name="adj" fmla="val 16922"/>
            </a:avLst>
          </a:prstGeom>
          <a:solidFill>
            <a:srgbClr val="FBF1E6"/>
          </a:solidFill>
          <a:ln/>
        </p:spPr>
        <p:txBody>
          <a:bodyPr wrap="square" lIns="95701" tIns="57601" rIns="3118" bIns="32201"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прекрши границу другог модула</a:t>
            </a:r>
            <a:endParaRPr lang="en-US" sz="1300" dirty="0"/>
          </a:p>
        </p:txBody>
      </p:sp>
      <p:sp>
        <p:nvSpPr>
          <p:cNvPr id="25" name="Shape 21"/>
          <p:cNvSpPr/>
          <p:nvPr/>
        </p:nvSpPr>
        <p:spPr>
          <a:xfrm>
            <a:off x="812800" y="4700588"/>
            <a:ext cx="10566400" cy="715566"/>
          </a:xfrm>
          <a:prstGeom prst="roundRect">
            <a:avLst>
              <a:gd name="adj" fmla="val 14199"/>
            </a:avLst>
          </a:prstGeom>
          <a:solidFill>
            <a:srgbClr val="E6E8EE"/>
          </a:solidFill>
          <a:ln/>
        </p:spPr>
      </p:sp>
      <p:sp>
        <p:nvSpPr>
          <p:cNvPr id="26" name="Shape 22"/>
          <p:cNvSpPr/>
          <p:nvPr/>
        </p:nvSpPr>
        <p:spPr>
          <a:xfrm>
            <a:off x="812800" y="4700588"/>
            <a:ext cx="10566400" cy="715566"/>
          </a:xfrm>
          <a:custGeom>
            <a:avLst/>
            <a:gdLst/>
            <a:ahLst/>
            <a:cxnLst/>
            <a:rect l="l" t="t" r="r" b="b"/>
            <a:pathLst>
              <a:path w="10566400" h="715566">
                <a:moveTo>
                  <a:pt x="101600" y="715566"/>
                </a:moveTo>
                <a:lnTo>
                  <a:pt x="101600" y="715566"/>
                </a:lnTo>
                <a:arcTo hR="101600" wR="101600" stAng="5400000" swAng="5400000"/>
                <a:lnTo>
                  <a:pt x="0" y="101600"/>
                </a:lnTo>
                <a:arcTo hR="101600" wR="101600" stAng="10800000" swAng="5400000"/>
                <a:lnTo>
                  <a:pt x="101600" y="0"/>
                </a:lnTo>
                <a:arcTo hR="101600" wR="63500" stAng="16200000" swAng="-5400000"/>
                <a:lnTo>
                  <a:pt x="38100" y="613966"/>
                </a:lnTo>
                <a:arcTo hR="101600" wR="63500" stAng="10800000" swAng="-5400000"/>
                <a:close/>
              </a:path>
            </a:pathLst>
          </a:custGeom>
          <a:solidFill>
            <a:srgbClr val="3A46A5"/>
          </a:solidFill>
          <a:ln/>
        </p:spPr>
      </p:sp>
      <p:sp>
        <p:nvSpPr>
          <p:cNvPr id="27" name="Text 23"/>
          <p:cNvSpPr/>
          <p:nvPr/>
        </p:nvSpPr>
        <p:spPr>
          <a:xfrm>
            <a:off x="1054100" y="4827588"/>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A46A5"/>
                </a:solidFill>
                <a:latin typeface="IBM Plex Mono" pitchFamily="49" charset="0"/>
                <a:ea typeface="IBM Plex Mono" pitchFamily="49" charset="-122"/>
                <a:cs typeface="IBM Plex Mono" pitchFamily="49" charset="-120"/>
              </a:rPr>
              <a:t>НАПОМЕНА</a:t>
            </a:r>
            <a:endParaRPr lang="en-US" sz="1200" dirty="0"/>
          </a:p>
        </p:txBody>
      </p:sp>
      <p:sp>
        <p:nvSpPr>
          <p:cNvPr id="28" name="Text 24"/>
          <p:cNvSpPr/>
          <p:nvPr/>
        </p:nvSpPr>
        <p:spPr>
          <a:xfrm>
            <a:off x="1054100" y="5066308"/>
            <a:ext cx="1042555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Уговор између модула примењује ISP и DIP.</a:t>
            </a:r>
            <a:endParaRPr lang="en-US" sz="1300" dirty="0"/>
          </a:p>
        </p:txBody>
      </p:sp>
      <p:sp>
        <p:nvSpPr>
          <p:cNvPr id="29" name="Shape 25"/>
          <p:cNvSpPr/>
          <p:nvPr/>
        </p:nvSpPr>
        <p:spPr>
          <a:xfrm>
            <a:off x="812800" y="6209705"/>
            <a:ext cx="10566400" cy="0"/>
          </a:xfrm>
          <a:prstGeom prst="line">
            <a:avLst/>
          </a:prstGeom>
          <a:noFill/>
          <a:ln w="6350">
            <a:solidFill>
              <a:srgbClr val="D3DAE1"/>
            </a:solidFill>
            <a:prstDash val="solid"/>
          </a:ln>
        </p:spPr>
      </p:sp>
      <p:sp>
        <p:nvSpPr>
          <p:cNvPr id="30" name="Text 2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1" name="Text 2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03 · УГОВОР ИЗМЕЂУ МОДУЛА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Порт апликационог слоја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Случај употребе зависи од минималног уговора који му је потребан.</a:t>
            </a:r>
            <a:endParaRPr lang="en-US" sz="1400" dirty="0"/>
          </a:p>
        </p:txBody>
      </p:sp>
      <p:sp>
        <p:nvSpPr>
          <p:cNvPr id="6" name="Shape 4"/>
          <p:cNvSpPr/>
          <p:nvPr/>
        </p:nvSpPr>
        <p:spPr>
          <a:xfrm>
            <a:off x="815975" y="2129036"/>
            <a:ext cx="6597650" cy="3036094"/>
          </a:xfrm>
          <a:prstGeom prst="roundRect">
            <a:avLst>
              <a:gd name="adj" fmla="val 3242"/>
            </a:avLst>
          </a:prstGeom>
          <a:solidFill>
            <a:srgbClr val="FCFCFB"/>
          </a:solidFill>
          <a:ln w="6350">
            <a:solidFill>
              <a:srgbClr val="D3DAE1"/>
            </a:solidFill>
            <a:prstDash val="solid"/>
          </a:ln>
        </p:spPr>
      </p:sp>
      <p:sp>
        <p:nvSpPr>
          <p:cNvPr id="7" name="Text 5"/>
          <p:cNvSpPr/>
          <p:nvPr/>
        </p:nvSpPr>
        <p:spPr>
          <a:xfrm>
            <a:off x="1009650" y="2271911"/>
            <a:ext cx="6396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Application</a:t>
            </a:r>
            <a:endParaRPr lang="en-US" sz="1200" dirty="0"/>
          </a:p>
        </p:txBody>
      </p:sp>
      <p:sp>
        <p:nvSpPr>
          <p:cNvPr id="8" name="Text 6"/>
          <p:cNvSpPr/>
          <p:nvPr/>
        </p:nvSpPr>
        <p:spPr>
          <a:xfrm>
            <a:off x="1009650" y="25487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90650" y="2548731"/>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A5"/>
                </a:solidFill>
                <a:latin typeface="IBM Plex Mono" pitchFamily="49" charset="0"/>
                <a:ea typeface="IBM Plex Mono" pitchFamily="49" charset="-122"/>
                <a:cs typeface="IBM Plex Mono" pitchFamily="49" charset="-120"/>
              </a:rPr>
              <a:t>public sealed record</a:t>
            </a:r>
            <a:r>
              <a:rPr lang="en-US" sz="1200" dirty="0">
                <a:solidFill>
                  <a:srgbClr val="13202D"/>
                </a:solidFill>
                <a:latin typeface="IBM Plex Mono" pitchFamily="49" charset="0"/>
                <a:ea typeface="IBM Plex Mono" pitchFamily="49" charset="-122"/>
                <a:cs typeface="IBM Plex Mono" pitchFamily="49" charset="-120"/>
              </a:rPr>
              <a:t> ReserveInventoryRequest(</a:t>
            </a:r>
            <a:endParaRPr lang="en-US" sz="1200" dirty="0"/>
          </a:p>
        </p:txBody>
      </p:sp>
      <p:sp>
        <p:nvSpPr>
          <p:cNvPr id="10" name="Text 8"/>
          <p:cNvSpPr/>
          <p:nvPr/>
        </p:nvSpPr>
        <p:spPr>
          <a:xfrm>
            <a:off x="1009650" y="27747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90650" y="2774752"/>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Guid EquipmentId,</a:t>
            </a:r>
            <a:endParaRPr lang="en-US" sz="1200" dirty="0"/>
          </a:p>
        </p:txBody>
      </p:sp>
      <p:sp>
        <p:nvSpPr>
          <p:cNvPr id="12" name="Text 10"/>
          <p:cNvSpPr/>
          <p:nvPr/>
        </p:nvSpPr>
        <p:spPr>
          <a:xfrm>
            <a:off x="1009650" y="30007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90650" y="3000772"/>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3A46A5"/>
                </a:solidFill>
                <a:latin typeface="IBM Plex Mono" pitchFamily="49" charset="0"/>
                <a:ea typeface="IBM Plex Mono" pitchFamily="49" charset="-122"/>
                <a:cs typeface="IBM Plex Mono" pitchFamily="49" charset="-120"/>
              </a:rPr>
              <a:t>int</a:t>
            </a:r>
            <a:r>
              <a:rPr lang="en-US" sz="1200" dirty="0">
                <a:solidFill>
                  <a:srgbClr val="13202D"/>
                </a:solidFill>
                <a:latin typeface="IBM Plex Mono" pitchFamily="49" charset="0"/>
                <a:ea typeface="IBM Plex Mono" pitchFamily="49" charset="-122"/>
                <a:cs typeface="IBM Plex Mono" pitchFamily="49" charset="-120"/>
              </a:rPr>
              <a:t> Quantity,</a:t>
            </a:r>
            <a:endParaRPr lang="en-US" sz="1200" dirty="0"/>
          </a:p>
        </p:txBody>
      </p:sp>
      <p:sp>
        <p:nvSpPr>
          <p:cNvPr id="14" name="Text 12"/>
          <p:cNvSpPr/>
          <p:nvPr/>
        </p:nvSpPr>
        <p:spPr>
          <a:xfrm>
            <a:off x="1009650" y="3226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90650" y="3226792"/>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Guid ReservationId);</a:t>
            </a:r>
            <a:endParaRPr lang="en-US" sz="1200" dirty="0"/>
          </a:p>
        </p:txBody>
      </p:sp>
      <p:sp>
        <p:nvSpPr>
          <p:cNvPr id="16" name="Text 14"/>
          <p:cNvSpPr/>
          <p:nvPr/>
        </p:nvSpPr>
        <p:spPr>
          <a:xfrm>
            <a:off x="1009650" y="34528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009650" y="36788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8" name="Text 16"/>
          <p:cNvSpPr/>
          <p:nvPr/>
        </p:nvSpPr>
        <p:spPr>
          <a:xfrm>
            <a:off x="1390650" y="3678833"/>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A5"/>
                </a:solidFill>
                <a:latin typeface="IBM Plex Mono" pitchFamily="49" charset="0"/>
                <a:ea typeface="IBM Plex Mono" pitchFamily="49" charset="-122"/>
                <a:cs typeface="IBM Plex Mono" pitchFamily="49" charset="-120"/>
              </a:rPr>
              <a:t>public interface</a:t>
            </a:r>
            <a:r>
              <a:rPr lang="en-US" sz="1200" dirty="0">
                <a:solidFill>
                  <a:srgbClr val="13202D"/>
                </a:solidFill>
                <a:latin typeface="IBM Plex Mono" pitchFamily="49" charset="0"/>
                <a:ea typeface="IBM Plex Mono" pitchFamily="49" charset="-122"/>
                <a:cs typeface="IBM Plex Mono" pitchFamily="49" charset="-120"/>
              </a:rPr>
              <a:t> IInventoryModule</a:t>
            </a:r>
            <a:endParaRPr lang="en-US" sz="1200" dirty="0"/>
          </a:p>
        </p:txBody>
      </p:sp>
      <p:sp>
        <p:nvSpPr>
          <p:cNvPr id="19" name="Text 17"/>
          <p:cNvSpPr/>
          <p:nvPr/>
        </p:nvSpPr>
        <p:spPr>
          <a:xfrm>
            <a:off x="1009650" y="39048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0" name="Text 18"/>
          <p:cNvSpPr/>
          <p:nvPr/>
        </p:nvSpPr>
        <p:spPr>
          <a:xfrm>
            <a:off x="1390650" y="3904853"/>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1" name="Text 19"/>
          <p:cNvSpPr/>
          <p:nvPr/>
        </p:nvSpPr>
        <p:spPr>
          <a:xfrm>
            <a:off x="1009650" y="41308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390650" y="4130873"/>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Task&lt;Result&gt; ReserveAsync(</a:t>
            </a:r>
            <a:endParaRPr lang="en-US" sz="1200" dirty="0"/>
          </a:p>
        </p:txBody>
      </p:sp>
      <p:sp>
        <p:nvSpPr>
          <p:cNvPr id="23" name="Text 21"/>
          <p:cNvSpPr/>
          <p:nvPr/>
        </p:nvSpPr>
        <p:spPr>
          <a:xfrm>
            <a:off x="1009650" y="43568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4" name="Text 22"/>
          <p:cNvSpPr/>
          <p:nvPr/>
        </p:nvSpPr>
        <p:spPr>
          <a:xfrm>
            <a:off x="1390650" y="4356894"/>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ReserveInventoryRequest request,</a:t>
            </a:r>
            <a:endParaRPr lang="en-US" sz="1200" dirty="0"/>
          </a:p>
        </p:txBody>
      </p:sp>
      <p:sp>
        <p:nvSpPr>
          <p:cNvPr id="25" name="Text 23"/>
          <p:cNvSpPr/>
          <p:nvPr/>
        </p:nvSpPr>
        <p:spPr>
          <a:xfrm>
            <a:off x="1009650" y="45829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6" name="Text 24"/>
          <p:cNvSpPr/>
          <p:nvPr/>
        </p:nvSpPr>
        <p:spPr>
          <a:xfrm>
            <a:off x="1390650" y="4582914"/>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CancellationToken cancellationToken);</a:t>
            </a:r>
            <a:endParaRPr lang="en-US" sz="1200" dirty="0"/>
          </a:p>
        </p:txBody>
      </p:sp>
      <p:sp>
        <p:nvSpPr>
          <p:cNvPr id="27" name="Text 25"/>
          <p:cNvSpPr/>
          <p:nvPr/>
        </p:nvSpPr>
        <p:spPr>
          <a:xfrm>
            <a:off x="1009650" y="48089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8" name="Text 26"/>
          <p:cNvSpPr/>
          <p:nvPr/>
        </p:nvSpPr>
        <p:spPr>
          <a:xfrm>
            <a:off x="1390650" y="4808934"/>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9" name="Text 27"/>
          <p:cNvSpPr/>
          <p:nvPr/>
        </p:nvSpPr>
        <p:spPr>
          <a:xfrm>
            <a:off x="7721600" y="2125861"/>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0" name="Shape 28"/>
          <p:cNvSpPr/>
          <p:nvPr/>
        </p:nvSpPr>
        <p:spPr>
          <a:xfrm>
            <a:off x="7734300" y="2466181"/>
            <a:ext cx="0" cy="256480"/>
          </a:xfrm>
          <a:prstGeom prst="line">
            <a:avLst/>
          </a:prstGeom>
          <a:noFill/>
          <a:ln w="25400">
            <a:solidFill>
              <a:srgbClr val="3A46A5"/>
            </a:solidFill>
            <a:prstDash val="solid"/>
          </a:ln>
        </p:spPr>
      </p:sp>
      <p:sp>
        <p:nvSpPr>
          <p:cNvPr id="31" name="Text 29"/>
          <p:cNvSpPr/>
          <p:nvPr/>
        </p:nvSpPr>
        <p:spPr>
          <a:xfrm>
            <a:off x="7886700" y="2478881"/>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Порт је у Application слоју.</a:t>
            </a:r>
            <a:endParaRPr lang="en-US" sz="1300" dirty="0"/>
          </a:p>
        </p:txBody>
      </p:sp>
      <p:sp>
        <p:nvSpPr>
          <p:cNvPr id="32" name="Shape 30"/>
          <p:cNvSpPr/>
          <p:nvPr/>
        </p:nvSpPr>
        <p:spPr>
          <a:xfrm>
            <a:off x="7734300" y="2849662"/>
            <a:ext cx="0" cy="256480"/>
          </a:xfrm>
          <a:prstGeom prst="line">
            <a:avLst/>
          </a:prstGeom>
          <a:noFill/>
          <a:ln w="25400">
            <a:solidFill>
              <a:srgbClr val="3A46A5"/>
            </a:solidFill>
            <a:prstDash val="solid"/>
          </a:ln>
        </p:spPr>
      </p:sp>
      <p:sp>
        <p:nvSpPr>
          <p:cNvPr id="33" name="Text 31"/>
          <p:cNvSpPr/>
          <p:nvPr/>
        </p:nvSpPr>
        <p:spPr>
          <a:xfrm>
            <a:off x="7886700" y="2862362"/>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Infrastructure реализује уговор.</a:t>
            </a:r>
            <a:endParaRPr lang="en-US" sz="1300" dirty="0"/>
          </a:p>
        </p:txBody>
      </p:sp>
      <p:sp>
        <p:nvSpPr>
          <p:cNvPr id="34" name="Shape 32"/>
          <p:cNvSpPr/>
          <p:nvPr/>
        </p:nvSpPr>
        <p:spPr>
          <a:xfrm>
            <a:off x="7734300" y="3233142"/>
            <a:ext cx="0" cy="487561"/>
          </a:xfrm>
          <a:prstGeom prst="line">
            <a:avLst/>
          </a:prstGeom>
          <a:noFill/>
          <a:ln w="25400">
            <a:solidFill>
              <a:srgbClr val="E07B1F"/>
            </a:solidFill>
            <a:prstDash val="solid"/>
          </a:ln>
        </p:spPr>
      </p:sp>
      <p:sp>
        <p:nvSpPr>
          <p:cNvPr id="35" name="Text 33"/>
          <p:cNvSpPr/>
          <p:nvPr/>
        </p:nvSpPr>
        <p:spPr>
          <a:xfrm>
            <a:off x="7886700" y="3245842"/>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Use-case не зна интерне детаље Inventory модула.</a:t>
            </a:r>
            <a:endParaRPr lang="en-US" sz="1300" dirty="0"/>
          </a:p>
        </p:txBody>
      </p:sp>
      <p:sp>
        <p:nvSpPr>
          <p:cNvPr id="36" name="Shape 34"/>
          <p:cNvSpPr/>
          <p:nvPr/>
        </p:nvSpPr>
        <p:spPr>
          <a:xfrm>
            <a:off x="812800" y="6209705"/>
            <a:ext cx="10566400" cy="0"/>
          </a:xfrm>
          <a:prstGeom prst="line">
            <a:avLst/>
          </a:prstGeom>
          <a:noFill/>
          <a:ln w="6350">
            <a:solidFill>
              <a:srgbClr val="D3DAE1"/>
            </a:solidFill>
            <a:prstDash val="solid"/>
          </a:ln>
        </p:spPr>
      </p:sp>
      <p:sp>
        <p:nvSpPr>
          <p:cNvPr id="37" name="Text 3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8" name="Text 3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03 · УГОВОР ИЗМЕЂУ МОДУЛА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Handler случаја употребе · 1/2</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Handler валидира улаз и проверава да ли је исти захтев већ обрађен.</a:t>
            </a:r>
            <a:endParaRPr lang="en-US" sz="1400" dirty="0"/>
          </a:p>
        </p:txBody>
      </p:sp>
      <p:sp>
        <p:nvSpPr>
          <p:cNvPr id="6" name="Shape 4"/>
          <p:cNvSpPr/>
          <p:nvPr/>
        </p:nvSpPr>
        <p:spPr>
          <a:xfrm>
            <a:off x="815975" y="2129036"/>
            <a:ext cx="7867650" cy="2886472"/>
          </a:xfrm>
          <a:prstGeom prst="roundRect">
            <a:avLst>
              <a:gd name="adj" fmla="val 3410"/>
            </a:avLst>
          </a:prstGeom>
          <a:solidFill>
            <a:srgbClr val="FCFCFB"/>
          </a:solidFill>
          <a:ln w="6350">
            <a:solidFill>
              <a:srgbClr val="D3DAE1"/>
            </a:solidFill>
            <a:prstDash val="solid"/>
          </a:ln>
        </p:spPr>
      </p:sp>
      <p:sp>
        <p:nvSpPr>
          <p:cNvPr id="7" name="Text 5"/>
          <p:cNvSpPr/>
          <p:nvPr/>
        </p:nvSpPr>
        <p:spPr>
          <a:xfrm>
            <a:off x="1009650" y="2271911"/>
            <a:ext cx="77047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CreateReservationHandler</a:t>
            </a:r>
            <a:endParaRPr lang="en-US" sz="1200" dirty="0"/>
          </a:p>
        </p:txBody>
      </p:sp>
      <p:sp>
        <p:nvSpPr>
          <p:cNvPr id="8" name="Text 6"/>
          <p:cNvSpPr/>
          <p:nvPr/>
        </p:nvSpPr>
        <p:spPr>
          <a:xfrm>
            <a:off x="1009650" y="2548731"/>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90650" y="2548731"/>
            <a:ext cx="731227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6A5"/>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validation = _validator.Validate(command);</a:t>
            </a:r>
            <a:endParaRPr lang="en-US" sz="1200" dirty="0"/>
          </a:p>
        </p:txBody>
      </p:sp>
      <p:sp>
        <p:nvSpPr>
          <p:cNvPr id="10" name="Text 8"/>
          <p:cNvSpPr/>
          <p:nvPr/>
        </p:nvSpPr>
        <p:spPr>
          <a:xfrm>
            <a:off x="1009650" y="2782391"/>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90650" y="2782391"/>
            <a:ext cx="731227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6A5"/>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(!validation.Success)</a:t>
            </a:r>
            <a:endParaRPr lang="en-US" sz="1200" dirty="0"/>
          </a:p>
        </p:txBody>
      </p:sp>
      <p:sp>
        <p:nvSpPr>
          <p:cNvPr id="12" name="Text 10"/>
          <p:cNvSpPr/>
          <p:nvPr/>
        </p:nvSpPr>
        <p:spPr>
          <a:xfrm>
            <a:off x="1009650" y="301605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90650" y="3016052"/>
            <a:ext cx="731227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3A46A5"/>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CreateReservationResult.Invalid(validation.Error);</a:t>
            </a:r>
            <a:endParaRPr lang="en-US" sz="1200" dirty="0"/>
          </a:p>
        </p:txBody>
      </p:sp>
      <p:sp>
        <p:nvSpPr>
          <p:cNvPr id="14" name="Text 12"/>
          <p:cNvSpPr/>
          <p:nvPr/>
        </p:nvSpPr>
        <p:spPr>
          <a:xfrm>
            <a:off x="1009650" y="324971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009650" y="348337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6" name="Text 14"/>
          <p:cNvSpPr/>
          <p:nvPr/>
        </p:nvSpPr>
        <p:spPr>
          <a:xfrm>
            <a:off x="1390650" y="3483372"/>
            <a:ext cx="731227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6A5"/>
                </a:solidFill>
                <a:latin typeface="IBM Plex Mono" pitchFamily="49" charset="0"/>
                <a:ea typeface="IBM Plex Mono" pitchFamily="49" charset="-122"/>
                <a:cs typeface="IBM Plex Mono" pitchFamily="49" charset="-120"/>
              </a:rPr>
              <a:t>await using var</a:t>
            </a:r>
            <a:r>
              <a:rPr lang="en-US" sz="1200" dirty="0">
                <a:solidFill>
                  <a:srgbClr val="13202D"/>
                </a:solidFill>
                <a:latin typeface="IBM Plex Mono" pitchFamily="49" charset="0"/>
                <a:ea typeface="IBM Plex Mono" pitchFamily="49" charset="-122"/>
                <a:cs typeface="IBM Plex Mono" pitchFamily="49" charset="-120"/>
              </a:rPr>
              <a:t> lease = </a:t>
            </a:r>
            <a:r>
              <a:rPr lang="en-US" sz="1200" dirty="0">
                <a:solidFill>
                  <a:srgbClr val="3A46A5"/>
                </a:solidFill>
                <a:latin typeface="IBM Plex Mono" pitchFamily="49" charset="0"/>
                <a:ea typeface="IBM Plex Mono" pitchFamily="49" charset="-122"/>
                <a:cs typeface="IBM Plex Mono" pitchFamily="49" charset="-120"/>
              </a:rPr>
              <a:t>await</a:t>
            </a:r>
            <a:r>
              <a:rPr lang="en-US" sz="1200" dirty="0">
                <a:solidFill>
                  <a:srgbClr val="13202D"/>
                </a:solidFill>
                <a:latin typeface="IBM Plex Mono" pitchFamily="49" charset="0"/>
                <a:ea typeface="IBM Plex Mono" pitchFamily="49" charset="-122"/>
                <a:cs typeface="IBM Plex Mono" pitchFamily="49" charset="-120"/>
              </a:rPr>
              <a:t> _requestLock</a:t>
            </a:r>
            <a:endParaRPr lang="en-US" sz="1200" dirty="0"/>
          </a:p>
        </p:txBody>
      </p:sp>
      <p:sp>
        <p:nvSpPr>
          <p:cNvPr id="17" name="Text 15"/>
          <p:cNvSpPr/>
          <p:nvPr/>
        </p:nvSpPr>
        <p:spPr>
          <a:xfrm>
            <a:off x="1009650" y="371703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8" name="Text 16"/>
          <p:cNvSpPr/>
          <p:nvPr/>
        </p:nvSpPr>
        <p:spPr>
          <a:xfrm>
            <a:off x="1390650" y="3717032"/>
            <a:ext cx="731227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    .AcquireAsync(command.RequestId, ct);</a:t>
            </a:r>
            <a:endParaRPr lang="en-US" sz="1200" dirty="0"/>
          </a:p>
        </p:txBody>
      </p:sp>
      <p:sp>
        <p:nvSpPr>
          <p:cNvPr id="19" name="Text 17"/>
          <p:cNvSpPr/>
          <p:nvPr/>
        </p:nvSpPr>
        <p:spPr>
          <a:xfrm>
            <a:off x="1009650" y="395069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0" name="Text 18"/>
          <p:cNvSpPr/>
          <p:nvPr/>
        </p:nvSpPr>
        <p:spPr>
          <a:xfrm>
            <a:off x="1390650" y="3950692"/>
            <a:ext cx="731227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6A5"/>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existing = </a:t>
            </a:r>
            <a:r>
              <a:rPr lang="en-US" sz="1200" dirty="0">
                <a:solidFill>
                  <a:srgbClr val="3A46A5"/>
                </a:solidFill>
                <a:latin typeface="IBM Plex Mono" pitchFamily="49" charset="0"/>
                <a:ea typeface="IBM Plex Mono" pitchFamily="49" charset="-122"/>
                <a:cs typeface="IBM Plex Mono" pitchFamily="49" charset="-120"/>
              </a:rPr>
              <a:t>await</a:t>
            </a:r>
            <a:r>
              <a:rPr lang="en-US" sz="1200" dirty="0">
                <a:solidFill>
                  <a:srgbClr val="13202D"/>
                </a:solidFill>
                <a:latin typeface="IBM Plex Mono" pitchFamily="49" charset="0"/>
                <a:ea typeface="IBM Plex Mono" pitchFamily="49" charset="-122"/>
                <a:cs typeface="IBM Plex Mono" pitchFamily="49" charset="-120"/>
              </a:rPr>
              <a:t> _reservations</a:t>
            </a:r>
            <a:endParaRPr lang="en-US" sz="1200" dirty="0"/>
          </a:p>
        </p:txBody>
      </p:sp>
      <p:sp>
        <p:nvSpPr>
          <p:cNvPr id="21" name="Text 19"/>
          <p:cNvSpPr/>
          <p:nvPr/>
        </p:nvSpPr>
        <p:spPr>
          <a:xfrm>
            <a:off x="1009650" y="4184352"/>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390650" y="4184352"/>
            <a:ext cx="731227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    .FindByRequestIdAsync(command.RequestId, ct);</a:t>
            </a:r>
            <a:endParaRPr lang="en-US" sz="1200" dirty="0"/>
          </a:p>
        </p:txBody>
      </p:sp>
      <p:sp>
        <p:nvSpPr>
          <p:cNvPr id="23" name="Text 21"/>
          <p:cNvSpPr/>
          <p:nvPr/>
        </p:nvSpPr>
        <p:spPr>
          <a:xfrm>
            <a:off x="1009650" y="4418013"/>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4" name="Text 22"/>
          <p:cNvSpPr/>
          <p:nvPr/>
        </p:nvSpPr>
        <p:spPr>
          <a:xfrm>
            <a:off x="1390650" y="4418013"/>
            <a:ext cx="731227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6A5"/>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(existing </a:t>
            </a:r>
            <a:r>
              <a:rPr lang="en-US" sz="1200" dirty="0">
                <a:solidFill>
                  <a:srgbClr val="3A46A5"/>
                </a:solidFill>
                <a:latin typeface="IBM Plex Mono" pitchFamily="49" charset="0"/>
                <a:ea typeface="IBM Plex Mono" pitchFamily="49" charset="-122"/>
                <a:cs typeface="IBM Plex Mono" pitchFamily="49" charset="-120"/>
              </a:rPr>
              <a:t>is not null</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5" name="Text 23"/>
          <p:cNvSpPr/>
          <p:nvPr/>
        </p:nvSpPr>
        <p:spPr>
          <a:xfrm>
            <a:off x="1009650" y="4651673"/>
            <a:ext cx="3302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6" name="Text 24"/>
          <p:cNvSpPr/>
          <p:nvPr/>
        </p:nvSpPr>
        <p:spPr>
          <a:xfrm>
            <a:off x="1390650" y="4651673"/>
            <a:ext cx="731227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3A46A5"/>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CreateReservationResult.From(existing, replayed: </a:t>
            </a:r>
            <a:r>
              <a:rPr lang="en-US" sz="1200" dirty="0">
                <a:solidFill>
                  <a:srgbClr val="3A46A5"/>
                </a:solidFill>
                <a:latin typeface="IBM Plex Mono" pitchFamily="49" charset="0"/>
                <a:ea typeface="IBM Plex Mono" pitchFamily="49" charset="-122"/>
                <a:cs typeface="IBM Plex Mono" pitchFamily="49" charset="-120"/>
              </a:rPr>
              <a:t>true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7" name="Text 25"/>
          <p:cNvSpPr/>
          <p:nvPr/>
        </p:nvSpPr>
        <p:spPr>
          <a:xfrm>
            <a:off x="8966200" y="2125861"/>
            <a:ext cx="248539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КОРАК ПО КОРАК</a:t>
            </a:r>
            <a:endParaRPr lang="en-US" sz="1200" dirty="0"/>
          </a:p>
        </p:txBody>
      </p:sp>
      <p:sp>
        <p:nvSpPr>
          <p:cNvPr id="28" name="Shape 26"/>
          <p:cNvSpPr/>
          <p:nvPr/>
        </p:nvSpPr>
        <p:spPr>
          <a:xfrm>
            <a:off x="8978900" y="2466181"/>
            <a:ext cx="0" cy="487561"/>
          </a:xfrm>
          <a:prstGeom prst="line">
            <a:avLst/>
          </a:prstGeom>
          <a:noFill/>
          <a:ln w="25400">
            <a:solidFill>
              <a:srgbClr val="3A46A5"/>
            </a:solidFill>
            <a:prstDash val="solid"/>
          </a:ln>
        </p:spPr>
      </p:sp>
      <p:sp>
        <p:nvSpPr>
          <p:cNvPr id="29" name="Text 27"/>
          <p:cNvSpPr/>
          <p:nvPr/>
        </p:nvSpPr>
        <p:spPr>
          <a:xfrm>
            <a:off x="9131300" y="2478881"/>
            <a:ext cx="231533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1–3: невалидан улаз не стиже до порта.</a:t>
            </a:r>
            <a:endParaRPr lang="en-US" sz="1300" dirty="0"/>
          </a:p>
        </p:txBody>
      </p:sp>
      <p:sp>
        <p:nvSpPr>
          <p:cNvPr id="30" name="Shape 28"/>
          <p:cNvSpPr/>
          <p:nvPr/>
        </p:nvSpPr>
        <p:spPr>
          <a:xfrm>
            <a:off x="8978900" y="3080742"/>
            <a:ext cx="0" cy="487561"/>
          </a:xfrm>
          <a:prstGeom prst="line">
            <a:avLst/>
          </a:prstGeom>
          <a:noFill/>
          <a:ln w="25400">
            <a:solidFill>
              <a:srgbClr val="3A46A5"/>
            </a:solidFill>
            <a:prstDash val="solid"/>
          </a:ln>
        </p:spPr>
      </p:sp>
      <p:sp>
        <p:nvSpPr>
          <p:cNvPr id="31" name="Text 29"/>
          <p:cNvSpPr/>
          <p:nvPr/>
        </p:nvSpPr>
        <p:spPr>
          <a:xfrm>
            <a:off x="9131300" y="3093442"/>
            <a:ext cx="231533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5–6: исти RequestId се не обрађује истовремено.</a:t>
            </a:r>
            <a:endParaRPr lang="en-US" sz="1300" dirty="0"/>
          </a:p>
        </p:txBody>
      </p:sp>
      <p:sp>
        <p:nvSpPr>
          <p:cNvPr id="32" name="Shape 30"/>
          <p:cNvSpPr/>
          <p:nvPr/>
        </p:nvSpPr>
        <p:spPr>
          <a:xfrm>
            <a:off x="8978900" y="3695303"/>
            <a:ext cx="0" cy="487561"/>
          </a:xfrm>
          <a:prstGeom prst="line">
            <a:avLst/>
          </a:prstGeom>
          <a:noFill/>
          <a:ln w="25400">
            <a:solidFill>
              <a:srgbClr val="E07B1F"/>
            </a:solidFill>
            <a:prstDash val="solid"/>
          </a:ln>
        </p:spPr>
      </p:sp>
      <p:sp>
        <p:nvSpPr>
          <p:cNvPr id="33" name="Text 31"/>
          <p:cNvSpPr/>
          <p:nvPr/>
        </p:nvSpPr>
        <p:spPr>
          <a:xfrm>
            <a:off x="9131300" y="3708003"/>
            <a:ext cx="231533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7–10: поновљени захтев враћа постојећи исход.</a:t>
            </a:r>
            <a:endParaRPr lang="en-US" sz="1300" dirty="0"/>
          </a:p>
        </p:txBody>
      </p:sp>
      <p:sp>
        <p:nvSpPr>
          <p:cNvPr id="34" name="Shape 32"/>
          <p:cNvSpPr/>
          <p:nvPr/>
        </p:nvSpPr>
        <p:spPr>
          <a:xfrm>
            <a:off x="812800" y="6209705"/>
            <a:ext cx="10566400" cy="0"/>
          </a:xfrm>
          <a:prstGeom prst="line">
            <a:avLst/>
          </a:prstGeom>
          <a:noFill/>
          <a:ln w="6350">
            <a:solidFill>
              <a:srgbClr val="D3DAE1"/>
            </a:solidFill>
            <a:prstDash val="solid"/>
          </a:ln>
        </p:spPr>
      </p:sp>
      <p:sp>
        <p:nvSpPr>
          <p:cNvPr id="35" name="Text 3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6" name="Text 3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03 · УГОВОР ИЗМЕЂУ МОДУЛА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Handler случаја употребе · 2/2</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Handler позива Inventory преко порта и бележи потврђену или одбијену резервацију.</a:t>
            </a:r>
            <a:endParaRPr lang="en-US" sz="1400" dirty="0"/>
          </a:p>
        </p:txBody>
      </p:sp>
      <p:sp>
        <p:nvSpPr>
          <p:cNvPr id="6" name="Shape 4"/>
          <p:cNvSpPr/>
          <p:nvPr/>
        </p:nvSpPr>
        <p:spPr>
          <a:xfrm>
            <a:off x="815975" y="2129036"/>
            <a:ext cx="7994650" cy="3036094"/>
          </a:xfrm>
          <a:prstGeom prst="roundRect">
            <a:avLst>
              <a:gd name="adj" fmla="val 3242"/>
            </a:avLst>
          </a:prstGeom>
          <a:solidFill>
            <a:srgbClr val="FCFCFB"/>
          </a:solidFill>
          <a:ln w="6350">
            <a:solidFill>
              <a:srgbClr val="D3DAE1"/>
            </a:solidFill>
            <a:prstDash val="solid"/>
          </a:ln>
        </p:spPr>
      </p:sp>
      <p:sp>
        <p:nvSpPr>
          <p:cNvPr id="7" name="Text 5"/>
          <p:cNvSpPr/>
          <p:nvPr/>
        </p:nvSpPr>
        <p:spPr>
          <a:xfrm>
            <a:off x="1009650" y="2271911"/>
            <a:ext cx="78355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CreateReservationHandler · наставак</a:t>
            </a:r>
            <a:endParaRPr lang="en-US" sz="1200" dirty="0"/>
          </a:p>
        </p:txBody>
      </p:sp>
      <p:sp>
        <p:nvSpPr>
          <p:cNvPr id="8" name="Text 6"/>
          <p:cNvSpPr/>
          <p:nvPr/>
        </p:nvSpPr>
        <p:spPr>
          <a:xfrm>
            <a:off x="1009650" y="25487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9" name="Text 7"/>
          <p:cNvSpPr/>
          <p:nvPr/>
        </p:nvSpPr>
        <p:spPr>
          <a:xfrm>
            <a:off x="1390650" y="2548731"/>
            <a:ext cx="74430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A5"/>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reservationId = _idGenerator.NewReservationId();</a:t>
            </a:r>
            <a:endParaRPr lang="en-US" sz="1200" dirty="0"/>
          </a:p>
        </p:txBody>
      </p:sp>
      <p:sp>
        <p:nvSpPr>
          <p:cNvPr id="10" name="Text 8"/>
          <p:cNvSpPr/>
          <p:nvPr/>
        </p:nvSpPr>
        <p:spPr>
          <a:xfrm>
            <a:off x="1009650" y="27747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13</a:t>
            </a:r>
            <a:endParaRPr lang="en-US" sz="1200" dirty="0"/>
          </a:p>
        </p:txBody>
      </p:sp>
      <p:sp>
        <p:nvSpPr>
          <p:cNvPr id="11" name="Text 9"/>
          <p:cNvSpPr/>
          <p:nvPr/>
        </p:nvSpPr>
        <p:spPr>
          <a:xfrm>
            <a:off x="1390650" y="2774752"/>
            <a:ext cx="74430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A5"/>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inventoryResult = </a:t>
            </a:r>
            <a:r>
              <a:rPr lang="en-US" sz="1200" dirty="0">
                <a:solidFill>
                  <a:srgbClr val="3A46A5"/>
                </a:solidFill>
                <a:latin typeface="IBM Plex Mono" pitchFamily="49" charset="0"/>
                <a:ea typeface="IBM Plex Mono" pitchFamily="49" charset="-122"/>
                <a:cs typeface="IBM Plex Mono" pitchFamily="49" charset="-120"/>
              </a:rPr>
              <a:t>await</a:t>
            </a:r>
            <a:r>
              <a:rPr lang="en-US" sz="1200" dirty="0">
                <a:solidFill>
                  <a:srgbClr val="13202D"/>
                </a:solidFill>
                <a:latin typeface="IBM Plex Mono" pitchFamily="49" charset="0"/>
                <a:ea typeface="IBM Plex Mono" pitchFamily="49" charset="-122"/>
                <a:cs typeface="IBM Plex Mono" pitchFamily="49" charset="-120"/>
              </a:rPr>
              <a:t> _inventory.ReserveAsync(</a:t>
            </a:r>
            <a:endParaRPr lang="en-US" sz="1200" dirty="0"/>
          </a:p>
        </p:txBody>
      </p:sp>
      <p:sp>
        <p:nvSpPr>
          <p:cNvPr id="12" name="Text 10"/>
          <p:cNvSpPr/>
          <p:nvPr/>
        </p:nvSpPr>
        <p:spPr>
          <a:xfrm>
            <a:off x="1009650" y="30007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14</a:t>
            </a:r>
            <a:endParaRPr lang="en-US" sz="1200" dirty="0"/>
          </a:p>
        </p:txBody>
      </p:sp>
      <p:sp>
        <p:nvSpPr>
          <p:cNvPr id="13" name="Text 11"/>
          <p:cNvSpPr/>
          <p:nvPr/>
        </p:nvSpPr>
        <p:spPr>
          <a:xfrm>
            <a:off x="1390650" y="3000772"/>
            <a:ext cx="74430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3A46A5"/>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(command.EquipmentId, command.Quantity, reservationId), ct);</a:t>
            </a:r>
            <a:endParaRPr lang="en-US" sz="1200" dirty="0"/>
          </a:p>
        </p:txBody>
      </p:sp>
      <p:sp>
        <p:nvSpPr>
          <p:cNvPr id="14" name="Text 12"/>
          <p:cNvSpPr/>
          <p:nvPr/>
        </p:nvSpPr>
        <p:spPr>
          <a:xfrm>
            <a:off x="1009650" y="3226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15</a:t>
            </a:r>
            <a:endParaRPr lang="en-US" sz="1200" dirty="0"/>
          </a:p>
        </p:txBody>
      </p:sp>
      <p:sp>
        <p:nvSpPr>
          <p:cNvPr id="15" name="Text 13"/>
          <p:cNvSpPr/>
          <p:nvPr/>
        </p:nvSpPr>
        <p:spPr>
          <a:xfrm>
            <a:off x="1390650" y="3226792"/>
            <a:ext cx="74430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A5"/>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reservation = inventoryResult.Success</a:t>
            </a:r>
            <a:endParaRPr lang="en-US" sz="1200" dirty="0"/>
          </a:p>
        </p:txBody>
      </p:sp>
      <p:sp>
        <p:nvSpPr>
          <p:cNvPr id="16" name="Text 14"/>
          <p:cNvSpPr/>
          <p:nvPr/>
        </p:nvSpPr>
        <p:spPr>
          <a:xfrm>
            <a:off x="1009650" y="34528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16</a:t>
            </a:r>
            <a:endParaRPr lang="en-US" sz="1200" dirty="0"/>
          </a:p>
        </p:txBody>
      </p:sp>
      <p:sp>
        <p:nvSpPr>
          <p:cNvPr id="17" name="Text 15"/>
          <p:cNvSpPr/>
          <p:nvPr/>
        </p:nvSpPr>
        <p:spPr>
          <a:xfrm>
            <a:off x="1390650" y="3452813"/>
            <a:ext cx="74430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 Reservation.Confirmed(reservationId, command.RequestId,</a:t>
            </a:r>
            <a:endParaRPr lang="en-US" sz="1200" dirty="0"/>
          </a:p>
        </p:txBody>
      </p:sp>
      <p:sp>
        <p:nvSpPr>
          <p:cNvPr id="18" name="Text 16"/>
          <p:cNvSpPr/>
          <p:nvPr/>
        </p:nvSpPr>
        <p:spPr>
          <a:xfrm>
            <a:off x="1009650" y="36788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17</a:t>
            </a:r>
            <a:endParaRPr lang="en-US" sz="1200" dirty="0"/>
          </a:p>
        </p:txBody>
      </p:sp>
      <p:sp>
        <p:nvSpPr>
          <p:cNvPr id="19" name="Text 17"/>
          <p:cNvSpPr/>
          <p:nvPr/>
        </p:nvSpPr>
        <p:spPr>
          <a:xfrm>
            <a:off x="1390650" y="3678833"/>
            <a:ext cx="74430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command.EquipmentId, command.StudentId, command.Quantity)</a:t>
            </a:r>
            <a:endParaRPr lang="en-US" sz="1200" dirty="0"/>
          </a:p>
        </p:txBody>
      </p:sp>
      <p:sp>
        <p:nvSpPr>
          <p:cNvPr id="20" name="Text 18"/>
          <p:cNvSpPr/>
          <p:nvPr/>
        </p:nvSpPr>
        <p:spPr>
          <a:xfrm>
            <a:off x="1009650" y="39048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18</a:t>
            </a:r>
            <a:endParaRPr lang="en-US" sz="1200" dirty="0"/>
          </a:p>
        </p:txBody>
      </p:sp>
      <p:sp>
        <p:nvSpPr>
          <p:cNvPr id="21" name="Text 19"/>
          <p:cNvSpPr/>
          <p:nvPr/>
        </p:nvSpPr>
        <p:spPr>
          <a:xfrm>
            <a:off x="1390650" y="3904853"/>
            <a:ext cx="74430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 Reservation.Rejected(reservationId, command.RequestId,</a:t>
            </a:r>
            <a:endParaRPr lang="en-US" sz="1200" dirty="0"/>
          </a:p>
        </p:txBody>
      </p:sp>
      <p:sp>
        <p:nvSpPr>
          <p:cNvPr id="22" name="Text 20"/>
          <p:cNvSpPr/>
          <p:nvPr/>
        </p:nvSpPr>
        <p:spPr>
          <a:xfrm>
            <a:off x="1009650" y="41308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19</a:t>
            </a:r>
            <a:endParaRPr lang="en-US" sz="1200" dirty="0"/>
          </a:p>
        </p:txBody>
      </p:sp>
      <p:sp>
        <p:nvSpPr>
          <p:cNvPr id="23" name="Text 21"/>
          <p:cNvSpPr/>
          <p:nvPr/>
        </p:nvSpPr>
        <p:spPr>
          <a:xfrm>
            <a:off x="1390650" y="4130873"/>
            <a:ext cx="74430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command.EquipmentId, command.StudentId, command.Quantity,</a:t>
            </a:r>
            <a:endParaRPr lang="en-US" sz="1200" dirty="0"/>
          </a:p>
        </p:txBody>
      </p:sp>
      <p:sp>
        <p:nvSpPr>
          <p:cNvPr id="24" name="Text 22"/>
          <p:cNvSpPr/>
          <p:nvPr/>
        </p:nvSpPr>
        <p:spPr>
          <a:xfrm>
            <a:off x="1009650" y="43568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20</a:t>
            </a:r>
            <a:endParaRPr lang="en-US" sz="1200" dirty="0"/>
          </a:p>
        </p:txBody>
      </p:sp>
      <p:sp>
        <p:nvSpPr>
          <p:cNvPr id="25" name="Text 23"/>
          <p:cNvSpPr/>
          <p:nvPr/>
        </p:nvSpPr>
        <p:spPr>
          <a:xfrm>
            <a:off x="1390650" y="4356894"/>
            <a:ext cx="74430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inventoryResult.Error);</a:t>
            </a:r>
            <a:endParaRPr lang="en-US" sz="1200" dirty="0"/>
          </a:p>
        </p:txBody>
      </p:sp>
      <p:sp>
        <p:nvSpPr>
          <p:cNvPr id="26" name="Text 24"/>
          <p:cNvSpPr/>
          <p:nvPr/>
        </p:nvSpPr>
        <p:spPr>
          <a:xfrm>
            <a:off x="1009650" y="45829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21</a:t>
            </a:r>
            <a:endParaRPr lang="en-US" sz="1200" dirty="0"/>
          </a:p>
        </p:txBody>
      </p:sp>
      <p:sp>
        <p:nvSpPr>
          <p:cNvPr id="27" name="Text 25"/>
          <p:cNvSpPr/>
          <p:nvPr/>
        </p:nvSpPr>
        <p:spPr>
          <a:xfrm>
            <a:off x="1390650" y="4582914"/>
            <a:ext cx="74430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A5"/>
                </a:solidFill>
                <a:latin typeface="IBM Plex Mono" pitchFamily="49" charset="0"/>
                <a:ea typeface="IBM Plex Mono" pitchFamily="49" charset="-122"/>
                <a:cs typeface="IBM Plex Mono" pitchFamily="49" charset="-120"/>
              </a:rPr>
              <a:t>await</a:t>
            </a:r>
            <a:r>
              <a:rPr lang="en-US" sz="1200" dirty="0">
                <a:solidFill>
                  <a:srgbClr val="13202D"/>
                </a:solidFill>
                <a:latin typeface="IBM Plex Mono" pitchFamily="49" charset="0"/>
                <a:ea typeface="IBM Plex Mono" pitchFamily="49" charset="-122"/>
                <a:cs typeface="IBM Plex Mono" pitchFamily="49" charset="-120"/>
              </a:rPr>
              <a:t> _reservations.AddAsync(reservation, ct);</a:t>
            </a:r>
            <a:endParaRPr lang="en-US" sz="1200" dirty="0"/>
          </a:p>
        </p:txBody>
      </p:sp>
      <p:sp>
        <p:nvSpPr>
          <p:cNvPr id="28" name="Text 26"/>
          <p:cNvSpPr/>
          <p:nvPr/>
        </p:nvSpPr>
        <p:spPr>
          <a:xfrm>
            <a:off x="1009650" y="48089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22</a:t>
            </a:r>
            <a:endParaRPr lang="en-US" sz="1200" dirty="0"/>
          </a:p>
        </p:txBody>
      </p:sp>
      <p:sp>
        <p:nvSpPr>
          <p:cNvPr id="29" name="Text 27"/>
          <p:cNvSpPr/>
          <p:nvPr/>
        </p:nvSpPr>
        <p:spPr>
          <a:xfrm>
            <a:off x="1390650" y="4808934"/>
            <a:ext cx="74430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A5"/>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CreateReservationResult.From(reservation, replayed: </a:t>
            </a:r>
            <a:r>
              <a:rPr lang="en-US" sz="1200" dirty="0">
                <a:solidFill>
                  <a:srgbClr val="3A46A5"/>
                </a:solidFill>
                <a:latin typeface="IBM Plex Mono" pitchFamily="49" charset="0"/>
                <a:ea typeface="IBM Plex Mono" pitchFamily="49" charset="-122"/>
                <a:cs typeface="IBM Plex Mono" pitchFamily="49" charset="-120"/>
              </a:rPr>
              <a:t>false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0" name="Text 28"/>
          <p:cNvSpPr/>
          <p:nvPr/>
        </p:nvSpPr>
        <p:spPr>
          <a:xfrm>
            <a:off x="9093200" y="2125861"/>
            <a:ext cx="23545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1" name="Shape 29"/>
          <p:cNvSpPr/>
          <p:nvPr/>
        </p:nvSpPr>
        <p:spPr>
          <a:xfrm>
            <a:off x="9105900" y="2466181"/>
            <a:ext cx="0" cy="718641"/>
          </a:xfrm>
          <a:prstGeom prst="line">
            <a:avLst/>
          </a:prstGeom>
          <a:noFill/>
          <a:ln w="25400">
            <a:solidFill>
              <a:srgbClr val="3A46A5"/>
            </a:solidFill>
            <a:prstDash val="solid"/>
          </a:ln>
        </p:spPr>
      </p:sp>
      <p:sp>
        <p:nvSpPr>
          <p:cNvPr id="32" name="Text 30"/>
          <p:cNvSpPr/>
          <p:nvPr/>
        </p:nvSpPr>
        <p:spPr>
          <a:xfrm>
            <a:off x="9258300" y="2478881"/>
            <a:ext cx="218452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Модел нема пословне методе, само factory за стања.</a:t>
            </a:r>
            <a:endParaRPr lang="en-US" sz="1300" dirty="0"/>
          </a:p>
        </p:txBody>
      </p:sp>
      <p:sp>
        <p:nvSpPr>
          <p:cNvPr id="33" name="Shape 31"/>
          <p:cNvSpPr/>
          <p:nvPr/>
        </p:nvSpPr>
        <p:spPr>
          <a:xfrm>
            <a:off x="9105900" y="3311823"/>
            <a:ext cx="0" cy="487561"/>
          </a:xfrm>
          <a:prstGeom prst="line">
            <a:avLst/>
          </a:prstGeom>
          <a:noFill/>
          <a:ln w="25400">
            <a:solidFill>
              <a:srgbClr val="3A46A5"/>
            </a:solidFill>
            <a:prstDash val="solid"/>
          </a:ln>
        </p:spPr>
      </p:sp>
      <p:sp>
        <p:nvSpPr>
          <p:cNvPr id="34" name="Text 32"/>
          <p:cNvSpPr/>
          <p:nvPr/>
        </p:nvSpPr>
        <p:spPr>
          <a:xfrm>
            <a:off x="9258300" y="3324523"/>
            <a:ext cx="218452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Inventory правило остаје иза порта.</a:t>
            </a:r>
            <a:endParaRPr lang="en-US" sz="1300" dirty="0"/>
          </a:p>
        </p:txBody>
      </p:sp>
      <p:sp>
        <p:nvSpPr>
          <p:cNvPr id="35" name="Shape 33"/>
          <p:cNvSpPr/>
          <p:nvPr/>
        </p:nvSpPr>
        <p:spPr>
          <a:xfrm>
            <a:off x="9105900" y="3926384"/>
            <a:ext cx="0" cy="487561"/>
          </a:xfrm>
          <a:prstGeom prst="line">
            <a:avLst/>
          </a:prstGeom>
          <a:noFill/>
          <a:ln w="25400">
            <a:solidFill>
              <a:srgbClr val="E07B1F"/>
            </a:solidFill>
            <a:prstDash val="solid"/>
          </a:ln>
        </p:spPr>
      </p:sp>
      <p:sp>
        <p:nvSpPr>
          <p:cNvPr id="36" name="Text 34"/>
          <p:cNvSpPr/>
          <p:nvPr/>
        </p:nvSpPr>
        <p:spPr>
          <a:xfrm>
            <a:off x="9258300" y="3939084"/>
            <a:ext cx="218452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Application враћа стабилан исход API слоју.</a:t>
            </a:r>
            <a:endParaRPr lang="en-US" sz="1300" dirty="0"/>
          </a:p>
        </p:txBody>
      </p:sp>
      <p:sp>
        <p:nvSpPr>
          <p:cNvPr id="37" name="Shape 35"/>
          <p:cNvSpPr/>
          <p:nvPr/>
        </p:nvSpPr>
        <p:spPr>
          <a:xfrm>
            <a:off x="812800" y="6209705"/>
            <a:ext cx="10566400" cy="0"/>
          </a:xfrm>
          <a:prstGeom prst="line">
            <a:avLst/>
          </a:prstGeom>
          <a:noFill/>
          <a:ln w="6350">
            <a:solidFill>
              <a:srgbClr val="D3DAE1"/>
            </a:solidFill>
            <a:prstDash val="solid"/>
          </a:ln>
        </p:spPr>
      </p:sp>
      <p:sp>
        <p:nvSpPr>
          <p:cNvPr id="38" name="Text 3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9" name="Text 3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03 · УГОВОР ИЗМЕЂУ МОДУЛА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Idempotency key и поновљени захтев</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Поновљени захтев са истим идентификатором не производи додатни ефекат.</a:t>
            </a:r>
            <a:endParaRPr lang="en-US" sz="1400" dirty="0"/>
          </a:p>
        </p:txBody>
      </p:sp>
      <p:sp>
        <p:nvSpPr>
          <p:cNvPr id="6" name="Text 4"/>
          <p:cNvSpPr/>
          <p:nvPr/>
        </p:nvSpPr>
        <p:spPr>
          <a:xfrm>
            <a:off x="812800" y="2125861"/>
            <a:ext cx="3545880"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3A46A5"/>
                </a:solidFill>
                <a:latin typeface="IBM Plex Mono" pitchFamily="49" charset="0"/>
                <a:ea typeface="IBM Plex Mono" pitchFamily="49" charset="-122"/>
                <a:cs typeface="IBM Plex Mono" pitchFamily="49" charset="-120"/>
              </a:rPr>
              <a:t>RequestId</a:t>
            </a:r>
            <a:endParaRPr lang="en-US" sz="4800" dirty="0"/>
          </a:p>
        </p:txBody>
      </p:sp>
      <p:sp>
        <p:nvSpPr>
          <p:cNvPr id="7" name="Shape 5"/>
          <p:cNvSpPr/>
          <p:nvPr/>
        </p:nvSpPr>
        <p:spPr>
          <a:xfrm>
            <a:off x="4377730" y="2264966"/>
            <a:ext cx="0" cy="331391"/>
          </a:xfrm>
          <a:prstGeom prst="line">
            <a:avLst/>
          </a:prstGeom>
          <a:noFill/>
          <a:ln w="38100">
            <a:solidFill>
              <a:srgbClr val="3A46A5"/>
            </a:solidFill>
            <a:prstDash val="solid"/>
          </a:ln>
        </p:spPr>
      </p:sp>
      <p:sp>
        <p:nvSpPr>
          <p:cNvPr id="8" name="Text 6"/>
          <p:cNvSpPr/>
          <p:nvPr/>
        </p:nvSpPr>
        <p:spPr>
          <a:xfrm>
            <a:off x="4599980" y="2290366"/>
            <a:ext cx="6982597"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3202D"/>
                </a:solidFill>
                <a:latin typeface="IBM Plex Sans" pitchFamily="34" charset="0"/>
                <a:ea typeface="IBM Plex Sans" pitchFamily="34" charset="-122"/>
                <a:cs typeface="IBM Plex Sans" pitchFamily="34" charset="-120"/>
              </a:rPr>
              <a:t>један захтев, један ефекат</a:t>
            </a:r>
            <a:endParaRPr lang="en-US" sz="1700" dirty="0"/>
          </a:p>
        </p:txBody>
      </p:sp>
      <p:sp>
        <p:nvSpPr>
          <p:cNvPr id="9" name="Text 7"/>
          <p:cNvSpPr/>
          <p:nvPr/>
        </p:nvSpPr>
        <p:spPr>
          <a:xfrm>
            <a:off x="812800" y="3068141"/>
            <a:ext cx="1447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A46A5"/>
                </a:solidFill>
                <a:latin typeface="IBM Plex Mono" pitchFamily="49" charset="0"/>
                <a:ea typeface="IBM Plex Mono" pitchFamily="49" charset="-122"/>
                <a:cs typeface="IBM Plex Mono" pitchFamily="49" charset="-120"/>
              </a:rPr>
              <a:t>1. позив</a:t>
            </a:r>
            <a:endParaRPr lang="en-US" sz="1200" dirty="0"/>
          </a:p>
        </p:txBody>
      </p:sp>
      <p:sp>
        <p:nvSpPr>
          <p:cNvPr id="10" name="Text 8"/>
          <p:cNvSpPr/>
          <p:nvPr/>
        </p:nvSpPr>
        <p:spPr>
          <a:xfrm>
            <a:off x="2301875" y="2967236"/>
            <a:ext cx="2753717" cy="415230"/>
          </a:xfrm>
          <a:prstGeom prst="roundRect">
            <a:avLst>
              <a:gd name="adj" fmla="val 17587"/>
            </a:avLst>
          </a:prstGeom>
          <a:solidFill>
            <a:srgbClr val="FCFCFB"/>
          </a:solidFill>
          <a:ln w="6350">
            <a:solidFill>
              <a:srgbClr val="D3DAE1"/>
            </a:solidFill>
            <a:prstDash val="solid"/>
          </a:ln>
        </p:spPr>
        <p:txBody>
          <a:bodyPr wrap="square" lIns="108787" tIns="83387" rIns="33986" bIns="57987" rtlCol="0" anchor="t">
            <a:normAutofit/>
          </a:bodyPr>
          <a:lstStyle/>
          <a:p>
            <a:pPr algn="l" indent="0" marL="0">
              <a:lnSpc>
                <a:spcPts val="1620"/>
              </a:lnSpc>
              <a:buNone/>
            </a:pPr>
            <a:r>
              <a:rPr lang="en-US" sz="1200" dirty="0">
                <a:solidFill>
                  <a:srgbClr val="13202D"/>
                </a:solidFill>
                <a:latin typeface="IBM Plex Sans" pitchFamily="34" charset="0"/>
                <a:ea typeface="IBM Plex Sans" pitchFamily="34" charset="-122"/>
                <a:cs typeface="IBM Plex Sans" pitchFamily="34" charset="-120"/>
              </a:rPr>
              <a:t>нема резервације за RequestId</a:t>
            </a:r>
            <a:endParaRPr lang="en-US" sz="1200" dirty="0"/>
          </a:p>
        </p:txBody>
      </p:sp>
      <p:pic>
        <p:nvPicPr>
          <p:cNvPr id="11" name="Image 0" descr="arrow-right">    </p:cNvPr>
          <p:cNvPicPr>
            <a:picLocks noChangeAspect="1"/>
          </p:cNvPicPr>
          <p:nvPr/>
        </p:nvPicPr>
        <p:blipFill>
          <a:blip r:embed="rId1"/>
          <a:srcRect l="0" r="0" t="0" b="0"/>
          <a:stretch/>
        </p:blipFill>
        <p:spPr>
          <a:xfrm>
            <a:off x="5147667" y="3117652"/>
            <a:ext cx="228600" cy="114300"/>
          </a:xfrm>
          <a:prstGeom prst="rect">
            <a:avLst/>
          </a:prstGeom>
        </p:spPr>
      </p:pic>
      <p:sp>
        <p:nvSpPr>
          <p:cNvPr id="12" name="Text 9"/>
          <p:cNvSpPr/>
          <p:nvPr/>
        </p:nvSpPr>
        <p:spPr>
          <a:xfrm>
            <a:off x="5468342" y="2967236"/>
            <a:ext cx="2753816" cy="415230"/>
          </a:xfrm>
          <a:prstGeom prst="roundRect">
            <a:avLst>
              <a:gd name="adj" fmla="val 17587"/>
            </a:avLst>
          </a:prstGeom>
          <a:solidFill>
            <a:srgbClr val="FCFCFB"/>
          </a:solidFill>
          <a:ln w="6350">
            <a:solidFill>
              <a:srgbClr val="D3DAE1"/>
            </a:solidFill>
            <a:prstDash val="solid"/>
          </a:ln>
        </p:spPr>
        <p:txBody>
          <a:bodyPr wrap="square" lIns="108787" tIns="83387" rIns="33983" bIns="57987" rtlCol="0" anchor="t">
            <a:normAutofit/>
          </a:bodyPr>
          <a:lstStyle/>
          <a:p>
            <a:pPr algn="l" indent="0" marL="0">
              <a:lnSpc>
                <a:spcPts val="1620"/>
              </a:lnSpc>
              <a:buNone/>
            </a:pPr>
            <a:r>
              <a:rPr lang="en-US" sz="1200" dirty="0">
                <a:solidFill>
                  <a:srgbClr val="13202D"/>
                </a:solidFill>
                <a:latin typeface="IBM Plex Sans" pitchFamily="34" charset="0"/>
                <a:ea typeface="IBM Plex Sans" pitchFamily="34" charset="-122"/>
                <a:cs typeface="IBM Plex Sans" pitchFamily="34" charset="-120"/>
              </a:rPr>
              <a:t>Inventory.ReserveAsync</a:t>
            </a:r>
            <a:endParaRPr lang="en-US" sz="1200" dirty="0"/>
          </a:p>
        </p:txBody>
      </p:sp>
      <p:pic>
        <p:nvPicPr>
          <p:cNvPr id="13" name="Image 1" descr="arrow-right">    </p:cNvPr>
          <p:cNvPicPr>
            <a:picLocks noChangeAspect="1"/>
          </p:cNvPicPr>
          <p:nvPr/>
        </p:nvPicPr>
        <p:blipFill>
          <a:blip r:embed="rId2"/>
          <a:srcRect l="0" r="0" t="0" b="0"/>
          <a:stretch/>
        </p:blipFill>
        <p:spPr>
          <a:xfrm>
            <a:off x="8314234" y="3117652"/>
            <a:ext cx="228600" cy="114300"/>
          </a:xfrm>
          <a:prstGeom prst="rect">
            <a:avLst/>
          </a:prstGeom>
        </p:spPr>
      </p:pic>
      <p:sp>
        <p:nvSpPr>
          <p:cNvPr id="14" name="Text 10"/>
          <p:cNvSpPr/>
          <p:nvPr/>
        </p:nvSpPr>
        <p:spPr>
          <a:xfrm>
            <a:off x="8631734" y="2964061"/>
            <a:ext cx="2747466" cy="421580"/>
          </a:xfrm>
          <a:prstGeom prst="roundRect">
            <a:avLst>
              <a:gd name="adj" fmla="val 18075"/>
            </a:avLst>
          </a:prstGeom>
          <a:solidFill>
            <a:srgbClr val="3A46A5"/>
          </a:solidFill>
          <a:ln/>
        </p:spPr>
        <p:txBody>
          <a:bodyPr wrap="square" lIns="104682" tIns="79282" rIns="29878" bIns="53882" rtlCol="0" anchor="t">
            <a:normAutofit/>
          </a:bodyPr>
          <a:lstStyle/>
          <a:p>
            <a:pPr algn="l" indent="0" marL="0">
              <a:lnSpc>
                <a:spcPts val="1620"/>
              </a:lnSpc>
              <a:buNone/>
            </a:pPr>
            <a:r>
              <a:rPr lang="en-US" sz="1200" dirty="0">
                <a:solidFill>
                  <a:srgbClr val="FCFCFB"/>
                </a:solidFill>
                <a:latin typeface="IBM Plex Sans" pitchFamily="34" charset="0"/>
                <a:ea typeface="IBM Plex Sans" pitchFamily="34" charset="-122"/>
                <a:cs typeface="IBM Plex Sans" pitchFamily="34" charset="-120"/>
              </a:rPr>
              <a:t>Confirmed · replayed: false</a:t>
            </a:r>
            <a:endParaRPr lang="en-US" sz="1200" dirty="0"/>
          </a:p>
        </p:txBody>
      </p:sp>
      <p:sp>
        <p:nvSpPr>
          <p:cNvPr id="15" name="Text 11"/>
          <p:cNvSpPr/>
          <p:nvPr/>
        </p:nvSpPr>
        <p:spPr>
          <a:xfrm>
            <a:off x="812800" y="3578622"/>
            <a:ext cx="1447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2. исти позив</a:t>
            </a:r>
            <a:endParaRPr lang="en-US" sz="1200" dirty="0"/>
          </a:p>
        </p:txBody>
      </p:sp>
      <p:sp>
        <p:nvSpPr>
          <p:cNvPr id="16" name="Text 12"/>
          <p:cNvSpPr/>
          <p:nvPr/>
        </p:nvSpPr>
        <p:spPr>
          <a:xfrm>
            <a:off x="2301875" y="3477716"/>
            <a:ext cx="2753717" cy="415230"/>
          </a:xfrm>
          <a:prstGeom prst="roundRect">
            <a:avLst>
              <a:gd name="adj" fmla="val 17587"/>
            </a:avLst>
          </a:prstGeom>
          <a:solidFill>
            <a:srgbClr val="FCFCFB"/>
          </a:solidFill>
          <a:ln w="6350">
            <a:solidFill>
              <a:srgbClr val="D3DAE1"/>
            </a:solidFill>
            <a:prstDash val="solid"/>
          </a:ln>
        </p:spPr>
        <p:txBody>
          <a:bodyPr wrap="square" lIns="108787" tIns="83387" rIns="33986" bIns="57987" rtlCol="0" anchor="t">
            <a:normAutofit/>
          </a:bodyPr>
          <a:lstStyle/>
          <a:p>
            <a:pPr algn="l" indent="0" marL="0">
              <a:lnSpc>
                <a:spcPts val="1620"/>
              </a:lnSpc>
              <a:buNone/>
            </a:pPr>
            <a:r>
              <a:rPr lang="en-US" sz="1200" dirty="0">
                <a:solidFill>
                  <a:srgbClr val="13202D"/>
                </a:solidFill>
                <a:latin typeface="IBM Plex Sans" pitchFamily="34" charset="0"/>
                <a:ea typeface="IBM Plex Sans" pitchFamily="34" charset="-122"/>
                <a:cs typeface="IBM Plex Sans" pitchFamily="34" charset="-120"/>
              </a:rPr>
              <a:t>резервација већ постоји</a:t>
            </a:r>
            <a:endParaRPr lang="en-US" sz="1200" dirty="0"/>
          </a:p>
        </p:txBody>
      </p:sp>
      <p:pic>
        <p:nvPicPr>
          <p:cNvPr id="17" name="Image 2" descr="arrow-right">    </p:cNvPr>
          <p:cNvPicPr>
            <a:picLocks noChangeAspect="1"/>
          </p:cNvPicPr>
          <p:nvPr/>
        </p:nvPicPr>
        <p:blipFill>
          <a:blip r:embed="rId3"/>
          <a:srcRect l="0" r="0" t="0" b="0"/>
          <a:stretch/>
        </p:blipFill>
        <p:spPr>
          <a:xfrm>
            <a:off x="5147667" y="3628132"/>
            <a:ext cx="228600" cy="114300"/>
          </a:xfrm>
          <a:prstGeom prst="rect">
            <a:avLst/>
          </a:prstGeom>
        </p:spPr>
      </p:pic>
      <p:sp>
        <p:nvSpPr>
          <p:cNvPr id="18" name="Text 13"/>
          <p:cNvSpPr/>
          <p:nvPr/>
        </p:nvSpPr>
        <p:spPr>
          <a:xfrm>
            <a:off x="5468342" y="3477716"/>
            <a:ext cx="2753816" cy="415230"/>
          </a:xfrm>
          <a:prstGeom prst="roundRect">
            <a:avLst>
              <a:gd name="adj" fmla="val 17587"/>
            </a:avLst>
          </a:prstGeom>
          <a:solidFill>
            <a:srgbClr val="FBF1E6"/>
          </a:solidFill>
          <a:ln w="6350">
            <a:solidFill>
              <a:srgbClr val="E07B1F"/>
            </a:solidFill>
            <a:prstDash val="dash"/>
          </a:ln>
        </p:spPr>
        <p:txBody>
          <a:bodyPr wrap="square" lIns="108787" tIns="83387" rIns="33983" bIns="57987" rtlCol="0" anchor="t">
            <a:normAutofit/>
          </a:bodyPr>
          <a:lstStyle/>
          <a:p>
            <a:pPr algn="l" indent="0" marL="0">
              <a:lnSpc>
                <a:spcPts val="1620"/>
              </a:lnSpc>
              <a:buNone/>
            </a:pPr>
            <a:r>
              <a:rPr lang="en-US" sz="1200" dirty="0">
                <a:solidFill>
                  <a:srgbClr val="A8520A"/>
                </a:solidFill>
                <a:latin typeface="IBM Plex Sans" pitchFamily="34" charset="0"/>
                <a:ea typeface="IBM Plex Sans" pitchFamily="34" charset="-122"/>
                <a:cs typeface="IBM Plex Sans" pitchFamily="34" charset="-120"/>
              </a:rPr>
              <a:t>Inventory се не позива</a:t>
            </a:r>
            <a:endParaRPr lang="en-US" sz="1200" dirty="0"/>
          </a:p>
        </p:txBody>
      </p:sp>
      <p:pic>
        <p:nvPicPr>
          <p:cNvPr id="19" name="Image 3" descr="arrow-right">    </p:cNvPr>
          <p:cNvPicPr>
            <a:picLocks noChangeAspect="1"/>
          </p:cNvPicPr>
          <p:nvPr/>
        </p:nvPicPr>
        <p:blipFill>
          <a:blip r:embed="rId4"/>
          <a:srcRect l="0" r="0" t="0" b="0"/>
          <a:stretch/>
        </p:blipFill>
        <p:spPr>
          <a:xfrm>
            <a:off x="8314234" y="3628132"/>
            <a:ext cx="228600" cy="114300"/>
          </a:xfrm>
          <a:prstGeom prst="rect">
            <a:avLst/>
          </a:prstGeom>
        </p:spPr>
      </p:pic>
      <p:sp>
        <p:nvSpPr>
          <p:cNvPr id="20" name="Text 14"/>
          <p:cNvSpPr/>
          <p:nvPr/>
        </p:nvSpPr>
        <p:spPr>
          <a:xfrm>
            <a:off x="8631734" y="3474541"/>
            <a:ext cx="2747466" cy="421580"/>
          </a:xfrm>
          <a:prstGeom prst="roundRect">
            <a:avLst>
              <a:gd name="adj" fmla="val 18075"/>
            </a:avLst>
          </a:prstGeom>
          <a:solidFill>
            <a:srgbClr val="E3E5F2"/>
          </a:solidFill>
          <a:ln/>
        </p:spPr>
        <p:txBody>
          <a:bodyPr wrap="square" lIns="104682" tIns="79282" rIns="29878" bIns="53882" rtlCol="0" anchor="t">
            <a:normAutofit/>
          </a:bodyPr>
          <a:lstStyle/>
          <a:p>
            <a:pPr algn="l" indent="0" marL="0">
              <a:lnSpc>
                <a:spcPts val="1620"/>
              </a:lnSpc>
              <a:buNone/>
            </a:pPr>
            <a:r>
              <a:rPr lang="en-US" sz="1200" dirty="0">
                <a:solidFill>
                  <a:srgbClr val="13202D"/>
                </a:solidFill>
                <a:latin typeface="IBM Plex Sans" pitchFamily="34" charset="0"/>
                <a:ea typeface="IBM Plex Sans" pitchFamily="34" charset="-122"/>
                <a:cs typeface="IBM Plex Sans" pitchFamily="34" charset="-120"/>
              </a:rPr>
              <a:t>иста резервација · replayed: true</a:t>
            </a:r>
            <a:endParaRPr lang="en-US" sz="1200" dirty="0"/>
          </a:p>
        </p:txBody>
      </p:sp>
      <p:sp>
        <p:nvSpPr>
          <p:cNvPr id="21" name="Shape 15"/>
          <p:cNvSpPr/>
          <p:nvPr/>
        </p:nvSpPr>
        <p:spPr>
          <a:xfrm>
            <a:off x="812800" y="6209705"/>
            <a:ext cx="10566400" cy="0"/>
          </a:xfrm>
          <a:prstGeom prst="line">
            <a:avLst/>
          </a:prstGeom>
          <a:noFill/>
          <a:ln w="6350">
            <a:solidFill>
              <a:srgbClr val="D3DAE1"/>
            </a:solidFill>
            <a:prstDash val="solid"/>
          </a:ln>
        </p:spPr>
      </p:sp>
      <p:sp>
        <p:nvSpPr>
          <p:cNvPr id="22" name="Text 1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3" name="Text 1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03 · УГОВОР ИЗМЕЂУ МОДУЛА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Тест идемпотентности</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Тест потврђује да поновљени позив не мења стање други пут.</a:t>
            </a:r>
            <a:endParaRPr lang="en-US" sz="1400" dirty="0"/>
          </a:p>
        </p:txBody>
      </p:sp>
      <p:sp>
        <p:nvSpPr>
          <p:cNvPr id="6" name="Shape 4"/>
          <p:cNvSpPr/>
          <p:nvPr/>
        </p:nvSpPr>
        <p:spPr>
          <a:xfrm>
            <a:off x="815975" y="2129036"/>
            <a:ext cx="6597650" cy="3036094"/>
          </a:xfrm>
          <a:prstGeom prst="roundRect">
            <a:avLst>
              <a:gd name="adj" fmla="val 3242"/>
            </a:avLst>
          </a:prstGeom>
          <a:solidFill>
            <a:srgbClr val="FCFCFB"/>
          </a:solidFill>
          <a:ln w="6350">
            <a:solidFill>
              <a:srgbClr val="D3DAE1"/>
            </a:solidFill>
            <a:prstDash val="solid"/>
          </a:ln>
        </p:spPr>
      </p:sp>
      <p:sp>
        <p:nvSpPr>
          <p:cNvPr id="7" name="Text 5"/>
          <p:cNvSpPr/>
          <p:nvPr/>
        </p:nvSpPr>
        <p:spPr>
          <a:xfrm>
            <a:off x="1009650" y="2271911"/>
            <a:ext cx="6396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NUnit</a:t>
            </a:r>
            <a:endParaRPr lang="en-US" sz="1200" dirty="0"/>
          </a:p>
        </p:txBody>
      </p:sp>
      <p:sp>
        <p:nvSpPr>
          <p:cNvPr id="8" name="Text 6"/>
          <p:cNvSpPr/>
          <p:nvPr/>
        </p:nvSpPr>
        <p:spPr>
          <a:xfrm>
            <a:off x="1009650" y="25487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90650" y="2548731"/>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A5"/>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first = </a:t>
            </a:r>
            <a:r>
              <a:rPr lang="en-US" sz="1200" dirty="0">
                <a:solidFill>
                  <a:srgbClr val="3A46A5"/>
                </a:solidFill>
                <a:latin typeface="IBM Plex Mono" pitchFamily="49" charset="0"/>
                <a:ea typeface="IBM Plex Mono" pitchFamily="49" charset="-122"/>
                <a:cs typeface="IBM Plex Mono" pitchFamily="49" charset="-120"/>
              </a:rPr>
              <a:t>await</a:t>
            </a:r>
            <a:r>
              <a:rPr lang="en-US" sz="1200" dirty="0">
                <a:solidFill>
                  <a:srgbClr val="13202D"/>
                </a:solidFill>
                <a:latin typeface="IBM Plex Mono" pitchFamily="49" charset="0"/>
                <a:ea typeface="IBM Plex Mono" pitchFamily="49" charset="-122"/>
                <a:cs typeface="IBM Plex Mono" pitchFamily="49" charset="-120"/>
              </a:rPr>
              <a:t> handler.HandleAsync(command, ct);</a:t>
            </a:r>
            <a:endParaRPr lang="en-US" sz="1200" dirty="0"/>
          </a:p>
        </p:txBody>
      </p:sp>
      <p:sp>
        <p:nvSpPr>
          <p:cNvPr id="10" name="Text 8"/>
          <p:cNvSpPr/>
          <p:nvPr/>
        </p:nvSpPr>
        <p:spPr>
          <a:xfrm>
            <a:off x="1009650" y="27747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90650" y="2774752"/>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A5"/>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replay = </a:t>
            </a:r>
            <a:r>
              <a:rPr lang="en-US" sz="1200" dirty="0">
                <a:solidFill>
                  <a:srgbClr val="3A46A5"/>
                </a:solidFill>
                <a:latin typeface="IBM Plex Mono" pitchFamily="49" charset="0"/>
                <a:ea typeface="IBM Plex Mono" pitchFamily="49" charset="-122"/>
                <a:cs typeface="IBM Plex Mono" pitchFamily="49" charset="-120"/>
              </a:rPr>
              <a:t>await</a:t>
            </a:r>
            <a:r>
              <a:rPr lang="en-US" sz="1200" dirty="0">
                <a:solidFill>
                  <a:srgbClr val="13202D"/>
                </a:solidFill>
                <a:latin typeface="IBM Plex Mono" pitchFamily="49" charset="0"/>
                <a:ea typeface="IBM Plex Mono" pitchFamily="49" charset="-122"/>
                <a:cs typeface="IBM Plex Mono" pitchFamily="49" charset="-120"/>
              </a:rPr>
              <a:t> handler.HandleAsync(command, ct);</a:t>
            </a:r>
            <a:endParaRPr lang="en-US" sz="1200" dirty="0"/>
          </a:p>
        </p:txBody>
      </p:sp>
      <p:sp>
        <p:nvSpPr>
          <p:cNvPr id="12" name="Text 10"/>
          <p:cNvSpPr/>
          <p:nvPr/>
        </p:nvSpPr>
        <p:spPr>
          <a:xfrm>
            <a:off x="1009650" y="30007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90650" y="3000772"/>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A5"/>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available = </a:t>
            </a:r>
            <a:r>
              <a:rPr lang="en-US" sz="1200" dirty="0">
                <a:solidFill>
                  <a:srgbClr val="3A46A5"/>
                </a:solidFill>
                <a:latin typeface="IBM Plex Mono" pitchFamily="49" charset="0"/>
                <a:ea typeface="IBM Plex Mono" pitchFamily="49" charset="-122"/>
                <a:cs typeface="IBM Plex Mono" pitchFamily="49" charset="-120"/>
              </a:rPr>
              <a:t>await</a:t>
            </a:r>
            <a:r>
              <a:rPr lang="en-US" sz="1200" dirty="0">
                <a:solidFill>
                  <a:srgbClr val="13202D"/>
                </a:solidFill>
                <a:latin typeface="IBM Plex Mono" pitchFamily="49" charset="0"/>
                <a:ea typeface="IBM Plex Mono" pitchFamily="49" charset="-122"/>
                <a:cs typeface="IBM Plex Mono" pitchFamily="49" charset="-120"/>
              </a:rPr>
              <a:t> inventory.GetAvailableAsync(</a:t>
            </a:r>
            <a:endParaRPr lang="en-US" sz="1200" dirty="0"/>
          </a:p>
        </p:txBody>
      </p:sp>
      <p:sp>
        <p:nvSpPr>
          <p:cNvPr id="14" name="Text 12"/>
          <p:cNvSpPr/>
          <p:nvPr/>
        </p:nvSpPr>
        <p:spPr>
          <a:xfrm>
            <a:off x="1009650" y="3226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90650" y="3226792"/>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command.EquipmentId, ct);</a:t>
            </a:r>
            <a:endParaRPr lang="en-US" sz="1200" dirty="0"/>
          </a:p>
        </p:txBody>
      </p:sp>
      <p:sp>
        <p:nvSpPr>
          <p:cNvPr id="16" name="Text 14"/>
          <p:cNvSpPr/>
          <p:nvPr/>
        </p:nvSpPr>
        <p:spPr>
          <a:xfrm>
            <a:off x="1009650" y="34528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009650" y="36788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8" name="Text 16"/>
          <p:cNvSpPr/>
          <p:nvPr/>
        </p:nvSpPr>
        <p:spPr>
          <a:xfrm>
            <a:off x="1390650" y="3678833"/>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Assert.That(first.Outcome,</a:t>
            </a:r>
            <a:endParaRPr lang="en-US" sz="1200" dirty="0"/>
          </a:p>
        </p:txBody>
      </p:sp>
      <p:sp>
        <p:nvSpPr>
          <p:cNvPr id="19" name="Text 17"/>
          <p:cNvSpPr/>
          <p:nvPr/>
        </p:nvSpPr>
        <p:spPr>
          <a:xfrm>
            <a:off x="1009650" y="39048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0" name="Text 18"/>
          <p:cNvSpPr/>
          <p:nvPr/>
        </p:nvSpPr>
        <p:spPr>
          <a:xfrm>
            <a:off x="1390650" y="3904853"/>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Is.EqualTo(CreateReservationOutcome.Confirmed));</a:t>
            </a:r>
            <a:endParaRPr lang="en-US" sz="1200" dirty="0"/>
          </a:p>
        </p:txBody>
      </p:sp>
      <p:sp>
        <p:nvSpPr>
          <p:cNvPr id="21" name="Text 19"/>
          <p:cNvSpPr/>
          <p:nvPr/>
        </p:nvSpPr>
        <p:spPr>
          <a:xfrm>
            <a:off x="1009650" y="41308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390650" y="4130873"/>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Assert.That(replay.ReservationId,</a:t>
            </a:r>
            <a:endParaRPr lang="en-US" sz="1200" dirty="0"/>
          </a:p>
        </p:txBody>
      </p:sp>
      <p:sp>
        <p:nvSpPr>
          <p:cNvPr id="23" name="Text 21"/>
          <p:cNvSpPr/>
          <p:nvPr/>
        </p:nvSpPr>
        <p:spPr>
          <a:xfrm>
            <a:off x="1009650" y="43568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4" name="Text 22"/>
          <p:cNvSpPr/>
          <p:nvPr/>
        </p:nvSpPr>
        <p:spPr>
          <a:xfrm>
            <a:off x="1390650" y="4356894"/>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Is.EqualTo(first.ReservationId));</a:t>
            </a:r>
            <a:endParaRPr lang="en-US" sz="1200" dirty="0"/>
          </a:p>
        </p:txBody>
      </p:sp>
      <p:sp>
        <p:nvSpPr>
          <p:cNvPr id="25" name="Text 23"/>
          <p:cNvSpPr/>
          <p:nvPr/>
        </p:nvSpPr>
        <p:spPr>
          <a:xfrm>
            <a:off x="1009650" y="45829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6" name="Text 24"/>
          <p:cNvSpPr/>
          <p:nvPr/>
        </p:nvSpPr>
        <p:spPr>
          <a:xfrm>
            <a:off x="1390650" y="4582914"/>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Assert.That(replay.Replayed, Is.True);</a:t>
            </a:r>
            <a:endParaRPr lang="en-US" sz="1200" dirty="0"/>
          </a:p>
        </p:txBody>
      </p:sp>
      <p:sp>
        <p:nvSpPr>
          <p:cNvPr id="27" name="Text 25"/>
          <p:cNvSpPr/>
          <p:nvPr/>
        </p:nvSpPr>
        <p:spPr>
          <a:xfrm>
            <a:off x="1009650" y="48089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8" name="Text 26"/>
          <p:cNvSpPr/>
          <p:nvPr/>
        </p:nvSpPr>
        <p:spPr>
          <a:xfrm>
            <a:off x="1390650" y="4808934"/>
            <a:ext cx="6004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Assert.That(available, Is.EqualTo(</a:t>
            </a:r>
            <a:r>
              <a:rPr lang="en-US" sz="1200" dirty="0">
                <a:solidFill>
                  <a:srgbClr val="A8520A"/>
                </a:solidFill>
                <a:latin typeface="IBM Plex Mono" pitchFamily="49" charset="0"/>
                <a:ea typeface="IBM Plex Mono" pitchFamily="49" charset="-122"/>
                <a:cs typeface="IBM Plex Mono" pitchFamily="49" charset="-120"/>
              </a:rPr>
              <a:t>3</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9" name="Text 27"/>
          <p:cNvSpPr/>
          <p:nvPr/>
        </p:nvSpPr>
        <p:spPr>
          <a:xfrm>
            <a:off x="7721600" y="2125861"/>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0" name="Shape 28"/>
          <p:cNvSpPr/>
          <p:nvPr/>
        </p:nvSpPr>
        <p:spPr>
          <a:xfrm>
            <a:off x="7734300" y="2466181"/>
            <a:ext cx="0" cy="256480"/>
          </a:xfrm>
          <a:prstGeom prst="line">
            <a:avLst/>
          </a:prstGeom>
          <a:noFill/>
          <a:ln w="25400">
            <a:solidFill>
              <a:srgbClr val="3A46A5"/>
            </a:solidFill>
            <a:prstDash val="solid"/>
          </a:ln>
        </p:spPr>
      </p:sp>
      <p:sp>
        <p:nvSpPr>
          <p:cNvPr id="31" name="Text 29"/>
          <p:cNvSpPr/>
          <p:nvPr/>
        </p:nvSpPr>
        <p:spPr>
          <a:xfrm>
            <a:off x="7886700" y="2478881"/>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Тест проверава уговор између модула.</a:t>
            </a:r>
            <a:endParaRPr lang="en-US" sz="1300" dirty="0"/>
          </a:p>
        </p:txBody>
      </p:sp>
      <p:sp>
        <p:nvSpPr>
          <p:cNvPr id="32" name="Shape 30"/>
          <p:cNvSpPr/>
          <p:nvPr/>
        </p:nvSpPr>
        <p:spPr>
          <a:xfrm>
            <a:off x="7734300" y="2849662"/>
            <a:ext cx="0" cy="487561"/>
          </a:xfrm>
          <a:prstGeom prst="line">
            <a:avLst/>
          </a:prstGeom>
          <a:noFill/>
          <a:ln w="25400">
            <a:solidFill>
              <a:srgbClr val="E07B1F"/>
            </a:solidFill>
            <a:prstDash val="solid"/>
          </a:ln>
        </p:spPr>
      </p:sp>
      <p:sp>
        <p:nvSpPr>
          <p:cNvPr id="33" name="Text 31"/>
          <p:cNvSpPr/>
          <p:nvPr/>
        </p:nvSpPr>
        <p:spPr>
          <a:xfrm>
            <a:off x="7886700" y="2862362"/>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Поновљени позив не сме да направи нови side effect.</a:t>
            </a:r>
            <a:endParaRPr lang="en-US" sz="1300" dirty="0"/>
          </a:p>
        </p:txBody>
      </p:sp>
      <p:sp>
        <p:nvSpPr>
          <p:cNvPr id="34" name="Shape 32"/>
          <p:cNvSpPr/>
          <p:nvPr/>
        </p:nvSpPr>
        <p:spPr>
          <a:xfrm>
            <a:off x="7734300" y="3464223"/>
            <a:ext cx="0" cy="487561"/>
          </a:xfrm>
          <a:prstGeom prst="line">
            <a:avLst/>
          </a:prstGeom>
          <a:noFill/>
          <a:ln w="25400">
            <a:solidFill>
              <a:srgbClr val="3A46A5"/>
            </a:solidFill>
            <a:prstDash val="solid"/>
          </a:ln>
        </p:spPr>
      </p:sp>
      <p:sp>
        <p:nvSpPr>
          <p:cNvPr id="35" name="Text 33"/>
          <p:cNvSpPr/>
          <p:nvPr/>
        </p:nvSpPr>
        <p:spPr>
          <a:xfrm>
            <a:off x="7886700" y="3476923"/>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Проверавају се и исход и преостала количина.</a:t>
            </a:r>
            <a:endParaRPr lang="en-US" sz="1300" dirty="0"/>
          </a:p>
        </p:txBody>
      </p:sp>
      <p:sp>
        <p:nvSpPr>
          <p:cNvPr id="36" name="Shape 34"/>
          <p:cNvSpPr/>
          <p:nvPr/>
        </p:nvSpPr>
        <p:spPr>
          <a:xfrm>
            <a:off x="812800" y="6209705"/>
            <a:ext cx="10566400" cy="0"/>
          </a:xfrm>
          <a:prstGeom prst="line">
            <a:avLst/>
          </a:prstGeom>
          <a:noFill/>
          <a:ln w="6350">
            <a:solidFill>
              <a:srgbClr val="D3DAE1"/>
            </a:solidFill>
            <a:prstDash val="solid"/>
          </a:ln>
        </p:spPr>
      </p:sp>
      <p:sp>
        <p:nvSpPr>
          <p:cNvPr id="37" name="Text 3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8" name="Text 3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6E8EE"/>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3A46A5"/>
                </a:solidFill>
                <a:latin typeface="IBM Plex Mono" pitchFamily="49" charset="0"/>
                <a:ea typeface="IBM Plex Mono" pitchFamily="49" charset="-122"/>
                <a:cs typeface="IBM Plex Mono" pitchFamily="49" charset="-120"/>
              </a:rPr>
              <a:t>04</a:t>
            </a:r>
            <a:endParaRPr lang="en-US" sz="14000" dirty="0"/>
          </a:p>
        </p:txBody>
      </p:sp>
      <p:sp>
        <p:nvSpPr>
          <p:cNvPr id="3" name="Text 1"/>
          <p:cNvSpPr/>
          <p:nvPr/>
        </p:nvSpPr>
        <p:spPr>
          <a:xfrm>
            <a:off x="4267200" y="2139355"/>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ЧЕТВРТИ ДЕО</a:t>
            </a:r>
            <a:endParaRPr lang="en-US" sz="1200" dirty="0"/>
          </a:p>
        </p:txBody>
      </p:sp>
      <p:sp>
        <p:nvSpPr>
          <p:cNvPr id="4" name="Text 2"/>
          <p:cNvSpPr/>
          <p:nvPr>
            <p:ph type="title"/>
          </p:nvPr>
        </p:nvSpPr>
        <p:spPr>
          <a:xfrm>
            <a:off x="4267200" y="2530475"/>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Докази и ризици</a:t>
            </a:r>
            <a:endParaRPr lang="en-US" sz="4800" dirty="0"/>
          </a:p>
        </p:txBody>
      </p:sp>
      <p:sp>
        <p:nvSpPr>
          <p:cNvPr id="5" name="Text 3"/>
          <p:cNvSpPr/>
          <p:nvPr/>
        </p:nvSpPr>
        <p:spPr>
          <a:xfrm>
            <a:off x="4267200" y="3348335"/>
            <a:ext cx="627888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Шта потврђује да је интеграција исправна и где најчешће пуца.</a:t>
            </a:r>
            <a:endParaRPr lang="en-US" sz="1400" dirty="0"/>
          </a:p>
        </p:txBody>
      </p:sp>
      <p:sp>
        <p:nvSpPr>
          <p:cNvPr id="6" name="Text 4"/>
          <p:cNvSpPr/>
          <p:nvPr/>
        </p:nvSpPr>
        <p:spPr>
          <a:xfrm>
            <a:off x="4270375" y="3787080"/>
            <a:ext cx="2029123"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Build, Tests, Diff, Contract</a:t>
            </a:r>
            <a:endParaRPr lang="en-US" sz="1200" dirty="0"/>
          </a:p>
        </p:txBody>
      </p:sp>
      <p:sp>
        <p:nvSpPr>
          <p:cNvPr id="7" name="Text 5"/>
          <p:cNvSpPr/>
          <p:nvPr/>
        </p:nvSpPr>
        <p:spPr>
          <a:xfrm>
            <a:off x="6382048" y="3787080"/>
            <a:ext cx="1135459"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API граница</a:t>
            </a:r>
            <a:endParaRPr lang="en-US" sz="1200" dirty="0"/>
          </a:p>
        </p:txBody>
      </p:sp>
      <p:sp>
        <p:nvSpPr>
          <p:cNvPr id="8" name="Text 6"/>
          <p:cNvSpPr/>
          <p:nvPr/>
        </p:nvSpPr>
        <p:spPr>
          <a:xfrm>
            <a:off x="7600057" y="3787080"/>
            <a:ext cx="789384"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Ризици</a:t>
            </a:r>
            <a:endParaRPr lang="en-US" sz="1200" dirty="0"/>
          </a:p>
        </p:txBody>
      </p:sp>
      <p:sp>
        <p:nvSpPr>
          <p:cNvPr id="9" name="Text 7"/>
          <p:cNvSpPr/>
          <p:nvPr/>
        </p:nvSpPr>
        <p:spPr>
          <a:xfrm>
            <a:off x="8471991" y="3787080"/>
            <a:ext cx="1803598"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Заједнички производ</a:t>
            </a:r>
            <a:endParaRPr lang="en-US" sz="1200" dirty="0"/>
          </a:p>
        </p:txBody>
      </p:sp>
      <p:sp>
        <p:nvSpPr>
          <p:cNvPr id="10" name="Text 8"/>
          <p:cNvSpPr/>
          <p:nvPr/>
        </p:nvSpPr>
        <p:spPr>
          <a:xfrm>
            <a:off x="4270375" y="4190901"/>
            <a:ext cx="1173559"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AI радни ток</a:t>
            </a:r>
            <a:endParaRPr lang="en-US" sz="1200" dirty="0"/>
          </a:p>
        </p:txBody>
      </p:sp>
      <p:sp>
        <p:nvSpPr>
          <p:cNvPr id="11" name="Shape 9"/>
          <p:cNvSpPr/>
          <p:nvPr/>
        </p:nvSpPr>
        <p:spPr>
          <a:xfrm>
            <a:off x="812800" y="6209705"/>
            <a:ext cx="10566400" cy="0"/>
          </a:xfrm>
          <a:prstGeom prst="line">
            <a:avLst/>
          </a:prstGeom>
          <a:noFill/>
          <a:ln w="6350">
            <a:solidFill>
              <a:srgbClr val="B5BCD0"/>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04 · ДОКАЗИ И РИЗИЦИ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Докази интеграције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Build, тестови, diff и уговори потврђују исправност интеграције.</a:t>
            </a:r>
            <a:endParaRPr lang="en-US" sz="1400" dirty="0"/>
          </a:p>
        </p:txBody>
      </p:sp>
      <p:sp>
        <p:nvSpPr>
          <p:cNvPr id="6" name="Shape 4"/>
          <p:cNvSpPr/>
          <p:nvPr/>
        </p:nvSpPr>
        <p:spPr>
          <a:xfrm>
            <a:off x="815975" y="2179836"/>
            <a:ext cx="2559050" cy="1611412"/>
          </a:xfrm>
          <a:prstGeom prst="roundRect">
            <a:avLst>
              <a:gd name="adj" fmla="val 6108"/>
            </a:avLst>
          </a:prstGeom>
          <a:solidFill>
            <a:srgbClr val="FCFCFB"/>
          </a:solidFill>
          <a:ln w="6350">
            <a:solidFill>
              <a:srgbClr val="D3DAE1"/>
            </a:solidFill>
            <a:prstDash val="solid"/>
          </a:ln>
        </p:spPr>
      </p:sp>
      <p:sp>
        <p:nvSpPr>
          <p:cNvPr id="7" name="Text 5"/>
          <p:cNvSpPr/>
          <p:nvPr/>
        </p:nvSpPr>
        <p:spPr>
          <a:xfrm>
            <a:off x="984250" y="23481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A46A5"/>
                </a:solidFill>
                <a:latin typeface="IBM Plex Mono" pitchFamily="49" charset="0"/>
                <a:ea typeface="IBM Plex Mono" pitchFamily="49" charset="-122"/>
                <a:cs typeface="IBM Plex Mono" pitchFamily="49" charset="-120"/>
              </a:rPr>
              <a:t>01</a:t>
            </a:r>
            <a:endParaRPr lang="en-US" sz="2200" dirty="0"/>
          </a:p>
        </p:txBody>
      </p:sp>
      <p:sp>
        <p:nvSpPr>
          <p:cNvPr id="8" name="Shape 6"/>
          <p:cNvSpPr/>
          <p:nvPr/>
        </p:nvSpPr>
        <p:spPr>
          <a:xfrm>
            <a:off x="2876550" y="2378571"/>
            <a:ext cx="330200" cy="330200"/>
          </a:xfrm>
          <a:prstGeom prst="roundRect">
            <a:avLst>
              <a:gd name="adj" fmla="val 23077"/>
            </a:avLst>
          </a:prstGeom>
          <a:solidFill>
            <a:srgbClr val="E3E5F2"/>
          </a:solidFill>
          <a:ln/>
        </p:spPr>
      </p:sp>
      <p:pic>
        <p:nvPicPr>
          <p:cNvPr id="9" name="Image 0" descr="Wrench">    </p:cNvPr>
          <p:cNvPicPr>
            <a:picLocks noChangeAspect="1"/>
          </p:cNvPicPr>
          <p:nvPr/>
        </p:nvPicPr>
        <p:blipFill>
          <a:blip r:embed="rId1"/>
          <a:srcRect l="0" r="0" t="0" b="0"/>
          <a:stretch/>
        </p:blipFill>
        <p:spPr>
          <a:xfrm>
            <a:off x="2946400" y="2448421"/>
            <a:ext cx="190500" cy="190500"/>
          </a:xfrm>
          <a:prstGeom prst="rect">
            <a:avLst/>
          </a:prstGeom>
        </p:spPr>
      </p:pic>
      <p:sp>
        <p:nvSpPr>
          <p:cNvPr id="10" name="Text 7"/>
          <p:cNvSpPr/>
          <p:nvPr/>
        </p:nvSpPr>
        <p:spPr>
          <a:xfrm>
            <a:off x="984250" y="2828131"/>
            <a:ext cx="228917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Build</a:t>
            </a:r>
            <a:endParaRPr lang="en-US" sz="1600" dirty="0"/>
          </a:p>
        </p:txBody>
      </p:sp>
      <p:sp>
        <p:nvSpPr>
          <p:cNvPr id="11" name="Text 8"/>
          <p:cNvSpPr/>
          <p:nvPr/>
        </p:nvSpPr>
        <p:spPr>
          <a:xfrm>
            <a:off x="984250" y="3160812"/>
            <a:ext cx="22891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целокупан solution се компајлира</a:t>
            </a:r>
            <a:endParaRPr lang="en-US" sz="1300" dirty="0"/>
          </a:p>
        </p:txBody>
      </p:sp>
      <p:sp>
        <p:nvSpPr>
          <p:cNvPr id="12" name="Shape 9"/>
          <p:cNvSpPr/>
          <p:nvPr/>
        </p:nvSpPr>
        <p:spPr>
          <a:xfrm>
            <a:off x="3482975" y="2179836"/>
            <a:ext cx="2559050" cy="1611412"/>
          </a:xfrm>
          <a:prstGeom prst="roundRect">
            <a:avLst>
              <a:gd name="adj" fmla="val 6108"/>
            </a:avLst>
          </a:prstGeom>
          <a:solidFill>
            <a:srgbClr val="FCFCFB"/>
          </a:solidFill>
          <a:ln w="6350">
            <a:solidFill>
              <a:srgbClr val="D3DAE1"/>
            </a:solidFill>
            <a:prstDash val="solid"/>
          </a:ln>
        </p:spPr>
      </p:sp>
      <p:sp>
        <p:nvSpPr>
          <p:cNvPr id="13" name="Text 10"/>
          <p:cNvSpPr/>
          <p:nvPr/>
        </p:nvSpPr>
        <p:spPr>
          <a:xfrm>
            <a:off x="3651250" y="23481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A46A5"/>
                </a:solidFill>
                <a:latin typeface="IBM Plex Mono" pitchFamily="49" charset="0"/>
                <a:ea typeface="IBM Plex Mono" pitchFamily="49" charset="-122"/>
                <a:cs typeface="IBM Plex Mono" pitchFamily="49" charset="-120"/>
              </a:rPr>
              <a:t>02</a:t>
            </a:r>
            <a:endParaRPr lang="en-US" sz="2200" dirty="0"/>
          </a:p>
        </p:txBody>
      </p:sp>
      <p:sp>
        <p:nvSpPr>
          <p:cNvPr id="14" name="Shape 11"/>
          <p:cNvSpPr/>
          <p:nvPr/>
        </p:nvSpPr>
        <p:spPr>
          <a:xfrm>
            <a:off x="5543550" y="2378571"/>
            <a:ext cx="330200" cy="330200"/>
          </a:xfrm>
          <a:prstGeom prst="roundRect">
            <a:avLst>
              <a:gd name="adj" fmla="val 23077"/>
            </a:avLst>
          </a:prstGeom>
          <a:solidFill>
            <a:srgbClr val="E3E5F2"/>
          </a:solidFill>
          <a:ln/>
        </p:spPr>
      </p:sp>
      <p:pic>
        <p:nvPicPr>
          <p:cNvPr id="15" name="Image 1" descr="CheckCircle">    </p:cNvPr>
          <p:cNvPicPr>
            <a:picLocks noChangeAspect="1"/>
          </p:cNvPicPr>
          <p:nvPr/>
        </p:nvPicPr>
        <p:blipFill>
          <a:blip r:embed="rId2"/>
          <a:srcRect l="0" r="0" t="0" b="0"/>
          <a:stretch/>
        </p:blipFill>
        <p:spPr>
          <a:xfrm>
            <a:off x="5613400" y="2448421"/>
            <a:ext cx="190500" cy="190500"/>
          </a:xfrm>
          <a:prstGeom prst="rect">
            <a:avLst/>
          </a:prstGeom>
        </p:spPr>
      </p:pic>
      <p:sp>
        <p:nvSpPr>
          <p:cNvPr id="16" name="Text 12"/>
          <p:cNvSpPr/>
          <p:nvPr/>
        </p:nvSpPr>
        <p:spPr>
          <a:xfrm>
            <a:off x="3651250" y="2828131"/>
            <a:ext cx="228917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Tests</a:t>
            </a:r>
            <a:endParaRPr lang="en-US" sz="1600" dirty="0"/>
          </a:p>
        </p:txBody>
      </p:sp>
      <p:sp>
        <p:nvSpPr>
          <p:cNvPr id="17" name="Text 13"/>
          <p:cNvSpPr/>
          <p:nvPr/>
        </p:nvSpPr>
        <p:spPr>
          <a:xfrm>
            <a:off x="3651250" y="3160812"/>
            <a:ext cx="22891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пословни и интеграциони сценарији пролазе</a:t>
            </a:r>
            <a:endParaRPr lang="en-US" sz="1300" dirty="0"/>
          </a:p>
        </p:txBody>
      </p:sp>
      <p:sp>
        <p:nvSpPr>
          <p:cNvPr id="18" name="Shape 14"/>
          <p:cNvSpPr/>
          <p:nvPr/>
        </p:nvSpPr>
        <p:spPr>
          <a:xfrm>
            <a:off x="6149975" y="2179836"/>
            <a:ext cx="2559050" cy="1611412"/>
          </a:xfrm>
          <a:prstGeom prst="roundRect">
            <a:avLst>
              <a:gd name="adj" fmla="val 6108"/>
            </a:avLst>
          </a:prstGeom>
          <a:solidFill>
            <a:srgbClr val="FCFCFB"/>
          </a:solidFill>
          <a:ln w="6350">
            <a:solidFill>
              <a:srgbClr val="D3DAE1"/>
            </a:solidFill>
            <a:prstDash val="solid"/>
          </a:ln>
        </p:spPr>
      </p:sp>
      <p:sp>
        <p:nvSpPr>
          <p:cNvPr id="19" name="Text 15"/>
          <p:cNvSpPr/>
          <p:nvPr/>
        </p:nvSpPr>
        <p:spPr>
          <a:xfrm>
            <a:off x="6318250" y="23481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A46A5"/>
                </a:solidFill>
                <a:latin typeface="IBM Plex Mono" pitchFamily="49" charset="0"/>
                <a:ea typeface="IBM Plex Mono" pitchFamily="49" charset="-122"/>
                <a:cs typeface="IBM Plex Mono" pitchFamily="49" charset="-120"/>
              </a:rPr>
              <a:t>03</a:t>
            </a:r>
            <a:endParaRPr lang="en-US" sz="2200" dirty="0"/>
          </a:p>
        </p:txBody>
      </p:sp>
      <p:sp>
        <p:nvSpPr>
          <p:cNvPr id="20" name="Shape 16"/>
          <p:cNvSpPr/>
          <p:nvPr/>
        </p:nvSpPr>
        <p:spPr>
          <a:xfrm>
            <a:off x="8210550" y="2378571"/>
            <a:ext cx="330200" cy="330200"/>
          </a:xfrm>
          <a:prstGeom prst="roundRect">
            <a:avLst>
              <a:gd name="adj" fmla="val 23077"/>
            </a:avLst>
          </a:prstGeom>
          <a:solidFill>
            <a:srgbClr val="E3E5F2"/>
          </a:solidFill>
          <a:ln/>
        </p:spPr>
      </p:sp>
      <p:pic>
        <p:nvPicPr>
          <p:cNvPr id="21" name="Image 2" descr="Search">    </p:cNvPr>
          <p:cNvPicPr>
            <a:picLocks noChangeAspect="1"/>
          </p:cNvPicPr>
          <p:nvPr/>
        </p:nvPicPr>
        <p:blipFill>
          <a:blip r:embed="rId3"/>
          <a:srcRect l="0" r="0" t="0" b="0"/>
          <a:stretch/>
        </p:blipFill>
        <p:spPr>
          <a:xfrm>
            <a:off x="8280400" y="2448421"/>
            <a:ext cx="190500" cy="190500"/>
          </a:xfrm>
          <a:prstGeom prst="rect">
            <a:avLst/>
          </a:prstGeom>
        </p:spPr>
      </p:pic>
      <p:sp>
        <p:nvSpPr>
          <p:cNvPr id="22" name="Text 17"/>
          <p:cNvSpPr/>
          <p:nvPr/>
        </p:nvSpPr>
        <p:spPr>
          <a:xfrm>
            <a:off x="6318250" y="2828131"/>
            <a:ext cx="228917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Diff</a:t>
            </a:r>
            <a:endParaRPr lang="en-US" sz="1600" dirty="0"/>
          </a:p>
        </p:txBody>
      </p:sp>
      <p:sp>
        <p:nvSpPr>
          <p:cNvPr id="23" name="Text 18"/>
          <p:cNvSpPr/>
          <p:nvPr/>
        </p:nvSpPr>
        <p:spPr>
          <a:xfrm>
            <a:off x="6318250" y="3160812"/>
            <a:ext cx="22891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промена је ограничена на очекиване слојеве</a:t>
            </a:r>
            <a:endParaRPr lang="en-US" sz="1300" dirty="0"/>
          </a:p>
        </p:txBody>
      </p:sp>
      <p:sp>
        <p:nvSpPr>
          <p:cNvPr id="24" name="Shape 19"/>
          <p:cNvSpPr/>
          <p:nvPr/>
        </p:nvSpPr>
        <p:spPr>
          <a:xfrm>
            <a:off x="8816975" y="2179836"/>
            <a:ext cx="2559050" cy="1611412"/>
          </a:xfrm>
          <a:prstGeom prst="roundRect">
            <a:avLst>
              <a:gd name="adj" fmla="val 6108"/>
            </a:avLst>
          </a:prstGeom>
          <a:solidFill>
            <a:srgbClr val="FCFCFB"/>
          </a:solidFill>
          <a:ln w="6350">
            <a:solidFill>
              <a:srgbClr val="D3DAE1"/>
            </a:solidFill>
            <a:prstDash val="solid"/>
          </a:ln>
        </p:spPr>
      </p:sp>
      <p:sp>
        <p:nvSpPr>
          <p:cNvPr id="25" name="Text 20"/>
          <p:cNvSpPr/>
          <p:nvPr/>
        </p:nvSpPr>
        <p:spPr>
          <a:xfrm>
            <a:off x="8985250" y="23481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A8520A"/>
                </a:solidFill>
                <a:latin typeface="IBM Plex Mono" pitchFamily="49" charset="0"/>
                <a:ea typeface="IBM Plex Mono" pitchFamily="49" charset="-122"/>
                <a:cs typeface="IBM Plex Mono" pitchFamily="49" charset="-120"/>
              </a:rPr>
              <a:t>04</a:t>
            </a:r>
            <a:endParaRPr lang="en-US" sz="2200" dirty="0"/>
          </a:p>
        </p:txBody>
      </p:sp>
      <p:sp>
        <p:nvSpPr>
          <p:cNvPr id="26" name="Shape 21"/>
          <p:cNvSpPr/>
          <p:nvPr/>
        </p:nvSpPr>
        <p:spPr>
          <a:xfrm>
            <a:off x="10877550" y="2378571"/>
            <a:ext cx="330200" cy="330200"/>
          </a:xfrm>
          <a:prstGeom prst="roundRect">
            <a:avLst>
              <a:gd name="adj" fmla="val 23077"/>
            </a:avLst>
          </a:prstGeom>
          <a:solidFill>
            <a:srgbClr val="FBF1E6"/>
          </a:solidFill>
          <a:ln/>
        </p:spPr>
      </p:sp>
      <p:pic>
        <p:nvPicPr>
          <p:cNvPr id="27" name="Image 3" descr="Link">    </p:cNvPr>
          <p:cNvPicPr>
            <a:picLocks noChangeAspect="1"/>
          </p:cNvPicPr>
          <p:nvPr/>
        </p:nvPicPr>
        <p:blipFill>
          <a:blip r:embed="rId4"/>
          <a:srcRect l="0" r="0" t="0" b="0"/>
          <a:stretch/>
        </p:blipFill>
        <p:spPr>
          <a:xfrm>
            <a:off x="10947400" y="2448421"/>
            <a:ext cx="190500" cy="190500"/>
          </a:xfrm>
          <a:prstGeom prst="rect">
            <a:avLst/>
          </a:prstGeom>
        </p:spPr>
      </p:pic>
      <p:sp>
        <p:nvSpPr>
          <p:cNvPr id="28" name="Text 22"/>
          <p:cNvSpPr/>
          <p:nvPr/>
        </p:nvSpPr>
        <p:spPr>
          <a:xfrm>
            <a:off x="8985250" y="2828131"/>
            <a:ext cx="228917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Contract</a:t>
            </a:r>
            <a:endParaRPr lang="en-US" sz="1600" dirty="0"/>
          </a:p>
        </p:txBody>
      </p:sp>
      <p:sp>
        <p:nvSpPr>
          <p:cNvPr id="29" name="Text 23"/>
          <p:cNvSpPr/>
          <p:nvPr/>
        </p:nvSpPr>
        <p:spPr>
          <a:xfrm>
            <a:off x="8985250" y="3160812"/>
            <a:ext cx="22891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уговор између модула је стабилан</a:t>
            </a:r>
            <a:endParaRPr lang="en-US" sz="1300" dirty="0"/>
          </a:p>
        </p:txBody>
      </p:sp>
      <p:sp>
        <p:nvSpPr>
          <p:cNvPr id="30" name="Shape 24"/>
          <p:cNvSpPr/>
          <p:nvPr/>
        </p:nvSpPr>
        <p:spPr>
          <a:xfrm>
            <a:off x="812800" y="6209705"/>
            <a:ext cx="10566400" cy="0"/>
          </a:xfrm>
          <a:prstGeom prst="line">
            <a:avLst/>
          </a:prstGeom>
          <a:noFill/>
          <a:ln w="6350">
            <a:solidFill>
              <a:srgbClr val="D3DAE1"/>
            </a:solidFill>
            <a:prstDash val="solid"/>
          </a:ln>
        </p:spPr>
      </p:sp>
      <p:sp>
        <p:nvSpPr>
          <p:cNvPr id="31"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04 · ДОКАЗИ И РИЗИЦИ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API као composition root</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HTTP граница саставља зависности и мапира резултат без пословних одлука.</a:t>
            </a:r>
            <a:endParaRPr lang="en-US" sz="1400" dirty="0"/>
          </a:p>
        </p:txBody>
      </p:sp>
      <p:sp>
        <p:nvSpPr>
          <p:cNvPr id="6" name="Shape 4"/>
          <p:cNvSpPr/>
          <p:nvPr/>
        </p:nvSpPr>
        <p:spPr>
          <a:xfrm>
            <a:off x="815975" y="2179836"/>
            <a:ext cx="5187950" cy="2429272"/>
          </a:xfrm>
          <a:prstGeom prst="roundRect">
            <a:avLst>
              <a:gd name="adj" fmla="val 4052"/>
            </a:avLst>
          </a:prstGeom>
          <a:solidFill>
            <a:srgbClr val="FCFCFB"/>
          </a:solidFill>
          <a:ln w="6350">
            <a:solidFill>
              <a:srgbClr val="D3DAE1"/>
            </a:solidFill>
            <a:prstDash val="solid"/>
          </a:ln>
        </p:spPr>
      </p:sp>
      <p:sp>
        <p:nvSpPr>
          <p:cNvPr id="7" name="Shape 5"/>
          <p:cNvSpPr/>
          <p:nvPr/>
        </p:nvSpPr>
        <p:spPr>
          <a:xfrm>
            <a:off x="1022350" y="2360811"/>
            <a:ext cx="355600" cy="355600"/>
          </a:xfrm>
          <a:prstGeom prst="roundRect">
            <a:avLst>
              <a:gd name="adj" fmla="val 21429"/>
            </a:avLst>
          </a:prstGeom>
          <a:solidFill>
            <a:srgbClr val="E3E5F2"/>
          </a:solidFill>
          <a:ln/>
        </p:spPr>
      </p:sp>
      <p:pic>
        <p:nvPicPr>
          <p:cNvPr id="8" name="Image 0" descr="CheckCircle">    </p:cNvPr>
          <p:cNvPicPr>
            <a:picLocks noChangeAspect="1"/>
          </p:cNvPicPr>
          <p:nvPr/>
        </p:nvPicPr>
        <p:blipFill>
          <a:blip r:embed="rId1"/>
          <a:srcRect l="0" r="0" t="0" b="0"/>
          <a:stretch/>
        </p:blipFill>
        <p:spPr>
          <a:xfrm>
            <a:off x="1098550" y="2437011"/>
            <a:ext cx="203200" cy="203200"/>
          </a:xfrm>
          <a:prstGeom prst="rect">
            <a:avLst/>
          </a:prstGeom>
        </p:spPr>
      </p:pic>
      <p:sp>
        <p:nvSpPr>
          <p:cNvPr id="9" name="Text 6"/>
          <p:cNvSpPr/>
          <p:nvPr/>
        </p:nvSpPr>
        <p:spPr>
          <a:xfrm>
            <a:off x="1479550" y="2416671"/>
            <a:ext cx="106941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A46A5"/>
                </a:solidFill>
                <a:latin typeface="IBM Plex Sans" pitchFamily="34" charset="0"/>
                <a:ea typeface="IBM Plex Sans" pitchFamily="34" charset="-122"/>
                <a:cs typeface="IBM Plex Sans" pitchFamily="34" charset="-120"/>
              </a:rPr>
              <a:t>API ради</a:t>
            </a:r>
            <a:endParaRPr lang="en-US" sz="1600" dirty="0"/>
          </a:p>
        </p:txBody>
      </p:sp>
      <p:sp>
        <p:nvSpPr>
          <p:cNvPr id="10" name="Shape 7"/>
          <p:cNvSpPr/>
          <p:nvPr/>
        </p:nvSpPr>
        <p:spPr>
          <a:xfrm>
            <a:off x="1022350" y="2821186"/>
            <a:ext cx="4775200" cy="0"/>
          </a:xfrm>
          <a:prstGeom prst="line">
            <a:avLst/>
          </a:prstGeom>
          <a:noFill/>
          <a:ln w="6350">
            <a:solidFill>
              <a:srgbClr val="E3E8EE"/>
            </a:solidFill>
            <a:prstDash val="solid"/>
          </a:ln>
        </p:spPr>
      </p:sp>
      <p:sp>
        <p:nvSpPr>
          <p:cNvPr id="11" name="Text 8"/>
          <p:cNvSpPr/>
          <p:nvPr/>
        </p:nvSpPr>
        <p:spPr>
          <a:xfrm>
            <a:off x="1022350" y="291326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прима HTTP захтев</a:t>
            </a:r>
            <a:endParaRPr lang="en-US" sz="1300" dirty="0"/>
          </a:p>
        </p:txBody>
      </p:sp>
      <p:sp>
        <p:nvSpPr>
          <p:cNvPr id="12" name="Shape 9"/>
          <p:cNvSpPr/>
          <p:nvPr/>
        </p:nvSpPr>
        <p:spPr>
          <a:xfrm>
            <a:off x="1022350" y="3249116"/>
            <a:ext cx="4775200" cy="0"/>
          </a:xfrm>
          <a:prstGeom prst="line">
            <a:avLst/>
          </a:prstGeom>
          <a:noFill/>
          <a:ln w="6350">
            <a:solidFill>
              <a:srgbClr val="E3E8EE"/>
            </a:solidFill>
            <a:prstDash val="solid"/>
          </a:ln>
        </p:spPr>
      </p:sp>
      <p:sp>
        <p:nvSpPr>
          <p:cNvPr id="13" name="Text 10"/>
          <p:cNvSpPr/>
          <p:nvPr/>
        </p:nvSpPr>
        <p:spPr>
          <a:xfrm>
            <a:off x="1022350" y="334119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мапира DTO у команду</a:t>
            </a:r>
            <a:endParaRPr lang="en-US" sz="1300" dirty="0"/>
          </a:p>
        </p:txBody>
      </p:sp>
      <p:sp>
        <p:nvSpPr>
          <p:cNvPr id="14" name="Shape 11"/>
          <p:cNvSpPr/>
          <p:nvPr/>
        </p:nvSpPr>
        <p:spPr>
          <a:xfrm>
            <a:off x="1022350" y="3677047"/>
            <a:ext cx="4775200" cy="0"/>
          </a:xfrm>
          <a:prstGeom prst="line">
            <a:avLst/>
          </a:prstGeom>
          <a:noFill/>
          <a:ln w="6350">
            <a:solidFill>
              <a:srgbClr val="E3E8EE"/>
            </a:solidFill>
            <a:prstDash val="solid"/>
          </a:ln>
        </p:spPr>
      </p:sp>
      <p:sp>
        <p:nvSpPr>
          <p:cNvPr id="15" name="Text 12"/>
          <p:cNvSpPr/>
          <p:nvPr/>
        </p:nvSpPr>
        <p:spPr>
          <a:xfrm>
            <a:off x="1022350" y="376912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позива handler</a:t>
            </a:r>
            <a:endParaRPr lang="en-US" sz="1300" dirty="0"/>
          </a:p>
        </p:txBody>
      </p:sp>
      <p:sp>
        <p:nvSpPr>
          <p:cNvPr id="16" name="Shape 13"/>
          <p:cNvSpPr/>
          <p:nvPr/>
        </p:nvSpPr>
        <p:spPr>
          <a:xfrm>
            <a:off x="1022350" y="4104977"/>
            <a:ext cx="4775200" cy="0"/>
          </a:xfrm>
          <a:prstGeom prst="line">
            <a:avLst/>
          </a:prstGeom>
          <a:noFill/>
          <a:ln w="6350">
            <a:solidFill>
              <a:srgbClr val="E3E8EE"/>
            </a:solidFill>
            <a:prstDash val="solid"/>
          </a:ln>
        </p:spPr>
      </p:sp>
      <p:sp>
        <p:nvSpPr>
          <p:cNvPr id="17" name="Text 14"/>
          <p:cNvSpPr/>
          <p:nvPr/>
        </p:nvSpPr>
        <p:spPr>
          <a:xfrm>
            <a:off x="1022350" y="419705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мапира Result у одговор</a:t>
            </a:r>
            <a:endParaRPr lang="en-US" sz="1300" dirty="0"/>
          </a:p>
        </p:txBody>
      </p:sp>
      <p:sp>
        <p:nvSpPr>
          <p:cNvPr id="18" name="Shape 15"/>
          <p:cNvSpPr/>
          <p:nvPr/>
        </p:nvSpPr>
        <p:spPr>
          <a:xfrm>
            <a:off x="6188075" y="2179836"/>
            <a:ext cx="5187950" cy="2429272"/>
          </a:xfrm>
          <a:prstGeom prst="roundRect">
            <a:avLst>
              <a:gd name="adj" fmla="val 4052"/>
            </a:avLst>
          </a:prstGeom>
          <a:solidFill>
            <a:srgbClr val="FCFCFB"/>
          </a:solidFill>
          <a:ln w="6350">
            <a:solidFill>
              <a:srgbClr val="D3DAE1"/>
            </a:solidFill>
            <a:prstDash val="solid"/>
          </a:ln>
        </p:spPr>
      </p:sp>
      <p:sp>
        <p:nvSpPr>
          <p:cNvPr id="19" name="Shape 16"/>
          <p:cNvSpPr/>
          <p:nvPr/>
        </p:nvSpPr>
        <p:spPr>
          <a:xfrm>
            <a:off x="6394450" y="2360811"/>
            <a:ext cx="355600" cy="355600"/>
          </a:xfrm>
          <a:prstGeom prst="roundRect">
            <a:avLst>
              <a:gd name="adj" fmla="val 21429"/>
            </a:avLst>
          </a:prstGeom>
          <a:solidFill>
            <a:srgbClr val="FBF1E6"/>
          </a:solidFill>
          <a:ln/>
        </p:spPr>
      </p:sp>
      <p:pic>
        <p:nvPicPr>
          <p:cNvPr id="20" name="Image 1" descr="Warning">    </p:cNvPr>
          <p:cNvPicPr>
            <a:picLocks noChangeAspect="1"/>
          </p:cNvPicPr>
          <p:nvPr/>
        </p:nvPicPr>
        <p:blipFill>
          <a:blip r:embed="rId2"/>
          <a:srcRect l="0" r="0" t="0" b="0"/>
          <a:stretch/>
        </p:blipFill>
        <p:spPr>
          <a:xfrm>
            <a:off x="6470650" y="2437011"/>
            <a:ext cx="203200" cy="203200"/>
          </a:xfrm>
          <a:prstGeom prst="rect">
            <a:avLst/>
          </a:prstGeom>
        </p:spPr>
      </p:pic>
      <p:sp>
        <p:nvSpPr>
          <p:cNvPr id="21" name="Text 17"/>
          <p:cNvSpPr/>
          <p:nvPr/>
        </p:nvSpPr>
        <p:spPr>
          <a:xfrm>
            <a:off x="6851650" y="2416671"/>
            <a:ext cx="14105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520A"/>
                </a:solidFill>
                <a:latin typeface="IBM Plex Sans" pitchFamily="34" charset="0"/>
                <a:ea typeface="IBM Plex Sans" pitchFamily="34" charset="-122"/>
                <a:cs typeface="IBM Plex Sans" pitchFamily="34" charset="-120"/>
              </a:rPr>
              <a:t>API не ради</a:t>
            </a:r>
            <a:endParaRPr lang="en-US" sz="1600" dirty="0"/>
          </a:p>
        </p:txBody>
      </p:sp>
      <p:sp>
        <p:nvSpPr>
          <p:cNvPr id="22" name="Shape 18"/>
          <p:cNvSpPr/>
          <p:nvPr/>
        </p:nvSpPr>
        <p:spPr>
          <a:xfrm>
            <a:off x="6394450" y="2821186"/>
            <a:ext cx="4775200" cy="0"/>
          </a:xfrm>
          <a:prstGeom prst="line">
            <a:avLst/>
          </a:prstGeom>
          <a:noFill/>
          <a:ln w="6350">
            <a:solidFill>
              <a:srgbClr val="E3E8EE"/>
            </a:solidFill>
            <a:prstDash val="solid"/>
          </a:ln>
        </p:spPr>
      </p:sp>
      <p:sp>
        <p:nvSpPr>
          <p:cNvPr id="23" name="Text 19"/>
          <p:cNvSpPr/>
          <p:nvPr/>
        </p:nvSpPr>
        <p:spPr>
          <a:xfrm>
            <a:off x="6394450" y="291326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не проверава залиху директно</a:t>
            </a:r>
            <a:endParaRPr lang="en-US" sz="1300" dirty="0"/>
          </a:p>
        </p:txBody>
      </p:sp>
      <p:sp>
        <p:nvSpPr>
          <p:cNvPr id="24" name="Shape 20"/>
          <p:cNvSpPr/>
          <p:nvPr/>
        </p:nvSpPr>
        <p:spPr>
          <a:xfrm>
            <a:off x="6394450" y="3249116"/>
            <a:ext cx="4775200" cy="0"/>
          </a:xfrm>
          <a:prstGeom prst="line">
            <a:avLst/>
          </a:prstGeom>
          <a:noFill/>
          <a:ln w="6350">
            <a:solidFill>
              <a:srgbClr val="E3E8EE"/>
            </a:solidFill>
            <a:prstDash val="solid"/>
          </a:ln>
        </p:spPr>
      </p:sp>
      <p:sp>
        <p:nvSpPr>
          <p:cNvPr id="25" name="Text 21"/>
          <p:cNvSpPr/>
          <p:nvPr/>
        </p:nvSpPr>
        <p:spPr>
          <a:xfrm>
            <a:off x="6394450" y="334119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не мења Domain стање мимо use-case-а</a:t>
            </a:r>
            <a:endParaRPr lang="en-US" sz="1300" dirty="0"/>
          </a:p>
        </p:txBody>
      </p:sp>
      <p:sp>
        <p:nvSpPr>
          <p:cNvPr id="26" name="Shape 22"/>
          <p:cNvSpPr/>
          <p:nvPr/>
        </p:nvSpPr>
        <p:spPr>
          <a:xfrm>
            <a:off x="6394450" y="3677047"/>
            <a:ext cx="4775200" cy="0"/>
          </a:xfrm>
          <a:prstGeom prst="line">
            <a:avLst/>
          </a:prstGeom>
          <a:noFill/>
          <a:ln w="6350">
            <a:solidFill>
              <a:srgbClr val="E3E8EE"/>
            </a:solidFill>
            <a:prstDash val="solid"/>
          </a:ln>
        </p:spPr>
      </p:sp>
      <p:sp>
        <p:nvSpPr>
          <p:cNvPr id="27" name="Text 23"/>
          <p:cNvSpPr/>
          <p:nvPr/>
        </p:nvSpPr>
        <p:spPr>
          <a:xfrm>
            <a:off x="6394450" y="376912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не чита интерну базу другог модула</a:t>
            </a:r>
            <a:endParaRPr lang="en-US" sz="1300" dirty="0"/>
          </a:p>
        </p:txBody>
      </p:sp>
      <p:sp>
        <p:nvSpPr>
          <p:cNvPr id="28" name="Shape 24"/>
          <p:cNvSpPr/>
          <p:nvPr/>
        </p:nvSpPr>
        <p:spPr>
          <a:xfrm>
            <a:off x="6394450" y="4104977"/>
            <a:ext cx="4775200" cy="0"/>
          </a:xfrm>
          <a:prstGeom prst="line">
            <a:avLst/>
          </a:prstGeom>
          <a:noFill/>
          <a:ln w="6350">
            <a:solidFill>
              <a:srgbClr val="E3E8EE"/>
            </a:solidFill>
            <a:prstDash val="solid"/>
          </a:ln>
        </p:spPr>
      </p:sp>
      <p:sp>
        <p:nvSpPr>
          <p:cNvPr id="29" name="Text 25"/>
          <p:cNvSpPr/>
          <p:nvPr/>
        </p:nvSpPr>
        <p:spPr>
          <a:xfrm>
            <a:off x="6394450" y="419705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не садржи пословну одлуку</a:t>
            </a:r>
            <a:endParaRPr lang="en-US" sz="1300" dirty="0"/>
          </a:p>
        </p:txBody>
      </p:sp>
      <p:sp>
        <p:nvSpPr>
          <p:cNvPr id="30" name="Shape 26"/>
          <p:cNvSpPr/>
          <p:nvPr/>
        </p:nvSpPr>
        <p:spPr>
          <a:xfrm>
            <a:off x="812800" y="6209705"/>
            <a:ext cx="10566400" cy="0"/>
          </a:xfrm>
          <a:prstGeom prst="line">
            <a:avLst/>
          </a:prstGeom>
          <a:noFill/>
          <a:ln w="6350">
            <a:solidFill>
              <a:srgbClr val="D3DAE1"/>
            </a:solidFill>
            <a:prstDash val="solid"/>
          </a:ln>
        </p:spPr>
      </p:sp>
      <p:sp>
        <p:nvSpPr>
          <p:cNvPr id="31"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04 · ДОКАЗИ И РИЗИЦИ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Ризици интеграције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Сваки ризик повезује се са одговарајућом провером.</a:t>
            </a:r>
            <a:endParaRPr lang="en-US" sz="1400" dirty="0"/>
          </a:p>
        </p:txBody>
      </p:sp>
      <p:sp>
        <p:nvSpPr>
          <p:cNvPr id="6" name="Shape 4"/>
          <p:cNvSpPr/>
          <p:nvPr/>
        </p:nvSpPr>
        <p:spPr>
          <a:xfrm>
            <a:off x="812800" y="2176661"/>
            <a:ext cx="10566400" cy="2959894"/>
          </a:xfrm>
          <a:prstGeom prst="roundRect">
            <a:avLst>
              <a:gd name="adj" fmla="val 3433"/>
            </a:avLst>
          </a:prstGeom>
          <a:solidFill>
            <a:srgbClr val="FCFCFB"/>
          </a:solidFill>
          <a:ln/>
        </p:spPr>
      </p:sp>
      <p:sp>
        <p:nvSpPr>
          <p:cNvPr id="7" name="Shape 5"/>
          <p:cNvSpPr/>
          <p:nvPr/>
        </p:nvSpPr>
        <p:spPr>
          <a:xfrm>
            <a:off x="812800" y="2176661"/>
            <a:ext cx="10566400" cy="2959894"/>
          </a:xfrm>
          <a:custGeom>
            <a:avLst/>
            <a:gdLst/>
            <a:ahLst/>
            <a:cxnLst/>
            <a:rect l="l" t="t" r="r" b="b"/>
            <a:pathLst>
              <a:path w="10566400" h="2959894">
                <a:moveTo>
                  <a:pt x="10464800" y="0"/>
                </a:moveTo>
                <a:lnTo>
                  <a:pt x="10464800" y="0"/>
                </a:lnTo>
                <a:arcTo hR="101600" wR="101600" stAng="16200000" swAng="5400000"/>
                <a:lnTo>
                  <a:pt x="10566400" y="2858294"/>
                </a:lnTo>
                <a:arcTo hR="101600" wR="101600" stAng="0" swAng="5400000"/>
                <a:lnTo>
                  <a:pt x="101600" y="2959894"/>
                </a:lnTo>
                <a:arcTo hR="101600" wR="101600" stAng="5400000" swAng="5400000"/>
                <a:lnTo>
                  <a:pt x="0" y="2858294"/>
                </a:lnTo>
                <a:arcTo hR="95250" wR="101600" stAng="10800000" swAng="-5400000"/>
                <a:lnTo>
                  <a:pt x="10464800" y="2953544"/>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76661"/>
            <a:ext cx="10566400" cy="2959894"/>
          </a:xfrm>
          <a:custGeom>
            <a:avLst/>
            <a:gdLst/>
            <a:ahLst/>
            <a:cxnLst/>
            <a:rect l="l" t="t" r="r" b="b"/>
            <a:pathLst>
              <a:path w="10566400" h="2959894">
                <a:moveTo>
                  <a:pt x="101600" y="2959894"/>
                </a:moveTo>
                <a:lnTo>
                  <a:pt x="101600" y="2959894"/>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858294"/>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89361"/>
          <a:ext cx="10547350" cy="2940844"/>
        </p:xfrm>
        <a:graphic>
          <a:graphicData uri="http://schemas.openxmlformats.org/drawingml/2006/table">
            <a:tbl>
              <a:tblPr/>
              <a:tblGrid>
                <a:gridCol w="5801043"/>
                <a:gridCol w="4746308"/>
              </a:tblGrid>
              <a:tr h="490141">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Ризик</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B8B9BE"/>
                      </a:solidFill>
                      <a:prstDash val="solid"/>
                      <a:round/>
                      <a:headEnd type="none" w="med" len="med"/>
                      <a:tailEnd type="none" w="med" len="med"/>
                    </a:lnR>
                    <a:lnT w="0" cap="flat" cmpd="sng" algn="ctr">
                      <a:noFill/>
                    </a:lnT>
                    <a:lnB w="12700" cap="flat" cmpd="sng" algn="ctr">
                      <a:solidFill>
                        <a:srgbClr val="B8B9BE"/>
                      </a:solidFill>
                      <a:prstDash val="solid"/>
                      <a:round/>
                      <a:headEnd type="none" w="med" len="med"/>
                      <a:tailEnd type="none" w="med" len="med"/>
                    </a:lnB>
                    <a:solidFill>
                      <a:srgbClr val="E6E8EE"/>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Провера</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B8B9BE"/>
                      </a:solidFill>
                      <a:prstDash val="solid"/>
                      <a:round/>
                      <a:headEnd type="none" w="med" len="med"/>
                      <a:tailEnd type="none" w="med" len="med"/>
                    </a:lnL>
                    <a:lnR w="12700" cap="flat" cmpd="sng" algn="ctr">
                      <a:solidFill>
                        <a:srgbClr val="B8B9BE"/>
                      </a:solidFill>
                      <a:prstDash val="solid"/>
                      <a:round/>
                      <a:headEnd type="none" w="med" len="med"/>
                      <a:tailEnd type="none" w="med" len="med"/>
                    </a:lnR>
                    <a:lnT w="0" cap="flat" cmpd="sng" algn="ctr">
                      <a:noFill/>
                    </a:lnT>
                    <a:lnB w="12700" cap="flat" cmpd="sng" algn="ctr">
                      <a:solidFill>
                        <a:srgbClr val="B8B9BE"/>
                      </a:solidFill>
                      <a:prstDash val="solid"/>
                      <a:round/>
                      <a:headEnd type="none" w="med" len="med"/>
                      <a:tailEnd type="none" w="med" len="med"/>
                    </a:lnB>
                    <a:solidFill>
                      <a:srgbClr val="E6E8EE"/>
                    </a:solidFill>
                  </a:tcPr>
                </a:tc>
              </a:tr>
              <a:tr h="4901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Погрешан смер зависности</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8B9BE"/>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3A46A5"/>
                          </a:solidFill>
                          <a:latin typeface="IBM Plex Sans" pitchFamily="34" charset="0"/>
                          <a:ea typeface="IBM Plex Sans" pitchFamily="34" charset="-122"/>
                          <a:cs typeface="IBM Plex Sans" pitchFamily="34" charset="-120"/>
                        </a:rPr>
                        <a:t>project references и build</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8B9BE"/>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Дуплирана правила у API-ју</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3A46A5"/>
                          </a:solidFill>
                          <a:latin typeface="IBM Plex Sans" pitchFamily="34" charset="0"/>
                          <a:ea typeface="IBM Plex Sans" pitchFamily="34" charset="-122"/>
                          <a:cs typeface="IBM Plex Sans" pitchFamily="34" charset="-120"/>
                        </a:rPr>
                        <a:t>code review и diff</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Поновљен захтев прави нови ефекат</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3A46A5"/>
                          </a:solidFill>
                          <a:latin typeface="IBM Plex Sans" pitchFamily="34" charset="0"/>
                          <a:ea typeface="IBM Plex Sans" pitchFamily="34" charset="-122"/>
                          <a:cs typeface="IBM Plex Sans" pitchFamily="34" charset="-120"/>
                        </a:rPr>
                        <a:t>idempotency тест</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Порт пропушта интерне детаље</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3A46A5"/>
                          </a:solidFill>
                          <a:latin typeface="IBM Plex Sans" pitchFamily="34" charset="0"/>
                          <a:ea typeface="IBM Plex Sans" pitchFamily="34" charset="-122"/>
                          <a:cs typeface="IBM Plex Sans" pitchFamily="34" charset="-120"/>
                        </a:rPr>
                        <a:t>преглед Application уговора</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MCP или Guardrails улазе у Domain</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3A46A5"/>
                          </a:solidFill>
                          <a:latin typeface="IBM Plex Sans" pitchFamily="34" charset="0"/>
                          <a:ea typeface="IBM Plex Sans" pitchFamily="34" charset="-122"/>
                          <a:cs typeface="IBM Plex Sans" pitchFamily="34" charset="-120"/>
                        </a:rPr>
                        <a:t>провера dependency rule-а</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2800" y="6209705"/>
            <a:ext cx="10566400" cy="0"/>
          </a:xfrm>
          <a:prstGeom prst="line">
            <a:avLst/>
          </a:prstGeom>
          <a:noFill/>
          <a:ln w="6350">
            <a:solidFill>
              <a:srgbClr val="D3DAE1"/>
            </a:solidFill>
            <a:prstDash val="solid"/>
          </a:ln>
        </p:spPr>
      </p:sp>
      <p:sp>
        <p:nvSpPr>
          <p:cNvPr id="11" name="Text 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04 · ДОКАЗИ И РИЗИЦИ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Интеграција модула у заједнички производ</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Модули сарађују преко уговора, адаптера, тестова и прегледа кода.</a:t>
            </a:r>
            <a:endParaRPr lang="en-US" sz="1400" dirty="0"/>
          </a:p>
        </p:txBody>
      </p:sp>
      <p:sp>
        <p:nvSpPr>
          <p:cNvPr id="6" name="Shape 4"/>
          <p:cNvSpPr/>
          <p:nvPr/>
        </p:nvSpPr>
        <p:spPr>
          <a:xfrm>
            <a:off x="815975" y="2179836"/>
            <a:ext cx="1784350" cy="1288951"/>
          </a:xfrm>
          <a:prstGeom prst="roundRect">
            <a:avLst>
              <a:gd name="adj" fmla="val 7636"/>
            </a:avLst>
          </a:prstGeom>
          <a:solidFill>
            <a:srgbClr val="FCFCFB"/>
          </a:solidFill>
          <a:ln w="6350">
            <a:solidFill>
              <a:srgbClr val="D3DAE1"/>
            </a:solidFill>
            <a:prstDash val="solid"/>
          </a:ln>
        </p:spPr>
      </p:sp>
      <p:sp>
        <p:nvSpPr>
          <p:cNvPr id="7" name="Shape 5"/>
          <p:cNvSpPr/>
          <p:nvPr/>
        </p:nvSpPr>
        <p:spPr>
          <a:xfrm>
            <a:off x="971550" y="2348111"/>
            <a:ext cx="355600" cy="355600"/>
          </a:xfrm>
          <a:prstGeom prst="roundRect">
            <a:avLst>
              <a:gd name="adj" fmla="val 21429"/>
            </a:avLst>
          </a:prstGeom>
          <a:solidFill>
            <a:srgbClr val="E3E5F2"/>
          </a:solidFill>
          <a:ln/>
        </p:spPr>
      </p:sp>
      <p:pic>
        <p:nvPicPr>
          <p:cNvPr id="8" name="Image 0" descr="Users">    </p:cNvPr>
          <p:cNvPicPr>
            <a:picLocks noChangeAspect="1"/>
          </p:cNvPicPr>
          <p:nvPr/>
        </p:nvPicPr>
        <p:blipFill>
          <a:blip r:embed="rId1"/>
          <a:srcRect l="0" r="0" t="0" b="0"/>
          <a:stretch/>
        </p:blipFill>
        <p:spPr>
          <a:xfrm>
            <a:off x="1047750" y="2424311"/>
            <a:ext cx="203200" cy="203200"/>
          </a:xfrm>
          <a:prstGeom prst="rect">
            <a:avLst/>
          </a:prstGeom>
        </p:spPr>
      </p:pic>
      <p:sp>
        <p:nvSpPr>
          <p:cNvPr id="9" name="Text 6"/>
          <p:cNvSpPr/>
          <p:nvPr/>
        </p:nvSpPr>
        <p:spPr>
          <a:xfrm>
            <a:off x="9715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Use-case</a:t>
            </a:r>
            <a:endParaRPr lang="en-US" sz="1400" dirty="0"/>
          </a:p>
        </p:txBody>
      </p:sp>
      <p:sp>
        <p:nvSpPr>
          <p:cNvPr id="10" name="Text 7"/>
          <p:cNvSpPr/>
          <p:nvPr/>
        </p:nvSpPr>
        <p:spPr>
          <a:xfrm>
            <a:off x="9715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потреба</a:t>
            </a:r>
            <a:endParaRPr lang="en-US" sz="1200" dirty="0"/>
          </a:p>
        </p:txBody>
      </p:sp>
      <p:pic>
        <p:nvPicPr>
          <p:cNvPr id="11" name="Image 1" descr="arrow-right">    </p:cNvPr>
          <p:cNvPicPr>
            <a:picLocks noChangeAspect="1"/>
          </p:cNvPicPr>
          <p:nvPr/>
        </p:nvPicPr>
        <p:blipFill>
          <a:blip r:embed="rId2"/>
          <a:srcRect l="0" r="0" t="0" b="0"/>
          <a:stretch/>
        </p:blipFill>
        <p:spPr>
          <a:xfrm>
            <a:off x="2692400" y="2767112"/>
            <a:ext cx="228600" cy="114300"/>
          </a:xfrm>
          <a:prstGeom prst="rect">
            <a:avLst/>
          </a:prstGeom>
        </p:spPr>
      </p:pic>
      <p:sp>
        <p:nvSpPr>
          <p:cNvPr id="12" name="Shape 8"/>
          <p:cNvSpPr/>
          <p:nvPr/>
        </p:nvSpPr>
        <p:spPr>
          <a:xfrm>
            <a:off x="3013075" y="2179836"/>
            <a:ext cx="1784350" cy="1288951"/>
          </a:xfrm>
          <a:prstGeom prst="roundRect">
            <a:avLst>
              <a:gd name="adj" fmla="val 7636"/>
            </a:avLst>
          </a:prstGeom>
          <a:solidFill>
            <a:srgbClr val="FCFCFB"/>
          </a:solidFill>
          <a:ln w="6350">
            <a:solidFill>
              <a:srgbClr val="D3DAE1"/>
            </a:solidFill>
            <a:prstDash val="solid"/>
          </a:ln>
        </p:spPr>
      </p:sp>
      <p:sp>
        <p:nvSpPr>
          <p:cNvPr id="13" name="Shape 9"/>
          <p:cNvSpPr/>
          <p:nvPr/>
        </p:nvSpPr>
        <p:spPr>
          <a:xfrm>
            <a:off x="3168650" y="2348111"/>
            <a:ext cx="355600" cy="355600"/>
          </a:xfrm>
          <a:prstGeom prst="roundRect">
            <a:avLst>
              <a:gd name="adj" fmla="val 21429"/>
            </a:avLst>
          </a:prstGeom>
          <a:solidFill>
            <a:srgbClr val="E3E5F2"/>
          </a:solidFill>
          <a:ln/>
        </p:spPr>
      </p:sp>
      <p:pic>
        <p:nvPicPr>
          <p:cNvPr id="14" name="Image 2" descr="Link">    </p:cNvPr>
          <p:cNvPicPr>
            <a:picLocks noChangeAspect="1"/>
          </p:cNvPicPr>
          <p:nvPr/>
        </p:nvPicPr>
        <p:blipFill>
          <a:blip r:embed="rId3"/>
          <a:srcRect l="0" r="0" t="0" b="0"/>
          <a:stretch/>
        </p:blipFill>
        <p:spPr>
          <a:xfrm>
            <a:off x="3244850" y="2424311"/>
            <a:ext cx="203200" cy="203200"/>
          </a:xfrm>
          <a:prstGeom prst="rect">
            <a:avLst/>
          </a:prstGeom>
        </p:spPr>
      </p:pic>
      <p:sp>
        <p:nvSpPr>
          <p:cNvPr id="15" name="Text 10"/>
          <p:cNvSpPr/>
          <p:nvPr/>
        </p:nvSpPr>
        <p:spPr>
          <a:xfrm>
            <a:off x="31686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Port</a:t>
            </a:r>
            <a:endParaRPr lang="en-US" sz="1400" dirty="0"/>
          </a:p>
        </p:txBody>
      </p:sp>
      <p:sp>
        <p:nvSpPr>
          <p:cNvPr id="16" name="Text 11"/>
          <p:cNvSpPr/>
          <p:nvPr/>
        </p:nvSpPr>
        <p:spPr>
          <a:xfrm>
            <a:off x="31686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уговор</a:t>
            </a:r>
            <a:endParaRPr lang="en-US" sz="1200" dirty="0"/>
          </a:p>
        </p:txBody>
      </p:sp>
      <p:pic>
        <p:nvPicPr>
          <p:cNvPr id="17" name="Image 3" descr="arrow-right">    </p:cNvPr>
          <p:cNvPicPr>
            <a:picLocks noChangeAspect="1"/>
          </p:cNvPicPr>
          <p:nvPr/>
        </p:nvPicPr>
        <p:blipFill>
          <a:blip r:embed="rId4"/>
          <a:srcRect l="0" r="0" t="0" b="0"/>
          <a:stretch/>
        </p:blipFill>
        <p:spPr>
          <a:xfrm>
            <a:off x="4889500" y="2767112"/>
            <a:ext cx="228600" cy="114300"/>
          </a:xfrm>
          <a:prstGeom prst="rect">
            <a:avLst/>
          </a:prstGeom>
        </p:spPr>
      </p:pic>
      <p:sp>
        <p:nvSpPr>
          <p:cNvPr id="18" name="Shape 12"/>
          <p:cNvSpPr/>
          <p:nvPr/>
        </p:nvSpPr>
        <p:spPr>
          <a:xfrm>
            <a:off x="5210175" y="2179836"/>
            <a:ext cx="1784350" cy="1288951"/>
          </a:xfrm>
          <a:prstGeom prst="roundRect">
            <a:avLst>
              <a:gd name="adj" fmla="val 7636"/>
            </a:avLst>
          </a:prstGeom>
          <a:solidFill>
            <a:srgbClr val="FCFCFB"/>
          </a:solidFill>
          <a:ln w="6350">
            <a:solidFill>
              <a:srgbClr val="D3DAE1"/>
            </a:solidFill>
            <a:prstDash val="solid"/>
          </a:ln>
        </p:spPr>
      </p:sp>
      <p:sp>
        <p:nvSpPr>
          <p:cNvPr id="19" name="Shape 13"/>
          <p:cNvSpPr/>
          <p:nvPr/>
        </p:nvSpPr>
        <p:spPr>
          <a:xfrm>
            <a:off x="5365750" y="2348111"/>
            <a:ext cx="355600" cy="355600"/>
          </a:xfrm>
          <a:prstGeom prst="roundRect">
            <a:avLst>
              <a:gd name="adj" fmla="val 21429"/>
            </a:avLst>
          </a:prstGeom>
          <a:solidFill>
            <a:srgbClr val="FBF1E6"/>
          </a:solidFill>
          <a:ln/>
        </p:spPr>
      </p:sp>
      <p:pic>
        <p:nvPicPr>
          <p:cNvPr id="20" name="Image 4" descr="Tool">    </p:cNvPr>
          <p:cNvPicPr>
            <a:picLocks noChangeAspect="1"/>
          </p:cNvPicPr>
          <p:nvPr/>
        </p:nvPicPr>
        <p:blipFill>
          <a:blip r:embed="rId5"/>
          <a:srcRect l="0" r="0" t="0" b="0"/>
          <a:stretch/>
        </p:blipFill>
        <p:spPr>
          <a:xfrm>
            <a:off x="5441950" y="2424311"/>
            <a:ext cx="203200" cy="203200"/>
          </a:xfrm>
          <a:prstGeom prst="rect">
            <a:avLst/>
          </a:prstGeom>
        </p:spPr>
      </p:pic>
      <p:sp>
        <p:nvSpPr>
          <p:cNvPr id="21" name="Text 14"/>
          <p:cNvSpPr/>
          <p:nvPr/>
        </p:nvSpPr>
        <p:spPr>
          <a:xfrm>
            <a:off x="53657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Adapter</a:t>
            </a:r>
            <a:endParaRPr lang="en-US" sz="1400" dirty="0"/>
          </a:p>
        </p:txBody>
      </p:sp>
      <p:sp>
        <p:nvSpPr>
          <p:cNvPr id="22" name="Text 15"/>
          <p:cNvSpPr/>
          <p:nvPr/>
        </p:nvSpPr>
        <p:spPr>
          <a:xfrm>
            <a:off x="53657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реализација</a:t>
            </a:r>
            <a:endParaRPr lang="en-US" sz="1200" dirty="0"/>
          </a:p>
        </p:txBody>
      </p:sp>
      <p:pic>
        <p:nvPicPr>
          <p:cNvPr id="23" name="Image 5" descr="arrow-right">    </p:cNvPr>
          <p:cNvPicPr>
            <a:picLocks noChangeAspect="1"/>
          </p:cNvPicPr>
          <p:nvPr/>
        </p:nvPicPr>
        <p:blipFill>
          <a:blip r:embed="rId6"/>
          <a:srcRect l="0" r="0" t="0" b="0"/>
          <a:stretch/>
        </p:blipFill>
        <p:spPr>
          <a:xfrm>
            <a:off x="7086600" y="2767112"/>
            <a:ext cx="228600" cy="114300"/>
          </a:xfrm>
          <a:prstGeom prst="rect">
            <a:avLst/>
          </a:prstGeom>
        </p:spPr>
      </p:pic>
      <p:sp>
        <p:nvSpPr>
          <p:cNvPr id="24" name="Shape 16"/>
          <p:cNvSpPr/>
          <p:nvPr/>
        </p:nvSpPr>
        <p:spPr>
          <a:xfrm>
            <a:off x="7407275" y="2179836"/>
            <a:ext cx="1784350" cy="1288951"/>
          </a:xfrm>
          <a:prstGeom prst="roundRect">
            <a:avLst>
              <a:gd name="adj" fmla="val 7636"/>
            </a:avLst>
          </a:prstGeom>
          <a:solidFill>
            <a:srgbClr val="FCFCFB"/>
          </a:solidFill>
          <a:ln w="6350">
            <a:solidFill>
              <a:srgbClr val="D3DAE1"/>
            </a:solidFill>
            <a:prstDash val="solid"/>
          </a:ln>
        </p:spPr>
      </p:sp>
      <p:sp>
        <p:nvSpPr>
          <p:cNvPr id="25" name="Shape 17"/>
          <p:cNvSpPr/>
          <p:nvPr/>
        </p:nvSpPr>
        <p:spPr>
          <a:xfrm>
            <a:off x="7562850" y="2348111"/>
            <a:ext cx="355600" cy="355600"/>
          </a:xfrm>
          <a:prstGeom prst="roundRect">
            <a:avLst>
              <a:gd name="adj" fmla="val 21429"/>
            </a:avLst>
          </a:prstGeom>
          <a:solidFill>
            <a:srgbClr val="FBF1E6"/>
          </a:solidFill>
          <a:ln/>
        </p:spPr>
      </p:sp>
      <p:pic>
        <p:nvPicPr>
          <p:cNvPr id="26" name="Image 6" descr="CheckCircle">    </p:cNvPr>
          <p:cNvPicPr>
            <a:picLocks noChangeAspect="1"/>
          </p:cNvPicPr>
          <p:nvPr/>
        </p:nvPicPr>
        <p:blipFill>
          <a:blip r:embed="rId7"/>
          <a:srcRect l="0" r="0" t="0" b="0"/>
          <a:stretch/>
        </p:blipFill>
        <p:spPr>
          <a:xfrm>
            <a:off x="7639050" y="2424311"/>
            <a:ext cx="203200" cy="203200"/>
          </a:xfrm>
          <a:prstGeom prst="rect">
            <a:avLst/>
          </a:prstGeom>
        </p:spPr>
      </p:pic>
      <p:sp>
        <p:nvSpPr>
          <p:cNvPr id="27" name="Text 18"/>
          <p:cNvSpPr/>
          <p:nvPr/>
        </p:nvSpPr>
        <p:spPr>
          <a:xfrm>
            <a:off x="75628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Test</a:t>
            </a:r>
            <a:endParaRPr lang="en-US" sz="1400" dirty="0"/>
          </a:p>
        </p:txBody>
      </p:sp>
      <p:sp>
        <p:nvSpPr>
          <p:cNvPr id="28" name="Text 19"/>
          <p:cNvSpPr/>
          <p:nvPr/>
        </p:nvSpPr>
        <p:spPr>
          <a:xfrm>
            <a:off x="75628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доказ</a:t>
            </a:r>
            <a:endParaRPr lang="en-US" sz="1200" dirty="0"/>
          </a:p>
        </p:txBody>
      </p:sp>
      <p:pic>
        <p:nvPicPr>
          <p:cNvPr id="29" name="Image 7" descr="arrow-right">    </p:cNvPr>
          <p:cNvPicPr>
            <a:picLocks noChangeAspect="1"/>
          </p:cNvPicPr>
          <p:nvPr/>
        </p:nvPicPr>
        <p:blipFill>
          <a:blip r:embed="rId8"/>
          <a:srcRect l="0" r="0" t="0" b="0"/>
          <a:stretch/>
        </p:blipFill>
        <p:spPr>
          <a:xfrm>
            <a:off x="9283700" y="2767112"/>
            <a:ext cx="228600" cy="114300"/>
          </a:xfrm>
          <a:prstGeom prst="rect">
            <a:avLst/>
          </a:prstGeom>
        </p:spPr>
      </p:pic>
      <p:sp>
        <p:nvSpPr>
          <p:cNvPr id="30" name="Shape 20"/>
          <p:cNvSpPr/>
          <p:nvPr/>
        </p:nvSpPr>
        <p:spPr>
          <a:xfrm>
            <a:off x="9601200" y="2176661"/>
            <a:ext cx="1778000" cy="1295301"/>
          </a:xfrm>
          <a:prstGeom prst="roundRect">
            <a:avLst>
              <a:gd name="adj" fmla="val 7844"/>
            </a:avLst>
          </a:prstGeom>
          <a:solidFill>
            <a:srgbClr val="3A46A5"/>
          </a:solidFill>
          <a:ln/>
        </p:spPr>
      </p:sp>
      <p:sp>
        <p:nvSpPr>
          <p:cNvPr id="31" name="Shape 21"/>
          <p:cNvSpPr/>
          <p:nvPr/>
        </p:nvSpPr>
        <p:spPr>
          <a:xfrm>
            <a:off x="9753600" y="2341761"/>
            <a:ext cx="355600" cy="355600"/>
          </a:xfrm>
          <a:prstGeom prst="roundRect">
            <a:avLst>
              <a:gd name="adj" fmla="val 21429"/>
            </a:avLst>
          </a:prstGeom>
          <a:solidFill>
            <a:srgbClr val="FCFCFB"/>
          </a:solidFill>
          <a:ln/>
        </p:spPr>
      </p:sp>
      <p:pic>
        <p:nvPicPr>
          <p:cNvPr id="32" name="Image 8" descr="Search">    </p:cNvPr>
          <p:cNvPicPr>
            <a:picLocks noChangeAspect="1"/>
          </p:cNvPicPr>
          <p:nvPr/>
        </p:nvPicPr>
        <p:blipFill>
          <a:blip r:embed="rId9"/>
          <a:srcRect l="0" r="0" t="0" b="0"/>
          <a:stretch/>
        </p:blipFill>
        <p:spPr>
          <a:xfrm>
            <a:off x="9829800" y="2417961"/>
            <a:ext cx="203200" cy="203200"/>
          </a:xfrm>
          <a:prstGeom prst="rect">
            <a:avLst/>
          </a:prstGeom>
        </p:spPr>
      </p:pic>
      <p:sp>
        <p:nvSpPr>
          <p:cNvPr id="33" name="Text 22"/>
          <p:cNvSpPr/>
          <p:nvPr/>
        </p:nvSpPr>
        <p:spPr>
          <a:xfrm>
            <a:off x="9753600" y="278626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CFCFB"/>
                </a:solidFill>
                <a:latin typeface="IBM Plex Sans" pitchFamily="34" charset="0"/>
                <a:ea typeface="IBM Plex Sans" pitchFamily="34" charset="-122"/>
                <a:cs typeface="IBM Plex Sans" pitchFamily="34" charset="-120"/>
              </a:rPr>
              <a:t>Review</a:t>
            </a:r>
            <a:endParaRPr lang="en-US" sz="1400" dirty="0"/>
          </a:p>
        </p:txBody>
      </p:sp>
      <p:sp>
        <p:nvSpPr>
          <p:cNvPr id="34" name="Text 23"/>
          <p:cNvSpPr/>
          <p:nvPr/>
        </p:nvSpPr>
        <p:spPr>
          <a:xfrm>
            <a:off x="9753600" y="308848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3E5F2"/>
                </a:solidFill>
                <a:latin typeface="IBM Plex Sans" pitchFamily="34" charset="0"/>
                <a:ea typeface="IBM Plex Sans" pitchFamily="34" charset="-122"/>
                <a:cs typeface="IBM Plex Sans" pitchFamily="34" charset="-120"/>
              </a:rPr>
              <a:t>прихватање</a:t>
            </a:r>
            <a:endParaRPr lang="en-US" sz="1200" dirty="0"/>
          </a:p>
        </p:txBody>
      </p:sp>
      <p:sp>
        <p:nvSpPr>
          <p:cNvPr id="35" name="Shape 24"/>
          <p:cNvSpPr/>
          <p:nvPr/>
        </p:nvSpPr>
        <p:spPr>
          <a:xfrm>
            <a:off x="812800" y="3725962"/>
            <a:ext cx="10566400" cy="783530"/>
          </a:xfrm>
          <a:prstGeom prst="roundRect">
            <a:avLst>
              <a:gd name="adj" fmla="val 12967"/>
            </a:avLst>
          </a:prstGeom>
          <a:solidFill>
            <a:srgbClr val="E6E8EE"/>
          </a:solidFill>
          <a:ln/>
        </p:spPr>
      </p:sp>
      <p:sp>
        <p:nvSpPr>
          <p:cNvPr id="36" name="Shape 25"/>
          <p:cNvSpPr/>
          <p:nvPr/>
        </p:nvSpPr>
        <p:spPr>
          <a:xfrm>
            <a:off x="812800" y="372596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3A46A5"/>
          </a:solidFill>
          <a:ln/>
        </p:spPr>
      </p:sp>
      <p:sp>
        <p:nvSpPr>
          <p:cNvPr id="37" name="Text 26"/>
          <p:cNvSpPr/>
          <p:nvPr/>
        </p:nvSpPr>
        <p:spPr>
          <a:xfrm>
            <a:off x="1054100" y="387836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A46A5"/>
                </a:solidFill>
                <a:latin typeface="IBM Plex Mono" pitchFamily="49" charset="0"/>
                <a:ea typeface="IBM Plex Mono" pitchFamily="49" charset="-122"/>
                <a:cs typeface="IBM Plex Mono" pitchFamily="49" charset="-120"/>
              </a:rPr>
              <a:t>НАПОМЕНА</a:t>
            </a:r>
            <a:endParaRPr lang="en-US" sz="1200" dirty="0"/>
          </a:p>
        </p:txBody>
      </p:sp>
      <p:sp>
        <p:nvSpPr>
          <p:cNvPr id="38" name="Text 27"/>
          <p:cNvSpPr/>
          <p:nvPr/>
        </p:nvSpPr>
        <p:spPr>
          <a:xfrm>
            <a:off x="1054100" y="4117082"/>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Модули се повезују преко стабилних уговора са јасним пословним значењем.</a:t>
            </a:r>
            <a:endParaRPr lang="en-US" sz="1400" dirty="0"/>
          </a:p>
        </p:txBody>
      </p:sp>
      <p:sp>
        <p:nvSpPr>
          <p:cNvPr id="39" name="Shape 28"/>
          <p:cNvSpPr/>
          <p:nvPr/>
        </p:nvSpPr>
        <p:spPr>
          <a:xfrm>
            <a:off x="812800" y="6209705"/>
            <a:ext cx="10566400" cy="0"/>
          </a:xfrm>
          <a:prstGeom prst="line">
            <a:avLst/>
          </a:prstGeom>
          <a:noFill/>
          <a:ln w="6350">
            <a:solidFill>
              <a:srgbClr val="D3DAE1"/>
            </a:solidFill>
            <a:prstDash val="solid"/>
          </a:ln>
        </p:spPr>
      </p:sp>
      <p:sp>
        <p:nvSpPr>
          <p:cNvPr id="40"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1"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04 · ДОКАЗИ И РИЗИЦИ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Границе модула и AI радни ток</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Стабилне границе ограничавају контекст, обим измене и поступак провере.</a:t>
            </a:r>
            <a:endParaRPr lang="en-US" sz="1400" dirty="0"/>
          </a:p>
        </p:txBody>
      </p:sp>
      <p:sp>
        <p:nvSpPr>
          <p:cNvPr id="6" name="Shape 4"/>
          <p:cNvSpPr/>
          <p:nvPr/>
        </p:nvSpPr>
        <p:spPr>
          <a:xfrm>
            <a:off x="815975" y="2179836"/>
            <a:ext cx="3414117" cy="1431131"/>
          </a:xfrm>
          <a:prstGeom prst="roundRect">
            <a:avLst>
              <a:gd name="adj" fmla="val 6877"/>
            </a:avLst>
          </a:prstGeom>
          <a:solidFill>
            <a:srgbClr val="FCFCFB"/>
          </a:solidFill>
          <a:ln w="6350">
            <a:solidFill>
              <a:srgbClr val="D3DAE1"/>
            </a:solidFill>
            <a:prstDash val="solid"/>
          </a:ln>
        </p:spPr>
      </p:sp>
      <p:sp>
        <p:nvSpPr>
          <p:cNvPr id="7" name="Text 5"/>
          <p:cNvSpPr/>
          <p:nvPr/>
        </p:nvSpPr>
        <p:spPr>
          <a:xfrm>
            <a:off x="1022350"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A46A5"/>
                </a:solidFill>
                <a:latin typeface="IBM Plex Mono" pitchFamily="49" charset="0"/>
                <a:ea typeface="IBM Plex Mono" pitchFamily="49" charset="-122"/>
                <a:cs typeface="IBM Plex Mono" pitchFamily="49" charset="-120"/>
              </a:rPr>
              <a:t>01</a:t>
            </a:r>
            <a:endParaRPr lang="en-US" sz="2200" dirty="0"/>
          </a:p>
        </p:txBody>
      </p:sp>
      <p:sp>
        <p:nvSpPr>
          <p:cNvPr id="8" name="Shape 6"/>
          <p:cNvSpPr/>
          <p:nvPr/>
        </p:nvSpPr>
        <p:spPr>
          <a:xfrm>
            <a:off x="3668117" y="2378571"/>
            <a:ext cx="355600" cy="355600"/>
          </a:xfrm>
          <a:prstGeom prst="roundRect">
            <a:avLst>
              <a:gd name="adj" fmla="val 21429"/>
            </a:avLst>
          </a:prstGeom>
          <a:solidFill>
            <a:srgbClr val="E3E5F2"/>
          </a:solidFill>
          <a:ln/>
        </p:spPr>
      </p:sp>
      <p:pic>
        <p:nvPicPr>
          <p:cNvPr id="9" name="Image 0" descr="Book">    </p:cNvPr>
          <p:cNvPicPr>
            <a:picLocks noChangeAspect="1"/>
          </p:cNvPicPr>
          <p:nvPr/>
        </p:nvPicPr>
        <p:blipFill>
          <a:blip r:embed="rId1"/>
          <a:srcRect l="0" r="0" t="0" b="0"/>
          <a:stretch/>
        </p:blipFill>
        <p:spPr>
          <a:xfrm>
            <a:off x="3744317" y="2454771"/>
            <a:ext cx="203200" cy="203200"/>
          </a:xfrm>
          <a:prstGeom prst="rect">
            <a:avLst/>
          </a:prstGeom>
        </p:spPr>
      </p:pic>
      <p:sp>
        <p:nvSpPr>
          <p:cNvPr id="10" name="Text 7"/>
          <p:cNvSpPr/>
          <p:nvPr/>
        </p:nvSpPr>
        <p:spPr>
          <a:xfrm>
            <a:off x="1022350" y="285353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Контекст</a:t>
            </a:r>
            <a:endParaRPr lang="en-US" sz="1600" dirty="0"/>
          </a:p>
        </p:txBody>
      </p:sp>
      <p:sp>
        <p:nvSpPr>
          <p:cNvPr id="11" name="Text 8"/>
          <p:cNvSpPr/>
          <p:nvPr/>
        </p:nvSpPr>
        <p:spPr>
          <a:xfrm>
            <a:off x="1022350" y="3198912"/>
            <a:ext cx="30914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погођени пројекти су познати</a:t>
            </a:r>
            <a:endParaRPr lang="en-US" sz="1300" dirty="0"/>
          </a:p>
        </p:txBody>
      </p:sp>
      <p:sp>
        <p:nvSpPr>
          <p:cNvPr id="12" name="Shape 9"/>
          <p:cNvSpPr/>
          <p:nvPr/>
        </p:nvSpPr>
        <p:spPr>
          <a:xfrm>
            <a:off x="4388842" y="2179836"/>
            <a:ext cx="3414216" cy="1431131"/>
          </a:xfrm>
          <a:prstGeom prst="roundRect">
            <a:avLst>
              <a:gd name="adj" fmla="val 6877"/>
            </a:avLst>
          </a:prstGeom>
          <a:solidFill>
            <a:srgbClr val="FCFCFB"/>
          </a:solidFill>
          <a:ln w="6350">
            <a:solidFill>
              <a:srgbClr val="D3DAE1"/>
            </a:solidFill>
            <a:prstDash val="solid"/>
          </a:ln>
        </p:spPr>
      </p:sp>
      <p:sp>
        <p:nvSpPr>
          <p:cNvPr id="13" name="Text 10"/>
          <p:cNvSpPr/>
          <p:nvPr/>
        </p:nvSpPr>
        <p:spPr>
          <a:xfrm>
            <a:off x="4595217"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A46A5"/>
                </a:solidFill>
                <a:latin typeface="IBM Plex Mono" pitchFamily="49" charset="0"/>
                <a:ea typeface="IBM Plex Mono" pitchFamily="49" charset="-122"/>
                <a:cs typeface="IBM Plex Mono" pitchFamily="49" charset="-120"/>
              </a:rPr>
              <a:t>02</a:t>
            </a:r>
            <a:endParaRPr lang="en-US" sz="2200" dirty="0"/>
          </a:p>
        </p:txBody>
      </p:sp>
      <p:sp>
        <p:nvSpPr>
          <p:cNvPr id="14" name="Shape 11"/>
          <p:cNvSpPr/>
          <p:nvPr/>
        </p:nvSpPr>
        <p:spPr>
          <a:xfrm>
            <a:off x="7241084" y="2378571"/>
            <a:ext cx="355600" cy="355600"/>
          </a:xfrm>
          <a:prstGeom prst="roundRect">
            <a:avLst>
              <a:gd name="adj" fmla="val 21429"/>
            </a:avLst>
          </a:prstGeom>
          <a:solidFill>
            <a:srgbClr val="E3E5F2"/>
          </a:solidFill>
          <a:ln/>
        </p:spPr>
      </p:sp>
      <p:pic>
        <p:nvPicPr>
          <p:cNvPr id="15" name="Image 1" descr="Lock">    </p:cNvPr>
          <p:cNvPicPr>
            <a:picLocks noChangeAspect="1"/>
          </p:cNvPicPr>
          <p:nvPr/>
        </p:nvPicPr>
        <p:blipFill>
          <a:blip r:embed="rId2"/>
          <a:srcRect l="0" r="0" t="0" b="0"/>
          <a:stretch/>
        </p:blipFill>
        <p:spPr>
          <a:xfrm>
            <a:off x="7317284" y="2454771"/>
            <a:ext cx="203200" cy="203200"/>
          </a:xfrm>
          <a:prstGeom prst="rect">
            <a:avLst/>
          </a:prstGeom>
        </p:spPr>
      </p:pic>
      <p:sp>
        <p:nvSpPr>
          <p:cNvPr id="16" name="Text 12"/>
          <p:cNvSpPr/>
          <p:nvPr/>
        </p:nvSpPr>
        <p:spPr>
          <a:xfrm>
            <a:off x="4595217" y="285353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Ограничења</a:t>
            </a:r>
            <a:endParaRPr lang="en-US" sz="1600" dirty="0"/>
          </a:p>
        </p:txBody>
      </p:sp>
      <p:sp>
        <p:nvSpPr>
          <p:cNvPr id="17" name="Text 13"/>
          <p:cNvSpPr/>
          <p:nvPr/>
        </p:nvSpPr>
        <p:spPr>
          <a:xfrm>
            <a:off x="4595217" y="3198912"/>
            <a:ext cx="30915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зна се шта не сме да се мења</a:t>
            </a:r>
            <a:endParaRPr lang="en-US" sz="1300" dirty="0"/>
          </a:p>
        </p:txBody>
      </p:sp>
      <p:sp>
        <p:nvSpPr>
          <p:cNvPr id="18" name="Shape 14"/>
          <p:cNvSpPr/>
          <p:nvPr/>
        </p:nvSpPr>
        <p:spPr>
          <a:xfrm>
            <a:off x="7961809" y="2179836"/>
            <a:ext cx="3414216" cy="1431131"/>
          </a:xfrm>
          <a:prstGeom prst="roundRect">
            <a:avLst>
              <a:gd name="adj" fmla="val 6877"/>
            </a:avLst>
          </a:prstGeom>
          <a:solidFill>
            <a:srgbClr val="FCFCFB"/>
          </a:solidFill>
          <a:ln w="6350">
            <a:solidFill>
              <a:srgbClr val="D3DAE1"/>
            </a:solidFill>
            <a:prstDash val="solid"/>
          </a:ln>
        </p:spPr>
      </p:sp>
      <p:sp>
        <p:nvSpPr>
          <p:cNvPr id="19" name="Text 15"/>
          <p:cNvSpPr/>
          <p:nvPr/>
        </p:nvSpPr>
        <p:spPr>
          <a:xfrm>
            <a:off x="8168184"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A8520A"/>
                </a:solidFill>
                <a:latin typeface="IBM Plex Mono" pitchFamily="49" charset="0"/>
                <a:ea typeface="IBM Plex Mono" pitchFamily="49" charset="-122"/>
                <a:cs typeface="IBM Plex Mono" pitchFamily="49" charset="-120"/>
              </a:rPr>
              <a:t>03</a:t>
            </a:r>
            <a:endParaRPr lang="en-US" sz="2200" dirty="0"/>
          </a:p>
        </p:txBody>
      </p:sp>
      <p:sp>
        <p:nvSpPr>
          <p:cNvPr id="20" name="Shape 16"/>
          <p:cNvSpPr/>
          <p:nvPr/>
        </p:nvSpPr>
        <p:spPr>
          <a:xfrm>
            <a:off x="10814050" y="2378571"/>
            <a:ext cx="355600" cy="355600"/>
          </a:xfrm>
          <a:prstGeom prst="roundRect">
            <a:avLst>
              <a:gd name="adj" fmla="val 21429"/>
            </a:avLst>
          </a:prstGeom>
          <a:solidFill>
            <a:srgbClr val="FBF1E6"/>
          </a:solidFill>
          <a:ln/>
        </p:spPr>
      </p:sp>
      <p:pic>
        <p:nvPicPr>
          <p:cNvPr id="21" name="Image 2" descr="CheckCircle">    </p:cNvPr>
          <p:cNvPicPr>
            <a:picLocks noChangeAspect="1"/>
          </p:cNvPicPr>
          <p:nvPr/>
        </p:nvPicPr>
        <p:blipFill>
          <a:blip r:embed="rId3"/>
          <a:srcRect l="0" r="0" t="0" b="0"/>
          <a:stretch/>
        </p:blipFill>
        <p:spPr>
          <a:xfrm>
            <a:off x="10890250" y="2454771"/>
            <a:ext cx="203200" cy="203200"/>
          </a:xfrm>
          <a:prstGeom prst="rect">
            <a:avLst/>
          </a:prstGeom>
        </p:spPr>
      </p:pic>
      <p:sp>
        <p:nvSpPr>
          <p:cNvPr id="22" name="Text 17"/>
          <p:cNvSpPr/>
          <p:nvPr/>
        </p:nvSpPr>
        <p:spPr>
          <a:xfrm>
            <a:off x="8168184" y="285353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Провера</a:t>
            </a:r>
            <a:endParaRPr lang="en-US" sz="1600" dirty="0"/>
          </a:p>
        </p:txBody>
      </p:sp>
      <p:sp>
        <p:nvSpPr>
          <p:cNvPr id="23" name="Text 18"/>
          <p:cNvSpPr/>
          <p:nvPr/>
        </p:nvSpPr>
        <p:spPr>
          <a:xfrm>
            <a:off x="8168184" y="3198912"/>
            <a:ext cx="30915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build, test и diff су довољни сигнали</a:t>
            </a:r>
            <a:endParaRPr lang="en-US" sz="1300" dirty="0"/>
          </a:p>
        </p:txBody>
      </p:sp>
      <p:sp>
        <p:nvSpPr>
          <p:cNvPr id="24" name="Shape 19"/>
          <p:cNvSpPr/>
          <p:nvPr/>
        </p:nvSpPr>
        <p:spPr>
          <a:xfrm>
            <a:off x="812800" y="3868142"/>
            <a:ext cx="10566400" cy="783530"/>
          </a:xfrm>
          <a:prstGeom prst="roundRect">
            <a:avLst>
              <a:gd name="adj" fmla="val 12967"/>
            </a:avLst>
          </a:prstGeom>
          <a:solidFill>
            <a:srgbClr val="E6E8EE"/>
          </a:solidFill>
          <a:ln/>
        </p:spPr>
      </p:sp>
      <p:sp>
        <p:nvSpPr>
          <p:cNvPr id="25" name="Shape 20"/>
          <p:cNvSpPr/>
          <p:nvPr/>
        </p:nvSpPr>
        <p:spPr>
          <a:xfrm>
            <a:off x="812800" y="386814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3A46A5"/>
          </a:solidFill>
          <a:ln/>
        </p:spPr>
      </p:sp>
      <p:sp>
        <p:nvSpPr>
          <p:cNvPr id="26" name="Text 21"/>
          <p:cNvSpPr/>
          <p:nvPr/>
        </p:nvSpPr>
        <p:spPr>
          <a:xfrm>
            <a:off x="1054100" y="402054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A46A5"/>
                </a:solidFill>
                <a:latin typeface="IBM Plex Mono" pitchFamily="49" charset="0"/>
                <a:ea typeface="IBM Plex Mono" pitchFamily="49" charset="-122"/>
                <a:cs typeface="IBM Plex Mono" pitchFamily="49" charset="-120"/>
              </a:rPr>
              <a:t>НАПОМЕНА</a:t>
            </a:r>
            <a:endParaRPr lang="en-US" sz="1200" dirty="0"/>
          </a:p>
        </p:txBody>
      </p:sp>
      <p:sp>
        <p:nvSpPr>
          <p:cNvPr id="27" name="Text 22"/>
          <p:cNvSpPr/>
          <p:nvPr/>
        </p:nvSpPr>
        <p:spPr>
          <a:xfrm>
            <a:off x="1054100" y="425926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Што су границе јасније, то је AI задатак мањи и лакши за проверу.</a:t>
            </a:r>
            <a:endParaRPr lang="en-US" sz="1400" dirty="0"/>
          </a:p>
        </p:txBody>
      </p:sp>
      <p:sp>
        <p:nvSpPr>
          <p:cNvPr id="28" name="Shape 23"/>
          <p:cNvSpPr/>
          <p:nvPr/>
        </p:nvSpPr>
        <p:spPr>
          <a:xfrm>
            <a:off x="812800" y="6209705"/>
            <a:ext cx="10566400" cy="0"/>
          </a:xfrm>
          <a:prstGeom prst="line">
            <a:avLst/>
          </a:prstGeom>
          <a:noFill/>
          <a:ln w="6350">
            <a:solidFill>
              <a:srgbClr val="D3DAE1"/>
            </a:solidFill>
            <a:prstDash val="solid"/>
          </a:ln>
        </p:spPr>
      </p:sp>
      <p:sp>
        <p:nvSpPr>
          <p:cNvPr id="29" name="Text 2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0"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6E8EE"/>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3A46A5"/>
                </a:solidFill>
                <a:latin typeface="IBM Plex Mono" pitchFamily="49" charset="0"/>
                <a:ea typeface="IBM Plex Mono" pitchFamily="49" charset="-122"/>
                <a:cs typeface="IBM Plex Mono" pitchFamily="49" charset="-120"/>
              </a:rPr>
              <a:t>05</a:t>
            </a:r>
            <a:endParaRPr lang="en-US" sz="14000" dirty="0"/>
          </a:p>
        </p:txBody>
      </p:sp>
      <p:sp>
        <p:nvSpPr>
          <p:cNvPr id="3" name="Text 1"/>
          <p:cNvSpPr/>
          <p:nvPr/>
        </p:nvSpPr>
        <p:spPr>
          <a:xfrm>
            <a:off x="4267200" y="2341265"/>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ПЕТИ ДЕО</a:t>
            </a:r>
            <a:endParaRPr lang="en-US" sz="1200" dirty="0"/>
          </a:p>
        </p:txBody>
      </p:sp>
      <p:sp>
        <p:nvSpPr>
          <p:cNvPr id="4" name="Text 2"/>
          <p:cNvSpPr/>
          <p:nvPr>
            <p:ph type="title"/>
          </p:nvPr>
        </p:nvSpPr>
        <p:spPr>
          <a:xfrm>
            <a:off x="4267200" y="2732385"/>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Вежба и припрема</a:t>
            </a:r>
            <a:endParaRPr lang="en-US" sz="4800" dirty="0"/>
          </a:p>
        </p:txBody>
      </p:sp>
      <p:sp>
        <p:nvSpPr>
          <p:cNvPr id="5" name="Text 3"/>
          <p:cNvSpPr/>
          <p:nvPr/>
        </p:nvSpPr>
        <p:spPr>
          <a:xfrm>
            <a:off x="4267200" y="3550245"/>
            <a:ext cx="731520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Рад на заједничком примеру и припрема за контролисан AI радни ток.</a:t>
            </a:r>
            <a:endParaRPr lang="en-US" sz="1400" dirty="0"/>
          </a:p>
        </p:txBody>
      </p:sp>
      <p:sp>
        <p:nvSpPr>
          <p:cNvPr id="6" name="Text 4"/>
          <p:cNvSpPr/>
          <p:nvPr/>
        </p:nvSpPr>
        <p:spPr>
          <a:xfrm>
            <a:off x="4270375" y="3988991"/>
            <a:ext cx="1542554"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Задатак на вежби</a:t>
            </a:r>
            <a:endParaRPr lang="en-US" sz="1200" dirty="0"/>
          </a:p>
        </p:txBody>
      </p:sp>
      <p:sp>
        <p:nvSpPr>
          <p:cNvPr id="7" name="Text 5"/>
          <p:cNvSpPr/>
          <p:nvPr/>
        </p:nvSpPr>
        <p:spPr>
          <a:xfrm>
            <a:off x="5895479" y="3988991"/>
            <a:ext cx="789087"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Резиме</a:t>
            </a:r>
            <a:endParaRPr lang="en-US" sz="1200" dirty="0"/>
          </a:p>
        </p:txBody>
      </p:sp>
      <p:sp>
        <p:nvSpPr>
          <p:cNvPr id="8" name="Text 6"/>
          <p:cNvSpPr/>
          <p:nvPr/>
        </p:nvSpPr>
        <p:spPr>
          <a:xfrm>
            <a:off x="6767116" y="3988991"/>
            <a:ext cx="990898" cy="321270"/>
          </a:xfrm>
          <a:prstGeom prst="roundRect">
            <a:avLst>
              <a:gd name="adj" fmla="val 50000"/>
            </a:avLst>
          </a:prstGeom>
          <a:solidFill>
            <a:srgbClr val="FCFCFB"/>
          </a:solidFill>
          <a:ln w="6350">
            <a:solidFill>
              <a:srgbClr val="B5BCD0"/>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Припрема</a:t>
            </a:r>
            <a:endParaRPr lang="en-US" sz="1200" dirty="0"/>
          </a:p>
        </p:txBody>
      </p:sp>
      <p:sp>
        <p:nvSpPr>
          <p:cNvPr id="9" name="Shape 7"/>
          <p:cNvSpPr/>
          <p:nvPr/>
        </p:nvSpPr>
        <p:spPr>
          <a:xfrm>
            <a:off x="812800" y="6209705"/>
            <a:ext cx="10566400" cy="0"/>
          </a:xfrm>
          <a:prstGeom prst="line">
            <a:avLst/>
          </a:prstGeom>
          <a:noFill/>
          <a:ln w="6350">
            <a:solidFill>
              <a:srgbClr val="B5BCD0"/>
            </a:solidFill>
            <a:prstDash val="solid"/>
          </a:ln>
        </p:spPr>
      </p:sp>
      <p:sp>
        <p:nvSpPr>
          <p:cNvPr id="10" name="Text 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1"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05 · ВЕЖБА И ПРИПРЕМА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Задатак на вежби</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EquipmentReservation се користи као заједнички извршиви пример.</a:t>
            </a:r>
            <a:endParaRPr lang="en-US" sz="1400" dirty="0"/>
          </a:p>
        </p:txBody>
      </p:sp>
      <p:sp>
        <p:nvSpPr>
          <p:cNvPr id="6" name="Shape 4"/>
          <p:cNvSpPr/>
          <p:nvPr/>
        </p:nvSpPr>
        <p:spPr>
          <a:xfrm>
            <a:off x="815975" y="2129036"/>
            <a:ext cx="10560050" cy="3054350"/>
          </a:xfrm>
          <a:prstGeom prst="roundRect">
            <a:avLst>
              <a:gd name="adj" fmla="val 3222"/>
            </a:avLst>
          </a:prstGeom>
          <a:solidFill>
            <a:srgbClr val="FCFCFB"/>
          </a:solidFill>
          <a:ln w="6350">
            <a:solidFill>
              <a:srgbClr val="D3DAE1"/>
            </a:solidFill>
            <a:prstDash val="solid"/>
          </a:ln>
        </p:spPr>
      </p:sp>
      <p:sp>
        <p:nvSpPr>
          <p:cNvPr id="7" name="Text 5"/>
          <p:cNvSpPr/>
          <p:nvPr/>
        </p:nvSpPr>
        <p:spPr>
          <a:xfrm>
            <a:off x="1047750" y="22973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3A46A5"/>
                </a:solidFill>
                <a:latin typeface="IBM Plex Mono" pitchFamily="49" charset="0"/>
                <a:ea typeface="IBM Plex Mono" pitchFamily="49" charset="-122"/>
                <a:cs typeface="IBM Plex Mono" pitchFamily="49" charset="-120"/>
              </a:rPr>
              <a:t>01</a:t>
            </a:r>
            <a:endParaRPr lang="en-US" sz="2000" dirty="0"/>
          </a:p>
        </p:txBody>
      </p:sp>
      <p:sp>
        <p:nvSpPr>
          <p:cNvPr id="8" name="Text 6"/>
          <p:cNvSpPr/>
          <p:nvPr/>
        </p:nvSpPr>
        <p:spPr>
          <a:xfrm>
            <a:off x="1708150" y="23506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Отворити EquipmentReservation.sln.</a:t>
            </a:r>
            <a:endParaRPr lang="en-US" sz="1400" dirty="0"/>
          </a:p>
        </p:txBody>
      </p:sp>
      <p:sp>
        <p:nvSpPr>
          <p:cNvPr id="9" name="Shape 7"/>
          <p:cNvSpPr/>
          <p:nvPr/>
        </p:nvSpPr>
        <p:spPr>
          <a:xfrm>
            <a:off x="1047750" y="2770386"/>
            <a:ext cx="10096500" cy="0"/>
          </a:xfrm>
          <a:prstGeom prst="line">
            <a:avLst/>
          </a:prstGeom>
          <a:noFill/>
          <a:ln w="6350">
            <a:solidFill>
              <a:srgbClr val="E3E8EE"/>
            </a:solidFill>
            <a:prstDash val="solid"/>
          </a:ln>
        </p:spPr>
      </p:sp>
      <p:sp>
        <p:nvSpPr>
          <p:cNvPr id="10" name="Text 8"/>
          <p:cNvSpPr/>
          <p:nvPr/>
        </p:nvSpPr>
        <p:spPr>
          <a:xfrm>
            <a:off x="1047750" y="28878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3A46A5"/>
                </a:solidFill>
                <a:latin typeface="IBM Plex Mono" pitchFamily="49" charset="0"/>
                <a:ea typeface="IBM Plex Mono" pitchFamily="49" charset="-122"/>
                <a:cs typeface="IBM Plex Mono" pitchFamily="49" charset="-120"/>
              </a:rPr>
              <a:t>02</a:t>
            </a:r>
            <a:endParaRPr lang="en-US" sz="2000" dirty="0"/>
          </a:p>
        </p:txBody>
      </p:sp>
      <p:sp>
        <p:nvSpPr>
          <p:cNvPr id="11" name="Text 9"/>
          <p:cNvSpPr/>
          <p:nvPr/>
        </p:nvSpPr>
        <p:spPr>
          <a:xfrm>
            <a:off x="1708150" y="29412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Проверити build и test команде.</a:t>
            </a:r>
            <a:endParaRPr lang="en-US" sz="1400" dirty="0"/>
          </a:p>
        </p:txBody>
      </p:sp>
      <p:sp>
        <p:nvSpPr>
          <p:cNvPr id="12" name="Shape 10"/>
          <p:cNvSpPr/>
          <p:nvPr/>
        </p:nvSpPr>
        <p:spPr>
          <a:xfrm>
            <a:off x="1047750" y="3360936"/>
            <a:ext cx="10096500" cy="0"/>
          </a:xfrm>
          <a:prstGeom prst="line">
            <a:avLst/>
          </a:prstGeom>
          <a:noFill/>
          <a:ln w="6350">
            <a:solidFill>
              <a:srgbClr val="E3E8EE"/>
            </a:solidFill>
            <a:prstDash val="solid"/>
          </a:ln>
        </p:spPr>
      </p:sp>
      <p:sp>
        <p:nvSpPr>
          <p:cNvPr id="13" name="Text 11"/>
          <p:cNvSpPr/>
          <p:nvPr/>
        </p:nvSpPr>
        <p:spPr>
          <a:xfrm>
            <a:off x="1047750" y="34784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3A46A5"/>
                </a:solidFill>
                <a:latin typeface="IBM Plex Mono" pitchFamily="49" charset="0"/>
                <a:ea typeface="IBM Plex Mono" pitchFamily="49" charset="-122"/>
                <a:cs typeface="IBM Plex Mono" pitchFamily="49" charset="-120"/>
              </a:rPr>
              <a:t>03</a:t>
            </a:r>
            <a:endParaRPr lang="en-US" sz="2000" dirty="0"/>
          </a:p>
        </p:txBody>
      </p:sp>
      <p:sp>
        <p:nvSpPr>
          <p:cNvPr id="14" name="Text 12"/>
          <p:cNvSpPr/>
          <p:nvPr/>
        </p:nvSpPr>
        <p:spPr>
          <a:xfrm>
            <a:off x="1708150" y="35317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Пронаћи Domain правило и његов Application порт.</a:t>
            </a:r>
            <a:endParaRPr lang="en-US" sz="1400" dirty="0"/>
          </a:p>
        </p:txBody>
      </p:sp>
      <p:sp>
        <p:nvSpPr>
          <p:cNvPr id="15" name="Shape 13"/>
          <p:cNvSpPr/>
          <p:nvPr/>
        </p:nvSpPr>
        <p:spPr>
          <a:xfrm>
            <a:off x="1047750" y="3951486"/>
            <a:ext cx="10096500" cy="0"/>
          </a:xfrm>
          <a:prstGeom prst="line">
            <a:avLst/>
          </a:prstGeom>
          <a:noFill/>
          <a:ln w="6350">
            <a:solidFill>
              <a:srgbClr val="E3E8EE"/>
            </a:solidFill>
            <a:prstDash val="solid"/>
          </a:ln>
        </p:spPr>
      </p:sp>
      <p:sp>
        <p:nvSpPr>
          <p:cNvPr id="16" name="Text 14"/>
          <p:cNvSpPr/>
          <p:nvPr/>
        </p:nvSpPr>
        <p:spPr>
          <a:xfrm>
            <a:off x="1047750" y="40689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3A46A5"/>
                </a:solidFill>
                <a:latin typeface="IBM Plex Mono" pitchFamily="49" charset="0"/>
                <a:ea typeface="IBM Plex Mono" pitchFamily="49" charset="-122"/>
                <a:cs typeface="IBM Plex Mono" pitchFamily="49" charset="-120"/>
              </a:rPr>
              <a:t>04</a:t>
            </a:r>
            <a:endParaRPr lang="en-US" sz="2000" dirty="0"/>
          </a:p>
        </p:txBody>
      </p:sp>
      <p:sp>
        <p:nvSpPr>
          <p:cNvPr id="17" name="Text 15"/>
          <p:cNvSpPr/>
          <p:nvPr/>
        </p:nvSpPr>
        <p:spPr>
          <a:xfrm>
            <a:off x="1708150" y="41223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Објаснити како CreateReservationHandler користи Inventory.</a:t>
            </a:r>
            <a:endParaRPr lang="en-US" sz="1400" dirty="0"/>
          </a:p>
        </p:txBody>
      </p:sp>
      <p:sp>
        <p:nvSpPr>
          <p:cNvPr id="18" name="Shape 16"/>
          <p:cNvSpPr/>
          <p:nvPr/>
        </p:nvSpPr>
        <p:spPr>
          <a:xfrm>
            <a:off x="1047750" y="4542036"/>
            <a:ext cx="10096500" cy="0"/>
          </a:xfrm>
          <a:prstGeom prst="line">
            <a:avLst/>
          </a:prstGeom>
          <a:noFill/>
          <a:ln w="6350">
            <a:solidFill>
              <a:srgbClr val="E3E8EE"/>
            </a:solidFill>
            <a:prstDash val="solid"/>
          </a:ln>
        </p:spPr>
      </p:sp>
      <p:sp>
        <p:nvSpPr>
          <p:cNvPr id="19" name="Text 17"/>
          <p:cNvSpPr/>
          <p:nvPr/>
        </p:nvSpPr>
        <p:spPr>
          <a:xfrm>
            <a:off x="1047750" y="46595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8520A"/>
                </a:solidFill>
                <a:latin typeface="IBM Plex Mono" pitchFamily="49" charset="0"/>
                <a:ea typeface="IBM Plex Mono" pitchFamily="49" charset="-122"/>
                <a:cs typeface="IBM Plex Mono" pitchFamily="49" charset="-120"/>
              </a:rPr>
              <a:t>05</a:t>
            </a:r>
            <a:endParaRPr lang="en-US" sz="2000" dirty="0"/>
          </a:p>
        </p:txBody>
      </p:sp>
      <p:sp>
        <p:nvSpPr>
          <p:cNvPr id="20" name="Text 18"/>
          <p:cNvSpPr/>
          <p:nvPr/>
        </p:nvSpPr>
        <p:spPr>
          <a:xfrm>
            <a:off x="1708150" y="47128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Показати тест који штити идемпотентност или уговор између модула.</a:t>
            </a:r>
            <a:endParaRPr lang="en-US" sz="1400" dirty="0"/>
          </a:p>
        </p:txBody>
      </p:sp>
      <p:sp>
        <p:nvSpPr>
          <p:cNvPr id="21" name="Shape 19"/>
          <p:cNvSpPr/>
          <p:nvPr/>
        </p:nvSpPr>
        <p:spPr>
          <a:xfrm>
            <a:off x="812800" y="6209705"/>
            <a:ext cx="10566400" cy="0"/>
          </a:xfrm>
          <a:prstGeom prst="line">
            <a:avLst/>
          </a:prstGeom>
          <a:noFill/>
          <a:ln w="6350">
            <a:solidFill>
              <a:srgbClr val="D3DAE1"/>
            </a:solidFill>
            <a:prstDash val="solid"/>
          </a:ln>
        </p:spPr>
      </p:sp>
      <p:sp>
        <p:nvSpPr>
          <p:cNvPr id="22"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3"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3A46A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FCFCF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3E5F2"/>
                </a:solidFill>
                <a:latin typeface="IBM Plex Mono" pitchFamily="49" charset="0"/>
                <a:ea typeface="IBM Plex Mono" pitchFamily="49" charset="-122"/>
                <a:cs typeface="IBM Plex Mono" pitchFamily="49" charset="-120"/>
              </a:rPr>
              <a:t>05 · РЕЗИМЕ</a:t>
            </a:r>
            <a:endParaRPr lang="en-US" sz="1200" dirty="0"/>
          </a:p>
        </p:txBody>
      </p:sp>
      <p:sp>
        <p:nvSpPr>
          <p:cNvPr id="4" name="Text 2"/>
          <p:cNvSpPr/>
          <p:nvPr/>
        </p:nvSpPr>
        <p:spPr>
          <a:xfrm>
            <a:off x="812800" y="10007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3E5F2"/>
                </a:solidFill>
                <a:latin typeface="IBM Plex Sans" pitchFamily="34" charset="0"/>
                <a:ea typeface="IBM Plex Sans" pitchFamily="34" charset="-122"/>
                <a:cs typeface="IBM Plex Sans" pitchFamily="34" charset="-120"/>
              </a:rPr>
              <a:t>Интеграција повезује модуле преко стабилних уговора уз очуване архитектонске границе.</a:t>
            </a:r>
            <a:endParaRPr lang="en-US" sz="1500" dirty="0"/>
          </a:p>
        </p:txBody>
      </p:sp>
      <p:sp>
        <p:nvSpPr>
          <p:cNvPr id="5" name="Text 3"/>
          <p:cNvSpPr/>
          <p:nvPr>
            <p:ph type="title"/>
          </p:nvPr>
        </p:nvSpPr>
        <p:spPr>
          <a:xfrm>
            <a:off x="812800" y="2630884"/>
            <a:ext cx="10464800" cy="1427361"/>
          </a:xfrm>
          <a:prstGeom prst="rect">
            <a:avLst/>
          </a:prstGeom>
          <a:noFill/>
          <a:ln/>
        </p:spPr>
        <p:txBody>
          <a:bodyPr wrap="square" lIns="0" tIns="0" rIns="0" bIns="0" rtlCol="0" anchor="t">
            <a:normAutofit/>
          </a:bodyPr>
          <a:lstStyle/>
          <a:p>
            <a:pPr algn="l" indent="0" marL="0">
              <a:lnSpc>
                <a:spcPts val="3680"/>
              </a:lnSpc>
              <a:buNone/>
            </a:pPr>
            <a:r>
              <a:rPr lang="en-US" sz="3200" b="1" i="0" spc="-75" kern="0" dirty="0">
                <a:solidFill>
                  <a:srgbClr val="FCFCFB"/>
                </a:solidFill>
                <a:latin typeface="IBM Plex Sans" pitchFamily="34" charset="0"/>
                <a:ea typeface="IBM Plex Sans" pitchFamily="34" charset="-122"/>
                <a:cs typeface="IBM Plex Sans" pitchFamily="34" charset="-120"/>
              </a:rPr>
              <a:t>Добра интеграција значи да модули сарађују преко јасних уговора, док пословно језгро остаје заштићено од детаља транспорта, складишта и развојних алата.</a:t>
            </a:r>
            <a:endParaRPr lang="en-US" sz="3200" dirty="0"/>
          </a:p>
        </p:txBody>
      </p:sp>
      <p:sp>
        <p:nvSpPr>
          <p:cNvPr id="6" name="Text 4"/>
          <p:cNvSpPr/>
          <p:nvPr/>
        </p:nvSpPr>
        <p:spPr>
          <a:xfrm>
            <a:off x="815975" y="5458520"/>
            <a:ext cx="626170" cy="321270"/>
          </a:xfrm>
          <a:prstGeom prst="roundRect">
            <a:avLst>
              <a:gd name="adj" fmla="val 50000"/>
            </a:avLst>
          </a:prstGeom>
          <a:noFill/>
          <a:ln w="6350">
            <a:solidFill>
              <a:srgbClr val="B6BBDE"/>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порт</a:t>
            </a:r>
            <a:endParaRPr lang="en-US" sz="1200" dirty="0"/>
          </a:p>
        </p:txBody>
      </p:sp>
      <p:sp>
        <p:nvSpPr>
          <p:cNvPr id="7" name="Text 5"/>
          <p:cNvSpPr/>
          <p:nvPr/>
        </p:nvSpPr>
        <p:spPr>
          <a:xfrm>
            <a:off x="1546920"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6BBDE"/>
                </a:solidFill>
                <a:latin typeface="IBM Plex Sans" pitchFamily="34" charset="0"/>
                <a:ea typeface="IBM Plex Sans" pitchFamily="34" charset="-122"/>
                <a:cs typeface="IBM Plex Sans" pitchFamily="34" charset="-120"/>
              </a:rPr>
              <a:t>→</a:t>
            </a:r>
            <a:endParaRPr lang="en-US" sz="1200" dirty="0"/>
          </a:p>
        </p:txBody>
      </p:sp>
      <p:sp>
        <p:nvSpPr>
          <p:cNvPr id="8" name="Text 6"/>
          <p:cNvSpPr/>
          <p:nvPr/>
        </p:nvSpPr>
        <p:spPr>
          <a:xfrm>
            <a:off x="1804095" y="5458520"/>
            <a:ext cx="900509" cy="321270"/>
          </a:xfrm>
          <a:prstGeom prst="roundRect">
            <a:avLst>
              <a:gd name="adj" fmla="val 50000"/>
            </a:avLst>
          </a:prstGeom>
          <a:noFill/>
          <a:ln w="6350">
            <a:solidFill>
              <a:srgbClr val="B6BBDE"/>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адаптер</a:t>
            </a:r>
            <a:endParaRPr lang="en-US" sz="1200" dirty="0"/>
          </a:p>
        </p:txBody>
      </p:sp>
      <p:sp>
        <p:nvSpPr>
          <p:cNvPr id="9" name="Text 7"/>
          <p:cNvSpPr/>
          <p:nvPr/>
        </p:nvSpPr>
        <p:spPr>
          <a:xfrm>
            <a:off x="2809379"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6BBDE"/>
                </a:solidFill>
                <a:latin typeface="IBM Plex Sans" pitchFamily="34" charset="0"/>
                <a:ea typeface="IBM Plex Sans" pitchFamily="34" charset="-122"/>
                <a:cs typeface="IBM Plex Sans" pitchFamily="34" charset="-120"/>
              </a:rPr>
              <a:t>→</a:t>
            </a:r>
            <a:endParaRPr lang="en-US" sz="1200" dirty="0"/>
          </a:p>
        </p:txBody>
      </p:sp>
      <p:sp>
        <p:nvSpPr>
          <p:cNvPr id="10" name="Text 8"/>
          <p:cNvSpPr/>
          <p:nvPr/>
        </p:nvSpPr>
        <p:spPr>
          <a:xfrm>
            <a:off x="3066554" y="5458520"/>
            <a:ext cx="626170" cy="321270"/>
          </a:xfrm>
          <a:prstGeom prst="roundRect">
            <a:avLst>
              <a:gd name="adj" fmla="val 50000"/>
            </a:avLst>
          </a:prstGeom>
          <a:noFill/>
          <a:ln w="6350">
            <a:solidFill>
              <a:srgbClr val="B6BBDE"/>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тест</a:t>
            </a:r>
            <a:endParaRPr lang="en-US" sz="1200" dirty="0"/>
          </a:p>
        </p:txBody>
      </p:sp>
      <p:sp>
        <p:nvSpPr>
          <p:cNvPr id="11" name="Text 9"/>
          <p:cNvSpPr/>
          <p:nvPr/>
        </p:nvSpPr>
        <p:spPr>
          <a:xfrm>
            <a:off x="3797498"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6BBDE"/>
                </a:solidFill>
                <a:latin typeface="IBM Plex Sans" pitchFamily="34" charset="0"/>
                <a:ea typeface="IBM Plex Sans" pitchFamily="34" charset="-122"/>
                <a:cs typeface="IBM Plex Sans" pitchFamily="34" charset="-120"/>
              </a:rPr>
              <a:t>→</a:t>
            </a:r>
            <a:endParaRPr lang="en-US" sz="1200" dirty="0"/>
          </a:p>
        </p:txBody>
      </p:sp>
      <p:sp>
        <p:nvSpPr>
          <p:cNvPr id="12" name="Text 10"/>
          <p:cNvSpPr/>
          <p:nvPr/>
        </p:nvSpPr>
        <p:spPr>
          <a:xfrm>
            <a:off x="4051498" y="5461695"/>
            <a:ext cx="802680" cy="314920"/>
          </a:xfrm>
          <a:prstGeom prst="roundRect">
            <a:avLst>
              <a:gd name="adj" fmla="val 50000"/>
            </a:avLst>
          </a:prstGeom>
          <a:solidFill>
            <a:srgbClr val="FCFCFB"/>
          </a:solidFill>
          <a:ln/>
        </p:spPr>
        <p:txBody>
          <a:bodyPr wrap="none" lIns="0" tIns="0" rIns="0" bIns="0" rtlCol="0" anchor="ctr">
            <a:normAutofit/>
          </a:bodyPr>
          <a:lstStyle/>
          <a:p>
            <a:pPr algn="ctr" indent="0" marL="0">
              <a:lnSpc>
                <a:spcPts val="1680"/>
              </a:lnSpc>
              <a:buNone/>
            </a:pPr>
            <a:r>
              <a:rPr lang="en-US" sz="1200" dirty="0">
                <a:solidFill>
                  <a:srgbClr val="3A46A5"/>
                </a:solidFill>
                <a:latin typeface="IBM Plex Mono" pitchFamily="49" charset="0"/>
                <a:ea typeface="IBM Plex Mono" pitchFamily="49" charset="-122"/>
                <a:cs typeface="IBM Plex Mono" pitchFamily="49" charset="-120"/>
              </a:rPr>
              <a:t>review</a:t>
            </a:r>
            <a:endParaRPr lang="en-US" sz="1200" dirty="0"/>
          </a:p>
        </p:txBody>
      </p:sp>
      <p:sp>
        <p:nvSpPr>
          <p:cNvPr id="13" name="Text 11"/>
          <p:cNvSpPr/>
          <p:nvPr/>
        </p:nvSpPr>
        <p:spPr>
          <a:xfrm>
            <a:off x="7823200" y="5396309"/>
            <a:ext cx="366268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3E5F2"/>
                </a:solidFill>
                <a:latin typeface="IBM Plex Sans" pitchFamily="34" charset="0"/>
                <a:ea typeface="IBM Plex Sans" pitchFamily="34" charset="-122"/>
                <a:cs typeface="IBM Plex Sans" pitchFamily="34" charset="-120"/>
              </a:rPr>
              <a:t>Наредна вежба уводи контролисан AI радни ток.</a:t>
            </a:r>
            <a:endParaRPr lang="en-US" sz="1300" dirty="0"/>
          </a:p>
        </p:txBody>
      </p:sp>
      <p:sp>
        <p:nvSpPr>
          <p:cNvPr id="14" name="Shape 12"/>
          <p:cNvSpPr/>
          <p:nvPr/>
        </p:nvSpPr>
        <p:spPr>
          <a:xfrm>
            <a:off x="812800" y="6209705"/>
            <a:ext cx="10566400" cy="0"/>
          </a:xfrm>
          <a:prstGeom prst="line">
            <a:avLst/>
          </a:prstGeom>
          <a:noFill/>
          <a:ln w="6350">
            <a:solidFill>
              <a:srgbClr val="656FB9"/>
            </a:solidFill>
            <a:prstDash val="solid"/>
          </a:ln>
        </p:spPr>
      </p:sp>
      <p:sp>
        <p:nvSpPr>
          <p:cNvPr id="15" name="Text 1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5F2"/>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3E5F2"/>
                </a:solidFill>
                <a:latin typeface="IBM Plex Mono" pitchFamily="49" charset="0"/>
                <a:ea typeface="IBM Plex Mono" pitchFamily="49" charset="-122"/>
                <a:cs typeface="IBM Plex Mono" pitchFamily="49"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3A46A5"/>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A46A5"/>
                </a:solidFill>
                <a:latin typeface="IBM Plex Mono" pitchFamily="49" charset="0"/>
                <a:ea typeface="IBM Plex Mono" pitchFamily="49" charset="-122"/>
                <a:cs typeface="IBM Plex Mono" pitchFamily="49" charset="-120"/>
              </a:rPr>
              <a:t>05 · ВЕЖБА И ПРИПРЕМА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Припрема за наредну вежбу</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Припремити solution, тестове и границе модула за контролисан AI радни ток.</a:t>
            </a:r>
            <a:endParaRPr lang="en-US" sz="1400" dirty="0"/>
          </a:p>
        </p:txBody>
      </p:sp>
      <p:sp>
        <p:nvSpPr>
          <p:cNvPr id="6" name="Shape 4"/>
          <p:cNvSpPr/>
          <p:nvPr/>
        </p:nvSpPr>
        <p:spPr>
          <a:xfrm>
            <a:off x="815975" y="2129036"/>
            <a:ext cx="2025650" cy="1657052"/>
          </a:xfrm>
          <a:prstGeom prst="roundRect">
            <a:avLst>
              <a:gd name="adj" fmla="val 5940"/>
            </a:avLst>
          </a:prstGeom>
          <a:solidFill>
            <a:srgbClr val="FCFCFB"/>
          </a:solidFill>
          <a:ln w="6350">
            <a:solidFill>
              <a:srgbClr val="D3DAE1"/>
            </a:solidFill>
            <a:prstDash val="solid"/>
          </a:ln>
        </p:spPr>
      </p:sp>
      <p:sp>
        <p:nvSpPr>
          <p:cNvPr id="7" name="Text 5"/>
          <p:cNvSpPr/>
          <p:nvPr/>
        </p:nvSpPr>
        <p:spPr>
          <a:xfrm>
            <a:off x="9842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3A46A5"/>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9842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Забележити како се solution покреће и тестира.</a:t>
            </a:r>
            <a:endParaRPr lang="en-US" sz="1300" dirty="0"/>
          </a:p>
        </p:txBody>
      </p:sp>
      <p:sp>
        <p:nvSpPr>
          <p:cNvPr id="9" name="Shape 7"/>
          <p:cNvSpPr/>
          <p:nvPr/>
        </p:nvSpPr>
        <p:spPr>
          <a:xfrm>
            <a:off x="2949575" y="2129036"/>
            <a:ext cx="2025650" cy="1657052"/>
          </a:xfrm>
          <a:prstGeom prst="roundRect">
            <a:avLst>
              <a:gd name="adj" fmla="val 5940"/>
            </a:avLst>
          </a:prstGeom>
          <a:solidFill>
            <a:srgbClr val="FCFCFB"/>
          </a:solidFill>
          <a:ln w="6350">
            <a:solidFill>
              <a:srgbClr val="D3DAE1"/>
            </a:solidFill>
            <a:prstDash val="solid"/>
          </a:ln>
        </p:spPr>
      </p:sp>
      <p:sp>
        <p:nvSpPr>
          <p:cNvPr id="10" name="Text 8"/>
          <p:cNvSpPr/>
          <p:nvPr/>
        </p:nvSpPr>
        <p:spPr>
          <a:xfrm>
            <a:off x="31178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3A46A5"/>
                </a:solidFill>
                <a:latin typeface="IBM Plex Mono" pitchFamily="49" charset="0"/>
                <a:ea typeface="IBM Plex Mono" pitchFamily="49" charset="-122"/>
                <a:cs typeface="IBM Plex Mono" pitchFamily="49" charset="-120"/>
              </a:rPr>
              <a:t>02</a:t>
            </a:r>
            <a:endParaRPr lang="en-US" sz="2200" dirty="0"/>
          </a:p>
        </p:txBody>
      </p:sp>
      <p:sp>
        <p:nvSpPr>
          <p:cNvPr id="11" name="Text 9"/>
          <p:cNvSpPr/>
          <p:nvPr/>
        </p:nvSpPr>
        <p:spPr>
          <a:xfrm>
            <a:off x="3117850" y="2693491"/>
            <a:ext cx="173990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Описати границе Domain, Application, Infrastructure и API пројеката.</a:t>
            </a:r>
            <a:endParaRPr lang="en-US" sz="1300" dirty="0"/>
          </a:p>
        </p:txBody>
      </p:sp>
      <p:sp>
        <p:nvSpPr>
          <p:cNvPr id="12" name="Shape 10"/>
          <p:cNvSpPr/>
          <p:nvPr/>
        </p:nvSpPr>
        <p:spPr>
          <a:xfrm>
            <a:off x="5083175" y="2129036"/>
            <a:ext cx="2025650" cy="1657052"/>
          </a:xfrm>
          <a:prstGeom prst="roundRect">
            <a:avLst>
              <a:gd name="adj" fmla="val 5940"/>
            </a:avLst>
          </a:prstGeom>
          <a:solidFill>
            <a:srgbClr val="FCFCFB"/>
          </a:solidFill>
          <a:ln w="6350">
            <a:solidFill>
              <a:srgbClr val="D3DAE1"/>
            </a:solidFill>
            <a:prstDash val="solid"/>
          </a:ln>
        </p:spPr>
      </p:sp>
      <p:sp>
        <p:nvSpPr>
          <p:cNvPr id="13" name="Text 11"/>
          <p:cNvSpPr/>
          <p:nvPr/>
        </p:nvSpPr>
        <p:spPr>
          <a:xfrm>
            <a:off x="52514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3A46A5"/>
                </a:solidFill>
                <a:latin typeface="IBM Plex Mono" pitchFamily="49" charset="0"/>
                <a:ea typeface="IBM Plex Mono" pitchFamily="49" charset="-122"/>
                <a:cs typeface="IBM Plex Mono" pitchFamily="49" charset="-120"/>
              </a:rPr>
              <a:t>03</a:t>
            </a:r>
            <a:endParaRPr lang="en-US" sz="2200" dirty="0"/>
          </a:p>
        </p:txBody>
      </p:sp>
      <p:sp>
        <p:nvSpPr>
          <p:cNvPr id="14" name="Text 12"/>
          <p:cNvSpPr/>
          <p:nvPr/>
        </p:nvSpPr>
        <p:spPr>
          <a:xfrm>
            <a:off x="52514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Изабрати један мали захтев за промену правила.</a:t>
            </a:r>
            <a:endParaRPr lang="en-US" sz="1300" dirty="0"/>
          </a:p>
        </p:txBody>
      </p:sp>
      <p:sp>
        <p:nvSpPr>
          <p:cNvPr id="15" name="Shape 13"/>
          <p:cNvSpPr/>
          <p:nvPr/>
        </p:nvSpPr>
        <p:spPr>
          <a:xfrm>
            <a:off x="7216775" y="2129036"/>
            <a:ext cx="2025650" cy="1657052"/>
          </a:xfrm>
          <a:prstGeom prst="roundRect">
            <a:avLst>
              <a:gd name="adj" fmla="val 5940"/>
            </a:avLst>
          </a:prstGeom>
          <a:solidFill>
            <a:srgbClr val="FCFCFB"/>
          </a:solidFill>
          <a:ln w="6350">
            <a:solidFill>
              <a:srgbClr val="D3DAE1"/>
            </a:solidFill>
            <a:prstDash val="solid"/>
          </a:ln>
        </p:spPr>
      </p:sp>
      <p:sp>
        <p:nvSpPr>
          <p:cNvPr id="16" name="Text 14"/>
          <p:cNvSpPr/>
          <p:nvPr/>
        </p:nvSpPr>
        <p:spPr>
          <a:xfrm>
            <a:off x="73850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3A46A5"/>
                </a:solidFill>
                <a:latin typeface="IBM Plex Mono" pitchFamily="49" charset="0"/>
                <a:ea typeface="IBM Plex Mono" pitchFamily="49" charset="-122"/>
                <a:cs typeface="IBM Plex Mono" pitchFamily="49" charset="-120"/>
              </a:rPr>
              <a:t>04</a:t>
            </a:r>
            <a:endParaRPr lang="en-US" sz="2200" dirty="0"/>
          </a:p>
        </p:txBody>
      </p:sp>
      <p:sp>
        <p:nvSpPr>
          <p:cNvPr id="17" name="Text 15"/>
          <p:cNvSpPr/>
          <p:nvPr/>
        </p:nvSpPr>
        <p:spPr>
          <a:xfrm>
            <a:off x="73850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Навести фајлове које промена сме да погађа.</a:t>
            </a:r>
            <a:endParaRPr lang="en-US" sz="1300" dirty="0"/>
          </a:p>
        </p:txBody>
      </p:sp>
      <p:sp>
        <p:nvSpPr>
          <p:cNvPr id="18" name="Shape 16"/>
          <p:cNvSpPr/>
          <p:nvPr/>
        </p:nvSpPr>
        <p:spPr>
          <a:xfrm>
            <a:off x="9350375" y="2129036"/>
            <a:ext cx="2025650" cy="1657052"/>
          </a:xfrm>
          <a:prstGeom prst="roundRect">
            <a:avLst>
              <a:gd name="adj" fmla="val 5940"/>
            </a:avLst>
          </a:prstGeom>
          <a:solidFill>
            <a:srgbClr val="FCFCFB"/>
          </a:solidFill>
          <a:ln w="6350">
            <a:solidFill>
              <a:srgbClr val="D3DAE1"/>
            </a:solidFill>
            <a:prstDash val="solid"/>
          </a:ln>
        </p:spPr>
      </p:sp>
      <p:sp>
        <p:nvSpPr>
          <p:cNvPr id="19" name="Text 17"/>
          <p:cNvSpPr/>
          <p:nvPr/>
        </p:nvSpPr>
        <p:spPr>
          <a:xfrm>
            <a:off x="95186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05</a:t>
            </a:r>
            <a:endParaRPr lang="en-US" sz="2200" dirty="0"/>
          </a:p>
        </p:txBody>
      </p:sp>
      <p:sp>
        <p:nvSpPr>
          <p:cNvPr id="20" name="Text 18"/>
          <p:cNvSpPr/>
          <p:nvPr/>
        </p:nvSpPr>
        <p:spPr>
          <a:xfrm>
            <a:off x="95186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Припремити проверу build, test и diff за следећу вежбу.</a:t>
            </a:r>
            <a:endParaRPr lang="en-US" sz="1300" dirty="0"/>
          </a:p>
        </p:txBody>
      </p:sp>
      <p:sp>
        <p:nvSpPr>
          <p:cNvPr id="21" name="Shape 19"/>
          <p:cNvSpPr/>
          <p:nvPr/>
        </p:nvSpPr>
        <p:spPr>
          <a:xfrm>
            <a:off x="812800" y="6209705"/>
            <a:ext cx="10566400" cy="0"/>
          </a:xfrm>
          <a:prstGeom prst="line">
            <a:avLst/>
          </a:prstGeom>
          <a:noFill/>
          <a:ln w="6350">
            <a:solidFill>
              <a:srgbClr val="D3DAE1"/>
            </a:solidFill>
            <a:prstDash val="solid"/>
          </a:ln>
        </p:spPr>
      </p:sp>
      <p:sp>
        <p:nvSpPr>
          <p:cNvPr id="22"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3"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27</a:t>
            </a:r>
            <a:endParaRPr lang="en-US" sz="1200" dirty="0"/>
          </a:p>
        </p:txBody>
      </p:sp>
    </p:spTree>
  </p:cSld>
  <p:clrMapOvr>
    <a:masterClrMapping/>
  </p:clrMapOvr>
</p:sld>
</file>

<file path=ppt/theme/theme1.xml><?xml version="1.0" encoding="utf-8"?>
<a:theme xmlns:a="http://schemas.openxmlformats.org/drawingml/2006/main" name="Интеграција модула, уговори и подаци">
  <a:themeElements>
    <a:clrScheme name="Интеграција модула, уговори и подаци">
      <a:dk1>
        <a:srgbClr val="13202D"/>
      </a:dk1>
      <a:lt1>
        <a:srgbClr val="F6F7F5"/>
      </a:lt1>
      <a:dk2>
        <a:srgbClr val="4C565F"/>
      </a:dk2>
      <a:lt2>
        <a:srgbClr val="DFE2E1"/>
      </a:lt2>
      <a:accent1>
        <a:srgbClr val="3A46A5"/>
      </a:accent1>
      <a:accent2>
        <a:srgbClr val="A8520A"/>
      </a:accent2>
      <a:accent3>
        <a:srgbClr val="E9B98C"/>
      </a:accent3>
      <a:accent4>
        <a:srgbClr val="B6BBDE"/>
      </a:accent4>
      <a:accent5>
        <a:srgbClr val="E07B1F"/>
      </a:accent5>
      <a:accent6>
        <a:srgbClr val="44505D"/>
      </a:accent6>
      <a:hlink>
        <a:srgbClr val="0563C1"/>
      </a:hlink>
      <a:folHlink>
        <a:srgbClr val="954F72"/>
      </a:folHlink>
    </a:clrScheme>
    <a:fontScheme name="Интеграција модула, уговори и подаци">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Интеграција модула, уговори и подаци</dc:title>
  <dc:subject/>
  <dc:creator/>
  <cp:lastModifiedBy/>
  <cp:revision>1</cp:revision>
  <dcterms:created xsi:type="dcterms:W3CDTF">2026-10-09T16:54:19Z</dcterms:created>
  <dcterms:modified xsi:type="dcterms:W3CDTF">2026-10-09T16:54:19Z</dcterms:modified>
</cp:coreProperties>
</file>