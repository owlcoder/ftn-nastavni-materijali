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aa6887195e4a0a" /><Relationship Type="http://schemas.openxmlformats.org/officeDocument/2006/relationships/notesMaster" Target="/ppt/notesMasters/notesMaster1.xml" Id="R34a4b1e2804d400e"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c0e67a181ca4908" /><Relationship Type="http://schemas.openxmlformats.org/officeDocument/2006/relationships/notesMaster" Target="/ppt/notesMasters/notesMaster1.xml" Id="R50d38e2a93fa465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88a21314b494801" /><Relationship Type="http://schemas.openxmlformats.org/officeDocument/2006/relationships/notesMaster" Target="/ppt/notesMasters/notesMaster1.xml" Id="Rcaacaacc99e7486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e7dd12e8d324799" /><Relationship Type="http://schemas.openxmlformats.org/officeDocument/2006/relationships/notesMaster" Target="/ppt/notesMasters/notesMaster1.xml" Id="R8b8a39f54aa9459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2e49f6ecf764a4f" /><Relationship Type="http://schemas.openxmlformats.org/officeDocument/2006/relationships/notesMaster" Target="/ppt/notesMasters/notesMaster1.xml" Id="R9f8ae2667ce24bb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8b22faa17ae4ae7" /><Relationship Type="http://schemas.openxmlformats.org/officeDocument/2006/relationships/notesMaster" Target="/ppt/notesMasters/notesMaster1.xml" Id="R4315ecd1fd7241e2"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7f12e0603204d3e" /><Relationship Type="http://schemas.openxmlformats.org/officeDocument/2006/relationships/notesMaster" Target="/ppt/notesMasters/notesMaster1.xml" Id="Rf10e720309d74e8d"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ове вежбе су тестови као доказ. Тест не пишемо да бисмо повећали проценат, већ да бисмо доказали пословно понашање и проверили да ли су архитектонске границе добре. Користимо NUnit за тестове, Moq за замену спољних зависности и извештај о покривености као дијагностички сигнал.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Вежба има четири дела. Прво учимо како се тест чита и пише. Затим уводимо test double објекте и Moq. Трећи део је планирање сценарија и анализа покривености, а последњи део повезује тестове са исправљањем грешака, контролном тачком КТ1 и првим AI задатком.</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Тестабилност није додатак који се лепи на крају, већ последица дизајна са претходних вежби. Када су одговорности раздвојене, уговори јасни, а зависности стижу споља, компоненту можемо проверити изоловано и детерминистички. Обрнуто важи такође: ако је тест тежак за писање, то је сигнал да граница није добро постављена.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део почиње од резултата: како прочитати извештај о тестовима и шта урадити када тест падне. Затим уводимо AAA структуру и пишемо негативни сценарио изведен из критеријума прихватања.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типичан приказ у Test Explorer-у: три теста пролазе, један пада. Укупан пролаз значи само да су извршени сценарији прошли, а не да систем нема грешака. Пали тест Cancel_AfterDeadline_ReturnsFailure очекивао је CancellationWindowExpired, а добио Success. Пре било какве измене питамо: да ли је погрешно правило, имплементација или очекивање у тесту? Код мењамо тек када разумемо узрок.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Тест има три дела: Arrange припрема улазе и сараднике, Act извршава једну операцију, а Assert проверава исход. Ту се тест не завршава. Када падне, порука мора бити довољно јасна за дијагнозу, а тест који се тешко пише је сигнал за рефакторисање. Назив теста у облику метода, услов и исход описује понашање које тест штити, на пример Reserve_WhenPeriodOverlaps_ReturnsConflict.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Овај тест је изведен директно из критеријума прихватања: ако се период преклапа са постојећом резервацијом, систем враћа OverlappingReservation. У Arrange делу Moq подешава repository тако да пријави преклапање, а сервис добија фиксно време преко FixedClock-а са претходне вежбе, где је Now константа тест класе. Act извршава једну операцију, а Assert проверава видљиви исход и стабилан код. Тест не зна ништа о томе како сервис интерно ради.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Други део се бави заменом зависности у тестовима. Видећемо када је замена оправдана, које врсте замена постоје, како их Moq подржава и како да тест остане стабилан када се имплементација мења.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double је општи назив за објекат који у тесту замењује стварну зависност. Мењамо само спољне границе које су променљиве или неконтролисане: репозиторијум, HTTP клијент, време и случајност. Предмет теста и мали доменски објекти, попут резервације и периода, остају стварни. Ако бисмо и њих mock-овали, тест би проверавао сопствено подешавање уместо понашања.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Gerard Meszaros у књизи xUnit Test Patterns из 2007. године разликује пет врста замена. Dummy само попуњава параметар. Stub враћа унапред задат одговор. Fake је поједностављена радна имплементација, на пример repository у меморији. Spy бележи позиве да бисмо их касније проверили, а mock проверава очекиване интеракције. Колоквијално све зовемо mock, али разлика помаже да изаберемо праву замену. У Moq-у исти објекат може бити stub или mock, у зависности од тога да ли користимо само Setup или и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Одлука о mock-у може се свести на табелу. Repository и HTTP клијент замењујемо јер желимо да контролишемо повратну вредност. Сат и генератор идентификатора замењујемо ради детерминизма. Мали value object користимо као стварни објекат, а предмет теста никада не mock-ујемо, јер бисмо тада тестирали сам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одређује шта ће сарадник вратити, у примеру постојећу резервацију. Verify проверава да ли је сарадник примио одређени позив, у примеру да је отказана резервација сачувана тачно једном. Чување јесте део понашања отказивања, па је ова провера оправдана. Ако бисмо проверавали сваки интерни позив, тест би пукао при свакој безопасној промени имплементације.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Добар тест преживљава рефакторисање. Тестирамо оно што спољни свет види: резултат, стабилан код неуспеха, значајну интеракцију и гранично понашање. Не везујемо се за приватне методе, редослед позива који није битан, структуру петље или тривијалне setter-е. Ако тест пукне а понашање се није променило, тест је превише везан за имплементацију.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Трећи део одговара на питање шта тестирати. Сценарије изводимо из пословних правила, правимо план, а покривеност кода користимо као дијагностички сигнал, никако као циљ сам по себи.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Сценарије не измишљамо, већ их изводимо из правила. За свако правило тражимо успешан ток, негативни ток у коме систем исправно одбија захтев и гранични случај, вредност на којој се понашање мења. Добра пракса је да границу правила проверимо вредностима са обе њене стране.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План тестирања пишемо пре тест кода. За резервисање имамо успешан сценарио, два негативна сценарија, гранични сценарио у коме нови термин почиње тачно када претходни завршава и сценарио инфраструктурног квара, у коме repository пријављује грешку. За сваки ред знамо очекивани исход и које зависности треба контролисати.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Када исто правило проверавамо за више улаза, NUnit атрибут TestCase замењује три готово иста теста једним параметризованим. Сваки ред се у Test Explorer-у приказује као посебан тест, па се одмах види који случај пада. Ова три реда су управо случајеви са слајда о правилу преклапања са претходне вежбе: преклапање, додир на граници и раздвојени термини. Тип Period и метода Parse су илустративни.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Тестове покрећемо командом dotnet test из корена solution-а. Ако тест пројекат има пакет coverlet.collector, параметар collect са вредношћу XPlat Code Coverage прикупља податке о покривености у Cobertura XML формату, који затим неки алат за извештаје претвара у прегледан приказ по класама. Редослед је важан: прво дефинишемо пословно важне сценарије, а тек онда гледамо извештај, као дијагностички сигнал.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разлог зашто проценат сам по себи не говори много. Метода има три линије, а прва садржи услов. Ако постоји само тест који отказује активну резервацију, услов се израчуна и све три линије се изврше, па је покривеност линија сто посто. Али грана у којој је резервација већ отказана никада није извршена, па је покривеност грана педесет посто. Зато у извештају гледамо гране, а посебно гране које носе пословни ризик.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Висок проценат покривености може да постоји и са слабим тестовима, на пример тестовима који извршавају код, али не проверавају исход. Зато не питамо колики је проценат, већ који непокривени део носи највећи ризик и који би нам тест дао највише нових информација.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 читању извештаја пролазимо кроз четири питања. Да ли су за условне гране проверена оба исхода? Да ли обрада грешке може да се претвори у лажни успех? Да ли је критично стање, попут новца, дозвола и резервација, покривено? И на крају, за сваки непокривен ризик донети одлуку: или га покрити тестом, или образложити зашто није покривен.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Последњи део повезује тестове са исправљањем грешака и контролном тачком КТ1. Видећемо поступак у коме тест прво репродукује грешку, шта значи стабилна верзија manual-core-baseline и како изгледа први, пажљиво ограничен AI задатак.</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Када пријавимо грешку, прво пишемо тест који је репродукује. Тај тест мора да падне, иначе нисмо доказали да смо ухватили баш ту грешку. Затим уводимо минималну измену понашања и тест пролази. На крају тест остаје у пројекту као регресиона заштита, па се иста грешка не може тихо вратити.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Контролна тачка КТ1 одржава се у термину Вежбе 4 и носи највише 10 поена. До ње функционално језгро мора бити ручно разумљиво и тестирано, а стабилна верзија означена Git tag-ом manual-core-baseline. На слици је то тамна ознака на историји commit-ова. Све што долази после, у AI фази, проверава се према тој основи: да ли тестови и даље пролазе и да ли су границе очуване.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 КТ1 потребно је пет ствари. Кључни случајеви употребе имају тестове за успешне и негативне сценарије. Извештај о покривености је прегледан, а ризична грана је покривена или образложена. Најмање једна грешка је прво репродукована тестом. Стабилна верзија језгра означена је tag-ом manual-core-baseline, који се креира командом git tag и шаље на удаљени репозиторијум командом git push origin са именом tag-а. Термин КТ1 је Вежба 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Први AI задатак је намерно ограничен: AI само предлаже недостајуће сценарије и не сме да мења код. Тражимо и образложење пословног ризика за сваки предлог. Први бод носи нови смислен гранични тест, а други бод образложење зашто је неки предлог прихваћен или одбијен. Одлука и одговорност остају код студента.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Главна порука вежбе: када су границе система добре, тестови су кратки, јасни и блиски пословном понашању. Тест је доказ који студент користи да одбрани своје решење. Ови тестови су основа за интеграцију модула и за контролисан AI радни ток на наредним вежбама.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 наредну вежбу напишите план тестирања за један случај употребе пре него што напишете тест код. Додајте успешне, негативне и граничне NUnit тестове, mock користите само на јасним спољним границама, покрените coverage и анализирајте једну ризичну грану. Када је језгро спремно, означите стабилну верзију tag-ом manual-core-baseline.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7b0eacc339c4db3" /><Relationship Type="http://schemas.openxmlformats.org/officeDocument/2006/relationships/notesSlide" Target="/ppt/notesSlides/notesSlide2.xml" Id="Rfb633753d6994ba9" /></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b729184f403f4245" /><Relationship Type="http://schemas.openxmlformats.org/officeDocument/2006/relationships/notesSlide" Target="/ppt/notesSlides/notesSlide22.xml" Id="R4d54a1b5fb61426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e43815aff87b41a8" /><Relationship Type="http://schemas.openxmlformats.org/officeDocument/2006/relationships/image" Target="/ppt/media/image-26-4.png" Id="R1beda6281db8461a" /><Relationship Type="http://schemas.openxmlformats.org/officeDocument/2006/relationships/image" Target="/ppt/media/image-26-4.png" Id="R107e2f4bbc0c4917" /><Relationship Type="http://schemas.openxmlformats.org/officeDocument/2006/relationships/notesSlide" Target="/ppt/notesSlides/notesSlide23.xml" Id="Rb7db59c8bc8c4e2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ebb8fdef37004f2a" /><Relationship Type="http://schemas.openxmlformats.org/officeDocument/2006/relationships/image" Target="/ppt/media/image-24-1.png" Id="R36225bf23beb4a69" /><Relationship Type="http://schemas.openxmlformats.org/officeDocument/2006/relationships/image" Target="/ppt/media/image-28-1.png" Id="Rab79eaf38fcd4f2a" /><Relationship Type="http://schemas.openxmlformats.org/officeDocument/2006/relationships/notesSlide" Target="/ppt/notesSlides/notesSlide24.xml" Id="R3971cc159581457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16dff7b809f64500" /><Relationship Type="http://schemas.openxmlformats.org/officeDocument/2006/relationships/notesSlide" Target="/ppt/notesSlides/notesSlide25.xml" Id="R968afef3f44047d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933afeb3b1f0458b" /><Relationship Type="http://schemas.openxmlformats.org/officeDocument/2006/relationships/image" Target="/ppt/media/image-26-1.png" Id="R4394ca6d96604db0" /><Relationship Type="http://schemas.openxmlformats.org/officeDocument/2006/relationships/image" Target="/ppt/media/image-26-4.png" Id="R2a5572fa1a214333" /><Relationship Type="http://schemas.openxmlformats.org/officeDocument/2006/relationships/image" Target="/ppt/media/image-26-3.png" Id="R4c90508b07c84cba" /><Relationship Type="http://schemas.openxmlformats.org/officeDocument/2006/relationships/image" Target="/ppt/media/image-26-4.png" Id="R5dfd943e1b684ebe" /><Relationship Type="http://schemas.openxmlformats.org/officeDocument/2006/relationships/image" Target="/ppt/media/image-26-5.png" Id="R81f4d689f31c4109" /><Relationship Type="http://schemas.openxmlformats.org/officeDocument/2006/relationships/notesSlide" Target="/ppt/notesSlides/notesSlide26.xml" Id="Ra6e096ae2108448f"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03685735f1134165" /><Relationship Type="http://schemas.openxmlformats.org/officeDocument/2006/relationships/image" Target="/ppt/media/image-28-1.png" Id="R2eb528ae56134488" /><Relationship Type="http://schemas.openxmlformats.org/officeDocument/2006/relationships/notesSlide" Target="/ppt/notesSlides/notesSlide28.xml" Id="Rb9cd9efd79964205"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тестирања: листа тестова у којој три пролазе и један пада, трака покривености кода и замена спољне зависности test double објектом">    </p:cNvPr>
          <p:cNvPicPr>
            <a:picLocks noChangeAspect="1"/>
          </p:cNvPicPr>
          <p:nvPr/>
        </p:nvPicPr>
        <p:blipFill>
          <a:blip r:embed="rId1"/>
          <a:srcRect l="0" r="0" t="0" b="0"/>
          <a:stretch/>
        </p:blipFill>
        <p:spPr>
          <a:xfrm>
            <a:off x="7848600" y="1206500"/>
            <a:ext cx="3530600" cy="35306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2C7A4B"/>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2C7A4B"/>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86551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Тестабилни дизајн, NUnit, Moq и покривеност кода</a:t>
            </a:r>
            <a:endParaRPr lang="en-US" sz="4600" dirty="0"/>
          </a:p>
        </p:txBody>
      </p:sp>
      <p:sp>
        <p:nvSpPr>
          <p:cNvPr id="5" name="Text 2"/>
          <p:cNvSpPr/>
          <p:nvPr/>
        </p:nvSpPr>
        <p:spPr>
          <a:xfrm>
            <a:off x="812800" y="3465711"/>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Тестови као доказ пословног понашања и квалитета архитектонских граница.</a:t>
            </a:r>
            <a:endParaRPr lang="en-US" sz="1600" dirty="0"/>
          </a:p>
        </p:txBody>
      </p:sp>
      <p:sp>
        <p:nvSpPr>
          <p:cNvPr id="6" name="Shape 3"/>
          <p:cNvSpPr/>
          <p:nvPr/>
        </p:nvSpPr>
        <p:spPr>
          <a:xfrm>
            <a:off x="812800" y="5376664"/>
            <a:ext cx="6731000" cy="0"/>
          </a:xfrm>
          <a:prstGeom prst="line">
            <a:avLst/>
          </a:prstGeom>
          <a:noFill/>
          <a:ln w="6350">
            <a:solidFill>
              <a:srgbClr val="D3DAE1"/>
            </a:solidFill>
            <a:prstDash val="solid"/>
          </a:ln>
        </p:spPr>
      </p:sp>
      <p:sp>
        <p:nvSpPr>
          <p:cNvPr id="7" name="Text 4"/>
          <p:cNvSpPr/>
          <p:nvPr/>
        </p:nvSpPr>
        <p:spPr>
          <a:xfrm>
            <a:off x="812800" y="5532239"/>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8" name="Text 5"/>
          <p:cNvSpPr/>
          <p:nvPr/>
        </p:nvSpPr>
        <p:spPr>
          <a:xfrm>
            <a:off x="812800" y="5831880"/>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Tree>
  </p:cSld>
  <p:clrMapOvr>
    <a:masterClrMapping/>
  </p:clrMapOvr>
</p:sld>
</file>

<file path=ppt/slides/slide2.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CA72DB5-DB2E-4689-8BF3-2742838AE374}"/>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2C7A4B"/>
          </a:solidFill>
        </p:spPr>
      </p:sp>
      <p:sp>
        <p:nvSpPr>
          <p:cNvPr id="3" name="Text 1">
            <a:extLst xmlns:a="http://schemas.openxmlformats.org/drawingml/2006/main">
              <a:ext uri="{FF2B5EF4-FFF2-40B4-BE49-F238E27FC236}">
                <a16:creationId xmlns:a16="http://schemas.microsoft.com/office/drawing/2014/main" id="{437DFC20-2945-46F6-85AE-9961A44CB363}"/>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00">
                <a:solidFill>
                  <a:srgbClr val="2C7A4B"/>
                </a:solidFill>
                <a:latin typeface="IBM Plex Mono"/>
                <a:ea typeface="IBM Plex Mono"/>
                <a:cs typeface="IBM Plex Mono"/>
              </a:rPr>
              <a:t>ПРЕГЛЕД</a:t>
            </a:r>
            <a:endParaRPr sz="1200"/>
          </a:p>
        </p:txBody>
      </p:sp>
      <p:sp>
        <p:nvSpPr>
          <p:cNvPr id="4" name="Text 2">
            <a:extLst xmlns:a="http://schemas.openxmlformats.org/drawingml/2006/main">
              <a:ext uri="{FF2B5EF4-FFF2-40B4-BE49-F238E27FC236}">
                <a16:creationId xmlns:a16="http://schemas.microsoft.com/office/drawing/2014/main" id="{414217A3-50D1-41DA-8685-35B69C225A23}"/>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Садржај презентације</a:t>
            </a:r>
            <a:endParaRPr sz="3000"/>
          </a:p>
        </p:txBody>
      </p:sp>
      <p:sp>
        <p:nvSpPr>
          <p:cNvPr id="5" name="Shape 3">
            <a:extLst xmlns:a="http://schemas.openxmlformats.org/drawingml/2006/main">
              <a:ext uri="{FF2B5EF4-FFF2-40B4-BE49-F238E27FC236}">
                <a16:creationId xmlns:a16="http://schemas.microsoft.com/office/drawing/2014/main" id="{BF8FCE3B-2C10-4AD0-A7E0-2F20DE4741A6}"/>
              </a:ext>
            </a:extLst>
          </p:cNvPr>
          <p:cNvSpPr>
            <a:spLocks xmlns:a="http://schemas.openxmlformats.org/drawingml/2006/main" noGrp="1"/>
          </p:cNvSpPr>
          <p:nvPr/>
        </p:nvSpPr>
        <p:spPr>
          <a:xfrm xmlns:a="http://schemas.openxmlformats.org/drawingml/2006/main">
            <a:off x="815975" y="1676995"/>
            <a:ext cx="2540000" cy="2330252"/>
          </a:xfrm>
          <a:prstGeom xmlns:a="http://schemas.openxmlformats.org/drawingml/2006/main" prst="roundRect">
            <a:avLst>
              <a:gd name="adj" fmla="val 4224"/>
            </a:avLst>
          </a:prstGeom>
          <a:solidFill xmlns:a="http://schemas.openxmlformats.org/drawingml/2006/main">
            <a:srgbClr val="FCFCFB"/>
          </a:solidFill>
          <a:ln xmlns:a="http://schemas.openxmlformats.org/drawingml/2006/main" w="6350">
            <a:solidFill>
              <a:srgbClr val="D3DAE1"/>
            </a:solidFill>
            <a:prstDash val="solid"/>
          </a:ln>
        </p:spPr>
      </p:sp>
      <p:sp>
        <p:nvSpPr>
          <p:cNvPr id="6" name="Shape 4">
            <a:extLst xmlns:a="http://schemas.openxmlformats.org/drawingml/2006/main">
              <a:ext uri="{FF2B5EF4-FFF2-40B4-BE49-F238E27FC236}">
                <a16:creationId xmlns:a16="http://schemas.microsoft.com/office/drawing/2014/main" id="{0F5D2D79-FB76-4188-81EA-BBA003CDBEAF}"/>
              </a:ext>
            </a:extLst>
          </p:cNvPr>
          <p:cNvSpPr>
            <a:spLocks xmlns:a="http://schemas.openxmlformats.org/drawingml/2006/main" noGrp="1"/>
          </p:cNvSpPr>
          <p:nvPr/>
        </p:nvSpPr>
        <p:spPr>
          <a:xfrm xmlns:a="http://schemas.openxmlformats.org/drawingml/2006/main">
            <a:off x="996950" y="1857970"/>
            <a:ext cx="355600" cy="38100"/>
          </a:xfrm>
          <a:prstGeom xmlns:a="http://schemas.openxmlformats.org/drawingml/2006/main" prst="roundRect">
            <a:avLst>
              <a:gd name="adj" fmla="val 50000"/>
            </a:avLst>
          </a:prstGeom>
          <a:solidFill xmlns:a="http://schemas.openxmlformats.org/drawingml/2006/main">
            <a:srgbClr val="2C7A4B"/>
          </a:solidFill>
        </p:spPr>
      </p:sp>
      <p:sp>
        <p:nvSpPr>
          <p:cNvPr id="7" name="Text 5">
            <a:extLst xmlns:a="http://schemas.openxmlformats.org/drawingml/2006/main">
              <a:ext uri="{FF2B5EF4-FFF2-40B4-BE49-F238E27FC236}">
                <a16:creationId xmlns:a16="http://schemas.microsoft.com/office/drawing/2014/main" id="{B219574D-0765-43EA-B88C-55A208F63B06}"/>
              </a:ext>
            </a:extLst>
          </p:cNvPr>
          <p:cNvSpPr>
            <a:spLocks xmlns:a="http://schemas.openxmlformats.org/drawingml/2006/main" noGrp="1"/>
          </p:cNvSpPr>
          <p:nvPr/>
        </p:nvSpPr>
        <p:spPr>
          <a:xfrm xmlns:a="http://schemas.openxmlformats.org/drawingml/2006/main">
            <a:off x="996950" y="1984970"/>
            <a:ext cx="224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a:solidFill>
                  <a:srgbClr val="2C7A4B"/>
                </a:solidFill>
                <a:latin typeface="IBM Plex Mono"/>
                <a:ea typeface="IBM Plex Mono"/>
                <a:cs typeface="IBM Plex Mono"/>
              </a:rPr>
              <a:t>01</a:t>
            </a:r>
            <a:endParaRPr sz="3000"/>
          </a:p>
        </p:txBody>
      </p:sp>
      <p:sp>
        <p:nvSpPr>
          <p:cNvPr id="8" name="Text 6">
            <a:extLst xmlns:a="http://schemas.openxmlformats.org/drawingml/2006/main">
              <a:ext uri="{FF2B5EF4-FFF2-40B4-BE49-F238E27FC236}">
                <a16:creationId xmlns:a16="http://schemas.microsoft.com/office/drawing/2014/main" id="{E5853CC4-7313-484B-B9A6-415EA9230F73}"/>
              </a:ext>
            </a:extLst>
          </p:cNvPr>
          <p:cNvSpPr>
            <a:spLocks xmlns:a="http://schemas.openxmlformats.org/drawingml/2006/main" noGrp="1"/>
          </p:cNvSpPr>
          <p:nvPr/>
        </p:nvSpPr>
        <p:spPr>
          <a:xfrm xmlns:a="http://schemas.openxmlformats.org/drawingml/2006/main">
            <a:off x="996950" y="2492970"/>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Структура теста</a:t>
            </a:r>
            <a:endParaRPr sz="1400"/>
          </a:p>
        </p:txBody>
      </p:sp>
      <p:sp>
        <p:nvSpPr>
          <p:cNvPr id="9" name="Text 7">
            <a:extLst xmlns:a="http://schemas.openxmlformats.org/drawingml/2006/main">
              <a:ext uri="{FF2B5EF4-FFF2-40B4-BE49-F238E27FC236}">
                <a16:creationId xmlns:a16="http://schemas.microsoft.com/office/drawing/2014/main" id="{4115C896-B39F-49B2-819F-11F67AEDAF58}"/>
              </a:ext>
            </a:extLst>
          </p:cNvPr>
          <p:cNvSpPr>
            <a:spLocks xmlns:a="http://schemas.openxmlformats.org/drawingml/2006/main" noGrp="1"/>
          </p:cNvSpPr>
          <p:nvPr/>
        </p:nvSpPr>
        <p:spPr>
          <a:xfrm xmlns:a="http://schemas.openxmlformats.org/drawingml/2006/main">
            <a:off x="996950" y="2795191"/>
            <a:ext cx="224339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Тумачење резултата, AAA образац и негативни сценарио.</a:t>
            </a:r>
            <a:endParaRPr sz="1200"/>
          </a:p>
        </p:txBody>
      </p:sp>
      <p:sp>
        <p:nvSpPr>
          <p:cNvPr id="10" name="Text 8">
            <a:extLst xmlns:a="http://schemas.openxmlformats.org/drawingml/2006/main">
              <a:ext uri="{FF2B5EF4-FFF2-40B4-BE49-F238E27FC236}">
                <a16:creationId xmlns:a16="http://schemas.microsoft.com/office/drawing/2014/main" id="{634B8969-DB03-4217-8010-C5CED2371EDC}"/>
              </a:ext>
            </a:extLst>
          </p:cNvPr>
          <p:cNvSpPr>
            <a:spLocks xmlns:a="http://schemas.openxmlformats.org/drawingml/2006/main" noGrp="1"/>
          </p:cNvSpPr>
          <p:nvPr/>
        </p:nvSpPr>
        <p:spPr>
          <a:xfrm xmlns:a="http://schemas.openxmlformats.org/drawingml/2006/main">
            <a:off x="996950" y="3612952"/>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04–07</a:t>
            </a:r>
            <a:endParaRPr sz="1200"/>
          </a:p>
        </p:txBody>
      </p:sp>
      <p:sp>
        <p:nvSpPr>
          <p:cNvPr id="11" name="Shape 9">
            <a:extLst xmlns:a="http://schemas.openxmlformats.org/drawingml/2006/main">
              <a:ext uri="{FF2B5EF4-FFF2-40B4-BE49-F238E27FC236}">
                <a16:creationId xmlns:a16="http://schemas.microsoft.com/office/drawing/2014/main" id="{D49056BB-A210-4DD3-A6AA-5D2CAC337706}"/>
              </a:ext>
            </a:extLst>
          </p:cNvPr>
          <p:cNvSpPr>
            <a:spLocks xmlns:a="http://schemas.openxmlformats.org/drawingml/2006/main" noGrp="1"/>
          </p:cNvSpPr>
          <p:nvPr/>
        </p:nvSpPr>
        <p:spPr>
          <a:xfrm xmlns:a="http://schemas.openxmlformats.org/drawingml/2006/main">
            <a:off x="3489325" y="1676995"/>
            <a:ext cx="2540000" cy="2330252"/>
          </a:xfrm>
          <a:prstGeom xmlns:a="http://schemas.openxmlformats.org/drawingml/2006/main" prst="roundRect">
            <a:avLst>
              <a:gd name="adj" fmla="val 4224"/>
            </a:avLst>
          </a:prstGeom>
          <a:solidFill xmlns:a="http://schemas.openxmlformats.org/drawingml/2006/main">
            <a:srgbClr val="FCFCFB"/>
          </a:solidFill>
          <a:ln xmlns:a="http://schemas.openxmlformats.org/drawingml/2006/main" w="6350">
            <a:solidFill>
              <a:srgbClr val="D3DAE1"/>
            </a:solidFill>
            <a:prstDash val="solid"/>
          </a:ln>
        </p:spPr>
      </p:sp>
      <p:sp>
        <p:nvSpPr>
          <p:cNvPr id="12" name="Shape 10">
            <a:extLst xmlns:a="http://schemas.openxmlformats.org/drawingml/2006/main">
              <a:ext uri="{FF2B5EF4-FFF2-40B4-BE49-F238E27FC236}">
                <a16:creationId xmlns:a16="http://schemas.microsoft.com/office/drawing/2014/main" id="{E27EE78B-BE41-421E-ABCD-A5E5AC57D593}"/>
              </a:ext>
            </a:extLst>
          </p:cNvPr>
          <p:cNvSpPr>
            <a:spLocks xmlns:a="http://schemas.openxmlformats.org/drawingml/2006/main" noGrp="1"/>
          </p:cNvSpPr>
          <p:nvPr/>
        </p:nvSpPr>
        <p:spPr>
          <a:xfrm xmlns:a="http://schemas.openxmlformats.org/drawingml/2006/main">
            <a:off x="3670300" y="1857970"/>
            <a:ext cx="355600" cy="38100"/>
          </a:xfrm>
          <a:prstGeom xmlns:a="http://schemas.openxmlformats.org/drawingml/2006/main" prst="roundRect">
            <a:avLst>
              <a:gd name="adj" fmla="val 50000"/>
            </a:avLst>
          </a:prstGeom>
          <a:solidFill xmlns:a="http://schemas.openxmlformats.org/drawingml/2006/main">
            <a:srgbClr val="2C7A4B"/>
          </a:solidFill>
        </p:spPr>
      </p:sp>
      <p:sp>
        <p:nvSpPr>
          <p:cNvPr id="13" name="Text 11">
            <a:extLst xmlns:a="http://schemas.openxmlformats.org/drawingml/2006/main">
              <a:ext uri="{FF2B5EF4-FFF2-40B4-BE49-F238E27FC236}">
                <a16:creationId xmlns:a16="http://schemas.microsoft.com/office/drawing/2014/main" id="{A292A364-BEE6-4EB1-8749-4D6AEBC31190}"/>
              </a:ext>
            </a:extLst>
          </p:cNvPr>
          <p:cNvSpPr>
            <a:spLocks xmlns:a="http://schemas.openxmlformats.org/drawingml/2006/main" noGrp="1"/>
          </p:cNvSpPr>
          <p:nvPr/>
        </p:nvSpPr>
        <p:spPr>
          <a:xfrm xmlns:a="http://schemas.openxmlformats.org/drawingml/2006/main">
            <a:off x="3670300" y="1984970"/>
            <a:ext cx="224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a:solidFill>
                  <a:srgbClr val="2C7A4B"/>
                </a:solidFill>
                <a:latin typeface="IBM Plex Mono"/>
                <a:ea typeface="IBM Plex Mono"/>
                <a:cs typeface="IBM Plex Mono"/>
              </a:rPr>
              <a:t>02</a:t>
            </a:r>
            <a:endParaRPr sz="3000"/>
          </a:p>
        </p:txBody>
      </p:sp>
      <p:sp>
        <p:nvSpPr>
          <p:cNvPr id="14" name="Text 12">
            <a:extLst xmlns:a="http://schemas.openxmlformats.org/drawingml/2006/main">
              <a:ext uri="{FF2B5EF4-FFF2-40B4-BE49-F238E27FC236}">
                <a16:creationId xmlns:a16="http://schemas.microsoft.com/office/drawing/2014/main" id="{7A12DC43-78DF-4D4B-A490-C3A802D2017E}"/>
              </a:ext>
            </a:extLst>
          </p:cNvPr>
          <p:cNvSpPr>
            <a:spLocks xmlns:a="http://schemas.openxmlformats.org/drawingml/2006/main" noGrp="1"/>
          </p:cNvSpPr>
          <p:nvPr/>
        </p:nvSpPr>
        <p:spPr>
          <a:xfrm xmlns:a="http://schemas.openxmlformats.org/drawingml/2006/main">
            <a:off x="3670300" y="2492970"/>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Test double и Moq</a:t>
            </a:r>
            <a:endParaRPr sz="1400"/>
          </a:p>
        </p:txBody>
      </p:sp>
      <p:sp>
        <p:nvSpPr>
          <p:cNvPr id="15" name="Text 13">
            <a:extLst xmlns:a="http://schemas.openxmlformats.org/drawingml/2006/main">
              <a:ext uri="{FF2B5EF4-FFF2-40B4-BE49-F238E27FC236}">
                <a16:creationId xmlns:a16="http://schemas.microsoft.com/office/drawing/2014/main" id="{AE25BF75-2BB2-4E00-9900-D0A295317AC5}"/>
              </a:ext>
            </a:extLst>
          </p:cNvPr>
          <p:cNvSpPr>
            <a:spLocks xmlns:a="http://schemas.openxmlformats.org/drawingml/2006/main" noGrp="1"/>
          </p:cNvSpPr>
          <p:nvPr/>
        </p:nvSpPr>
        <p:spPr>
          <a:xfrm xmlns:a="http://schemas.openxmlformats.org/drawingml/2006/main">
            <a:off x="3670300" y="2795191"/>
            <a:ext cx="224339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Врсте замена, када користити mock, Setup и Verify, стабилност теста.</a:t>
            </a:r>
            <a:endParaRPr sz="1200"/>
          </a:p>
        </p:txBody>
      </p:sp>
      <p:sp>
        <p:nvSpPr>
          <p:cNvPr id="16" name="Text 14">
            <a:extLst xmlns:a="http://schemas.openxmlformats.org/drawingml/2006/main">
              <a:ext uri="{FF2B5EF4-FFF2-40B4-BE49-F238E27FC236}">
                <a16:creationId xmlns:a16="http://schemas.microsoft.com/office/drawing/2014/main" id="{DA4FC95E-D0DC-4895-B2FF-2E39655896F8}"/>
              </a:ext>
            </a:extLst>
          </p:cNvPr>
          <p:cNvSpPr>
            <a:spLocks xmlns:a="http://schemas.openxmlformats.org/drawingml/2006/main" noGrp="1"/>
          </p:cNvSpPr>
          <p:nvPr/>
        </p:nvSpPr>
        <p:spPr>
          <a:xfrm xmlns:a="http://schemas.openxmlformats.org/drawingml/2006/main">
            <a:off x="3670300" y="3612952"/>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08–13</a:t>
            </a:r>
            <a:endParaRPr sz="1200"/>
          </a:p>
        </p:txBody>
      </p:sp>
      <p:sp>
        <p:nvSpPr>
          <p:cNvPr id="17" name="Shape 15">
            <a:extLst xmlns:a="http://schemas.openxmlformats.org/drawingml/2006/main">
              <a:ext uri="{FF2B5EF4-FFF2-40B4-BE49-F238E27FC236}">
                <a16:creationId xmlns:a16="http://schemas.microsoft.com/office/drawing/2014/main" id="{FB80BD92-58DA-404B-BAEB-BE9A1C0CF38B}"/>
              </a:ext>
            </a:extLst>
          </p:cNvPr>
          <p:cNvSpPr>
            <a:spLocks xmlns:a="http://schemas.openxmlformats.org/drawingml/2006/main" noGrp="1"/>
          </p:cNvSpPr>
          <p:nvPr/>
        </p:nvSpPr>
        <p:spPr>
          <a:xfrm xmlns:a="http://schemas.openxmlformats.org/drawingml/2006/main">
            <a:off x="6162675" y="1676995"/>
            <a:ext cx="2540000" cy="2330252"/>
          </a:xfrm>
          <a:prstGeom xmlns:a="http://schemas.openxmlformats.org/drawingml/2006/main" prst="roundRect">
            <a:avLst>
              <a:gd name="adj" fmla="val 4224"/>
            </a:avLst>
          </a:prstGeom>
          <a:solidFill xmlns:a="http://schemas.openxmlformats.org/drawingml/2006/main">
            <a:srgbClr val="FCFCFB"/>
          </a:solidFill>
          <a:ln xmlns:a="http://schemas.openxmlformats.org/drawingml/2006/main" w="6350">
            <a:solidFill>
              <a:srgbClr val="D3DAE1"/>
            </a:solidFill>
            <a:prstDash val="solid"/>
          </a:ln>
        </p:spPr>
      </p:sp>
      <p:sp>
        <p:nvSpPr>
          <p:cNvPr id="18" name="Shape 16">
            <a:extLst xmlns:a="http://schemas.openxmlformats.org/drawingml/2006/main">
              <a:ext uri="{FF2B5EF4-FFF2-40B4-BE49-F238E27FC236}">
                <a16:creationId xmlns:a16="http://schemas.microsoft.com/office/drawing/2014/main" id="{407D5099-AC33-40AB-BB72-E5E8DF85BDAF}"/>
              </a:ext>
            </a:extLst>
          </p:cNvPr>
          <p:cNvSpPr>
            <a:spLocks xmlns:a="http://schemas.openxmlformats.org/drawingml/2006/main" noGrp="1"/>
          </p:cNvSpPr>
          <p:nvPr/>
        </p:nvSpPr>
        <p:spPr>
          <a:xfrm xmlns:a="http://schemas.openxmlformats.org/drawingml/2006/main">
            <a:off x="6343650" y="1857970"/>
            <a:ext cx="355600" cy="38100"/>
          </a:xfrm>
          <a:prstGeom xmlns:a="http://schemas.openxmlformats.org/drawingml/2006/main" prst="roundRect">
            <a:avLst>
              <a:gd name="adj" fmla="val 50000"/>
            </a:avLst>
          </a:prstGeom>
          <a:solidFill xmlns:a="http://schemas.openxmlformats.org/drawingml/2006/main">
            <a:srgbClr val="2C7A4B"/>
          </a:solidFill>
        </p:spPr>
      </p:sp>
      <p:sp>
        <p:nvSpPr>
          <p:cNvPr id="19" name="Text 17">
            <a:extLst xmlns:a="http://schemas.openxmlformats.org/drawingml/2006/main">
              <a:ext uri="{FF2B5EF4-FFF2-40B4-BE49-F238E27FC236}">
                <a16:creationId xmlns:a16="http://schemas.microsoft.com/office/drawing/2014/main" id="{3A242993-6ACD-47CA-A242-E4E7B7135705}"/>
              </a:ext>
            </a:extLst>
          </p:cNvPr>
          <p:cNvSpPr>
            <a:spLocks xmlns:a="http://schemas.openxmlformats.org/drawingml/2006/main" noGrp="1"/>
          </p:cNvSpPr>
          <p:nvPr/>
        </p:nvSpPr>
        <p:spPr>
          <a:xfrm xmlns:a="http://schemas.openxmlformats.org/drawingml/2006/main">
            <a:off x="6343650" y="1984970"/>
            <a:ext cx="224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a:solidFill>
                  <a:srgbClr val="2C7A4B"/>
                </a:solidFill>
                <a:latin typeface="IBM Plex Mono"/>
                <a:ea typeface="IBM Plex Mono"/>
                <a:cs typeface="IBM Plex Mono"/>
              </a:rPr>
              <a:t>03</a:t>
            </a:r>
            <a:endParaRPr sz="3000"/>
          </a:p>
        </p:txBody>
      </p:sp>
      <p:sp>
        <p:nvSpPr>
          <p:cNvPr id="20" name="Text 18">
            <a:extLst xmlns:a="http://schemas.openxmlformats.org/drawingml/2006/main">
              <a:ext uri="{FF2B5EF4-FFF2-40B4-BE49-F238E27FC236}">
                <a16:creationId xmlns:a16="http://schemas.microsoft.com/office/drawing/2014/main" id="{C9314D5B-5CEA-4BF8-AE25-6095F1834FD6}"/>
              </a:ext>
            </a:extLst>
          </p:cNvPr>
          <p:cNvSpPr>
            <a:spLocks xmlns:a="http://schemas.openxmlformats.org/drawingml/2006/main" noGrp="1"/>
          </p:cNvSpPr>
          <p:nvPr/>
        </p:nvSpPr>
        <p:spPr>
          <a:xfrm xmlns:a="http://schemas.openxmlformats.org/drawingml/2006/main">
            <a:off x="6343650" y="2492970"/>
            <a:ext cx="2243392"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Сценарији и покривеност</a:t>
            </a:r>
            <a:endParaRPr sz="1400"/>
          </a:p>
        </p:txBody>
      </p:sp>
      <p:sp>
        <p:nvSpPr>
          <p:cNvPr id="21" name="Text 19">
            <a:extLst xmlns:a="http://schemas.openxmlformats.org/drawingml/2006/main">
              <a:ext uri="{FF2B5EF4-FFF2-40B4-BE49-F238E27FC236}">
                <a16:creationId xmlns:a16="http://schemas.microsoft.com/office/drawing/2014/main" id="{5CE30E59-6740-40C0-85A8-B38B93B299FA}"/>
              </a:ext>
            </a:extLst>
          </p:cNvPr>
          <p:cNvSpPr>
            <a:spLocks xmlns:a="http://schemas.openxmlformats.org/drawingml/2006/main" noGrp="1"/>
          </p:cNvSpPr>
          <p:nvPr/>
        </p:nvSpPr>
        <p:spPr>
          <a:xfrm xmlns:a="http://schemas.openxmlformats.org/drawingml/2006/main">
            <a:off x="6343650" y="3008511"/>
            <a:ext cx="2243392"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План тестирања, TestCase, coverage и анализа ризика.</a:t>
            </a:r>
            <a:endParaRPr sz="1200"/>
          </a:p>
        </p:txBody>
      </p:sp>
      <p:sp>
        <p:nvSpPr>
          <p:cNvPr id="22" name="Text 20">
            <a:extLst xmlns:a="http://schemas.openxmlformats.org/drawingml/2006/main">
              <a:ext uri="{FF2B5EF4-FFF2-40B4-BE49-F238E27FC236}">
                <a16:creationId xmlns:a16="http://schemas.microsoft.com/office/drawing/2014/main" id="{28DC8E46-95A4-4613-95D4-E04338A4B9B2}"/>
              </a:ext>
            </a:extLst>
          </p:cNvPr>
          <p:cNvSpPr>
            <a:spLocks xmlns:a="http://schemas.openxmlformats.org/drawingml/2006/main" noGrp="1"/>
          </p:cNvSpPr>
          <p:nvPr/>
        </p:nvSpPr>
        <p:spPr>
          <a:xfrm xmlns:a="http://schemas.openxmlformats.org/drawingml/2006/main">
            <a:off x="6343650" y="3612952"/>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14–21</a:t>
            </a:r>
            <a:endParaRPr sz="1200"/>
          </a:p>
        </p:txBody>
      </p:sp>
      <p:sp>
        <p:nvSpPr>
          <p:cNvPr id="23" name="Shape 21">
            <a:extLst xmlns:a="http://schemas.openxmlformats.org/drawingml/2006/main">
              <a:ext uri="{FF2B5EF4-FFF2-40B4-BE49-F238E27FC236}">
                <a16:creationId xmlns:a16="http://schemas.microsoft.com/office/drawing/2014/main" id="{35C4ADFE-742E-47B2-B27C-FCD2BBCD30B2}"/>
              </a:ext>
            </a:extLst>
          </p:cNvPr>
          <p:cNvSpPr>
            <a:spLocks xmlns:a="http://schemas.openxmlformats.org/drawingml/2006/main" noGrp="1"/>
          </p:cNvSpPr>
          <p:nvPr/>
        </p:nvSpPr>
        <p:spPr>
          <a:xfrm xmlns:a="http://schemas.openxmlformats.org/drawingml/2006/main">
            <a:off x="8836025" y="1676995"/>
            <a:ext cx="2540000" cy="2330252"/>
          </a:xfrm>
          <a:prstGeom xmlns:a="http://schemas.openxmlformats.org/drawingml/2006/main" prst="roundRect">
            <a:avLst>
              <a:gd name="adj" fmla="val 4224"/>
            </a:avLst>
          </a:prstGeom>
          <a:solidFill xmlns:a="http://schemas.openxmlformats.org/drawingml/2006/main">
            <a:srgbClr val="FCFCFB"/>
          </a:solidFill>
          <a:ln xmlns:a="http://schemas.openxmlformats.org/drawingml/2006/main" w="6350">
            <a:solidFill>
              <a:srgbClr val="D3DAE1"/>
            </a:solidFill>
            <a:prstDash val="solid"/>
          </a:ln>
        </p:spPr>
      </p:sp>
      <p:sp>
        <p:nvSpPr>
          <p:cNvPr id="24" name="Shape 22">
            <a:extLst xmlns:a="http://schemas.openxmlformats.org/drawingml/2006/main">
              <a:ext uri="{FF2B5EF4-FFF2-40B4-BE49-F238E27FC236}">
                <a16:creationId xmlns:a16="http://schemas.microsoft.com/office/drawing/2014/main" id="{E33D8DF3-CB8D-4620-8107-1E877F898632}"/>
              </a:ext>
            </a:extLst>
          </p:cNvPr>
          <p:cNvSpPr>
            <a:spLocks xmlns:a="http://schemas.openxmlformats.org/drawingml/2006/main" noGrp="1"/>
          </p:cNvSpPr>
          <p:nvPr/>
        </p:nvSpPr>
        <p:spPr>
          <a:xfrm xmlns:a="http://schemas.openxmlformats.org/drawingml/2006/main">
            <a:off x="9017000" y="1857970"/>
            <a:ext cx="355600" cy="38100"/>
          </a:xfrm>
          <a:prstGeom xmlns:a="http://schemas.openxmlformats.org/drawingml/2006/main" prst="roundRect">
            <a:avLst>
              <a:gd name="adj" fmla="val 50000"/>
            </a:avLst>
          </a:prstGeom>
          <a:solidFill xmlns:a="http://schemas.openxmlformats.org/drawingml/2006/main">
            <a:srgbClr val="E07B1F"/>
          </a:solidFill>
        </p:spPr>
      </p:sp>
      <p:sp>
        <p:nvSpPr>
          <p:cNvPr id="25" name="Text 23">
            <a:extLst xmlns:a="http://schemas.openxmlformats.org/drawingml/2006/main">
              <a:ext uri="{FF2B5EF4-FFF2-40B4-BE49-F238E27FC236}">
                <a16:creationId xmlns:a16="http://schemas.microsoft.com/office/drawing/2014/main" id="{22090E26-21C8-4589-BFDC-93D5AB36042B}"/>
              </a:ext>
            </a:extLst>
          </p:cNvPr>
          <p:cNvSpPr>
            <a:spLocks xmlns:a="http://schemas.openxmlformats.org/drawingml/2006/main" noGrp="1"/>
          </p:cNvSpPr>
          <p:nvPr/>
        </p:nvSpPr>
        <p:spPr>
          <a:xfrm xmlns:a="http://schemas.openxmlformats.org/drawingml/2006/main">
            <a:off x="9017000" y="1984970"/>
            <a:ext cx="224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a:solidFill>
                  <a:srgbClr val="2C7A4B"/>
                </a:solidFill>
                <a:latin typeface="IBM Plex Mono"/>
                <a:ea typeface="IBM Plex Mono"/>
                <a:cs typeface="IBM Plex Mono"/>
              </a:rPr>
              <a:t>04</a:t>
            </a:r>
            <a:endParaRPr sz="3000"/>
          </a:p>
        </p:txBody>
      </p:sp>
      <p:sp>
        <p:nvSpPr>
          <p:cNvPr id="26" name="Text 24">
            <a:extLst xmlns:a="http://schemas.openxmlformats.org/drawingml/2006/main">
              <a:ext uri="{FF2B5EF4-FFF2-40B4-BE49-F238E27FC236}">
                <a16:creationId xmlns:a16="http://schemas.microsoft.com/office/drawing/2014/main" id="{3A20090E-EBD3-4E63-9F38-5FCBC8F2E8F8}"/>
              </a:ext>
            </a:extLst>
          </p:cNvPr>
          <p:cNvSpPr>
            <a:spLocks xmlns:a="http://schemas.openxmlformats.org/drawingml/2006/main" noGrp="1"/>
          </p:cNvSpPr>
          <p:nvPr/>
        </p:nvSpPr>
        <p:spPr>
          <a:xfrm xmlns:a="http://schemas.openxmlformats.org/drawingml/2006/main">
            <a:off x="9017000" y="2492970"/>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Регресија и </a:t>
            </a:r>
            <a:r>
              <a:rPr sz="1400" b="1">
                <a:solidFill>
                  <a:srgbClr val="13202D"/>
                </a:solidFill>
                <a:latin typeface="IBM Plex Sans"/>
                <a:ea typeface="IBM Plex Sans"/>
                <a:cs typeface="IBM Plex Sans"/>
              </a:rPr>
              <a:t>КТ1</a:t>
            </a:r>
            <a:endParaRPr sz="1400"/>
          </a:p>
        </p:txBody>
      </p:sp>
      <p:sp>
        <p:nvSpPr>
          <p:cNvPr id="27" name="Text 25">
            <a:extLst xmlns:a="http://schemas.openxmlformats.org/drawingml/2006/main">
              <a:ext uri="{FF2B5EF4-FFF2-40B4-BE49-F238E27FC236}">
                <a16:creationId xmlns:a16="http://schemas.microsoft.com/office/drawing/2014/main" id="{0205FFC7-BA7E-461F-A5F2-7CF39C00E0B9}"/>
              </a:ext>
            </a:extLst>
          </p:cNvPr>
          <p:cNvSpPr>
            <a:spLocks xmlns:a="http://schemas.openxmlformats.org/drawingml/2006/main" noGrp="1"/>
          </p:cNvSpPr>
          <p:nvPr/>
        </p:nvSpPr>
        <p:spPr>
          <a:xfrm xmlns:a="http://schemas.openxmlformats.org/drawingml/2006/main">
            <a:off x="9017000" y="2795191"/>
            <a:ext cx="224339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Репродукција грешке, manual-core-baseline, AI задатак и припрема.</a:t>
            </a:r>
            <a:endParaRPr sz="1200"/>
          </a:p>
        </p:txBody>
      </p:sp>
      <p:sp>
        <p:nvSpPr>
          <p:cNvPr id="28" name="Text 26">
            <a:extLst xmlns:a="http://schemas.openxmlformats.org/drawingml/2006/main">
              <a:ext uri="{FF2B5EF4-FFF2-40B4-BE49-F238E27FC236}">
                <a16:creationId xmlns:a16="http://schemas.microsoft.com/office/drawing/2014/main" id="{3DA1D70F-EF50-4215-88EB-28CDA5002B52}"/>
              </a:ext>
            </a:extLst>
          </p:cNvPr>
          <p:cNvSpPr>
            <a:spLocks xmlns:a="http://schemas.openxmlformats.org/drawingml/2006/main" noGrp="1"/>
          </p:cNvSpPr>
          <p:nvPr/>
        </p:nvSpPr>
        <p:spPr>
          <a:xfrm xmlns:a="http://schemas.openxmlformats.org/drawingml/2006/main">
            <a:off x="9017000" y="3612952"/>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22–28</a:t>
            </a:r>
            <a:endParaRPr sz="1200"/>
          </a:p>
        </p:txBody>
      </p:sp>
      <p:sp>
        <p:nvSpPr>
          <p:cNvPr id="29" name="Text 27">
            <a:extLst xmlns:a="http://schemas.openxmlformats.org/drawingml/2006/main">
              <a:ext uri="{FF2B5EF4-FFF2-40B4-BE49-F238E27FC236}">
                <a16:creationId xmlns:a16="http://schemas.microsoft.com/office/drawing/2014/main" id="{293EEC35-F5D0-44F8-A9A5-D8304E989C42}"/>
              </a:ext>
            </a:extLst>
          </p:cNvPr>
          <p:cNvSpPr>
            <a:spLocks xmlns:a="http://schemas.openxmlformats.org/drawingml/2006/main" noGrp="1"/>
          </p:cNvSpPr>
          <p:nvPr/>
        </p:nvSpPr>
        <p:spPr>
          <a:xfrm xmlns:a="http://schemas.openxmlformats.org/drawingml/2006/main">
            <a:off x="812800" y="4264422"/>
            <a:ext cx="10566400" cy="416520"/>
          </a:xfrm>
          <a:prstGeom xmlns:a="http://schemas.openxmlformats.org/drawingml/2006/main" prst="roundRect">
            <a:avLst>
              <a:gd name="adj" fmla="val 18294"/>
            </a:avLst>
          </a:prstGeom>
          <a:solidFill xmlns:a="http://schemas.openxmlformats.org/drawingml/2006/main">
            <a:srgbClr val="E5ECE7"/>
          </a:solidFill>
        </p:spPr>
        <p:txBody>
          <a:bodyPr xmlns:a="http://schemas.openxmlformats.org/drawingml/2006/main" wrap="square" lIns="130082" tIns="79282" rIns="0" bIns="53882" anchor="t">
            <a:normAutofit/>
          </a:bodyPr>
          <a:lstStyle xmlns:a="http://schemas.openxmlformats.org/drawingml/2006/main"/>
          <a:p xmlns:a="http://schemas.openxmlformats.org/drawingml/2006/main">
            <a:pPr marL="0" indent="0" algn="l">
              <a:lnSpc>
                <a:spcPts val="1680"/>
              </a:lnSpc>
              <a:buNone/>
            </a:pPr>
            <a:r>
              <a:rPr sz="1200" b="1">
                <a:solidFill>
                  <a:srgbClr val="44505D"/>
                </a:solidFill>
                <a:latin typeface="IBM Plex Sans"/>
                <a:ea typeface="IBM Plex Sans"/>
                <a:cs typeface="IBM Plex Sans"/>
              </a:rPr>
              <a:t>Увод</a:t>
            </a:r>
            <a:r>
              <a:rPr sz="1200">
                <a:solidFill>
                  <a:srgbClr val="44505D"/>
                </a:solidFill>
                <a:latin typeface="IBM Plex Sans"/>
                <a:ea typeface="IBM Plex Sans"/>
                <a:cs typeface="IBM Plex Sans"/>
              </a:rPr>
              <a:t> · пројектовање тестабилног кода (03)</a:t>
            </a:r>
            <a:endParaRPr sz="1200"/>
          </a:p>
        </p:txBody>
      </p:sp>
      <p:sp>
        <p:nvSpPr>
          <p:cNvPr id="30" name="Shape 28">
            <a:extLst xmlns:a="http://schemas.openxmlformats.org/drawingml/2006/main">
              <a:ext uri="{FF2B5EF4-FFF2-40B4-BE49-F238E27FC236}">
                <a16:creationId xmlns:a16="http://schemas.microsoft.com/office/drawing/2014/main" id="{29A1F8E3-712A-40DF-BD72-E7A26982F4C3}"/>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31" name="Text 29">
            <a:extLst xmlns:a="http://schemas.openxmlformats.org/drawingml/2006/main">
              <a:ext uri="{FF2B5EF4-FFF2-40B4-BE49-F238E27FC236}">
                <a16:creationId xmlns:a16="http://schemas.microsoft.com/office/drawing/2014/main" id="{FCD6D58C-4F8C-4FC3-B60A-9D3F39C2AEE9}"/>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32" name="Text 30">
            <a:extLst xmlns:a="http://schemas.openxmlformats.org/drawingml/2006/main">
              <a:ext uri="{FF2B5EF4-FFF2-40B4-BE49-F238E27FC236}">
                <a16:creationId xmlns:a16="http://schemas.microsoft.com/office/drawing/2014/main" id="{A4D99A8D-2180-41E8-AC74-AD0E2416AEFB}"/>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02</a:t>
            </a:r>
            <a:endParaRPr sz="1200"/>
          </a:p>
        </p:txBody>
      </p:sp>
    </p:spTree>
    <p:extLst>
      <p:ext uri="{BB962C8B-B14F-4D97-AF65-F5344CB8AC3E}">
        <p14:creationId xmlns:p14="http://schemas.microsoft.com/office/powerpoint/2010/main" val="132854286"/>
      </p:ext>
    </p:extLst>
  </p:cSld>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Пројектовање тестабилног кода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Раздвајање одговорности, јасни уговори и убризгавање зависности омогућавају контролисано тестирање.</a:t>
            </a:r>
            <a:endParaRPr lang="en-US" sz="1400" dirty="0"/>
          </a:p>
        </p:txBody>
      </p:sp>
      <p:sp>
        <p:nvSpPr>
          <p:cNvPr id="6" name="Shape 4"/>
          <p:cNvSpPr/>
          <p:nvPr/>
        </p:nvSpPr>
        <p:spPr>
          <a:xfrm>
            <a:off x="815975" y="2179836"/>
            <a:ext cx="2379266" cy="1723231"/>
          </a:xfrm>
          <a:prstGeom prst="roundRect">
            <a:avLst>
              <a:gd name="adj" fmla="val 5712"/>
            </a:avLst>
          </a:prstGeom>
          <a:solidFill>
            <a:srgbClr val="FCFCFB"/>
          </a:solidFill>
          <a:ln w="6350">
            <a:solidFill>
              <a:srgbClr val="D3DAE1"/>
            </a:solidFill>
            <a:prstDash val="solid"/>
          </a:ln>
        </p:spPr>
      </p:sp>
      <p:sp>
        <p:nvSpPr>
          <p:cNvPr id="7" name="Shape 5"/>
          <p:cNvSpPr/>
          <p:nvPr/>
        </p:nvSpPr>
        <p:spPr>
          <a:xfrm>
            <a:off x="984250" y="2348111"/>
            <a:ext cx="355600" cy="355600"/>
          </a:xfrm>
          <a:prstGeom prst="roundRect">
            <a:avLst>
              <a:gd name="adj" fmla="val 21429"/>
            </a:avLst>
          </a:prstGeom>
          <a:solidFill>
            <a:srgbClr val="E1ECE6"/>
          </a:solidFill>
          <a:ln/>
        </p:spPr>
      </p:sp>
      <p:pic>
        <p:nvPicPr>
          <p:cNvPr id="8" name="Image 0" descr="Tool">    </p:cNvPr>
          <p:cNvPicPr>
            <a:picLocks noChangeAspect="1"/>
          </p:cNvPicPr>
          <p:nvPr/>
        </p:nvPicPr>
        <p:blipFill>
          <a:blip r:embed="rId1"/>
          <a:srcRect l="0" r="0" t="0" b="0"/>
          <a:stretch/>
        </p:blipFill>
        <p:spPr>
          <a:xfrm>
            <a:off x="1060450" y="2424311"/>
            <a:ext cx="203200" cy="203200"/>
          </a:xfrm>
          <a:prstGeom prst="rect">
            <a:avLst/>
          </a:prstGeom>
        </p:spPr>
      </p:pic>
      <p:sp>
        <p:nvSpPr>
          <p:cNvPr id="9" name="Text 6"/>
          <p:cNvSpPr/>
          <p:nvPr/>
        </p:nvSpPr>
        <p:spPr>
          <a:xfrm>
            <a:off x="984250" y="2792611"/>
            <a:ext cx="2103997"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Раздвајање одговорности</a:t>
            </a:r>
            <a:endParaRPr lang="en-US" sz="1400" dirty="0"/>
          </a:p>
        </p:txBody>
      </p:sp>
      <p:sp>
        <p:nvSpPr>
          <p:cNvPr id="10" name="Text 7"/>
          <p:cNvSpPr/>
          <p:nvPr/>
        </p:nvSpPr>
        <p:spPr>
          <a:xfrm>
            <a:off x="984250" y="3308152"/>
            <a:ext cx="210399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мала јединица са једном улогом</a:t>
            </a:r>
            <a:endParaRPr lang="en-US" sz="1200" dirty="0"/>
          </a:p>
        </p:txBody>
      </p:sp>
      <p:sp>
        <p:nvSpPr>
          <p:cNvPr id="11" name="Text 8"/>
          <p:cNvSpPr/>
          <p:nvPr/>
        </p:nvSpPr>
        <p:spPr>
          <a:xfrm>
            <a:off x="3287316" y="2845891"/>
            <a:ext cx="2184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1CEBC"/>
                </a:solidFill>
                <a:latin typeface="IBM Plex Sans" pitchFamily="34" charset="0"/>
                <a:ea typeface="IBM Plex Sans" pitchFamily="34" charset="-122"/>
                <a:cs typeface="IBM Plex Sans" pitchFamily="34" charset="-120"/>
              </a:rPr>
              <a:t>+</a:t>
            </a:r>
            <a:endParaRPr lang="en-US" sz="2200" dirty="0"/>
          </a:p>
        </p:txBody>
      </p:sp>
      <p:sp>
        <p:nvSpPr>
          <p:cNvPr id="12" name="Shape 9"/>
          <p:cNvSpPr/>
          <p:nvPr/>
        </p:nvSpPr>
        <p:spPr>
          <a:xfrm>
            <a:off x="3547070" y="2179836"/>
            <a:ext cx="2379365" cy="1723231"/>
          </a:xfrm>
          <a:prstGeom prst="roundRect">
            <a:avLst>
              <a:gd name="adj" fmla="val 5712"/>
            </a:avLst>
          </a:prstGeom>
          <a:solidFill>
            <a:srgbClr val="FCFCFB"/>
          </a:solidFill>
          <a:ln w="6350">
            <a:solidFill>
              <a:srgbClr val="D3DAE1"/>
            </a:solidFill>
            <a:prstDash val="solid"/>
          </a:ln>
        </p:spPr>
      </p:sp>
      <p:sp>
        <p:nvSpPr>
          <p:cNvPr id="13" name="Shape 10"/>
          <p:cNvSpPr/>
          <p:nvPr/>
        </p:nvSpPr>
        <p:spPr>
          <a:xfrm>
            <a:off x="3715345" y="2348111"/>
            <a:ext cx="355600" cy="355600"/>
          </a:xfrm>
          <a:prstGeom prst="roundRect">
            <a:avLst>
              <a:gd name="adj" fmla="val 21429"/>
            </a:avLst>
          </a:prstGeom>
          <a:solidFill>
            <a:srgbClr val="E1ECE6"/>
          </a:solidFill>
          <a:ln/>
        </p:spPr>
      </p:sp>
      <p:pic>
        <p:nvPicPr>
          <p:cNvPr id="14" name="Image 1" descr="Link">    </p:cNvPr>
          <p:cNvPicPr>
            <a:picLocks noChangeAspect="1"/>
          </p:cNvPicPr>
          <p:nvPr/>
        </p:nvPicPr>
        <p:blipFill>
          <a:blip r:embed="rId2"/>
          <a:srcRect l="0" r="0" t="0" b="0"/>
          <a:stretch/>
        </p:blipFill>
        <p:spPr>
          <a:xfrm>
            <a:off x="3791545" y="2424311"/>
            <a:ext cx="203200" cy="203200"/>
          </a:xfrm>
          <a:prstGeom prst="rect">
            <a:avLst/>
          </a:prstGeom>
        </p:spPr>
      </p:pic>
      <p:sp>
        <p:nvSpPr>
          <p:cNvPr id="15" name="Text 11"/>
          <p:cNvSpPr/>
          <p:nvPr/>
        </p:nvSpPr>
        <p:spPr>
          <a:xfrm>
            <a:off x="3715345" y="2792611"/>
            <a:ext cx="21040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Јасни уговори</a:t>
            </a:r>
            <a:endParaRPr lang="en-US" sz="1400" dirty="0"/>
          </a:p>
        </p:txBody>
      </p:sp>
      <p:sp>
        <p:nvSpPr>
          <p:cNvPr id="16" name="Text 12"/>
          <p:cNvSpPr/>
          <p:nvPr/>
        </p:nvSpPr>
        <p:spPr>
          <a:xfrm>
            <a:off x="3715345" y="3094831"/>
            <a:ext cx="21040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граница коју тест може да замени</a:t>
            </a:r>
            <a:endParaRPr lang="en-US" sz="1200" dirty="0"/>
          </a:p>
        </p:txBody>
      </p:sp>
      <p:sp>
        <p:nvSpPr>
          <p:cNvPr id="17" name="Text 13"/>
          <p:cNvSpPr/>
          <p:nvPr/>
        </p:nvSpPr>
        <p:spPr>
          <a:xfrm>
            <a:off x="6018510" y="2845891"/>
            <a:ext cx="2184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1CEBC"/>
                </a:solidFill>
                <a:latin typeface="IBM Plex Sans" pitchFamily="34" charset="0"/>
                <a:ea typeface="IBM Plex Sans" pitchFamily="34" charset="-122"/>
                <a:cs typeface="IBM Plex Sans" pitchFamily="34" charset="-120"/>
              </a:rPr>
              <a:t>+</a:t>
            </a:r>
            <a:endParaRPr lang="en-US" sz="2200" dirty="0"/>
          </a:p>
        </p:txBody>
      </p:sp>
      <p:sp>
        <p:nvSpPr>
          <p:cNvPr id="18" name="Shape 14"/>
          <p:cNvSpPr/>
          <p:nvPr/>
        </p:nvSpPr>
        <p:spPr>
          <a:xfrm>
            <a:off x="6278265" y="2179836"/>
            <a:ext cx="2379266" cy="1723231"/>
          </a:xfrm>
          <a:prstGeom prst="roundRect">
            <a:avLst>
              <a:gd name="adj" fmla="val 5712"/>
            </a:avLst>
          </a:prstGeom>
          <a:solidFill>
            <a:srgbClr val="FCFCFB"/>
          </a:solidFill>
          <a:ln w="6350">
            <a:solidFill>
              <a:srgbClr val="D3DAE1"/>
            </a:solidFill>
            <a:prstDash val="solid"/>
          </a:ln>
        </p:spPr>
      </p:sp>
      <p:sp>
        <p:nvSpPr>
          <p:cNvPr id="19" name="Shape 15"/>
          <p:cNvSpPr/>
          <p:nvPr/>
        </p:nvSpPr>
        <p:spPr>
          <a:xfrm>
            <a:off x="6446540" y="2348111"/>
            <a:ext cx="355600" cy="355600"/>
          </a:xfrm>
          <a:prstGeom prst="roundRect">
            <a:avLst>
              <a:gd name="adj" fmla="val 21429"/>
            </a:avLst>
          </a:prstGeom>
          <a:solidFill>
            <a:srgbClr val="E1ECE6"/>
          </a:solidFill>
          <a:ln/>
        </p:spPr>
      </p:sp>
      <p:pic>
        <p:nvPicPr>
          <p:cNvPr id="20" name="Image 2" descr="Wrench">    </p:cNvPr>
          <p:cNvPicPr>
            <a:picLocks noChangeAspect="1"/>
          </p:cNvPicPr>
          <p:nvPr/>
        </p:nvPicPr>
        <p:blipFill>
          <a:blip r:embed="rId3"/>
          <a:srcRect l="0" r="0" t="0" b="0"/>
          <a:stretch/>
        </p:blipFill>
        <p:spPr>
          <a:xfrm>
            <a:off x="6522740" y="2424311"/>
            <a:ext cx="203200" cy="203200"/>
          </a:xfrm>
          <a:prstGeom prst="rect">
            <a:avLst/>
          </a:prstGeom>
        </p:spPr>
      </p:pic>
      <p:sp>
        <p:nvSpPr>
          <p:cNvPr id="21" name="Text 16"/>
          <p:cNvSpPr/>
          <p:nvPr/>
        </p:nvSpPr>
        <p:spPr>
          <a:xfrm>
            <a:off x="6446540" y="2792611"/>
            <a:ext cx="21039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Dependency injection</a:t>
            </a:r>
            <a:endParaRPr lang="en-US" sz="1400" dirty="0"/>
          </a:p>
        </p:txBody>
      </p:sp>
      <p:sp>
        <p:nvSpPr>
          <p:cNvPr id="22" name="Text 17"/>
          <p:cNvSpPr/>
          <p:nvPr/>
        </p:nvSpPr>
        <p:spPr>
          <a:xfrm>
            <a:off x="6446540" y="3094831"/>
            <a:ext cx="21039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зависности стижу споља</a:t>
            </a:r>
            <a:endParaRPr lang="en-US" sz="1200" dirty="0"/>
          </a:p>
        </p:txBody>
      </p:sp>
      <p:sp>
        <p:nvSpPr>
          <p:cNvPr id="23" name="Text 18"/>
          <p:cNvSpPr/>
          <p:nvPr/>
        </p:nvSpPr>
        <p:spPr>
          <a:xfrm>
            <a:off x="8749605" y="2845891"/>
            <a:ext cx="2184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1CEBC"/>
                </a:solidFill>
                <a:latin typeface="IBM Plex Sans" pitchFamily="34" charset="0"/>
                <a:ea typeface="IBM Plex Sans" pitchFamily="34" charset="-122"/>
                <a:cs typeface="IBM Plex Sans" pitchFamily="34" charset="-120"/>
              </a:rPr>
              <a:t>=</a:t>
            </a:r>
            <a:endParaRPr lang="en-US" sz="2200" dirty="0"/>
          </a:p>
        </p:txBody>
      </p:sp>
      <p:sp>
        <p:nvSpPr>
          <p:cNvPr id="24" name="Shape 19"/>
          <p:cNvSpPr/>
          <p:nvPr/>
        </p:nvSpPr>
        <p:spPr>
          <a:xfrm>
            <a:off x="9006185" y="2176661"/>
            <a:ext cx="2373015" cy="1729581"/>
          </a:xfrm>
          <a:prstGeom prst="roundRect">
            <a:avLst>
              <a:gd name="adj" fmla="val 5874"/>
            </a:avLst>
          </a:prstGeom>
          <a:solidFill>
            <a:srgbClr val="2C7A4B"/>
          </a:solidFill>
          <a:ln/>
        </p:spPr>
      </p:sp>
      <p:sp>
        <p:nvSpPr>
          <p:cNvPr id="25" name="Shape 20"/>
          <p:cNvSpPr/>
          <p:nvPr/>
        </p:nvSpPr>
        <p:spPr>
          <a:xfrm>
            <a:off x="9171285" y="2341761"/>
            <a:ext cx="355600" cy="355600"/>
          </a:xfrm>
          <a:prstGeom prst="roundRect">
            <a:avLst>
              <a:gd name="adj" fmla="val 21429"/>
            </a:avLst>
          </a:prstGeom>
          <a:solidFill>
            <a:srgbClr val="FCFCFB"/>
          </a:solidFill>
          <a:ln/>
        </p:spPr>
      </p:sp>
      <p:pic>
        <p:nvPicPr>
          <p:cNvPr id="26" name="Image 3" descr="CheckCircle">    </p:cNvPr>
          <p:cNvPicPr>
            <a:picLocks noChangeAspect="1"/>
          </p:cNvPicPr>
          <p:nvPr/>
        </p:nvPicPr>
        <p:blipFill>
          <a:blip r:embed="rId4"/>
          <a:srcRect l="0" r="0" t="0" b="0"/>
          <a:stretch/>
        </p:blipFill>
        <p:spPr>
          <a:xfrm>
            <a:off x="9247485" y="2417961"/>
            <a:ext cx="203200" cy="203200"/>
          </a:xfrm>
          <a:prstGeom prst="rect">
            <a:avLst/>
          </a:prstGeom>
        </p:spPr>
      </p:pic>
      <p:sp>
        <p:nvSpPr>
          <p:cNvPr id="27" name="Text 21"/>
          <p:cNvSpPr/>
          <p:nvPr/>
        </p:nvSpPr>
        <p:spPr>
          <a:xfrm>
            <a:off x="9171285" y="2786261"/>
            <a:ext cx="21040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Sans" pitchFamily="34" charset="0"/>
                <a:ea typeface="IBM Plex Sans" pitchFamily="34" charset="-122"/>
                <a:cs typeface="IBM Plex Sans" pitchFamily="34" charset="-120"/>
              </a:rPr>
              <a:t>Изолован тест</a:t>
            </a:r>
            <a:endParaRPr lang="en-US" sz="1400" dirty="0"/>
          </a:p>
        </p:txBody>
      </p:sp>
      <p:sp>
        <p:nvSpPr>
          <p:cNvPr id="28" name="Text 22"/>
          <p:cNvSpPr/>
          <p:nvPr/>
        </p:nvSpPr>
        <p:spPr>
          <a:xfrm>
            <a:off x="9171285" y="3088481"/>
            <a:ext cx="21040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1ECE6"/>
                </a:solidFill>
                <a:latin typeface="IBM Plex Sans" pitchFamily="34" charset="0"/>
                <a:ea typeface="IBM Plex Sans" pitchFamily="34" charset="-122"/>
                <a:cs typeface="IBM Plex Sans" pitchFamily="34" charset="-120"/>
              </a:rPr>
              <a:t>изоловано и детерминистички</a:t>
            </a:r>
            <a:endParaRPr lang="en-US" sz="1200" dirty="0"/>
          </a:p>
        </p:txBody>
      </p:sp>
      <p:sp>
        <p:nvSpPr>
          <p:cNvPr id="29" name="Shape 23"/>
          <p:cNvSpPr/>
          <p:nvPr/>
        </p:nvSpPr>
        <p:spPr>
          <a:xfrm>
            <a:off x="812800" y="4160242"/>
            <a:ext cx="10566400" cy="783530"/>
          </a:xfrm>
          <a:prstGeom prst="roundRect">
            <a:avLst>
              <a:gd name="adj" fmla="val 12967"/>
            </a:avLst>
          </a:prstGeom>
          <a:solidFill>
            <a:srgbClr val="E5ECE7"/>
          </a:solidFill>
          <a:ln/>
        </p:spPr>
      </p:sp>
      <p:sp>
        <p:nvSpPr>
          <p:cNvPr id="30" name="Shape 24"/>
          <p:cNvSpPr/>
          <p:nvPr/>
        </p:nvSpPr>
        <p:spPr>
          <a:xfrm>
            <a:off x="812800" y="416024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2C7A4B"/>
          </a:solidFill>
          <a:ln/>
        </p:spPr>
      </p:sp>
      <p:sp>
        <p:nvSpPr>
          <p:cNvPr id="31" name="Text 25"/>
          <p:cNvSpPr/>
          <p:nvPr/>
        </p:nvSpPr>
        <p:spPr>
          <a:xfrm>
            <a:off x="1054100" y="431264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32" name="Text 26"/>
          <p:cNvSpPr/>
          <p:nvPr/>
        </p:nvSpPr>
        <p:spPr>
          <a:xfrm>
            <a:off x="1054100" y="455136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Тестови обезбеђују повратну информацију о квалитету архитектонских граница.</a:t>
            </a:r>
            <a:endParaRPr lang="en-US" sz="1400" dirty="0"/>
          </a:p>
        </p:txBody>
      </p:sp>
      <p:sp>
        <p:nvSpPr>
          <p:cNvPr id="33" name="Shape 27"/>
          <p:cNvSpPr/>
          <p:nvPr/>
        </p:nvSpPr>
        <p:spPr>
          <a:xfrm>
            <a:off x="812800" y="6209705"/>
            <a:ext cx="10566400" cy="0"/>
          </a:xfrm>
          <a:prstGeom prst="line">
            <a:avLst/>
          </a:prstGeom>
          <a:noFill/>
          <a:ln w="6350">
            <a:solidFill>
              <a:srgbClr val="D3DAE1"/>
            </a:solidFill>
            <a:prstDash val="solid"/>
          </a:ln>
        </p:spPr>
      </p:sp>
      <p:sp>
        <p:nvSpPr>
          <p:cNvPr id="34" name="Text 2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5"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ECE7"/>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2C7A4B"/>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34126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ПРВИ ДЕО</a:t>
            </a:r>
            <a:endParaRPr lang="en-US" sz="1200" dirty="0"/>
          </a:p>
        </p:txBody>
      </p:sp>
      <p:sp>
        <p:nvSpPr>
          <p:cNvPr id="4" name="Text 2"/>
          <p:cNvSpPr/>
          <p:nvPr>
            <p:ph type="title"/>
          </p:nvPr>
        </p:nvSpPr>
        <p:spPr>
          <a:xfrm>
            <a:off x="4267200" y="273238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Структура теста</a:t>
            </a:r>
            <a:endParaRPr lang="en-US" sz="4800" dirty="0"/>
          </a:p>
        </p:txBody>
      </p:sp>
      <p:sp>
        <p:nvSpPr>
          <p:cNvPr id="5" name="Text 3"/>
          <p:cNvSpPr/>
          <p:nvPr/>
        </p:nvSpPr>
        <p:spPr>
          <a:xfrm>
            <a:off x="4267200" y="3550245"/>
            <a:ext cx="627888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Како се тест чита, како се пише и шта тачно проверава.</a:t>
            </a:r>
            <a:endParaRPr lang="en-US" sz="1400" dirty="0"/>
          </a:p>
        </p:txBody>
      </p:sp>
      <p:sp>
        <p:nvSpPr>
          <p:cNvPr id="6" name="Text 4"/>
          <p:cNvSpPr/>
          <p:nvPr/>
        </p:nvSpPr>
        <p:spPr>
          <a:xfrm>
            <a:off x="4270375" y="3988991"/>
            <a:ext cx="1160066"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Test Explorer</a:t>
            </a:r>
            <a:endParaRPr lang="en-US" sz="1200" dirty="0"/>
          </a:p>
        </p:txBody>
      </p:sp>
      <p:sp>
        <p:nvSpPr>
          <p:cNvPr id="7" name="Text 5"/>
          <p:cNvSpPr/>
          <p:nvPr/>
        </p:nvSpPr>
        <p:spPr>
          <a:xfrm>
            <a:off x="5512991" y="3988991"/>
            <a:ext cx="1619052"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Arrange, Act, Assert</a:t>
            </a:r>
            <a:endParaRPr lang="en-US" sz="1200" dirty="0"/>
          </a:p>
        </p:txBody>
      </p:sp>
      <p:sp>
        <p:nvSpPr>
          <p:cNvPr id="8" name="Text 6"/>
          <p:cNvSpPr/>
          <p:nvPr/>
        </p:nvSpPr>
        <p:spPr>
          <a:xfrm>
            <a:off x="7214592" y="3988991"/>
            <a:ext cx="1118691"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Назив теста</a:t>
            </a:r>
            <a:endParaRPr lang="en-US" sz="1200" dirty="0"/>
          </a:p>
        </p:txBody>
      </p:sp>
      <p:sp>
        <p:nvSpPr>
          <p:cNvPr id="9" name="Text 7"/>
          <p:cNvSpPr/>
          <p:nvPr/>
        </p:nvSpPr>
        <p:spPr>
          <a:xfrm>
            <a:off x="8415834" y="3988991"/>
            <a:ext cx="1742182"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Негативни сценарио</a:t>
            </a:r>
            <a:endParaRPr lang="en-US" sz="1200" dirty="0"/>
          </a:p>
        </p:txBody>
      </p:sp>
      <p:sp>
        <p:nvSpPr>
          <p:cNvPr id="10" name="Shape 8"/>
          <p:cNvSpPr/>
          <p:nvPr/>
        </p:nvSpPr>
        <p:spPr>
          <a:xfrm>
            <a:off x="812800" y="6209705"/>
            <a:ext cx="10566400" cy="0"/>
          </a:xfrm>
          <a:prstGeom prst="line">
            <a:avLst/>
          </a:prstGeom>
          <a:noFill/>
          <a:ln w="6350">
            <a:solidFill>
              <a:srgbClr val="B3C4C1"/>
            </a:solidFill>
            <a:prstDash val="solid"/>
          </a:ln>
        </p:spPr>
      </p:sp>
      <p:sp>
        <p:nvSpPr>
          <p:cNvPr id="11"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01 · СТРУКТУРА ТЕСТА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Тумачење резултата у Test Explorer-у</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Неуспешан тест усмерава дијагностику, а укупан пролаз потврђује само извршене сценарије.</a:t>
            </a:r>
            <a:endParaRPr lang="en-US" sz="1400" dirty="0"/>
          </a:p>
        </p:txBody>
      </p:sp>
      <p:sp>
        <p:nvSpPr>
          <p:cNvPr id="6" name="Shape 4"/>
          <p:cNvSpPr/>
          <p:nvPr/>
        </p:nvSpPr>
        <p:spPr>
          <a:xfrm>
            <a:off x="815975" y="2078236"/>
            <a:ext cx="5708650" cy="2537222"/>
          </a:xfrm>
          <a:prstGeom prst="roundRect">
            <a:avLst>
              <a:gd name="adj" fmla="val 3879"/>
            </a:avLst>
          </a:prstGeom>
          <a:solidFill>
            <a:srgbClr val="FCFCFB"/>
          </a:solidFill>
          <a:ln w="6350">
            <a:solidFill>
              <a:srgbClr val="D3DAE1"/>
            </a:solidFill>
            <a:prstDash val="solid"/>
          </a:ln>
        </p:spPr>
      </p:sp>
      <p:sp>
        <p:nvSpPr>
          <p:cNvPr id="7" name="Shape 5"/>
          <p:cNvSpPr/>
          <p:nvPr/>
        </p:nvSpPr>
        <p:spPr>
          <a:xfrm>
            <a:off x="819150" y="2081411"/>
            <a:ext cx="5702300" cy="441920"/>
          </a:xfrm>
          <a:custGeom>
            <a:avLst/>
            <a:gdLst/>
            <a:ahLst/>
            <a:cxnLst/>
            <a:rect l="l" t="t" r="r" b="b"/>
            <a:pathLst>
              <a:path w="5702300" h="441920">
                <a:moveTo>
                  <a:pt x="0" y="95250"/>
                </a:moveTo>
                <a:arcTo hR="95250" wR="95250" stAng="10800000" swAng="5400000"/>
                <a:lnTo>
                  <a:pt x="5607050" y="0"/>
                </a:lnTo>
                <a:arcTo hR="95250" wR="95250" stAng="16200000" swAng="5400000"/>
                <a:lnTo>
                  <a:pt x="5702300" y="441920"/>
                </a:lnTo>
                <a:lnTo>
                  <a:pt x="0" y="441920"/>
                </a:lnTo>
                <a:close/>
              </a:path>
            </a:pathLst>
          </a:custGeom>
          <a:solidFill>
            <a:srgbClr val="E5ECE7"/>
          </a:solidFill>
          <a:ln/>
        </p:spPr>
      </p:sp>
      <p:sp>
        <p:nvSpPr>
          <p:cNvPr id="8" name="Text 6"/>
          <p:cNvSpPr/>
          <p:nvPr/>
        </p:nvSpPr>
        <p:spPr>
          <a:xfrm>
            <a:off x="971550" y="2186781"/>
            <a:ext cx="371755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Test Explorer · ERS.Tests</a:t>
            </a:r>
            <a:endParaRPr lang="en-US" sz="1300" dirty="0"/>
          </a:p>
        </p:txBody>
      </p:sp>
      <p:sp>
        <p:nvSpPr>
          <p:cNvPr id="9" name="Text 7"/>
          <p:cNvSpPr/>
          <p:nvPr/>
        </p:nvSpPr>
        <p:spPr>
          <a:xfrm>
            <a:off x="4682430" y="2183011"/>
            <a:ext cx="883940" cy="238720"/>
          </a:xfrm>
          <a:prstGeom prst="roundRect">
            <a:avLst>
              <a:gd name="adj" fmla="val 2128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2C7A4B"/>
                </a:solidFill>
                <a:latin typeface="IBM Plex Mono" pitchFamily="49" charset="0"/>
                <a:ea typeface="IBM Plex Mono" pitchFamily="49" charset="-122"/>
                <a:cs typeface="IBM Plex Mono" pitchFamily="49" charset="-120"/>
              </a:rPr>
              <a:t>Прошло 3</a:t>
            </a:r>
            <a:endParaRPr lang="en-US" sz="1200" dirty="0"/>
          </a:p>
        </p:txBody>
      </p:sp>
      <p:sp>
        <p:nvSpPr>
          <p:cNvPr id="10" name="Text 8"/>
          <p:cNvSpPr/>
          <p:nvPr/>
        </p:nvSpPr>
        <p:spPr>
          <a:xfrm>
            <a:off x="5667970" y="2183011"/>
            <a:ext cx="701080" cy="238720"/>
          </a:xfrm>
          <a:prstGeom prst="roundRect">
            <a:avLst>
              <a:gd name="adj" fmla="val 21280"/>
            </a:avLst>
          </a:prstGeom>
          <a:solidFill>
            <a:srgbClr val="FBF1E6"/>
          </a:solidFill>
          <a:ln/>
        </p:spPr>
        <p:txBody>
          <a:bodyPr wrap="none" lIns="0" tIns="0" rIns="0" bIns="0" rtlCol="0" anchor="ctr">
            <a:normAutofit/>
          </a:bodyPr>
          <a:lstStyle/>
          <a:p>
            <a:pPr algn="ctr"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Пало 1</a:t>
            </a:r>
            <a:endParaRPr lang="en-US" sz="1200" dirty="0"/>
          </a:p>
        </p:txBody>
      </p:sp>
      <p:sp>
        <p:nvSpPr>
          <p:cNvPr id="11" name="Shape 9"/>
          <p:cNvSpPr/>
          <p:nvPr/>
        </p:nvSpPr>
        <p:spPr>
          <a:xfrm>
            <a:off x="819150" y="2526506"/>
            <a:ext cx="5702300" cy="0"/>
          </a:xfrm>
          <a:prstGeom prst="line">
            <a:avLst/>
          </a:prstGeom>
          <a:noFill/>
          <a:ln w="6350">
            <a:solidFill>
              <a:srgbClr val="E3E8EE"/>
            </a:solidFill>
            <a:prstDash val="solid"/>
          </a:ln>
        </p:spPr>
      </p:sp>
      <p:pic>
        <p:nvPicPr>
          <p:cNvPr id="12" name="Image 0" descr="CheckCircle">    </p:cNvPr>
          <p:cNvPicPr>
            <a:picLocks noChangeAspect="1"/>
          </p:cNvPicPr>
          <p:nvPr/>
        </p:nvPicPr>
        <p:blipFill>
          <a:blip r:embed="rId1"/>
          <a:srcRect l="0" r="0" t="0" b="0"/>
          <a:stretch/>
        </p:blipFill>
        <p:spPr>
          <a:xfrm>
            <a:off x="971550" y="2642691"/>
            <a:ext cx="190500" cy="190500"/>
          </a:xfrm>
          <a:prstGeom prst="rect">
            <a:avLst/>
          </a:prstGeom>
        </p:spPr>
      </p:pic>
      <p:sp>
        <p:nvSpPr>
          <p:cNvPr id="13" name="Text 10"/>
          <p:cNvSpPr/>
          <p:nvPr/>
        </p:nvSpPr>
        <p:spPr>
          <a:xfrm>
            <a:off x="1263650" y="2631281"/>
            <a:ext cx="5258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Reserve_WhenFree_ReturnsSuccess</a:t>
            </a:r>
            <a:endParaRPr lang="en-US" sz="1200" dirty="0"/>
          </a:p>
        </p:txBody>
      </p:sp>
      <p:sp>
        <p:nvSpPr>
          <p:cNvPr id="14" name="Shape 11"/>
          <p:cNvSpPr/>
          <p:nvPr/>
        </p:nvSpPr>
        <p:spPr>
          <a:xfrm>
            <a:off x="819150" y="2949377"/>
            <a:ext cx="5702300" cy="0"/>
          </a:xfrm>
          <a:prstGeom prst="line">
            <a:avLst/>
          </a:prstGeom>
          <a:noFill/>
          <a:ln w="6350">
            <a:solidFill>
              <a:srgbClr val="E3E8EE"/>
            </a:solidFill>
            <a:prstDash val="solid"/>
          </a:ln>
        </p:spPr>
      </p:sp>
      <p:pic>
        <p:nvPicPr>
          <p:cNvPr id="15" name="Image 1" descr="CheckCircle">    </p:cNvPr>
          <p:cNvPicPr>
            <a:picLocks noChangeAspect="1"/>
          </p:cNvPicPr>
          <p:nvPr/>
        </p:nvPicPr>
        <p:blipFill>
          <a:blip r:embed="rId2"/>
          <a:srcRect l="0" r="0" t="0" b="0"/>
          <a:stretch/>
        </p:blipFill>
        <p:spPr>
          <a:xfrm>
            <a:off x="971550" y="3065562"/>
            <a:ext cx="190500" cy="190500"/>
          </a:xfrm>
          <a:prstGeom prst="rect">
            <a:avLst/>
          </a:prstGeom>
        </p:spPr>
      </p:pic>
      <p:sp>
        <p:nvSpPr>
          <p:cNvPr id="16" name="Text 12"/>
          <p:cNvSpPr/>
          <p:nvPr/>
        </p:nvSpPr>
        <p:spPr>
          <a:xfrm>
            <a:off x="1263650" y="3054152"/>
            <a:ext cx="5258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Reserve_WhenOverlap_ReturnsConflict</a:t>
            </a:r>
            <a:endParaRPr lang="en-US" sz="1200" dirty="0"/>
          </a:p>
        </p:txBody>
      </p:sp>
      <p:sp>
        <p:nvSpPr>
          <p:cNvPr id="17" name="Shape 13"/>
          <p:cNvSpPr/>
          <p:nvPr/>
        </p:nvSpPr>
        <p:spPr>
          <a:xfrm>
            <a:off x="819150" y="3372247"/>
            <a:ext cx="5702300" cy="0"/>
          </a:xfrm>
          <a:prstGeom prst="line">
            <a:avLst/>
          </a:prstGeom>
          <a:noFill/>
          <a:ln w="6350">
            <a:solidFill>
              <a:srgbClr val="E3E8EE"/>
            </a:solidFill>
            <a:prstDash val="solid"/>
          </a:ln>
        </p:spPr>
      </p:sp>
      <p:pic>
        <p:nvPicPr>
          <p:cNvPr id="18" name="Image 2" descr="CheckCircle">    </p:cNvPr>
          <p:cNvPicPr>
            <a:picLocks noChangeAspect="1"/>
          </p:cNvPicPr>
          <p:nvPr/>
        </p:nvPicPr>
        <p:blipFill>
          <a:blip r:embed="rId3"/>
          <a:srcRect l="0" r="0" t="0" b="0"/>
          <a:stretch/>
        </p:blipFill>
        <p:spPr>
          <a:xfrm>
            <a:off x="971550" y="3488432"/>
            <a:ext cx="190500" cy="190500"/>
          </a:xfrm>
          <a:prstGeom prst="rect">
            <a:avLst/>
          </a:prstGeom>
        </p:spPr>
      </p:pic>
      <p:sp>
        <p:nvSpPr>
          <p:cNvPr id="19" name="Text 14"/>
          <p:cNvSpPr/>
          <p:nvPr/>
        </p:nvSpPr>
        <p:spPr>
          <a:xfrm>
            <a:off x="1263650" y="3477022"/>
            <a:ext cx="5258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Reserve_WhenInactive_ReturnsFailure</a:t>
            </a:r>
            <a:endParaRPr lang="en-US" sz="1200" dirty="0"/>
          </a:p>
        </p:txBody>
      </p:sp>
      <p:sp>
        <p:nvSpPr>
          <p:cNvPr id="20" name="Shape 15"/>
          <p:cNvSpPr/>
          <p:nvPr/>
        </p:nvSpPr>
        <p:spPr>
          <a:xfrm>
            <a:off x="819150" y="3791942"/>
            <a:ext cx="5702300" cy="422870"/>
          </a:xfrm>
          <a:prstGeom prst="rect">
            <a:avLst/>
          </a:prstGeom>
          <a:solidFill>
            <a:srgbClr val="FBF1E6"/>
          </a:solidFill>
          <a:ln/>
        </p:spPr>
      </p:sp>
      <p:sp>
        <p:nvSpPr>
          <p:cNvPr id="21" name="Shape 16"/>
          <p:cNvSpPr/>
          <p:nvPr/>
        </p:nvSpPr>
        <p:spPr>
          <a:xfrm>
            <a:off x="819150" y="3795117"/>
            <a:ext cx="5702300" cy="0"/>
          </a:xfrm>
          <a:prstGeom prst="line">
            <a:avLst/>
          </a:prstGeom>
          <a:noFill/>
          <a:ln w="6350">
            <a:solidFill>
              <a:srgbClr val="E9B98C"/>
            </a:solidFill>
            <a:prstDash val="solid"/>
          </a:ln>
        </p:spPr>
      </p:sp>
      <p:pic>
        <p:nvPicPr>
          <p:cNvPr id="22" name="Image 3" descr="Warning">    </p:cNvPr>
          <p:cNvPicPr>
            <a:picLocks noChangeAspect="1"/>
          </p:cNvPicPr>
          <p:nvPr/>
        </p:nvPicPr>
        <p:blipFill>
          <a:blip r:embed="rId4"/>
          <a:srcRect l="0" r="0" t="0" b="0"/>
          <a:stretch/>
        </p:blipFill>
        <p:spPr>
          <a:xfrm>
            <a:off x="971550" y="3911302"/>
            <a:ext cx="190500" cy="190500"/>
          </a:xfrm>
          <a:prstGeom prst="rect">
            <a:avLst/>
          </a:prstGeom>
        </p:spPr>
      </p:pic>
      <p:sp>
        <p:nvSpPr>
          <p:cNvPr id="23" name="Text 17"/>
          <p:cNvSpPr/>
          <p:nvPr/>
        </p:nvSpPr>
        <p:spPr>
          <a:xfrm>
            <a:off x="1263650" y="3899892"/>
            <a:ext cx="48857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Cancel_AfterDeadline_ReturnsFailure</a:t>
            </a:r>
            <a:endParaRPr lang="en-US" sz="1200" dirty="0"/>
          </a:p>
        </p:txBody>
      </p:sp>
      <p:sp>
        <p:nvSpPr>
          <p:cNvPr id="24" name="Text 18"/>
          <p:cNvSpPr/>
          <p:nvPr/>
        </p:nvSpPr>
        <p:spPr>
          <a:xfrm>
            <a:off x="6108700" y="3899892"/>
            <a:ext cx="3124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Sans" pitchFamily="34" charset="0"/>
                <a:ea typeface="IBM Plex Sans" pitchFamily="34" charset="-122"/>
                <a:cs typeface="IBM Plex Sans" pitchFamily="34" charset="-120"/>
              </a:rPr>
              <a:t>пао</a:t>
            </a:r>
            <a:endParaRPr lang="en-US" sz="1200" dirty="0"/>
          </a:p>
        </p:txBody>
      </p:sp>
      <p:sp>
        <p:nvSpPr>
          <p:cNvPr id="25" name="Shape 19"/>
          <p:cNvSpPr/>
          <p:nvPr/>
        </p:nvSpPr>
        <p:spPr>
          <a:xfrm>
            <a:off x="819150" y="4214813"/>
            <a:ext cx="5702300" cy="397470"/>
          </a:xfrm>
          <a:custGeom>
            <a:avLst/>
            <a:gdLst/>
            <a:ahLst/>
            <a:cxnLst/>
            <a:rect l="l" t="t" r="r" b="b"/>
            <a:pathLst>
              <a:path w="5702300" h="397470">
                <a:moveTo>
                  <a:pt x="0" y="0"/>
                </a:moveTo>
                <a:lnTo>
                  <a:pt x="5702300" y="0"/>
                </a:lnTo>
                <a:lnTo>
                  <a:pt x="5702300" y="6350"/>
                </a:lnTo>
                <a:lnTo>
                  <a:pt x="0" y="6350"/>
                </a:lnTo>
                <a:lnTo>
                  <a:pt x="0" y="0"/>
                </a:lnTo>
                <a:close/>
              </a:path>
            </a:pathLst>
          </a:custGeom>
          <a:solidFill>
            <a:srgbClr val="E3E8EE"/>
          </a:solidFill>
          <a:ln/>
        </p:spPr>
      </p:sp>
      <p:sp>
        <p:nvSpPr>
          <p:cNvPr id="26" name="Text 20"/>
          <p:cNvSpPr/>
          <p:nvPr/>
        </p:nvSpPr>
        <p:spPr>
          <a:xfrm>
            <a:off x="971550" y="4310063"/>
            <a:ext cx="48896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3 теста су прошла, један захтева анализу.</a:t>
            </a:r>
            <a:endParaRPr lang="en-US" sz="1200" dirty="0"/>
          </a:p>
        </p:txBody>
      </p:sp>
      <p:sp>
        <p:nvSpPr>
          <p:cNvPr id="27" name="Text 21"/>
          <p:cNvSpPr/>
          <p:nvPr/>
        </p:nvSpPr>
        <p:spPr>
          <a:xfrm>
            <a:off x="5820370" y="4310063"/>
            <a:ext cx="658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184 ms</a:t>
            </a:r>
            <a:endParaRPr lang="en-US" sz="1200" dirty="0"/>
          </a:p>
        </p:txBody>
      </p:sp>
      <p:sp>
        <p:nvSpPr>
          <p:cNvPr id="28" name="Text 22"/>
          <p:cNvSpPr/>
          <p:nvPr/>
        </p:nvSpPr>
        <p:spPr>
          <a:xfrm>
            <a:off x="6781800" y="2075061"/>
            <a:ext cx="473532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КАКО СЕ ЧИТА РЕЗУЛТАТ</a:t>
            </a:r>
            <a:endParaRPr lang="en-US" sz="1200" dirty="0"/>
          </a:p>
        </p:txBody>
      </p:sp>
      <p:sp>
        <p:nvSpPr>
          <p:cNvPr id="29" name="Shape 23"/>
          <p:cNvSpPr/>
          <p:nvPr/>
        </p:nvSpPr>
        <p:spPr>
          <a:xfrm>
            <a:off x="6784975" y="2393156"/>
            <a:ext cx="4591050" cy="1288852"/>
          </a:xfrm>
          <a:prstGeom prst="roundRect">
            <a:avLst>
              <a:gd name="adj" fmla="val 6651"/>
            </a:avLst>
          </a:prstGeom>
          <a:solidFill>
            <a:srgbClr val="FCFCFB"/>
          </a:solidFill>
          <a:ln w="6350">
            <a:solidFill>
              <a:srgbClr val="D3DAE1"/>
            </a:solidFill>
            <a:prstDash val="solid"/>
          </a:ln>
        </p:spPr>
      </p:sp>
      <p:sp>
        <p:nvSpPr>
          <p:cNvPr id="30" name="Text 24"/>
          <p:cNvSpPr/>
          <p:nvPr/>
        </p:nvSpPr>
        <p:spPr>
          <a:xfrm>
            <a:off x="6940550" y="2510631"/>
            <a:ext cx="4408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Очекивано</a:t>
            </a:r>
            <a:endParaRPr lang="en-US" sz="1200" dirty="0"/>
          </a:p>
        </p:txBody>
      </p:sp>
      <p:sp>
        <p:nvSpPr>
          <p:cNvPr id="31" name="Text 25"/>
          <p:cNvSpPr/>
          <p:nvPr/>
        </p:nvSpPr>
        <p:spPr>
          <a:xfrm>
            <a:off x="6940550" y="2762052"/>
            <a:ext cx="44082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7A4B"/>
                </a:solidFill>
                <a:latin typeface="IBM Plex Mono" pitchFamily="49" charset="0"/>
                <a:ea typeface="IBM Plex Mono" pitchFamily="49" charset="-122"/>
                <a:cs typeface="IBM Plex Mono" pitchFamily="49" charset="-120"/>
              </a:rPr>
              <a:t>CancellationWindowExpired</a:t>
            </a:r>
            <a:endParaRPr lang="en-US" sz="1300" dirty="0"/>
          </a:p>
        </p:txBody>
      </p:sp>
      <p:sp>
        <p:nvSpPr>
          <p:cNvPr id="32" name="Text 26"/>
          <p:cNvSpPr/>
          <p:nvPr/>
        </p:nvSpPr>
        <p:spPr>
          <a:xfrm>
            <a:off x="6940550" y="3082032"/>
            <a:ext cx="4408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Добијено</a:t>
            </a:r>
            <a:endParaRPr lang="en-US" sz="1200" dirty="0"/>
          </a:p>
        </p:txBody>
      </p:sp>
      <p:sp>
        <p:nvSpPr>
          <p:cNvPr id="33" name="Text 27"/>
          <p:cNvSpPr/>
          <p:nvPr/>
        </p:nvSpPr>
        <p:spPr>
          <a:xfrm>
            <a:off x="6940550" y="3333452"/>
            <a:ext cx="44082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8520A"/>
                </a:solidFill>
                <a:latin typeface="IBM Plex Mono" pitchFamily="49" charset="0"/>
                <a:ea typeface="IBM Plex Mono" pitchFamily="49" charset="-122"/>
                <a:cs typeface="IBM Plex Mono" pitchFamily="49" charset="-120"/>
              </a:rPr>
              <a:t>Success</a:t>
            </a:r>
            <a:endParaRPr lang="en-US" sz="1300" dirty="0"/>
          </a:p>
        </p:txBody>
      </p:sp>
      <p:sp>
        <p:nvSpPr>
          <p:cNvPr id="34" name="Text 28"/>
          <p:cNvSpPr/>
          <p:nvPr/>
        </p:nvSpPr>
        <p:spPr>
          <a:xfrm>
            <a:off x="6781800" y="3786783"/>
            <a:ext cx="473532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Порука показује да ли је проблем у правилу, имплементацији или очекивању теста.</a:t>
            </a:r>
            <a:endParaRPr lang="en-US" sz="1300" dirty="0"/>
          </a:p>
        </p:txBody>
      </p:sp>
      <p:sp>
        <p:nvSpPr>
          <p:cNvPr id="35" name="Shape 29"/>
          <p:cNvSpPr/>
          <p:nvPr/>
        </p:nvSpPr>
        <p:spPr>
          <a:xfrm>
            <a:off x="6794500" y="4350544"/>
            <a:ext cx="0" cy="487561"/>
          </a:xfrm>
          <a:prstGeom prst="line">
            <a:avLst/>
          </a:prstGeom>
          <a:noFill/>
          <a:ln w="25400">
            <a:solidFill>
              <a:srgbClr val="E07B1F"/>
            </a:solidFill>
            <a:prstDash val="solid"/>
          </a:ln>
        </p:spPr>
      </p:sp>
      <p:sp>
        <p:nvSpPr>
          <p:cNvPr id="36" name="Text 30"/>
          <p:cNvSpPr/>
          <p:nvPr/>
        </p:nvSpPr>
        <p:spPr>
          <a:xfrm>
            <a:off x="6946900" y="4363244"/>
            <a:ext cx="4565269"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Црвени тест прво треба разумети, па тек онда мењати код.</a:t>
            </a:r>
            <a:endParaRPr lang="en-US" sz="1300" dirty="0"/>
          </a:p>
        </p:txBody>
      </p:sp>
      <p:sp>
        <p:nvSpPr>
          <p:cNvPr id="37" name="Shape 31"/>
          <p:cNvSpPr/>
          <p:nvPr/>
        </p:nvSpPr>
        <p:spPr>
          <a:xfrm>
            <a:off x="812800" y="6209705"/>
            <a:ext cx="10566400" cy="0"/>
          </a:xfrm>
          <a:prstGeom prst="line">
            <a:avLst/>
          </a:prstGeom>
          <a:noFill/>
          <a:ln w="6350">
            <a:solidFill>
              <a:srgbClr val="D3DAE1"/>
            </a:solidFill>
            <a:prstDash val="solid"/>
          </a:ln>
        </p:spPr>
      </p:sp>
      <p:sp>
        <p:nvSpPr>
          <p:cNvPr id="38" name="Text 3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9" name="Text 3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01 · СТРУКТУРА ТЕСТА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AAA структура теста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Један тест проверава једно јасно понашање.</a:t>
            </a:r>
            <a:endParaRPr lang="en-US" sz="1400" dirty="0"/>
          </a:p>
        </p:txBody>
      </p:sp>
      <p:sp>
        <p:nvSpPr>
          <p:cNvPr id="6" name="Shape 4"/>
          <p:cNvSpPr/>
          <p:nvPr/>
        </p:nvSpPr>
        <p:spPr>
          <a:xfrm>
            <a:off x="815975" y="2179836"/>
            <a:ext cx="1781770" cy="859730"/>
          </a:xfrm>
          <a:prstGeom prst="roundRect">
            <a:avLst>
              <a:gd name="adj" fmla="val 11448"/>
            </a:avLst>
          </a:prstGeom>
          <a:solidFill>
            <a:srgbClr val="FCFCFB"/>
          </a:solidFill>
          <a:ln w="6350">
            <a:solidFill>
              <a:srgbClr val="D3DAE1"/>
            </a:solidFill>
            <a:prstDash val="solid"/>
          </a:ln>
        </p:spPr>
      </p:sp>
      <p:sp>
        <p:nvSpPr>
          <p:cNvPr id="7" name="Text 5"/>
          <p:cNvSpPr/>
          <p:nvPr/>
        </p:nvSpPr>
        <p:spPr>
          <a:xfrm>
            <a:off x="971550" y="2348111"/>
            <a:ext cx="15214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Arrange</a:t>
            </a:r>
            <a:endParaRPr lang="en-US" sz="1500" dirty="0"/>
          </a:p>
        </p:txBody>
      </p:sp>
      <p:sp>
        <p:nvSpPr>
          <p:cNvPr id="8" name="Text 6"/>
          <p:cNvSpPr/>
          <p:nvPr/>
        </p:nvSpPr>
        <p:spPr>
          <a:xfrm>
            <a:off x="971550" y="2665611"/>
            <a:ext cx="15214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улази</a:t>
            </a:r>
            <a:endParaRPr lang="en-US" sz="1200" dirty="0"/>
          </a:p>
        </p:txBody>
      </p:sp>
      <p:pic>
        <p:nvPicPr>
          <p:cNvPr id="9" name="Image 0" descr="arrow-right">    </p:cNvPr>
          <p:cNvPicPr>
            <a:picLocks noChangeAspect="1"/>
          </p:cNvPicPr>
          <p:nvPr/>
        </p:nvPicPr>
        <p:blipFill>
          <a:blip r:embed="rId1"/>
          <a:srcRect l="0" r="0" t="0" b="0"/>
          <a:stretch/>
        </p:blipFill>
        <p:spPr>
          <a:xfrm>
            <a:off x="2689820" y="2552502"/>
            <a:ext cx="228600" cy="114300"/>
          </a:xfrm>
          <a:prstGeom prst="rect">
            <a:avLst/>
          </a:prstGeom>
        </p:spPr>
      </p:pic>
      <p:sp>
        <p:nvSpPr>
          <p:cNvPr id="10" name="Shape 7"/>
          <p:cNvSpPr/>
          <p:nvPr/>
        </p:nvSpPr>
        <p:spPr>
          <a:xfrm>
            <a:off x="3010495" y="2179836"/>
            <a:ext cx="1781870" cy="859730"/>
          </a:xfrm>
          <a:prstGeom prst="roundRect">
            <a:avLst>
              <a:gd name="adj" fmla="val 11448"/>
            </a:avLst>
          </a:prstGeom>
          <a:solidFill>
            <a:srgbClr val="FCFCFB"/>
          </a:solidFill>
          <a:ln w="6350">
            <a:solidFill>
              <a:srgbClr val="D3DAE1"/>
            </a:solidFill>
            <a:prstDash val="solid"/>
          </a:ln>
        </p:spPr>
      </p:sp>
      <p:sp>
        <p:nvSpPr>
          <p:cNvPr id="11" name="Text 8"/>
          <p:cNvSpPr/>
          <p:nvPr/>
        </p:nvSpPr>
        <p:spPr>
          <a:xfrm>
            <a:off x="3166070" y="2348111"/>
            <a:ext cx="15215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Act</a:t>
            </a:r>
            <a:endParaRPr lang="en-US" sz="1500" dirty="0"/>
          </a:p>
        </p:txBody>
      </p:sp>
      <p:sp>
        <p:nvSpPr>
          <p:cNvPr id="12" name="Text 9"/>
          <p:cNvSpPr/>
          <p:nvPr/>
        </p:nvSpPr>
        <p:spPr>
          <a:xfrm>
            <a:off x="3166070" y="2665611"/>
            <a:ext cx="15215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операција</a:t>
            </a:r>
            <a:endParaRPr lang="en-US" sz="1200" dirty="0"/>
          </a:p>
        </p:txBody>
      </p:sp>
      <p:pic>
        <p:nvPicPr>
          <p:cNvPr id="13" name="Image 1" descr="arrow-right">    </p:cNvPr>
          <p:cNvPicPr>
            <a:picLocks noChangeAspect="1"/>
          </p:cNvPicPr>
          <p:nvPr/>
        </p:nvPicPr>
        <p:blipFill>
          <a:blip r:embed="rId2"/>
          <a:srcRect l="0" r="0" t="0" b="0"/>
          <a:stretch/>
        </p:blipFill>
        <p:spPr>
          <a:xfrm>
            <a:off x="4884440" y="2552502"/>
            <a:ext cx="228600" cy="114300"/>
          </a:xfrm>
          <a:prstGeom prst="rect">
            <a:avLst/>
          </a:prstGeom>
        </p:spPr>
      </p:pic>
      <p:sp>
        <p:nvSpPr>
          <p:cNvPr id="14" name="Shape 10"/>
          <p:cNvSpPr/>
          <p:nvPr/>
        </p:nvSpPr>
        <p:spPr>
          <a:xfrm>
            <a:off x="5205115" y="2179836"/>
            <a:ext cx="1781770" cy="859730"/>
          </a:xfrm>
          <a:prstGeom prst="roundRect">
            <a:avLst>
              <a:gd name="adj" fmla="val 11448"/>
            </a:avLst>
          </a:prstGeom>
          <a:solidFill>
            <a:srgbClr val="FCFCFB"/>
          </a:solidFill>
          <a:ln w="6350">
            <a:solidFill>
              <a:srgbClr val="D3DAE1"/>
            </a:solidFill>
            <a:prstDash val="solid"/>
          </a:ln>
        </p:spPr>
      </p:sp>
      <p:sp>
        <p:nvSpPr>
          <p:cNvPr id="15" name="Text 11"/>
          <p:cNvSpPr/>
          <p:nvPr/>
        </p:nvSpPr>
        <p:spPr>
          <a:xfrm>
            <a:off x="5360690" y="2348111"/>
            <a:ext cx="15214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Assert</a:t>
            </a:r>
            <a:endParaRPr lang="en-US" sz="1500" dirty="0"/>
          </a:p>
        </p:txBody>
      </p:sp>
      <p:sp>
        <p:nvSpPr>
          <p:cNvPr id="16" name="Text 12"/>
          <p:cNvSpPr/>
          <p:nvPr/>
        </p:nvSpPr>
        <p:spPr>
          <a:xfrm>
            <a:off x="5360690" y="2665611"/>
            <a:ext cx="15214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исход</a:t>
            </a:r>
            <a:endParaRPr lang="en-US" sz="1200" dirty="0"/>
          </a:p>
        </p:txBody>
      </p:sp>
      <p:pic>
        <p:nvPicPr>
          <p:cNvPr id="17" name="Image 2" descr="arrow-right">    </p:cNvPr>
          <p:cNvPicPr>
            <a:picLocks noChangeAspect="1"/>
          </p:cNvPicPr>
          <p:nvPr/>
        </p:nvPicPr>
        <p:blipFill>
          <a:blip r:embed="rId3"/>
          <a:srcRect l="0" r="0" t="0" b="0"/>
          <a:stretch/>
        </p:blipFill>
        <p:spPr>
          <a:xfrm>
            <a:off x="7078960" y="2552502"/>
            <a:ext cx="228600" cy="114300"/>
          </a:xfrm>
          <a:prstGeom prst="rect">
            <a:avLst/>
          </a:prstGeom>
        </p:spPr>
      </p:pic>
      <p:sp>
        <p:nvSpPr>
          <p:cNvPr id="18" name="Shape 13"/>
          <p:cNvSpPr/>
          <p:nvPr/>
        </p:nvSpPr>
        <p:spPr>
          <a:xfrm>
            <a:off x="7399635" y="2179836"/>
            <a:ext cx="1781870" cy="859730"/>
          </a:xfrm>
          <a:prstGeom prst="roundRect">
            <a:avLst>
              <a:gd name="adj" fmla="val 11448"/>
            </a:avLst>
          </a:prstGeom>
          <a:solidFill>
            <a:srgbClr val="FCFCFB"/>
          </a:solidFill>
          <a:ln w="6350">
            <a:solidFill>
              <a:srgbClr val="D3DAE1"/>
            </a:solidFill>
            <a:prstDash val="solid"/>
          </a:ln>
        </p:spPr>
      </p:sp>
      <p:sp>
        <p:nvSpPr>
          <p:cNvPr id="19" name="Text 14"/>
          <p:cNvSpPr/>
          <p:nvPr/>
        </p:nvSpPr>
        <p:spPr>
          <a:xfrm>
            <a:off x="7555210" y="2348111"/>
            <a:ext cx="15215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Diagnose</a:t>
            </a:r>
            <a:endParaRPr lang="en-US" sz="1500" dirty="0"/>
          </a:p>
        </p:txBody>
      </p:sp>
      <p:sp>
        <p:nvSpPr>
          <p:cNvPr id="20" name="Text 15"/>
          <p:cNvSpPr/>
          <p:nvPr/>
        </p:nvSpPr>
        <p:spPr>
          <a:xfrm>
            <a:off x="7555210" y="2665611"/>
            <a:ext cx="15215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порука</a:t>
            </a:r>
            <a:endParaRPr lang="en-US" sz="1200" dirty="0"/>
          </a:p>
        </p:txBody>
      </p:sp>
      <p:pic>
        <p:nvPicPr>
          <p:cNvPr id="21" name="Image 3" descr="arrow-right">    </p:cNvPr>
          <p:cNvPicPr>
            <a:picLocks noChangeAspect="1"/>
          </p:cNvPicPr>
          <p:nvPr/>
        </p:nvPicPr>
        <p:blipFill>
          <a:blip r:embed="rId4"/>
          <a:srcRect l="0" r="0" t="0" b="0"/>
          <a:stretch/>
        </p:blipFill>
        <p:spPr>
          <a:xfrm>
            <a:off x="9273580" y="2552502"/>
            <a:ext cx="228600" cy="114300"/>
          </a:xfrm>
          <a:prstGeom prst="rect">
            <a:avLst/>
          </a:prstGeom>
        </p:spPr>
      </p:pic>
      <p:sp>
        <p:nvSpPr>
          <p:cNvPr id="22" name="Shape 16"/>
          <p:cNvSpPr/>
          <p:nvPr/>
        </p:nvSpPr>
        <p:spPr>
          <a:xfrm>
            <a:off x="9594255" y="2179836"/>
            <a:ext cx="1781770" cy="859730"/>
          </a:xfrm>
          <a:prstGeom prst="roundRect">
            <a:avLst>
              <a:gd name="adj" fmla="val 11448"/>
            </a:avLst>
          </a:prstGeom>
          <a:solidFill>
            <a:srgbClr val="FCFCFB"/>
          </a:solidFill>
          <a:ln w="6350">
            <a:solidFill>
              <a:srgbClr val="D3DAE1"/>
            </a:solidFill>
            <a:prstDash val="solid"/>
          </a:ln>
        </p:spPr>
      </p:sp>
      <p:sp>
        <p:nvSpPr>
          <p:cNvPr id="23" name="Text 17"/>
          <p:cNvSpPr/>
          <p:nvPr/>
        </p:nvSpPr>
        <p:spPr>
          <a:xfrm>
            <a:off x="9749830" y="2348111"/>
            <a:ext cx="15214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Refactor</a:t>
            </a:r>
            <a:endParaRPr lang="en-US" sz="1500" dirty="0"/>
          </a:p>
        </p:txBody>
      </p:sp>
      <p:sp>
        <p:nvSpPr>
          <p:cNvPr id="24" name="Text 18"/>
          <p:cNvSpPr/>
          <p:nvPr/>
        </p:nvSpPr>
        <p:spPr>
          <a:xfrm>
            <a:off x="9749830" y="2665611"/>
            <a:ext cx="15214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сигнал</a:t>
            </a:r>
            <a:endParaRPr lang="en-US" sz="1200" dirty="0"/>
          </a:p>
        </p:txBody>
      </p:sp>
      <p:sp>
        <p:nvSpPr>
          <p:cNvPr id="25" name="Shape 19"/>
          <p:cNvSpPr/>
          <p:nvPr/>
        </p:nvSpPr>
        <p:spPr>
          <a:xfrm>
            <a:off x="815975" y="3299916"/>
            <a:ext cx="10560050" cy="867370"/>
          </a:xfrm>
          <a:prstGeom prst="roundRect">
            <a:avLst>
              <a:gd name="adj" fmla="val 11348"/>
            </a:avLst>
          </a:prstGeom>
          <a:solidFill>
            <a:srgbClr val="FCFCFB"/>
          </a:solidFill>
          <a:ln w="6350">
            <a:solidFill>
              <a:srgbClr val="D3DAE1"/>
            </a:solidFill>
            <a:prstDash val="solid"/>
          </a:ln>
        </p:spPr>
      </p:sp>
      <p:sp>
        <p:nvSpPr>
          <p:cNvPr id="26" name="Text 20"/>
          <p:cNvSpPr/>
          <p:nvPr/>
        </p:nvSpPr>
        <p:spPr>
          <a:xfrm>
            <a:off x="1022350" y="3455491"/>
            <a:ext cx="104517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НАЗИВ ТЕСТА · МЕТОДА_УСЛОВ_ИСХОД</a:t>
            </a:r>
            <a:endParaRPr lang="en-US" sz="1200" dirty="0"/>
          </a:p>
        </p:txBody>
      </p:sp>
      <p:sp>
        <p:nvSpPr>
          <p:cNvPr id="27" name="Text 21"/>
          <p:cNvSpPr/>
          <p:nvPr/>
        </p:nvSpPr>
        <p:spPr>
          <a:xfrm>
            <a:off x="1022350" y="3745012"/>
            <a:ext cx="1045171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C7A4B"/>
                </a:solidFill>
                <a:latin typeface="IBM Plex Mono" pitchFamily="49" charset="0"/>
                <a:ea typeface="IBM Plex Mono" pitchFamily="49" charset="-122"/>
                <a:cs typeface="IBM Plex Mono" pitchFamily="49" charset="-120"/>
              </a:rPr>
              <a:t>Reserve</a:t>
            </a:r>
            <a:r>
              <a:rPr lang="en-US" sz="1500" dirty="0">
                <a:solidFill>
                  <a:srgbClr val="13202D"/>
                </a:solidFill>
                <a:latin typeface="IBM Plex Mono" pitchFamily="49" charset="0"/>
                <a:ea typeface="IBM Plex Mono" pitchFamily="49" charset="-122"/>
                <a:cs typeface="IBM Plex Mono" pitchFamily="49" charset="-120"/>
              </a:rPr>
              <a:t>_</a:t>
            </a:r>
            <a:r>
              <a:rPr lang="en-US" sz="1500" dirty="0">
                <a:solidFill>
                  <a:srgbClr val="A8520A"/>
                </a:solidFill>
                <a:latin typeface="IBM Plex Mono" pitchFamily="49" charset="0"/>
                <a:ea typeface="IBM Plex Mono" pitchFamily="49" charset="-122"/>
                <a:cs typeface="IBM Plex Mono" pitchFamily="49" charset="-120"/>
              </a:rPr>
              <a:t>WhenPeriodOverlaps</a:t>
            </a:r>
            <a:r>
              <a:rPr lang="en-US" sz="1500" dirty="0">
                <a:solidFill>
                  <a:srgbClr val="13202D"/>
                </a:solidFill>
                <a:latin typeface="IBM Plex Mono" pitchFamily="49" charset="0"/>
                <a:ea typeface="IBM Plex Mono" pitchFamily="49" charset="-122"/>
                <a:cs typeface="IBM Plex Mono" pitchFamily="49" charset="-120"/>
              </a:rPr>
              <a:t>_</a:t>
            </a:r>
            <a:r>
              <a:rPr lang="en-US" sz="1500" dirty="0">
                <a:solidFill>
                  <a:srgbClr val="2C7A4B"/>
                </a:solidFill>
                <a:latin typeface="IBM Plex Mono" pitchFamily="49" charset="0"/>
                <a:ea typeface="IBM Plex Mono" pitchFamily="49" charset="-122"/>
                <a:cs typeface="IBM Plex Mono" pitchFamily="49" charset="-120"/>
              </a:rPr>
              <a:t>ReturnsConflict</a:t>
            </a:r>
            <a:endParaRPr lang="en-US" sz="1500" dirty="0"/>
          </a:p>
        </p:txBody>
      </p:sp>
      <p:sp>
        <p:nvSpPr>
          <p:cNvPr id="28" name="Shape 22"/>
          <p:cNvSpPr/>
          <p:nvPr/>
        </p:nvSpPr>
        <p:spPr>
          <a:xfrm>
            <a:off x="812800" y="4424462"/>
            <a:ext cx="10566400" cy="783530"/>
          </a:xfrm>
          <a:prstGeom prst="roundRect">
            <a:avLst>
              <a:gd name="adj" fmla="val 12967"/>
            </a:avLst>
          </a:prstGeom>
          <a:solidFill>
            <a:srgbClr val="E5ECE7"/>
          </a:solidFill>
          <a:ln/>
        </p:spPr>
      </p:sp>
      <p:sp>
        <p:nvSpPr>
          <p:cNvPr id="29" name="Shape 23"/>
          <p:cNvSpPr/>
          <p:nvPr/>
        </p:nvSpPr>
        <p:spPr>
          <a:xfrm>
            <a:off x="812800" y="442446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2C7A4B"/>
          </a:solidFill>
          <a:ln/>
        </p:spPr>
      </p:sp>
      <p:sp>
        <p:nvSpPr>
          <p:cNvPr id="30" name="Text 24"/>
          <p:cNvSpPr/>
          <p:nvPr/>
        </p:nvSpPr>
        <p:spPr>
          <a:xfrm>
            <a:off x="1054100" y="457686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31" name="Text 25"/>
          <p:cNvSpPr/>
          <p:nvPr/>
        </p:nvSpPr>
        <p:spPr>
          <a:xfrm>
            <a:off x="1054100" y="481558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Назив теста описује понашање које тест штити.</a:t>
            </a:r>
            <a:endParaRPr lang="en-US" sz="1400" dirty="0"/>
          </a:p>
        </p:txBody>
      </p:sp>
      <p:sp>
        <p:nvSpPr>
          <p:cNvPr id="32" name="Shape 26"/>
          <p:cNvSpPr/>
          <p:nvPr/>
        </p:nvSpPr>
        <p:spPr>
          <a:xfrm>
            <a:off x="812800" y="6209705"/>
            <a:ext cx="10566400" cy="0"/>
          </a:xfrm>
          <a:prstGeom prst="line">
            <a:avLst/>
          </a:prstGeom>
          <a:noFill/>
          <a:ln w="6350">
            <a:solidFill>
              <a:srgbClr val="D3DAE1"/>
            </a:solidFill>
            <a:prstDash val="solid"/>
          </a:ln>
        </p:spPr>
      </p:sp>
      <p:sp>
        <p:nvSpPr>
          <p:cNvPr id="33"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4"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01 · СТРУКТУРА ТЕСТА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Негативни сценарио из критеријума прихватања</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Тест проверава понашање система, а не приватне детаље имплементације.</a:t>
            </a:r>
            <a:endParaRPr lang="en-US" sz="1400" dirty="0"/>
          </a:p>
        </p:txBody>
      </p:sp>
      <p:sp>
        <p:nvSpPr>
          <p:cNvPr id="6" name="Shape 4"/>
          <p:cNvSpPr/>
          <p:nvPr/>
        </p:nvSpPr>
        <p:spPr>
          <a:xfrm>
            <a:off x="815975" y="2078236"/>
            <a:ext cx="7867650" cy="3672780"/>
          </a:xfrm>
          <a:prstGeom prst="roundRect">
            <a:avLst>
              <a:gd name="adj" fmla="val 2680"/>
            </a:avLst>
          </a:prstGeom>
          <a:solidFill>
            <a:srgbClr val="FCFCFB"/>
          </a:solidFill>
          <a:ln w="6350">
            <a:solidFill>
              <a:srgbClr val="D3DAE1"/>
            </a:solidFill>
            <a:prstDash val="solid"/>
          </a:ln>
        </p:spPr>
      </p:sp>
      <p:sp>
        <p:nvSpPr>
          <p:cNvPr id="7" name="Text 5"/>
          <p:cNvSpPr/>
          <p:nvPr/>
        </p:nvSpPr>
        <p:spPr>
          <a:xfrm>
            <a:off x="996950" y="2208411"/>
            <a:ext cx="773087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6975"/>
                </a:solidFill>
                <a:latin typeface="IBM Plex Mono" pitchFamily="49" charset="0"/>
                <a:ea typeface="IBM Plex Mono" pitchFamily="49" charset="-122"/>
                <a:cs typeface="IBM Plex Mono" pitchFamily="49" charset="-120"/>
              </a:rPr>
              <a:t>C# · NUnit и Moq</a:t>
            </a:r>
            <a:endParaRPr lang="en-US" sz="1200" dirty="0"/>
          </a:p>
        </p:txBody>
      </p:sp>
      <p:sp>
        <p:nvSpPr>
          <p:cNvPr id="8" name="Text 6"/>
          <p:cNvSpPr/>
          <p:nvPr/>
        </p:nvSpPr>
        <p:spPr>
          <a:xfrm>
            <a:off x="996950" y="2452191"/>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2191"/>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[Test]</a:t>
            </a:r>
            <a:endParaRPr lang="en-US" sz="1200" dirty="0"/>
          </a:p>
        </p:txBody>
      </p:sp>
      <p:sp>
        <p:nvSpPr>
          <p:cNvPr id="10" name="Text 8"/>
          <p:cNvSpPr/>
          <p:nvPr/>
        </p:nvSpPr>
        <p:spPr>
          <a:xfrm>
            <a:off x="996950" y="2650232"/>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50232"/>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7A4B"/>
                </a:solidFill>
                <a:latin typeface="IBM Plex Mono" pitchFamily="49" charset="0"/>
                <a:ea typeface="IBM Plex Mono" pitchFamily="49" charset="-122"/>
                <a:cs typeface="IBM Plex Mono" pitchFamily="49" charset="-120"/>
              </a:rPr>
              <a:t>public void</a:t>
            </a:r>
            <a:r>
              <a:rPr lang="en-US" sz="1200" dirty="0">
                <a:solidFill>
                  <a:srgbClr val="13202D"/>
                </a:solidFill>
                <a:latin typeface="IBM Plex Mono" pitchFamily="49" charset="0"/>
                <a:ea typeface="IBM Plex Mono" pitchFamily="49" charset="-122"/>
                <a:cs typeface="IBM Plex Mono" pitchFamily="49" charset="-120"/>
              </a:rPr>
              <a:t> Reserve_WhenPeriodOverlaps_ReturnsConflict()</a:t>
            </a:r>
            <a:endParaRPr lang="en-US" sz="1200" dirty="0"/>
          </a:p>
        </p:txBody>
      </p:sp>
      <p:sp>
        <p:nvSpPr>
          <p:cNvPr id="12" name="Text 10"/>
          <p:cNvSpPr/>
          <p:nvPr/>
        </p:nvSpPr>
        <p:spPr>
          <a:xfrm>
            <a:off x="996950" y="2848273"/>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48273"/>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996950" y="3046313"/>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46313"/>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8590"/>
                </a:solidFill>
                <a:latin typeface="IBM Plex Mono" pitchFamily="49" charset="0"/>
                <a:ea typeface="IBM Plex Mono" pitchFamily="49" charset="-122"/>
                <a:cs typeface="IBM Plex Mono" pitchFamily="49" charset="-120"/>
              </a:rPr>
              <a:t>    // Arrange</a:t>
            </a:r>
            <a:endParaRPr lang="en-US" sz="1200" dirty="0"/>
          </a:p>
        </p:txBody>
      </p:sp>
      <p:sp>
        <p:nvSpPr>
          <p:cNvPr id="16" name="Text 14"/>
          <p:cNvSpPr/>
          <p:nvPr/>
        </p:nvSpPr>
        <p:spPr>
          <a:xfrm>
            <a:off x="996950" y="3244354"/>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244354"/>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repository = </a:t>
            </a:r>
            <a:r>
              <a:rPr lang="en-US" sz="1200" dirty="0">
                <a:solidFill>
                  <a:srgbClr val="2C7A4B"/>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Mock&lt;IReservationRepository&gt;();</a:t>
            </a:r>
            <a:endParaRPr lang="en-US" sz="1200" dirty="0"/>
          </a:p>
        </p:txBody>
      </p:sp>
      <p:sp>
        <p:nvSpPr>
          <p:cNvPr id="18" name="Text 16"/>
          <p:cNvSpPr/>
          <p:nvPr/>
        </p:nvSpPr>
        <p:spPr>
          <a:xfrm>
            <a:off x="996950" y="3442395"/>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442395"/>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repository.Setup(r =&gt; r.HasOverlap(It.IsAny&lt;Guid&gt;(),</a:t>
            </a:r>
            <a:endParaRPr lang="en-US" sz="1200" dirty="0"/>
          </a:p>
        </p:txBody>
      </p:sp>
      <p:sp>
        <p:nvSpPr>
          <p:cNvPr id="20" name="Text 18"/>
          <p:cNvSpPr/>
          <p:nvPr/>
        </p:nvSpPr>
        <p:spPr>
          <a:xfrm>
            <a:off x="996950" y="3640435"/>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640435"/>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It.IsAny&lt;DateTime&gt;(), It.IsAny&lt;DateTime&gt;())).Returns(</a:t>
            </a:r>
            <a:r>
              <a:rPr lang="en-US" sz="1200" dirty="0">
                <a:solidFill>
                  <a:srgbClr val="2C7A4B"/>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2" name="Text 20"/>
          <p:cNvSpPr/>
          <p:nvPr/>
        </p:nvSpPr>
        <p:spPr>
          <a:xfrm>
            <a:off x="996950" y="3838476"/>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838476"/>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service = </a:t>
            </a:r>
            <a:r>
              <a:rPr lang="en-US" sz="1200" dirty="0">
                <a:solidFill>
                  <a:srgbClr val="2C7A4B"/>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ReservationService(</a:t>
            </a:r>
            <a:endParaRPr lang="en-US" sz="1200" dirty="0"/>
          </a:p>
        </p:txBody>
      </p:sp>
      <p:sp>
        <p:nvSpPr>
          <p:cNvPr id="24" name="Text 22"/>
          <p:cNvSpPr/>
          <p:nvPr/>
        </p:nvSpPr>
        <p:spPr>
          <a:xfrm>
            <a:off x="996950" y="4036516"/>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036516"/>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repository.Object, </a:t>
            </a:r>
            <a:r>
              <a:rPr lang="en-US" sz="1200" dirty="0">
                <a:solidFill>
                  <a:srgbClr val="2C7A4B"/>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FixedClock(Now));</a:t>
            </a:r>
            <a:endParaRPr lang="en-US" sz="1200" dirty="0"/>
          </a:p>
        </p:txBody>
      </p:sp>
      <p:sp>
        <p:nvSpPr>
          <p:cNvPr id="26" name="Text 24"/>
          <p:cNvSpPr/>
          <p:nvPr/>
        </p:nvSpPr>
        <p:spPr>
          <a:xfrm>
            <a:off x="996950" y="4234557"/>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377950" y="4234557"/>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8590"/>
                </a:solidFill>
                <a:latin typeface="IBM Plex Mono" pitchFamily="49" charset="0"/>
                <a:ea typeface="IBM Plex Mono" pitchFamily="49" charset="-122"/>
                <a:cs typeface="IBM Plex Mono" pitchFamily="49" charset="-120"/>
              </a:rPr>
              <a:t>    // Act</a:t>
            </a:r>
            <a:endParaRPr lang="en-US" sz="1200" dirty="0"/>
          </a:p>
        </p:txBody>
      </p:sp>
      <p:sp>
        <p:nvSpPr>
          <p:cNvPr id="28" name="Text 26"/>
          <p:cNvSpPr/>
          <p:nvPr/>
        </p:nvSpPr>
        <p:spPr>
          <a:xfrm>
            <a:off x="996950" y="4432598"/>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9" name="Text 27"/>
          <p:cNvSpPr/>
          <p:nvPr/>
        </p:nvSpPr>
        <p:spPr>
          <a:xfrm>
            <a:off x="1377950" y="4432598"/>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result = service.Reserve(</a:t>
            </a:r>
            <a:endParaRPr lang="en-US" sz="1200" dirty="0"/>
          </a:p>
        </p:txBody>
      </p:sp>
      <p:sp>
        <p:nvSpPr>
          <p:cNvPr id="30" name="Text 28"/>
          <p:cNvSpPr/>
          <p:nvPr/>
        </p:nvSpPr>
        <p:spPr>
          <a:xfrm>
            <a:off x="996950" y="4630638"/>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1" name="Text 29"/>
          <p:cNvSpPr/>
          <p:nvPr/>
        </p:nvSpPr>
        <p:spPr>
          <a:xfrm>
            <a:off x="1377950" y="4630638"/>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TestRequests.ValidFutureReservation());</a:t>
            </a:r>
            <a:endParaRPr lang="en-US" sz="1200" dirty="0"/>
          </a:p>
        </p:txBody>
      </p:sp>
      <p:sp>
        <p:nvSpPr>
          <p:cNvPr id="32" name="Text 30"/>
          <p:cNvSpPr/>
          <p:nvPr/>
        </p:nvSpPr>
        <p:spPr>
          <a:xfrm>
            <a:off x="996950" y="4828679"/>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3" name="Text 31"/>
          <p:cNvSpPr/>
          <p:nvPr/>
        </p:nvSpPr>
        <p:spPr>
          <a:xfrm>
            <a:off x="1377950" y="4828679"/>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8590"/>
                </a:solidFill>
                <a:latin typeface="IBM Plex Mono" pitchFamily="49" charset="0"/>
                <a:ea typeface="IBM Plex Mono" pitchFamily="49" charset="-122"/>
                <a:cs typeface="IBM Plex Mono" pitchFamily="49" charset="-120"/>
              </a:rPr>
              <a:t>    // Assert</a:t>
            </a:r>
            <a:endParaRPr lang="en-US" sz="1200" dirty="0"/>
          </a:p>
        </p:txBody>
      </p:sp>
      <p:sp>
        <p:nvSpPr>
          <p:cNvPr id="34" name="Text 32"/>
          <p:cNvSpPr/>
          <p:nvPr/>
        </p:nvSpPr>
        <p:spPr>
          <a:xfrm>
            <a:off x="996950" y="5026720"/>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14</a:t>
            </a:r>
            <a:endParaRPr lang="en-US" sz="1200" dirty="0"/>
          </a:p>
        </p:txBody>
      </p:sp>
      <p:sp>
        <p:nvSpPr>
          <p:cNvPr id="35" name="Text 33"/>
          <p:cNvSpPr/>
          <p:nvPr/>
        </p:nvSpPr>
        <p:spPr>
          <a:xfrm>
            <a:off x="1377950" y="5026720"/>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Assert.That(result.Success, Is.False);</a:t>
            </a:r>
            <a:endParaRPr lang="en-US" sz="1200" dirty="0"/>
          </a:p>
        </p:txBody>
      </p:sp>
      <p:sp>
        <p:nvSpPr>
          <p:cNvPr id="36" name="Text 34"/>
          <p:cNvSpPr/>
          <p:nvPr/>
        </p:nvSpPr>
        <p:spPr>
          <a:xfrm>
            <a:off x="996950" y="5224760"/>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15</a:t>
            </a:r>
            <a:endParaRPr lang="en-US" sz="1200" dirty="0"/>
          </a:p>
        </p:txBody>
      </p:sp>
      <p:sp>
        <p:nvSpPr>
          <p:cNvPr id="37" name="Text 35"/>
          <p:cNvSpPr/>
          <p:nvPr/>
        </p:nvSpPr>
        <p:spPr>
          <a:xfrm>
            <a:off x="1377950" y="5224760"/>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Assert.That(result.Error, Is.EqualTo(</a:t>
            </a:r>
            <a:r>
              <a:rPr lang="en-US" sz="1200" dirty="0">
                <a:solidFill>
                  <a:srgbClr val="A8520A"/>
                </a:solidFill>
                <a:latin typeface="IBM Plex Mono" pitchFamily="49" charset="0"/>
                <a:ea typeface="IBM Plex Mono" pitchFamily="49" charset="-122"/>
                <a:cs typeface="IBM Plex Mono" pitchFamily="49" charset="-120"/>
              </a:rPr>
              <a:t>"OverlappingReservation"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8" name="Text 36"/>
          <p:cNvSpPr/>
          <p:nvPr/>
        </p:nvSpPr>
        <p:spPr>
          <a:xfrm>
            <a:off x="996950" y="5422801"/>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16</a:t>
            </a:r>
            <a:endParaRPr lang="en-US" sz="1200" dirty="0"/>
          </a:p>
        </p:txBody>
      </p:sp>
      <p:sp>
        <p:nvSpPr>
          <p:cNvPr id="39" name="Text 37"/>
          <p:cNvSpPr/>
          <p:nvPr/>
        </p:nvSpPr>
        <p:spPr>
          <a:xfrm>
            <a:off x="1377950" y="5422801"/>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40" name="Text 38"/>
          <p:cNvSpPr/>
          <p:nvPr/>
        </p:nvSpPr>
        <p:spPr>
          <a:xfrm>
            <a:off x="8940800" y="2075061"/>
            <a:ext cx="25115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41" name="Shape 39"/>
          <p:cNvSpPr/>
          <p:nvPr/>
        </p:nvSpPr>
        <p:spPr>
          <a:xfrm>
            <a:off x="8953500" y="2415381"/>
            <a:ext cx="0" cy="487561"/>
          </a:xfrm>
          <a:prstGeom prst="line">
            <a:avLst/>
          </a:prstGeom>
          <a:noFill/>
          <a:ln w="25400">
            <a:solidFill>
              <a:srgbClr val="2C7A4B"/>
            </a:solidFill>
            <a:prstDash val="solid"/>
          </a:ln>
        </p:spPr>
      </p:sp>
      <p:sp>
        <p:nvSpPr>
          <p:cNvPr id="42" name="Text 40"/>
          <p:cNvSpPr/>
          <p:nvPr/>
        </p:nvSpPr>
        <p:spPr>
          <a:xfrm>
            <a:off x="9105900" y="2428081"/>
            <a:ext cx="234149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Arrange припрема контролисаног сарадника.</a:t>
            </a:r>
            <a:endParaRPr lang="en-US" sz="1300" dirty="0"/>
          </a:p>
        </p:txBody>
      </p:sp>
      <p:sp>
        <p:nvSpPr>
          <p:cNvPr id="43" name="Shape 41"/>
          <p:cNvSpPr/>
          <p:nvPr/>
        </p:nvSpPr>
        <p:spPr>
          <a:xfrm>
            <a:off x="8953500" y="3029942"/>
            <a:ext cx="0" cy="487561"/>
          </a:xfrm>
          <a:prstGeom prst="line">
            <a:avLst/>
          </a:prstGeom>
          <a:noFill/>
          <a:ln w="25400">
            <a:solidFill>
              <a:srgbClr val="2C7A4B"/>
            </a:solidFill>
            <a:prstDash val="solid"/>
          </a:ln>
        </p:spPr>
      </p:sp>
      <p:sp>
        <p:nvSpPr>
          <p:cNvPr id="44" name="Text 42"/>
          <p:cNvSpPr/>
          <p:nvPr/>
        </p:nvSpPr>
        <p:spPr>
          <a:xfrm>
            <a:off x="9105900" y="3042642"/>
            <a:ext cx="234149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Act извршава једну релевантну операцију.</a:t>
            </a:r>
            <a:endParaRPr lang="en-US" sz="1300" dirty="0"/>
          </a:p>
        </p:txBody>
      </p:sp>
      <p:sp>
        <p:nvSpPr>
          <p:cNvPr id="45" name="Shape 43"/>
          <p:cNvSpPr/>
          <p:nvPr/>
        </p:nvSpPr>
        <p:spPr>
          <a:xfrm>
            <a:off x="8953500" y="3644503"/>
            <a:ext cx="0" cy="487561"/>
          </a:xfrm>
          <a:prstGeom prst="line">
            <a:avLst/>
          </a:prstGeom>
          <a:noFill/>
          <a:ln w="25400">
            <a:solidFill>
              <a:srgbClr val="E07B1F"/>
            </a:solidFill>
            <a:prstDash val="solid"/>
          </a:ln>
        </p:spPr>
      </p:sp>
      <p:sp>
        <p:nvSpPr>
          <p:cNvPr id="46" name="Text 44"/>
          <p:cNvSpPr/>
          <p:nvPr/>
        </p:nvSpPr>
        <p:spPr>
          <a:xfrm>
            <a:off x="9105900" y="3657203"/>
            <a:ext cx="234149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Assert проверава посматрани исход.</a:t>
            </a:r>
            <a:endParaRPr lang="en-US" sz="1300" dirty="0"/>
          </a:p>
        </p:txBody>
      </p:sp>
      <p:sp>
        <p:nvSpPr>
          <p:cNvPr id="47" name="Shape 45"/>
          <p:cNvSpPr/>
          <p:nvPr/>
        </p:nvSpPr>
        <p:spPr>
          <a:xfrm>
            <a:off x="812800" y="6209705"/>
            <a:ext cx="10566400" cy="0"/>
          </a:xfrm>
          <a:prstGeom prst="line">
            <a:avLst/>
          </a:prstGeom>
          <a:noFill/>
          <a:ln w="6350">
            <a:solidFill>
              <a:srgbClr val="D3DAE1"/>
            </a:solidFill>
            <a:prstDash val="solid"/>
          </a:ln>
        </p:spPr>
      </p:sp>
      <p:sp>
        <p:nvSpPr>
          <p:cNvPr id="48" name="Text 4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9" name="Text 4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ECE7"/>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2C7A4B"/>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ДРУГИ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Test double и Moq</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Када и како заменити спољну зависност, а да тест остане веран понашању.</a:t>
            </a:r>
            <a:endParaRPr lang="en-US" sz="1400" dirty="0"/>
          </a:p>
        </p:txBody>
      </p:sp>
      <p:sp>
        <p:nvSpPr>
          <p:cNvPr id="6" name="Text 4"/>
          <p:cNvSpPr/>
          <p:nvPr/>
        </p:nvSpPr>
        <p:spPr>
          <a:xfrm>
            <a:off x="4270375" y="3915966"/>
            <a:ext cx="1611114"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Улога test double-а</a:t>
            </a:r>
            <a:endParaRPr lang="en-US" sz="1200" dirty="0"/>
          </a:p>
        </p:txBody>
      </p:sp>
      <p:sp>
        <p:nvSpPr>
          <p:cNvPr id="7" name="Text 5"/>
          <p:cNvSpPr/>
          <p:nvPr/>
        </p:nvSpPr>
        <p:spPr>
          <a:xfrm>
            <a:off x="5964039" y="3915966"/>
            <a:ext cx="1232892"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Врсте замена</a:t>
            </a:r>
            <a:endParaRPr lang="en-US" sz="1200" dirty="0"/>
          </a:p>
        </p:txBody>
      </p:sp>
      <p:sp>
        <p:nvSpPr>
          <p:cNvPr id="8" name="Text 6"/>
          <p:cNvSpPr/>
          <p:nvPr/>
        </p:nvSpPr>
        <p:spPr>
          <a:xfrm>
            <a:off x="7279481" y="3915966"/>
            <a:ext cx="1785045"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Критеријуми за mock</a:t>
            </a:r>
            <a:endParaRPr lang="en-US" sz="1200" dirty="0"/>
          </a:p>
        </p:txBody>
      </p:sp>
      <p:sp>
        <p:nvSpPr>
          <p:cNvPr id="9" name="Text 7"/>
          <p:cNvSpPr/>
          <p:nvPr/>
        </p:nvSpPr>
        <p:spPr>
          <a:xfrm>
            <a:off x="9147076" y="3915966"/>
            <a:ext cx="1215529"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Setup и Verify</a:t>
            </a:r>
            <a:endParaRPr lang="en-US" sz="1200" dirty="0"/>
          </a:p>
        </p:txBody>
      </p:sp>
      <p:sp>
        <p:nvSpPr>
          <p:cNvPr id="10" name="Text 8"/>
          <p:cNvSpPr/>
          <p:nvPr/>
        </p:nvSpPr>
        <p:spPr>
          <a:xfrm>
            <a:off x="4270375" y="4319786"/>
            <a:ext cx="1511102"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Стабилност теста</a:t>
            </a:r>
            <a:endParaRPr lang="en-US" sz="1200" dirty="0"/>
          </a:p>
        </p:txBody>
      </p:sp>
      <p:sp>
        <p:nvSpPr>
          <p:cNvPr id="11" name="Shape 9"/>
          <p:cNvSpPr/>
          <p:nvPr/>
        </p:nvSpPr>
        <p:spPr>
          <a:xfrm>
            <a:off x="812800" y="6209705"/>
            <a:ext cx="10566400" cy="0"/>
          </a:xfrm>
          <a:prstGeom prst="line">
            <a:avLst/>
          </a:prstGeom>
          <a:noFill/>
          <a:ln w="6350">
            <a:solidFill>
              <a:srgbClr val="B3C4C1"/>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02 · TEST DOUBLE И MOQ</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Улога test double објеката</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Test double се користи за изолацију конкретне спољне зависности.</a:t>
            </a:r>
            <a:endParaRPr lang="en-US" sz="1400" dirty="0"/>
          </a:p>
        </p:txBody>
      </p:sp>
      <p:sp>
        <p:nvSpPr>
          <p:cNvPr id="6" name="Shape 4"/>
          <p:cNvSpPr/>
          <p:nvPr/>
        </p:nvSpPr>
        <p:spPr>
          <a:xfrm>
            <a:off x="819150" y="2081411"/>
            <a:ext cx="5448300" cy="2308622"/>
          </a:xfrm>
          <a:prstGeom prst="roundRect">
            <a:avLst>
              <a:gd name="adj" fmla="val 5226"/>
            </a:avLst>
          </a:prstGeom>
          <a:solidFill>
            <a:srgbClr val="FCFCFB"/>
          </a:solidFill>
          <a:ln w="12700">
            <a:solidFill>
              <a:srgbClr val="2C7A4B"/>
            </a:solidFill>
            <a:prstDash val="dash"/>
          </a:ln>
        </p:spPr>
      </p:sp>
      <p:sp>
        <p:nvSpPr>
          <p:cNvPr id="7" name="Text 5"/>
          <p:cNvSpPr/>
          <p:nvPr/>
        </p:nvSpPr>
        <p:spPr>
          <a:xfrm>
            <a:off x="1028700" y="2265561"/>
            <a:ext cx="51800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ПРЕДМЕТ ТЕСТА</a:t>
            </a:r>
            <a:endParaRPr lang="en-US" sz="1200" dirty="0"/>
          </a:p>
        </p:txBody>
      </p:sp>
      <p:sp>
        <p:nvSpPr>
          <p:cNvPr id="8" name="Text 6"/>
          <p:cNvSpPr/>
          <p:nvPr/>
        </p:nvSpPr>
        <p:spPr>
          <a:xfrm>
            <a:off x="1028700" y="2580481"/>
            <a:ext cx="51800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Mono" pitchFamily="49" charset="0"/>
                <a:ea typeface="IBM Plex Mono" pitchFamily="49" charset="-122"/>
                <a:cs typeface="IBM Plex Mono" pitchFamily="49" charset="-120"/>
              </a:rPr>
              <a:t>ReservationService</a:t>
            </a:r>
            <a:endParaRPr lang="en-US" sz="1600" dirty="0"/>
          </a:p>
        </p:txBody>
      </p:sp>
      <p:sp>
        <p:nvSpPr>
          <p:cNvPr id="9" name="Shape 7"/>
          <p:cNvSpPr/>
          <p:nvPr/>
        </p:nvSpPr>
        <p:spPr>
          <a:xfrm>
            <a:off x="1028700" y="2925862"/>
            <a:ext cx="5029200" cy="703461"/>
          </a:xfrm>
          <a:prstGeom prst="roundRect">
            <a:avLst>
              <a:gd name="adj" fmla="val 12638"/>
            </a:avLst>
          </a:prstGeom>
          <a:solidFill>
            <a:srgbClr val="E1ECE6"/>
          </a:solidFill>
          <a:ln/>
        </p:spPr>
      </p:sp>
      <p:sp>
        <p:nvSpPr>
          <p:cNvPr id="10" name="Text 8"/>
          <p:cNvSpPr/>
          <p:nvPr/>
        </p:nvSpPr>
        <p:spPr>
          <a:xfrm>
            <a:off x="1168400" y="3040162"/>
            <a:ext cx="489229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Mono" pitchFamily="49" charset="0"/>
                <a:ea typeface="IBM Plex Mono" pitchFamily="49" charset="-122"/>
                <a:cs typeface="IBM Plex Mono" pitchFamily="49" charset="-120"/>
              </a:rPr>
              <a:t>Reservation, Period</a:t>
            </a:r>
            <a:endParaRPr lang="en-US" sz="1300" dirty="0"/>
          </a:p>
        </p:txBody>
      </p:sp>
      <p:sp>
        <p:nvSpPr>
          <p:cNvPr id="11" name="Text 9"/>
          <p:cNvSpPr/>
          <p:nvPr/>
        </p:nvSpPr>
        <p:spPr>
          <a:xfrm>
            <a:off x="1168400" y="3309342"/>
            <a:ext cx="489229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стварни објекти, не mock</a:t>
            </a:r>
            <a:endParaRPr lang="en-US" sz="1200" dirty="0"/>
          </a:p>
        </p:txBody>
      </p:sp>
      <p:sp>
        <p:nvSpPr>
          <p:cNvPr id="12" name="Text 10"/>
          <p:cNvSpPr/>
          <p:nvPr/>
        </p:nvSpPr>
        <p:spPr>
          <a:xfrm>
            <a:off x="1028700" y="3730923"/>
            <a:ext cx="51800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Мали value object или доменска класа чије понашање је предмет теста најчешће треба да буде стварни објекат.</a:t>
            </a:r>
            <a:endParaRPr lang="en-US" sz="1300" dirty="0"/>
          </a:p>
        </p:txBody>
      </p:sp>
      <p:pic>
        <p:nvPicPr>
          <p:cNvPr id="13" name="Image 0" descr="arrow-right">    </p:cNvPr>
          <p:cNvPicPr>
            <a:picLocks noChangeAspect="1"/>
          </p:cNvPicPr>
          <p:nvPr/>
        </p:nvPicPr>
        <p:blipFill>
          <a:blip r:embed="rId1"/>
          <a:srcRect l="0" r="0" t="0" b="0"/>
          <a:stretch/>
        </p:blipFill>
        <p:spPr>
          <a:xfrm>
            <a:off x="6426200" y="2404765"/>
            <a:ext cx="228600" cy="114300"/>
          </a:xfrm>
          <a:prstGeom prst="rect">
            <a:avLst/>
          </a:prstGeom>
        </p:spPr>
      </p:pic>
      <p:pic>
        <p:nvPicPr>
          <p:cNvPr id="14" name="Image 1" descr="arrow-right">    </p:cNvPr>
          <p:cNvPicPr>
            <a:picLocks noChangeAspect="1"/>
          </p:cNvPicPr>
          <p:nvPr/>
        </p:nvPicPr>
        <p:blipFill>
          <a:blip r:embed="rId2"/>
          <a:srcRect l="0" r="0" t="0" b="0"/>
          <a:stretch/>
        </p:blipFill>
        <p:spPr>
          <a:xfrm>
            <a:off x="6426200" y="3178572"/>
            <a:ext cx="228600" cy="114300"/>
          </a:xfrm>
          <a:prstGeom prst="rect">
            <a:avLst/>
          </a:prstGeom>
        </p:spPr>
      </p:pic>
      <p:pic>
        <p:nvPicPr>
          <p:cNvPr id="15" name="Image 2" descr="arrow-right">    </p:cNvPr>
          <p:cNvPicPr>
            <a:picLocks noChangeAspect="1"/>
          </p:cNvPicPr>
          <p:nvPr/>
        </p:nvPicPr>
        <p:blipFill>
          <a:blip r:embed="rId3"/>
          <a:srcRect l="0" r="0" t="0" b="0"/>
          <a:stretch/>
        </p:blipFill>
        <p:spPr>
          <a:xfrm>
            <a:off x="6426200" y="3952280"/>
            <a:ext cx="228600" cy="114300"/>
          </a:xfrm>
          <a:prstGeom prst="rect">
            <a:avLst/>
          </a:prstGeom>
        </p:spPr>
      </p:pic>
      <p:sp>
        <p:nvSpPr>
          <p:cNvPr id="16" name="Shape 11"/>
          <p:cNvSpPr/>
          <p:nvPr/>
        </p:nvSpPr>
        <p:spPr>
          <a:xfrm>
            <a:off x="6810375" y="2078236"/>
            <a:ext cx="4565650" cy="699691"/>
          </a:xfrm>
          <a:prstGeom prst="roundRect">
            <a:avLst>
              <a:gd name="adj" fmla="val 14067"/>
            </a:avLst>
          </a:prstGeom>
          <a:solidFill>
            <a:srgbClr val="FBF1E6"/>
          </a:solidFill>
          <a:ln w="6350">
            <a:solidFill>
              <a:srgbClr val="E9B98C"/>
            </a:solidFill>
            <a:prstDash val="solid"/>
          </a:ln>
        </p:spPr>
      </p:sp>
      <p:pic>
        <p:nvPicPr>
          <p:cNvPr id="17" name="Image 3" descr="Database">    </p:cNvPr>
          <p:cNvPicPr>
            <a:picLocks noChangeAspect="1"/>
          </p:cNvPicPr>
          <p:nvPr/>
        </p:nvPicPr>
        <p:blipFill>
          <a:blip r:embed="rId4"/>
          <a:srcRect l="0" r="0" t="0" b="0"/>
          <a:stretch/>
        </p:blipFill>
        <p:spPr>
          <a:xfrm>
            <a:off x="6965950" y="2326481"/>
            <a:ext cx="203200" cy="203200"/>
          </a:xfrm>
          <a:prstGeom prst="rect">
            <a:avLst/>
          </a:prstGeom>
        </p:spPr>
      </p:pic>
      <p:sp>
        <p:nvSpPr>
          <p:cNvPr id="18" name="Text 12"/>
          <p:cNvSpPr/>
          <p:nvPr/>
        </p:nvSpPr>
        <p:spPr>
          <a:xfrm>
            <a:off x="7283450" y="2208411"/>
            <a:ext cx="40551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IReservationRepository</a:t>
            </a:r>
            <a:endParaRPr lang="en-US" sz="1200" dirty="0"/>
          </a:p>
        </p:txBody>
      </p:sp>
      <p:sp>
        <p:nvSpPr>
          <p:cNvPr id="19" name="Text 13"/>
          <p:cNvSpPr/>
          <p:nvPr/>
        </p:nvSpPr>
        <p:spPr>
          <a:xfrm>
            <a:off x="7283450" y="2434431"/>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mock: контролисана вредност</a:t>
            </a:r>
            <a:endParaRPr lang="en-US" sz="1200" dirty="0"/>
          </a:p>
        </p:txBody>
      </p:sp>
      <p:sp>
        <p:nvSpPr>
          <p:cNvPr id="20" name="Shape 14"/>
          <p:cNvSpPr/>
          <p:nvPr/>
        </p:nvSpPr>
        <p:spPr>
          <a:xfrm>
            <a:off x="6810375" y="2885877"/>
            <a:ext cx="4565650" cy="699691"/>
          </a:xfrm>
          <a:prstGeom prst="roundRect">
            <a:avLst>
              <a:gd name="adj" fmla="val 14067"/>
            </a:avLst>
          </a:prstGeom>
          <a:solidFill>
            <a:srgbClr val="FBF1E6"/>
          </a:solidFill>
          <a:ln w="6350">
            <a:solidFill>
              <a:srgbClr val="E9B98C"/>
            </a:solidFill>
            <a:prstDash val="solid"/>
          </a:ln>
        </p:spPr>
      </p:sp>
      <p:pic>
        <p:nvPicPr>
          <p:cNvPr id="21" name="Image 4" descr="Clock">    </p:cNvPr>
          <p:cNvPicPr>
            <a:picLocks noChangeAspect="1"/>
          </p:cNvPicPr>
          <p:nvPr/>
        </p:nvPicPr>
        <p:blipFill>
          <a:blip r:embed="rId5"/>
          <a:srcRect l="0" r="0" t="0" b="0"/>
          <a:stretch/>
        </p:blipFill>
        <p:spPr>
          <a:xfrm>
            <a:off x="6965950" y="3134122"/>
            <a:ext cx="203200" cy="203200"/>
          </a:xfrm>
          <a:prstGeom prst="rect">
            <a:avLst/>
          </a:prstGeom>
        </p:spPr>
      </p:pic>
      <p:sp>
        <p:nvSpPr>
          <p:cNvPr id="22" name="Text 15"/>
          <p:cNvSpPr/>
          <p:nvPr/>
        </p:nvSpPr>
        <p:spPr>
          <a:xfrm>
            <a:off x="7283450" y="3016052"/>
            <a:ext cx="40551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IClock</a:t>
            </a:r>
            <a:endParaRPr lang="en-US" sz="1200" dirty="0"/>
          </a:p>
        </p:txBody>
      </p:sp>
      <p:sp>
        <p:nvSpPr>
          <p:cNvPr id="23" name="Text 16"/>
          <p:cNvSpPr/>
          <p:nvPr/>
        </p:nvSpPr>
        <p:spPr>
          <a:xfrm>
            <a:off x="7283450" y="3242072"/>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FixedClock: детерминизам</a:t>
            </a:r>
            <a:endParaRPr lang="en-US" sz="1200" dirty="0"/>
          </a:p>
        </p:txBody>
      </p:sp>
      <p:sp>
        <p:nvSpPr>
          <p:cNvPr id="24" name="Shape 17"/>
          <p:cNvSpPr/>
          <p:nvPr/>
        </p:nvSpPr>
        <p:spPr>
          <a:xfrm>
            <a:off x="6810375" y="3693517"/>
            <a:ext cx="4565650" cy="699691"/>
          </a:xfrm>
          <a:prstGeom prst="roundRect">
            <a:avLst>
              <a:gd name="adj" fmla="val 14067"/>
            </a:avLst>
          </a:prstGeom>
          <a:solidFill>
            <a:srgbClr val="FBF1E6"/>
          </a:solidFill>
          <a:ln w="6350">
            <a:solidFill>
              <a:srgbClr val="E9B98C"/>
            </a:solidFill>
            <a:prstDash val="solid"/>
          </a:ln>
        </p:spPr>
      </p:sp>
      <p:pic>
        <p:nvPicPr>
          <p:cNvPr id="25" name="Image 5" descr="Globe">    </p:cNvPr>
          <p:cNvPicPr>
            <a:picLocks noChangeAspect="1"/>
          </p:cNvPicPr>
          <p:nvPr/>
        </p:nvPicPr>
        <p:blipFill>
          <a:blip r:embed="rId6"/>
          <a:srcRect l="0" r="0" t="0" b="0"/>
          <a:stretch/>
        </p:blipFill>
        <p:spPr>
          <a:xfrm>
            <a:off x="6965950" y="3941763"/>
            <a:ext cx="203200" cy="203200"/>
          </a:xfrm>
          <a:prstGeom prst="rect">
            <a:avLst/>
          </a:prstGeom>
        </p:spPr>
      </p:pic>
      <p:sp>
        <p:nvSpPr>
          <p:cNvPr id="26" name="Text 18"/>
          <p:cNvSpPr/>
          <p:nvPr/>
        </p:nvSpPr>
        <p:spPr>
          <a:xfrm>
            <a:off x="7283450" y="3823692"/>
            <a:ext cx="40551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HTTP клијент</a:t>
            </a:r>
            <a:endParaRPr lang="en-US" sz="1200" dirty="0"/>
          </a:p>
        </p:txBody>
      </p:sp>
      <p:sp>
        <p:nvSpPr>
          <p:cNvPr id="27" name="Text 19"/>
          <p:cNvSpPr/>
          <p:nvPr/>
        </p:nvSpPr>
        <p:spPr>
          <a:xfrm>
            <a:off x="7283450" y="4049713"/>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stub: унапред задат одговор</a:t>
            </a:r>
            <a:endParaRPr lang="en-US" sz="1200" dirty="0"/>
          </a:p>
        </p:txBody>
      </p:sp>
      <p:sp>
        <p:nvSpPr>
          <p:cNvPr id="28" name="Shape 20"/>
          <p:cNvSpPr/>
          <p:nvPr/>
        </p:nvSpPr>
        <p:spPr>
          <a:xfrm>
            <a:off x="812800" y="4599583"/>
            <a:ext cx="10566400" cy="740966"/>
          </a:xfrm>
          <a:prstGeom prst="roundRect">
            <a:avLst>
              <a:gd name="adj" fmla="val 13712"/>
            </a:avLst>
          </a:prstGeom>
          <a:solidFill>
            <a:srgbClr val="E5ECE7"/>
          </a:solidFill>
          <a:ln/>
        </p:spPr>
      </p:sp>
      <p:sp>
        <p:nvSpPr>
          <p:cNvPr id="29" name="Shape 21"/>
          <p:cNvSpPr/>
          <p:nvPr/>
        </p:nvSpPr>
        <p:spPr>
          <a:xfrm>
            <a:off x="812800" y="4599583"/>
            <a:ext cx="10566400" cy="740966"/>
          </a:xfrm>
          <a:custGeom>
            <a:avLst/>
            <a:gdLst/>
            <a:ahLst/>
            <a:cxnLst/>
            <a:rect l="l" t="t" r="r" b="b"/>
            <a:pathLst>
              <a:path w="10566400" h="740966">
                <a:moveTo>
                  <a:pt x="101600" y="740966"/>
                </a:moveTo>
                <a:lnTo>
                  <a:pt x="101600" y="740966"/>
                </a:lnTo>
                <a:arcTo hR="101600" wR="101600" stAng="5400000" swAng="5400000"/>
                <a:lnTo>
                  <a:pt x="0" y="101600"/>
                </a:lnTo>
                <a:arcTo hR="101600" wR="101600" stAng="10800000" swAng="5400000"/>
                <a:lnTo>
                  <a:pt x="101600" y="0"/>
                </a:lnTo>
                <a:arcTo hR="101600" wR="63500" stAng="16200000" swAng="-5400000"/>
                <a:lnTo>
                  <a:pt x="38100" y="639366"/>
                </a:lnTo>
                <a:arcTo hR="101600" wR="63500" stAng="10800000" swAng="-5400000"/>
                <a:close/>
              </a:path>
            </a:pathLst>
          </a:custGeom>
          <a:solidFill>
            <a:srgbClr val="2C7A4B"/>
          </a:solidFill>
          <a:ln/>
        </p:spPr>
      </p:sp>
      <p:sp>
        <p:nvSpPr>
          <p:cNvPr id="30" name="Text 22"/>
          <p:cNvSpPr/>
          <p:nvPr/>
        </p:nvSpPr>
        <p:spPr>
          <a:xfrm>
            <a:off x="1054100" y="473928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31" name="Text 23"/>
          <p:cNvSpPr/>
          <p:nvPr/>
        </p:nvSpPr>
        <p:spPr>
          <a:xfrm>
            <a:off x="1054100" y="4978003"/>
            <a:ext cx="1042555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Mock објекти су оправдани на променљивим спољним границама: репозиторијум, HTTP клијент, време и случајност.</a:t>
            </a:r>
            <a:endParaRPr lang="en-US" sz="1300" dirty="0"/>
          </a:p>
        </p:txBody>
      </p:sp>
      <p:sp>
        <p:nvSpPr>
          <p:cNvPr id="32" name="Shape 24"/>
          <p:cNvSpPr/>
          <p:nvPr/>
        </p:nvSpPr>
        <p:spPr>
          <a:xfrm>
            <a:off x="812800" y="6209705"/>
            <a:ext cx="10566400" cy="0"/>
          </a:xfrm>
          <a:prstGeom prst="line">
            <a:avLst/>
          </a:prstGeom>
          <a:noFill/>
          <a:ln w="6350">
            <a:solidFill>
              <a:srgbClr val="D3DAE1"/>
            </a:solidFill>
            <a:prstDash val="solid"/>
          </a:ln>
        </p:spPr>
      </p:sp>
      <p:sp>
        <p:nvSpPr>
          <p:cNvPr id="33"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4"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02 · TEST DOUBLE И MOQ</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Врсте test double објеката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Назив зависи од тога шта замена ради у тесту. Подела потиче из књиге xUnit Test Patterns (Meszaros, 2007).</a:t>
            </a:r>
            <a:endParaRPr lang="en-US" sz="1400" dirty="0"/>
          </a:p>
        </p:txBody>
      </p:sp>
      <p:sp>
        <p:nvSpPr>
          <p:cNvPr id="6" name="Shape 4"/>
          <p:cNvSpPr/>
          <p:nvPr/>
        </p:nvSpPr>
        <p:spPr>
          <a:xfrm>
            <a:off x="812800" y="2125861"/>
            <a:ext cx="10566400" cy="2754511"/>
          </a:xfrm>
          <a:prstGeom prst="roundRect">
            <a:avLst>
              <a:gd name="adj" fmla="val 3688"/>
            </a:avLst>
          </a:prstGeom>
          <a:solidFill>
            <a:srgbClr val="FCFCFB"/>
          </a:solidFill>
          <a:ln/>
        </p:spPr>
      </p:sp>
      <p:sp>
        <p:nvSpPr>
          <p:cNvPr id="7" name="Shape 5"/>
          <p:cNvSpPr/>
          <p:nvPr/>
        </p:nvSpPr>
        <p:spPr>
          <a:xfrm>
            <a:off x="812800" y="2125861"/>
            <a:ext cx="10566400" cy="2754511"/>
          </a:xfrm>
          <a:custGeom>
            <a:avLst/>
            <a:gdLst/>
            <a:ahLst/>
            <a:cxnLst/>
            <a:rect l="l" t="t" r="r" b="b"/>
            <a:pathLst>
              <a:path w="10566400" h="2754511">
                <a:moveTo>
                  <a:pt x="10464800" y="0"/>
                </a:moveTo>
                <a:lnTo>
                  <a:pt x="10464800" y="0"/>
                </a:lnTo>
                <a:arcTo hR="101600" wR="101600" stAng="16200000" swAng="5400000"/>
                <a:lnTo>
                  <a:pt x="10566400" y="2652911"/>
                </a:lnTo>
                <a:arcTo hR="101600" wR="101600" stAng="0" swAng="5400000"/>
                <a:lnTo>
                  <a:pt x="101600" y="2754511"/>
                </a:lnTo>
                <a:arcTo hR="101600" wR="101600" stAng="5400000" swAng="5400000"/>
                <a:lnTo>
                  <a:pt x="0" y="2652911"/>
                </a:lnTo>
                <a:arcTo hR="95250" wR="101600" stAng="10800000" swAng="-5400000"/>
                <a:lnTo>
                  <a:pt x="10464800" y="2748161"/>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25861"/>
            <a:ext cx="10566400" cy="2754511"/>
          </a:xfrm>
          <a:custGeom>
            <a:avLst/>
            <a:gdLst/>
            <a:ahLst/>
            <a:cxnLst/>
            <a:rect l="l" t="t" r="r" b="b"/>
            <a:pathLst>
              <a:path w="10566400" h="2754511">
                <a:moveTo>
                  <a:pt x="101600" y="2754511"/>
                </a:moveTo>
                <a:lnTo>
                  <a:pt x="101600" y="2754511"/>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652911"/>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38561"/>
          <a:ext cx="10547350" cy="2735461"/>
        </p:xfrm>
        <a:graphic>
          <a:graphicData uri="http://schemas.openxmlformats.org/drawingml/2006/table">
            <a:tbl>
              <a:tblPr/>
              <a:tblGrid>
                <a:gridCol w="1898523"/>
                <a:gridCol w="5062728"/>
                <a:gridCol w="3586099"/>
              </a:tblGrid>
              <a:tr h="455910">
                <a:tc>
                  <a:txBody>
                    <a:bodyPr/>
                    <a:lstStyle/>
                    <a:p>
                      <a:pPr indent="0" marL="0">
                        <a:lnSpc>
                          <a:spcPts val="1890"/>
                        </a:lnSpc>
                        <a:buNone/>
                      </a:pPr>
                      <a:r>
                        <a:rPr lang="en-US" sz="1350" b="1" dirty="0">
                          <a:solidFill>
                            <a:srgbClr val="13202D"/>
                          </a:solidFill>
                          <a:latin typeface="IBM Plex Sans" pitchFamily="34" charset="0"/>
                          <a:ea typeface="IBM Plex Sans" pitchFamily="34" charset="-122"/>
                          <a:cs typeface="IBM Plex Sans" pitchFamily="34" charset="-120"/>
                        </a:rPr>
                        <a:t>Врста</a:t>
                      </a:r>
                      <a:endParaRPr lang="en-US" sz="135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c>
                  <a:txBody>
                    <a:bodyPr/>
                    <a:lstStyle/>
                    <a:p>
                      <a:pPr indent="0" marL="0">
                        <a:lnSpc>
                          <a:spcPts val="1890"/>
                        </a:lnSpc>
                        <a:buNone/>
                      </a:pPr>
                      <a:r>
                        <a:rPr lang="en-US" sz="1350" b="1" dirty="0">
                          <a:solidFill>
                            <a:srgbClr val="13202D"/>
                          </a:solidFill>
                          <a:latin typeface="IBM Plex Sans" pitchFamily="34" charset="0"/>
                          <a:ea typeface="IBM Plex Sans" pitchFamily="34" charset="-122"/>
                          <a:cs typeface="IBM Plex Sans" pitchFamily="34" charset="-120"/>
                        </a:rPr>
                        <a:t>Шта ради</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B7BCB8"/>
                      </a:solidFill>
                      <a:prstDash val="solid"/>
                      <a:round/>
                      <a:headEnd type="none" w="med" len="med"/>
                      <a:tailEnd type="none" w="med" len="med"/>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c>
                  <a:txBody>
                    <a:bodyPr/>
                    <a:lstStyle/>
                    <a:p>
                      <a:pPr indent="0" marL="0">
                        <a:lnSpc>
                          <a:spcPts val="1890"/>
                        </a:lnSpc>
                        <a:buNone/>
                      </a:pPr>
                      <a:r>
                        <a:rPr lang="en-US" sz="1350" b="1" dirty="0">
                          <a:solidFill>
                            <a:srgbClr val="13202D"/>
                          </a:solidFill>
                          <a:latin typeface="IBM Plex Sans" pitchFamily="34" charset="0"/>
                          <a:ea typeface="IBM Plex Sans" pitchFamily="34" charset="-122"/>
                          <a:cs typeface="IBM Plex Sans" pitchFamily="34" charset="-120"/>
                        </a:rPr>
                        <a:t>Пример у ERS-у</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B7BCB8"/>
                      </a:solidFill>
                      <a:prstDash val="solid"/>
                      <a:round/>
                      <a:headEnd type="none" w="med" len="med"/>
                      <a:tailEnd type="none" w="med" len="med"/>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r>
              <a:tr h="455910">
                <a:tc>
                  <a:txBody>
                    <a:bodyPr/>
                    <a:lstStyle/>
                    <a:p>
                      <a:pPr indent="0" marL="0">
                        <a:lnSpc>
                          <a:spcPts val="1890"/>
                        </a:lnSpc>
                        <a:buNone/>
                      </a:pPr>
                      <a:r>
                        <a:rPr lang="en-US" sz="1350" dirty="0">
                          <a:solidFill>
                            <a:srgbClr val="2C7A4B"/>
                          </a:solidFill>
                          <a:latin typeface="IBM Plex Sans" pitchFamily="34" charset="0"/>
                          <a:ea typeface="IBM Plex Sans" pitchFamily="34" charset="-122"/>
                          <a:cs typeface="IBM Plex Sans" pitchFamily="34" charset="-120"/>
                        </a:rPr>
                        <a:t>Dummy</a:t>
                      </a:r>
                      <a:endParaRPr lang="en-US" sz="135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само попуњава параметар који се не користи</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празан logger</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5910">
                <a:tc>
                  <a:txBody>
                    <a:bodyPr/>
                    <a:lstStyle/>
                    <a:p>
                      <a:pPr indent="0" marL="0">
                        <a:lnSpc>
                          <a:spcPts val="1890"/>
                        </a:lnSpc>
                        <a:buNone/>
                      </a:pPr>
                      <a:r>
                        <a:rPr lang="en-US" sz="1350" dirty="0">
                          <a:solidFill>
                            <a:srgbClr val="2C7A4B"/>
                          </a:solidFill>
                          <a:latin typeface="IBM Plex Sans" pitchFamily="34" charset="0"/>
                          <a:ea typeface="IBM Plex Sans" pitchFamily="34" charset="-122"/>
                          <a:cs typeface="IBM Plex Sans" pitchFamily="34" charset="-120"/>
                        </a:rPr>
                        <a:t>Stub</a:t>
                      </a:r>
                      <a:endParaRPr lang="en-US" sz="135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враћа унапред задат одговор</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HasOverlap враћа true</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5910">
                <a:tc>
                  <a:txBody>
                    <a:bodyPr/>
                    <a:lstStyle/>
                    <a:p>
                      <a:pPr indent="0" marL="0">
                        <a:lnSpc>
                          <a:spcPts val="1890"/>
                        </a:lnSpc>
                        <a:buNone/>
                      </a:pPr>
                      <a:r>
                        <a:rPr lang="en-US" sz="1350" dirty="0">
                          <a:solidFill>
                            <a:srgbClr val="2C7A4B"/>
                          </a:solidFill>
                          <a:latin typeface="IBM Plex Sans" pitchFamily="34" charset="0"/>
                          <a:ea typeface="IBM Plex Sans" pitchFamily="34" charset="-122"/>
                          <a:cs typeface="IBM Plex Sans" pitchFamily="34" charset="-120"/>
                        </a:rPr>
                        <a:t>Fake</a:t>
                      </a:r>
                      <a:endParaRPr lang="en-US" sz="135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поједностављена радна имплементација</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in-memory repository</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5910">
                <a:tc>
                  <a:txBody>
                    <a:bodyPr/>
                    <a:lstStyle/>
                    <a:p>
                      <a:pPr indent="0" marL="0">
                        <a:lnSpc>
                          <a:spcPts val="1890"/>
                        </a:lnSpc>
                        <a:buNone/>
                      </a:pPr>
                      <a:r>
                        <a:rPr lang="en-US" sz="1350" dirty="0">
                          <a:solidFill>
                            <a:srgbClr val="2C7A4B"/>
                          </a:solidFill>
                          <a:latin typeface="IBM Plex Sans" pitchFamily="34" charset="0"/>
                          <a:ea typeface="IBM Plex Sans" pitchFamily="34" charset="-122"/>
                          <a:cs typeface="IBM Plex Sans" pitchFamily="34" charset="-120"/>
                        </a:rPr>
                        <a:t>Spy</a:t>
                      </a:r>
                      <a:endParaRPr lang="en-US" sz="135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бележи позиве ради касније провере</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бројач позива Save</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5910">
                <a:tc>
                  <a:txBody>
                    <a:bodyPr/>
                    <a:lstStyle/>
                    <a:p>
                      <a:pPr indent="0" marL="0">
                        <a:lnSpc>
                          <a:spcPts val="1890"/>
                        </a:lnSpc>
                        <a:buNone/>
                      </a:pPr>
                      <a:r>
                        <a:rPr lang="en-US" sz="1350" dirty="0">
                          <a:solidFill>
                            <a:srgbClr val="A8520A"/>
                          </a:solidFill>
                          <a:latin typeface="IBM Plex Sans" pitchFamily="34" charset="0"/>
                          <a:ea typeface="IBM Plex Sans" pitchFamily="34" charset="-122"/>
                          <a:cs typeface="IBM Plex Sans" pitchFamily="34" charset="-120"/>
                        </a:rPr>
                        <a:t>Mock</a:t>
                      </a:r>
                      <a:endParaRPr lang="en-US" sz="135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проверава очекиване интеракције</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Verify(Save, Times.Once)</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Text 7"/>
          <p:cNvSpPr/>
          <p:nvPr/>
        </p:nvSpPr>
        <p:spPr>
          <a:xfrm>
            <a:off x="812800" y="5108972"/>
            <a:ext cx="10566400" cy="416520"/>
          </a:xfrm>
          <a:prstGeom prst="roundRect">
            <a:avLst>
              <a:gd name="adj" fmla="val 18294"/>
            </a:avLst>
          </a:prstGeom>
          <a:solidFill>
            <a:srgbClr val="E5ECE7"/>
          </a:solidFill>
          <a:ln/>
        </p:spPr>
        <p:txBody>
          <a:bodyPr wrap="square" lIns="130082" tIns="79282" rIns="0" bIns="53882"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У Moq-у исти Mock&lt;T&gt; објекат служи као stub када користимо Setup, а као mock када користимо Verify.</a:t>
            </a:r>
            <a:endParaRPr lang="en-US" sz="1200" dirty="0"/>
          </a:p>
        </p:txBody>
      </p:sp>
      <p:sp>
        <p:nvSpPr>
          <p:cNvPr id="11" name="Shape 8"/>
          <p:cNvSpPr/>
          <p:nvPr/>
        </p:nvSpPr>
        <p:spPr>
          <a:xfrm>
            <a:off x="812800" y="6209705"/>
            <a:ext cx="10566400" cy="0"/>
          </a:xfrm>
          <a:prstGeom prst="line">
            <a:avLst/>
          </a:prstGeom>
          <a:noFill/>
          <a:ln w="6350">
            <a:solidFill>
              <a:srgbClr val="D3DAE1"/>
            </a:solidFill>
            <a:prstDash val="solid"/>
          </a:ln>
        </p:spPr>
      </p:sp>
      <p:sp>
        <p:nvSpPr>
          <p:cNvPr id="12"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02 · TEST DOUBLE И MOQ</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Критеријуми за употребу mock објеката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Mock објекат контролише променљиву спољну зависност чија имплементација није предмет теста.</a:t>
            </a:r>
            <a:endParaRPr lang="en-US" sz="1400" dirty="0"/>
          </a:p>
        </p:txBody>
      </p:sp>
      <p:sp>
        <p:nvSpPr>
          <p:cNvPr id="6" name="Shape 4"/>
          <p:cNvSpPr/>
          <p:nvPr/>
        </p:nvSpPr>
        <p:spPr>
          <a:xfrm>
            <a:off x="812800" y="2176661"/>
            <a:ext cx="10566400" cy="2596753"/>
          </a:xfrm>
          <a:prstGeom prst="roundRect">
            <a:avLst>
              <a:gd name="adj" fmla="val 3913"/>
            </a:avLst>
          </a:prstGeom>
          <a:solidFill>
            <a:srgbClr val="FCFCFB"/>
          </a:solidFill>
          <a:ln/>
        </p:spPr>
      </p:sp>
      <p:sp>
        <p:nvSpPr>
          <p:cNvPr id="7" name="Shape 5"/>
          <p:cNvSpPr/>
          <p:nvPr/>
        </p:nvSpPr>
        <p:spPr>
          <a:xfrm>
            <a:off x="812800" y="2176661"/>
            <a:ext cx="10566400" cy="2596753"/>
          </a:xfrm>
          <a:custGeom>
            <a:avLst/>
            <a:gdLst/>
            <a:ahLst/>
            <a:cxnLst/>
            <a:rect l="l" t="t" r="r" b="b"/>
            <a:pathLst>
              <a:path w="10566400" h="2596753">
                <a:moveTo>
                  <a:pt x="10464800" y="0"/>
                </a:moveTo>
                <a:lnTo>
                  <a:pt x="10464800" y="0"/>
                </a:lnTo>
                <a:arcTo hR="101600" wR="101600" stAng="16200000" swAng="5400000"/>
                <a:lnTo>
                  <a:pt x="10566400" y="2495153"/>
                </a:lnTo>
                <a:arcTo hR="101600" wR="101600" stAng="0" swAng="5400000"/>
                <a:lnTo>
                  <a:pt x="101600" y="2596753"/>
                </a:lnTo>
                <a:arcTo hR="101600" wR="101600" stAng="5400000" swAng="5400000"/>
                <a:lnTo>
                  <a:pt x="0" y="2495153"/>
                </a:lnTo>
                <a:arcTo hR="95250" wR="101600" stAng="10800000" swAng="-5400000"/>
                <a:lnTo>
                  <a:pt x="10464800" y="2590403"/>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596753"/>
          </a:xfrm>
          <a:custGeom>
            <a:avLst/>
            <a:gdLst/>
            <a:ahLst/>
            <a:cxnLst/>
            <a:rect l="l" t="t" r="r" b="b"/>
            <a:pathLst>
              <a:path w="10566400" h="2596753">
                <a:moveTo>
                  <a:pt x="101600" y="2596753"/>
                </a:moveTo>
                <a:lnTo>
                  <a:pt x="101600" y="259675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495153"/>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577703"/>
        </p:xfrm>
        <a:graphic>
          <a:graphicData uri="http://schemas.openxmlformats.org/drawingml/2006/table">
            <a:tbl>
              <a:tblPr/>
              <a:tblGrid>
                <a:gridCol w="4746308"/>
                <a:gridCol w="5801043"/>
              </a:tblGrid>
              <a:tr h="5155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Ситуација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Одлука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B7BCB8"/>
                      </a:solidFill>
                      <a:prstDash val="solid"/>
                      <a:round/>
                      <a:headEnd type="none" w="med" len="med"/>
                      <a:tailEnd type="none" w="med" len="med"/>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Repository или HTTP клијент</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2C7A4B"/>
                          </a:solidFill>
                          <a:latin typeface="IBM Plex Sans" pitchFamily="34" charset="0"/>
                          <a:ea typeface="IBM Plex Sans" pitchFamily="34" charset="-122"/>
                          <a:cs typeface="IBM Plex Sans" pitchFamily="34" charset="-120"/>
                        </a:rPr>
                        <a:t>mock контролише повратну вредност</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IClock или генератор ID-ја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2C7A4B"/>
                          </a:solidFill>
                          <a:latin typeface="IBM Plex Sans" pitchFamily="34" charset="0"/>
                          <a:ea typeface="IBM Plex Sans" pitchFamily="34" charset="-122"/>
                          <a:cs typeface="IBM Plex Sans" pitchFamily="34" charset="-120"/>
                        </a:rPr>
                        <a:t>mock обезбеђује детерминизам</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Мали value object</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користити стварни објекат</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Доменска класа која се тестира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не mock-овати предмет теста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02 · TEST DOUBLE И MOQ</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Moq: Setup и Verify</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Setup контролише сарадника, а Verify проверава значајну интеракцију.</a:t>
            </a:r>
            <a:endParaRPr lang="en-US" sz="1400" dirty="0"/>
          </a:p>
        </p:txBody>
      </p:sp>
      <p:sp>
        <p:nvSpPr>
          <p:cNvPr id="6" name="Shape 4"/>
          <p:cNvSpPr/>
          <p:nvPr/>
        </p:nvSpPr>
        <p:spPr>
          <a:xfrm>
            <a:off x="815975" y="2129036"/>
            <a:ext cx="7105650" cy="2607270"/>
          </a:xfrm>
          <a:prstGeom prst="roundRect">
            <a:avLst>
              <a:gd name="adj" fmla="val 3775"/>
            </a:avLst>
          </a:prstGeom>
          <a:solidFill>
            <a:srgbClr val="FCFCFB"/>
          </a:solidFill>
          <a:ln w="6350">
            <a:solidFill>
              <a:srgbClr val="D3DAE1"/>
            </a:solidFill>
            <a:prstDash val="solid"/>
          </a:ln>
        </p:spPr>
      </p:sp>
      <p:sp>
        <p:nvSpPr>
          <p:cNvPr id="7" name="Text 5"/>
          <p:cNvSpPr/>
          <p:nvPr/>
        </p:nvSpPr>
        <p:spPr>
          <a:xfrm>
            <a:off x="1022350" y="2284611"/>
            <a:ext cx="68936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Moq</a:t>
            </a:r>
            <a:endParaRPr lang="en-US" sz="1200" dirty="0"/>
          </a:p>
        </p:txBody>
      </p:sp>
      <p:sp>
        <p:nvSpPr>
          <p:cNvPr id="8" name="Text 6"/>
          <p:cNvSpPr/>
          <p:nvPr/>
        </p:nvSpPr>
        <p:spPr>
          <a:xfrm>
            <a:off x="1022350" y="2574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74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repository = </a:t>
            </a:r>
            <a:r>
              <a:rPr lang="en-US" sz="1200" dirty="0">
                <a:solidFill>
                  <a:srgbClr val="2C7A4B"/>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Mock&lt;IReservationRepository&gt;();</a:t>
            </a:r>
            <a:endParaRPr lang="en-US" sz="1200" dirty="0"/>
          </a:p>
        </p:txBody>
      </p:sp>
      <p:sp>
        <p:nvSpPr>
          <p:cNvPr id="10" name="Text 8"/>
          <p:cNvSpPr/>
          <p:nvPr/>
        </p:nvSpPr>
        <p:spPr>
          <a:xfrm>
            <a:off x="1022350" y="2828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28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repository.</a:t>
            </a:r>
            <a:r>
              <a:rPr lang="en-US" sz="1200" dirty="0">
                <a:solidFill>
                  <a:srgbClr val="2C7A4B"/>
                </a:solidFill>
                <a:latin typeface="IBM Plex Mono" pitchFamily="49" charset="0"/>
                <a:ea typeface="IBM Plex Mono" pitchFamily="49" charset="-122"/>
                <a:cs typeface="IBM Plex Mono" pitchFamily="49" charset="-120"/>
              </a:rPr>
              <a:t>Setup</a:t>
            </a:r>
            <a:r>
              <a:rPr lang="en-US" sz="1200" dirty="0">
                <a:solidFill>
                  <a:srgbClr val="13202D"/>
                </a:solidFill>
                <a:latin typeface="IBM Plex Mono" pitchFamily="49" charset="0"/>
                <a:ea typeface="IBM Plex Mono" pitchFamily="49" charset="-122"/>
                <a:cs typeface="IBM Plex Mono" pitchFamily="49" charset="-120"/>
              </a:rPr>
              <a:t>(r =&gt; r.FindById(reservationId))</a:t>
            </a:r>
            <a:endParaRPr lang="en-US" sz="1200" dirty="0"/>
          </a:p>
        </p:txBody>
      </p:sp>
      <p:sp>
        <p:nvSpPr>
          <p:cNvPr id="12" name="Text 10"/>
          <p:cNvSpPr/>
          <p:nvPr/>
        </p:nvSpPr>
        <p:spPr>
          <a:xfrm>
            <a:off x="1022350" y="3082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082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.Returns(existingReservation);</a:t>
            </a:r>
            <a:endParaRPr lang="en-US" sz="1200" dirty="0"/>
          </a:p>
        </p:txBody>
      </p:sp>
      <p:sp>
        <p:nvSpPr>
          <p:cNvPr id="14" name="Text 12"/>
          <p:cNvSpPr/>
          <p:nvPr/>
        </p:nvSpPr>
        <p:spPr>
          <a:xfrm>
            <a:off x="1022350" y="3336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022350" y="3590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6" name="Text 14"/>
          <p:cNvSpPr/>
          <p:nvPr/>
        </p:nvSpPr>
        <p:spPr>
          <a:xfrm>
            <a:off x="1403350" y="3590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result = service.Cancel(reservationId);</a:t>
            </a:r>
            <a:endParaRPr lang="en-US" sz="1200" dirty="0"/>
          </a:p>
        </p:txBody>
      </p:sp>
      <p:sp>
        <p:nvSpPr>
          <p:cNvPr id="17" name="Text 15"/>
          <p:cNvSpPr/>
          <p:nvPr/>
        </p:nvSpPr>
        <p:spPr>
          <a:xfrm>
            <a:off x="1022350" y="3844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022350" y="4098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19" name="Text 17"/>
          <p:cNvSpPr/>
          <p:nvPr/>
        </p:nvSpPr>
        <p:spPr>
          <a:xfrm>
            <a:off x="1403350" y="4098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repository.</a:t>
            </a:r>
            <a:r>
              <a:rPr lang="en-US" sz="1200" dirty="0">
                <a:solidFill>
                  <a:srgbClr val="A8520A"/>
                </a:solidFill>
                <a:latin typeface="IBM Plex Mono" pitchFamily="49" charset="0"/>
                <a:ea typeface="IBM Plex Mono" pitchFamily="49" charset="-122"/>
                <a:cs typeface="IBM Plex Mono" pitchFamily="49" charset="-120"/>
              </a:rPr>
              <a:t>Verify</a:t>
            </a:r>
            <a:r>
              <a:rPr lang="en-US" sz="1200" dirty="0">
                <a:solidFill>
                  <a:srgbClr val="13202D"/>
                </a:solidFill>
                <a:latin typeface="IBM Plex Mono" pitchFamily="49" charset="0"/>
                <a:ea typeface="IBM Plex Mono" pitchFamily="49" charset="-122"/>
                <a:cs typeface="IBM Plex Mono" pitchFamily="49" charset="-120"/>
              </a:rPr>
              <a:t>(r =&gt; r.Save(existingReservation),</a:t>
            </a:r>
            <a:endParaRPr lang="en-US" sz="1200" dirty="0"/>
          </a:p>
        </p:txBody>
      </p:sp>
      <p:sp>
        <p:nvSpPr>
          <p:cNvPr id="20" name="Text 18"/>
          <p:cNvSpPr/>
          <p:nvPr/>
        </p:nvSpPr>
        <p:spPr>
          <a:xfrm>
            <a:off x="1022350" y="4352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1" name="Text 19"/>
          <p:cNvSpPr/>
          <p:nvPr/>
        </p:nvSpPr>
        <p:spPr>
          <a:xfrm>
            <a:off x="1403350" y="4352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Times.Once);</a:t>
            </a:r>
            <a:endParaRPr lang="en-US" sz="1200" dirty="0"/>
          </a:p>
        </p:txBody>
      </p:sp>
      <p:sp>
        <p:nvSpPr>
          <p:cNvPr id="22" name="Text 20"/>
          <p:cNvSpPr/>
          <p:nvPr/>
        </p:nvSpPr>
        <p:spPr>
          <a:xfrm>
            <a:off x="8204200" y="2125861"/>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3" name="Shape 21"/>
          <p:cNvSpPr/>
          <p:nvPr/>
        </p:nvSpPr>
        <p:spPr>
          <a:xfrm>
            <a:off x="8216900" y="2466181"/>
            <a:ext cx="0" cy="487561"/>
          </a:xfrm>
          <a:prstGeom prst="line">
            <a:avLst/>
          </a:prstGeom>
          <a:noFill/>
          <a:ln w="25400">
            <a:solidFill>
              <a:srgbClr val="2C7A4B"/>
            </a:solidFill>
            <a:prstDash val="solid"/>
          </a:ln>
        </p:spPr>
      </p:sp>
      <p:sp>
        <p:nvSpPr>
          <p:cNvPr id="24" name="Text 22"/>
          <p:cNvSpPr/>
          <p:nvPr/>
        </p:nvSpPr>
        <p:spPr>
          <a:xfrm>
            <a:off x="8369300" y="2478881"/>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Verify је оправдан када је интеракција део понашања.</a:t>
            </a:r>
            <a:endParaRPr lang="en-US" sz="1300" dirty="0"/>
          </a:p>
        </p:txBody>
      </p:sp>
      <p:sp>
        <p:nvSpPr>
          <p:cNvPr id="25" name="Shape 23"/>
          <p:cNvSpPr/>
          <p:nvPr/>
        </p:nvSpPr>
        <p:spPr>
          <a:xfrm>
            <a:off x="8216900" y="3080742"/>
            <a:ext cx="0" cy="487561"/>
          </a:xfrm>
          <a:prstGeom prst="line">
            <a:avLst/>
          </a:prstGeom>
          <a:noFill/>
          <a:ln w="25400">
            <a:solidFill>
              <a:srgbClr val="E07B1F"/>
            </a:solidFill>
            <a:prstDash val="solid"/>
          </a:ln>
        </p:spPr>
      </p:sp>
      <p:sp>
        <p:nvSpPr>
          <p:cNvPr id="26" name="Text 24"/>
          <p:cNvSpPr/>
          <p:nvPr/>
        </p:nvSpPr>
        <p:spPr>
          <a:xfrm>
            <a:off x="8369300" y="3093442"/>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Превише Verify провера прави крхак тест.</a:t>
            </a:r>
            <a:endParaRPr lang="en-US" sz="1300" dirty="0"/>
          </a:p>
        </p:txBody>
      </p:sp>
      <p:sp>
        <p:nvSpPr>
          <p:cNvPr id="27" name="Shape 25"/>
          <p:cNvSpPr/>
          <p:nvPr/>
        </p:nvSpPr>
        <p:spPr>
          <a:xfrm>
            <a:off x="8216900" y="3695303"/>
            <a:ext cx="0" cy="487561"/>
          </a:xfrm>
          <a:prstGeom prst="line">
            <a:avLst/>
          </a:prstGeom>
          <a:noFill/>
          <a:ln w="25400">
            <a:solidFill>
              <a:srgbClr val="E07B1F"/>
            </a:solidFill>
            <a:prstDash val="solid"/>
          </a:ln>
        </p:spPr>
      </p:sp>
      <p:sp>
        <p:nvSpPr>
          <p:cNvPr id="28" name="Text 26"/>
          <p:cNvSpPr/>
          <p:nvPr/>
        </p:nvSpPr>
        <p:spPr>
          <a:xfrm>
            <a:off x="8369300" y="3708003"/>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Не проверавати сваки интерни позив без потребе.</a:t>
            </a:r>
            <a:endParaRPr lang="en-US" sz="1300" dirty="0"/>
          </a:p>
        </p:txBody>
      </p:sp>
      <p:sp>
        <p:nvSpPr>
          <p:cNvPr id="29" name="Shape 27"/>
          <p:cNvSpPr/>
          <p:nvPr/>
        </p:nvSpPr>
        <p:spPr>
          <a:xfrm>
            <a:off x="815975" y="4971256"/>
            <a:ext cx="5200650" cy="466030"/>
          </a:xfrm>
          <a:prstGeom prst="roundRect">
            <a:avLst>
              <a:gd name="adj" fmla="val 18395"/>
            </a:avLst>
          </a:prstGeom>
          <a:solidFill>
            <a:srgbClr val="E5ECE7"/>
          </a:solidFill>
          <a:ln w="6350">
            <a:solidFill>
              <a:srgbClr val="CCDFD4"/>
            </a:solidFill>
            <a:prstDash val="solid"/>
          </a:ln>
        </p:spPr>
      </p:sp>
      <p:sp>
        <p:nvSpPr>
          <p:cNvPr id="30" name="Text 28"/>
          <p:cNvSpPr/>
          <p:nvPr/>
        </p:nvSpPr>
        <p:spPr>
          <a:xfrm>
            <a:off x="971550" y="5088731"/>
            <a:ext cx="5943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C7A4B"/>
                </a:solidFill>
                <a:latin typeface="IBM Plex Mono" pitchFamily="49" charset="0"/>
                <a:ea typeface="IBM Plex Mono" pitchFamily="49" charset="-122"/>
                <a:cs typeface="IBM Plex Mono" pitchFamily="49" charset="-120"/>
              </a:rPr>
              <a:t>Setup</a:t>
            </a:r>
            <a:endParaRPr lang="en-US" sz="1300" dirty="0"/>
          </a:p>
        </p:txBody>
      </p:sp>
      <p:sp>
        <p:nvSpPr>
          <p:cNvPr id="31" name="Text 29"/>
          <p:cNvSpPr/>
          <p:nvPr/>
        </p:nvSpPr>
        <p:spPr>
          <a:xfrm>
            <a:off x="1568450" y="5092799"/>
            <a:ext cx="442137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шта сарадник враћа · улога stub-а</a:t>
            </a:r>
            <a:endParaRPr lang="en-US" sz="1300" dirty="0"/>
          </a:p>
        </p:txBody>
      </p:sp>
      <p:sp>
        <p:nvSpPr>
          <p:cNvPr id="32" name="Shape 30"/>
          <p:cNvSpPr/>
          <p:nvPr/>
        </p:nvSpPr>
        <p:spPr>
          <a:xfrm>
            <a:off x="6175375" y="4971256"/>
            <a:ext cx="5200650" cy="466030"/>
          </a:xfrm>
          <a:prstGeom prst="roundRect">
            <a:avLst>
              <a:gd name="adj" fmla="val 18395"/>
            </a:avLst>
          </a:prstGeom>
          <a:solidFill>
            <a:srgbClr val="FBF1E6"/>
          </a:solidFill>
          <a:ln w="6350">
            <a:solidFill>
              <a:srgbClr val="E9B98C"/>
            </a:solidFill>
            <a:prstDash val="solid"/>
          </a:ln>
        </p:spPr>
      </p:sp>
      <p:sp>
        <p:nvSpPr>
          <p:cNvPr id="33" name="Text 31"/>
          <p:cNvSpPr/>
          <p:nvPr/>
        </p:nvSpPr>
        <p:spPr>
          <a:xfrm>
            <a:off x="6330950" y="5088731"/>
            <a:ext cx="6960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520A"/>
                </a:solidFill>
                <a:latin typeface="IBM Plex Mono" pitchFamily="49" charset="0"/>
                <a:ea typeface="IBM Plex Mono" pitchFamily="49" charset="-122"/>
                <a:cs typeface="IBM Plex Mono" pitchFamily="49" charset="-120"/>
              </a:rPr>
              <a:t>Verify</a:t>
            </a:r>
            <a:endParaRPr lang="en-US" sz="1300" dirty="0"/>
          </a:p>
        </p:txBody>
      </p:sp>
      <p:sp>
        <p:nvSpPr>
          <p:cNvPr id="34" name="Text 32"/>
          <p:cNvSpPr/>
          <p:nvPr/>
        </p:nvSpPr>
        <p:spPr>
          <a:xfrm>
            <a:off x="7026970" y="5092799"/>
            <a:ext cx="431928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шта је сарадник примио · улога mock-а</a:t>
            </a:r>
            <a:endParaRPr lang="en-US" sz="1300" dirty="0"/>
          </a:p>
        </p:txBody>
      </p:sp>
      <p:sp>
        <p:nvSpPr>
          <p:cNvPr id="35" name="Shape 33"/>
          <p:cNvSpPr/>
          <p:nvPr/>
        </p:nvSpPr>
        <p:spPr>
          <a:xfrm>
            <a:off x="812800" y="6209705"/>
            <a:ext cx="10566400" cy="0"/>
          </a:xfrm>
          <a:prstGeom prst="line">
            <a:avLst/>
          </a:prstGeom>
          <a:noFill/>
          <a:ln w="6350">
            <a:solidFill>
              <a:srgbClr val="D3DAE1"/>
            </a:solidFill>
            <a:prstDash val="solid"/>
          </a:ln>
        </p:spPr>
      </p:sp>
      <p:sp>
        <p:nvSpPr>
          <p:cNvPr id="36" name="Text 3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7" name="Text 3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02 · TEST DOUBLE И MOQ</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Стабилност теста при рефакторисању</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Тест треба да остане стабилан када се мења приватна имплементација без промене понашања.</a:t>
            </a:r>
            <a:endParaRPr lang="en-US" sz="1400" dirty="0"/>
          </a:p>
        </p:txBody>
      </p:sp>
      <p:sp>
        <p:nvSpPr>
          <p:cNvPr id="6" name="Shape 4"/>
          <p:cNvSpPr/>
          <p:nvPr/>
        </p:nvSpPr>
        <p:spPr>
          <a:xfrm>
            <a:off x="815975" y="2179836"/>
            <a:ext cx="5187950" cy="2429272"/>
          </a:xfrm>
          <a:prstGeom prst="roundRect">
            <a:avLst>
              <a:gd name="adj" fmla="val 4052"/>
            </a:avLst>
          </a:prstGeom>
          <a:solidFill>
            <a:srgbClr val="FCFCFB"/>
          </a:solidFill>
          <a:ln w="6350">
            <a:solidFill>
              <a:srgbClr val="D3DAE1"/>
            </a:solidFill>
            <a:prstDash val="solid"/>
          </a:ln>
        </p:spPr>
      </p:sp>
      <p:sp>
        <p:nvSpPr>
          <p:cNvPr id="7" name="Shape 5"/>
          <p:cNvSpPr/>
          <p:nvPr/>
        </p:nvSpPr>
        <p:spPr>
          <a:xfrm>
            <a:off x="1022350" y="2360811"/>
            <a:ext cx="355600" cy="355600"/>
          </a:xfrm>
          <a:prstGeom prst="roundRect">
            <a:avLst>
              <a:gd name="adj" fmla="val 21429"/>
            </a:avLst>
          </a:prstGeom>
          <a:solidFill>
            <a:srgbClr val="E1ECE6"/>
          </a:solidFill>
          <a:ln/>
        </p:spPr>
      </p:sp>
      <p:pic>
        <p:nvPicPr>
          <p:cNvPr id="8" name="Image 0" descr="CheckCircle">    </p:cNvPr>
          <p:cNvPicPr>
            <a:picLocks noChangeAspect="1"/>
          </p:cNvPicPr>
          <p:nvPr/>
        </p:nvPicPr>
        <p:blipFill>
          <a:blip r:embed="rId1"/>
          <a:srcRect l="0" r="0" t="0" b="0"/>
          <a:stretch/>
        </p:blipFill>
        <p:spPr>
          <a:xfrm>
            <a:off x="1098550" y="2437011"/>
            <a:ext cx="203200" cy="203200"/>
          </a:xfrm>
          <a:prstGeom prst="rect">
            <a:avLst/>
          </a:prstGeom>
        </p:spPr>
      </p:pic>
      <p:sp>
        <p:nvSpPr>
          <p:cNvPr id="9" name="Text 6"/>
          <p:cNvSpPr/>
          <p:nvPr/>
        </p:nvSpPr>
        <p:spPr>
          <a:xfrm>
            <a:off x="1479550" y="2416671"/>
            <a:ext cx="11969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C7A4B"/>
                </a:solidFill>
                <a:latin typeface="IBM Plex Sans" pitchFamily="34" charset="0"/>
                <a:ea typeface="IBM Plex Sans" pitchFamily="34" charset="-122"/>
                <a:cs typeface="IBM Plex Sans" pitchFamily="34" charset="-120"/>
              </a:rPr>
              <a:t>Тестирати</a:t>
            </a:r>
            <a:endParaRPr lang="en-US" sz="1600" dirty="0"/>
          </a:p>
        </p:txBody>
      </p:sp>
      <p:sp>
        <p:nvSpPr>
          <p:cNvPr id="10" name="Shape 7"/>
          <p:cNvSpPr/>
          <p:nvPr/>
        </p:nvSpPr>
        <p:spPr>
          <a:xfrm>
            <a:off x="1022350" y="2821186"/>
            <a:ext cx="4775200" cy="0"/>
          </a:xfrm>
          <a:prstGeom prst="line">
            <a:avLst/>
          </a:prstGeom>
          <a:noFill/>
          <a:ln w="6350">
            <a:solidFill>
              <a:srgbClr val="E3E8EE"/>
            </a:solidFill>
            <a:prstDash val="solid"/>
          </a:ln>
        </p:spPr>
      </p:sp>
      <p:sp>
        <p:nvSpPr>
          <p:cNvPr id="11" name="Text 8"/>
          <p:cNvSpPr/>
          <p:nvPr/>
        </p:nvSpPr>
        <p:spPr>
          <a:xfrm>
            <a:off x="1022350" y="291326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видљиви резултат</a:t>
            </a:r>
            <a:endParaRPr lang="en-US" sz="1300" dirty="0"/>
          </a:p>
        </p:txBody>
      </p:sp>
      <p:sp>
        <p:nvSpPr>
          <p:cNvPr id="12" name="Shape 9"/>
          <p:cNvSpPr/>
          <p:nvPr/>
        </p:nvSpPr>
        <p:spPr>
          <a:xfrm>
            <a:off x="1022350" y="3249116"/>
            <a:ext cx="4775200" cy="0"/>
          </a:xfrm>
          <a:prstGeom prst="line">
            <a:avLst/>
          </a:prstGeom>
          <a:noFill/>
          <a:ln w="6350">
            <a:solidFill>
              <a:srgbClr val="E3E8EE"/>
            </a:solidFill>
            <a:prstDash val="solid"/>
          </a:ln>
        </p:spPr>
      </p:sp>
      <p:sp>
        <p:nvSpPr>
          <p:cNvPr id="13" name="Text 10"/>
          <p:cNvSpPr/>
          <p:nvPr/>
        </p:nvSpPr>
        <p:spPr>
          <a:xfrm>
            <a:off x="1022350" y="334119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стабилан код неуспеха</a:t>
            </a:r>
            <a:endParaRPr lang="en-US" sz="1300" dirty="0"/>
          </a:p>
        </p:txBody>
      </p:sp>
      <p:sp>
        <p:nvSpPr>
          <p:cNvPr id="14" name="Shape 11"/>
          <p:cNvSpPr/>
          <p:nvPr/>
        </p:nvSpPr>
        <p:spPr>
          <a:xfrm>
            <a:off x="1022350" y="3677047"/>
            <a:ext cx="4775200" cy="0"/>
          </a:xfrm>
          <a:prstGeom prst="line">
            <a:avLst/>
          </a:prstGeom>
          <a:noFill/>
          <a:ln w="6350">
            <a:solidFill>
              <a:srgbClr val="E3E8EE"/>
            </a:solidFill>
            <a:prstDash val="solid"/>
          </a:ln>
        </p:spPr>
      </p:sp>
      <p:sp>
        <p:nvSpPr>
          <p:cNvPr id="15" name="Text 12"/>
          <p:cNvSpPr/>
          <p:nvPr/>
        </p:nvSpPr>
        <p:spPr>
          <a:xfrm>
            <a:off x="1022350" y="376912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значајну интеракцију</a:t>
            </a:r>
            <a:endParaRPr lang="en-US" sz="1300" dirty="0"/>
          </a:p>
        </p:txBody>
      </p:sp>
      <p:sp>
        <p:nvSpPr>
          <p:cNvPr id="16" name="Shape 13"/>
          <p:cNvSpPr/>
          <p:nvPr/>
        </p:nvSpPr>
        <p:spPr>
          <a:xfrm>
            <a:off x="1022350" y="4104977"/>
            <a:ext cx="4775200" cy="0"/>
          </a:xfrm>
          <a:prstGeom prst="line">
            <a:avLst/>
          </a:prstGeom>
          <a:noFill/>
          <a:ln w="6350">
            <a:solidFill>
              <a:srgbClr val="E3E8EE"/>
            </a:solidFill>
            <a:prstDash val="solid"/>
          </a:ln>
        </p:spPr>
      </p:sp>
      <p:sp>
        <p:nvSpPr>
          <p:cNvPr id="17" name="Text 14"/>
          <p:cNvSpPr/>
          <p:nvPr/>
        </p:nvSpPr>
        <p:spPr>
          <a:xfrm>
            <a:off x="1022350" y="419705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гранично понашање</a:t>
            </a:r>
            <a:endParaRPr lang="en-US" sz="1300" dirty="0"/>
          </a:p>
        </p:txBody>
      </p:sp>
      <p:sp>
        <p:nvSpPr>
          <p:cNvPr id="18" name="Shape 15"/>
          <p:cNvSpPr/>
          <p:nvPr/>
        </p:nvSpPr>
        <p:spPr>
          <a:xfrm>
            <a:off x="6188075" y="2179836"/>
            <a:ext cx="5187950" cy="2429272"/>
          </a:xfrm>
          <a:prstGeom prst="roundRect">
            <a:avLst>
              <a:gd name="adj" fmla="val 4052"/>
            </a:avLst>
          </a:prstGeom>
          <a:solidFill>
            <a:srgbClr val="FCFCFB"/>
          </a:solidFill>
          <a:ln w="6350">
            <a:solidFill>
              <a:srgbClr val="D3DAE1"/>
            </a:solidFill>
            <a:prstDash val="solid"/>
          </a:ln>
        </p:spPr>
      </p:sp>
      <p:sp>
        <p:nvSpPr>
          <p:cNvPr id="19" name="Shape 16"/>
          <p:cNvSpPr/>
          <p:nvPr/>
        </p:nvSpPr>
        <p:spPr>
          <a:xfrm>
            <a:off x="6394450" y="2360811"/>
            <a:ext cx="355600" cy="355600"/>
          </a:xfrm>
          <a:prstGeom prst="roundRect">
            <a:avLst>
              <a:gd name="adj" fmla="val 21429"/>
            </a:avLst>
          </a:prstGeom>
          <a:solidFill>
            <a:srgbClr val="FBF1E6"/>
          </a:solidFill>
          <a:ln/>
        </p:spPr>
      </p:sp>
      <p:pic>
        <p:nvPicPr>
          <p:cNvPr id="20" name="Image 1" descr="Warning">    </p:cNvPr>
          <p:cNvPicPr>
            <a:picLocks noChangeAspect="1"/>
          </p:cNvPicPr>
          <p:nvPr/>
        </p:nvPicPr>
        <p:blipFill>
          <a:blip r:embed="rId2"/>
          <a:srcRect l="0" r="0" t="0" b="0"/>
          <a:stretch/>
        </p:blipFill>
        <p:spPr>
          <a:xfrm>
            <a:off x="6470650" y="2437011"/>
            <a:ext cx="203200" cy="203200"/>
          </a:xfrm>
          <a:prstGeom prst="rect">
            <a:avLst/>
          </a:prstGeom>
        </p:spPr>
      </p:pic>
      <p:sp>
        <p:nvSpPr>
          <p:cNvPr id="21" name="Text 17"/>
          <p:cNvSpPr/>
          <p:nvPr/>
        </p:nvSpPr>
        <p:spPr>
          <a:xfrm>
            <a:off x="6851650" y="2416671"/>
            <a:ext cx="20938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520A"/>
                </a:solidFill>
                <a:latin typeface="IBM Plex Sans" pitchFamily="34" charset="0"/>
                <a:ea typeface="IBM Plex Sans" pitchFamily="34" charset="-122"/>
                <a:cs typeface="IBM Plex Sans" pitchFamily="34" charset="-120"/>
              </a:rPr>
              <a:t>Не везивати се за</a:t>
            </a:r>
            <a:endParaRPr lang="en-US" sz="1600" dirty="0"/>
          </a:p>
        </p:txBody>
      </p:sp>
      <p:sp>
        <p:nvSpPr>
          <p:cNvPr id="22" name="Shape 18"/>
          <p:cNvSpPr/>
          <p:nvPr/>
        </p:nvSpPr>
        <p:spPr>
          <a:xfrm>
            <a:off x="6394450" y="2821186"/>
            <a:ext cx="4775200" cy="0"/>
          </a:xfrm>
          <a:prstGeom prst="line">
            <a:avLst/>
          </a:prstGeom>
          <a:noFill/>
          <a:ln w="6350">
            <a:solidFill>
              <a:srgbClr val="E3E8EE"/>
            </a:solidFill>
            <a:prstDash val="solid"/>
          </a:ln>
        </p:spPr>
      </p:sp>
      <p:sp>
        <p:nvSpPr>
          <p:cNvPr id="23" name="Text 19"/>
          <p:cNvSpPr/>
          <p:nvPr/>
        </p:nvSpPr>
        <p:spPr>
          <a:xfrm>
            <a:off x="6394450" y="291326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приватну методу</a:t>
            </a:r>
            <a:endParaRPr lang="en-US" sz="1300" dirty="0"/>
          </a:p>
        </p:txBody>
      </p:sp>
      <p:sp>
        <p:nvSpPr>
          <p:cNvPr id="24" name="Shape 20"/>
          <p:cNvSpPr/>
          <p:nvPr/>
        </p:nvSpPr>
        <p:spPr>
          <a:xfrm>
            <a:off x="6394450" y="3249116"/>
            <a:ext cx="4775200" cy="0"/>
          </a:xfrm>
          <a:prstGeom prst="line">
            <a:avLst/>
          </a:prstGeom>
          <a:noFill/>
          <a:ln w="6350">
            <a:solidFill>
              <a:srgbClr val="E3E8EE"/>
            </a:solidFill>
            <a:prstDash val="solid"/>
          </a:ln>
        </p:spPr>
      </p:sp>
      <p:sp>
        <p:nvSpPr>
          <p:cNvPr id="25" name="Text 21"/>
          <p:cNvSpPr/>
          <p:nvPr/>
        </p:nvSpPr>
        <p:spPr>
          <a:xfrm>
            <a:off x="6394450" y="334119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редослед непотребних позива</a:t>
            </a:r>
            <a:endParaRPr lang="en-US" sz="1300" dirty="0"/>
          </a:p>
        </p:txBody>
      </p:sp>
      <p:sp>
        <p:nvSpPr>
          <p:cNvPr id="26" name="Shape 22"/>
          <p:cNvSpPr/>
          <p:nvPr/>
        </p:nvSpPr>
        <p:spPr>
          <a:xfrm>
            <a:off x="6394450" y="3677047"/>
            <a:ext cx="4775200" cy="0"/>
          </a:xfrm>
          <a:prstGeom prst="line">
            <a:avLst/>
          </a:prstGeom>
          <a:noFill/>
          <a:ln w="6350">
            <a:solidFill>
              <a:srgbClr val="E3E8EE"/>
            </a:solidFill>
            <a:prstDash val="solid"/>
          </a:ln>
        </p:spPr>
      </p:sp>
      <p:sp>
        <p:nvSpPr>
          <p:cNvPr id="27" name="Text 23"/>
          <p:cNvSpPr/>
          <p:nvPr/>
        </p:nvSpPr>
        <p:spPr>
          <a:xfrm>
            <a:off x="6394450" y="376912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тренутну структуру петље</a:t>
            </a:r>
            <a:endParaRPr lang="en-US" sz="1300" dirty="0"/>
          </a:p>
        </p:txBody>
      </p:sp>
      <p:sp>
        <p:nvSpPr>
          <p:cNvPr id="28" name="Shape 24"/>
          <p:cNvSpPr/>
          <p:nvPr/>
        </p:nvSpPr>
        <p:spPr>
          <a:xfrm>
            <a:off x="6394450" y="4104977"/>
            <a:ext cx="4775200" cy="0"/>
          </a:xfrm>
          <a:prstGeom prst="line">
            <a:avLst/>
          </a:prstGeom>
          <a:noFill/>
          <a:ln w="6350">
            <a:solidFill>
              <a:srgbClr val="E3E8EE"/>
            </a:solidFill>
            <a:prstDash val="solid"/>
          </a:ln>
        </p:spPr>
      </p:sp>
      <p:sp>
        <p:nvSpPr>
          <p:cNvPr id="29" name="Text 25"/>
          <p:cNvSpPr/>
          <p:nvPr/>
        </p:nvSpPr>
        <p:spPr>
          <a:xfrm>
            <a:off x="6394450" y="419705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тривијалне setter-е</a:t>
            </a:r>
            <a:endParaRPr lang="en-US" sz="1300" dirty="0"/>
          </a:p>
        </p:txBody>
      </p:sp>
      <p:sp>
        <p:nvSpPr>
          <p:cNvPr id="30" name="Shape 26"/>
          <p:cNvSpPr/>
          <p:nvPr/>
        </p:nvSpPr>
        <p:spPr>
          <a:xfrm>
            <a:off x="812800" y="6209705"/>
            <a:ext cx="10566400" cy="0"/>
          </a:xfrm>
          <a:prstGeom prst="line">
            <a:avLst/>
          </a:prstGeom>
          <a:noFill/>
          <a:ln w="6350">
            <a:solidFill>
              <a:srgbClr val="D3DAE1"/>
            </a:solidFill>
            <a:prstDash val="solid"/>
          </a:ln>
        </p:spPr>
      </p:sp>
      <p:sp>
        <p:nvSpPr>
          <p:cNvPr id="31"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ECE7"/>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2C7A4B"/>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1690489"/>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ТРЕЋИ ДЕО</a:t>
            </a:r>
            <a:endParaRPr lang="en-US" sz="1200" dirty="0"/>
          </a:p>
        </p:txBody>
      </p:sp>
      <p:sp>
        <p:nvSpPr>
          <p:cNvPr id="4" name="Text 2"/>
          <p:cNvSpPr/>
          <p:nvPr>
            <p:ph type="title"/>
          </p:nvPr>
        </p:nvSpPr>
        <p:spPr>
          <a:xfrm>
            <a:off x="4267200" y="2081609"/>
            <a:ext cx="7325360" cy="130552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Сценарији и покривеност</a:t>
            </a:r>
            <a:endParaRPr lang="en-US" sz="4800" dirty="0"/>
          </a:p>
        </p:txBody>
      </p:sp>
      <p:sp>
        <p:nvSpPr>
          <p:cNvPr id="5" name="Text 3"/>
          <p:cNvSpPr/>
          <p:nvPr/>
        </p:nvSpPr>
        <p:spPr>
          <a:xfrm>
            <a:off x="4267200" y="353953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Који тестови носе највећу вредност и шта нам извештај о покривености заиста говори.</a:t>
            </a:r>
            <a:endParaRPr lang="en-US" sz="1400" dirty="0"/>
          </a:p>
        </p:txBody>
      </p:sp>
      <p:sp>
        <p:nvSpPr>
          <p:cNvPr id="6" name="Text 4"/>
          <p:cNvSpPr/>
          <p:nvPr/>
        </p:nvSpPr>
        <p:spPr>
          <a:xfrm>
            <a:off x="4270375" y="4236045"/>
            <a:ext cx="1751806"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Извођење сценарија</a:t>
            </a:r>
            <a:endParaRPr lang="en-US" sz="1200" dirty="0"/>
          </a:p>
        </p:txBody>
      </p:sp>
      <p:sp>
        <p:nvSpPr>
          <p:cNvPr id="7" name="Text 5"/>
          <p:cNvSpPr/>
          <p:nvPr/>
        </p:nvSpPr>
        <p:spPr>
          <a:xfrm>
            <a:off x="6104731" y="4236045"/>
            <a:ext cx="1429445"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План тестирања</a:t>
            </a:r>
            <a:endParaRPr lang="en-US" sz="1200" dirty="0"/>
          </a:p>
        </p:txBody>
      </p:sp>
      <p:sp>
        <p:nvSpPr>
          <p:cNvPr id="8" name="Text 6"/>
          <p:cNvSpPr/>
          <p:nvPr/>
        </p:nvSpPr>
        <p:spPr>
          <a:xfrm>
            <a:off x="7616726" y="4236045"/>
            <a:ext cx="881856"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TestCase</a:t>
            </a:r>
            <a:endParaRPr lang="en-US" sz="1200" dirty="0"/>
          </a:p>
        </p:txBody>
      </p:sp>
      <p:sp>
        <p:nvSpPr>
          <p:cNvPr id="9" name="Text 7"/>
          <p:cNvSpPr/>
          <p:nvPr/>
        </p:nvSpPr>
        <p:spPr>
          <a:xfrm>
            <a:off x="8581132" y="4236045"/>
            <a:ext cx="896541"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Coverage</a:t>
            </a:r>
            <a:endParaRPr lang="en-US" sz="1200" dirty="0"/>
          </a:p>
        </p:txBody>
      </p:sp>
      <p:sp>
        <p:nvSpPr>
          <p:cNvPr id="10" name="Text 8"/>
          <p:cNvSpPr/>
          <p:nvPr/>
        </p:nvSpPr>
        <p:spPr>
          <a:xfrm>
            <a:off x="4270375" y="4639866"/>
            <a:ext cx="1326158"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Линије и гране</a:t>
            </a:r>
            <a:endParaRPr lang="en-US" sz="1200" dirty="0"/>
          </a:p>
        </p:txBody>
      </p:sp>
      <p:sp>
        <p:nvSpPr>
          <p:cNvPr id="11" name="Text 9"/>
          <p:cNvSpPr/>
          <p:nvPr/>
        </p:nvSpPr>
        <p:spPr>
          <a:xfrm>
            <a:off x="5679083" y="4639866"/>
            <a:ext cx="1406922"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Анализа ризика</a:t>
            </a:r>
            <a:endParaRPr lang="en-US" sz="1200" dirty="0"/>
          </a:p>
        </p:txBody>
      </p:sp>
      <p:sp>
        <p:nvSpPr>
          <p:cNvPr id="12" name="Shape 10"/>
          <p:cNvSpPr/>
          <p:nvPr/>
        </p:nvSpPr>
        <p:spPr>
          <a:xfrm>
            <a:off x="812800" y="6209705"/>
            <a:ext cx="10566400" cy="0"/>
          </a:xfrm>
          <a:prstGeom prst="line">
            <a:avLst/>
          </a:prstGeom>
          <a:noFill/>
          <a:ln w="6350">
            <a:solidFill>
              <a:srgbClr val="B3C4C1"/>
            </a:solidFill>
            <a:prstDash val="solid"/>
          </a:ln>
        </p:spPr>
      </p:sp>
      <p:sp>
        <p:nvSpPr>
          <p:cNvPr id="13" name="Text 1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4" name="Text 1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Извођење тест сценарија из правила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Тестови са највећом вредношћу покривају пословне ризике и граничне услове.</a:t>
            </a:r>
            <a:endParaRPr lang="en-US" sz="1400" dirty="0"/>
          </a:p>
        </p:txBody>
      </p:sp>
      <p:sp>
        <p:nvSpPr>
          <p:cNvPr id="6" name="Shape 4"/>
          <p:cNvSpPr/>
          <p:nvPr/>
        </p:nvSpPr>
        <p:spPr>
          <a:xfrm>
            <a:off x="815975" y="2179836"/>
            <a:ext cx="3414117" cy="1431131"/>
          </a:xfrm>
          <a:prstGeom prst="roundRect">
            <a:avLst>
              <a:gd name="adj" fmla="val 6877"/>
            </a:avLst>
          </a:prstGeom>
          <a:solidFill>
            <a:srgbClr val="FCFCFB"/>
          </a:solidFill>
          <a:ln w="6350">
            <a:solidFill>
              <a:srgbClr val="D3DAE1"/>
            </a:solidFill>
            <a:prstDash val="solid"/>
          </a:ln>
        </p:spPr>
      </p:sp>
      <p:sp>
        <p:nvSpPr>
          <p:cNvPr id="7" name="Text 5"/>
          <p:cNvSpPr/>
          <p:nvPr/>
        </p:nvSpPr>
        <p:spPr>
          <a:xfrm>
            <a:off x="1022350"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2C7A4B"/>
                </a:solidFill>
                <a:latin typeface="IBM Plex Mono" pitchFamily="49" charset="0"/>
                <a:ea typeface="IBM Plex Mono" pitchFamily="49" charset="-122"/>
                <a:cs typeface="IBM Plex Mono" pitchFamily="49" charset="-120"/>
              </a:rPr>
              <a:t>01</a:t>
            </a:r>
            <a:endParaRPr lang="en-US" sz="2200" dirty="0"/>
          </a:p>
        </p:txBody>
      </p:sp>
      <p:sp>
        <p:nvSpPr>
          <p:cNvPr id="8" name="Shape 6"/>
          <p:cNvSpPr/>
          <p:nvPr/>
        </p:nvSpPr>
        <p:spPr>
          <a:xfrm>
            <a:off x="3668117" y="2378571"/>
            <a:ext cx="355600" cy="355600"/>
          </a:xfrm>
          <a:prstGeom prst="roundRect">
            <a:avLst>
              <a:gd name="adj" fmla="val 21429"/>
            </a:avLst>
          </a:prstGeom>
          <a:solidFill>
            <a:srgbClr val="E1ECE6"/>
          </a:solidFill>
          <a:ln/>
        </p:spPr>
      </p:sp>
      <p:pic>
        <p:nvPicPr>
          <p:cNvPr id="9" name="Image 0" descr="CheckCircle">    </p:cNvPr>
          <p:cNvPicPr>
            <a:picLocks noChangeAspect="1"/>
          </p:cNvPicPr>
          <p:nvPr/>
        </p:nvPicPr>
        <p:blipFill>
          <a:blip r:embed="rId1"/>
          <a:srcRect l="0" r="0" t="0" b="0"/>
          <a:stretch/>
        </p:blipFill>
        <p:spPr>
          <a:xfrm>
            <a:off x="3744317" y="2454771"/>
            <a:ext cx="203200" cy="203200"/>
          </a:xfrm>
          <a:prstGeom prst="rect">
            <a:avLst/>
          </a:prstGeom>
        </p:spPr>
      </p:pic>
      <p:sp>
        <p:nvSpPr>
          <p:cNvPr id="10" name="Text 7"/>
          <p:cNvSpPr/>
          <p:nvPr/>
        </p:nvSpPr>
        <p:spPr>
          <a:xfrm>
            <a:off x="1022350" y="285353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Успешан ток</a:t>
            </a:r>
            <a:endParaRPr lang="en-US" sz="1600" dirty="0"/>
          </a:p>
        </p:txBody>
      </p:sp>
      <p:sp>
        <p:nvSpPr>
          <p:cNvPr id="11" name="Text 8"/>
          <p:cNvSpPr/>
          <p:nvPr/>
        </p:nvSpPr>
        <p:spPr>
          <a:xfrm>
            <a:off x="1022350" y="3198912"/>
            <a:ext cx="30914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валидни подаци и очекиван резултат</a:t>
            </a:r>
            <a:endParaRPr lang="en-US" sz="1300" dirty="0"/>
          </a:p>
        </p:txBody>
      </p:sp>
      <p:sp>
        <p:nvSpPr>
          <p:cNvPr id="12" name="Shape 9"/>
          <p:cNvSpPr/>
          <p:nvPr/>
        </p:nvSpPr>
        <p:spPr>
          <a:xfrm>
            <a:off x="4388842" y="2179836"/>
            <a:ext cx="3414216" cy="1431131"/>
          </a:xfrm>
          <a:prstGeom prst="roundRect">
            <a:avLst>
              <a:gd name="adj" fmla="val 6877"/>
            </a:avLst>
          </a:prstGeom>
          <a:solidFill>
            <a:srgbClr val="FCFCFB"/>
          </a:solidFill>
          <a:ln w="6350">
            <a:solidFill>
              <a:srgbClr val="D3DAE1"/>
            </a:solidFill>
            <a:prstDash val="solid"/>
          </a:ln>
        </p:spPr>
      </p:sp>
      <p:sp>
        <p:nvSpPr>
          <p:cNvPr id="13" name="Text 10"/>
          <p:cNvSpPr/>
          <p:nvPr/>
        </p:nvSpPr>
        <p:spPr>
          <a:xfrm>
            <a:off x="4595217"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8520A"/>
                </a:solidFill>
                <a:latin typeface="IBM Plex Mono" pitchFamily="49" charset="0"/>
                <a:ea typeface="IBM Plex Mono" pitchFamily="49" charset="-122"/>
                <a:cs typeface="IBM Plex Mono" pitchFamily="49" charset="-120"/>
              </a:rPr>
              <a:t>02</a:t>
            </a:r>
            <a:endParaRPr lang="en-US" sz="2200" dirty="0"/>
          </a:p>
        </p:txBody>
      </p:sp>
      <p:sp>
        <p:nvSpPr>
          <p:cNvPr id="14" name="Shape 11"/>
          <p:cNvSpPr/>
          <p:nvPr/>
        </p:nvSpPr>
        <p:spPr>
          <a:xfrm>
            <a:off x="7241084" y="2378571"/>
            <a:ext cx="355600" cy="355600"/>
          </a:xfrm>
          <a:prstGeom prst="roundRect">
            <a:avLst>
              <a:gd name="adj" fmla="val 21429"/>
            </a:avLst>
          </a:prstGeom>
          <a:solidFill>
            <a:srgbClr val="FBF1E6"/>
          </a:solidFill>
          <a:ln/>
        </p:spPr>
      </p:sp>
      <p:pic>
        <p:nvPicPr>
          <p:cNvPr id="15" name="Image 1" descr="Warning">    </p:cNvPr>
          <p:cNvPicPr>
            <a:picLocks noChangeAspect="1"/>
          </p:cNvPicPr>
          <p:nvPr/>
        </p:nvPicPr>
        <p:blipFill>
          <a:blip r:embed="rId2"/>
          <a:srcRect l="0" r="0" t="0" b="0"/>
          <a:stretch/>
        </p:blipFill>
        <p:spPr>
          <a:xfrm>
            <a:off x="7317284" y="2454771"/>
            <a:ext cx="203200" cy="203200"/>
          </a:xfrm>
          <a:prstGeom prst="rect">
            <a:avLst/>
          </a:prstGeom>
        </p:spPr>
      </p:pic>
      <p:sp>
        <p:nvSpPr>
          <p:cNvPr id="16" name="Text 12"/>
          <p:cNvSpPr/>
          <p:nvPr/>
        </p:nvSpPr>
        <p:spPr>
          <a:xfrm>
            <a:off x="4595217" y="285353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Негативни ток</a:t>
            </a:r>
            <a:endParaRPr lang="en-US" sz="1600" dirty="0"/>
          </a:p>
        </p:txBody>
      </p:sp>
      <p:sp>
        <p:nvSpPr>
          <p:cNvPr id="17" name="Text 13"/>
          <p:cNvSpPr/>
          <p:nvPr/>
        </p:nvSpPr>
        <p:spPr>
          <a:xfrm>
            <a:off x="4595217" y="3198912"/>
            <a:ext cx="30915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очекивано одбијање захтева</a:t>
            </a:r>
            <a:endParaRPr lang="en-US" sz="1300" dirty="0"/>
          </a:p>
        </p:txBody>
      </p:sp>
      <p:sp>
        <p:nvSpPr>
          <p:cNvPr id="18" name="Shape 14"/>
          <p:cNvSpPr/>
          <p:nvPr/>
        </p:nvSpPr>
        <p:spPr>
          <a:xfrm>
            <a:off x="7961809" y="2179836"/>
            <a:ext cx="3414216" cy="1431131"/>
          </a:xfrm>
          <a:prstGeom prst="roundRect">
            <a:avLst>
              <a:gd name="adj" fmla="val 6877"/>
            </a:avLst>
          </a:prstGeom>
          <a:solidFill>
            <a:srgbClr val="FCFCFB"/>
          </a:solidFill>
          <a:ln w="6350">
            <a:solidFill>
              <a:srgbClr val="D3DAE1"/>
            </a:solidFill>
            <a:prstDash val="solid"/>
          </a:ln>
        </p:spPr>
      </p:sp>
      <p:sp>
        <p:nvSpPr>
          <p:cNvPr id="19" name="Text 15"/>
          <p:cNvSpPr/>
          <p:nvPr/>
        </p:nvSpPr>
        <p:spPr>
          <a:xfrm>
            <a:off x="8168184"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3202D"/>
                </a:solidFill>
                <a:latin typeface="IBM Plex Mono" pitchFamily="49" charset="0"/>
                <a:ea typeface="IBM Plex Mono" pitchFamily="49" charset="-122"/>
                <a:cs typeface="IBM Plex Mono" pitchFamily="49" charset="-120"/>
              </a:rPr>
              <a:t>03</a:t>
            </a:r>
            <a:endParaRPr lang="en-US" sz="2200" dirty="0"/>
          </a:p>
        </p:txBody>
      </p:sp>
      <p:sp>
        <p:nvSpPr>
          <p:cNvPr id="20" name="Shape 16"/>
          <p:cNvSpPr/>
          <p:nvPr/>
        </p:nvSpPr>
        <p:spPr>
          <a:xfrm>
            <a:off x="10814050" y="2378571"/>
            <a:ext cx="355600" cy="355600"/>
          </a:xfrm>
          <a:prstGeom prst="roundRect">
            <a:avLst>
              <a:gd name="adj" fmla="val 21429"/>
            </a:avLst>
          </a:prstGeom>
          <a:solidFill>
            <a:srgbClr val="E5ECE7"/>
          </a:solidFill>
          <a:ln/>
        </p:spPr>
      </p:sp>
      <p:pic>
        <p:nvPicPr>
          <p:cNvPr id="21" name="Image 2" descr="Activity">    </p:cNvPr>
          <p:cNvPicPr>
            <a:picLocks noChangeAspect="1"/>
          </p:cNvPicPr>
          <p:nvPr/>
        </p:nvPicPr>
        <p:blipFill>
          <a:blip r:embed="rId3"/>
          <a:srcRect l="0" r="0" t="0" b="0"/>
          <a:stretch/>
        </p:blipFill>
        <p:spPr>
          <a:xfrm>
            <a:off x="10890250" y="2454771"/>
            <a:ext cx="203200" cy="203200"/>
          </a:xfrm>
          <a:prstGeom prst="rect">
            <a:avLst/>
          </a:prstGeom>
        </p:spPr>
      </p:pic>
      <p:sp>
        <p:nvSpPr>
          <p:cNvPr id="22" name="Text 17"/>
          <p:cNvSpPr/>
          <p:nvPr/>
        </p:nvSpPr>
        <p:spPr>
          <a:xfrm>
            <a:off x="8168184" y="285353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Гранични случај</a:t>
            </a:r>
            <a:endParaRPr lang="en-US" sz="1600" dirty="0"/>
          </a:p>
        </p:txBody>
      </p:sp>
      <p:sp>
        <p:nvSpPr>
          <p:cNvPr id="23" name="Text 18"/>
          <p:cNvSpPr/>
          <p:nvPr/>
        </p:nvSpPr>
        <p:spPr>
          <a:xfrm>
            <a:off x="8168184" y="3198912"/>
            <a:ext cx="30915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вредност која мења понашање</a:t>
            </a:r>
            <a:endParaRPr lang="en-US" sz="1300" dirty="0"/>
          </a:p>
        </p:txBody>
      </p:sp>
      <p:sp>
        <p:nvSpPr>
          <p:cNvPr id="24" name="Shape 19"/>
          <p:cNvSpPr/>
          <p:nvPr/>
        </p:nvSpPr>
        <p:spPr>
          <a:xfrm>
            <a:off x="812800" y="3868142"/>
            <a:ext cx="10566400" cy="783530"/>
          </a:xfrm>
          <a:prstGeom prst="roundRect">
            <a:avLst>
              <a:gd name="adj" fmla="val 12967"/>
            </a:avLst>
          </a:prstGeom>
          <a:solidFill>
            <a:srgbClr val="E5ECE7"/>
          </a:solidFill>
          <a:ln/>
        </p:spPr>
      </p:sp>
      <p:sp>
        <p:nvSpPr>
          <p:cNvPr id="25" name="Shape 20"/>
          <p:cNvSpPr/>
          <p:nvPr/>
        </p:nvSpPr>
        <p:spPr>
          <a:xfrm>
            <a:off x="812800" y="386814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2C7A4B"/>
          </a:solidFill>
          <a:ln/>
        </p:spPr>
      </p:sp>
      <p:sp>
        <p:nvSpPr>
          <p:cNvPr id="26" name="Text 21"/>
          <p:cNvSpPr/>
          <p:nvPr/>
        </p:nvSpPr>
        <p:spPr>
          <a:xfrm>
            <a:off x="1054100" y="402054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27" name="Text 22"/>
          <p:cNvSpPr/>
          <p:nvPr/>
        </p:nvSpPr>
        <p:spPr>
          <a:xfrm>
            <a:off x="1054100" y="425926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Добра пракса: границу правила проверити вредностима са обе њене стране.</a:t>
            </a:r>
            <a:endParaRPr lang="en-US" sz="1400" dirty="0"/>
          </a:p>
        </p:txBody>
      </p:sp>
      <p:sp>
        <p:nvSpPr>
          <p:cNvPr id="28" name="Shape 23"/>
          <p:cNvSpPr/>
          <p:nvPr/>
        </p:nvSpPr>
        <p:spPr>
          <a:xfrm>
            <a:off x="812800" y="6209705"/>
            <a:ext cx="10566400" cy="0"/>
          </a:xfrm>
          <a:prstGeom prst="line">
            <a:avLst/>
          </a:prstGeom>
          <a:noFill/>
          <a:ln w="6350">
            <a:solidFill>
              <a:srgbClr val="D3DAE1"/>
            </a:solidFill>
            <a:prstDash val="solid"/>
          </a:ln>
        </p:spPr>
      </p:sp>
      <p:sp>
        <p:nvSpPr>
          <p:cNvPr id="29" name="Text 2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0"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План тестирања резервисања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План наводи сценарио, очекивани исход и потребне зависности.</a:t>
            </a:r>
            <a:endParaRPr lang="en-US" sz="1400" dirty="0"/>
          </a:p>
        </p:txBody>
      </p:sp>
      <p:sp>
        <p:nvSpPr>
          <p:cNvPr id="6" name="Shape 4"/>
          <p:cNvSpPr/>
          <p:nvPr/>
        </p:nvSpPr>
        <p:spPr>
          <a:xfrm>
            <a:off x="812800" y="2176661"/>
            <a:ext cx="10566400" cy="2959894"/>
          </a:xfrm>
          <a:prstGeom prst="roundRect">
            <a:avLst>
              <a:gd name="adj" fmla="val 3433"/>
            </a:avLst>
          </a:prstGeom>
          <a:solidFill>
            <a:srgbClr val="FCFCFB"/>
          </a:solidFill>
          <a:ln/>
        </p:spPr>
      </p:sp>
      <p:sp>
        <p:nvSpPr>
          <p:cNvPr id="7" name="Shape 5"/>
          <p:cNvSpPr/>
          <p:nvPr/>
        </p:nvSpPr>
        <p:spPr>
          <a:xfrm>
            <a:off x="812800" y="2176661"/>
            <a:ext cx="10566400" cy="2959894"/>
          </a:xfrm>
          <a:custGeom>
            <a:avLst/>
            <a:gdLst/>
            <a:ahLst/>
            <a:cxnLst/>
            <a:rect l="l" t="t" r="r" b="b"/>
            <a:pathLst>
              <a:path w="10566400" h="2959894">
                <a:moveTo>
                  <a:pt x="10464800" y="0"/>
                </a:moveTo>
                <a:lnTo>
                  <a:pt x="10464800" y="0"/>
                </a:lnTo>
                <a:arcTo hR="101600" wR="101600" stAng="16200000" swAng="5400000"/>
                <a:lnTo>
                  <a:pt x="10566400" y="2858294"/>
                </a:lnTo>
                <a:arcTo hR="101600" wR="101600" stAng="0" swAng="5400000"/>
                <a:lnTo>
                  <a:pt x="101600" y="2959894"/>
                </a:lnTo>
                <a:arcTo hR="101600" wR="101600" stAng="5400000" swAng="5400000"/>
                <a:lnTo>
                  <a:pt x="0" y="2858294"/>
                </a:lnTo>
                <a:arcTo hR="95250" wR="101600" stAng="10800000" swAng="-5400000"/>
                <a:lnTo>
                  <a:pt x="10464800" y="2953544"/>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959894"/>
          </a:xfrm>
          <a:custGeom>
            <a:avLst/>
            <a:gdLst/>
            <a:ahLst/>
            <a:cxnLst/>
            <a:rect l="l" t="t" r="r" b="b"/>
            <a:pathLst>
              <a:path w="10566400" h="2959894">
                <a:moveTo>
                  <a:pt x="101600" y="2959894"/>
                </a:moveTo>
                <a:lnTo>
                  <a:pt x="101600" y="2959894"/>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858294"/>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940844"/>
        </p:xfrm>
        <a:graphic>
          <a:graphicData uri="http://schemas.openxmlformats.org/drawingml/2006/table">
            <a:tbl>
              <a:tblPr/>
              <a:tblGrid>
                <a:gridCol w="3375152"/>
                <a:gridCol w="7172198"/>
              </a:tblGrid>
              <a:tr h="4901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Врста</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Пример</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B7BCB8"/>
                      </a:solidFill>
                      <a:prstDash val="solid"/>
                      <a:round/>
                      <a:headEnd type="none" w="med" len="med"/>
                      <a:tailEnd type="none" w="med" len="med"/>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r>
              <a:tr h="490141">
                <a:tc>
                  <a:txBody>
                    <a:bodyPr/>
                    <a:lstStyle/>
                    <a:p>
                      <a:pPr indent="0" marL="0">
                        <a:lnSpc>
                          <a:spcPts val="1960"/>
                        </a:lnSpc>
                        <a:buNone/>
                      </a:pPr>
                      <a:r>
                        <a:rPr lang="en-US" sz="1400" dirty="0">
                          <a:solidFill>
                            <a:srgbClr val="2C7A4B"/>
                          </a:solidFill>
                          <a:latin typeface="IBM Plex Sans" pitchFamily="34" charset="0"/>
                          <a:ea typeface="IBM Plex Sans" pitchFamily="34" charset="-122"/>
                          <a:cs typeface="IBM Plex Sans" pitchFamily="34" charset="-120"/>
                        </a:rPr>
                        <a:t>Успешан сценарио</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опрема је слободна, корисник овлашћен, термин валидан</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Негативни сценарио</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термин се преклапа са постојећом резервацијом</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Негативни сценарио</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опрема је неактивна</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Гранични сценарио</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нови термин почиње тачно када се претходни завршава</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5E6975"/>
                          </a:solidFill>
                          <a:latin typeface="IBM Plex Sans" pitchFamily="34" charset="0"/>
                          <a:ea typeface="IBM Plex Sans" pitchFamily="34" charset="-122"/>
                          <a:cs typeface="IBM Plex Sans" pitchFamily="34" charset="-120"/>
                        </a:rPr>
                        <a:t>Инфраструктурни квар</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repository пријављује грешку</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Гранични случајеви кроз TestCase</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Један параметризован тест проверава сва три случаја правила преклапања.</a:t>
            </a:r>
            <a:endParaRPr lang="en-US" sz="1400" dirty="0"/>
          </a:p>
        </p:txBody>
      </p:sp>
      <p:sp>
        <p:nvSpPr>
          <p:cNvPr id="6" name="Shape 4"/>
          <p:cNvSpPr/>
          <p:nvPr/>
        </p:nvSpPr>
        <p:spPr>
          <a:xfrm>
            <a:off x="815975" y="2078236"/>
            <a:ext cx="10560050" cy="3038872"/>
          </a:xfrm>
          <a:prstGeom prst="roundRect">
            <a:avLst>
              <a:gd name="adj" fmla="val 3239"/>
            </a:avLst>
          </a:prstGeom>
          <a:solidFill>
            <a:srgbClr val="FCFCFB"/>
          </a:solidFill>
          <a:ln w="6350">
            <a:solidFill>
              <a:srgbClr val="D3DAE1"/>
            </a:solidFill>
            <a:prstDash val="solid"/>
          </a:ln>
        </p:spPr>
      </p:sp>
      <p:sp>
        <p:nvSpPr>
          <p:cNvPr id="7" name="Text 5"/>
          <p:cNvSpPr/>
          <p:nvPr/>
        </p:nvSpPr>
        <p:spPr>
          <a:xfrm>
            <a:off x="1022350" y="2233811"/>
            <a:ext cx="104517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NUnit · илустрација</a:t>
            </a:r>
            <a:endParaRPr lang="en-US" sz="1200" dirty="0"/>
          </a:p>
        </p:txBody>
      </p:sp>
      <p:sp>
        <p:nvSpPr>
          <p:cNvPr id="8" name="Text 6"/>
          <p:cNvSpPr/>
          <p:nvPr/>
        </p:nvSpPr>
        <p:spPr>
          <a:xfrm>
            <a:off x="1022350" y="2523331"/>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23331"/>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"10:00"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"12:00"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"11:00"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"13:00"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A8590"/>
                </a:solidFill>
                <a:latin typeface="IBM Plex Mono" pitchFamily="49" charset="0"/>
                <a:ea typeface="IBM Plex Mono" pitchFamily="49" charset="-122"/>
                <a:cs typeface="IBM Plex Mono" pitchFamily="49" charset="-120"/>
              </a:rPr>
              <a:t>// преклапање</a:t>
            </a:r>
            <a:endParaRPr lang="en-US" sz="1200" dirty="0"/>
          </a:p>
        </p:txBody>
      </p:sp>
      <p:sp>
        <p:nvSpPr>
          <p:cNvPr id="10" name="Text 8"/>
          <p:cNvSpPr/>
          <p:nvPr/>
        </p:nvSpPr>
        <p:spPr>
          <a:xfrm>
            <a:off x="1022350" y="2769691"/>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769691"/>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"10:00"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"12:00"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"12:00"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"14:00"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false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A8590"/>
                </a:solidFill>
                <a:latin typeface="IBM Plex Mono" pitchFamily="49" charset="0"/>
                <a:ea typeface="IBM Plex Mono" pitchFamily="49" charset="-122"/>
                <a:cs typeface="IBM Plex Mono" pitchFamily="49" charset="-120"/>
              </a:rPr>
              <a:t>// додир на граници</a:t>
            </a:r>
            <a:endParaRPr lang="en-US" sz="1200" dirty="0"/>
          </a:p>
        </p:txBody>
      </p:sp>
      <p:sp>
        <p:nvSpPr>
          <p:cNvPr id="12" name="Text 10"/>
          <p:cNvSpPr/>
          <p:nvPr/>
        </p:nvSpPr>
        <p:spPr>
          <a:xfrm>
            <a:off x="1022350" y="301605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016052"/>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"10:00"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"12:00"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"13:00"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"14:00"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false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A8590"/>
                </a:solidFill>
                <a:latin typeface="IBM Plex Mono" pitchFamily="49" charset="0"/>
                <a:ea typeface="IBM Plex Mono" pitchFamily="49" charset="-122"/>
                <a:cs typeface="IBM Plex Mono" pitchFamily="49" charset="-120"/>
              </a:rPr>
              <a:t>// раздвојени термини</a:t>
            </a:r>
            <a:endParaRPr lang="en-US" sz="1200" dirty="0"/>
          </a:p>
        </p:txBody>
      </p:sp>
      <p:sp>
        <p:nvSpPr>
          <p:cNvPr id="14" name="Text 12"/>
          <p:cNvSpPr/>
          <p:nvPr/>
        </p:nvSpPr>
        <p:spPr>
          <a:xfrm>
            <a:off x="1022350" y="326241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262412"/>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C7A4B"/>
                </a:solidFill>
                <a:latin typeface="IBM Plex Mono" pitchFamily="49" charset="0"/>
                <a:ea typeface="IBM Plex Mono" pitchFamily="49" charset="-122"/>
                <a:cs typeface="IBM Plex Mono" pitchFamily="49" charset="-120"/>
              </a:rPr>
              <a:t>public void</a:t>
            </a:r>
            <a:r>
              <a:rPr lang="en-US" sz="1200" dirty="0">
                <a:solidFill>
                  <a:srgbClr val="13202D"/>
                </a:solidFill>
                <a:latin typeface="IBM Plex Mono" pitchFamily="49" charset="0"/>
                <a:ea typeface="IBM Plex Mono" pitchFamily="49" charset="-122"/>
                <a:cs typeface="IBM Plex Mono" pitchFamily="49" charset="-120"/>
              </a:rPr>
              <a:t> Overlaps_ReturnsExpected(</a:t>
            </a:r>
            <a:endParaRPr lang="en-US" sz="1200" dirty="0"/>
          </a:p>
        </p:txBody>
      </p:sp>
      <p:sp>
        <p:nvSpPr>
          <p:cNvPr id="16" name="Text 14"/>
          <p:cNvSpPr/>
          <p:nvPr/>
        </p:nvSpPr>
        <p:spPr>
          <a:xfrm>
            <a:off x="1022350" y="350877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403350" y="3508772"/>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aFrom, </a:t>
            </a:r>
            <a:r>
              <a:rPr lang="en-US" sz="1200" dirty="0">
                <a:solidFill>
                  <a:srgbClr val="2C7A4B"/>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aTo, </a:t>
            </a:r>
            <a:r>
              <a:rPr lang="en-US" sz="1200" dirty="0">
                <a:solidFill>
                  <a:srgbClr val="2C7A4B"/>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bFrom, </a:t>
            </a:r>
            <a:r>
              <a:rPr lang="en-US" sz="1200" dirty="0">
                <a:solidFill>
                  <a:srgbClr val="2C7A4B"/>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bTo, </a:t>
            </a:r>
            <a:r>
              <a:rPr lang="en-US" sz="1200" dirty="0">
                <a:solidFill>
                  <a:srgbClr val="2C7A4B"/>
                </a:solidFill>
                <a:latin typeface="IBM Plex Mono" pitchFamily="49" charset="0"/>
                <a:ea typeface="IBM Plex Mono" pitchFamily="49" charset="-122"/>
                <a:cs typeface="IBM Plex Mono" pitchFamily="49" charset="-120"/>
              </a:rPr>
              <a:t>bool</a:t>
            </a:r>
            <a:r>
              <a:rPr lang="en-US" sz="1200" dirty="0">
                <a:solidFill>
                  <a:srgbClr val="13202D"/>
                </a:solidFill>
                <a:latin typeface="IBM Plex Mono" pitchFamily="49" charset="0"/>
                <a:ea typeface="IBM Plex Mono" pitchFamily="49" charset="-122"/>
                <a:cs typeface="IBM Plex Mono" pitchFamily="49" charset="-120"/>
              </a:rPr>
              <a:t> expected)</a:t>
            </a:r>
            <a:endParaRPr lang="en-US" sz="1200" dirty="0"/>
          </a:p>
        </p:txBody>
      </p:sp>
      <p:sp>
        <p:nvSpPr>
          <p:cNvPr id="18" name="Text 16"/>
          <p:cNvSpPr/>
          <p:nvPr/>
        </p:nvSpPr>
        <p:spPr>
          <a:xfrm>
            <a:off x="1022350" y="375513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403350" y="3755132"/>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0" name="Text 18"/>
          <p:cNvSpPr/>
          <p:nvPr/>
        </p:nvSpPr>
        <p:spPr>
          <a:xfrm>
            <a:off x="1022350" y="400149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403350" y="4001492"/>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a = Period.Parse(aFrom, aTo);</a:t>
            </a:r>
            <a:endParaRPr lang="en-US" sz="1200" dirty="0"/>
          </a:p>
        </p:txBody>
      </p:sp>
      <p:sp>
        <p:nvSpPr>
          <p:cNvPr id="22" name="Text 20"/>
          <p:cNvSpPr/>
          <p:nvPr/>
        </p:nvSpPr>
        <p:spPr>
          <a:xfrm>
            <a:off x="1022350" y="424785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403350" y="4247852"/>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b = Period.Parse(bFrom, bTo);</a:t>
            </a:r>
            <a:endParaRPr lang="en-US" sz="1200" dirty="0"/>
          </a:p>
        </p:txBody>
      </p:sp>
      <p:sp>
        <p:nvSpPr>
          <p:cNvPr id="24" name="Text 22"/>
          <p:cNvSpPr/>
          <p:nvPr/>
        </p:nvSpPr>
        <p:spPr>
          <a:xfrm>
            <a:off x="1022350" y="4494213"/>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403350" y="4494213"/>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Assert.That(a.Overlaps(b), Is.EqualTo(expected));</a:t>
            </a:r>
            <a:endParaRPr lang="en-US" sz="1200" dirty="0"/>
          </a:p>
        </p:txBody>
      </p:sp>
      <p:sp>
        <p:nvSpPr>
          <p:cNvPr id="26" name="Text 24"/>
          <p:cNvSpPr/>
          <p:nvPr/>
        </p:nvSpPr>
        <p:spPr>
          <a:xfrm>
            <a:off x="1022350" y="4740573"/>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403350" y="4740573"/>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8" name="Shape 26"/>
          <p:cNvSpPr/>
          <p:nvPr/>
        </p:nvSpPr>
        <p:spPr>
          <a:xfrm>
            <a:off x="825500" y="5323483"/>
            <a:ext cx="0" cy="487561"/>
          </a:xfrm>
          <a:prstGeom prst="line">
            <a:avLst/>
          </a:prstGeom>
          <a:noFill/>
          <a:ln w="25400">
            <a:solidFill>
              <a:srgbClr val="2C7A4B"/>
            </a:solidFill>
            <a:prstDash val="solid"/>
          </a:ln>
        </p:spPr>
      </p:sp>
      <p:sp>
        <p:nvSpPr>
          <p:cNvPr id="29" name="Text 27"/>
          <p:cNvSpPr/>
          <p:nvPr/>
        </p:nvSpPr>
        <p:spPr>
          <a:xfrm>
            <a:off x="977900" y="5336183"/>
            <a:ext cx="335302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Сваки TestCase се у извештају приказује као посебан тест.</a:t>
            </a:r>
            <a:endParaRPr lang="en-US" sz="1300" dirty="0"/>
          </a:p>
        </p:txBody>
      </p:sp>
      <p:sp>
        <p:nvSpPr>
          <p:cNvPr id="30" name="Shape 28"/>
          <p:cNvSpPr/>
          <p:nvPr/>
        </p:nvSpPr>
        <p:spPr>
          <a:xfrm>
            <a:off x="4398367" y="5323483"/>
            <a:ext cx="0" cy="487561"/>
          </a:xfrm>
          <a:prstGeom prst="line">
            <a:avLst/>
          </a:prstGeom>
          <a:noFill/>
          <a:ln w="25400">
            <a:solidFill>
              <a:srgbClr val="2C7A4B"/>
            </a:solidFill>
            <a:prstDash val="solid"/>
          </a:ln>
        </p:spPr>
      </p:sp>
      <p:sp>
        <p:nvSpPr>
          <p:cNvPr id="31" name="Text 29"/>
          <p:cNvSpPr/>
          <p:nvPr/>
        </p:nvSpPr>
        <p:spPr>
          <a:xfrm>
            <a:off x="4550767" y="5336183"/>
            <a:ext cx="33531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Гранични ред штити правило полуотвореног интервала.</a:t>
            </a:r>
            <a:endParaRPr lang="en-US" sz="1300" dirty="0"/>
          </a:p>
        </p:txBody>
      </p:sp>
      <p:sp>
        <p:nvSpPr>
          <p:cNvPr id="32" name="Shape 30"/>
          <p:cNvSpPr/>
          <p:nvPr/>
        </p:nvSpPr>
        <p:spPr>
          <a:xfrm>
            <a:off x="7971334" y="5323483"/>
            <a:ext cx="0" cy="487561"/>
          </a:xfrm>
          <a:prstGeom prst="line">
            <a:avLst/>
          </a:prstGeom>
          <a:noFill/>
          <a:ln w="25400">
            <a:solidFill>
              <a:srgbClr val="E07B1F"/>
            </a:solidFill>
            <a:prstDash val="solid"/>
          </a:ln>
        </p:spPr>
      </p:sp>
      <p:sp>
        <p:nvSpPr>
          <p:cNvPr id="33" name="Text 31"/>
          <p:cNvSpPr/>
          <p:nvPr/>
        </p:nvSpPr>
        <p:spPr>
          <a:xfrm>
            <a:off x="8123734" y="5336183"/>
            <a:ext cx="33531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Period је илустративан тип, назив прилагодити пројекту.</a:t>
            </a:r>
            <a:endParaRPr lang="en-US" sz="1300" dirty="0"/>
          </a:p>
        </p:txBody>
      </p:sp>
      <p:sp>
        <p:nvSpPr>
          <p:cNvPr id="34" name="Shape 32"/>
          <p:cNvSpPr/>
          <p:nvPr/>
        </p:nvSpPr>
        <p:spPr>
          <a:xfrm>
            <a:off x="812800" y="6209705"/>
            <a:ext cx="10566400" cy="0"/>
          </a:xfrm>
          <a:prstGeom prst="line">
            <a:avLst/>
          </a:prstGeom>
          <a:noFill/>
          <a:ln w="6350">
            <a:solidFill>
              <a:srgbClr val="D3DAE1"/>
            </a:solidFill>
            <a:prstDash val="solid"/>
          </a:ln>
        </p:spPr>
      </p:sp>
      <p:sp>
        <p:nvSpPr>
          <p:cNvPr id="35" name="Text 3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6" name="Text 3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Покретање тестова и анализа покривености</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Покривеност кода показује извршене гране и служи као дијагностички сигнал.</a:t>
            </a:r>
            <a:endParaRPr lang="en-US" sz="1400" dirty="0"/>
          </a:p>
        </p:txBody>
      </p:sp>
      <p:sp>
        <p:nvSpPr>
          <p:cNvPr id="6" name="Shape 4"/>
          <p:cNvSpPr/>
          <p:nvPr/>
        </p:nvSpPr>
        <p:spPr>
          <a:xfrm>
            <a:off x="815975" y="2129036"/>
            <a:ext cx="6597650" cy="1705570"/>
          </a:xfrm>
          <a:prstGeom prst="roundRect">
            <a:avLst>
              <a:gd name="adj" fmla="val 5771"/>
            </a:avLst>
          </a:prstGeom>
          <a:solidFill>
            <a:srgbClr val="FCFCFB"/>
          </a:solidFill>
          <a:ln w="6350">
            <a:solidFill>
              <a:srgbClr val="D3DAE1"/>
            </a:solidFill>
            <a:prstDash val="solid"/>
          </a:ln>
        </p:spPr>
      </p:sp>
      <p:sp>
        <p:nvSpPr>
          <p:cNvPr id="7" name="Text 5"/>
          <p:cNvSpPr/>
          <p:nvPr/>
        </p:nvSpPr>
        <p:spPr>
          <a:xfrm>
            <a:off x="1022350" y="2310011"/>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terminal · корен solution-а</a:t>
            </a:r>
            <a:endParaRPr lang="en-US" sz="1200" dirty="0"/>
          </a:p>
        </p:txBody>
      </p:sp>
      <p:sp>
        <p:nvSpPr>
          <p:cNvPr id="8" name="Text 6"/>
          <p:cNvSpPr/>
          <p:nvPr/>
        </p:nvSpPr>
        <p:spPr>
          <a:xfrm>
            <a:off x="1022350" y="26249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6249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C7A4B"/>
                </a:solidFill>
                <a:latin typeface="IBM Plex Mono" pitchFamily="49" charset="0"/>
                <a:ea typeface="IBM Plex Mono" pitchFamily="49" charset="-122"/>
                <a:cs typeface="IBM Plex Mono" pitchFamily="49" charset="-120"/>
              </a:rPr>
              <a:t>dotnet</a:t>
            </a:r>
            <a:r>
              <a:rPr lang="en-US" sz="1200" dirty="0">
                <a:solidFill>
                  <a:srgbClr val="13202D"/>
                </a:solidFill>
                <a:latin typeface="IBM Plex Mono" pitchFamily="49" charset="0"/>
                <a:ea typeface="IBM Plex Mono" pitchFamily="49" charset="-122"/>
                <a:cs typeface="IBM Plex Mono" pitchFamily="49" charset="-120"/>
              </a:rPr>
              <a:t> test</a:t>
            </a:r>
            <a:endParaRPr lang="en-US" sz="1200" dirty="0"/>
          </a:p>
        </p:txBody>
      </p:sp>
      <p:sp>
        <p:nvSpPr>
          <p:cNvPr id="10" name="Text 8"/>
          <p:cNvSpPr/>
          <p:nvPr/>
        </p:nvSpPr>
        <p:spPr>
          <a:xfrm>
            <a:off x="1022350" y="28916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022350" y="31583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2" name="Text 10"/>
          <p:cNvSpPr/>
          <p:nvPr/>
        </p:nvSpPr>
        <p:spPr>
          <a:xfrm>
            <a:off x="1403350" y="31583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A8590"/>
                </a:solidFill>
                <a:latin typeface="IBM Plex Mono" pitchFamily="49" charset="0"/>
                <a:ea typeface="IBM Plex Mono" pitchFamily="49" charset="-122"/>
                <a:cs typeface="IBM Plex Mono" pitchFamily="49" charset="-120"/>
              </a:rPr>
              <a:t># ако је collector подешен (пакет coverlet.collector)</a:t>
            </a:r>
            <a:endParaRPr lang="en-US" sz="1200" dirty="0"/>
          </a:p>
        </p:txBody>
      </p:sp>
      <p:sp>
        <p:nvSpPr>
          <p:cNvPr id="13" name="Text 11"/>
          <p:cNvSpPr/>
          <p:nvPr/>
        </p:nvSpPr>
        <p:spPr>
          <a:xfrm>
            <a:off x="1022350" y="34250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4" name="Text 12"/>
          <p:cNvSpPr/>
          <p:nvPr/>
        </p:nvSpPr>
        <p:spPr>
          <a:xfrm>
            <a:off x="1403350" y="34250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C7A4B"/>
                </a:solidFill>
                <a:latin typeface="IBM Plex Mono" pitchFamily="49" charset="0"/>
                <a:ea typeface="IBM Plex Mono" pitchFamily="49" charset="-122"/>
                <a:cs typeface="IBM Plex Mono" pitchFamily="49" charset="-120"/>
              </a:rPr>
              <a:t>dotnet</a:t>
            </a:r>
            <a:r>
              <a:rPr lang="en-US" sz="1200" dirty="0">
                <a:solidFill>
                  <a:srgbClr val="13202D"/>
                </a:solidFill>
                <a:latin typeface="IBM Plex Mono" pitchFamily="49" charset="0"/>
                <a:ea typeface="IBM Plex Mono" pitchFamily="49" charset="-122"/>
                <a:cs typeface="IBM Plex Mono" pitchFamily="49" charset="-120"/>
              </a:rPr>
              <a:t> test --collect:</a:t>
            </a:r>
            <a:r>
              <a:rPr lang="en-US" sz="1200" dirty="0">
                <a:solidFill>
                  <a:srgbClr val="A8520A"/>
                </a:solidFill>
                <a:latin typeface="IBM Plex Mono" pitchFamily="49" charset="0"/>
                <a:ea typeface="IBM Plex Mono" pitchFamily="49" charset="-122"/>
                <a:cs typeface="IBM Plex Mono" pitchFamily="49" charset="-120"/>
              </a:rPr>
              <a:t>"XPlat Code Coverage"</a:t>
            </a:r>
            <a:endParaRPr lang="en-US" sz="1200" dirty="0"/>
          </a:p>
        </p:txBody>
      </p:sp>
      <p:sp>
        <p:nvSpPr>
          <p:cNvPr id="15" name="Text 13"/>
          <p:cNvSpPr/>
          <p:nvPr/>
        </p:nvSpPr>
        <p:spPr>
          <a:xfrm>
            <a:off x="7721600" y="21258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16" name="Shape 14"/>
          <p:cNvSpPr/>
          <p:nvPr/>
        </p:nvSpPr>
        <p:spPr>
          <a:xfrm>
            <a:off x="7734300" y="2466181"/>
            <a:ext cx="0" cy="487561"/>
          </a:xfrm>
          <a:prstGeom prst="line">
            <a:avLst/>
          </a:prstGeom>
          <a:noFill/>
          <a:ln w="25400">
            <a:solidFill>
              <a:srgbClr val="2C7A4B"/>
            </a:solidFill>
            <a:prstDash val="solid"/>
          </a:ln>
        </p:spPr>
      </p:sp>
      <p:sp>
        <p:nvSpPr>
          <p:cNvPr id="17" name="Text 15"/>
          <p:cNvSpPr/>
          <p:nvPr/>
        </p:nvSpPr>
        <p:spPr>
          <a:xfrm>
            <a:off x="7886700" y="2478881"/>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Најпре дефинисати пословно важне сценарије.</a:t>
            </a:r>
            <a:endParaRPr lang="en-US" sz="1300" dirty="0"/>
          </a:p>
        </p:txBody>
      </p:sp>
      <p:sp>
        <p:nvSpPr>
          <p:cNvPr id="18" name="Shape 16"/>
          <p:cNvSpPr/>
          <p:nvPr/>
        </p:nvSpPr>
        <p:spPr>
          <a:xfrm>
            <a:off x="7734300" y="3080742"/>
            <a:ext cx="0" cy="487561"/>
          </a:xfrm>
          <a:prstGeom prst="line">
            <a:avLst/>
          </a:prstGeom>
          <a:noFill/>
          <a:ln w="25400">
            <a:solidFill>
              <a:srgbClr val="2C7A4B"/>
            </a:solidFill>
            <a:prstDash val="solid"/>
          </a:ln>
        </p:spPr>
      </p:sp>
      <p:sp>
        <p:nvSpPr>
          <p:cNvPr id="19" name="Text 17"/>
          <p:cNvSpPr/>
          <p:nvPr/>
        </p:nvSpPr>
        <p:spPr>
          <a:xfrm>
            <a:off x="7886700" y="309344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Coverage користити као дијагностички сигнал.</a:t>
            </a:r>
            <a:endParaRPr lang="en-US" sz="1300" dirty="0"/>
          </a:p>
        </p:txBody>
      </p:sp>
      <p:sp>
        <p:nvSpPr>
          <p:cNvPr id="20" name="Shape 18"/>
          <p:cNvSpPr/>
          <p:nvPr/>
        </p:nvSpPr>
        <p:spPr>
          <a:xfrm>
            <a:off x="7734300" y="3695303"/>
            <a:ext cx="0" cy="487561"/>
          </a:xfrm>
          <a:prstGeom prst="line">
            <a:avLst/>
          </a:prstGeom>
          <a:noFill/>
          <a:ln w="25400">
            <a:solidFill>
              <a:srgbClr val="E07B1F"/>
            </a:solidFill>
            <a:prstDash val="solid"/>
          </a:ln>
        </p:spPr>
      </p:sp>
      <p:sp>
        <p:nvSpPr>
          <p:cNvPr id="21" name="Text 19"/>
          <p:cNvSpPr/>
          <p:nvPr/>
        </p:nvSpPr>
        <p:spPr>
          <a:xfrm>
            <a:off x="7886700" y="3708003"/>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Висок проценат не доказује одсуство грешака.</a:t>
            </a:r>
            <a:endParaRPr lang="en-US" sz="1300" dirty="0"/>
          </a:p>
        </p:txBody>
      </p:sp>
      <p:sp>
        <p:nvSpPr>
          <p:cNvPr id="22" name="Shape 20"/>
          <p:cNvSpPr/>
          <p:nvPr/>
        </p:nvSpPr>
        <p:spPr>
          <a:xfrm>
            <a:off x="815975" y="4414639"/>
            <a:ext cx="3244850" cy="699691"/>
          </a:xfrm>
          <a:prstGeom prst="roundRect">
            <a:avLst>
              <a:gd name="adj" fmla="val 12252"/>
            </a:avLst>
          </a:prstGeom>
          <a:solidFill>
            <a:srgbClr val="FCFCFB"/>
          </a:solidFill>
          <a:ln w="6350">
            <a:solidFill>
              <a:srgbClr val="D3DAE1"/>
            </a:solidFill>
            <a:prstDash val="solid"/>
          </a:ln>
        </p:spPr>
      </p:sp>
      <p:sp>
        <p:nvSpPr>
          <p:cNvPr id="23" name="Text 21"/>
          <p:cNvSpPr/>
          <p:nvPr/>
        </p:nvSpPr>
        <p:spPr>
          <a:xfrm>
            <a:off x="971550" y="4532114"/>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7A4B"/>
                </a:solidFill>
                <a:latin typeface="IBM Plex Mono" pitchFamily="49" charset="0"/>
                <a:ea typeface="IBM Plex Mono" pitchFamily="49" charset="-122"/>
                <a:cs typeface="IBM Plex Mono" pitchFamily="49" charset="-120"/>
              </a:rPr>
              <a:t>dotnet test</a:t>
            </a:r>
            <a:endParaRPr lang="en-US" sz="1200" dirty="0"/>
          </a:p>
        </p:txBody>
      </p:sp>
      <p:sp>
        <p:nvSpPr>
          <p:cNvPr id="24" name="Text 22"/>
          <p:cNvSpPr/>
          <p:nvPr/>
        </p:nvSpPr>
        <p:spPr>
          <a:xfrm>
            <a:off x="971550" y="4783534"/>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извршава тестове</a:t>
            </a:r>
            <a:endParaRPr lang="en-US" sz="1200" dirty="0"/>
          </a:p>
        </p:txBody>
      </p:sp>
      <p:pic>
        <p:nvPicPr>
          <p:cNvPr id="25" name="Image 0" descr="arrow-right">    </p:cNvPr>
          <p:cNvPicPr>
            <a:picLocks noChangeAspect="1"/>
          </p:cNvPicPr>
          <p:nvPr/>
        </p:nvPicPr>
        <p:blipFill>
          <a:blip r:embed="rId1"/>
          <a:srcRect l="0" r="0" t="0" b="0"/>
          <a:stretch/>
        </p:blipFill>
        <p:spPr>
          <a:xfrm>
            <a:off x="4152900" y="4707334"/>
            <a:ext cx="228600" cy="114300"/>
          </a:xfrm>
          <a:prstGeom prst="rect">
            <a:avLst/>
          </a:prstGeom>
        </p:spPr>
      </p:pic>
      <p:sp>
        <p:nvSpPr>
          <p:cNvPr id="26" name="Shape 23"/>
          <p:cNvSpPr/>
          <p:nvPr/>
        </p:nvSpPr>
        <p:spPr>
          <a:xfrm>
            <a:off x="4473575" y="4414639"/>
            <a:ext cx="3244850" cy="699691"/>
          </a:xfrm>
          <a:prstGeom prst="roundRect">
            <a:avLst>
              <a:gd name="adj" fmla="val 12252"/>
            </a:avLst>
          </a:prstGeom>
          <a:solidFill>
            <a:srgbClr val="FCFCFB"/>
          </a:solidFill>
          <a:ln w="6350">
            <a:solidFill>
              <a:srgbClr val="D3DAE1"/>
            </a:solidFill>
            <a:prstDash val="solid"/>
          </a:ln>
        </p:spPr>
      </p:sp>
      <p:sp>
        <p:nvSpPr>
          <p:cNvPr id="27" name="Text 24"/>
          <p:cNvSpPr/>
          <p:nvPr/>
        </p:nvSpPr>
        <p:spPr>
          <a:xfrm>
            <a:off x="4629150" y="4532114"/>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7A4B"/>
                </a:solidFill>
                <a:latin typeface="IBM Plex Mono" pitchFamily="49" charset="0"/>
                <a:ea typeface="IBM Plex Mono" pitchFamily="49" charset="-122"/>
                <a:cs typeface="IBM Plex Mono" pitchFamily="49" charset="-120"/>
              </a:rPr>
              <a:t>coverage.cobertura.xml</a:t>
            </a:r>
            <a:endParaRPr lang="en-US" sz="1200" dirty="0"/>
          </a:p>
        </p:txBody>
      </p:sp>
      <p:sp>
        <p:nvSpPr>
          <p:cNvPr id="28" name="Text 25"/>
          <p:cNvSpPr/>
          <p:nvPr/>
        </p:nvSpPr>
        <p:spPr>
          <a:xfrm>
            <a:off x="4629150" y="4783534"/>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сирови подаци collector-а</a:t>
            </a:r>
            <a:endParaRPr lang="en-US" sz="1200" dirty="0"/>
          </a:p>
        </p:txBody>
      </p:sp>
      <p:pic>
        <p:nvPicPr>
          <p:cNvPr id="29" name="Image 1" descr="arrow-right">    </p:cNvPr>
          <p:cNvPicPr>
            <a:picLocks noChangeAspect="1"/>
          </p:cNvPicPr>
          <p:nvPr/>
        </p:nvPicPr>
        <p:blipFill>
          <a:blip r:embed="rId2"/>
          <a:srcRect l="0" r="0" t="0" b="0"/>
          <a:stretch/>
        </p:blipFill>
        <p:spPr>
          <a:xfrm>
            <a:off x="7810500" y="4707334"/>
            <a:ext cx="228600" cy="114300"/>
          </a:xfrm>
          <a:prstGeom prst="rect">
            <a:avLst/>
          </a:prstGeom>
        </p:spPr>
      </p:pic>
      <p:sp>
        <p:nvSpPr>
          <p:cNvPr id="30" name="Shape 26"/>
          <p:cNvSpPr/>
          <p:nvPr/>
        </p:nvSpPr>
        <p:spPr>
          <a:xfrm>
            <a:off x="8131175" y="4414639"/>
            <a:ext cx="3244850" cy="699691"/>
          </a:xfrm>
          <a:prstGeom prst="roundRect">
            <a:avLst>
              <a:gd name="adj" fmla="val 12252"/>
            </a:avLst>
          </a:prstGeom>
          <a:solidFill>
            <a:srgbClr val="E5ECE7"/>
          </a:solidFill>
          <a:ln w="6350">
            <a:solidFill>
              <a:srgbClr val="CCDFD4"/>
            </a:solidFill>
            <a:prstDash val="solid"/>
          </a:ln>
        </p:spPr>
      </p:sp>
      <p:sp>
        <p:nvSpPr>
          <p:cNvPr id="31" name="Text 27"/>
          <p:cNvSpPr/>
          <p:nvPr/>
        </p:nvSpPr>
        <p:spPr>
          <a:xfrm>
            <a:off x="8286750" y="4532114"/>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7A4B"/>
                </a:solidFill>
                <a:latin typeface="IBM Plex Mono" pitchFamily="49" charset="0"/>
                <a:ea typeface="IBM Plex Mono" pitchFamily="49" charset="-122"/>
                <a:cs typeface="IBM Plex Mono" pitchFamily="49" charset="-120"/>
              </a:rPr>
              <a:t>извештај</a:t>
            </a:r>
            <a:endParaRPr lang="en-US" sz="1200" dirty="0"/>
          </a:p>
        </p:txBody>
      </p:sp>
      <p:sp>
        <p:nvSpPr>
          <p:cNvPr id="32" name="Text 28"/>
          <p:cNvSpPr/>
          <p:nvPr/>
        </p:nvSpPr>
        <p:spPr>
          <a:xfrm>
            <a:off x="8286750" y="4783534"/>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линије и гране по класи</a:t>
            </a:r>
            <a:endParaRPr lang="en-US" sz="1200" dirty="0"/>
          </a:p>
        </p:txBody>
      </p:sp>
      <p:sp>
        <p:nvSpPr>
          <p:cNvPr id="33" name="Shape 29"/>
          <p:cNvSpPr/>
          <p:nvPr/>
        </p:nvSpPr>
        <p:spPr>
          <a:xfrm>
            <a:off x="812800" y="6209705"/>
            <a:ext cx="10566400" cy="0"/>
          </a:xfrm>
          <a:prstGeom prst="line">
            <a:avLst/>
          </a:prstGeom>
          <a:noFill/>
          <a:ln w="6350">
            <a:solidFill>
              <a:srgbClr val="D3DAE1"/>
            </a:solidFill>
            <a:prstDash val="solid"/>
          </a:ln>
        </p:spPr>
      </p:sp>
      <p:sp>
        <p:nvSpPr>
          <p:cNvPr id="34" name="Text 3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5"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Покривеност линија и покривеност грана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Свака линија може бити извршена, а да једна грана правила никада не буде проверена.</a:t>
            </a:r>
            <a:endParaRPr lang="en-US" sz="1400" dirty="0"/>
          </a:p>
        </p:txBody>
      </p:sp>
      <p:sp>
        <p:nvSpPr>
          <p:cNvPr id="6" name="Shape 4"/>
          <p:cNvSpPr/>
          <p:nvPr/>
        </p:nvSpPr>
        <p:spPr>
          <a:xfrm>
            <a:off x="815975" y="2129036"/>
            <a:ext cx="6927850" cy="2144911"/>
          </a:xfrm>
          <a:prstGeom prst="roundRect">
            <a:avLst>
              <a:gd name="adj" fmla="val 4589"/>
            </a:avLst>
          </a:prstGeom>
          <a:solidFill>
            <a:srgbClr val="FCFCFB"/>
          </a:solidFill>
          <a:ln w="6350">
            <a:solidFill>
              <a:srgbClr val="D3DAE1"/>
            </a:solidFill>
            <a:prstDash val="solid"/>
          </a:ln>
        </p:spPr>
      </p:sp>
      <p:sp>
        <p:nvSpPr>
          <p:cNvPr id="7" name="Text 5"/>
          <p:cNvSpPr/>
          <p:nvPr/>
        </p:nvSpPr>
        <p:spPr>
          <a:xfrm>
            <a:off x="1022350" y="2310011"/>
            <a:ext cx="67105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Cancel</a:t>
            </a:r>
            <a:endParaRPr lang="en-US" sz="1200" dirty="0"/>
          </a:p>
        </p:txBody>
      </p:sp>
      <p:sp>
        <p:nvSpPr>
          <p:cNvPr id="8" name="Text 6"/>
          <p:cNvSpPr/>
          <p:nvPr/>
        </p:nvSpPr>
        <p:spPr>
          <a:xfrm>
            <a:off x="1022350" y="2624931"/>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624931"/>
            <a:ext cx="6318123"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2C7A4B"/>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(r.IsCancelled) </a:t>
            </a:r>
            <a:r>
              <a:rPr lang="en-US" sz="1200" dirty="0">
                <a:solidFill>
                  <a:srgbClr val="2C7A4B"/>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Result.Fail(</a:t>
            </a:r>
            <a:r>
              <a:rPr lang="en-US" sz="1200" dirty="0">
                <a:solidFill>
                  <a:srgbClr val="A8520A"/>
                </a:solidFill>
                <a:latin typeface="IBM Plex Mono" pitchFamily="49" charset="0"/>
                <a:ea typeface="IBM Plex Mono" pitchFamily="49" charset="-122"/>
                <a:cs typeface="IBM Plex Mono" pitchFamily="49" charset="-120"/>
              </a:rPr>
              <a:t>"AlreadyCancelled"</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1022350" y="2906812"/>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906812"/>
            <a:ext cx="6318123"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3202D"/>
                </a:solidFill>
                <a:latin typeface="IBM Plex Mono" pitchFamily="49" charset="0"/>
                <a:ea typeface="IBM Plex Mono" pitchFamily="49" charset="-122"/>
                <a:cs typeface="IBM Plex Mono" pitchFamily="49" charset="-120"/>
              </a:rPr>
              <a:t>r.Cancel();</a:t>
            </a:r>
            <a:endParaRPr lang="en-US" sz="1200" dirty="0"/>
          </a:p>
        </p:txBody>
      </p:sp>
      <p:sp>
        <p:nvSpPr>
          <p:cNvPr id="12" name="Text 10"/>
          <p:cNvSpPr/>
          <p:nvPr/>
        </p:nvSpPr>
        <p:spPr>
          <a:xfrm>
            <a:off x="1022350" y="3188692"/>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188692"/>
            <a:ext cx="6318123"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2C7A4B"/>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Result.Ok();</a:t>
            </a:r>
            <a:endParaRPr lang="en-US" sz="1200" dirty="0"/>
          </a:p>
        </p:txBody>
      </p:sp>
      <p:sp>
        <p:nvSpPr>
          <p:cNvPr id="14" name="Shape 12"/>
          <p:cNvSpPr/>
          <p:nvPr/>
        </p:nvSpPr>
        <p:spPr>
          <a:xfrm>
            <a:off x="1022350" y="3473748"/>
            <a:ext cx="6515100" cy="0"/>
          </a:xfrm>
          <a:prstGeom prst="line">
            <a:avLst/>
          </a:prstGeom>
          <a:noFill/>
          <a:ln w="6350">
            <a:solidFill>
              <a:srgbClr val="E3E8EE"/>
            </a:solidFill>
            <a:prstDash val="solid"/>
          </a:ln>
        </p:spPr>
      </p:sp>
      <p:pic>
        <p:nvPicPr>
          <p:cNvPr id="15" name="Image 0" descr="Play">    </p:cNvPr>
          <p:cNvPicPr>
            <a:picLocks noChangeAspect="1"/>
          </p:cNvPicPr>
          <p:nvPr/>
        </p:nvPicPr>
        <p:blipFill>
          <a:blip r:embed="rId1"/>
          <a:srcRect l="0" r="0" t="0" b="0"/>
          <a:stretch/>
        </p:blipFill>
        <p:spPr>
          <a:xfrm>
            <a:off x="1022350" y="3605113"/>
            <a:ext cx="177800" cy="177800"/>
          </a:xfrm>
          <a:prstGeom prst="rect">
            <a:avLst/>
          </a:prstGeom>
        </p:spPr>
      </p:pic>
      <p:sp>
        <p:nvSpPr>
          <p:cNvPr id="16" name="Text 13"/>
          <p:cNvSpPr/>
          <p:nvPr/>
        </p:nvSpPr>
        <p:spPr>
          <a:xfrm>
            <a:off x="1301750" y="3578523"/>
            <a:ext cx="642277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Једини тест: отказивање активне резервације.</a:t>
            </a:r>
            <a:endParaRPr lang="en-US" sz="1300" dirty="0"/>
          </a:p>
        </p:txBody>
      </p:sp>
      <p:sp>
        <p:nvSpPr>
          <p:cNvPr id="17" name="Shape 14"/>
          <p:cNvSpPr/>
          <p:nvPr/>
        </p:nvSpPr>
        <p:spPr>
          <a:xfrm>
            <a:off x="7950200" y="2125861"/>
            <a:ext cx="3429000" cy="1005780"/>
          </a:xfrm>
          <a:prstGeom prst="roundRect">
            <a:avLst>
              <a:gd name="adj" fmla="val 10102"/>
            </a:avLst>
          </a:prstGeom>
          <a:solidFill>
            <a:srgbClr val="2C7A4B"/>
          </a:solidFill>
          <a:ln/>
        </p:spPr>
      </p:sp>
      <p:sp>
        <p:nvSpPr>
          <p:cNvPr id="18" name="Text 15"/>
          <p:cNvSpPr/>
          <p:nvPr/>
        </p:nvSpPr>
        <p:spPr>
          <a:xfrm>
            <a:off x="8153400" y="2265561"/>
            <a:ext cx="3113278"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FCFCFB"/>
                </a:solidFill>
                <a:latin typeface="IBM Plex Mono" pitchFamily="49" charset="0"/>
                <a:ea typeface="IBM Plex Mono" pitchFamily="49" charset="-122"/>
                <a:cs typeface="IBM Plex Mono" pitchFamily="49" charset="-120"/>
              </a:rPr>
              <a:t>100%</a:t>
            </a:r>
            <a:endParaRPr lang="en-US" sz="3600" dirty="0"/>
          </a:p>
        </p:txBody>
      </p:sp>
      <p:sp>
        <p:nvSpPr>
          <p:cNvPr id="19" name="Text 16"/>
          <p:cNvSpPr/>
          <p:nvPr/>
        </p:nvSpPr>
        <p:spPr>
          <a:xfrm>
            <a:off x="8153400" y="2760861"/>
            <a:ext cx="311327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1ECE6"/>
                </a:solidFill>
                <a:latin typeface="IBM Plex Sans" pitchFamily="34" charset="0"/>
                <a:ea typeface="IBM Plex Sans" pitchFamily="34" charset="-122"/>
                <a:cs typeface="IBM Plex Sans" pitchFamily="34" charset="-120"/>
              </a:rPr>
              <a:t>покривеност линија · 3 од 3</a:t>
            </a:r>
            <a:endParaRPr lang="en-US" sz="1300" dirty="0"/>
          </a:p>
        </p:txBody>
      </p:sp>
      <p:sp>
        <p:nvSpPr>
          <p:cNvPr id="20" name="Shape 17"/>
          <p:cNvSpPr/>
          <p:nvPr/>
        </p:nvSpPr>
        <p:spPr>
          <a:xfrm>
            <a:off x="7953375" y="3261816"/>
            <a:ext cx="3422650" cy="1012130"/>
          </a:xfrm>
          <a:prstGeom prst="roundRect">
            <a:avLst>
              <a:gd name="adj" fmla="val 9725"/>
            </a:avLst>
          </a:prstGeom>
          <a:solidFill>
            <a:srgbClr val="FBF1E6"/>
          </a:solidFill>
          <a:ln w="6350">
            <a:solidFill>
              <a:srgbClr val="E9B98C"/>
            </a:solidFill>
            <a:prstDash val="solid"/>
          </a:ln>
        </p:spPr>
      </p:sp>
      <p:sp>
        <p:nvSpPr>
          <p:cNvPr id="21" name="Text 18"/>
          <p:cNvSpPr/>
          <p:nvPr/>
        </p:nvSpPr>
        <p:spPr>
          <a:xfrm>
            <a:off x="8159750" y="3404691"/>
            <a:ext cx="3100197"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A8520A"/>
                </a:solidFill>
                <a:latin typeface="IBM Plex Mono" pitchFamily="49" charset="0"/>
                <a:ea typeface="IBM Plex Mono" pitchFamily="49" charset="-122"/>
                <a:cs typeface="IBM Plex Mono" pitchFamily="49" charset="-120"/>
              </a:rPr>
              <a:t>50%</a:t>
            </a:r>
            <a:endParaRPr lang="en-US" sz="3600" dirty="0"/>
          </a:p>
        </p:txBody>
      </p:sp>
      <p:sp>
        <p:nvSpPr>
          <p:cNvPr id="22" name="Text 19"/>
          <p:cNvSpPr/>
          <p:nvPr/>
        </p:nvSpPr>
        <p:spPr>
          <a:xfrm>
            <a:off x="8159750" y="3899991"/>
            <a:ext cx="31001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покривеност грана · 1 од 2</a:t>
            </a:r>
            <a:endParaRPr lang="en-US" sz="1300" dirty="0"/>
          </a:p>
        </p:txBody>
      </p:sp>
      <p:sp>
        <p:nvSpPr>
          <p:cNvPr id="23" name="Shape 20"/>
          <p:cNvSpPr/>
          <p:nvPr/>
        </p:nvSpPr>
        <p:spPr>
          <a:xfrm>
            <a:off x="812800" y="4505722"/>
            <a:ext cx="10566400" cy="740966"/>
          </a:xfrm>
          <a:prstGeom prst="roundRect">
            <a:avLst>
              <a:gd name="adj" fmla="val 13712"/>
            </a:avLst>
          </a:prstGeom>
          <a:solidFill>
            <a:srgbClr val="E5ECE7"/>
          </a:solidFill>
          <a:ln/>
        </p:spPr>
      </p:sp>
      <p:sp>
        <p:nvSpPr>
          <p:cNvPr id="24" name="Shape 21"/>
          <p:cNvSpPr/>
          <p:nvPr/>
        </p:nvSpPr>
        <p:spPr>
          <a:xfrm>
            <a:off x="812800" y="4505722"/>
            <a:ext cx="10566400" cy="740966"/>
          </a:xfrm>
          <a:custGeom>
            <a:avLst/>
            <a:gdLst/>
            <a:ahLst/>
            <a:cxnLst/>
            <a:rect l="l" t="t" r="r" b="b"/>
            <a:pathLst>
              <a:path w="10566400" h="740966">
                <a:moveTo>
                  <a:pt x="101600" y="740966"/>
                </a:moveTo>
                <a:lnTo>
                  <a:pt x="101600" y="740966"/>
                </a:lnTo>
                <a:arcTo hR="101600" wR="101600" stAng="5400000" swAng="5400000"/>
                <a:lnTo>
                  <a:pt x="0" y="101600"/>
                </a:lnTo>
                <a:arcTo hR="101600" wR="101600" stAng="10800000" swAng="5400000"/>
                <a:lnTo>
                  <a:pt x="101600" y="0"/>
                </a:lnTo>
                <a:arcTo hR="101600" wR="63500" stAng="16200000" swAng="-5400000"/>
                <a:lnTo>
                  <a:pt x="38100" y="639366"/>
                </a:lnTo>
                <a:arcTo hR="101600" wR="63500" stAng="10800000" swAng="-5400000"/>
                <a:close/>
              </a:path>
            </a:pathLst>
          </a:custGeom>
          <a:solidFill>
            <a:srgbClr val="2C7A4B"/>
          </a:solidFill>
          <a:ln/>
        </p:spPr>
      </p:sp>
      <p:sp>
        <p:nvSpPr>
          <p:cNvPr id="25" name="Text 22"/>
          <p:cNvSpPr/>
          <p:nvPr/>
        </p:nvSpPr>
        <p:spPr>
          <a:xfrm>
            <a:off x="1054100" y="464542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26" name="Text 23"/>
          <p:cNvSpPr/>
          <p:nvPr/>
        </p:nvSpPr>
        <p:spPr>
          <a:xfrm>
            <a:off x="1054100" y="4884142"/>
            <a:ext cx="1042555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Негативни ток AlreadyCancelled никада није извршен, иако извештај приказује сваку линију као покривену.</a:t>
            </a:r>
            <a:endParaRPr lang="en-US" sz="1300" dirty="0"/>
          </a:p>
        </p:txBody>
      </p:sp>
      <p:sp>
        <p:nvSpPr>
          <p:cNvPr id="27" name="Shape 24"/>
          <p:cNvSpPr/>
          <p:nvPr/>
        </p:nvSpPr>
        <p:spPr>
          <a:xfrm>
            <a:off x="812800" y="6209705"/>
            <a:ext cx="10566400" cy="0"/>
          </a:xfrm>
          <a:prstGeom prst="line">
            <a:avLst/>
          </a:prstGeom>
          <a:noFill/>
          <a:ln w="6350">
            <a:solidFill>
              <a:srgbClr val="D3DAE1"/>
            </a:solidFill>
            <a:prstDash val="solid"/>
          </a:ln>
        </p:spPr>
      </p:sp>
      <p:sp>
        <p:nvSpPr>
          <p:cNvPr id="28"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9"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Ограничења показатеља покривености</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Проценат покривености не замењује анализу пословног ризика и квалитета теста.</a:t>
            </a:r>
            <a:endParaRPr lang="en-US" sz="1400" dirty="0"/>
          </a:p>
        </p:txBody>
      </p:sp>
      <p:sp>
        <p:nvSpPr>
          <p:cNvPr id="6" name="Shape 4"/>
          <p:cNvSpPr/>
          <p:nvPr/>
        </p:nvSpPr>
        <p:spPr>
          <a:xfrm>
            <a:off x="831850" y="2176661"/>
            <a:ext cx="0" cy="777081"/>
          </a:xfrm>
          <a:prstGeom prst="line">
            <a:avLst/>
          </a:prstGeom>
          <a:noFill/>
          <a:ln w="38100">
            <a:solidFill>
              <a:srgbClr val="2C7A4B"/>
            </a:solidFill>
            <a:prstDash val="solid"/>
          </a:ln>
        </p:spPr>
      </p:sp>
      <p:sp>
        <p:nvSpPr>
          <p:cNvPr id="7" name="Text 5"/>
          <p:cNvSpPr/>
          <p:nvPr/>
        </p:nvSpPr>
        <p:spPr>
          <a:xfrm>
            <a:off x="1079500" y="2202061"/>
            <a:ext cx="9536049" cy="751681"/>
          </a:xfrm>
          <a:prstGeom prst="rect">
            <a:avLst/>
          </a:prstGeom>
          <a:noFill/>
          <a:ln/>
        </p:spPr>
        <p:txBody>
          <a:bodyPr wrap="square" lIns="0" tIns="0" rIns="0" bIns="0" rtlCol="0" anchor="t">
            <a:normAutofit/>
          </a:bodyPr>
          <a:lstStyle/>
          <a:p>
            <a:pPr algn="l" indent="0" marL="0">
              <a:lnSpc>
                <a:spcPts val="2860"/>
              </a:lnSpc>
              <a:buNone/>
            </a:pPr>
            <a:r>
              <a:rPr lang="en-US" sz="2200" b="1" spc="-25" kern="0" dirty="0">
                <a:solidFill>
                  <a:srgbClr val="13202D"/>
                </a:solidFill>
                <a:latin typeface="IBM Plex Sans" pitchFamily="34" charset="0"/>
                <a:ea typeface="IBM Plex Sans" pitchFamily="34" charset="-122"/>
                <a:cs typeface="IBM Plex Sans" pitchFamily="34" charset="-120"/>
              </a:rPr>
              <a:t>Питање није „колики је проценат”, већ који непокривени део носи највећи ризик и који тест би дао највише нових информација.</a:t>
            </a:r>
            <a:endParaRPr lang="en-US" sz="2200" dirty="0"/>
          </a:p>
        </p:txBody>
      </p:sp>
      <p:sp>
        <p:nvSpPr>
          <p:cNvPr id="8" name="Shape 6"/>
          <p:cNvSpPr/>
          <p:nvPr/>
        </p:nvSpPr>
        <p:spPr>
          <a:xfrm>
            <a:off x="812800" y="3207742"/>
            <a:ext cx="10566400" cy="783530"/>
          </a:xfrm>
          <a:prstGeom prst="roundRect">
            <a:avLst>
              <a:gd name="adj" fmla="val 12967"/>
            </a:avLst>
          </a:prstGeom>
          <a:solidFill>
            <a:srgbClr val="E5ECE7"/>
          </a:solidFill>
          <a:ln/>
        </p:spPr>
      </p:sp>
      <p:sp>
        <p:nvSpPr>
          <p:cNvPr id="9" name="Shape 7"/>
          <p:cNvSpPr/>
          <p:nvPr/>
        </p:nvSpPr>
        <p:spPr>
          <a:xfrm>
            <a:off x="812800" y="320774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2C7A4B"/>
          </a:solidFill>
          <a:ln/>
        </p:spPr>
      </p:sp>
      <p:sp>
        <p:nvSpPr>
          <p:cNvPr id="10" name="Text 8"/>
          <p:cNvSpPr/>
          <p:nvPr/>
        </p:nvSpPr>
        <p:spPr>
          <a:xfrm>
            <a:off x="1054100" y="336014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11" name="Text 9"/>
          <p:cNvSpPr/>
          <p:nvPr/>
        </p:nvSpPr>
        <p:spPr>
          <a:xfrm>
            <a:off x="1054100" y="359886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Извештај о покривености служи за идентификацију непроверених ризика.</a:t>
            </a:r>
            <a:endParaRPr lang="en-US" sz="1400" dirty="0"/>
          </a:p>
        </p:txBody>
      </p:sp>
      <p:sp>
        <p:nvSpPr>
          <p:cNvPr id="12" name="Shape 10"/>
          <p:cNvSpPr/>
          <p:nvPr/>
        </p:nvSpPr>
        <p:spPr>
          <a:xfrm>
            <a:off x="812800" y="6209705"/>
            <a:ext cx="10566400" cy="0"/>
          </a:xfrm>
          <a:prstGeom prst="line">
            <a:avLst/>
          </a:prstGeom>
          <a:noFill/>
          <a:ln w="6350">
            <a:solidFill>
              <a:srgbClr val="D3DAE1"/>
            </a:solidFill>
            <a:prstDash val="solid"/>
          </a:ln>
        </p:spPr>
      </p:sp>
      <p:sp>
        <p:nvSpPr>
          <p:cNvPr id="13" name="Text 1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4" name="Text 1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Анализа извештаја о покривености</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Извештај служи за идентификацију непроверених грана и ризика.</a:t>
            </a:r>
            <a:endParaRPr lang="en-US" sz="1400" dirty="0"/>
          </a:p>
        </p:txBody>
      </p:sp>
      <p:sp>
        <p:nvSpPr>
          <p:cNvPr id="6" name="Shape 4"/>
          <p:cNvSpPr/>
          <p:nvPr/>
        </p:nvSpPr>
        <p:spPr>
          <a:xfrm>
            <a:off x="815975" y="2179836"/>
            <a:ext cx="5200650" cy="887611"/>
          </a:xfrm>
          <a:prstGeom prst="roundRect">
            <a:avLst>
              <a:gd name="adj" fmla="val 11089"/>
            </a:avLst>
          </a:prstGeom>
          <a:solidFill>
            <a:srgbClr val="FCFCFB"/>
          </a:solidFill>
          <a:ln w="6350">
            <a:solidFill>
              <a:srgbClr val="D3DAE1"/>
            </a:solidFill>
            <a:prstDash val="solid"/>
          </a:ln>
        </p:spPr>
      </p:sp>
      <p:sp>
        <p:nvSpPr>
          <p:cNvPr id="7" name="Text 5"/>
          <p:cNvSpPr/>
          <p:nvPr/>
        </p:nvSpPr>
        <p:spPr>
          <a:xfrm>
            <a:off x="1022350" y="23608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2C7A4B"/>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1510109" y="2360811"/>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Условне гране</a:t>
            </a:r>
            <a:endParaRPr lang="en-US" sz="1600" dirty="0"/>
          </a:p>
        </p:txBody>
      </p:sp>
      <p:sp>
        <p:nvSpPr>
          <p:cNvPr id="9" name="Text 7"/>
          <p:cNvSpPr/>
          <p:nvPr/>
        </p:nvSpPr>
        <p:spPr>
          <a:xfrm>
            <a:off x="1510109" y="2655391"/>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да ли су оба исхода проверена</a:t>
            </a:r>
            <a:endParaRPr lang="en-US" sz="1300" dirty="0"/>
          </a:p>
        </p:txBody>
      </p:sp>
      <p:sp>
        <p:nvSpPr>
          <p:cNvPr id="10" name="Shape 8"/>
          <p:cNvSpPr/>
          <p:nvPr/>
        </p:nvSpPr>
        <p:spPr>
          <a:xfrm>
            <a:off x="6175375" y="2179836"/>
            <a:ext cx="5200650" cy="887611"/>
          </a:xfrm>
          <a:prstGeom prst="roundRect">
            <a:avLst>
              <a:gd name="adj" fmla="val 11089"/>
            </a:avLst>
          </a:prstGeom>
          <a:solidFill>
            <a:srgbClr val="FCFCFB"/>
          </a:solidFill>
          <a:ln w="6350">
            <a:solidFill>
              <a:srgbClr val="D3DAE1"/>
            </a:solidFill>
            <a:prstDash val="solid"/>
          </a:ln>
        </p:spPr>
      </p:sp>
      <p:sp>
        <p:nvSpPr>
          <p:cNvPr id="11" name="Text 9"/>
          <p:cNvSpPr/>
          <p:nvPr/>
        </p:nvSpPr>
        <p:spPr>
          <a:xfrm>
            <a:off x="6381750" y="23608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2C7A4B"/>
                </a:solidFill>
                <a:latin typeface="IBM Plex Mono" pitchFamily="49" charset="0"/>
                <a:ea typeface="IBM Plex Mono" pitchFamily="49" charset="-122"/>
                <a:cs typeface="IBM Plex Mono" pitchFamily="49" charset="-120"/>
              </a:rPr>
              <a:t>02</a:t>
            </a:r>
            <a:endParaRPr lang="en-US" sz="2200" dirty="0"/>
          </a:p>
        </p:txBody>
      </p:sp>
      <p:sp>
        <p:nvSpPr>
          <p:cNvPr id="12" name="Text 10"/>
          <p:cNvSpPr/>
          <p:nvPr/>
        </p:nvSpPr>
        <p:spPr>
          <a:xfrm>
            <a:off x="6869509" y="2360811"/>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Обрада грешака</a:t>
            </a:r>
            <a:endParaRPr lang="en-US" sz="1600" dirty="0"/>
          </a:p>
        </p:txBody>
      </p:sp>
      <p:sp>
        <p:nvSpPr>
          <p:cNvPr id="13" name="Text 11"/>
          <p:cNvSpPr/>
          <p:nvPr/>
        </p:nvSpPr>
        <p:spPr>
          <a:xfrm>
            <a:off x="6869509" y="2655391"/>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да ли грешка не постаје лажни успех</a:t>
            </a:r>
            <a:endParaRPr lang="en-US" sz="1300" dirty="0"/>
          </a:p>
        </p:txBody>
      </p:sp>
      <p:sp>
        <p:nvSpPr>
          <p:cNvPr id="14" name="Shape 12"/>
          <p:cNvSpPr/>
          <p:nvPr/>
        </p:nvSpPr>
        <p:spPr>
          <a:xfrm>
            <a:off x="815975" y="3226197"/>
            <a:ext cx="5200650" cy="887611"/>
          </a:xfrm>
          <a:prstGeom prst="roundRect">
            <a:avLst>
              <a:gd name="adj" fmla="val 11089"/>
            </a:avLst>
          </a:prstGeom>
          <a:solidFill>
            <a:srgbClr val="FCFCFB"/>
          </a:solidFill>
          <a:ln w="6350">
            <a:solidFill>
              <a:srgbClr val="D3DAE1"/>
            </a:solidFill>
            <a:prstDash val="solid"/>
          </a:ln>
        </p:spPr>
      </p:sp>
      <p:sp>
        <p:nvSpPr>
          <p:cNvPr id="15" name="Text 13"/>
          <p:cNvSpPr/>
          <p:nvPr/>
        </p:nvSpPr>
        <p:spPr>
          <a:xfrm>
            <a:off x="1022350" y="340717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2C7A4B"/>
                </a:solidFill>
                <a:latin typeface="IBM Plex Mono" pitchFamily="49" charset="0"/>
                <a:ea typeface="IBM Plex Mono" pitchFamily="49" charset="-122"/>
                <a:cs typeface="IBM Plex Mono" pitchFamily="49" charset="-120"/>
              </a:rPr>
              <a:t>03</a:t>
            </a:r>
            <a:endParaRPr lang="en-US" sz="2200" dirty="0"/>
          </a:p>
        </p:txBody>
      </p:sp>
      <p:sp>
        <p:nvSpPr>
          <p:cNvPr id="16" name="Text 14"/>
          <p:cNvSpPr/>
          <p:nvPr/>
        </p:nvSpPr>
        <p:spPr>
          <a:xfrm>
            <a:off x="1510109" y="3407172"/>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Критично стање</a:t>
            </a:r>
            <a:endParaRPr lang="en-US" sz="1600" dirty="0"/>
          </a:p>
        </p:txBody>
      </p:sp>
      <p:sp>
        <p:nvSpPr>
          <p:cNvPr id="17" name="Text 15"/>
          <p:cNvSpPr/>
          <p:nvPr/>
        </p:nvSpPr>
        <p:spPr>
          <a:xfrm>
            <a:off x="1510109" y="3701752"/>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новац, дозволе, резервације</a:t>
            </a:r>
            <a:endParaRPr lang="en-US" sz="1300" dirty="0"/>
          </a:p>
        </p:txBody>
      </p:sp>
      <p:sp>
        <p:nvSpPr>
          <p:cNvPr id="18" name="Shape 16"/>
          <p:cNvSpPr/>
          <p:nvPr/>
        </p:nvSpPr>
        <p:spPr>
          <a:xfrm>
            <a:off x="6175375" y="3226197"/>
            <a:ext cx="5200650" cy="887611"/>
          </a:xfrm>
          <a:prstGeom prst="roundRect">
            <a:avLst>
              <a:gd name="adj" fmla="val 11089"/>
            </a:avLst>
          </a:prstGeom>
          <a:solidFill>
            <a:srgbClr val="FCFCFB"/>
          </a:solidFill>
          <a:ln w="6350">
            <a:solidFill>
              <a:srgbClr val="D3DAE1"/>
            </a:solidFill>
            <a:prstDash val="solid"/>
          </a:ln>
        </p:spPr>
      </p:sp>
      <p:sp>
        <p:nvSpPr>
          <p:cNvPr id="19" name="Text 17"/>
          <p:cNvSpPr/>
          <p:nvPr/>
        </p:nvSpPr>
        <p:spPr>
          <a:xfrm>
            <a:off x="6381750" y="340717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04</a:t>
            </a:r>
            <a:endParaRPr lang="en-US" sz="2200" dirty="0"/>
          </a:p>
        </p:txBody>
      </p:sp>
      <p:sp>
        <p:nvSpPr>
          <p:cNvPr id="20" name="Text 18"/>
          <p:cNvSpPr/>
          <p:nvPr/>
        </p:nvSpPr>
        <p:spPr>
          <a:xfrm>
            <a:off x="6869509" y="3407172"/>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Непокривен ризик</a:t>
            </a:r>
            <a:endParaRPr lang="en-US" sz="1600" dirty="0"/>
          </a:p>
        </p:txBody>
      </p:sp>
      <p:sp>
        <p:nvSpPr>
          <p:cNvPr id="21" name="Text 19"/>
          <p:cNvSpPr/>
          <p:nvPr/>
        </p:nvSpPr>
        <p:spPr>
          <a:xfrm>
            <a:off x="6869509" y="3701752"/>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образложити или покрити тестом</a:t>
            </a:r>
            <a:endParaRPr lang="en-US" sz="1300" dirty="0"/>
          </a:p>
        </p:txBody>
      </p:sp>
      <p:sp>
        <p:nvSpPr>
          <p:cNvPr id="22" name="Shape 20"/>
          <p:cNvSpPr/>
          <p:nvPr/>
        </p:nvSpPr>
        <p:spPr>
          <a:xfrm>
            <a:off x="812800" y="6209705"/>
            <a:ext cx="10566400" cy="0"/>
          </a:xfrm>
          <a:prstGeom prst="line">
            <a:avLst/>
          </a:prstGeom>
          <a:noFill/>
          <a:ln w="6350">
            <a:solidFill>
              <a:srgbClr val="D3DAE1"/>
            </a:solidFill>
            <a:prstDash val="solid"/>
          </a:ln>
        </p:spPr>
      </p:sp>
      <p:sp>
        <p:nvSpPr>
          <p:cNvPr id="23"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p="http://schemas.openxmlformats.org/presentationml/2006/main">
  <p:cSld>
    <p:bg>
      <p:bgPr>
        <a:solidFill xmlns:a="http://schemas.openxmlformats.org/drawingml/2006/main">
          <a:srgbClr val="E5EC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0740D5-FF24-437B-BEEF-96201245ED27}"/>
              </a:ext>
            </a:extLst>
          </p:cNvPr>
          <p:cNvSpPr>
            <a:spLocks xmlns:a="http://schemas.openxmlformats.org/drawingml/2006/main" noGrp="1"/>
          </p:cNvSpPr>
          <p:nvPr/>
        </p:nvSpPr>
        <p:spPr>
          <a:xfrm xmlns:a="http://schemas.openxmlformats.org/drawingml/2006/main">
            <a:off x="812800" y="2438400"/>
            <a:ext cx="3139440" cy="1803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000"/>
              </a:lnSpc>
              <a:buNone/>
            </a:pPr>
            <a:r>
              <a:rPr sz="14000" spc="-400">
                <a:solidFill>
                  <a:srgbClr val="2C7A4B"/>
                </a:solidFill>
                <a:latin typeface="IBM Plex Mono"/>
                <a:ea typeface="IBM Plex Mono"/>
                <a:cs typeface="IBM Plex Mono"/>
              </a:rPr>
              <a:t>04</a:t>
            </a:r>
            <a:endParaRPr sz="14000"/>
          </a:p>
        </p:txBody>
      </p:sp>
      <p:sp>
        <p:nvSpPr>
          <p:cNvPr id="3" name="Text 1">
            <a:extLst xmlns:a="http://schemas.openxmlformats.org/drawingml/2006/main">
              <a:ext uri="{FF2B5EF4-FFF2-40B4-BE49-F238E27FC236}">
                <a16:creationId xmlns:a16="http://schemas.microsoft.com/office/drawing/2014/main" id="{CB73834A-ACF2-47B9-9F2C-0D6D36047AA3}"/>
              </a:ext>
            </a:extLst>
          </p:cNvPr>
          <p:cNvSpPr>
            <a:spLocks xmlns:a="http://schemas.openxmlformats.org/drawingml/2006/main" noGrp="1"/>
          </p:cNvSpPr>
          <p:nvPr/>
        </p:nvSpPr>
        <p:spPr>
          <a:xfrm xmlns:a="http://schemas.openxmlformats.org/drawingml/2006/main">
            <a:off x="4267200" y="2139355"/>
            <a:ext cx="73253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00">
                <a:solidFill>
                  <a:srgbClr val="2C7A4B"/>
                </a:solidFill>
                <a:latin typeface="IBM Plex Mono"/>
                <a:ea typeface="IBM Plex Mono"/>
                <a:cs typeface="IBM Plex Mono"/>
              </a:rPr>
              <a:t>ЧЕТВРТИ ДЕО</a:t>
            </a:r>
            <a:endParaRPr sz="1200"/>
          </a:p>
        </p:txBody>
      </p:sp>
      <p:sp>
        <p:nvSpPr>
          <p:cNvPr id="4" name="Text 2">
            <a:extLst xmlns:a="http://schemas.openxmlformats.org/drawingml/2006/main">
              <a:ext uri="{FF2B5EF4-FFF2-40B4-BE49-F238E27FC236}">
                <a16:creationId xmlns:a16="http://schemas.microsoft.com/office/drawing/2014/main" id="{D5C5AE82-D14A-4C44-A7D8-69A915874043}"/>
              </a:ext>
            </a:extLst>
          </p:cNvPr>
          <p:cNvSpPr>
            <a:spLocks xmlns:a="http://schemas.openxmlformats.org/drawingml/2006/main" noGrp="1"/>
          </p:cNvSpPr>
          <p:nvPr>
            <p:ph type="title" idx="0"/>
          </p:nvPr>
        </p:nvSpPr>
        <p:spPr>
          <a:xfrm xmlns:a="http://schemas.openxmlformats.org/drawingml/2006/main">
            <a:off x="4267200" y="2530475"/>
            <a:ext cx="7325360" cy="6654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5040"/>
              </a:lnSpc>
              <a:buNone/>
            </a:pPr>
            <a:r>
              <a:rPr sz="4800" b="1" i="0" spc="-100">
                <a:solidFill>
                  <a:srgbClr val="13202D"/>
                </a:solidFill>
                <a:latin typeface="IBM Plex Sans"/>
                <a:ea typeface="IBM Plex Sans"/>
                <a:cs typeface="IBM Plex Sans"/>
              </a:rPr>
              <a:t>Регресија и </a:t>
            </a:r>
            <a:r>
              <a:rPr sz="4800" b="1" i="0" spc="-100">
                <a:solidFill>
                  <a:srgbClr val="13202D"/>
                </a:solidFill>
                <a:latin typeface="IBM Plex Sans"/>
                <a:ea typeface="IBM Plex Sans"/>
                <a:cs typeface="IBM Plex Sans"/>
              </a:rPr>
              <a:t>КТ1</a:t>
            </a:r>
            <a:endParaRPr sz="4800"/>
          </a:p>
        </p:txBody>
      </p:sp>
      <p:sp>
        <p:nvSpPr>
          <p:cNvPr id="5" name="Text 3">
            <a:extLst xmlns:a="http://schemas.openxmlformats.org/drawingml/2006/main">
              <a:ext uri="{FF2B5EF4-FFF2-40B4-BE49-F238E27FC236}">
                <a16:creationId xmlns:a16="http://schemas.microsoft.com/office/drawing/2014/main" id="{800F0E8D-243E-4A23-A377-AC9AB8A72E93}"/>
              </a:ext>
            </a:extLst>
          </p:cNvPr>
          <p:cNvSpPr>
            <a:spLocks xmlns:a="http://schemas.openxmlformats.org/drawingml/2006/main" noGrp="1"/>
          </p:cNvSpPr>
          <p:nvPr/>
        </p:nvSpPr>
        <p:spPr>
          <a:xfrm xmlns:a="http://schemas.openxmlformats.org/drawingml/2006/main">
            <a:off x="4267200" y="3348335"/>
            <a:ext cx="7315200" cy="2831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30"/>
              </a:lnSpc>
              <a:buNone/>
            </a:pPr>
            <a:r>
              <a:rPr sz="1400">
                <a:solidFill>
                  <a:srgbClr val="44505D"/>
                </a:solidFill>
                <a:latin typeface="IBM Plex Sans"/>
                <a:ea typeface="IBM Plex Sans"/>
                <a:cs typeface="IBM Plex Sans"/>
              </a:rPr>
              <a:t>Тест као заштита од поновљене грешке и стабилна основа пре AI фазе.</a:t>
            </a:r>
            <a:endParaRPr sz="1400"/>
          </a:p>
        </p:txBody>
      </p:sp>
      <p:sp>
        <p:nvSpPr>
          <p:cNvPr id="6" name="Text 4">
            <a:extLst xmlns:a="http://schemas.openxmlformats.org/drawingml/2006/main">
              <a:ext uri="{FF2B5EF4-FFF2-40B4-BE49-F238E27FC236}">
                <a16:creationId xmlns:a16="http://schemas.microsoft.com/office/drawing/2014/main" id="{64A64F3D-5899-4A3D-9C8E-D4E8B8A9A2F0}"/>
              </a:ext>
            </a:extLst>
          </p:cNvPr>
          <p:cNvSpPr>
            <a:spLocks xmlns:a="http://schemas.openxmlformats.org/drawingml/2006/main" noGrp="1"/>
          </p:cNvSpPr>
          <p:nvPr/>
        </p:nvSpPr>
        <p:spPr>
          <a:xfrm xmlns:a="http://schemas.openxmlformats.org/drawingml/2006/main">
            <a:off x="4270375" y="3787080"/>
            <a:ext cx="1853009"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B3C4C1"/>
            </a:solid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Reproduce, Fix, Protect</a:t>
            </a:r>
            <a:endParaRPr sz="1200"/>
          </a:p>
        </p:txBody>
      </p:sp>
      <p:sp>
        <p:nvSpPr>
          <p:cNvPr id="7" name="Text 5">
            <a:extLst xmlns:a="http://schemas.openxmlformats.org/drawingml/2006/main">
              <a:ext uri="{FF2B5EF4-FFF2-40B4-BE49-F238E27FC236}">
                <a16:creationId xmlns:a16="http://schemas.microsoft.com/office/drawing/2014/main" id="{3F5DD7A5-CE14-4503-8271-1C788D7A788C}"/>
              </a:ext>
            </a:extLst>
          </p:cNvPr>
          <p:cNvSpPr>
            <a:spLocks xmlns:a="http://schemas.openxmlformats.org/drawingml/2006/main" noGrp="1"/>
          </p:cNvSpPr>
          <p:nvPr/>
        </p:nvSpPr>
        <p:spPr>
          <a:xfrm xmlns:a="http://schemas.openxmlformats.org/drawingml/2006/main">
            <a:off x="6205934" y="3787080"/>
            <a:ext cx="1771253"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B3C4C1"/>
            </a:solid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manual-core-baseline</a:t>
            </a:r>
            <a:endParaRPr sz="1200"/>
          </a:p>
        </p:txBody>
      </p:sp>
      <p:sp>
        <p:nvSpPr>
          <p:cNvPr id="8" name="Text 6">
            <a:extLst xmlns:a="http://schemas.openxmlformats.org/drawingml/2006/main">
              <a:ext uri="{FF2B5EF4-FFF2-40B4-BE49-F238E27FC236}">
                <a16:creationId xmlns:a16="http://schemas.microsoft.com/office/drawing/2014/main" id="{20008C6D-4886-4DFD-BD6B-85E79D04DE04}"/>
              </a:ext>
            </a:extLst>
          </p:cNvPr>
          <p:cNvSpPr>
            <a:spLocks xmlns:a="http://schemas.openxmlformats.org/drawingml/2006/main" noGrp="1"/>
          </p:cNvSpPr>
          <p:nvPr/>
        </p:nvSpPr>
        <p:spPr>
          <a:xfrm xmlns:a="http://schemas.openxmlformats.org/drawingml/2006/main">
            <a:off x="8059738" y="3787080"/>
            <a:ext cx="1058168"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B3C4C1"/>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Захтеви </a:t>
            </a:r>
            <a:r>
              <a:rPr sz="1200">
                <a:solidFill>
                  <a:srgbClr val="13202D"/>
                </a:solidFill>
                <a:latin typeface="IBM Plex Sans"/>
                <a:ea typeface="IBM Plex Sans"/>
                <a:cs typeface="IBM Plex Sans"/>
              </a:rPr>
              <a:t>КТ1</a:t>
            </a:r>
            <a:endParaRPr sz="1200"/>
          </a:p>
        </p:txBody>
      </p:sp>
      <p:sp>
        <p:nvSpPr>
          <p:cNvPr id="9" name="Text 7">
            <a:extLst xmlns:a="http://schemas.openxmlformats.org/drawingml/2006/main">
              <a:ext uri="{FF2B5EF4-FFF2-40B4-BE49-F238E27FC236}">
                <a16:creationId xmlns:a16="http://schemas.microsoft.com/office/drawing/2014/main" id="{0DEDA3C9-739E-4388-A32D-06AAC0647BC8}"/>
              </a:ext>
            </a:extLst>
          </p:cNvPr>
          <p:cNvSpPr>
            <a:spLocks xmlns:a="http://schemas.openxmlformats.org/drawingml/2006/main" noGrp="1"/>
          </p:cNvSpPr>
          <p:nvPr/>
        </p:nvSpPr>
        <p:spPr>
          <a:xfrm xmlns:a="http://schemas.openxmlformats.org/drawingml/2006/main">
            <a:off x="4270375" y="4190901"/>
            <a:ext cx="1800225"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B3C4C1"/>
            </a:solid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AI предлог сценарија</a:t>
            </a:r>
            <a:endParaRPr sz="1200"/>
          </a:p>
        </p:txBody>
      </p:sp>
      <p:sp>
        <p:nvSpPr>
          <p:cNvPr id="10" name="Text 8">
            <a:extLst xmlns:a="http://schemas.openxmlformats.org/drawingml/2006/main">
              <a:ext uri="{FF2B5EF4-FFF2-40B4-BE49-F238E27FC236}">
                <a16:creationId xmlns:a16="http://schemas.microsoft.com/office/drawing/2014/main" id="{3D29D468-491E-40F1-82DF-DD972EB9A70A}"/>
              </a:ext>
            </a:extLst>
          </p:cNvPr>
          <p:cNvSpPr>
            <a:spLocks xmlns:a="http://schemas.openxmlformats.org/drawingml/2006/main" noGrp="1"/>
          </p:cNvSpPr>
          <p:nvPr/>
        </p:nvSpPr>
        <p:spPr>
          <a:xfrm xmlns:a="http://schemas.openxmlformats.org/drawingml/2006/main">
            <a:off x="6153150" y="4190901"/>
            <a:ext cx="990898"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B3C4C1"/>
            </a:solid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Припрема</a:t>
            </a:r>
            <a:endParaRPr sz="1200"/>
          </a:p>
        </p:txBody>
      </p:sp>
      <p:sp>
        <p:nvSpPr>
          <p:cNvPr id="11" name="Shape 9">
            <a:extLst xmlns:a="http://schemas.openxmlformats.org/drawingml/2006/main">
              <a:ext uri="{FF2B5EF4-FFF2-40B4-BE49-F238E27FC236}">
                <a16:creationId xmlns:a16="http://schemas.microsoft.com/office/drawing/2014/main" id="{BEE08DB7-B284-4D3F-B0D1-8A5A35E21E0B}"/>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B3C4C1"/>
            </a:solidFill>
            <a:prstDash val="solid"/>
          </a:ln>
        </p:spPr>
      </p:sp>
      <p:sp>
        <p:nvSpPr>
          <p:cNvPr id="12" name="Text 10">
            <a:extLst xmlns:a="http://schemas.openxmlformats.org/drawingml/2006/main">
              <a:ext uri="{FF2B5EF4-FFF2-40B4-BE49-F238E27FC236}">
                <a16:creationId xmlns:a16="http://schemas.microsoft.com/office/drawing/2014/main" id="{773392A5-B79B-40F2-8FE8-E7086C0B646D}"/>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13" name="Text 11">
            <a:extLst xmlns:a="http://schemas.openxmlformats.org/drawingml/2006/main">
              <a:ext uri="{FF2B5EF4-FFF2-40B4-BE49-F238E27FC236}">
                <a16:creationId xmlns:a16="http://schemas.microsoft.com/office/drawing/2014/main" id="{8B773802-400D-47A2-989D-FE8D68A3DAE5}"/>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22</a:t>
            </a:r>
            <a:endParaRPr sz="1200"/>
          </a:p>
        </p:txBody>
      </p:sp>
    </p:spTree>
    <p:extLst>
      <p:ext uri="{BB962C8B-B14F-4D97-AF65-F5344CB8AC3E}">
        <p14:creationId xmlns:p14="http://schemas.microsoft.com/office/powerpoint/2010/main" val="551085143"/>
      </p:ext>
    </p:extLst>
  </p:cSld>
</p:sld>
</file>

<file path=ppt/slides/slide23.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FFFAD1C-9188-4513-906F-F182908FDB16}"/>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2C7A4B"/>
          </a:solidFill>
        </p:spPr>
      </p:sp>
      <p:sp>
        <p:nvSpPr>
          <p:cNvPr id="3" name="Text 1">
            <a:extLst xmlns:a="http://schemas.openxmlformats.org/drawingml/2006/main">
              <a:ext uri="{FF2B5EF4-FFF2-40B4-BE49-F238E27FC236}">
                <a16:creationId xmlns:a16="http://schemas.microsoft.com/office/drawing/2014/main" id="{C8E6DD06-C404-48A3-A455-71B21956F0C3}"/>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spc="100">
                <a:solidFill>
                  <a:srgbClr val="2C7A4B"/>
                </a:solidFill>
                <a:latin typeface="IBM Plex Mono"/>
                <a:ea typeface="IBM Plex Mono"/>
                <a:cs typeface="IBM Plex Mono"/>
              </a:rPr>
              <a:t>04 · РЕГРЕСИЈА И </a:t>
            </a:r>
            <a:r>
              <a:rPr sz="1200" spc="100">
                <a:solidFill>
                  <a:srgbClr val="2C7A4B"/>
                </a:solidFill>
                <a:latin typeface="IBM Plex Mono"/>
                <a:ea typeface="IBM Plex Mono"/>
                <a:cs typeface="IBM Plex Mono"/>
              </a:rPr>
              <a:t>КТ1</a:t>
            </a:r>
            <a:endParaRPr sz="1200"/>
          </a:p>
        </p:txBody>
      </p:sp>
      <p:sp>
        <p:nvSpPr>
          <p:cNvPr id="4" name="Text 2">
            <a:extLst xmlns:a="http://schemas.openxmlformats.org/drawingml/2006/main">
              <a:ext uri="{FF2B5EF4-FFF2-40B4-BE49-F238E27FC236}">
                <a16:creationId xmlns:a16="http://schemas.microsoft.com/office/drawing/2014/main" id="{74F65382-FB63-4E9A-B214-61FDEDD2D304}"/>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Тест за репродукцију грешке</a:t>
            </a:r>
            <a:endParaRPr sz="3000"/>
          </a:p>
        </p:txBody>
      </p:sp>
      <p:sp>
        <p:nvSpPr>
          <p:cNvPr id="5" name="Text 3">
            <a:extLst xmlns:a="http://schemas.openxmlformats.org/drawingml/2006/main">
              <a:ext uri="{FF2B5EF4-FFF2-40B4-BE49-F238E27FC236}">
                <a16:creationId xmlns:a16="http://schemas.microsoft.com/office/drawing/2014/main" id="{3DBDC888-2B29-4C56-BB1A-5F8AE031CCDF}"/>
              </a:ext>
            </a:extLst>
          </p:cNvPr>
          <p:cNvSpPr>
            <a:spLocks xmlns:a="http://schemas.openxmlformats.org/drawingml/2006/main" noGrp="1"/>
          </p:cNvSpPr>
          <p:nvPr/>
        </p:nvSpPr>
        <p:spPr>
          <a:xfrm xmlns:a="http://schemas.openxmlformats.org/drawingml/2006/main">
            <a:off x="812800" y="16738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Тест прво репродукује проблем, а затим потврђује исправку и спречава регресију.</a:t>
            </a:r>
            <a:endParaRPr sz="1400"/>
          </a:p>
        </p:txBody>
      </p:sp>
      <p:sp>
        <p:nvSpPr>
          <p:cNvPr id="6" name="Shape 4">
            <a:extLst xmlns:a="http://schemas.openxmlformats.org/drawingml/2006/main">
              <a:ext uri="{FF2B5EF4-FFF2-40B4-BE49-F238E27FC236}">
                <a16:creationId xmlns:a16="http://schemas.microsoft.com/office/drawing/2014/main" id="{FE5FE41E-6EB7-4674-B495-5806BDE33423}"/>
              </a:ext>
            </a:extLst>
          </p:cNvPr>
          <p:cNvSpPr>
            <a:spLocks xmlns:a="http://schemas.openxmlformats.org/drawingml/2006/main" noGrp="1"/>
          </p:cNvSpPr>
          <p:nvPr/>
        </p:nvSpPr>
        <p:spPr>
          <a:xfrm xmlns:a="http://schemas.openxmlformats.org/drawingml/2006/main">
            <a:off x="815975" y="2179836"/>
            <a:ext cx="3249017" cy="1421011"/>
          </a:xfrm>
          <a:prstGeom xmlns:a="http://schemas.openxmlformats.org/drawingml/2006/main" prst="roundRect">
            <a:avLst>
              <a:gd name="adj" fmla="val 6926"/>
            </a:avLst>
          </a:prstGeom>
          <a:solidFill xmlns:a="http://schemas.openxmlformats.org/drawingml/2006/main">
            <a:srgbClr val="FBF1E6"/>
          </a:solidFill>
          <a:ln xmlns:a="http://schemas.openxmlformats.org/drawingml/2006/main" w="6350">
            <a:solidFill>
              <a:srgbClr val="E9B98C"/>
            </a:solidFill>
            <a:prstDash val="solid"/>
          </a:ln>
        </p:spPr>
      </p:sp>
      <p:sp>
        <p:nvSpPr>
          <p:cNvPr id="7" name="Text 5">
            <a:extLst xmlns:a="http://schemas.openxmlformats.org/drawingml/2006/main">
              <a:ext uri="{FF2B5EF4-FFF2-40B4-BE49-F238E27FC236}">
                <a16:creationId xmlns:a16="http://schemas.microsoft.com/office/drawing/2014/main" id="{B487F66B-FA2F-41FB-859C-6AD9D7371E7B}"/>
              </a:ext>
            </a:extLst>
          </p:cNvPr>
          <p:cNvSpPr>
            <a:spLocks xmlns:a="http://schemas.openxmlformats.org/drawingml/2006/main" noGrp="1"/>
          </p:cNvSpPr>
          <p:nvPr/>
        </p:nvSpPr>
        <p:spPr>
          <a:xfrm xmlns:a="http://schemas.openxmlformats.org/drawingml/2006/main">
            <a:off x="1009650" y="2360811"/>
            <a:ext cx="402431"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200">
                <a:solidFill>
                  <a:srgbClr val="A8520A"/>
                </a:solidFill>
                <a:latin typeface="IBM Plex Mono"/>
                <a:ea typeface="IBM Plex Mono"/>
                <a:cs typeface="IBM Plex Mono"/>
              </a:rPr>
              <a:t>01</a:t>
            </a:r>
            <a:endParaRPr sz="2200"/>
          </a:p>
        </p:txBody>
      </p:sp>
      <p:sp>
        <p:nvSpPr>
          <p:cNvPr id="8" name="Text 6">
            <a:extLst xmlns:a="http://schemas.openxmlformats.org/drawingml/2006/main">
              <a:ext uri="{FF2B5EF4-FFF2-40B4-BE49-F238E27FC236}">
                <a16:creationId xmlns:a16="http://schemas.microsoft.com/office/drawing/2014/main" id="{A88C3584-6ECF-42C1-A06B-1C84CEE6EF8A}"/>
              </a:ext>
            </a:extLst>
          </p:cNvPr>
          <p:cNvSpPr>
            <a:spLocks xmlns:a="http://schemas.openxmlformats.org/drawingml/2006/main" noGrp="1"/>
          </p:cNvSpPr>
          <p:nvPr/>
        </p:nvSpPr>
        <p:spPr>
          <a:xfrm xmlns:a="http://schemas.openxmlformats.org/drawingml/2006/main">
            <a:off x="3170238" y="2424311"/>
            <a:ext cx="701080" cy="264120"/>
          </a:xfrm>
          <a:prstGeom xmlns:a="http://schemas.openxmlformats.org/drawingml/2006/main" prst="roundRect">
            <a:avLst>
              <a:gd name="adj" fmla="val 19234"/>
            </a:avLst>
          </a:prstGeom>
          <a:solidFill xmlns:a="http://schemas.openxmlformats.org/drawingml/2006/main">
            <a:srgbClr val="FCFCFB"/>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A8520A"/>
                </a:solidFill>
                <a:latin typeface="IBM Plex Mono"/>
                <a:ea typeface="IBM Plex Mono"/>
                <a:cs typeface="IBM Plex Mono"/>
              </a:rPr>
              <a:t>црвено</a:t>
            </a:r>
            <a:endParaRPr sz="1200"/>
          </a:p>
        </p:txBody>
      </p:sp>
      <p:sp>
        <p:nvSpPr>
          <p:cNvPr id="9" name="Text 7">
            <a:extLst xmlns:a="http://schemas.openxmlformats.org/drawingml/2006/main">
              <a:ext uri="{FF2B5EF4-FFF2-40B4-BE49-F238E27FC236}">
                <a16:creationId xmlns:a16="http://schemas.microsoft.com/office/drawing/2014/main" id="{0974C3F9-1F74-4AA2-AA19-637904695B02}"/>
              </a:ext>
            </a:extLst>
          </p:cNvPr>
          <p:cNvSpPr>
            <a:spLocks xmlns:a="http://schemas.openxmlformats.org/drawingml/2006/main" noGrp="1"/>
          </p:cNvSpPr>
          <p:nvPr/>
        </p:nvSpPr>
        <p:spPr>
          <a:xfrm xmlns:a="http://schemas.openxmlformats.org/drawingml/2006/main">
            <a:off x="1009650" y="2840831"/>
            <a:ext cx="2947517" cy="2844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40"/>
              </a:lnSpc>
              <a:buNone/>
            </a:pPr>
            <a:r>
              <a:rPr sz="1700" b="1">
                <a:solidFill>
                  <a:srgbClr val="13202D"/>
                </a:solidFill>
                <a:latin typeface="IBM Plex Sans"/>
                <a:ea typeface="IBM Plex Sans"/>
                <a:cs typeface="IBM Plex Sans"/>
              </a:rPr>
              <a:t>Reproduce</a:t>
            </a:r>
            <a:endParaRPr sz="1700"/>
          </a:p>
        </p:txBody>
      </p:sp>
      <p:sp>
        <p:nvSpPr>
          <p:cNvPr id="10" name="Text 8">
            <a:extLst xmlns:a="http://schemas.openxmlformats.org/drawingml/2006/main">
              <a:ext uri="{FF2B5EF4-FFF2-40B4-BE49-F238E27FC236}">
                <a16:creationId xmlns:a16="http://schemas.microsoft.com/office/drawing/2014/main" id="{17D3FC3D-6538-4211-98EF-39C3E0943CCE}"/>
              </a:ext>
            </a:extLst>
          </p:cNvPr>
          <p:cNvSpPr>
            <a:spLocks xmlns:a="http://schemas.openxmlformats.org/drawingml/2006/main" noGrp="1"/>
          </p:cNvSpPr>
          <p:nvPr/>
        </p:nvSpPr>
        <p:spPr>
          <a:xfrm xmlns:a="http://schemas.openxmlformats.org/drawingml/2006/main">
            <a:off x="1009650" y="3188791"/>
            <a:ext cx="2947517"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4505D"/>
                </a:solidFill>
                <a:latin typeface="IBM Plex Sans"/>
                <a:ea typeface="IBM Plex Sans"/>
                <a:cs typeface="IBM Plex Sans"/>
              </a:rPr>
              <a:t>тест показује тренутни bug</a:t>
            </a:r>
            <a:endParaRPr sz="1300"/>
          </a:p>
        </p:txBody>
      </p:sp>
      <p:pic>
        <p:nvPicPr>
          <p:cNvPr id="11" name="Image 0">
            <a:extLst xmlns:a="http://schemas.openxmlformats.org/drawingml/2006/main">
              <a:ext uri="{FF2B5EF4-FFF2-40B4-BE49-F238E27FC236}">
                <a16:creationId xmlns:a16="http://schemas.microsoft.com/office/drawing/2014/main" id="{A5B19834-0762-401B-8F0C-65405FEA62AD}"/>
              </a:ext>
            </a:extLst>
          </p:cNvPr>
          <p:cNvPicPr>
            <a:picLocks xmlns:a="http://schemas.openxmlformats.org/drawingml/2006/main" noChangeAspect="1"/>
          </p:cNvPicPr>
          <p:nvPr/>
        </p:nvPicPr>
        <p:blipFill>
          <a:blip xmlns:r="http://schemas.openxmlformats.org/officeDocument/2006/relationships" xmlns:a="http://schemas.openxmlformats.org/drawingml/2006/main" r:embed="R1beda6281db8461a"/>
          <a:srcRect xmlns:a="http://schemas.openxmlformats.org/drawingml/2006/main" l="0" t="0" r="0" b="0"/>
          <a:stretch xmlns:a="http://schemas.openxmlformats.org/drawingml/2006/main"/>
        </p:blipFill>
        <p:spPr>
          <a:xfrm xmlns:a="http://schemas.openxmlformats.org/drawingml/2006/main">
            <a:off x="4157067" y="2833191"/>
            <a:ext cx="228600" cy="114300"/>
          </a:xfrm>
          <a:prstGeom xmlns:a="http://schemas.openxmlformats.org/drawingml/2006/main" prst="rect">
            <a:avLst/>
          </a:prstGeom>
        </p:spPr>
      </p:pic>
      <p:sp>
        <p:nvSpPr>
          <p:cNvPr id="12" name="Shape 9">
            <a:extLst xmlns:a="http://schemas.openxmlformats.org/drawingml/2006/main">
              <a:ext uri="{FF2B5EF4-FFF2-40B4-BE49-F238E27FC236}">
                <a16:creationId xmlns:a16="http://schemas.microsoft.com/office/drawing/2014/main" id="{FA9C8AD5-A01A-4186-AEE9-1008A5F973C6}"/>
              </a:ext>
            </a:extLst>
          </p:cNvPr>
          <p:cNvSpPr>
            <a:spLocks xmlns:a="http://schemas.openxmlformats.org/drawingml/2006/main" noGrp="1"/>
          </p:cNvSpPr>
          <p:nvPr/>
        </p:nvSpPr>
        <p:spPr>
          <a:xfrm xmlns:a="http://schemas.openxmlformats.org/drawingml/2006/main">
            <a:off x="4477742" y="2179836"/>
            <a:ext cx="3249116" cy="1421011"/>
          </a:xfrm>
          <a:prstGeom xmlns:a="http://schemas.openxmlformats.org/drawingml/2006/main" prst="roundRect">
            <a:avLst>
              <a:gd name="adj" fmla="val 6926"/>
            </a:avLst>
          </a:prstGeom>
          <a:solidFill xmlns:a="http://schemas.openxmlformats.org/drawingml/2006/main">
            <a:srgbClr val="FCFCFB"/>
          </a:solidFill>
          <a:ln xmlns:a="http://schemas.openxmlformats.org/drawingml/2006/main" w="6350">
            <a:solidFill>
              <a:srgbClr val="D3DAE1"/>
            </a:solidFill>
            <a:prstDash val="solid"/>
          </a:ln>
        </p:spPr>
      </p:sp>
      <p:sp>
        <p:nvSpPr>
          <p:cNvPr id="13" name="Text 10">
            <a:extLst xmlns:a="http://schemas.openxmlformats.org/drawingml/2006/main">
              <a:ext uri="{FF2B5EF4-FFF2-40B4-BE49-F238E27FC236}">
                <a16:creationId xmlns:a16="http://schemas.microsoft.com/office/drawing/2014/main" id="{11285525-30D2-4A5C-83AF-5788D2A4A6FB}"/>
              </a:ext>
            </a:extLst>
          </p:cNvPr>
          <p:cNvSpPr>
            <a:spLocks xmlns:a="http://schemas.openxmlformats.org/drawingml/2006/main" noGrp="1"/>
          </p:cNvSpPr>
          <p:nvPr/>
        </p:nvSpPr>
        <p:spPr>
          <a:xfrm xmlns:a="http://schemas.openxmlformats.org/drawingml/2006/main">
            <a:off x="4671417" y="2360811"/>
            <a:ext cx="402431"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200">
                <a:solidFill>
                  <a:srgbClr val="2C7A4B"/>
                </a:solidFill>
                <a:latin typeface="IBM Plex Mono"/>
                <a:ea typeface="IBM Plex Mono"/>
                <a:cs typeface="IBM Plex Mono"/>
              </a:rPr>
              <a:t>02</a:t>
            </a:r>
            <a:endParaRPr sz="2200"/>
          </a:p>
        </p:txBody>
      </p:sp>
      <p:sp>
        <p:nvSpPr>
          <p:cNvPr id="14" name="Text 11">
            <a:extLst xmlns:a="http://schemas.openxmlformats.org/drawingml/2006/main">
              <a:ext uri="{FF2B5EF4-FFF2-40B4-BE49-F238E27FC236}">
                <a16:creationId xmlns:a16="http://schemas.microsoft.com/office/drawing/2014/main" id="{D68D0489-B160-4B3C-9B97-377476B3CB37}"/>
              </a:ext>
            </a:extLst>
          </p:cNvPr>
          <p:cNvSpPr>
            <a:spLocks xmlns:a="http://schemas.openxmlformats.org/drawingml/2006/main" noGrp="1"/>
          </p:cNvSpPr>
          <p:nvPr/>
        </p:nvSpPr>
        <p:spPr>
          <a:xfrm xmlns:a="http://schemas.openxmlformats.org/drawingml/2006/main">
            <a:off x="6832104" y="2424311"/>
            <a:ext cx="701080" cy="264120"/>
          </a:xfrm>
          <a:prstGeom xmlns:a="http://schemas.openxmlformats.org/drawingml/2006/main" prst="roundRect">
            <a:avLst>
              <a:gd name="adj" fmla="val 19234"/>
            </a:avLst>
          </a:prstGeom>
          <a:solidFill xmlns:a="http://schemas.openxmlformats.org/drawingml/2006/main">
            <a:srgbClr val="E1ECE6"/>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2C7A4B"/>
                </a:solidFill>
                <a:latin typeface="IBM Plex Mono"/>
                <a:ea typeface="IBM Plex Mono"/>
                <a:cs typeface="IBM Plex Mono"/>
              </a:rPr>
              <a:t>зелено</a:t>
            </a:r>
            <a:endParaRPr sz="1200"/>
          </a:p>
        </p:txBody>
      </p:sp>
      <p:sp>
        <p:nvSpPr>
          <p:cNvPr id="15" name="Text 12">
            <a:extLst xmlns:a="http://schemas.openxmlformats.org/drawingml/2006/main">
              <a:ext uri="{FF2B5EF4-FFF2-40B4-BE49-F238E27FC236}">
                <a16:creationId xmlns:a16="http://schemas.microsoft.com/office/drawing/2014/main" id="{FCB222FE-8721-4C5D-B2A2-A1CB18A8DA5C}"/>
              </a:ext>
            </a:extLst>
          </p:cNvPr>
          <p:cNvSpPr>
            <a:spLocks xmlns:a="http://schemas.openxmlformats.org/drawingml/2006/main" noGrp="1"/>
          </p:cNvSpPr>
          <p:nvPr/>
        </p:nvSpPr>
        <p:spPr>
          <a:xfrm xmlns:a="http://schemas.openxmlformats.org/drawingml/2006/main">
            <a:off x="4671417" y="2840831"/>
            <a:ext cx="2947619" cy="2844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40"/>
              </a:lnSpc>
              <a:buNone/>
            </a:pPr>
            <a:r>
              <a:rPr sz="1700" b="1">
                <a:solidFill>
                  <a:srgbClr val="13202D"/>
                </a:solidFill>
                <a:latin typeface="IBM Plex Sans"/>
                <a:ea typeface="IBM Plex Sans"/>
                <a:cs typeface="IBM Plex Sans"/>
              </a:rPr>
              <a:t>Fix</a:t>
            </a:r>
            <a:endParaRPr sz="1700"/>
          </a:p>
        </p:txBody>
      </p:sp>
      <p:sp>
        <p:nvSpPr>
          <p:cNvPr id="16" name="Text 13">
            <a:extLst xmlns:a="http://schemas.openxmlformats.org/drawingml/2006/main">
              <a:ext uri="{FF2B5EF4-FFF2-40B4-BE49-F238E27FC236}">
                <a16:creationId xmlns:a16="http://schemas.microsoft.com/office/drawing/2014/main" id="{2C8E1CC0-140B-4FB1-B4EA-8AA7699298E1}"/>
              </a:ext>
            </a:extLst>
          </p:cNvPr>
          <p:cNvSpPr>
            <a:spLocks xmlns:a="http://schemas.openxmlformats.org/drawingml/2006/main" noGrp="1"/>
          </p:cNvSpPr>
          <p:nvPr/>
        </p:nvSpPr>
        <p:spPr>
          <a:xfrm xmlns:a="http://schemas.openxmlformats.org/drawingml/2006/main">
            <a:off x="4671417" y="3188791"/>
            <a:ext cx="2947619"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4505D"/>
                </a:solidFill>
                <a:latin typeface="IBM Plex Sans"/>
                <a:ea typeface="IBM Plex Sans"/>
                <a:cs typeface="IBM Plex Sans"/>
              </a:rPr>
              <a:t>минимална измена понашања</a:t>
            </a:r>
            <a:endParaRPr sz="1300"/>
          </a:p>
        </p:txBody>
      </p:sp>
      <p:pic>
        <p:nvPicPr>
          <p:cNvPr id="17" name="Image 1">
            <a:extLst xmlns:a="http://schemas.openxmlformats.org/drawingml/2006/main">
              <a:ext uri="{FF2B5EF4-FFF2-40B4-BE49-F238E27FC236}">
                <a16:creationId xmlns:a16="http://schemas.microsoft.com/office/drawing/2014/main" id="{293B855A-AA92-4581-A13B-00A8505F17AF}"/>
              </a:ext>
            </a:extLst>
          </p:cNvPr>
          <p:cNvPicPr>
            <a:picLocks xmlns:a="http://schemas.openxmlformats.org/drawingml/2006/main" noChangeAspect="1"/>
          </p:cNvPicPr>
          <p:nvPr/>
        </p:nvPicPr>
        <p:blipFill>
          <a:blip xmlns:r="http://schemas.openxmlformats.org/officeDocument/2006/relationships" xmlns:a="http://schemas.openxmlformats.org/drawingml/2006/main" r:embed="R107e2f4bbc0c4917"/>
          <a:srcRect xmlns:a="http://schemas.openxmlformats.org/drawingml/2006/main" l="0" t="0" r="0" b="0"/>
          <a:stretch xmlns:a="http://schemas.openxmlformats.org/drawingml/2006/main"/>
        </p:blipFill>
        <p:spPr>
          <a:xfrm xmlns:a="http://schemas.openxmlformats.org/drawingml/2006/main">
            <a:off x="7818934" y="2833191"/>
            <a:ext cx="228600" cy="114300"/>
          </a:xfrm>
          <a:prstGeom xmlns:a="http://schemas.openxmlformats.org/drawingml/2006/main" prst="rect">
            <a:avLst/>
          </a:prstGeom>
        </p:spPr>
      </p:pic>
      <p:sp>
        <p:nvSpPr>
          <p:cNvPr id="18" name="Shape 14">
            <a:extLst xmlns:a="http://schemas.openxmlformats.org/drawingml/2006/main">
              <a:ext uri="{FF2B5EF4-FFF2-40B4-BE49-F238E27FC236}">
                <a16:creationId xmlns:a16="http://schemas.microsoft.com/office/drawing/2014/main" id="{5CA36C25-8271-4CB8-B7B9-BEF2AA481A83}"/>
              </a:ext>
            </a:extLst>
          </p:cNvPr>
          <p:cNvSpPr>
            <a:spLocks xmlns:a="http://schemas.openxmlformats.org/drawingml/2006/main" noGrp="1"/>
          </p:cNvSpPr>
          <p:nvPr/>
        </p:nvSpPr>
        <p:spPr>
          <a:xfrm xmlns:a="http://schemas.openxmlformats.org/drawingml/2006/main">
            <a:off x="8136434" y="2176661"/>
            <a:ext cx="3242766" cy="1427361"/>
          </a:xfrm>
          <a:prstGeom xmlns:a="http://schemas.openxmlformats.org/drawingml/2006/main" prst="roundRect">
            <a:avLst>
              <a:gd name="adj" fmla="val 7118"/>
            </a:avLst>
          </a:prstGeom>
          <a:solidFill xmlns:a="http://schemas.openxmlformats.org/drawingml/2006/main">
            <a:srgbClr val="2C7A4B"/>
          </a:solidFill>
        </p:spPr>
      </p:sp>
      <p:sp>
        <p:nvSpPr>
          <p:cNvPr id="19" name="Text 15">
            <a:extLst xmlns:a="http://schemas.openxmlformats.org/drawingml/2006/main">
              <a:ext uri="{FF2B5EF4-FFF2-40B4-BE49-F238E27FC236}">
                <a16:creationId xmlns:a16="http://schemas.microsoft.com/office/drawing/2014/main" id="{3B2FF515-8D99-415D-82D9-CED766799526}"/>
              </a:ext>
            </a:extLst>
          </p:cNvPr>
          <p:cNvSpPr>
            <a:spLocks xmlns:a="http://schemas.openxmlformats.org/drawingml/2006/main" noGrp="1"/>
          </p:cNvSpPr>
          <p:nvPr/>
        </p:nvSpPr>
        <p:spPr>
          <a:xfrm xmlns:a="http://schemas.openxmlformats.org/drawingml/2006/main">
            <a:off x="8326934" y="2354461"/>
            <a:ext cx="402431"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200">
                <a:solidFill>
                  <a:srgbClr val="B1CEBC"/>
                </a:solidFill>
                <a:latin typeface="IBM Plex Mono"/>
                <a:ea typeface="IBM Plex Mono"/>
                <a:cs typeface="IBM Plex Mono"/>
              </a:rPr>
              <a:t>03</a:t>
            </a:r>
            <a:endParaRPr sz="2200"/>
          </a:p>
        </p:txBody>
      </p:sp>
      <p:sp>
        <p:nvSpPr>
          <p:cNvPr id="20" name="Text 16">
            <a:extLst xmlns:a="http://schemas.openxmlformats.org/drawingml/2006/main">
              <a:ext uri="{FF2B5EF4-FFF2-40B4-BE49-F238E27FC236}">
                <a16:creationId xmlns:a16="http://schemas.microsoft.com/office/drawing/2014/main" id="{13610DE4-9928-4930-9AB6-AC4A54A5B3B7}"/>
              </a:ext>
            </a:extLst>
          </p:cNvPr>
          <p:cNvSpPr>
            <a:spLocks xmlns:a="http://schemas.openxmlformats.org/drawingml/2006/main" noGrp="1"/>
          </p:cNvSpPr>
          <p:nvPr/>
        </p:nvSpPr>
        <p:spPr>
          <a:xfrm xmlns:a="http://schemas.openxmlformats.org/drawingml/2006/main">
            <a:off x="10487620" y="2417961"/>
            <a:ext cx="701080" cy="264120"/>
          </a:xfrm>
          <a:prstGeom xmlns:a="http://schemas.openxmlformats.org/drawingml/2006/main" prst="roundRect">
            <a:avLst>
              <a:gd name="adj" fmla="val 19234"/>
            </a:avLst>
          </a:prstGeom>
          <a:solidFill xmlns:a="http://schemas.openxmlformats.org/drawingml/2006/main">
            <a:srgbClr val="FCFCFB"/>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2C7A4B"/>
                </a:solidFill>
                <a:latin typeface="IBM Plex Mono"/>
                <a:ea typeface="IBM Plex Mono"/>
                <a:cs typeface="IBM Plex Mono"/>
              </a:rPr>
              <a:t>трајно</a:t>
            </a:r>
            <a:endParaRPr sz="1200"/>
          </a:p>
        </p:txBody>
      </p:sp>
      <p:sp>
        <p:nvSpPr>
          <p:cNvPr id="21" name="Text 17">
            <a:extLst xmlns:a="http://schemas.openxmlformats.org/drawingml/2006/main">
              <a:ext uri="{FF2B5EF4-FFF2-40B4-BE49-F238E27FC236}">
                <a16:creationId xmlns:a16="http://schemas.microsoft.com/office/drawing/2014/main" id="{0E1A5C5D-123B-45DF-B53D-271A56D02156}"/>
              </a:ext>
            </a:extLst>
          </p:cNvPr>
          <p:cNvSpPr>
            <a:spLocks xmlns:a="http://schemas.openxmlformats.org/drawingml/2006/main" noGrp="1"/>
          </p:cNvSpPr>
          <p:nvPr/>
        </p:nvSpPr>
        <p:spPr>
          <a:xfrm xmlns:a="http://schemas.openxmlformats.org/drawingml/2006/main">
            <a:off x="8326934" y="2834481"/>
            <a:ext cx="2947619" cy="2844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40"/>
              </a:lnSpc>
              <a:buNone/>
            </a:pPr>
            <a:r>
              <a:rPr sz="1700" b="1">
                <a:solidFill>
                  <a:srgbClr val="FCFCFB"/>
                </a:solidFill>
                <a:latin typeface="IBM Plex Sans"/>
                <a:ea typeface="IBM Plex Sans"/>
                <a:cs typeface="IBM Plex Sans"/>
              </a:rPr>
              <a:t>Protect</a:t>
            </a:r>
            <a:endParaRPr sz="1700"/>
          </a:p>
        </p:txBody>
      </p:sp>
      <p:sp>
        <p:nvSpPr>
          <p:cNvPr id="22" name="Text 18">
            <a:extLst xmlns:a="http://schemas.openxmlformats.org/drawingml/2006/main">
              <a:ext uri="{FF2B5EF4-FFF2-40B4-BE49-F238E27FC236}">
                <a16:creationId xmlns:a16="http://schemas.microsoft.com/office/drawing/2014/main" id="{2E8A654C-B7A0-49FC-9D42-1996878F235D}"/>
              </a:ext>
            </a:extLst>
          </p:cNvPr>
          <p:cNvSpPr>
            <a:spLocks xmlns:a="http://schemas.openxmlformats.org/drawingml/2006/main" noGrp="1"/>
          </p:cNvSpPr>
          <p:nvPr/>
        </p:nvSpPr>
        <p:spPr>
          <a:xfrm xmlns:a="http://schemas.openxmlformats.org/drawingml/2006/main">
            <a:off x="8326934" y="3182441"/>
            <a:ext cx="2947619"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E1ECE6"/>
                </a:solidFill>
                <a:latin typeface="IBM Plex Sans"/>
                <a:ea typeface="IBM Plex Sans"/>
                <a:cs typeface="IBM Plex Sans"/>
              </a:rPr>
              <a:t>тест остаје као регресиона заштита</a:t>
            </a:r>
            <a:endParaRPr sz="1300"/>
          </a:p>
        </p:txBody>
      </p:sp>
      <p:sp>
        <p:nvSpPr>
          <p:cNvPr id="23" name="Shape 19">
            <a:extLst xmlns:a="http://schemas.openxmlformats.org/drawingml/2006/main">
              <a:ext uri="{FF2B5EF4-FFF2-40B4-BE49-F238E27FC236}">
                <a16:creationId xmlns:a16="http://schemas.microsoft.com/office/drawing/2014/main" id="{050A5EE5-E34E-4707-A679-EF9B5EE85A72}"/>
              </a:ext>
            </a:extLst>
          </p:cNvPr>
          <p:cNvSpPr>
            <a:spLocks xmlns:a="http://schemas.openxmlformats.org/drawingml/2006/main" noGrp="1"/>
          </p:cNvSpPr>
          <p:nvPr/>
        </p:nvSpPr>
        <p:spPr>
          <a:xfrm xmlns:a="http://schemas.openxmlformats.org/drawingml/2006/main">
            <a:off x="812800" y="3858022"/>
            <a:ext cx="10566400" cy="783530"/>
          </a:xfrm>
          <a:prstGeom xmlns:a="http://schemas.openxmlformats.org/drawingml/2006/main" prst="roundRect">
            <a:avLst>
              <a:gd name="adj" fmla="val 12967"/>
            </a:avLst>
          </a:prstGeom>
          <a:solidFill xmlns:a="http://schemas.openxmlformats.org/drawingml/2006/main">
            <a:srgbClr val="E5ECE7"/>
          </a:solidFill>
        </p:spPr>
      </p:sp>
      <p:sp>
        <p:nvSpPr>
          <p:cNvPr id="24" name="Shape 20">
            <a:extLst xmlns:a="http://schemas.openxmlformats.org/drawingml/2006/main">
              <a:ext uri="{FF2B5EF4-FFF2-40B4-BE49-F238E27FC236}">
                <a16:creationId xmlns:a16="http://schemas.microsoft.com/office/drawing/2014/main" id="{92C3EADC-DAB2-48E6-B41D-36C22B7ECAD8}"/>
              </a:ext>
            </a:extLst>
          </p:cNvPr>
          <p:cNvSpPr>
            <a:spLocks xmlns:a="http://schemas.openxmlformats.org/drawingml/2006/main" noGrp="1"/>
          </p:cNvSpPr>
          <p:nvPr/>
        </p:nvSpPr>
        <p:spPr>
          <a:xfrm xmlns:a="http://schemas.openxmlformats.org/drawingml/2006/main">
            <a:off x="812800" y="3858022"/>
            <a:ext cx="10566400" cy="783530"/>
          </a:xfrm>
          <a:custGeom xmlns:a="http://schemas.openxmlformats.org/drawingml/2006/main">
            <a:rect l="l" t="t" r="r" b="b"/>
            <a:pathLst>
              <a:path w="10566400" h="783530">
                <a:moveTo>
                  <a:pt x="101600" y="783530"/>
                </a:moveTo>
                <a:lnTo>
                  <a:pt x="101600" y="783530"/>
                </a:lnTo>
                <a:arcTo wR="101600" hR="101600" stAng="5400000" swAng="5400000"/>
                <a:lnTo>
                  <a:pt x="0" y="101600"/>
                </a:lnTo>
                <a:arcTo wR="101600" hR="101600" stAng="10800000" swAng="5400000"/>
                <a:lnTo>
                  <a:pt x="101600" y="0"/>
                </a:lnTo>
                <a:arcTo wR="63500" hR="101600" stAng="16200000" swAng="-5400000"/>
                <a:lnTo>
                  <a:pt x="38100" y="681930"/>
                </a:lnTo>
                <a:arcTo wR="63500" hR="101600" stAng="10800000" swAng="-5400000"/>
                <a:close/>
              </a:path>
            </a:pathLst>
          </a:custGeom>
          <a:solidFill xmlns:a="http://schemas.openxmlformats.org/drawingml/2006/main">
            <a:srgbClr val="2C7A4B"/>
          </a:solidFill>
        </p:spPr>
      </p:sp>
      <p:sp>
        <p:nvSpPr>
          <p:cNvPr id="25" name="Text 21">
            <a:extLst xmlns:a="http://schemas.openxmlformats.org/drawingml/2006/main">
              <a:ext uri="{FF2B5EF4-FFF2-40B4-BE49-F238E27FC236}">
                <a16:creationId xmlns:a16="http://schemas.microsoft.com/office/drawing/2014/main" id="{AF1C085B-8D4A-41C4-843E-406F3DD2EED2}"/>
              </a:ext>
            </a:extLst>
          </p:cNvPr>
          <p:cNvSpPr>
            <a:spLocks xmlns:a="http://schemas.openxmlformats.org/drawingml/2006/main" noGrp="1"/>
          </p:cNvSpPr>
          <p:nvPr/>
        </p:nvSpPr>
        <p:spPr>
          <a:xfrm xmlns:a="http://schemas.openxmlformats.org/drawingml/2006/main">
            <a:off x="1054100" y="4010422"/>
            <a:ext cx="104255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00">
                <a:solidFill>
                  <a:srgbClr val="2C7A4B"/>
                </a:solidFill>
                <a:latin typeface="IBM Plex Mono"/>
                <a:ea typeface="IBM Plex Mono"/>
                <a:cs typeface="IBM Plex Mono"/>
              </a:rPr>
              <a:t>НАПОМЕНА</a:t>
            </a:r>
            <a:endParaRPr sz="1200"/>
          </a:p>
        </p:txBody>
      </p:sp>
      <p:sp>
        <p:nvSpPr>
          <p:cNvPr id="26" name="Text 22">
            <a:extLst xmlns:a="http://schemas.openxmlformats.org/drawingml/2006/main">
              <a:ext uri="{FF2B5EF4-FFF2-40B4-BE49-F238E27FC236}">
                <a16:creationId xmlns:a16="http://schemas.microsoft.com/office/drawing/2014/main" id="{0F63AAEE-7286-4785-98EE-961DA8F4F251}"/>
              </a:ext>
            </a:extLst>
          </p:cNvPr>
          <p:cNvSpPr>
            <a:spLocks xmlns:a="http://schemas.openxmlformats.org/drawingml/2006/main" noGrp="1"/>
          </p:cNvSpPr>
          <p:nvPr/>
        </p:nvSpPr>
        <p:spPr>
          <a:xfrm xmlns:a="http://schemas.openxmlformats.org/drawingml/2006/main">
            <a:off x="1054100" y="4249142"/>
            <a:ext cx="10425557" cy="26541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90"/>
              </a:lnSpc>
              <a:buNone/>
            </a:pPr>
            <a:r>
              <a:rPr sz="1400">
                <a:solidFill>
                  <a:srgbClr val="13202D"/>
                </a:solidFill>
                <a:latin typeface="IBM Plex Sans"/>
                <a:ea typeface="IBM Plex Sans"/>
                <a:cs typeface="IBM Plex Sans"/>
              </a:rPr>
              <a:t>Тест који је пре исправке пролазио није доказ да је грешка репродукована.</a:t>
            </a:r>
            <a:endParaRPr sz="1400"/>
          </a:p>
        </p:txBody>
      </p:sp>
      <p:sp>
        <p:nvSpPr>
          <p:cNvPr id="27" name="Shape 23">
            <a:extLst xmlns:a="http://schemas.openxmlformats.org/drawingml/2006/main">
              <a:ext uri="{FF2B5EF4-FFF2-40B4-BE49-F238E27FC236}">
                <a16:creationId xmlns:a16="http://schemas.microsoft.com/office/drawing/2014/main" id="{BCC12DB4-5D04-4CD1-A5E0-BD416036B52A}"/>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28" name="Text 24">
            <a:extLst xmlns:a="http://schemas.openxmlformats.org/drawingml/2006/main">
              <a:ext uri="{FF2B5EF4-FFF2-40B4-BE49-F238E27FC236}">
                <a16:creationId xmlns:a16="http://schemas.microsoft.com/office/drawing/2014/main" id="{756312BA-045B-4F03-AA9F-84405E8446BC}"/>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29" name="Text 25">
            <a:extLst xmlns:a="http://schemas.openxmlformats.org/drawingml/2006/main">
              <a:ext uri="{FF2B5EF4-FFF2-40B4-BE49-F238E27FC236}">
                <a16:creationId xmlns:a16="http://schemas.microsoft.com/office/drawing/2014/main" id="{42909FB0-77C9-43A9-9B29-083591B94861}"/>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23</a:t>
            </a:r>
            <a:endParaRPr sz="1200"/>
          </a:p>
        </p:txBody>
      </p:sp>
    </p:spTree>
    <p:extLst>
      <p:ext uri="{BB962C8B-B14F-4D97-AF65-F5344CB8AC3E}">
        <p14:creationId xmlns:p14="http://schemas.microsoft.com/office/powerpoint/2010/main" val="1042318396"/>
      </p:ext>
    </p:extLst>
  </p:cSld>
</p:sld>
</file>

<file path=ppt/slides/slide24.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647C06E-A463-4B9A-874C-C9A2E833455C}"/>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2C7A4B"/>
          </a:solidFill>
        </p:spPr>
      </p:sp>
      <p:pic>
        <p:nvPicPr>
          <p:cNvPr id="3" name="Image 0">
            <a:extLst xmlns:a="http://schemas.openxmlformats.org/drawingml/2006/main">
              <a:ext uri="{FF2B5EF4-FFF2-40B4-BE49-F238E27FC236}">
                <a16:creationId xmlns:a16="http://schemas.microsoft.com/office/drawing/2014/main" id="{3AD02EE2-6D55-4277-ADE4-002CE5F61347}"/>
              </a:ext>
            </a:extLst>
          </p:cNvPr>
          <p:cNvPicPr>
            <a:picLocks xmlns:a="http://schemas.openxmlformats.org/drawingml/2006/main" noChangeAspect="1"/>
          </p:cNvPicPr>
          <p:nvPr/>
        </p:nvPicPr>
        <p:blipFill>
          <a:blip xmlns:r="http://schemas.openxmlformats.org/officeDocument/2006/relationships" xmlns:a="http://schemas.openxmlformats.org/drawingml/2006/main" r:embed="R36225bf23beb4a69"/>
          <a:srcRect xmlns:a="http://schemas.openxmlformats.org/drawingml/2006/main" l="0" t="-31" r="0" b="-31"/>
          <a:stretch xmlns:a="http://schemas.openxmlformats.org/drawingml/2006/main"/>
        </p:blipFill>
        <p:spPr>
          <a:xfrm xmlns:a="http://schemas.openxmlformats.org/drawingml/2006/main">
            <a:off x="812800" y="2349500"/>
            <a:ext cx="10566400" cy="1270000"/>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AFF42F94-6339-4A46-9B1D-813C575841DD}"/>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spc="100">
                <a:solidFill>
                  <a:srgbClr val="2C7A4B"/>
                </a:solidFill>
                <a:latin typeface="IBM Plex Mono"/>
                <a:ea typeface="IBM Plex Mono"/>
                <a:cs typeface="IBM Plex Mono"/>
              </a:rPr>
              <a:t>04 · РЕГРЕСИЈА И </a:t>
            </a:r>
            <a:r>
              <a:rPr sz="1200" spc="100">
                <a:solidFill>
                  <a:srgbClr val="2C7A4B"/>
                </a:solidFill>
                <a:latin typeface="IBM Plex Mono"/>
                <a:ea typeface="IBM Plex Mono"/>
                <a:cs typeface="IBM Plex Mono"/>
              </a:rPr>
              <a:t>КТ1</a:t>
            </a:r>
            <a:endParaRPr sz="1200"/>
          </a:p>
        </p:txBody>
      </p:sp>
      <p:sp>
        <p:nvSpPr>
          <p:cNvPr id="5" name="Text 2">
            <a:extLst xmlns:a="http://schemas.openxmlformats.org/drawingml/2006/main">
              <a:ext uri="{FF2B5EF4-FFF2-40B4-BE49-F238E27FC236}">
                <a16:creationId xmlns:a16="http://schemas.microsoft.com/office/drawing/2014/main" id="{FCD0A0CF-FF5E-4325-A135-5968B397B944}"/>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Контролна тачка </a:t>
            </a:r>
            <a:r>
              <a:rPr sz="3000" b="1" i="0" spc="-50">
                <a:solidFill>
                  <a:srgbClr val="13202D"/>
                </a:solidFill>
                <a:latin typeface="IBM Plex Sans"/>
                <a:ea typeface="IBM Plex Sans"/>
                <a:cs typeface="IBM Plex Sans"/>
              </a:rPr>
              <a:t>КТ1</a:t>
            </a:r>
            <a:endParaRPr sz="3000"/>
          </a:p>
        </p:txBody>
      </p:sp>
      <p:sp>
        <p:nvSpPr>
          <p:cNvPr id="6" name="Text 3">
            <a:extLst xmlns:a="http://schemas.openxmlformats.org/drawingml/2006/main">
              <a:ext uri="{FF2B5EF4-FFF2-40B4-BE49-F238E27FC236}">
                <a16:creationId xmlns:a16="http://schemas.microsoft.com/office/drawing/2014/main" id="{417BD16E-CCC5-4D1D-BB76-C45089CE81D7}"/>
              </a:ext>
            </a:extLst>
          </p:cNvPr>
          <p:cNvSpPr>
            <a:spLocks xmlns:a="http://schemas.openxmlformats.org/drawingml/2006/main" noGrp="1"/>
          </p:cNvSpPr>
          <p:nvPr/>
        </p:nvSpPr>
        <p:spPr>
          <a:xfrm xmlns:a="http://schemas.openxmlformats.org/drawingml/2006/main">
            <a:off x="812800" y="16738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До ове тачке функционално језгро мора бити ручно разумљиво и тестирано.</a:t>
            </a:r>
            <a:endParaRPr sz="1400"/>
          </a:p>
        </p:txBody>
      </p:sp>
      <p:sp>
        <p:nvSpPr>
          <p:cNvPr id="7" name="Text 4">
            <a:extLst xmlns:a="http://schemas.openxmlformats.org/drawingml/2006/main">
              <a:ext uri="{FF2B5EF4-FFF2-40B4-BE49-F238E27FC236}">
                <a16:creationId xmlns:a16="http://schemas.microsoft.com/office/drawing/2014/main" id="{EED09329-DDDE-430F-8FD6-2FD253F680DF}"/>
              </a:ext>
            </a:extLst>
          </p:cNvPr>
          <p:cNvSpPr>
            <a:spLocks xmlns:a="http://schemas.openxmlformats.org/drawingml/2006/main" noGrp="1"/>
          </p:cNvSpPr>
          <p:nvPr/>
        </p:nvSpPr>
        <p:spPr>
          <a:xfrm xmlns:a="http://schemas.openxmlformats.org/drawingml/2006/main">
            <a:off x="5036820" y="2438400"/>
            <a:ext cx="20929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FCFCFB"/>
                </a:solidFill>
                <a:latin typeface="IBM Plex Mono"/>
                <a:ea typeface="IBM Plex Mono"/>
                <a:cs typeface="IBM Plex Mono"/>
              </a:rPr>
              <a:t>manual-core-baseline</a:t>
            </a:r>
            <a:endParaRPr sz="1200"/>
          </a:p>
        </p:txBody>
      </p:sp>
      <p:sp>
        <p:nvSpPr>
          <p:cNvPr id="8" name="Text 5">
            <a:extLst xmlns:a="http://schemas.openxmlformats.org/drawingml/2006/main">
              <a:ext uri="{FF2B5EF4-FFF2-40B4-BE49-F238E27FC236}">
                <a16:creationId xmlns:a16="http://schemas.microsoft.com/office/drawing/2014/main" id="{772B7F10-C3A2-453E-9B42-1113E46514D1}"/>
              </a:ext>
            </a:extLst>
          </p:cNvPr>
          <p:cNvSpPr>
            <a:spLocks xmlns:a="http://schemas.openxmlformats.org/drawingml/2006/main" noGrp="1"/>
          </p:cNvSpPr>
          <p:nvPr/>
        </p:nvSpPr>
        <p:spPr>
          <a:xfrm xmlns:a="http://schemas.openxmlformats.org/drawingml/2006/main">
            <a:off x="1125220" y="3238500"/>
            <a:ext cx="470916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2C7A4B"/>
                </a:solidFill>
                <a:latin typeface="IBM Plex Sans"/>
                <a:ea typeface="IBM Plex Sans"/>
                <a:cs typeface="IBM Plex Sans"/>
              </a:rPr>
              <a:t>ручно пројектовано језгро и тестови</a:t>
            </a:r>
            <a:endParaRPr sz="1300"/>
          </a:p>
        </p:txBody>
      </p:sp>
      <p:sp>
        <p:nvSpPr>
          <p:cNvPr id="9" name="Text 6">
            <a:extLst xmlns:a="http://schemas.openxmlformats.org/drawingml/2006/main">
              <a:ext uri="{FF2B5EF4-FFF2-40B4-BE49-F238E27FC236}">
                <a16:creationId xmlns:a16="http://schemas.microsoft.com/office/drawing/2014/main" id="{AD683629-DF4E-441B-86B8-B9FBED200D56}"/>
              </a:ext>
            </a:extLst>
          </p:cNvPr>
          <p:cNvSpPr>
            <a:spLocks xmlns:a="http://schemas.openxmlformats.org/drawingml/2006/main" noGrp="1"/>
          </p:cNvSpPr>
          <p:nvPr/>
        </p:nvSpPr>
        <p:spPr>
          <a:xfrm xmlns:a="http://schemas.openxmlformats.org/drawingml/2006/main">
            <a:off x="6330315" y="3238500"/>
            <a:ext cx="48399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A8520A"/>
                </a:solidFill>
                <a:latin typeface="IBM Plex Sans"/>
                <a:ea typeface="IBM Plex Sans"/>
                <a:cs typeface="IBM Plex Sans"/>
              </a:rPr>
              <a:t>AI фаза: измене се проверавају према основи</a:t>
            </a:r>
            <a:endParaRPr sz="1300"/>
          </a:p>
        </p:txBody>
      </p:sp>
      <p:sp>
        <p:nvSpPr>
          <p:cNvPr id="10" name="Shape 7">
            <a:extLst xmlns:a="http://schemas.openxmlformats.org/drawingml/2006/main">
              <a:ext uri="{FF2B5EF4-FFF2-40B4-BE49-F238E27FC236}">
                <a16:creationId xmlns:a16="http://schemas.microsoft.com/office/drawing/2014/main" id="{EC77A4B7-35D3-49E0-8F27-50B4C5FFF70B}"/>
              </a:ext>
            </a:extLst>
          </p:cNvPr>
          <p:cNvSpPr>
            <a:spLocks xmlns:a="http://schemas.openxmlformats.org/drawingml/2006/main" noGrp="1"/>
          </p:cNvSpPr>
          <p:nvPr/>
        </p:nvSpPr>
        <p:spPr>
          <a:xfrm xmlns:a="http://schemas.openxmlformats.org/drawingml/2006/main">
            <a:off x="831850" y="3937000"/>
            <a:ext cx="0" cy="854670"/>
          </a:xfrm>
          <a:prstGeom xmlns:a="http://schemas.openxmlformats.org/drawingml/2006/main" prst="line">
            <a:avLst/>
          </a:prstGeom>
          <a:noFill xmlns:a="http://schemas.openxmlformats.org/drawingml/2006/main"/>
          <a:ln xmlns:a="http://schemas.openxmlformats.org/drawingml/2006/main" w="38100">
            <a:solidFill>
              <a:srgbClr val="2C7A4B"/>
            </a:solidFill>
            <a:prstDash val="solid"/>
          </a:ln>
        </p:spPr>
      </p:sp>
      <p:sp>
        <p:nvSpPr>
          <p:cNvPr id="11" name="Text 8">
            <a:extLst xmlns:a="http://schemas.openxmlformats.org/drawingml/2006/main">
              <a:ext uri="{FF2B5EF4-FFF2-40B4-BE49-F238E27FC236}">
                <a16:creationId xmlns:a16="http://schemas.microsoft.com/office/drawing/2014/main" id="{D0DD0BAC-AF30-405D-ACDC-5BFD7D883613}"/>
              </a:ext>
            </a:extLst>
          </p:cNvPr>
          <p:cNvSpPr>
            <a:spLocks xmlns:a="http://schemas.openxmlformats.org/drawingml/2006/main" noGrp="1"/>
          </p:cNvSpPr>
          <p:nvPr/>
        </p:nvSpPr>
        <p:spPr>
          <a:xfrm xmlns:a="http://schemas.openxmlformats.org/drawingml/2006/main">
            <a:off x="1054100" y="3975100"/>
            <a:ext cx="606692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00">
                <a:solidFill>
                  <a:srgbClr val="2C7A4B"/>
                </a:solidFill>
                <a:latin typeface="IBM Plex Mono"/>
                <a:ea typeface="IBM Plex Mono"/>
                <a:cs typeface="IBM Plex Mono"/>
              </a:rPr>
              <a:t>СТАБИЛНА ВЕРЗИЈА</a:t>
            </a:r>
            <a:endParaRPr sz="1200"/>
          </a:p>
        </p:txBody>
      </p:sp>
      <p:sp>
        <p:nvSpPr>
          <p:cNvPr id="12" name="Text 9">
            <a:extLst xmlns:a="http://schemas.openxmlformats.org/drawingml/2006/main">
              <a:ext uri="{FF2B5EF4-FFF2-40B4-BE49-F238E27FC236}">
                <a16:creationId xmlns:a16="http://schemas.microsoft.com/office/drawing/2014/main" id="{6A665FF1-4C86-4EB4-A741-DBB0CA2AB491}"/>
              </a:ext>
            </a:extLst>
          </p:cNvPr>
          <p:cNvSpPr>
            <a:spLocks xmlns:a="http://schemas.openxmlformats.org/drawingml/2006/main" noGrp="1"/>
          </p:cNvSpPr>
          <p:nvPr/>
        </p:nvSpPr>
        <p:spPr>
          <a:xfrm xmlns:a="http://schemas.openxmlformats.org/drawingml/2006/main">
            <a:off x="1054100" y="4239220"/>
            <a:ext cx="6066927" cy="5397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025"/>
              </a:lnSpc>
              <a:buNone/>
            </a:pPr>
            <a:r>
              <a:rPr sz="1500" b="1">
                <a:solidFill>
                  <a:srgbClr val="13202D"/>
                </a:solidFill>
                <a:latin typeface="IBM Plex Sans"/>
                <a:ea typeface="IBM Plex Sans"/>
                <a:cs typeface="IBM Plex Sans"/>
              </a:rPr>
              <a:t>После </a:t>
            </a:r>
            <a:r>
              <a:rPr sz="1500" b="1">
                <a:solidFill>
                  <a:srgbClr val="13202D"/>
                </a:solidFill>
                <a:latin typeface="IBM Plex Sans"/>
                <a:ea typeface="IBM Plex Sans"/>
                <a:cs typeface="IBM Plex Sans"/>
              </a:rPr>
              <a:t>КТ1</a:t>
            </a:r>
            <a:r>
              <a:rPr sz="1500" b="1">
                <a:solidFill>
                  <a:srgbClr val="13202D"/>
                </a:solidFill>
                <a:latin typeface="IBM Plex Sans"/>
                <a:ea typeface="IBM Plex Sans"/>
                <a:cs typeface="IBM Plex Sans"/>
              </a:rPr>
              <a:t> AI добија већу улогу, али систем већ има структуру и тестове за независну проверу.</a:t>
            </a:r>
            <a:endParaRPr sz="1500"/>
          </a:p>
        </p:txBody>
      </p:sp>
      <p:sp>
        <p:nvSpPr>
          <p:cNvPr id="13" name="Shape 10">
            <a:extLst xmlns:a="http://schemas.openxmlformats.org/drawingml/2006/main">
              <a:ext uri="{FF2B5EF4-FFF2-40B4-BE49-F238E27FC236}">
                <a16:creationId xmlns:a16="http://schemas.microsoft.com/office/drawing/2014/main" id="{1D64D22F-68F9-447A-93C4-25F733A26DFA}"/>
              </a:ext>
            </a:extLst>
          </p:cNvPr>
          <p:cNvSpPr>
            <a:spLocks xmlns:a="http://schemas.openxmlformats.org/drawingml/2006/main" noGrp="1"/>
          </p:cNvSpPr>
          <p:nvPr/>
        </p:nvSpPr>
        <p:spPr>
          <a:xfrm xmlns:a="http://schemas.openxmlformats.org/drawingml/2006/main">
            <a:off x="7096720" y="3937000"/>
            <a:ext cx="4282480" cy="854670"/>
          </a:xfrm>
          <a:prstGeom xmlns:a="http://schemas.openxmlformats.org/drawingml/2006/main" prst="roundRect">
            <a:avLst>
              <a:gd name="adj" fmla="val 10402"/>
            </a:avLst>
          </a:prstGeom>
          <a:solidFill xmlns:a="http://schemas.openxmlformats.org/drawingml/2006/main">
            <a:srgbClr val="E5ECE7"/>
          </a:solidFill>
        </p:spPr>
      </p:sp>
      <p:pic>
        <p:nvPicPr>
          <p:cNvPr id="14" name="Image 1">
            <a:extLst xmlns:a="http://schemas.openxmlformats.org/drawingml/2006/main">
              <a:ext uri="{FF2B5EF4-FFF2-40B4-BE49-F238E27FC236}">
                <a16:creationId xmlns:a16="http://schemas.microsoft.com/office/drawing/2014/main" id="{F71A067B-D85A-4A71-84A8-2D763B5CE75E}"/>
              </a:ext>
            </a:extLst>
          </p:cNvPr>
          <p:cNvPicPr>
            <a:picLocks xmlns:a="http://schemas.openxmlformats.org/drawingml/2006/main" noChangeAspect="1"/>
          </p:cNvPicPr>
          <p:nvPr/>
        </p:nvPicPr>
        <p:blipFill>
          <a:blip xmlns:r="http://schemas.openxmlformats.org/officeDocument/2006/relationships" xmlns:a="http://schemas.openxmlformats.org/drawingml/2006/main" r:embed="Rab79eaf38fcd4f2a"/>
          <a:srcRect xmlns:a="http://schemas.openxmlformats.org/drawingml/2006/main" l="0" t="0" r="0" b="0"/>
          <a:stretch xmlns:a="http://schemas.openxmlformats.org/drawingml/2006/main"/>
        </p:blipFill>
        <p:spPr>
          <a:xfrm xmlns:a="http://schemas.openxmlformats.org/drawingml/2006/main">
            <a:off x="7274520" y="4262735"/>
            <a:ext cx="203200" cy="203200"/>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22ABF0C0-898E-41A5-9273-C036EC5B687E}"/>
              </a:ext>
            </a:extLst>
          </p:cNvPr>
          <p:cNvSpPr>
            <a:spLocks xmlns:a="http://schemas.openxmlformats.org/drawingml/2006/main" noGrp="1"/>
          </p:cNvSpPr>
          <p:nvPr/>
        </p:nvSpPr>
        <p:spPr>
          <a:xfrm xmlns:a="http://schemas.openxmlformats.org/drawingml/2006/main">
            <a:off x="7604720" y="4252913"/>
            <a:ext cx="3704580" cy="24824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3205"/>
          </a:bodyPr>
          <a:lstStyle xmlns:a="http://schemas.openxmlformats.org/drawingml/2006/main"/>
          <a:p xmlns:a="http://schemas.openxmlformats.org/drawingml/2006/main">
            <a:pPr marL="0" indent="0" algn="l">
              <a:lnSpc>
                <a:spcPts val="1755"/>
              </a:lnSpc>
              <a:buNone/>
            </a:pPr>
            <a:r>
              <a:rPr sz="1300">
                <a:solidFill>
                  <a:srgbClr val="13202D"/>
                </a:solidFill>
                <a:latin typeface="IBM Plex Sans"/>
                <a:ea typeface="IBM Plex Sans"/>
                <a:cs typeface="IBM Plex Sans"/>
              </a:rPr>
              <a:t>КТ1 је у термину Вежбе 4 и носи највише 10 поена.</a:t>
            </a:r>
            <a:endParaRPr sz="1300"/>
          </a:p>
        </p:txBody>
      </p:sp>
      <p:sp>
        <p:nvSpPr>
          <p:cNvPr id="16" name="Shape 12">
            <a:extLst xmlns:a="http://schemas.openxmlformats.org/drawingml/2006/main">
              <a:ext uri="{FF2B5EF4-FFF2-40B4-BE49-F238E27FC236}">
                <a16:creationId xmlns:a16="http://schemas.microsoft.com/office/drawing/2014/main" id="{D0586FA3-3B4F-4C32-B5C0-C1C03AD5EDDF}"/>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17" name="Text 13">
            <a:extLst xmlns:a="http://schemas.openxmlformats.org/drawingml/2006/main">
              <a:ext uri="{FF2B5EF4-FFF2-40B4-BE49-F238E27FC236}">
                <a16:creationId xmlns:a16="http://schemas.microsoft.com/office/drawing/2014/main" id="{ADE29840-7FF9-4B81-8749-04B9321174ED}"/>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18" name="Text 14">
            <a:extLst xmlns:a="http://schemas.openxmlformats.org/drawingml/2006/main">
              <a:ext uri="{FF2B5EF4-FFF2-40B4-BE49-F238E27FC236}">
                <a16:creationId xmlns:a16="http://schemas.microsoft.com/office/drawing/2014/main" id="{84FB79F9-5347-4465-8FD7-5408C5E093BD}"/>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24</a:t>
            </a:r>
            <a:endParaRPr sz="1200"/>
          </a:p>
        </p:txBody>
      </p:sp>
    </p:spTree>
    <p:extLst>
      <p:ext uri="{BB962C8B-B14F-4D97-AF65-F5344CB8AC3E}">
        <p14:creationId xmlns:p14="http://schemas.microsoft.com/office/powerpoint/2010/main" val="1821540323"/>
      </p:ext>
    </p:extLst>
  </p:cSld>
</p:sld>
</file>

<file path=ppt/slides/slide25.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FC08791-F5AA-4F1D-A46A-F0AD464DB8CC}"/>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2C7A4B"/>
          </a:solidFill>
        </p:spPr>
      </p:sp>
      <p:sp>
        <p:nvSpPr>
          <p:cNvPr id="3" name="Text 1">
            <a:extLst xmlns:a="http://schemas.openxmlformats.org/drawingml/2006/main">
              <a:ext uri="{FF2B5EF4-FFF2-40B4-BE49-F238E27FC236}">
                <a16:creationId xmlns:a16="http://schemas.microsoft.com/office/drawing/2014/main" id="{80C049FD-878B-4268-87FF-003C7475968C}"/>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spc="100">
                <a:solidFill>
                  <a:srgbClr val="2C7A4B"/>
                </a:solidFill>
                <a:latin typeface="IBM Plex Mono"/>
                <a:ea typeface="IBM Plex Mono"/>
                <a:cs typeface="IBM Plex Mono"/>
              </a:rPr>
              <a:t>04 · РЕГРЕСИЈА И </a:t>
            </a:r>
            <a:r>
              <a:rPr sz="1200" spc="100">
                <a:solidFill>
                  <a:srgbClr val="2C7A4B"/>
                </a:solidFill>
                <a:latin typeface="IBM Plex Mono"/>
                <a:ea typeface="IBM Plex Mono"/>
                <a:cs typeface="IBM Plex Mono"/>
              </a:rPr>
              <a:t>КТ1</a:t>
            </a:r>
            <a:endParaRPr sz="1200"/>
          </a:p>
        </p:txBody>
      </p:sp>
      <p:sp>
        <p:nvSpPr>
          <p:cNvPr id="4" name="Text 2">
            <a:extLst xmlns:a="http://schemas.openxmlformats.org/drawingml/2006/main">
              <a:ext uri="{FF2B5EF4-FFF2-40B4-BE49-F238E27FC236}">
                <a16:creationId xmlns:a16="http://schemas.microsoft.com/office/drawing/2014/main" id="{88C93B54-4E36-4B8B-BC44-8F35E0419DD5}"/>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КТ1</a:t>
            </a:r>
            <a:r>
              <a:rPr sz="3000" b="1" i="0" spc="-50">
                <a:solidFill>
                  <a:srgbClr val="13202D"/>
                </a:solidFill>
                <a:latin typeface="IBM Plex Sans"/>
                <a:ea typeface="IBM Plex Sans"/>
                <a:cs typeface="IBM Plex Sans"/>
              </a:rPr>
              <a:t>: manual-core-baseline</a:t>
            </a:r>
            <a:endParaRPr sz="3000"/>
          </a:p>
        </p:txBody>
      </p:sp>
      <p:sp>
        <p:nvSpPr>
          <p:cNvPr id="5" name="Text 3">
            <a:extLst xmlns:a="http://schemas.openxmlformats.org/drawingml/2006/main">
              <a:ext uri="{FF2B5EF4-FFF2-40B4-BE49-F238E27FC236}">
                <a16:creationId xmlns:a16="http://schemas.microsoft.com/office/drawing/2014/main" id="{53F0739E-77AF-4076-869E-939E19E6FBC8}"/>
              </a:ext>
            </a:extLst>
          </p:cNvPr>
          <p:cNvSpPr>
            <a:spLocks xmlns:a="http://schemas.openxmlformats.org/drawingml/2006/main" noGrp="1"/>
          </p:cNvSpPr>
          <p:nvPr/>
        </p:nvSpPr>
        <p:spPr>
          <a:xfrm xmlns:a="http://schemas.openxmlformats.org/drawingml/2006/main">
            <a:off x="812800" y="16484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Стабилна верзија језгра служи за проверу каснијих измена уз AI.</a:t>
            </a:r>
            <a:endParaRPr sz="1400"/>
          </a:p>
        </p:txBody>
      </p:sp>
      <p:sp>
        <p:nvSpPr>
          <p:cNvPr id="6" name="Shape 4">
            <a:extLst xmlns:a="http://schemas.openxmlformats.org/drawingml/2006/main">
              <a:ext uri="{FF2B5EF4-FFF2-40B4-BE49-F238E27FC236}">
                <a16:creationId xmlns:a16="http://schemas.microsoft.com/office/drawing/2014/main" id="{7C0D93CE-0CB3-4722-807E-FDC01F09CCA8}"/>
              </a:ext>
            </a:extLst>
          </p:cNvPr>
          <p:cNvSpPr>
            <a:spLocks xmlns:a="http://schemas.openxmlformats.org/drawingml/2006/main" noGrp="1"/>
          </p:cNvSpPr>
          <p:nvPr/>
        </p:nvSpPr>
        <p:spPr>
          <a:xfrm xmlns:a="http://schemas.openxmlformats.org/drawingml/2006/main">
            <a:off x="815975" y="2129036"/>
            <a:ext cx="10560050" cy="3054350"/>
          </a:xfrm>
          <a:prstGeom xmlns:a="http://schemas.openxmlformats.org/drawingml/2006/main" prst="roundRect">
            <a:avLst>
              <a:gd name="adj" fmla="val 3222"/>
            </a:avLst>
          </a:prstGeom>
          <a:solidFill xmlns:a="http://schemas.openxmlformats.org/drawingml/2006/main">
            <a:srgbClr val="FCFCFB"/>
          </a:solidFill>
          <a:ln xmlns:a="http://schemas.openxmlformats.org/drawingml/2006/main" w="6350">
            <a:solidFill>
              <a:srgbClr val="D3DAE1"/>
            </a:solidFill>
            <a:prstDash val="solid"/>
          </a:ln>
        </p:spPr>
      </p:sp>
      <p:sp>
        <p:nvSpPr>
          <p:cNvPr id="7" name="Text 5">
            <a:extLst xmlns:a="http://schemas.openxmlformats.org/drawingml/2006/main">
              <a:ext uri="{FF2B5EF4-FFF2-40B4-BE49-F238E27FC236}">
                <a16:creationId xmlns:a16="http://schemas.microsoft.com/office/drawing/2014/main" id="{0747ABAB-446D-4C0F-8351-B019D50BF2D6}"/>
              </a:ext>
            </a:extLst>
          </p:cNvPr>
          <p:cNvSpPr>
            <a:spLocks xmlns:a="http://schemas.openxmlformats.org/drawingml/2006/main" noGrp="1"/>
          </p:cNvSpPr>
          <p:nvPr/>
        </p:nvSpPr>
        <p:spPr>
          <a:xfrm xmlns:a="http://schemas.openxmlformats.org/drawingml/2006/main">
            <a:off x="1047750" y="229731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2C7A4B"/>
                </a:solidFill>
                <a:latin typeface="IBM Plex Mono"/>
                <a:ea typeface="IBM Plex Mono"/>
                <a:cs typeface="IBM Plex Mono"/>
              </a:rPr>
              <a:t>01</a:t>
            </a:r>
            <a:endParaRPr sz="2000"/>
          </a:p>
        </p:txBody>
      </p:sp>
      <p:sp>
        <p:nvSpPr>
          <p:cNvPr id="8" name="Text 6">
            <a:extLst xmlns:a="http://schemas.openxmlformats.org/drawingml/2006/main">
              <a:ext uri="{FF2B5EF4-FFF2-40B4-BE49-F238E27FC236}">
                <a16:creationId xmlns:a16="http://schemas.microsoft.com/office/drawing/2014/main" id="{2B569B17-0BB5-4BC5-996B-A2B2F92DD77F}"/>
              </a:ext>
            </a:extLst>
          </p:cNvPr>
          <p:cNvSpPr>
            <a:spLocks xmlns:a="http://schemas.openxmlformats.org/drawingml/2006/main" noGrp="1"/>
          </p:cNvSpPr>
          <p:nvPr/>
        </p:nvSpPr>
        <p:spPr>
          <a:xfrm xmlns:a="http://schemas.openxmlformats.org/drawingml/2006/main">
            <a:off x="1708150" y="235069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Кључни use-case-ови имају тестове за успешне и негативне сценарије.</a:t>
            </a:r>
            <a:endParaRPr sz="1400"/>
          </a:p>
        </p:txBody>
      </p:sp>
      <p:sp>
        <p:nvSpPr>
          <p:cNvPr id="9" name="Shape 7">
            <a:extLst xmlns:a="http://schemas.openxmlformats.org/drawingml/2006/main">
              <a:ext uri="{FF2B5EF4-FFF2-40B4-BE49-F238E27FC236}">
                <a16:creationId xmlns:a16="http://schemas.microsoft.com/office/drawing/2014/main" id="{E4A5DE6F-9602-4AE8-9B68-8DE0B589E374}"/>
              </a:ext>
            </a:extLst>
          </p:cNvPr>
          <p:cNvSpPr>
            <a:spLocks xmlns:a="http://schemas.openxmlformats.org/drawingml/2006/main" noGrp="1"/>
          </p:cNvSpPr>
          <p:nvPr/>
        </p:nvSpPr>
        <p:spPr>
          <a:xfrm xmlns:a="http://schemas.openxmlformats.org/drawingml/2006/main">
            <a:off x="1047750" y="277038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0" name="Text 8">
            <a:extLst xmlns:a="http://schemas.openxmlformats.org/drawingml/2006/main">
              <a:ext uri="{FF2B5EF4-FFF2-40B4-BE49-F238E27FC236}">
                <a16:creationId xmlns:a16="http://schemas.microsoft.com/office/drawing/2014/main" id="{95F33780-B52B-4613-9F6A-8EDBF2DDF7EA}"/>
              </a:ext>
            </a:extLst>
          </p:cNvPr>
          <p:cNvSpPr>
            <a:spLocks xmlns:a="http://schemas.openxmlformats.org/drawingml/2006/main" noGrp="1"/>
          </p:cNvSpPr>
          <p:nvPr/>
        </p:nvSpPr>
        <p:spPr>
          <a:xfrm xmlns:a="http://schemas.openxmlformats.org/drawingml/2006/main">
            <a:off x="1047750" y="288786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2C7A4B"/>
                </a:solidFill>
                <a:latin typeface="IBM Plex Mono"/>
                <a:ea typeface="IBM Plex Mono"/>
                <a:cs typeface="IBM Plex Mono"/>
              </a:rPr>
              <a:t>02</a:t>
            </a:r>
            <a:endParaRPr sz="2000"/>
          </a:p>
        </p:txBody>
      </p:sp>
      <p:sp>
        <p:nvSpPr>
          <p:cNvPr id="11" name="Text 9">
            <a:extLst xmlns:a="http://schemas.openxmlformats.org/drawingml/2006/main">
              <a:ext uri="{FF2B5EF4-FFF2-40B4-BE49-F238E27FC236}">
                <a16:creationId xmlns:a16="http://schemas.microsoft.com/office/drawing/2014/main" id="{AE0EC259-E009-4E11-ACCE-DD244167B584}"/>
              </a:ext>
            </a:extLst>
          </p:cNvPr>
          <p:cNvSpPr>
            <a:spLocks xmlns:a="http://schemas.openxmlformats.org/drawingml/2006/main" noGrp="1"/>
          </p:cNvSpPr>
          <p:nvPr/>
        </p:nvSpPr>
        <p:spPr>
          <a:xfrm xmlns:a="http://schemas.openxmlformats.org/drawingml/2006/main">
            <a:off x="1708150" y="294124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Coverage је прегледан и ризична грана је покривена или образложена.</a:t>
            </a:r>
            <a:endParaRPr sz="1400"/>
          </a:p>
        </p:txBody>
      </p:sp>
      <p:sp>
        <p:nvSpPr>
          <p:cNvPr id="12" name="Shape 10">
            <a:extLst xmlns:a="http://schemas.openxmlformats.org/drawingml/2006/main">
              <a:ext uri="{FF2B5EF4-FFF2-40B4-BE49-F238E27FC236}">
                <a16:creationId xmlns:a16="http://schemas.microsoft.com/office/drawing/2014/main" id="{6016AEDD-5032-4030-B381-B8DAECD50807}"/>
              </a:ext>
            </a:extLst>
          </p:cNvPr>
          <p:cNvSpPr>
            <a:spLocks xmlns:a="http://schemas.openxmlformats.org/drawingml/2006/main" noGrp="1"/>
          </p:cNvSpPr>
          <p:nvPr/>
        </p:nvSpPr>
        <p:spPr>
          <a:xfrm xmlns:a="http://schemas.openxmlformats.org/drawingml/2006/main">
            <a:off x="1047750" y="336093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3" name="Text 11">
            <a:extLst xmlns:a="http://schemas.openxmlformats.org/drawingml/2006/main">
              <a:ext uri="{FF2B5EF4-FFF2-40B4-BE49-F238E27FC236}">
                <a16:creationId xmlns:a16="http://schemas.microsoft.com/office/drawing/2014/main" id="{214A3749-6D14-4B04-A044-B54FB83B1CE0}"/>
              </a:ext>
            </a:extLst>
          </p:cNvPr>
          <p:cNvSpPr>
            <a:spLocks xmlns:a="http://schemas.openxmlformats.org/drawingml/2006/main" noGrp="1"/>
          </p:cNvSpPr>
          <p:nvPr/>
        </p:nvSpPr>
        <p:spPr>
          <a:xfrm xmlns:a="http://schemas.openxmlformats.org/drawingml/2006/main">
            <a:off x="1047750" y="347841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2C7A4B"/>
                </a:solidFill>
                <a:latin typeface="IBM Plex Mono"/>
                <a:ea typeface="IBM Plex Mono"/>
                <a:cs typeface="IBM Plex Mono"/>
              </a:rPr>
              <a:t>03</a:t>
            </a:r>
            <a:endParaRPr sz="2000"/>
          </a:p>
        </p:txBody>
      </p:sp>
      <p:sp>
        <p:nvSpPr>
          <p:cNvPr id="14" name="Text 12">
            <a:extLst xmlns:a="http://schemas.openxmlformats.org/drawingml/2006/main">
              <a:ext uri="{FF2B5EF4-FFF2-40B4-BE49-F238E27FC236}">
                <a16:creationId xmlns:a16="http://schemas.microsoft.com/office/drawing/2014/main" id="{870E0DAB-06F9-4820-A70B-055B690518B8}"/>
              </a:ext>
            </a:extLst>
          </p:cNvPr>
          <p:cNvSpPr>
            <a:spLocks xmlns:a="http://schemas.openxmlformats.org/drawingml/2006/main" noGrp="1"/>
          </p:cNvSpPr>
          <p:nvPr/>
        </p:nvSpPr>
        <p:spPr>
          <a:xfrm xmlns:a="http://schemas.openxmlformats.org/drawingml/2006/main">
            <a:off x="1708150" y="353179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Најмање један bug је прво репродукован тестом.</a:t>
            </a:r>
            <a:endParaRPr sz="1400"/>
          </a:p>
        </p:txBody>
      </p:sp>
      <p:sp>
        <p:nvSpPr>
          <p:cNvPr id="15" name="Shape 13">
            <a:extLst xmlns:a="http://schemas.openxmlformats.org/drawingml/2006/main">
              <a:ext uri="{FF2B5EF4-FFF2-40B4-BE49-F238E27FC236}">
                <a16:creationId xmlns:a16="http://schemas.microsoft.com/office/drawing/2014/main" id="{9095CD62-B559-4951-AD41-E0D71B56153E}"/>
              </a:ext>
            </a:extLst>
          </p:cNvPr>
          <p:cNvSpPr>
            <a:spLocks xmlns:a="http://schemas.openxmlformats.org/drawingml/2006/main" noGrp="1"/>
          </p:cNvSpPr>
          <p:nvPr/>
        </p:nvSpPr>
        <p:spPr>
          <a:xfrm xmlns:a="http://schemas.openxmlformats.org/drawingml/2006/main">
            <a:off x="1047750" y="395148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6" name="Text 14">
            <a:extLst xmlns:a="http://schemas.openxmlformats.org/drawingml/2006/main">
              <a:ext uri="{FF2B5EF4-FFF2-40B4-BE49-F238E27FC236}">
                <a16:creationId xmlns:a16="http://schemas.microsoft.com/office/drawing/2014/main" id="{9FCBCB9B-543E-4CB6-A954-BFF9EDBE055E}"/>
              </a:ext>
            </a:extLst>
          </p:cNvPr>
          <p:cNvSpPr>
            <a:spLocks xmlns:a="http://schemas.openxmlformats.org/drawingml/2006/main" noGrp="1"/>
          </p:cNvSpPr>
          <p:nvPr/>
        </p:nvSpPr>
        <p:spPr>
          <a:xfrm xmlns:a="http://schemas.openxmlformats.org/drawingml/2006/main">
            <a:off x="1047750" y="406896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2C7A4B"/>
                </a:solidFill>
                <a:latin typeface="IBM Plex Mono"/>
                <a:ea typeface="IBM Plex Mono"/>
                <a:cs typeface="IBM Plex Mono"/>
              </a:rPr>
              <a:t>04</a:t>
            </a:r>
            <a:endParaRPr sz="2000"/>
          </a:p>
        </p:txBody>
      </p:sp>
      <p:sp>
        <p:nvSpPr>
          <p:cNvPr id="17" name="Text 15">
            <a:extLst xmlns:a="http://schemas.openxmlformats.org/drawingml/2006/main">
              <a:ext uri="{FF2B5EF4-FFF2-40B4-BE49-F238E27FC236}">
                <a16:creationId xmlns:a16="http://schemas.microsoft.com/office/drawing/2014/main" id="{586AF15D-BF95-4D33-88D1-EA54158DD7DA}"/>
              </a:ext>
            </a:extLst>
          </p:cNvPr>
          <p:cNvSpPr>
            <a:spLocks xmlns:a="http://schemas.openxmlformats.org/drawingml/2006/main" noGrp="1"/>
          </p:cNvSpPr>
          <p:nvPr/>
        </p:nvSpPr>
        <p:spPr>
          <a:xfrm xmlns:a="http://schemas.openxmlformats.org/drawingml/2006/main">
            <a:off x="1708150" y="412234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Стабилна верзија језгра означена је Git tag-ом manual-core-baseline.</a:t>
            </a:r>
            <a:endParaRPr sz="1400"/>
          </a:p>
        </p:txBody>
      </p:sp>
      <p:sp>
        <p:nvSpPr>
          <p:cNvPr id="18" name="Shape 16">
            <a:extLst xmlns:a="http://schemas.openxmlformats.org/drawingml/2006/main">
              <a:ext uri="{FF2B5EF4-FFF2-40B4-BE49-F238E27FC236}">
                <a16:creationId xmlns:a16="http://schemas.microsoft.com/office/drawing/2014/main" id="{BF73CDC8-0CBA-4C54-9606-E5327CAA4470}"/>
              </a:ext>
            </a:extLst>
          </p:cNvPr>
          <p:cNvSpPr>
            <a:spLocks xmlns:a="http://schemas.openxmlformats.org/drawingml/2006/main" noGrp="1"/>
          </p:cNvSpPr>
          <p:nvPr/>
        </p:nvSpPr>
        <p:spPr>
          <a:xfrm xmlns:a="http://schemas.openxmlformats.org/drawingml/2006/main">
            <a:off x="1047750" y="454203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9" name="Text 17">
            <a:extLst xmlns:a="http://schemas.openxmlformats.org/drawingml/2006/main">
              <a:ext uri="{FF2B5EF4-FFF2-40B4-BE49-F238E27FC236}">
                <a16:creationId xmlns:a16="http://schemas.microsoft.com/office/drawing/2014/main" id="{DC252906-24FE-4524-A509-C90CD5490780}"/>
              </a:ext>
            </a:extLst>
          </p:cNvPr>
          <p:cNvSpPr>
            <a:spLocks xmlns:a="http://schemas.openxmlformats.org/drawingml/2006/main" noGrp="1"/>
          </p:cNvSpPr>
          <p:nvPr/>
        </p:nvSpPr>
        <p:spPr>
          <a:xfrm xmlns:a="http://schemas.openxmlformats.org/drawingml/2006/main">
            <a:off x="1047750" y="465951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A8520A"/>
                </a:solidFill>
                <a:latin typeface="IBM Plex Mono"/>
                <a:ea typeface="IBM Plex Mono"/>
                <a:cs typeface="IBM Plex Mono"/>
              </a:rPr>
              <a:t>05</a:t>
            </a:r>
            <a:endParaRPr sz="2000"/>
          </a:p>
        </p:txBody>
      </p:sp>
      <p:sp>
        <p:nvSpPr>
          <p:cNvPr id="20" name="Text 18">
            <a:extLst xmlns:a="http://schemas.openxmlformats.org/drawingml/2006/main">
              <a:ext uri="{FF2B5EF4-FFF2-40B4-BE49-F238E27FC236}">
                <a16:creationId xmlns:a16="http://schemas.microsoft.com/office/drawing/2014/main" id="{27C032F8-0332-4D8C-8B34-C4D931D50928}"/>
              </a:ext>
            </a:extLst>
          </p:cNvPr>
          <p:cNvSpPr>
            <a:spLocks xmlns:a="http://schemas.openxmlformats.org/drawingml/2006/main" noGrp="1"/>
          </p:cNvSpPr>
          <p:nvPr/>
        </p:nvSpPr>
        <p:spPr>
          <a:xfrm xmlns:a="http://schemas.openxmlformats.org/drawingml/2006/main">
            <a:off x="1708150" y="471289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Термин КТ1: Вежба 4 · највише 10 поена.</a:t>
            </a:r>
            <a:endParaRPr sz="1400"/>
          </a:p>
        </p:txBody>
      </p:sp>
      <p:sp>
        <p:nvSpPr>
          <p:cNvPr id="21" name="Text 19">
            <a:extLst xmlns:a="http://schemas.openxmlformats.org/drawingml/2006/main">
              <a:ext uri="{FF2B5EF4-FFF2-40B4-BE49-F238E27FC236}">
                <a16:creationId xmlns:a16="http://schemas.microsoft.com/office/drawing/2014/main" id="{015E0A18-3A30-4AE7-B9E0-2A6E1D260341}"/>
              </a:ext>
            </a:extLst>
          </p:cNvPr>
          <p:cNvSpPr>
            <a:spLocks xmlns:a="http://schemas.openxmlformats.org/drawingml/2006/main" noGrp="1"/>
          </p:cNvSpPr>
          <p:nvPr/>
        </p:nvSpPr>
        <p:spPr>
          <a:xfrm xmlns:a="http://schemas.openxmlformats.org/drawingml/2006/main">
            <a:off x="812800" y="5415161"/>
            <a:ext cx="10566400" cy="416520"/>
          </a:xfrm>
          <a:prstGeom xmlns:a="http://schemas.openxmlformats.org/drawingml/2006/main" prst="roundRect">
            <a:avLst>
              <a:gd name="adj" fmla="val 21344"/>
            </a:avLst>
          </a:prstGeom>
          <a:solidFill xmlns:a="http://schemas.openxmlformats.org/drawingml/2006/main">
            <a:srgbClr val="E5ECE7"/>
          </a:solidFill>
        </p:spPr>
        <p:txBody>
          <a:bodyPr xmlns:a="http://schemas.openxmlformats.org/drawingml/2006/main" wrap="square" lIns="151762" tIns="62862" rIns="151762" bIns="62862" anchor="ctr">
            <a:normAutofit/>
          </a:bodyPr>
          <a:lstStyle xmlns:a="http://schemas.openxmlformats.org/drawingml/2006/main"/>
          <a:p xmlns:a="http://schemas.openxmlformats.org/drawingml/2006/main">
            <a:pPr marL="0" indent="0" algn="l">
              <a:lnSpc>
                <a:spcPts val="1680"/>
              </a:lnSpc>
              <a:buNone/>
            </a:pPr>
            <a:r>
              <a:rPr sz="1200">
                <a:solidFill>
                  <a:srgbClr val="2C7A4B"/>
                </a:solidFill>
                <a:latin typeface="IBM Plex Mono"/>
                <a:ea typeface="IBM Plex Mono"/>
                <a:cs typeface="IBM Plex Mono"/>
              </a:rPr>
              <a:t>git</a:t>
            </a:r>
            <a:r>
              <a:rPr sz="1200">
                <a:solidFill>
                  <a:srgbClr val="13202D"/>
                </a:solidFill>
                <a:latin typeface="IBM Plex Mono"/>
                <a:ea typeface="IBM Plex Mono"/>
                <a:cs typeface="IBM Plex Mono"/>
              </a:rPr>
              <a:t> tag manual-core-baseline   ·   </a:t>
            </a:r>
            <a:r>
              <a:rPr sz="1200">
                <a:solidFill>
                  <a:srgbClr val="2C7A4B"/>
                </a:solidFill>
                <a:latin typeface="IBM Plex Mono"/>
                <a:ea typeface="IBM Plex Mono"/>
                <a:cs typeface="IBM Plex Mono"/>
              </a:rPr>
              <a:t>git</a:t>
            </a:r>
            <a:r>
              <a:rPr sz="1200">
                <a:solidFill>
                  <a:srgbClr val="13202D"/>
                </a:solidFill>
                <a:latin typeface="IBM Plex Mono"/>
                <a:ea typeface="IBM Plex Mono"/>
                <a:cs typeface="IBM Plex Mono"/>
              </a:rPr>
              <a:t> push origin manual-core-baseline</a:t>
            </a:r>
            <a:endParaRPr sz="1200"/>
          </a:p>
        </p:txBody>
      </p:sp>
      <p:sp>
        <p:nvSpPr>
          <p:cNvPr id="22" name="Shape 20">
            <a:extLst xmlns:a="http://schemas.openxmlformats.org/drawingml/2006/main">
              <a:ext uri="{FF2B5EF4-FFF2-40B4-BE49-F238E27FC236}">
                <a16:creationId xmlns:a16="http://schemas.microsoft.com/office/drawing/2014/main" id="{8EA30DE2-1E34-4E83-BDB4-A9E9002419A7}"/>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23" name="Text 21">
            <a:extLst xmlns:a="http://schemas.openxmlformats.org/drawingml/2006/main">
              <a:ext uri="{FF2B5EF4-FFF2-40B4-BE49-F238E27FC236}">
                <a16:creationId xmlns:a16="http://schemas.microsoft.com/office/drawing/2014/main" id="{95F74AE2-0FAF-4DF5-A8BE-4B93E0252A92}"/>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24" name="Text 22">
            <a:extLst xmlns:a="http://schemas.openxmlformats.org/drawingml/2006/main">
              <a:ext uri="{FF2B5EF4-FFF2-40B4-BE49-F238E27FC236}">
                <a16:creationId xmlns:a16="http://schemas.microsoft.com/office/drawing/2014/main" id="{171B854B-90CE-46AF-A98E-30E8D572F8EA}"/>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25</a:t>
            </a:r>
            <a:endParaRPr sz="1200"/>
          </a:p>
        </p:txBody>
      </p:sp>
    </p:spTree>
    <p:extLst>
      <p:ext uri="{BB962C8B-B14F-4D97-AF65-F5344CB8AC3E}">
        <p14:creationId xmlns:p14="http://schemas.microsoft.com/office/powerpoint/2010/main" val="552322532"/>
      </p:ext>
    </p:extLst>
  </p:cSld>
</p:sld>
</file>

<file path=ppt/slides/slide26.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CD96847-E8C1-43B0-85D2-5F6CCBFD35F4}"/>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2C7A4B"/>
          </a:solidFill>
        </p:spPr>
      </p:sp>
      <p:sp>
        <p:nvSpPr>
          <p:cNvPr id="3" name="Text 1">
            <a:extLst xmlns:a="http://schemas.openxmlformats.org/drawingml/2006/main">
              <a:ext uri="{FF2B5EF4-FFF2-40B4-BE49-F238E27FC236}">
                <a16:creationId xmlns:a16="http://schemas.microsoft.com/office/drawing/2014/main" id="{4DC8E727-BDE2-4FD0-B1A7-525953E91092}"/>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spc="100">
                <a:solidFill>
                  <a:srgbClr val="2C7A4B"/>
                </a:solidFill>
                <a:latin typeface="IBM Plex Mono"/>
                <a:ea typeface="IBM Plex Mono"/>
                <a:cs typeface="IBM Plex Mono"/>
              </a:rPr>
              <a:t>04 · РЕГРЕСИЈА И </a:t>
            </a:r>
            <a:r>
              <a:rPr sz="1200" spc="100">
                <a:solidFill>
                  <a:srgbClr val="2C7A4B"/>
                </a:solidFill>
                <a:latin typeface="IBM Plex Mono"/>
                <a:ea typeface="IBM Plex Mono"/>
                <a:cs typeface="IBM Plex Mono"/>
              </a:rPr>
              <a:t>КТ1</a:t>
            </a:r>
            <a:endParaRPr sz="1200"/>
          </a:p>
        </p:txBody>
      </p:sp>
      <p:sp>
        <p:nvSpPr>
          <p:cNvPr id="4" name="Text 2">
            <a:extLst xmlns:a="http://schemas.openxmlformats.org/drawingml/2006/main">
              <a:ext uri="{FF2B5EF4-FFF2-40B4-BE49-F238E27FC236}">
                <a16:creationId xmlns:a16="http://schemas.microsoft.com/office/drawing/2014/main" id="{D0492D43-4C7B-4810-9296-5CC780919160}"/>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Самостални задатак: AI предлог тест сценарија</a:t>
            </a:r>
            <a:endParaRPr sz="3000"/>
          </a:p>
        </p:txBody>
      </p:sp>
      <p:sp>
        <p:nvSpPr>
          <p:cNvPr id="5" name="Text 3">
            <a:extLst xmlns:a="http://schemas.openxmlformats.org/drawingml/2006/main">
              <a:ext uri="{FF2B5EF4-FFF2-40B4-BE49-F238E27FC236}">
                <a16:creationId xmlns:a16="http://schemas.microsoft.com/office/drawing/2014/main" id="{422C47AC-C4C5-47F3-8688-AFC281C90DF5}"/>
              </a:ext>
            </a:extLst>
          </p:cNvPr>
          <p:cNvSpPr>
            <a:spLocks xmlns:a="http://schemas.openxmlformats.org/drawingml/2006/main" noGrp="1"/>
          </p:cNvSpPr>
          <p:nvPr/>
        </p:nvSpPr>
        <p:spPr>
          <a:xfrm xmlns:a="http://schemas.openxmlformats.org/drawingml/2006/main">
            <a:off x="812800" y="16484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AI може предложити сценарије, а тим бира релевантне тестове и образлаже избор.</a:t>
            </a:r>
            <a:endParaRPr sz="1400"/>
          </a:p>
        </p:txBody>
      </p:sp>
      <p:sp>
        <p:nvSpPr>
          <p:cNvPr id="6" name="Shape 4">
            <a:extLst xmlns:a="http://schemas.openxmlformats.org/drawingml/2006/main">
              <a:ext uri="{FF2B5EF4-FFF2-40B4-BE49-F238E27FC236}">
                <a16:creationId xmlns:a16="http://schemas.microsoft.com/office/drawing/2014/main" id="{09758C48-9EC3-4FBB-A701-F371C16A5B63}"/>
              </a:ext>
            </a:extLst>
          </p:cNvPr>
          <p:cNvSpPr>
            <a:spLocks xmlns:a="http://schemas.openxmlformats.org/drawingml/2006/main" noGrp="1"/>
          </p:cNvSpPr>
          <p:nvPr/>
        </p:nvSpPr>
        <p:spPr>
          <a:xfrm xmlns:a="http://schemas.openxmlformats.org/drawingml/2006/main">
            <a:off x="815975" y="2129036"/>
            <a:ext cx="6597650" cy="1705570"/>
          </a:xfrm>
          <a:prstGeom xmlns:a="http://schemas.openxmlformats.org/drawingml/2006/main" prst="roundRect">
            <a:avLst>
              <a:gd name="adj" fmla="val 5771"/>
            </a:avLst>
          </a:prstGeom>
          <a:solidFill xmlns:a="http://schemas.openxmlformats.org/drawingml/2006/main">
            <a:srgbClr val="FCFCFB"/>
          </a:solidFill>
          <a:ln xmlns:a="http://schemas.openxmlformats.org/drawingml/2006/main" w="6350">
            <a:solidFill>
              <a:srgbClr val="D3DAE1"/>
            </a:solidFill>
            <a:prstDash val="solid"/>
          </a:ln>
        </p:spPr>
      </p:sp>
      <p:sp>
        <p:nvSpPr>
          <p:cNvPr id="7" name="Text 5">
            <a:extLst xmlns:a="http://schemas.openxmlformats.org/drawingml/2006/main">
              <a:ext uri="{FF2B5EF4-FFF2-40B4-BE49-F238E27FC236}">
                <a16:creationId xmlns:a16="http://schemas.microsoft.com/office/drawing/2014/main" id="{46293FF5-F093-4C88-9487-A70915510359}"/>
              </a:ext>
            </a:extLst>
          </p:cNvPr>
          <p:cNvSpPr>
            <a:spLocks xmlns:a="http://schemas.openxmlformats.org/drawingml/2006/main" noGrp="1"/>
          </p:cNvSpPr>
          <p:nvPr/>
        </p:nvSpPr>
        <p:spPr>
          <a:xfrm xmlns:a="http://schemas.openxmlformats.org/drawingml/2006/main">
            <a:off x="1022350" y="2310011"/>
            <a:ext cx="637044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prompt · задатак за AI</a:t>
            </a:r>
            <a:endParaRPr sz="1200"/>
          </a:p>
        </p:txBody>
      </p:sp>
      <p:sp>
        <p:nvSpPr>
          <p:cNvPr id="8" name="Text 6">
            <a:extLst xmlns:a="http://schemas.openxmlformats.org/drawingml/2006/main">
              <a:ext uri="{FF2B5EF4-FFF2-40B4-BE49-F238E27FC236}">
                <a16:creationId xmlns:a16="http://schemas.microsoft.com/office/drawing/2014/main" id="{A23D2081-8AE8-4055-98BD-D4F91573D189}"/>
              </a:ext>
            </a:extLst>
          </p:cNvPr>
          <p:cNvSpPr>
            <a:spLocks xmlns:a="http://schemas.openxmlformats.org/drawingml/2006/main" noGrp="1"/>
          </p:cNvSpPr>
          <p:nvPr/>
        </p:nvSpPr>
        <p:spPr>
          <a:xfrm xmlns:a="http://schemas.openxmlformats.org/drawingml/2006/main">
            <a:off x="1022350" y="2624931"/>
            <a:ext cx="3302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200">
                <a:solidFill>
                  <a:srgbClr val="8C99A6"/>
                </a:solidFill>
                <a:latin typeface="IBM Plex Mono"/>
                <a:ea typeface="IBM Plex Mono"/>
                <a:cs typeface="IBM Plex Mono"/>
              </a:rPr>
              <a:t>1</a:t>
            </a:r>
            <a:endParaRPr sz="1200"/>
          </a:p>
        </p:txBody>
      </p:sp>
      <p:sp>
        <p:nvSpPr>
          <p:cNvPr id="9" name="Text 7">
            <a:extLst xmlns:a="http://schemas.openxmlformats.org/drawingml/2006/main">
              <a:ext uri="{FF2B5EF4-FFF2-40B4-BE49-F238E27FC236}">
                <a16:creationId xmlns:a16="http://schemas.microsoft.com/office/drawing/2014/main" id="{F00BB48A-5F40-447F-87BD-68571022DE5F}"/>
              </a:ext>
            </a:extLst>
          </p:cNvPr>
          <p:cNvSpPr>
            <a:spLocks xmlns:a="http://schemas.openxmlformats.org/drawingml/2006/main" noGrp="1"/>
          </p:cNvSpPr>
          <p:nvPr/>
        </p:nvSpPr>
        <p:spPr>
          <a:xfrm xmlns:a="http://schemas.openxmlformats.org/drawingml/2006/main">
            <a:off x="1403350" y="2624931"/>
            <a:ext cx="5978017"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200">
                <a:solidFill>
                  <a:srgbClr val="2C7A4B"/>
                </a:solidFill>
                <a:latin typeface="IBM Plex Mono"/>
                <a:ea typeface="IBM Plex Mono"/>
                <a:cs typeface="IBM Plex Mono"/>
              </a:rPr>
              <a:t># Задатак за AI</a:t>
            </a:r>
            <a:endParaRPr sz="1200"/>
          </a:p>
        </p:txBody>
      </p:sp>
      <p:sp>
        <p:nvSpPr>
          <p:cNvPr id="10" name="Text 8">
            <a:extLst xmlns:a="http://schemas.openxmlformats.org/drawingml/2006/main">
              <a:ext uri="{FF2B5EF4-FFF2-40B4-BE49-F238E27FC236}">
                <a16:creationId xmlns:a16="http://schemas.microsoft.com/office/drawing/2014/main" id="{4A5BFA48-F8F2-45BF-A132-C74FCD323F50}"/>
              </a:ext>
            </a:extLst>
          </p:cNvPr>
          <p:cNvSpPr>
            <a:spLocks xmlns:a="http://schemas.openxmlformats.org/drawingml/2006/main" noGrp="1"/>
          </p:cNvSpPr>
          <p:nvPr/>
        </p:nvSpPr>
        <p:spPr>
          <a:xfrm xmlns:a="http://schemas.openxmlformats.org/drawingml/2006/main">
            <a:off x="1022350" y="2891631"/>
            <a:ext cx="3302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200">
                <a:solidFill>
                  <a:srgbClr val="8C99A6"/>
                </a:solidFill>
                <a:latin typeface="IBM Plex Mono"/>
                <a:ea typeface="IBM Plex Mono"/>
                <a:cs typeface="IBM Plex Mono"/>
              </a:rPr>
              <a:t>2</a:t>
            </a:r>
            <a:endParaRPr sz="1200"/>
          </a:p>
        </p:txBody>
      </p:sp>
      <p:sp>
        <p:nvSpPr>
          <p:cNvPr id="11" name="Text 9">
            <a:extLst xmlns:a="http://schemas.openxmlformats.org/drawingml/2006/main">
              <a:ext uri="{FF2B5EF4-FFF2-40B4-BE49-F238E27FC236}">
                <a16:creationId xmlns:a16="http://schemas.microsoft.com/office/drawing/2014/main" id="{43EA834E-9A70-4590-B895-269C77E79BC4}"/>
              </a:ext>
            </a:extLst>
          </p:cNvPr>
          <p:cNvSpPr>
            <a:spLocks xmlns:a="http://schemas.openxmlformats.org/drawingml/2006/main" noGrp="1"/>
          </p:cNvSpPr>
          <p:nvPr/>
        </p:nvSpPr>
        <p:spPr>
          <a:xfrm xmlns:a="http://schemas.openxmlformats.org/drawingml/2006/main">
            <a:off x="1403350" y="2891631"/>
            <a:ext cx="5978017"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200">
                <a:solidFill>
                  <a:srgbClr val="13202D"/>
                </a:solidFill>
                <a:latin typeface="IBM Plex Mono"/>
                <a:ea typeface="IBM Plex Mono"/>
                <a:cs typeface="IBM Plex Mono"/>
              </a:rPr>
              <a:t>Предложи недостајуће тест сценарије за овај use-case.</a:t>
            </a:r>
            <a:endParaRPr sz="1200"/>
          </a:p>
        </p:txBody>
      </p:sp>
      <p:sp>
        <p:nvSpPr>
          <p:cNvPr id="12" name="Text 10">
            <a:extLst xmlns:a="http://schemas.openxmlformats.org/drawingml/2006/main">
              <a:ext uri="{FF2B5EF4-FFF2-40B4-BE49-F238E27FC236}">
                <a16:creationId xmlns:a16="http://schemas.microsoft.com/office/drawing/2014/main" id="{B948064C-805C-44C0-9E11-848A63DDC4F0}"/>
              </a:ext>
            </a:extLst>
          </p:cNvPr>
          <p:cNvSpPr>
            <a:spLocks xmlns:a="http://schemas.openxmlformats.org/drawingml/2006/main" noGrp="1"/>
          </p:cNvSpPr>
          <p:nvPr/>
        </p:nvSpPr>
        <p:spPr>
          <a:xfrm xmlns:a="http://schemas.openxmlformats.org/drawingml/2006/main">
            <a:off x="1022350" y="3158331"/>
            <a:ext cx="3302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200">
                <a:solidFill>
                  <a:srgbClr val="8C99A6"/>
                </a:solidFill>
                <a:latin typeface="IBM Plex Mono"/>
                <a:ea typeface="IBM Plex Mono"/>
                <a:cs typeface="IBM Plex Mono"/>
              </a:rPr>
              <a:t>3</a:t>
            </a:r>
            <a:endParaRPr sz="1200"/>
          </a:p>
        </p:txBody>
      </p:sp>
      <p:sp>
        <p:nvSpPr>
          <p:cNvPr id="13" name="Text 11">
            <a:extLst xmlns:a="http://schemas.openxmlformats.org/drawingml/2006/main">
              <a:ext uri="{FF2B5EF4-FFF2-40B4-BE49-F238E27FC236}">
                <a16:creationId xmlns:a16="http://schemas.microsoft.com/office/drawing/2014/main" id="{ECF05316-C5ED-4928-9AF2-4E2DBC0BCDE4}"/>
              </a:ext>
            </a:extLst>
          </p:cNvPr>
          <p:cNvSpPr>
            <a:spLocks xmlns:a="http://schemas.openxmlformats.org/drawingml/2006/main" noGrp="1"/>
          </p:cNvSpPr>
          <p:nvPr/>
        </p:nvSpPr>
        <p:spPr>
          <a:xfrm xmlns:a="http://schemas.openxmlformats.org/drawingml/2006/main">
            <a:off x="1403350" y="3158331"/>
            <a:ext cx="5978017"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200">
                <a:solidFill>
                  <a:srgbClr val="A8520A"/>
                </a:solidFill>
                <a:latin typeface="IBM Plex Mono"/>
                <a:ea typeface="IBM Plex Mono"/>
                <a:cs typeface="IBM Plex Mono"/>
              </a:rPr>
              <a:t>Не мењај код.</a:t>
            </a:r>
            <a:endParaRPr sz="1200"/>
          </a:p>
        </p:txBody>
      </p:sp>
      <p:sp>
        <p:nvSpPr>
          <p:cNvPr id="14" name="Text 12">
            <a:extLst xmlns:a="http://schemas.openxmlformats.org/drawingml/2006/main">
              <a:ext uri="{FF2B5EF4-FFF2-40B4-BE49-F238E27FC236}">
                <a16:creationId xmlns:a16="http://schemas.microsoft.com/office/drawing/2014/main" id="{BAE26B81-7180-4C44-9E28-F1B9CC03EF50}"/>
              </a:ext>
            </a:extLst>
          </p:cNvPr>
          <p:cNvSpPr>
            <a:spLocks xmlns:a="http://schemas.openxmlformats.org/drawingml/2006/main" noGrp="1"/>
          </p:cNvSpPr>
          <p:nvPr/>
        </p:nvSpPr>
        <p:spPr>
          <a:xfrm xmlns:a="http://schemas.openxmlformats.org/drawingml/2006/main">
            <a:off x="1022350" y="3425031"/>
            <a:ext cx="3302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200">
                <a:solidFill>
                  <a:srgbClr val="8C99A6"/>
                </a:solidFill>
                <a:latin typeface="IBM Plex Mono"/>
                <a:ea typeface="IBM Plex Mono"/>
                <a:cs typeface="IBM Plex Mono"/>
              </a:rPr>
              <a:t>4</a:t>
            </a:r>
            <a:endParaRPr sz="1200"/>
          </a:p>
        </p:txBody>
      </p:sp>
      <p:sp>
        <p:nvSpPr>
          <p:cNvPr id="15" name="Text 13">
            <a:extLst xmlns:a="http://schemas.openxmlformats.org/drawingml/2006/main">
              <a:ext uri="{FF2B5EF4-FFF2-40B4-BE49-F238E27FC236}">
                <a16:creationId xmlns:a16="http://schemas.microsoft.com/office/drawing/2014/main" id="{8981615A-FA68-417D-8A56-D90803840FB4}"/>
              </a:ext>
            </a:extLst>
          </p:cNvPr>
          <p:cNvSpPr>
            <a:spLocks xmlns:a="http://schemas.openxmlformats.org/drawingml/2006/main" noGrp="1"/>
          </p:cNvSpPr>
          <p:nvPr/>
        </p:nvSpPr>
        <p:spPr>
          <a:xfrm xmlns:a="http://schemas.openxmlformats.org/drawingml/2006/main">
            <a:off x="1403350" y="3425031"/>
            <a:ext cx="5978017"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200">
                <a:solidFill>
                  <a:srgbClr val="13202D"/>
                </a:solidFill>
                <a:latin typeface="IBM Plex Mono"/>
                <a:ea typeface="IBM Plex Mono"/>
                <a:cs typeface="IBM Plex Mono"/>
              </a:rPr>
              <a:t>Образложи пословни ризик сваког предлога.</a:t>
            </a:r>
            <a:endParaRPr sz="1200"/>
          </a:p>
        </p:txBody>
      </p:sp>
      <p:sp>
        <p:nvSpPr>
          <p:cNvPr id="16" name="Text 14">
            <a:extLst xmlns:a="http://schemas.openxmlformats.org/drawingml/2006/main">
              <a:ext uri="{FF2B5EF4-FFF2-40B4-BE49-F238E27FC236}">
                <a16:creationId xmlns:a16="http://schemas.microsoft.com/office/drawing/2014/main" id="{B7C35C2A-F8E7-4376-A01D-893BDF9134AB}"/>
              </a:ext>
            </a:extLst>
          </p:cNvPr>
          <p:cNvSpPr>
            <a:spLocks xmlns:a="http://schemas.openxmlformats.org/drawingml/2006/main" noGrp="1"/>
          </p:cNvSpPr>
          <p:nvPr/>
        </p:nvSpPr>
        <p:spPr>
          <a:xfrm xmlns:a="http://schemas.openxmlformats.org/drawingml/2006/main">
            <a:off x="7721600" y="2125861"/>
            <a:ext cx="376732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00">
                <a:solidFill>
                  <a:srgbClr val="13202D"/>
                </a:solidFill>
                <a:latin typeface="IBM Plex Mono"/>
                <a:ea typeface="IBM Plex Mono"/>
                <a:cs typeface="IBM Plex Mono"/>
              </a:rPr>
              <a:t>БОДОВАЊЕ</a:t>
            </a:r>
            <a:endParaRPr sz="1200"/>
          </a:p>
        </p:txBody>
      </p:sp>
      <p:sp>
        <p:nvSpPr>
          <p:cNvPr id="17" name="Shape 15">
            <a:extLst xmlns:a="http://schemas.openxmlformats.org/drawingml/2006/main">
              <a:ext uri="{FF2B5EF4-FFF2-40B4-BE49-F238E27FC236}">
                <a16:creationId xmlns:a16="http://schemas.microsoft.com/office/drawing/2014/main" id="{8A54EB61-3C4E-47AB-B693-BA3B56DBEFFB}"/>
              </a:ext>
            </a:extLst>
          </p:cNvPr>
          <p:cNvSpPr>
            <a:spLocks xmlns:a="http://schemas.openxmlformats.org/drawingml/2006/main" noGrp="1"/>
          </p:cNvSpPr>
          <p:nvPr/>
        </p:nvSpPr>
        <p:spPr>
          <a:xfrm xmlns:a="http://schemas.openxmlformats.org/drawingml/2006/main">
            <a:off x="7734300" y="2466181"/>
            <a:ext cx="0" cy="256480"/>
          </a:xfrm>
          <a:prstGeom xmlns:a="http://schemas.openxmlformats.org/drawingml/2006/main" prst="line">
            <a:avLst/>
          </a:prstGeom>
          <a:noFill xmlns:a="http://schemas.openxmlformats.org/drawingml/2006/main"/>
          <a:ln xmlns:a="http://schemas.openxmlformats.org/drawingml/2006/main" w="25400">
            <a:solidFill>
              <a:srgbClr val="2C7A4B"/>
            </a:solidFill>
            <a:prstDash val="solid"/>
          </a:ln>
        </p:spPr>
      </p:sp>
      <p:sp>
        <p:nvSpPr>
          <p:cNvPr id="18" name="Text 16">
            <a:extLst xmlns:a="http://schemas.openxmlformats.org/drawingml/2006/main">
              <a:ext uri="{FF2B5EF4-FFF2-40B4-BE49-F238E27FC236}">
                <a16:creationId xmlns:a16="http://schemas.microsoft.com/office/drawing/2014/main" id="{460BE017-C611-4DA9-B916-E14B14545A75}"/>
              </a:ext>
            </a:extLst>
          </p:cNvPr>
          <p:cNvSpPr>
            <a:spLocks xmlns:a="http://schemas.openxmlformats.org/drawingml/2006/main" noGrp="1"/>
          </p:cNvSpPr>
          <p:nvPr/>
        </p:nvSpPr>
        <p:spPr>
          <a:xfrm xmlns:a="http://schemas.openxmlformats.org/drawingml/2006/main">
            <a:off x="7886700" y="2478881"/>
            <a:ext cx="3597275"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4505D"/>
                </a:solidFill>
                <a:latin typeface="IBM Plex Sans"/>
                <a:ea typeface="IBM Plex Sans"/>
                <a:cs typeface="IBM Plex Sans"/>
              </a:rPr>
              <a:t>Први бод: нови смислен гранични тест.</a:t>
            </a:r>
            <a:endParaRPr sz="1300"/>
          </a:p>
        </p:txBody>
      </p:sp>
      <p:sp>
        <p:nvSpPr>
          <p:cNvPr id="19" name="Shape 17">
            <a:extLst xmlns:a="http://schemas.openxmlformats.org/drawingml/2006/main">
              <a:ext uri="{FF2B5EF4-FFF2-40B4-BE49-F238E27FC236}">
                <a16:creationId xmlns:a16="http://schemas.microsoft.com/office/drawing/2014/main" id="{5B7F5EC1-83D1-4172-85EE-F2E293ED9443}"/>
              </a:ext>
            </a:extLst>
          </p:cNvPr>
          <p:cNvSpPr>
            <a:spLocks xmlns:a="http://schemas.openxmlformats.org/drawingml/2006/main" noGrp="1"/>
          </p:cNvSpPr>
          <p:nvPr/>
        </p:nvSpPr>
        <p:spPr>
          <a:xfrm xmlns:a="http://schemas.openxmlformats.org/drawingml/2006/main">
            <a:off x="7734300" y="2849662"/>
            <a:ext cx="0" cy="487561"/>
          </a:xfrm>
          <a:prstGeom xmlns:a="http://schemas.openxmlformats.org/drawingml/2006/main" prst="line">
            <a:avLst/>
          </a:prstGeom>
          <a:noFill xmlns:a="http://schemas.openxmlformats.org/drawingml/2006/main"/>
          <a:ln xmlns:a="http://schemas.openxmlformats.org/drawingml/2006/main" w="25400">
            <a:solidFill>
              <a:srgbClr val="2C7A4B"/>
            </a:solidFill>
            <a:prstDash val="solid"/>
          </a:ln>
        </p:spPr>
      </p:sp>
      <p:sp>
        <p:nvSpPr>
          <p:cNvPr id="20" name="Text 18">
            <a:extLst xmlns:a="http://schemas.openxmlformats.org/drawingml/2006/main">
              <a:ext uri="{FF2B5EF4-FFF2-40B4-BE49-F238E27FC236}">
                <a16:creationId xmlns:a16="http://schemas.microsoft.com/office/drawing/2014/main" id="{52C04301-B5DA-42C4-B0FF-F2FFD180F7EA}"/>
              </a:ext>
            </a:extLst>
          </p:cNvPr>
          <p:cNvSpPr>
            <a:spLocks xmlns:a="http://schemas.openxmlformats.org/drawingml/2006/main" noGrp="1"/>
          </p:cNvSpPr>
          <p:nvPr/>
        </p:nvSpPr>
        <p:spPr>
          <a:xfrm xmlns:a="http://schemas.openxmlformats.org/drawingml/2006/main">
            <a:off x="7886700" y="2862362"/>
            <a:ext cx="3597275"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4505D"/>
                </a:solidFill>
                <a:latin typeface="IBM Plex Sans"/>
                <a:ea typeface="IBM Plex Sans"/>
                <a:cs typeface="IBM Plex Sans"/>
              </a:rPr>
              <a:t>Други бод: образложење прихватања или одбијања предлога.</a:t>
            </a:r>
            <a:endParaRPr sz="1300"/>
          </a:p>
        </p:txBody>
      </p:sp>
      <p:sp>
        <p:nvSpPr>
          <p:cNvPr id="21" name="Shape 19">
            <a:extLst xmlns:a="http://schemas.openxmlformats.org/drawingml/2006/main">
              <a:ext uri="{FF2B5EF4-FFF2-40B4-BE49-F238E27FC236}">
                <a16:creationId xmlns:a16="http://schemas.microsoft.com/office/drawing/2014/main" id="{F12E864E-2EDB-4B12-9E96-539CC12864D9}"/>
              </a:ext>
            </a:extLst>
          </p:cNvPr>
          <p:cNvSpPr>
            <a:spLocks xmlns:a="http://schemas.openxmlformats.org/drawingml/2006/main" noGrp="1"/>
          </p:cNvSpPr>
          <p:nvPr/>
        </p:nvSpPr>
        <p:spPr>
          <a:xfrm xmlns:a="http://schemas.openxmlformats.org/drawingml/2006/main">
            <a:off x="7734300" y="3464223"/>
            <a:ext cx="0" cy="256480"/>
          </a:xfrm>
          <a:prstGeom xmlns:a="http://schemas.openxmlformats.org/drawingml/2006/main" prst="line">
            <a:avLst/>
          </a:prstGeom>
          <a:noFill xmlns:a="http://schemas.openxmlformats.org/drawingml/2006/main"/>
          <a:ln xmlns:a="http://schemas.openxmlformats.org/drawingml/2006/main" w="25400">
            <a:solidFill>
              <a:srgbClr val="E07B1F"/>
            </a:solidFill>
            <a:prstDash val="solid"/>
          </a:ln>
        </p:spPr>
      </p:sp>
      <p:sp>
        <p:nvSpPr>
          <p:cNvPr id="22" name="Text 20">
            <a:extLst xmlns:a="http://schemas.openxmlformats.org/drawingml/2006/main">
              <a:ext uri="{FF2B5EF4-FFF2-40B4-BE49-F238E27FC236}">
                <a16:creationId xmlns:a16="http://schemas.microsoft.com/office/drawing/2014/main" id="{797F6385-E6D9-473A-BCE0-C45F2BA44D9A}"/>
              </a:ext>
            </a:extLst>
          </p:cNvPr>
          <p:cNvSpPr>
            <a:spLocks xmlns:a="http://schemas.openxmlformats.org/drawingml/2006/main" noGrp="1"/>
          </p:cNvSpPr>
          <p:nvPr/>
        </p:nvSpPr>
        <p:spPr>
          <a:xfrm xmlns:a="http://schemas.openxmlformats.org/drawingml/2006/main">
            <a:off x="7886700" y="3476923"/>
            <a:ext cx="3597275"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4505D"/>
                </a:solidFill>
                <a:latin typeface="IBM Plex Sans"/>
                <a:ea typeface="IBM Plex Sans"/>
                <a:cs typeface="IBM Plex Sans"/>
              </a:rPr>
              <a:t>Одговорност остаје код студента.</a:t>
            </a:r>
            <a:endParaRPr sz="1300"/>
          </a:p>
        </p:txBody>
      </p:sp>
      <p:sp>
        <p:nvSpPr>
          <p:cNvPr id="23" name="Shape 21">
            <a:extLst xmlns:a="http://schemas.openxmlformats.org/drawingml/2006/main">
              <a:ext uri="{FF2B5EF4-FFF2-40B4-BE49-F238E27FC236}">
                <a16:creationId xmlns:a16="http://schemas.microsoft.com/office/drawing/2014/main" id="{4926FA9F-3033-4D2A-9D10-3E1258012DC2}"/>
              </a:ext>
            </a:extLst>
          </p:cNvPr>
          <p:cNvSpPr>
            <a:spLocks xmlns:a="http://schemas.openxmlformats.org/drawingml/2006/main" noGrp="1"/>
          </p:cNvSpPr>
          <p:nvPr/>
        </p:nvSpPr>
        <p:spPr>
          <a:xfrm xmlns:a="http://schemas.openxmlformats.org/drawingml/2006/main">
            <a:off x="815975" y="4069556"/>
            <a:ext cx="3249017" cy="466030"/>
          </a:xfrm>
          <a:prstGeom xmlns:a="http://schemas.openxmlformats.org/drawingml/2006/main" prst="roundRect">
            <a:avLst>
              <a:gd name="adj" fmla="val 18395"/>
            </a:avLst>
          </a:prstGeom>
          <a:solidFill xmlns:a="http://schemas.openxmlformats.org/drawingml/2006/main">
            <a:srgbClr val="FCFCFB"/>
          </a:solidFill>
          <a:ln xmlns:a="http://schemas.openxmlformats.org/drawingml/2006/main" w="6350">
            <a:solidFill>
              <a:srgbClr val="D3DAE1"/>
            </a:solidFill>
            <a:prstDash val="solid"/>
          </a:ln>
        </p:spPr>
      </p:sp>
      <p:pic>
        <p:nvPicPr>
          <p:cNvPr id="24" name="Image 0">
            <a:extLst xmlns:a="http://schemas.openxmlformats.org/drawingml/2006/main">
              <a:ext uri="{FF2B5EF4-FFF2-40B4-BE49-F238E27FC236}">
                <a16:creationId xmlns:a16="http://schemas.microsoft.com/office/drawing/2014/main" id="{0910B9A7-1589-421A-944E-8F404E15AC0A}"/>
              </a:ext>
            </a:extLst>
          </p:cNvPr>
          <p:cNvPicPr>
            <a:picLocks xmlns:a="http://schemas.openxmlformats.org/drawingml/2006/main" noChangeAspect="1"/>
          </p:cNvPicPr>
          <p:nvPr/>
        </p:nvPicPr>
        <p:blipFill>
          <a:blip xmlns:r="http://schemas.openxmlformats.org/officeDocument/2006/relationships" xmlns:a="http://schemas.openxmlformats.org/drawingml/2006/main" r:embed="R4394ca6d96604db0"/>
          <a:srcRect xmlns:a="http://schemas.openxmlformats.org/drawingml/2006/main" l="0" t="0" r="0" b="0"/>
          <a:stretch xmlns:a="http://schemas.openxmlformats.org/drawingml/2006/main"/>
        </p:blipFill>
        <p:spPr>
          <a:xfrm xmlns:a="http://schemas.openxmlformats.org/drawingml/2006/main">
            <a:off x="971550" y="4207272"/>
            <a:ext cx="190500" cy="190500"/>
          </a:xfrm>
          <a:prstGeom xmlns:a="http://schemas.openxmlformats.org/drawingml/2006/main" prst="rect">
            <a:avLst/>
          </a:prstGeom>
        </p:spPr>
      </p:pic>
      <p:sp>
        <p:nvSpPr>
          <p:cNvPr id="25" name="Text 22">
            <a:extLst xmlns:a="http://schemas.openxmlformats.org/drawingml/2006/main">
              <a:ext uri="{FF2B5EF4-FFF2-40B4-BE49-F238E27FC236}">
                <a16:creationId xmlns:a16="http://schemas.microsoft.com/office/drawing/2014/main" id="{9BAD6706-81E3-40DF-8A63-117D22123825}"/>
              </a:ext>
            </a:extLst>
          </p:cNvPr>
          <p:cNvSpPr>
            <a:spLocks xmlns:a="http://schemas.openxmlformats.org/drawingml/2006/main" noGrp="1"/>
          </p:cNvSpPr>
          <p:nvPr/>
        </p:nvSpPr>
        <p:spPr>
          <a:xfrm xmlns:a="http://schemas.openxmlformats.org/drawingml/2006/main">
            <a:off x="1250950" y="4187031"/>
            <a:ext cx="273822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AI предлаже</a:t>
            </a:r>
            <a:endParaRPr sz="1300"/>
          </a:p>
        </p:txBody>
      </p:sp>
      <p:pic>
        <p:nvPicPr>
          <p:cNvPr id="26" name="Image 1">
            <a:extLst xmlns:a="http://schemas.openxmlformats.org/drawingml/2006/main">
              <a:ext uri="{FF2B5EF4-FFF2-40B4-BE49-F238E27FC236}">
                <a16:creationId xmlns:a16="http://schemas.microsoft.com/office/drawing/2014/main" id="{18DD8B75-E6F5-4F9C-BEFE-419919103709}"/>
              </a:ext>
            </a:extLst>
          </p:cNvPr>
          <p:cNvPicPr>
            <a:picLocks xmlns:a="http://schemas.openxmlformats.org/drawingml/2006/main" noChangeAspect="1"/>
          </p:cNvPicPr>
          <p:nvPr/>
        </p:nvPicPr>
        <p:blipFill>
          <a:blip xmlns:r="http://schemas.openxmlformats.org/officeDocument/2006/relationships" xmlns:a="http://schemas.openxmlformats.org/drawingml/2006/main" r:embed="R2a5572fa1a214333"/>
          <a:srcRect xmlns:a="http://schemas.openxmlformats.org/drawingml/2006/main" l="0" t="0" r="0" b="0"/>
          <a:stretch xmlns:a="http://schemas.openxmlformats.org/drawingml/2006/main"/>
        </p:blipFill>
        <p:spPr>
          <a:xfrm xmlns:a="http://schemas.openxmlformats.org/drawingml/2006/main">
            <a:off x="4157067" y="4245372"/>
            <a:ext cx="228600" cy="114300"/>
          </a:xfrm>
          <a:prstGeom xmlns:a="http://schemas.openxmlformats.org/drawingml/2006/main" prst="rect">
            <a:avLst/>
          </a:prstGeom>
        </p:spPr>
      </p:pic>
      <p:sp>
        <p:nvSpPr>
          <p:cNvPr id="27" name="Shape 23">
            <a:extLst xmlns:a="http://schemas.openxmlformats.org/drawingml/2006/main">
              <a:ext uri="{FF2B5EF4-FFF2-40B4-BE49-F238E27FC236}">
                <a16:creationId xmlns:a16="http://schemas.microsoft.com/office/drawing/2014/main" id="{91C737C2-4100-4D9B-9F59-9550131443DD}"/>
              </a:ext>
            </a:extLst>
          </p:cNvPr>
          <p:cNvSpPr>
            <a:spLocks xmlns:a="http://schemas.openxmlformats.org/drawingml/2006/main" noGrp="1"/>
          </p:cNvSpPr>
          <p:nvPr/>
        </p:nvSpPr>
        <p:spPr>
          <a:xfrm xmlns:a="http://schemas.openxmlformats.org/drawingml/2006/main">
            <a:off x="4477742" y="4069556"/>
            <a:ext cx="3249116" cy="466030"/>
          </a:xfrm>
          <a:prstGeom xmlns:a="http://schemas.openxmlformats.org/drawingml/2006/main" prst="roundRect">
            <a:avLst>
              <a:gd name="adj" fmla="val 18395"/>
            </a:avLst>
          </a:prstGeom>
          <a:solidFill xmlns:a="http://schemas.openxmlformats.org/drawingml/2006/main">
            <a:srgbClr val="FCFCFB"/>
          </a:solidFill>
          <a:ln xmlns:a="http://schemas.openxmlformats.org/drawingml/2006/main" w="6350">
            <a:solidFill>
              <a:srgbClr val="D3DAE1"/>
            </a:solidFill>
            <a:prstDash val="solid"/>
          </a:ln>
        </p:spPr>
      </p:sp>
      <p:pic>
        <p:nvPicPr>
          <p:cNvPr id="28" name="Image 2">
            <a:extLst xmlns:a="http://schemas.openxmlformats.org/drawingml/2006/main">
              <a:ext uri="{FF2B5EF4-FFF2-40B4-BE49-F238E27FC236}">
                <a16:creationId xmlns:a16="http://schemas.microsoft.com/office/drawing/2014/main" id="{B38B8994-53D8-45FC-B4BE-6D690FC211CF}"/>
              </a:ext>
            </a:extLst>
          </p:cNvPr>
          <p:cNvPicPr>
            <a:picLocks xmlns:a="http://schemas.openxmlformats.org/drawingml/2006/main" noChangeAspect="1"/>
          </p:cNvPicPr>
          <p:nvPr/>
        </p:nvPicPr>
        <p:blipFill>
          <a:blip xmlns:r="http://schemas.openxmlformats.org/officeDocument/2006/relationships" xmlns:a="http://schemas.openxmlformats.org/drawingml/2006/main" r:embed="R4c90508b07c84cba"/>
          <a:srcRect xmlns:a="http://schemas.openxmlformats.org/drawingml/2006/main" l="0" t="0" r="0" b="0"/>
          <a:stretch xmlns:a="http://schemas.openxmlformats.org/drawingml/2006/main"/>
        </p:blipFill>
        <p:spPr>
          <a:xfrm xmlns:a="http://schemas.openxmlformats.org/drawingml/2006/main">
            <a:off x="4633317" y="4207272"/>
            <a:ext cx="190500" cy="190500"/>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B2A3746F-DB44-4F67-8BE0-C76325C72ECF}"/>
              </a:ext>
            </a:extLst>
          </p:cNvPr>
          <p:cNvSpPr>
            <a:spLocks xmlns:a="http://schemas.openxmlformats.org/drawingml/2006/main" noGrp="1"/>
          </p:cNvSpPr>
          <p:nvPr/>
        </p:nvSpPr>
        <p:spPr>
          <a:xfrm xmlns:a="http://schemas.openxmlformats.org/drawingml/2006/main">
            <a:off x="4912717" y="4187031"/>
            <a:ext cx="2738323"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студент процењује</a:t>
            </a:r>
            <a:endParaRPr sz="1300"/>
          </a:p>
        </p:txBody>
      </p:sp>
      <p:pic>
        <p:nvPicPr>
          <p:cNvPr id="30" name="Image 3">
            <a:extLst xmlns:a="http://schemas.openxmlformats.org/drawingml/2006/main">
              <a:ext uri="{FF2B5EF4-FFF2-40B4-BE49-F238E27FC236}">
                <a16:creationId xmlns:a16="http://schemas.microsoft.com/office/drawing/2014/main" id="{EEB620D1-565B-4184-9C3F-5259D5FB6F56}"/>
              </a:ext>
            </a:extLst>
          </p:cNvPr>
          <p:cNvPicPr>
            <a:picLocks xmlns:a="http://schemas.openxmlformats.org/drawingml/2006/main" noChangeAspect="1"/>
          </p:cNvPicPr>
          <p:nvPr/>
        </p:nvPicPr>
        <p:blipFill>
          <a:blip xmlns:r="http://schemas.openxmlformats.org/officeDocument/2006/relationships" xmlns:a="http://schemas.openxmlformats.org/drawingml/2006/main" r:embed="R5dfd943e1b684ebe"/>
          <a:srcRect xmlns:a="http://schemas.openxmlformats.org/drawingml/2006/main" l="0" t="0" r="0" b="0"/>
          <a:stretch xmlns:a="http://schemas.openxmlformats.org/drawingml/2006/main"/>
        </p:blipFill>
        <p:spPr>
          <a:xfrm xmlns:a="http://schemas.openxmlformats.org/drawingml/2006/main">
            <a:off x="7818934" y="4245372"/>
            <a:ext cx="228600" cy="114300"/>
          </a:xfrm>
          <a:prstGeom xmlns:a="http://schemas.openxmlformats.org/drawingml/2006/main" prst="rect">
            <a:avLst/>
          </a:prstGeom>
        </p:spPr>
      </p:pic>
      <p:sp>
        <p:nvSpPr>
          <p:cNvPr id="31" name="Shape 25">
            <a:extLst xmlns:a="http://schemas.openxmlformats.org/drawingml/2006/main">
              <a:ext uri="{FF2B5EF4-FFF2-40B4-BE49-F238E27FC236}">
                <a16:creationId xmlns:a16="http://schemas.microsoft.com/office/drawing/2014/main" id="{957CA0C7-57F0-4E2E-B7CB-B245475304CE}"/>
              </a:ext>
            </a:extLst>
          </p:cNvPr>
          <p:cNvSpPr>
            <a:spLocks xmlns:a="http://schemas.openxmlformats.org/drawingml/2006/main" noGrp="1"/>
          </p:cNvSpPr>
          <p:nvPr/>
        </p:nvSpPr>
        <p:spPr>
          <a:xfrm xmlns:a="http://schemas.openxmlformats.org/drawingml/2006/main">
            <a:off x="8136434" y="4066381"/>
            <a:ext cx="3242766" cy="472380"/>
          </a:xfrm>
          <a:prstGeom xmlns:a="http://schemas.openxmlformats.org/drawingml/2006/main" prst="roundRect">
            <a:avLst>
              <a:gd name="adj" fmla="val 18820"/>
            </a:avLst>
          </a:prstGeom>
          <a:solidFill xmlns:a="http://schemas.openxmlformats.org/drawingml/2006/main">
            <a:srgbClr val="2C7A4B"/>
          </a:solidFill>
        </p:spPr>
      </p:sp>
      <p:pic>
        <p:nvPicPr>
          <p:cNvPr id="32" name="Image 4">
            <a:extLst xmlns:a="http://schemas.openxmlformats.org/drawingml/2006/main">
              <a:ext uri="{FF2B5EF4-FFF2-40B4-BE49-F238E27FC236}">
                <a16:creationId xmlns:a16="http://schemas.microsoft.com/office/drawing/2014/main" id="{4ADEF80C-1A92-479F-B140-589C187F7B96}"/>
              </a:ext>
            </a:extLst>
          </p:cNvPr>
          <p:cNvPicPr>
            <a:picLocks xmlns:a="http://schemas.openxmlformats.org/drawingml/2006/main" noChangeAspect="1"/>
          </p:cNvPicPr>
          <p:nvPr/>
        </p:nvPicPr>
        <p:blipFill>
          <a:blip xmlns:r="http://schemas.openxmlformats.org/officeDocument/2006/relationships" xmlns:a="http://schemas.openxmlformats.org/drawingml/2006/main" r:embed="R81f4d689f31c4109"/>
          <a:srcRect xmlns:a="http://schemas.openxmlformats.org/drawingml/2006/main" l="0" t="0" r="0" b="0"/>
          <a:stretch xmlns:a="http://schemas.openxmlformats.org/drawingml/2006/main"/>
        </p:blipFill>
        <p:spPr>
          <a:xfrm xmlns:a="http://schemas.openxmlformats.org/drawingml/2006/main">
            <a:off x="8288834" y="4207272"/>
            <a:ext cx="190500" cy="190500"/>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B380728-D59A-483F-A044-3E9A9A6CB661}"/>
              </a:ext>
            </a:extLst>
          </p:cNvPr>
          <p:cNvSpPr>
            <a:spLocks xmlns:a="http://schemas.openxmlformats.org/drawingml/2006/main" noGrp="1"/>
          </p:cNvSpPr>
          <p:nvPr/>
        </p:nvSpPr>
        <p:spPr>
          <a:xfrm xmlns:a="http://schemas.openxmlformats.org/drawingml/2006/main">
            <a:off x="8568234" y="4187031"/>
            <a:ext cx="2738323"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FCFCFB"/>
                </a:solidFill>
                <a:latin typeface="IBM Plex Sans"/>
                <a:ea typeface="IBM Plex Sans"/>
                <a:cs typeface="IBM Plex Sans"/>
              </a:rPr>
              <a:t>тест у пројекту</a:t>
            </a:r>
            <a:endParaRPr sz="1300"/>
          </a:p>
        </p:txBody>
      </p:sp>
      <p:sp>
        <p:nvSpPr>
          <p:cNvPr id="34" name="Shape 27">
            <a:extLst xmlns:a="http://schemas.openxmlformats.org/drawingml/2006/main">
              <a:ext uri="{FF2B5EF4-FFF2-40B4-BE49-F238E27FC236}">
                <a16:creationId xmlns:a16="http://schemas.microsoft.com/office/drawing/2014/main" id="{BA42298B-87EB-4098-9987-937BE9EDEDC0}"/>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35" name="Text 28">
            <a:extLst xmlns:a="http://schemas.openxmlformats.org/drawingml/2006/main">
              <a:ext uri="{FF2B5EF4-FFF2-40B4-BE49-F238E27FC236}">
                <a16:creationId xmlns:a16="http://schemas.microsoft.com/office/drawing/2014/main" id="{46C07B05-6CEA-49E8-86B6-F6697F09A937}"/>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36" name="Text 29">
            <a:extLst xmlns:a="http://schemas.openxmlformats.org/drawingml/2006/main">
              <a:ext uri="{FF2B5EF4-FFF2-40B4-BE49-F238E27FC236}">
                <a16:creationId xmlns:a16="http://schemas.microsoft.com/office/drawing/2014/main" id="{2C734A2A-A4C0-4948-BCE9-DD6826467AD9}"/>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26</a:t>
            </a:r>
            <a:endParaRPr sz="1200"/>
          </a:p>
        </p:txBody>
      </p:sp>
    </p:spTree>
    <p:extLst>
      <p:ext uri="{BB962C8B-B14F-4D97-AF65-F5344CB8AC3E}">
        <p14:creationId xmlns:p14="http://schemas.microsoft.com/office/powerpoint/2010/main" val="1531432493"/>
      </p:ext>
    </p:extLst>
  </p:cSld>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C7A4B"/>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FCFCF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1ECE6"/>
                </a:solidFill>
                <a:latin typeface="IBM Plex Mono" pitchFamily="49" charset="0"/>
                <a:ea typeface="IBM Plex Mono" pitchFamily="49" charset="-122"/>
                <a:cs typeface="IBM Plex Mono" pitchFamily="49" charset="-120"/>
              </a:rPr>
              <a:t>04 · РЕЗИМЕ</a:t>
            </a:r>
            <a:endParaRPr lang="en-US" sz="1200" dirty="0"/>
          </a:p>
        </p:txBody>
      </p:sp>
      <p:sp>
        <p:nvSpPr>
          <p:cNvPr id="4" name="Text 2"/>
          <p:cNvSpPr/>
          <p:nvPr/>
        </p:nvSpPr>
        <p:spPr>
          <a:xfrm>
            <a:off x="812800" y="10007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1ECE6"/>
                </a:solidFill>
                <a:latin typeface="IBM Plex Sans" pitchFamily="34" charset="0"/>
                <a:ea typeface="IBM Plex Sans" pitchFamily="34" charset="-122"/>
                <a:cs typeface="IBM Plex Sans" pitchFamily="34" charset="-120"/>
              </a:rPr>
              <a:t>Добре архитектонске границе омогућавају кратке и стабилне тестове усмерене на пословно понашање.</a:t>
            </a:r>
            <a:endParaRPr lang="en-US" sz="1500" dirty="0"/>
          </a:p>
        </p:txBody>
      </p:sp>
      <p:sp>
        <p:nvSpPr>
          <p:cNvPr id="5" name="Text 3"/>
          <p:cNvSpPr/>
          <p:nvPr>
            <p:ph type="title"/>
          </p:nvPr>
        </p:nvSpPr>
        <p:spPr>
          <a:xfrm>
            <a:off x="812800" y="2587129"/>
            <a:ext cx="10203180" cy="1514872"/>
          </a:xfrm>
          <a:prstGeom prst="rect">
            <a:avLst/>
          </a:prstGeom>
          <a:noFill/>
          <a:ln/>
        </p:spPr>
        <p:txBody>
          <a:bodyPr wrap="square" lIns="0" tIns="0" rIns="0" bIns="0" rtlCol="0" anchor="t">
            <a:normAutofit/>
          </a:bodyPr>
          <a:lstStyle/>
          <a:p>
            <a:pPr algn="l" indent="0" marL="0">
              <a:lnSpc>
                <a:spcPts val="3910"/>
              </a:lnSpc>
              <a:buNone/>
            </a:pPr>
            <a:r>
              <a:rPr lang="en-US" sz="3400" b="1" i="0" spc="-75" kern="0" dirty="0">
                <a:solidFill>
                  <a:srgbClr val="FCFCFB"/>
                </a:solidFill>
                <a:latin typeface="IBM Plex Sans" pitchFamily="34" charset="0"/>
                <a:ea typeface="IBM Plex Sans" pitchFamily="34" charset="-122"/>
                <a:cs typeface="IBM Plex Sans" pitchFamily="34" charset="-120"/>
              </a:rPr>
              <a:t>Када су границе система добре, тестови постају краћи, јаснији и ближи пословном понашању које студент треба да одбрани.</a:t>
            </a:r>
            <a:endParaRPr lang="en-US" sz="3400" dirty="0"/>
          </a:p>
        </p:txBody>
      </p:sp>
      <p:sp>
        <p:nvSpPr>
          <p:cNvPr id="6" name="Text 4"/>
          <p:cNvSpPr/>
          <p:nvPr/>
        </p:nvSpPr>
        <p:spPr>
          <a:xfrm>
            <a:off x="815975" y="5458520"/>
            <a:ext cx="900509" cy="321270"/>
          </a:xfrm>
          <a:prstGeom prst="roundRect">
            <a:avLst>
              <a:gd name="adj" fmla="val 50000"/>
            </a:avLst>
          </a:prstGeom>
          <a:noFill/>
          <a:ln w="6350">
            <a:solidFill>
              <a:srgbClr val="B1CEBC"/>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правило</a:t>
            </a:r>
            <a:endParaRPr lang="en-US" sz="1200" dirty="0"/>
          </a:p>
        </p:txBody>
      </p:sp>
      <p:sp>
        <p:nvSpPr>
          <p:cNvPr id="7" name="Text 5"/>
          <p:cNvSpPr/>
          <p:nvPr/>
        </p:nvSpPr>
        <p:spPr>
          <a:xfrm>
            <a:off x="182125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1CEBC"/>
                </a:solidFill>
                <a:latin typeface="IBM Plex Sans" pitchFamily="34" charset="0"/>
                <a:ea typeface="IBM Plex Sans" pitchFamily="34" charset="-122"/>
                <a:cs typeface="IBM Plex Sans" pitchFamily="34" charset="-120"/>
              </a:rPr>
              <a:t>→</a:t>
            </a:r>
            <a:endParaRPr lang="en-US" sz="1200" dirty="0"/>
          </a:p>
        </p:txBody>
      </p:sp>
      <p:sp>
        <p:nvSpPr>
          <p:cNvPr id="8" name="Text 6"/>
          <p:cNvSpPr/>
          <p:nvPr/>
        </p:nvSpPr>
        <p:spPr>
          <a:xfrm>
            <a:off x="2078434" y="5458520"/>
            <a:ext cx="991890" cy="321270"/>
          </a:xfrm>
          <a:prstGeom prst="roundRect">
            <a:avLst>
              <a:gd name="adj" fmla="val 50000"/>
            </a:avLst>
          </a:prstGeom>
          <a:noFill/>
          <a:ln w="6350">
            <a:solidFill>
              <a:srgbClr val="B1CEBC"/>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сценарио</a:t>
            </a:r>
            <a:endParaRPr lang="en-US" sz="1200" dirty="0"/>
          </a:p>
        </p:txBody>
      </p:sp>
      <p:sp>
        <p:nvSpPr>
          <p:cNvPr id="9" name="Text 7"/>
          <p:cNvSpPr/>
          <p:nvPr/>
        </p:nvSpPr>
        <p:spPr>
          <a:xfrm>
            <a:off x="317509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1CEBC"/>
                </a:solidFill>
                <a:latin typeface="IBM Plex Sans" pitchFamily="34" charset="0"/>
                <a:ea typeface="IBM Plex Sans" pitchFamily="34" charset="-122"/>
                <a:cs typeface="IBM Plex Sans" pitchFamily="34" charset="-120"/>
              </a:rPr>
              <a:t>→</a:t>
            </a:r>
            <a:endParaRPr lang="en-US" sz="1200" dirty="0"/>
          </a:p>
        </p:txBody>
      </p:sp>
      <p:sp>
        <p:nvSpPr>
          <p:cNvPr id="10" name="Text 8"/>
          <p:cNvSpPr/>
          <p:nvPr/>
        </p:nvSpPr>
        <p:spPr>
          <a:xfrm>
            <a:off x="3432274" y="5458520"/>
            <a:ext cx="626170" cy="321270"/>
          </a:xfrm>
          <a:prstGeom prst="roundRect">
            <a:avLst>
              <a:gd name="adj" fmla="val 50000"/>
            </a:avLst>
          </a:prstGeom>
          <a:noFill/>
          <a:ln w="6350">
            <a:solidFill>
              <a:srgbClr val="B1CEBC"/>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тест</a:t>
            </a:r>
            <a:endParaRPr lang="en-US" sz="1200" dirty="0"/>
          </a:p>
        </p:txBody>
      </p:sp>
      <p:sp>
        <p:nvSpPr>
          <p:cNvPr id="11" name="Text 9"/>
          <p:cNvSpPr/>
          <p:nvPr/>
        </p:nvSpPr>
        <p:spPr>
          <a:xfrm>
            <a:off x="416321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1CEBC"/>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4417219" y="5461695"/>
            <a:ext cx="711200" cy="314920"/>
          </a:xfrm>
          <a:prstGeom prst="roundRect">
            <a:avLst>
              <a:gd name="adj" fmla="val 5000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2C7A4B"/>
                </a:solidFill>
                <a:latin typeface="IBM Plex Mono" pitchFamily="49" charset="0"/>
                <a:ea typeface="IBM Plex Mono" pitchFamily="49" charset="-122"/>
                <a:cs typeface="IBM Plex Mono" pitchFamily="49" charset="-120"/>
              </a:rPr>
              <a:t>доказ</a:t>
            </a:r>
            <a:endParaRPr lang="en-US" sz="1200" dirty="0"/>
          </a:p>
        </p:txBody>
      </p:sp>
      <p:sp>
        <p:nvSpPr>
          <p:cNvPr id="13" name="Text 11"/>
          <p:cNvSpPr/>
          <p:nvPr/>
        </p:nvSpPr>
        <p:spPr>
          <a:xfrm>
            <a:off x="7442200" y="5396309"/>
            <a:ext cx="405511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CE6"/>
                </a:solidFill>
                <a:latin typeface="IBM Plex Sans" pitchFamily="34" charset="0"/>
                <a:ea typeface="IBM Plex Sans" pitchFamily="34" charset="-122"/>
                <a:cs typeface="IBM Plex Sans" pitchFamily="34" charset="-120"/>
              </a:rPr>
              <a:t>Ови резултати су основа за интеграцију и контролисан AI радни ток.</a:t>
            </a:r>
            <a:endParaRPr lang="en-US" sz="1300" dirty="0"/>
          </a:p>
        </p:txBody>
      </p:sp>
      <p:sp>
        <p:nvSpPr>
          <p:cNvPr id="14" name="Shape 12"/>
          <p:cNvSpPr/>
          <p:nvPr/>
        </p:nvSpPr>
        <p:spPr>
          <a:xfrm>
            <a:off x="812800" y="6209705"/>
            <a:ext cx="10566400" cy="0"/>
          </a:xfrm>
          <a:prstGeom prst="line">
            <a:avLst/>
          </a:prstGeom>
          <a:noFill/>
          <a:ln w="6350">
            <a:solidFill>
              <a:srgbClr val="5A9773"/>
            </a:solidFill>
            <a:prstDash val="solid"/>
          </a:ln>
        </p:spPr>
      </p:sp>
      <p:sp>
        <p:nvSpPr>
          <p:cNvPr id="15" name="Text 1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1ECE6"/>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1ECE6"/>
                </a:solidFill>
                <a:latin typeface="IBM Plex Mono" pitchFamily="49" charset="0"/>
                <a:ea typeface="IBM Plex Mono" pitchFamily="49" charset="-122"/>
                <a:cs typeface="IBM Plex Mono" pitchFamily="49" charset="-120"/>
              </a:rPr>
              <a:t>27</a:t>
            </a:r>
            <a:endParaRPr lang="en-US" sz="1200" dirty="0"/>
          </a:p>
        </p:txBody>
      </p:sp>
    </p:spTree>
  </p:cSld>
  <p:clrMapOvr>
    <a:masterClrMapping/>
  </p:clrMapOvr>
</p:sld>
</file>

<file path=ppt/slides/slide28.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E1F076A-62BA-41D6-ABEB-9232323AE3C0}"/>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2C7A4B"/>
          </a:solidFill>
        </p:spPr>
      </p:sp>
      <p:sp>
        <p:nvSpPr>
          <p:cNvPr id="3" name="Text 1">
            <a:extLst xmlns:a="http://schemas.openxmlformats.org/drawingml/2006/main">
              <a:ext uri="{FF2B5EF4-FFF2-40B4-BE49-F238E27FC236}">
                <a16:creationId xmlns:a16="http://schemas.microsoft.com/office/drawing/2014/main" id="{E624D699-D0BB-49B6-8071-D779702FCE66}"/>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spc="100">
                <a:solidFill>
                  <a:srgbClr val="2C7A4B"/>
                </a:solidFill>
                <a:latin typeface="IBM Plex Mono"/>
                <a:ea typeface="IBM Plex Mono"/>
                <a:cs typeface="IBM Plex Mono"/>
              </a:rPr>
              <a:t>04 · РЕГРЕСИЈА И </a:t>
            </a:r>
            <a:r>
              <a:rPr sz="1200" spc="100">
                <a:solidFill>
                  <a:srgbClr val="2C7A4B"/>
                </a:solidFill>
                <a:latin typeface="IBM Plex Mono"/>
                <a:ea typeface="IBM Plex Mono"/>
                <a:cs typeface="IBM Plex Mono"/>
              </a:rPr>
              <a:t>КТ1</a:t>
            </a:r>
            <a:endParaRPr sz="1200"/>
          </a:p>
        </p:txBody>
      </p:sp>
      <p:sp>
        <p:nvSpPr>
          <p:cNvPr id="4" name="Text 2">
            <a:extLst xmlns:a="http://schemas.openxmlformats.org/drawingml/2006/main">
              <a:ext uri="{FF2B5EF4-FFF2-40B4-BE49-F238E27FC236}">
                <a16:creationId xmlns:a16="http://schemas.microsoft.com/office/drawing/2014/main" id="{0D04EAFC-FFCC-4917-BC0F-F87E460A1252}"/>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Припрема за интеграцију</a:t>
            </a:r>
            <a:endParaRPr sz="3000"/>
          </a:p>
        </p:txBody>
      </p:sp>
      <p:sp>
        <p:nvSpPr>
          <p:cNvPr id="5" name="Text 3">
            <a:extLst xmlns:a="http://schemas.openxmlformats.org/drawingml/2006/main">
              <a:ext uri="{FF2B5EF4-FFF2-40B4-BE49-F238E27FC236}">
                <a16:creationId xmlns:a16="http://schemas.microsoft.com/office/drawing/2014/main" id="{9AB720B5-EE71-4843-9B23-88A2AEC1F535}"/>
              </a:ext>
            </a:extLst>
          </p:cNvPr>
          <p:cNvSpPr>
            <a:spLocks xmlns:a="http://schemas.openxmlformats.org/drawingml/2006/main" noGrp="1"/>
          </p:cNvSpPr>
          <p:nvPr/>
        </p:nvSpPr>
        <p:spPr>
          <a:xfrm xmlns:a="http://schemas.openxmlformats.org/drawingml/2006/main">
            <a:off x="812800" y="16484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Припремити стабилно функционално језгро и тестове за интеграцију модула.</a:t>
            </a:r>
            <a:endParaRPr sz="1400"/>
          </a:p>
        </p:txBody>
      </p:sp>
      <p:sp>
        <p:nvSpPr>
          <p:cNvPr id="6" name="Shape 4">
            <a:extLst xmlns:a="http://schemas.openxmlformats.org/drawingml/2006/main">
              <a:ext uri="{FF2B5EF4-FFF2-40B4-BE49-F238E27FC236}">
                <a16:creationId xmlns:a16="http://schemas.microsoft.com/office/drawing/2014/main" id="{376AA126-EFBF-406F-820D-89BAA1E94DAA}"/>
              </a:ext>
            </a:extLst>
          </p:cNvPr>
          <p:cNvSpPr>
            <a:spLocks xmlns:a="http://schemas.openxmlformats.org/drawingml/2006/main" noGrp="1"/>
          </p:cNvSpPr>
          <p:nvPr/>
        </p:nvSpPr>
        <p:spPr>
          <a:xfrm xmlns:a="http://schemas.openxmlformats.org/drawingml/2006/main">
            <a:off x="815975" y="2129036"/>
            <a:ext cx="2025650" cy="1657052"/>
          </a:xfrm>
          <a:prstGeom xmlns:a="http://schemas.openxmlformats.org/drawingml/2006/main" prst="roundRect">
            <a:avLst>
              <a:gd name="adj" fmla="val 5940"/>
            </a:avLst>
          </a:prstGeom>
          <a:solidFill xmlns:a="http://schemas.openxmlformats.org/drawingml/2006/main">
            <a:srgbClr val="FCFCFB"/>
          </a:solidFill>
          <a:ln xmlns:a="http://schemas.openxmlformats.org/drawingml/2006/main" w="6350">
            <a:solidFill>
              <a:srgbClr val="D3DAE1"/>
            </a:solidFill>
            <a:prstDash val="solid"/>
          </a:ln>
        </p:spPr>
      </p:sp>
      <p:sp>
        <p:nvSpPr>
          <p:cNvPr id="7" name="Text 5">
            <a:extLst xmlns:a="http://schemas.openxmlformats.org/drawingml/2006/main">
              <a:ext uri="{FF2B5EF4-FFF2-40B4-BE49-F238E27FC236}">
                <a16:creationId xmlns:a16="http://schemas.microsoft.com/office/drawing/2014/main" id="{8EEC8C7A-FF53-4561-8A72-C06929672183}"/>
              </a:ext>
            </a:extLst>
          </p:cNvPr>
          <p:cNvSpPr>
            <a:spLocks xmlns:a="http://schemas.openxmlformats.org/drawingml/2006/main" noGrp="1"/>
          </p:cNvSpPr>
          <p:nvPr/>
        </p:nvSpPr>
        <p:spPr>
          <a:xfrm xmlns:a="http://schemas.openxmlformats.org/drawingml/2006/main">
            <a:off x="9842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2C7A4B"/>
                </a:solidFill>
                <a:latin typeface="IBM Plex Mono"/>
                <a:ea typeface="IBM Plex Mono"/>
                <a:cs typeface="IBM Plex Mono"/>
              </a:rPr>
              <a:t>01</a:t>
            </a:r>
            <a:endParaRPr sz="2200"/>
          </a:p>
        </p:txBody>
      </p:sp>
      <p:sp>
        <p:nvSpPr>
          <p:cNvPr id="8" name="Text 6">
            <a:extLst xmlns:a="http://schemas.openxmlformats.org/drawingml/2006/main">
              <a:ext uri="{FF2B5EF4-FFF2-40B4-BE49-F238E27FC236}">
                <a16:creationId xmlns:a16="http://schemas.microsoft.com/office/drawing/2014/main" id="{D38AE5D5-4B8E-499A-BB79-903097B2C068}"/>
              </a:ext>
            </a:extLst>
          </p:cNvPr>
          <p:cNvSpPr>
            <a:spLocks xmlns:a="http://schemas.openxmlformats.org/drawingml/2006/main" noGrp="1"/>
          </p:cNvSpPr>
          <p:nvPr/>
        </p:nvSpPr>
        <p:spPr>
          <a:xfrm xmlns:a="http://schemas.openxmlformats.org/drawingml/2006/main">
            <a:off x="984250" y="2693491"/>
            <a:ext cx="1739900"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Написати план тестирања за један use-case пре тест кода.</a:t>
            </a:r>
            <a:endParaRPr sz="1300"/>
          </a:p>
        </p:txBody>
      </p:sp>
      <p:sp>
        <p:nvSpPr>
          <p:cNvPr id="9" name="Shape 7">
            <a:extLst xmlns:a="http://schemas.openxmlformats.org/drawingml/2006/main">
              <a:ext uri="{FF2B5EF4-FFF2-40B4-BE49-F238E27FC236}">
                <a16:creationId xmlns:a16="http://schemas.microsoft.com/office/drawing/2014/main" id="{CC80A379-7577-4633-A3F9-C4DE7CE0C8A4}"/>
              </a:ext>
            </a:extLst>
          </p:cNvPr>
          <p:cNvSpPr>
            <a:spLocks xmlns:a="http://schemas.openxmlformats.org/drawingml/2006/main" noGrp="1"/>
          </p:cNvSpPr>
          <p:nvPr/>
        </p:nvSpPr>
        <p:spPr>
          <a:xfrm xmlns:a="http://schemas.openxmlformats.org/drawingml/2006/main">
            <a:off x="2949575" y="2129036"/>
            <a:ext cx="2025650" cy="1657052"/>
          </a:xfrm>
          <a:prstGeom xmlns:a="http://schemas.openxmlformats.org/drawingml/2006/main" prst="roundRect">
            <a:avLst>
              <a:gd name="adj" fmla="val 5940"/>
            </a:avLst>
          </a:prstGeom>
          <a:solidFill xmlns:a="http://schemas.openxmlformats.org/drawingml/2006/main">
            <a:srgbClr val="FCFCFB"/>
          </a:solidFill>
          <a:ln xmlns:a="http://schemas.openxmlformats.org/drawingml/2006/main" w="6350">
            <a:solidFill>
              <a:srgbClr val="D3DAE1"/>
            </a:solidFill>
            <a:prstDash val="solid"/>
          </a:ln>
        </p:spPr>
      </p:sp>
      <p:sp>
        <p:nvSpPr>
          <p:cNvPr id="10" name="Text 8">
            <a:extLst xmlns:a="http://schemas.openxmlformats.org/drawingml/2006/main">
              <a:ext uri="{FF2B5EF4-FFF2-40B4-BE49-F238E27FC236}">
                <a16:creationId xmlns:a16="http://schemas.microsoft.com/office/drawing/2014/main" id="{D208A352-C5B8-4722-A82F-09AB0A93ACFA}"/>
              </a:ext>
            </a:extLst>
          </p:cNvPr>
          <p:cNvSpPr>
            <a:spLocks xmlns:a="http://schemas.openxmlformats.org/drawingml/2006/main" noGrp="1"/>
          </p:cNvSpPr>
          <p:nvPr/>
        </p:nvSpPr>
        <p:spPr>
          <a:xfrm xmlns:a="http://schemas.openxmlformats.org/drawingml/2006/main">
            <a:off x="31178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2C7A4B"/>
                </a:solidFill>
                <a:latin typeface="IBM Plex Mono"/>
                <a:ea typeface="IBM Plex Mono"/>
                <a:cs typeface="IBM Plex Mono"/>
              </a:rPr>
              <a:t>02</a:t>
            </a:r>
            <a:endParaRPr sz="2200"/>
          </a:p>
        </p:txBody>
      </p:sp>
      <p:sp>
        <p:nvSpPr>
          <p:cNvPr id="11" name="Text 9">
            <a:extLst xmlns:a="http://schemas.openxmlformats.org/drawingml/2006/main">
              <a:ext uri="{FF2B5EF4-FFF2-40B4-BE49-F238E27FC236}">
                <a16:creationId xmlns:a16="http://schemas.microsoft.com/office/drawing/2014/main" id="{4BE486E7-AD55-42AC-9D7A-D2D4A7D24D3B}"/>
              </a:ext>
            </a:extLst>
          </p:cNvPr>
          <p:cNvSpPr>
            <a:spLocks xmlns:a="http://schemas.openxmlformats.org/drawingml/2006/main" noGrp="1"/>
          </p:cNvSpPr>
          <p:nvPr/>
        </p:nvSpPr>
        <p:spPr>
          <a:xfrm xmlns:a="http://schemas.openxmlformats.org/drawingml/2006/main">
            <a:off x="3117850" y="2693491"/>
            <a:ext cx="1739900"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Додати успешне, негативне и граничне NUnit тестове.</a:t>
            </a:r>
            <a:endParaRPr sz="1300"/>
          </a:p>
        </p:txBody>
      </p:sp>
      <p:sp>
        <p:nvSpPr>
          <p:cNvPr id="12" name="Shape 10">
            <a:extLst xmlns:a="http://schemas.openxmlformats.org/drawingml/2006/main">
              <a:ext uri="{FF2B5EF4-FFF2-40B4-BE49-F238E27FC236}">
                <a16:creationId xmlns:a16="http://schemas.microsoft.com/office/drawing/2014/main" id="{E3228000-A2DF-4136-AB45-0DE04BEB336D}"/>
              </a:ext>
            </a:extLst>
          </p:cNvPr>
          <p:cNvSpPr>
            <a:spLocks xmlns:a="http://schemas.openxmlformats.org/drawingml/2006/main" noGrp="1"/>
          </p:cNvSpPr>
          <p:nvPr/>
        </p:nvSpPr>
        <p:spPr>
          <a:xfrm xmlns:a="http://schemas.openxmlformats.org/drawingml/2006/main">
            <a:off x="5083175" y="2129036"/>
            <a:ext cx="2025650" cy="1657052"/>
          </a:xfrm>
          <a:prstGeom xmlns:a="http://schemas.openxmlformats.org/drawingml/2006/main" prst="roundRect">
            <a:avLst>
              <a:gd name="adj" fmla="val 5940"/>
            </a:avLst>
          </a:prstGeom>
          <a:solidFill xmlns:a="http://schemas.openxmlformats.org/drawingml/2006/main">
            <a:srgbClr val="FCFCFB"/>
          </a:solidFill>
          <a:ln xmlns:a="http://schemas.openxmlformats.org/drawingml/2006/main" w="6350">
            <a:solidFill>
              <a:srgbClr val="D3DAE1"/>
            </a:solidFill>
            <a:prstDash val="solid"/>
          </a:ln>
        </p:spPr>
      </p:sp>
      <p:sp>
        <p:nvSpPr>
          <p:cNvPr id="13" name="Text 11">
            <a:extLst xmlns:a="http://schemas.openxmlformats.org/drawingml/2006/main">
              <a:ext uri="{FF2B5EF4-FFF2-40B4-BE49-F238E27FC236}">
                <a16:creationId xmlns:a16="http://schemas.microsoft.com/office/drawing/2014/main" id="{53E7116C-E7C0-4753-9C11-2F908A71E766}"/>
              </a:ext>
            </a:extLst>
          </p:cNvPr>
          <p:cNvSpPr>
            <a:spLocks xmlns:a="http://schemas.openxmlformats.org/drawingml/2006/main" noGrp="1"/>
          </p:cNvSpPr>
          <p:nvPr/>
        </p:nvSpPr>
        <p:spPr>
          <a:xfrm xmlns:a="http://schemas.openxmlformats.org/drawingml/2006/main">
            <a:off x="52514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2C7A4B"/>
                </a:solidFill>
                <a:latin typeface="IBM Plex Mono"/>
                <a:ea typeface="IBM Plex Mono"/>
                <a:cs typeface="IBM Plex Mono"/>
              </a:rPr>
              <a:t>03</a:t>
            </a:r>
            <a:endParaRPr sz="2200"/>
          </a:p>
        </p:txBody>
      </p:sp>
      <p:sp>
        <p:nvSpPr>
          <p:cNvPr id="14" name="Text 12">
            <a:extLst xmlns:a="http://schemas.openxmlformats.org/drawingml/2006/main">
              <a:ext uri="{FF2B5EF4-FFF2-40B4-BE49-F238E27FC236}">
                <a16:creationId xmlns:a16="http://schemas.microsoft.com/office/drawing/2014/main" id="{A5153283-146C-47AF-8843-AA3F09D93338}"/>
              </a:ext>
            </a:extLst>
          </p:cNvPr>
          <p:cNvSpPr>
            <a:spLocks xmlns:a="http://schemas.openxmlformats.org/drawingml/2006/main" noGrp="1"/>
          </p:cNvSpPr>
          <p:nvPr/>
        </p:nvSpPr>
        <p:spPr>
          <a:xfrm xmlns:a="http://schemas.openxmlformats.org/drawingml/2006/main">
            <a:off x="5251450" y="2693491"/>
            <a:ext cx="1739900"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Mock користити само на јасним спољним границама.</a:t>
            </a:r>
            <a:endParaRPr sz="1300"/>
          </a:p>
        </p:txBody>
      </p:sp>
      <p:sp>
        <p:nvSpPr>
          <p:cNvPr id="15" name="Shape 13">
            <a:extLst xmlns:a="http://schemas.openxmlformats.org/drawingml/2006/main">
              <a:ext uri="{FF2B5EF4-FFF2-40B4-BE49-F238E27FC236}">
                <a16:creationId xmlns:a16="http://schemas.microsoft.com/office/drawing/2014/main" id="{D70BE4C7-D490-4126-BC53-6BC42F682544}"/>
              </a:ext>
            </a:extLst>
          </p:cNvPr>
          <p:cNvSpPr>
            <a:spLocks xmlns:a="http://schemas.openxmlformats.org/drawingml/2006/main" noGrp="1"/>
          </p:cNvSpPr>
          <p:nvPr/>
        </p:nvSpPr>
        <p:spPr>
          <a:xfrm xmlns:a="http://schemas.openxmlformats.org/drawingml/2006/main">
            <a:off x="7216775" y="2129036"/>
            <a:ext cx="2025650" cy="1657052"/>
          </a:xfrm>
          <a:prstGeom xmlns:a="http://schemas.openxmlformats.org/drawingml/2006/main" prst="roundRect">
            <a:avLst>
              <a:gd name="adj" fmla="val 5940"/>
            </a:avLst>
          </a:prstGeom>
          <a:solidFill xmlns:a="http://schemas.openxmlformats.org/drawingml/2006/main">
            <a:srgbClr val="FCFCFB"/>
          </a:solidFill>
          <a:ln xmlns:a="http://schemas.openxmlformats.org/drawingml/2006/main" w="6350">
            <a:solidFill>
              <a:srgbClr val="D3DAE1"/>
            </a:solidFill>
            <a:prstDash val="solid"/>
          </a:ln>
        </p:spPr>
      </p:sp>
      <p:sp>
        <p:nvSpPr>
          <p:cNvPr id="16" name="Text 14">
            <a:extLst xmlns:a="http://schemas.openxmlformats.org/drawingml/2006/main">
              <a:ext uri="{FF2B5EF4-FFF2-40B4-BE49-F238E27FC236}">
                <a16:creationId xmlns:a16="http://schemas.microsoft.com/office/drawing/2014/main" id="{BD72A723-A9B6-4755-BEC3-035F7F38DBDB}"/>
              </a:ext>
            </a:extLst>
          </p:cNvPr>
          <p:cNvSpPr>
            <a:spLocks xmlns:a="http://schemas.openxmlformats.org/drawingml/2006/main" noGrp="1"/>
          </p:cNvSpPr>
          <p:nvPr/>
        </p:nvSpPr>
        <p:spPr>
          <a:xfrm xmlns:a="http://schemas.openxmlformats.org/drawingml/2006/main">
            <a:off x="73850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2C7A4B"/>
                </a:solidFill>
                <a:latin typeface="IBM Plex Mono"/>
                <a:ea typeface="IBM Plex Mono"/>
                <a:cs typeface="IBM Plex Mono"/>
              </a:rPr>
              <a:t>04</a:t>
            </a:r>
            <a:endParaRPr sz="2200"/>
          </a:p>
        </p:txBody>
      </p:sp>
      <p:sp>
        <p:nvSpPr>
          <p:cNvPr id="17" name="Text 15">
            <a:extLst xmlns:a="http://schemas.openxmlformats.org/drawingml/2006/main">
              <a:ext uri="{FF2B5EF4-FFF2-40B4-BE49-F238E27FC236}">
                <a16:creationId xmlns:a16="http://schemas.microsoft.com/office/drawing/2014/main" id="{BE06F8A1-6995-47A6-985D-A77C8B206CA1}"/>
              </a:ext>
            </a:extLst>
          </p:cNvPr>
          <p:cNvSpPr>
            <a:spLocks xmlns:a="http://schemas.openxmlformats.org/drawingml/2006/main" noGrp="1"/>
          </p:cNvSpPr>
          <p:nvPr/>
        </p:nvSpPr>
        <p:spPr>
          <a:xfrm xmlns:a="http://schemas.openxmlformats.org/drawingml/2006/main">
            <a:off x="7385050" y="2693491"/>
            <a:ext cx="1739900"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Покренути coverage и анализирати једну ризичну грану.</a:t>
            </a:r>
            <a:endParaRPr sz="1300"/>
          </a:p>
        </p:txBody>
      </p:sp>
      <p:sp>
        <p:nvSpPr>
          <p:cNvPr id="18" name="Shape 16">
            <a:extLst xmlns:a="http://schemas.openxmlformats.org/drawingml/2006/main">
              <a:ext uri="{FF2B5EF4-FFF2-40B4-BE49-F238E27FC236}">
                <a16:creationId xmlns:a16="http://schemas.microsoft.com/office/drawing/2014/main" id="{EC1E6202-894A-4287-B37A-C860AFA116D2}"/>
              </a:ext>
            </a:extLst>
          </p:cNvPr>
          <p:cNvSpPr>
            <a:spLocks xmlns:a="http://schemas.openxmlformats.org/drawingml/2006/main" noGrp="1"/>
          </p:cNvSpPr>
          <p:nvPr/>
        </p:nvSpPr>
        <p:spPr>
          <a:xfrm xmlns:a="http://schemas.openxmlformats.org/drawingml/2006/main">
            <a:off x="9350375" y="2129036"/>
            <a:ext cx="2025650" cy="1657052"/>
          </a:xfrm>
          <a:prstGeom xmlns:a="http://schemas.openxmlformats.org/drawingml/2006/main" prst="roundRect">
            <a:avLst>
              <a:gd name="adj" fmla="val 5940"/>
            </a:avLst>
          </a:prstGeom>
          <a:solidFill xmlns:a="http://schemas.openxmlformats.org/drawingml/2006/main">
            <a:srgbClr val="FCFCFB"/>
          </a:solidFill>
          <a:ln xmlns:a="http://schemas.openxmlformats.org/drawingml/2006/main" w="6350">
            <a:solidFill>
              <a:srgbClr val="D3DAE1"/>
            </a:solidFill>
            <a:prstDash val="solid"/>
          </a:ln>
        </p:spPr>
      </p:sp>
      <p:sp>
        <p:nvSpPr>
          <p:cNvPr id="19" name="Text 17">
            <a:extLst xmlns:a="http://schemas.openxmlformats.org/drawingml/2006/main">
              <a:ext uri="{FF2B5EF4-FFF2-40B4-BE49-F238E27FC236}">
                <a16:creationId xmlns:a16="http://schemas.microsoft.com/office/drawing/2014/main" id="{15849E31-956B-4913-9309-169D1539BAE5}"/>
              </a:ext>
            </a:extLst>
          </p:cNvPr>
          <p:cNvSpPr>
            <a:spLocks xmlns:a="http://schemas.openxmlformats.org/drawingml/2006/main" noGrp="1"/>
          </p:cNvSpPr>
          <p:nvPr/>
        </p:nvSpPr>
        <p:spPr>
          <a:xfrm xmlns:a="http://schemas.openxmlformats.org/drawingml/2006/main">
            <a:off x="95186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A8520A"/>
                </a:solidFill>
                <a:latin typeface="IBM Plex Mono"/>
                <a:ea typeface="IBM Plex Mono"/>
                <a:cs typeface="IBM Plex Mono"/>
              </a:rPr>
              <a:t>05</a:t>
            </a:r>
            <a:endParaRPr sz="2200"/>
          </a:p>
        </p:txBody>
      </p:sp>
      <p:sp>
        <p:nvSpPr>
          <p:cNvPr id="20" name="Text 18">
            <a:extLst xmlns:a="http://schemas.openxmlformats.org/drawingml/2006/main">
              <a:ext uri="{FF2B5EF4-FFF2-40B4-BE49-F238E27FC236}">
                <a16:creationId xmlns:a16="http://schemas.microsoft.com/office/drawing/2014/main" id="{21EE4628-41ED-43E8-8721-28C20A78904F}"/>
              </a:ext>
            </a:extLst>
          </p:cNvPr>
          <p:cNvSpPr>
            <a:spLocks xmlns:a="http://schemas.openxmlformats.org/drawingml/2006/main" noGrp="1"/>
          </p:cNvSpPr>
          <p:nvPr/>
        </p:nvSpPr>
        <p:spPr>
          <a:xfrm xmlns:a="http://schemas.openxmlformats.org/drawingml/2006/main">
            <a:off x="9518650" y="2693491"/>
            <a:ext cx="1739900"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Означити стабилну верзију језгра када је спремна.</a:t>
            </a:r>
            <a:endParaRPr sz="1300"/>
          </a:p>
        </p:txBody>
      </p:sp>
      <p:sp>
        <p:nvSpPr>
          <p:cNvPr id="21" name="Shape 19">
            <a:extLst xmlns:a="http://schemas.openxmlformats.org/drawingml/2006/main">
              <a:ext uri="{FF2B5EF4-FFF2-40B4-BE49-F238E27FC236}">
                <a16:creationId xmlns:a16="http://schemas.microsoft.com/office/drawing/2014/main" id="{F271B5A1-3C07-4DA5-9AF4-6EBFBEF51028}"/>
              </a:ext>
            </a:extLst>
          </p:cNvPr>
          <p:cNvSpPr>
            <a:spLocks xmlns:a="http://schemas.openxmlformats.org/drawingml/2006/main" noGrp="1"/>
          </p:cNvSpPr>
          <p:nvPr/>
        </p:nvSpPr>
        <p:spPr>
          <a:xfrm xmlns:a="http://schemas.openxmlformats.org/drawingml/2006/main">
            <a:off x="812800" y="4017863"/>
            <a:ext cx="10566400" cy="451445"/>
          </a:xfrm>
          <a:prstGeom xmlns:a="http://schemas.openxmlformats.org/drawingml/2006/main" prst="roundRect">
            <a:avLst>
              <a:gd name="adj" fmla="val 19692"/>
            </a:avLst>
          </a:prstGeom>
          <a:solidFill xmlns:a="http://schemas.openxmlformats.org/drawingml/2006/main">
            <a:srgbClr val="E5ECE7"/>
          </a:solidFill>
        </p:spPr>
      </p:sp>
      <p:pic>
        <p:nvPicPr>
          <p:cNvPr id="22" name="Image 0">
            <a:extLst xmlns:a="http://schemas.openxmlformats.org/drawingml/2006/main">
              <a:ext uri="{FF2B5EF4-FFF2-40B4-BE49-F238E27FC236}">
                <a16:creationId xmlns:a16="http://schemas.microsoft.com/office/drawing/2014/main" id="{DF9DC2E5-CE1A-4EDF-BD8E-2261FDB5C205}"/>
              </a:ext>
            </a:extLst>
          </p:cNvPr>
          <p:cNvPicPr>
            <a:picLocks xmlns:a="http://schemas.openxmlformats.org/drawingml/2006/main" noChangeAspect="1"/>
          </p:cNvPicPr>
          <p:nvPr/>
        </p:nvPicPr>
        <p:blipFill>
          <a:blip xmlns:r="http://schemas.openxmlformats.org/officeDocument/2006/relationships" xmlns:a="http://schemas.openxmlformats.org/drawingml/2006/main" r:embed="R2eb528ae56134488"/>
          <a:srcRect xmlns:a="http://schemas.openxmlformats.org/drawingml/2006/main" l="0" t="0" r="0" b="0"/>
          <a:stretch xmlns:a="http://schemas.openxmlformats.org/drawingml/2006/main"/>
        </p:blipFill>
        <p:spPr>
          <a:xfrm xmlns:a="http://schemas.openxmlformats.org/drawingml/2006/main">
            <a:off x="990600" y="4141986"/>
            <a:ext cx="203200" cy="203200"/>
          </a:xfrm>
          <a:prstGeom xmlns:a="http://schemas.openxmlformats.org/drawingml/2006/main" prst="rect">
            <a:avLst/>
          </a:prstGeom>
        </p:spPr>
      </p:pic>
      <p:sp>
        <p:nvSpPr>
          <p:cNvPr id="23" name="Text 20">
            <a:extLst xmlns:a="http://schemas.openxmlformats.org/drawingml/2006/main">
              <a:ext uri="{FF2B5EF4-FFF2-40B4-BE49-F238E27FC236}">
                <a16:creationId xmlns:a16="http://schemas.microsoft.com/office/drawing/2014/main" id="{C49E5C2F-5E35-4660-B01C-49A67C3FE52E}"/>
              </a:ext>
            </a:extLst>
          </p:cNvPr>
          <p:cNvSpPr>
            <a:spLocks xmlns:a="http://schemas.openxmlformats.org/drawingml/2006/main" noGrp="1"/>
          </p:cNvSpPr>
          <p:nvPr/>
        </p:nvSpPr>
        <p:spPr>
          <a:xfrm xmlns:a="http://schemas.openxmlformats.org/drawingml/2006/main">
            <a:off x="1320800" y="4132163"/>
            <a:ext cx="10177018" cy="24824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55"/>
              </a:lnSpc>
              <a:buNone/>
            </a:pPr>
            <a:r>
              <a:rPr sz="1300">
                <a:solidFill>
                  <a:srgbClr val="13202D"/>
                </a:solidFill>
                <a:latin typeface="IBM Plex Sans"/>
                <a:ea typeface="IBM Plex Sans"/>
                <a:cs typeface="IBM Plex Sans"/>
              </a:rPr>
              <a:t>Стабилна верзија се означава tag-ом manual-core-baseline за </a:t>
            </a:r>
            <a:r>
              <a:rPr sz="1300">
                <a:solidFill>
                  <a:srgbClr val="13202D"/>
                </a:solidFill>
                <a:latin typeface="IBM Plex Sans"/>
                <a:ea typeface="IBM Plex Sans"/>
                <a:cs typeface="IBM Plex Sans"/>
              </a:rPr>
              <a:t>КТ1</a:t>
            </a:r>
            <a:r>
              <a:rPr sz="1300">
                <a:solidFill>
                  <a:srgbClr val="13202D"/>
                </a:solidFill>
                <a:latin typeface="IBM Plex Sans"/>
                <a:ea typeface="IBM Plex Sans"/>
                <a:cs typeface="IBM Plex Sans"/>
              </a:rPr>
              <a:t>.</a:t>
            </a:r>
            <a:endParaRPr sz="1300"/>
          </a:p>
        </p:txBody>
      </p:sp>
      <p:sp>
        <p:nvSpPr>
          <p:cNvPr id="24" name="Shape 21">
            <a:extLst xmlns:a="http://schemas.openxmlformats.org/drawingml/2006/main">
              <a:ext uri="{FF2B5EF4-FFF2-40B4-BE49-F238E27FC236}">
                <a16:creationId xmlns:a16="http://schemas.microsoft.com/office/drawing/2014/main" id="{456D7253-37FD-4BDF-A984-727F16650ABF}"/>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25" name="Text 22">
            <a:extLst xmlns:a="http://schemas.openxmlformats.org/drawingml/2006/main">
              <a:ext uri="{FF2B5EF4-FFF2-40B4-BE49-F238E27FC236}">
                <a16:creationId xmlns:a16="http://schemas.microsoft.com/office/drawing/2014/main" id="{40B5FC1A-E033-443A-9D7B-3E52C65A2A98}"/>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26" name="Text 23">
            <a:extLst xmlns:a="http://schemas.openxmlformats.org/drawingml/2006/main">
              <a:ext uri="{FF2B5EF4-FFF2-40B4-BE49-F238E27FC236}">
                <a16:creationId xmlns:a16="http://schemas.microsoft.com/office/drawing/2014/main" id="{DEE409DD-4CE1-414C-8003-A0D6538F3FEC}"/>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28</a:t>
            </a:r>
            <a:endParaRPr sz="1200"/>
          </a:p>
        </p:txBody>
      </p:sp>
    </p:spTree>
    <p:extLst>
      <p:ext uri="{BB962C8B-B14F-4D97-AF65-F5344CB8AC3E}">
        <p14:creationId xmlns:p14="http://schemas.microsoft.com/office/powerpoint/2010/main" val="832964361"/>
      </p:ext>
    </p:extLst>
  </p:cSld>
</p:sld>
</file>

<file path=ppt/theme/theme1.xml><?xml version="1.0" encoding="utf-8"?>
<a:theme xmlns:a="http://schemas.openxmlformats.org/drawingml/2006/main" name="Тестабилни дизајн, NUnit, Moq и покривеност кода">
  <a:themeElements>
    <a:clrScheme name="Тестабилни дизајн, NUnit, Moq и покривеност кода">
      <a:dk1>
        <a:srgbClr val="13202D"/>
      </a:dk1>
      <a:lt1>
        <a:srgbClr val="F6F7F5"/>
      </a:lt1>
      <a:dk2>
        <a:srgbClr val="4C565F"/>
      </a:dk2>
      <a:lt2>
        <a:srgbClr val="DFE2E1"/>
      </a:lt2>
      <a:accent1>
        <a:srgbClr val="2C7A4B"/>
      </a:accent1>
      <a:accent2>
        <a:srgbClr val="A8520A"/>
      </a:accent2>
      <a:accent3>
        <a:srgbClr val="E07B1F"/>
      </a:accent3>
      <a:accent4>
        <a:srgbClr val="44505D"/>
      </a:accent4>
      <a:accent5>
        <a:srgbClr val="5E6975"/>
      </a:accent5>
      <a:accent6>
        <a:srgbClr val="8C99A6"/>
      </a:accent6>
      <a:hlink>
        <a:srgbClr val="0563C1"/>
      </a:hlink>
      <a:folHlink>
        <a:srgbClr val="954F72"/>
      </a:folHlink>
    </a:clrScheme>
    <a:fontScheme name="Тестабилни дизајн, NUnit, Moq и покривеност кода">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Тестабилни дизајн, NUnit, Moq и покривеност кода</dc:title>
  <dc:subject/>
  <dc:creator/>
  <cp:lastModifiedBy/>
  <cp:revision>1</cp:revision>
  <dcterms:created xsi:type="dcterms:W3CDTF">2026-10-09T16:53:58Z</dcterms:created>
  <dcterms:modified xsi:type="dcterms:W3CDTF">2026-10-09T16:53:58Z</dcterms:modified>
</cp:coreProperties>
</file>