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ове вежбе је дизајн који локализује измене. SOLID принципи помажу да класе имају јасне одговорности и мале уговоре, а Clean Architecture одређује смер зависности између слојева. Све појмове повезујемо са примером Logger–Blogger.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Презентација има пет делова. Прво постављамо основе: одакле потичу принципи и шта је потребно да би се применили. Затим редом пролазимо кроз SRP и OCP, па кроз LSP, ISP и DIP. Четврти део повезује принципе са Clean Architecture, а последњи део је посвећен примени на конкретном коду и припреми за наредну вежбу.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је скраћеница пет принципа објектно оријентисаног дизајна. Single Responsibility тражи да класа има један кохерентан разлог за промену. Open/Closed тражи да се понашање проширује без измене стабилног тока. Liskov Substitution тражи да подтип може да замени базни тип без нарушавања очекивања. Interface Segregation тражи мале уговоре према стварној потреби клијента, а Dependency Inversion тражи да политика зависи од апстракција, а не од техничких детаља. Управо последњи принцип води нас ка Clean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део поставља основу. Прво кратко историјски, одакле потичу принципи, затим појмови без којих их не можемо применити, и на крају први конкретан пример: уговори пословног језгра у апликацији Logger–Blogger.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Принципи нису настали одједном. Принцип заменљивости потиче од Barbare Liskov из 1987. године, а принцип отворености и затворености од Bertranda Meyera из 1988. Robert C. Martin их је 2000. године обједињено описао, а скраћеницу SOLID је нешто касније, око 2004. године, увео Michael Feathers. Clean Architecture Martin описује 2012. године, а детаљно у књизи из 2017. Hexagonal и Onion архитектура су сродни приступи са истим основним правилом: зависности иду ка пословном језгру.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 принципа треба да су нам јасни основни појмови објектно оријентисаног програмирања. Interface описује очекивано понашање, енкапсулација чува инваријанте објекта, а полиморфизам омогућава да једну имплементацију заменимо другом. Апстрактна класа има смисла само када постоји стварна заједничка основа. Када се ови појмови правилно користе, код описује намеру, одговорност је видљива, промене остају локализоване, а тестови лакше прате понашање.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су два уговора из примера Logger–Blogger. IZapisiServis описује шта систем уме да уради са записима: да објави запис и да врати преглед записа. IBazaPodataka описује шта пословном језгру треба од складишта: приступ табелама и чување промена. Ни један од ова два уговора не помиње конкретну базу, датотеку или кориснички интерфејс. Заменљивост зато долази из јасних уговора, а не из тога како смо назвали пројекте или слојеве.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обрађује прва два принципа. SRP говори о томе колико разлога за промену класа сме да има, а OCP о томе где сместити понашање које се мења, тако да стабилан део кода остане нетакнут.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Чест погрешан закључак је да SRP значи једна метода по класи или мали број линија. Класа може имати више метода, све док припадају истој одговорности. Прави проблем настаје када исту класу мењамо из више међусобно независних разлога, на пример због промене пословног правила, формата извештаја и начина чувања. Martin у књизи Clean Architecture принцип формулише преко актера: модул треба да одговара једној групи корисника која од њега тражи промене.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ZapisiServis има једну одговорност: да оркестрира објаву записа. Он не зна како се запис чува нити где се порука логује, већ само позива сараднике преко уговора IBazaPodataka и ILogger, које добија кроз конструктор. Конструктор и метода PregledZapisa су на слајду изостављени ради прегледности. Ако се промени начин логовања, мења се имплементација ILogger-а, а пословни ток објаве остаје исти.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OCP не значи да код никада не сме да се мења. Значи да за познату и оправдану варијацију понашања не треба сваки пут отварати стабилан део система. Типичан сигнал је switch по типу који расте са сваким новим захтевом. Тада променљиво понашање смештамо иза уговора, а нову варијанту додајемо као нову имплементацију. Апстракцију не уводимо унапред, за варијације које не постоје.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илустративан пример, није део основног кода апликације. Лево је метода која бира формат извоза кроз switch. Сваки нови формат захтева измену те исте методе, а тиме и поновно тестирање свега што од ње зависи. Десно је исто понашање смештено иза уговора IIzvozZapisa. Нови формат постаје нова класа која имплементира уговор, а код који користи извоз остаје исти. Ово има смисла тек када варијација стварно постоји, што је тема типичних грешака на крају вежбе.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самој апликацији OCP се види код складишта. ZapisiServis зна само за уговор IBazaPodataka. Поред JSON базе можемо додати in-memory имплементацију, која је корисна у тестовима, или било који други provider, а да сервис не изменимо ни у једној линији. Проширење се дешава додавањем нове класе, не изменом постојеће.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Трећи део обрађује преостала три принципа. Заједничко им је то што се тичу граница: да ли подтип поштује уговор, да ли је уговор одговарајуће величине и у ком смеру иду зависности између политике и техничких детаља.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Ова три принципа најлакше је препознати по проблему који откривају. LSP открива подтип који мења очекивање, па уговор треба редизајнирати. ISP открива клијента који зависи од операција које не користи, па улоге треба поделити. DIP открива случај употребе који сам креира SQL упит или HTTP позив, па он треба да зависи од уговора, а не од детаља.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Формално, Barbara Liskov и Jeannette Wing принцип изражавају овако: ако својство φ важи за сваки објекат типа T, онда мора да важи и за сваки објекат подтипа S. Практично, код који ради са уговором не сме да примети с којом имплементацијом ради. У примеру, архивска база имплементира IBazaPodataka, али на чување одговара изузетком. ZapisiServis очекује true или false и пада на објави. Решење није још један if у сервису, већ редизајн уговора: архива треба да имплементира посебан уговор само за читање. Пример је илустративан и није део основног кода апликације.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Замислимо да уговор за рад са записима порасте и, поред објаве и прегледа, добије извоз у JSON и брисање свих записа. Приказ листе тада зависи од операција које никада не позива, а свака промена извоза или брисања потенцијално га дотиче. ISP предлаже поделу по улогама: сваки клијент добија мали уговор са операцијама које стварно користи. Једна класа и даље може да имплементира више таквих уговора. Пример је илустративан, проширење уговора није део основног кода апликације.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Лево је стање без инверзије: сервис сам креира JSON базу, па стрелица зависности иде из апликационог слоја надоле, ка инфраструктури. Свака промена базе тада дотиче сервис. Десно је стање после инверзије. Сервис зависи само од уговора IBazaPodataka, а JSON база имплементира тај уговор. Стрелица из инфраструктуре сада показује нагоре, ка уговору. Зато се принцип зове инверзија зависности: технички детаљ зависи од политике, а не обрнуто.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Четврти део подиже принципе на ниво целог система. Clean Architecture дели систем на слојеве и поставља једно правило: изворни код сме да зависи само од слојева ближих пословном језгру. Затим пратимо један захтев кроз слојеве и видимо где се систем саставља.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Основно правило Clean Architecture је правило зависности: изворни код сме да зависи само од слојева ближих пословном језгру. Presentation зависи од Application, а Application од Domain-а. Infrastructure такође показује ка унутра: зависи од Domain-а и имплементира портове, односно уговоре, из апликационог слоја. Из Domain-а не излази ниједна стрелица. Presentation у composition root-у познаје и Infrastructure, јер ту бира конкретне класе, што видимо на слајду 23. Тестови нису део овог ланца, они зависе од слоја који проверавају. Називи пројеката у вашем решењу могу бити другачији, али смер зависности мора да остане исти и проверљив, на пример кроз референце између пројеката.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Сваки слој има јасно одређену одговорност. Domain садржи ентитете, инваријанте и правила која се најређе мењају. Application садржи случајеве употребе и портове, односно уговоре према спољном свету. Infrastructure садржи конкретне адаптере за базу, датотеке и спољне сервисе. Presentation преводи захтев корисника у позив одговарајућег случаја употребе. Архитектуру не оцењујемо по броју слојева, већ по томе колико су одговорности јасне и да ли зависности иду у добром смеру.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Пратимо једну објаву записа. Presentation, у примеру AppContainer, чита унос корисника и позива уговор IZapisiServis. ZapisiServis у апликационом слоју ради са доменским ентитетом ZapisNaSajtu и позива складиште преко уговора IBazaPodataka. Тек иза уговора налази се JsonBazaPodataka, која промене чува у датотеци. Важно је разликовати ток позива и смер зависности: позив стиже до инфраструктуре, али изворни код инфраструктуре зависи од уговора, а не уговор од ње.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Ако сервиси не креирају своје зависности, неко мора да их креира. То место зовемо composition root и оно се налази на самом улазу у апликацију, у Presentation пројекту. Само овде пише new JsonBazaPodataka и new FileLogger. Сервис добија готове објекте кроз конструктор и види их само преко уговора. Ако сутра пређемо на другу базу, мења се једна линија овде, а пословни код остаје исти. У већим апликацијама ову улогу обично преузима DI контејнер.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Logger–Blogger користимо као студију случаја јер је довољно мала да се цела сагледа, а довољно богата да покаже све три целине. Пословно језгро чине ентитет ZapisNaSajtu, уговори и сервис који оркестрира објаву. Адаптери су конкретне имплементације: JSON и in-memory база, логовање у датотеку и конзолни улаз и излаз. Composition root је место где се све то повезује. На вежби анализирамо одговорности, уговоре и зависности управо на овом коду.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Последњи део је практичан. Видећемо по којим сигналима препознајемо да је рефакторисање потребно, која питања постављамо у прегледу кода и како изгледа задатак на вежби. На крају пролазимо кроз типичне грешке и припрему за наредну вежбу.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Рефакторисање није циљ само по себи. Раздвајамо класу онда када то смањује спрегу и локализује будуће измене. Лоши сигнали су класа која истовремено мења податке, шаље email и логује, метода са више неповезаних праваца, тест који мора да зна приватне детаље и ново понашање које тражи измену стабилног центра. Добри сигнали су обрнути: одговорност се описује једном реченицом, сарадници су уговори, промена погађа очекивано место, а тестови проверавају понашање, а не имплементацију.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прегледу кода принципе не наводимо као правила која неко крши, већ их користимо као питања. Сваки принцип даје по једно питање: да ли модул има један разлог за промену, да ли нова варијанта мења стабилан ток, да ли имплементација поштује уговор, да ли је интерфејс шири него што клијенту треба и да ли политика зависи од техничког детаља. Одговор отвара разговор о последицама одлуке.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Задатак на вежби има пет корака. Прво пронађите класу која има најмање две неповезане одговорности и опишите њену тренутну улогу једном реченицом. Ако то не успева без везника, то је већ сигнал. Затим предложите раздвајање и нове границе, образложите које будуће промене тиме постају локализоване и на крају проверите да ли је смер зависности после измене и даље исправан.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Ако треба да изаберемо један критеријум по коме проверавамо да ли смо принципе добро применили, то је овај: када се промени једно пословно правило или један технички детаљ, мења се мали и очекиван део система. Супротна ситуација, када једна промена тера измене кроз много класа, у литератури се назива shotgun surgery и јасан је знак да су одговорности погрешно распоређене.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Принципи се лако примењују механички. Прва грешка је превише интерфејса, апстракција уведених за варијације које не постоје. Друга је погрешно наслеђивање, где подтип не поштује уговор базног типа. Трећа је анемичан домен, појам који је описао Martin Fowler: ентитети имају само податке, а сва правила су у сервисима. Четврта је радни оквир у језгру, када Domain зависи од инфраструктуре, на пример од ORM атрибута или HTTP типова.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Ако из ове вежбе треба запамтити једну реченицу, то је ова: добар дизајн није онај са највише слојева, већ онај у коме можемо јасно да објаснимо ко за шта одговара, у ком смеру иду зависности и шта ће се десити када нешто променимо. SOLID и Clean Architecture су алати за то, а не циљ. Наредна вежба наставља питањем где тачно припада пословна логика, у доменски или у апликациони слој.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наредну вежбу изаберите један случај употребе из домена свог пројекта и означите које одговорности припадају доменском, апликационом и инфраструктурном слоју. Пронађите једну класу са нејасном одговорношћу, предложите рефакторисање са образложењем и донесите пример спреман за преглед кода. Питања са слајда 27 можете користити као контролну листу.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2.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Clean Architecture: концентрични слојеви са пословним језгром у средини, портови у апликационом прстену, адаптери на спољном прстену и стрелице зависности усмерене ка језгру">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B0213C"/>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B0213C"/>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25214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SOLID принципи и Clean Architecture</a:t>
            </a:r>
            <a:endParaRPr lang="en-US" sz="4600" dirty="0"/>
          </a:p>
        </p:txBody>
      </p:sp>
      <p:sp>
        <p:nvSpPr>
          <p:cNvPr id="5" name="Text 2"/>
          <p:cNvSpPr/>
          <p:nvPr/>
        </p:nvSpPr>
        <p:spPr>
          <a:xfrm>
            <a:off x="812800" y="285234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Примена SOLID принципа и Clean Architecture на границе и зависности система.</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Садржај презентације</a:t>
            </a:r>
            <a:endParaRPr lang="en-US" sz="3000" dirty="0"/>
          </a:p>
        </p:txBody>
      </p:sp>
      <p:sp>
        <p:nvSpPr>
          <p:cNvPr id="5" name="Shape 3"/>
          <p:cNvSpPr/>
          <p:nvPr/>
        </p:nvSpPr>
        <p:spPr>
          <a:xfrm>
            <a:off x="815975" y="1676995"/>
            <a:ext cx="2005310" cy="2543572"/>
          </a:xfrm>
          <a:prstGeom prst="roundRect">
            <a:avLst>
              <a:gd name="adj" fmla="val 4908"/>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B0213C"/>
          </a:solidFill>
          <a:ln/>
        </p:spPr>
      </p:sp>
      <p:sp>
        <p:nvSpPr>
          <p:cNvPr id="7" name="Text 5"/>
          <p:cNvSpPr/>
          <p:nvPr/>
        </p:nvSpPr>
        <p:spPr>
          <a:xfrm>
            <a:off x="99695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B0213C"/>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Основе и уговори</a:t>
            </a:r>
            <a:endParaRPr lang="en-US" sz="1400" dirty="0"/>
          </a:p>
        </p:txBody>
      </p:sp>
      <p:sp>
        <p:nvSpPr>
          <p:cNvPr id="9" name="Text 7"/>
          <p:cNvSpPr/>
          <p:nvPr/>
        </p:nvSpPr>
        <p:spPr>
          <a:xfrm>
            <a:off x="996950" y="2795191"/>
            <a:ext cx="1694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Порекло принципа, предуслови и уговори пословног језгра.</a:t>
            </a:r>
            <a:endParaRPr lang="en-US" sz="1200" dirty="0"/>
          </a:p>
        </p:txBody>
      </p:sp>
      <p:sp>
        <p:nvSpPr>
          <p:cNvPr id="10" name="Text 8"/>
          <p:cNvSpPr/>
          <p:nvPr/>
        </p:nvSpPr>
        <p:spPr>
          <a:xfrm>
            <a:off x="99695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04–07</a:t>
            </a:r>
            <a:endParaRPr lang="en-US" sz="1200" dirty="0"/>
          </a:p>
        </p:txBody>
      </p:sp>
      <p:sp>
        <p:nvSpPr>
          <p:cNvPr id="11" name="Shape 9"/>
          <p:cNvSpPr/>
          <p:nvPr/>
        </p:nvSpPr>
        <p:spPr>
          <a:xfrm>
            <a:off x="2954635" y="1676995"/>
            <a:ext cx="2005409" cy="2543572"/>
          </a:xfrm>
          <a:prstGeom prst="roundRect">
            <a:avLst>
              <a:gd name="adj" fmla="val 4908"/>
            </a:avLst>
          </a:prstGeom>
          <a:solidFill>
            <a:srgbClr val="FCFCFB"/>
          </a:solidFill>
          <a:ln w="6350">
            <a:solidFill>
              <a:srgbClr val="D3DAE1"/>
            </a:solidFill>
            <a:prstDash val="solid"/>
          </a:ln>
        </p:spPr>
      </p:sp>
      <p:sp>
        <p:nvSpPr>
          <p:cNvPr id="12" name="Shape 10"/>
          <p:cNvSpPr/>
          <p:nvPr/>
        </p:nvSpPr>
        <p:spPr>
          <a:xfrm>
            <a:off x="3135610" y="1857970"/>
            <a:ext cx="355600" cy="38100"/>
          </a:xfrm>
          <a:prstGeom prst="roundRect">
            <a:avLst>
              <a:gd name="adj" fmla="val 50000"/>
            </a:avLst>
          </a:prstGeom>
          <a:solidFill>
            <a:srgbClr val="B0213C"/>
          </a:solidFill>
          <a:ln/>
        </p:spPr>
      </p:sp>
      <p:sp>
        <p:nvSpPr>
          <p:cNvPr id="13" name="Text 11"/>
          <p:cNvSpPr/>
          <p:nvPr/>
        </p:nvSpPr>
        <p:spPr>
          <a:xfrm>
            <a:off x="3135610" y="1984970"/>
            <a:ext cx="1694259"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B0213C"/>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135610" y="2492970"/>
            <a:ext cx="16942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SRP и OCP</a:t>
            </a:r>
            <a:endParaRPr lang="en-US" sz="1400" dirty="0"/>
          </a:p>
        </p:txBody>
      </p:sp>
      <p:sp>
        <p:nvSpPr>
          <p:cNvPr id="15" name="Text 13"/>
          <p:cNvSpPr/>
          <p:nvPr/>
        </p:nvSpPr>
        <p:spPr>
          <a:xfrm>
            <a:off x="3135610" y="2795191"/>
            <a:ext cx="16942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Један разлог за промену и проширење без измене стабилног тока.</a:t>
            </a:r>
            <a:endParaRPr lang="en-US" sz="1200" dirty="0"/>
          </a:p>
        </p:txBody>
      </p:sp>
      <p:sp>
        <p:nvSpPr>
          <p:cNvPr id="16" name="Text 14"/>
          <p:cNvSpPr/>
          <p:nvPr/>
        </p:nvSpPr>
        <p:spPr>
          <a:xfrm>
            <a:off x="3135610" y="3826272"/>
            <a:ext cx="1694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08–13</a:t>
            </a:r>
            <a:endParaRPr lang="en-US" sz="1200" dirty="0"/>
          </a:p>
        </p:txBody>
      </p:sp>
      <p:sp>
        <p:nvSpPr>
          <p:cNvPr id="17" name="Shape 15"/>
          <p:cNvSpPr/>
          <p:nvPr/>
        </p:nvSpPr>
        <p:spPr>
          <a:xfrm>
            <a:off x="5093395" y="1676995"/>
            <a:ext cx="2005310" cy="2543572"/>
          </a:xfrm>
          <a:prstGeom prst="roundRect">
            <a:avLst>
              <a:gd name="adj" fmla="val 4908"/>
            </a:avLst>
          </a:prstGeom>
          <a:solidFill>
            <a:srgbClr val="FCFCFB"/>
          </a:solidFill>
          <a:ln w="6350">
            <a:solidFill>
              <a:srgbClr val="D3DAE1"/>
            </a:solidFill>
            <a:prstDash val="solid"/>
          </a:ln>
        </p:spPr>
      </p:sp>
      <p:sp>
        <p:nvSpPr>
          <p:cNvPr id="18" name="Shape 16"/>
          <p:cNvSpPr/>
          <p:nvPr/>
        </p:nvSpPr>
        <p:spPr>
          <a:xfrm>
            <a:off x="5274370" y="1857970"/>
            <a:ext cx="355600" cy="38100"/>
          </a:xfrm>
          <a:prstGeom prst="roundRect">
            <a:avLst>
              <a:gd name="adj" fmla="val 50000"/>
            </a:avLst>
          </a:prstGeom>
          <a:solidFill>
            <a:srgbClr val="B0213C"/>
          </a:solidFill>
          <a:ln/>
        </p:spPr>
      </p:sp>
      <p:sp>
        <p:nvSpPr>
          <p:cNvPr id="19" name="Text 17"/>
          <p:cNvSpPr/>
          <p:nvPr/>
        </p:nvSpPr>
        <p:spPr>
          <a:xfrm>
            <a:off x="527437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B0213C"/>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527437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LSP, ISP и DIP</a:t>
            </a:r>
            <a:endParaRPr lang="en-US" sz="1400" dirty="0"/>
          </a:p>
        </p:txBody>
      </p:sp>
      <p:sp>
        <p:nvSpPr>
          <p:cNvPr id="21" name="Text 19"/>
          <p:cNvSpPr/>
          <p:nvPr/>
        </p:nvSpPr>
        <p:spPr>
          <a:xfrm>
            <a:off x="5274370" y="2795191"/>
            <a:ext cx="1694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Заменљивост, мали уговори и смер зависности.</a:t>
            </a:r>
            <a:endParaRPr lang="en-US" sz="1200" dirty="0"/>
          </a:p>
        </p:txBody>
      </p:sp>
      <p:sp>
        <p:nvSpPr>
          <p:cNvPr id="22" name="Text 20"/>
          <p:cNvSpPr/>
          <p:nvPr/>
        </p:nvSpPr>
        <p:spPr>
          <a:xfrm>
            <a:off x="527437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14–18</a:t>
            </a:r>
            <a:endParaRPr lang="en-US" sz="1200" dirty="0"/>
          </a:p>
        </p:txBody>
      </p:sp>
      <p:sp>
        <p:nvSpPr>
          <p:cNvPr id="23" name="Shape 21"/>
          <p:cNvSpPr/>
          <p:nvPr/>
        </p:nvSpPr>
        <p:spPr>
          <a:xfrm>
            <a:off x="7232055" y="1676995"/>
            <a:ext cx="2005310" cy="2543572"/>
          </a:xfrm>
          <a:prstGeom prst="roundRect">
            <a:avLst>
              <a:gd name="adj" fmla="val 4908"/>
            </a:avLst>
          </a:prstGeom>
          <a:solidFill>
            <a:srgbClr val="FCFCFB"/>
          </a:solidFill>
          <a:ln w="6350">
            <a:solidFill>
              <a:srgbClr val="D3DAE1"/>
            </a:solidFill>
            <a:prstDash val="solid"/>
          </a:ln>
        </p:spPr>
      </p:sp>
      <p:sp>
        <p:nvSpPr>
          <p:cNvPr id="24" name="Shape 22"/>
          <p:cNvSpPr/>
          <p:nvPr/>
        </p:nvSpPr>
        <p:spPr>
          <a:xfrm>
            <a:off x="7413030" y="1857970"/>
            <a:ext cx="355600" cy="38100"/>
          </a:xfrm>
          <a:prstGeom prst="roundRect">
            <a:avLst>
              <a:gd name="adj" fmla="val 50000"/>
            </a:avLst>
          </a:prstGeom>
          <a:solidFill>
            <a:srgbClr val="B0213C"/>
          </a:solidFill>
          <a:ln/>
        </p:spPr>
      </p:sp>
      <p:sp>
        <p:nvSpPr>
          <p:cNvPr id="25" name="Text 23"/>
          <p:cNvSpPr/>
          <p:nvPr/>
        </p:nvSpPr>
        <p:spPr>
          <a:xfrm>
            <a:off x="741303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B0213C"/>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7413030" y="2492970"/>
            <a:ext cx="1694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Clean Architecture</a:t>
            </a:r>
            <a:endParaRPr lang="en-US" sz="1400" dirty="0"/>
          </a:p>
        </p:txBody>
      </p:sp>
      <p:sp>
        <p:nvSpPr>
          <p:cNvPr id="27" name="Text 25"/>
          <p:cNvSpPr/>
          <p:nvPr/>
        </p:nvSpPr>
        <p:spPr>
          <a:xfrm>
            <a:off x="7413030" y="2795191"/>
            <a:ext cx="1694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Смер зависности, слојеви, ток захтева и composition root.</a:t>
            </a:r>
            <a:endParaRPr lang="en-US" sz="1200" dirty="0"/>
          </a:p>
        </p:txBody>
      </p:sp>
      <p:sp>
        <p:nvSpPr>
          <p:cNvPr id="28" name="Text 26"/>
          <p:cNvSpPr/>
          <p:nvPr/>
        </p:nvSpPr>
        <p:spPr>
          <a:xfrm>
            <a:off x="741303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19–24</a:t>
            </a:r>
            <a:endParaRPr lang="en-US" sz="1200" dirty="0"/>
          </a:p>
        </p:txBody>
      </p:sp>
      <p:sp>
        <p:nvSpPr>
          <p:cNvPr id="29" name="Shape 27"/>
          <p:cNvSpPr/>
          <p:nvPr/>
        </p:nvSpPr>
        <p:spPr>
          <a:xfrm>
            <a:off x="9370715" y="1676995"/>
            <a:ext cx="2005310" cy="2543572"/>
          </a:xfrm>
          <a:prstGeom prst="roundRect">
            <a:avLst>
              <a:gd name="adj" fmla="val 4908"/>
            </a:avLst>
          </a:prstGeom>
          <a:solidFill>
            <a:srgbClr val="FCFCFB"/>
          </a:solidFill>
          <a:ln w="6350">
            <a:solidFill>
              <a:srgbClr val="D3DAE1"/>
            </a:solidFill>
            <a:prstDash val="solid"/>
          </a:ln>
        </p:spPr>
      </p:sp>
      <p:sp>
        <p:nvSpPr>
          <p:cNvPr id="30" name="Shape 28"/>
          <p:cNvSpPr/>
          <p:nvPr/>
        </p:nvSpPr>
        <p:spPr>
          <a:xfrm>
            <a:off x="9551690" y="1857970"/>
            <a:ext cx="355600" cy="38100"/>
          </a:xfrm>
          <a:prstGeom prst="roundRect">
            <a:avLst>
              <a:gd name="adj" fmla="val 50000"/>
            </a:avLst>
          </a:prstGeom>
          <a:solidFill>
            <a:srgbClr val="E07B1F"/>
          </a:solidFill>
          <a:ln/>
        </p:spPr>
      </p:sp>
      <p:sp>
        <p:nvSpPr>
          <p:cNvPr id="31" name="Text 29"/>
          <p:cNvSpPr/>
          <p:nvPr/>
        </p:nvSpPr>
        <p:spPr>
          <a:xfrm>
            <a:off x="9551690" y="1984970"/>
            <a:ext cx="1694160"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B0213C"/>
                </a:solidFill>
                <a:latin typeface="IBM Plex Mono" pitchFamily="49" charset="0"/>
                <a:ea typeface="IBM Plex Mono" pitchFamily="49" charset="-122"/>
                <a:cs typeface="IBM Plex Mono" pitchFamily="49" charset="-120"/>
              </a:rPr>
              <a:t>05</a:t>
            </a:r>
            <a:endParaRPr lang="en-US" sz="3000" dirty="0"/>
          </a:p>
        </p:txBody>
      </p:sp>
      <p:sp>
        <p:nvSpPr>
          <p:cNvPr id="32" name="Text 30"/>
          <p:cNvSpPr/>
          <p:nvPr/>
        </p:nvSpPr>
        <p:spPr>
          <a:xfrm>
            <a:off x="9551690" y="2492970"/>
            <a:ext cx="169416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Примена и преглед</a:t>
            </a:r>
            <a:endParaRPr lang="en-US" sz="1400" dirty="0"/>
          </a:p>
        </p:txBody>
      </p:sp>
      <p:sp>
        <p:nvSpPr>
          <p:cNvPr id="33" name="Text 31"/>
          <p:cNvSpPr/>
          <p:nvPr/>
        </p:nvSpPr>
        <p:spPr>
          <a:xfrm>
            <a:off x="9551690" y="3008511"/>
            <a:ext cx="1694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Рефакторисање, code review, задатак, грешке и припрема.</a:t>
            </a:r>
            <a:endParaRPr lang="en-US" sz="1200" dirty="0"/>
          </a:p>
        </p:txBody>
      </p:sp>
      <p:sp>
        <p:nvSpPr>
          <p:cNvPr id="34" name="Text 32"/>
          <p:cNvSpPr/>
          <p:nvPr/>
        </p:nvSpPr>
        <p:spPr>
          <a:xfrm>
            <a:off x="9551690" y="3826272"/>
            <a:ext cx="1694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25–32</a:t>
            </a:r>
            <a:endParaRPr lang="en-US" sz="1200" dirty="0"/>
          </a:p>
        </p:txBody>
      </p:sp>
      <p:sp>
        <p:nvSpPr>
          <p:cNvPr id="35" name="Text 33"/>
          <p:cNvSpPr/>
          <p:nvPr/>
        </p:nvSpPr>
        <p:spPr>
          <a:xfrm>
            <a:off x="812800" y="4477742"/>
            <a:ext cx="10566400" cy="416520"/>
          </a:xfrm>
          <a:prstGeom prst="roundRect">
            <a:avLst>
              <a:gd name="adj" fmla="val 18294"/>
            </a:avLst>
          </a:prstGeom>
          <a:solidFill>
            <a:srgbClr val="F0E5E5"/>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Увод</a:t>
            </a:r>
            <a:r>
              <a:rPr lang="en-US" sz="1200" dirty="0">
                <a:solidFill>
                  <a:srgbClr val="44505D"/>
                </a:solidFill>
                <a:latin typeface="IBM Plex Sans" pitchFamily="34" charset="0"/>
                <a:ea typeface="IBM Plex Sans" pitchFamily="34" charset="-122"/>
                <a:cs typeface="IBM Plex Sans" pitchFamily="34" charset="-120"/>
              </a:rPr>
              <a:t> · улога SOLID принципа (03)</a:t>
            </a:r>
            <a:endParaRPr lang="en-US" sz="12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Улога SOLID принципа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Принципи локализују измене, омогућавају замену зависности и олакшавају проверу понашања.</a:t>
            </a:r>
            <a:endParaRPr lang="en-US" sz="1400" dirty="0"/>
          </a:p>
        </p:txBody>
      </p:sp>
      <p:sp>
        <p:nvSpPr>
          <p:cNvPr id="6" name="Shape 4"/>
          <p:cNvSpPr/>
          <p:nvPr/>
        </p:nvSpPr>
        <p:spPr>
          <a:xfrm>
            <a:off x="815975" y="2179836"/>
            <a:ext cx="2005310" cy="2120702"/>
          </a:xfrm>
          <a:prstGeom prst="roundRect">
            <a:avLst>
              <a:gd name="adj" fmla="val 4908"/>
            </a:avLst>
          </a:prstGeom>
          <a:solidFill>
            <a:srgbClr val="FCFCFB"/>
          </a:solidFill>
          <a:ln w="6350">
            <a:solidFill>
              <a:srgbClr val="D3DAE1"/>
            </a:solidFill>
            <a:prstDash val="solid"/>
          </a:ln>
        </p:spPr>
      </p:sp>
      <p:sp>
        <p:nvSpPr>
          <p:cNvPr id="7" name="Text 5"/>
          <p:cNvSpPr/>
          <p:nvPr/>
        </p:nvSpPr>
        <p:spPr>
          <a:xfrm>
            <a:off x="984250" y="2348111"/>
            <a:ext cx="1719560"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B0213C"/>
                </a:solidFill>
                <a:latin typeface="IBM Plex Mono" pitchFamily="49" charset="0"/>
                <a:ea typeface="IBM Plex Mono" pitchFamily="49" charset="-122"/>
                <a:cs typeface="IBM Plex Mono" pitchFamily="49" charset="-120"/>
              </a:rPr>
              <a:t>S</a:t>
            </a:r>
            <a:endParaRPr lang="en-US" sz="3600" dirty="0"/>
          </a:p>
        </p:txBody>
      </p:sp>
      <p:sp>
        <p:nvSpPr>
          <p:cNvPr id="8" name="Text 6"/>
          <p:cNvSpPr/>
          <p:nvPr/>
        </p:nvSpPr>
        <p:spPr>
          <a:xfrm>
            <a:off x="984250" y="2894211"/>
            <a:ext cx="171956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Single Responsibility</a:t>
            </a:r>
            <a:endParaRPr lang="en-US" sz="1400" dirty="0"/>
          </a:p>
        </p:txBody>
      </p:sp>
      <p:sp>
        <p:nvSpPr>
          <p:cNvPr id="9" name="Shape 7"/>
          <p:cNvSpPr/>
          <p:nvPr/>
        </p:nvSpPr>
        <p:spPr>
          <a:xfrm>
            <a:off x="984250" y="3412927"/>
            <a:ext cx="1668760" cy="0"/>
          </a:xfrm>
          <a:prstGeom prst="line">
            <a:avLst/>
          </a:prstGeom>
          <a:noFill/>
          <a:ln w="6350">
            <a:solidFill>
              <a:srgbClr val="E3E8EE"/>
            </a:solidFill>
            <a:prstDash val="solid"/>
          </a:ln>
        </p:spPr>
      </p:sp>
      <p:sp>
        <p:nvSpPr>
          <p:cNvPr id="10" name="Text 8"/>
          <p:cNvSpPr/>
          <p:nvPr/>
        </p:nvSpPr>
        <p:spPr>
          <a:xfrm>
            <a:off x="984250" y="3492302"/>
            <a:ext cx="1719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један кохерентан разлог за промену</a:t>
            </a:r>
            <a:endParaRPr lang="en-US" sz="1200" dirty="0"/>
          </a:p>
        </p:txBody>
      </p:sp>
      <p:sp>
        <p:nvSpPr>
          <p:cNvPr id="11" name="Shape 9"/>
          <p:cNvSpPr/>
          <p:nvPr/>
        </p:nvSpPr>
        <p:spPr>
          <a:xfrm>
            <a:off x="2954635" y="2179836"/>
            <a:ext cx="2005409" cy="2120702"/>
          </a:xfrm>
          <a:prstGeom prst="roundRect">
            <a:avLst>
              <a:gd name="adj" fmla="val 4908"/>
            </a:avLst>
          </a:prstGeom>
          <a:solidFill>
            <a:srgbClr val="FCFCFB"/>
          </a:solidFill>
          <a:ln w="6350">
            <a:solidFill>
              <a:srgbClr val="D3DAE1"/>
            </a:solidFill>
            <a:prstDash val="solid"/>
          </a:ln>
        </p:spPr>
      </p:sp>
      <p:sp>
        <p:nvSpPr>
          <p:cNvPr id="12" name="Text 10"/>
          <p:cNvSpPr/>
          <p:nvPr/>
        </p:nvSpPr>
        <p:spPr>
          <a:xfrm>
            <a:off x="3122910" y="2348111"/>
            <a:ext cx="1719659"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B0213C"/>
                </a:solidFill>
                <a:latin typeface="IBM Plex Mono" pitchFamily="49" charset="0"/>
                <a:ea typeface="IBM Plex Mono" pitchFamily="49" charset="-122"/>
                <a:cs typeface="IBM Plex Mono" pitchFamily="49" charset="-120"/>
              </a:rPr>
              <a:t>O</a:t>
            </a:r>
            <a:endParaRPr lang="en-US" sz="3600" dirty="0"/>
          </a:p>
        </p:txBody>
      </p:sp>
      <p:sp>
        <p:nvSpPr>
          <p:cNvPr id="13" name="Text 11"/>
          <p:cNvSpPr/>
          <p:nvPr/>
        </p:nvSpPr>
        <p:spPr>
          <a:xfrm>
            <a:off x="3122910" y="2894211"/>
            <a:ext cx="17196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Open/Closed</a:t>
            </a:r>
            <a:endParaRPr lang="en-US" sz="1400" dirty="0"/>
          </a:p>
        </p:txBody>
      </p:sp>
      <p:sp>
        <p:nvSpPr>
          <p:cNvPr id="14" name="Shape 12"/>
          <p:cNvSpPr/>
          <p:nvPr/>
        </p:nvSpPr>
        <p:spPr>
          <a:xfrm>
            <a:off x="3122910" y="3199606"/>
            <a:ext cx="1668859" cy="0"/>
          </a:xfrm>
          <a:prstGeom prst="line">
            <a:avLst/>
          </a:prstGeom>
          <a:noFill/>
          <a:ln w="6350">
            <a:solidFill>
              <a:srgbClr val="E3E8EE"/>
            </a:solidFill>
            <a:prstDash val="solid"/>
          </a:ln>
        </p:spPr>
      </p:sp>
      <p:sp>
        <p:nvSpPr>
          <p:cNvPr id="15" name="Text 13"/>
          <p:cNvSpPr/>
          <p:nvPr/>
        </p:nvSpPr>
        <p:spPr>
          <a:xfrm>
            <a:off x="3122910" y="3278981"/>
            <a:ext cx="17196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проширење без измене стабилног тока</a:t>
            </a:r>
            <a:endParaRPr lang="en-US" sz="1200" dirty="0"/>
          </a:p>
        </p:txBody>
      </p:sp>
      <p:sp>
        <p:nvSpPr>
          <p:cNvPr id="16" name="Shape 14"/>
          <p:cNvSpPr/>
          <p:nvPr/>
        </p:nvSpPr>
        <p:spPr>
          <a:xfrm>
            <a:off x="5093395" y="2179836"/>
            <a:ext cx="2005310" cy="2120702"/>
          </a:xfrm>
          <a:prstGeom prst="roundRect">
            <a:avLst>
              <a:gd name="adj" fmla="val 4908"/>
            </a:avLst>
          </a:prstGeom>
          <a:solidFill>
            <a:srgbClr val="FCFCFB"/>
          </a:solidFill>
          <a:ln w="6350">
            <a:solidFill>
              <a:srgbClr val="D3DAE1"/>
            </a:solidFill>
            <a:prstDash val="solid"/>
          </a:ln>
        </p:spPr>
      </p:sp>
      <p:sp>
        <p:nvSpPr>
          <p:cNvPr id="17" name="Text 15"/>
          <p:cNvSpPr/>
          <p:nvPr/>
        </p:nvSpPr>
        <p:spPr>
          <a:xfrm>
            <a:off x="5261670" y="2348111"/>
            <a:ext cx="1719560"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B0213C"/>
                </a:solidFill>
                <a:latin typeface="IBM Plex Mono" pitchFamily="49" charset="0"/>
                <a:ea typeface="IBM Plex Mono" pitchFamily="49" charset="-122"/>
                <a:cs typeface="IBM Plex Mono" pitchFamily="49" charset="-120"/>
              </a:rPr>
              <a:t>L</a:t>
            </a:r>
            <a:endParaRPr lang="en-US" sz="3600" dirty="0"/>
          </a:p>
        </p:txBody>
      </p:sp>
      <p:sp>
        <p:nvSpPr>
          <p:cNvPr id="18" name="Text 16"/>
          <p:cNvSpPr/>
          <p:nvPr/>
        </p:nvSpPr>
        <p:spPr>
          <a:xfrm>
            <a:off x="5261670" y="2894211"/>
            <a:ext cx="17195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Liskov Substitution</a:t>
            </a:r>
            <a:endParaRPr lang="en-US" sz="1400" dirty="0"/>
          </a:p>
        </p:txBody>
      </p:sp>
      <p:sp>
        <p:nvSpPr>
          <p:cNvPr id="19" name="Shape 17"/>
          <p:cNvSpPr/>
          <p:nvPr/>
        </p:nvSpPr>
        <p:spPr>
          <a:xfrm>
            <a:off x="5261670" y="3199606"/>
            <a:ext cx="1668760" cy="0"/>
          </a:xfrm>
          <a:prstGeom prst="line">
            <a:avLst/>
          </a:prstGeom>
          <a:noFill/>
          <a:ln w="6350">
            <a:solidFill>
              <a:srgbClr val="E3E8EE"/>
            </a:solidFill>
            <a:prstDash val="solid"/>
          </a:ln>
        </p:spPr>
      </p:sp>
      <p:sp>
        <p:nvSpPr>
          <p:cNvPr id="20" name="Text 18"/>
          <p:cNvSpPr/>
          <p:nvPr/>
        </p:nvSpPr>
        <p:spPr>
          <a:xfrm>
            <a:off x="5261670" y="3278981"/>
            <a:ext cx="17195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заменљивост без нарушавања очекивања</a:t>
            </a:r>
            <a:endParaRPr lang="en-US" sz="1200" dirty="0"/>
          </a:p>
        </p:txBody>
      </p:sp>
      <p:sp>
        <p:nvSpPr>
          <p:cNvPr id="21" name="Shape 19"/>
          <p:cNvSpPr/>
          <p:nvPr/>
        </p:nvSpPr>
        <p:spPr>
          <a:xfrm>
            <a:off x="7232055" y="2179836"/>
            <a:ext cx="2005310" cy="2120702"/>
          </a:xfrm>
          <a:prstGeom prst="roundRect">
            <a:avLst>
              <a:gd name="adj" fmla="val 4908"/>
            </a:avLst>
          </a:prstGeom>
          <a:solidFill>
            <a:srgbClr val="FCFCFB"/>
          </a:solidFill>
          <a:ln w="6350">
            <a:solidFill>
              <a:srgbClr val="D3DAE1"/>
            </a:solidFill>
            <a:prstDash val="solid"/>
          </a:ln>
        </p:spPr>
      </p:sp>
      <p:sp>
        <p:nvSpPr>
          <p:cNvPr id="22" name="Text 20"/>
          <p:cNvSpPr/>
          <p:nvPr/>
        </p:nvSpPr>
        <p:spPr>
          <a:xfrm>
            <a:off x="7400330" y="2348111"/>
            <a:ext cx="1719560"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B0213C"/>
                </a:solidFill>
                <a:latin typeface="IBM Plex Mono" pitchFamily="49" charset="0"/>
                <a:ea typeface="IBM Plex Mono" pitchFamily="49" charset="-122"/>
                <a:cs typeface="IBM Plex Mono" pitchFamily="49" charset="-120"/>
              </a:rPr>
              <a:t>I</a:t>
            </a:r>
            <a:endParaRPr lang="en-US" sz="3600" dirty="0"/>
          </a:p>
        </p:txBody>
      </p:sp>
      <p:sp>
        <p:nvSpPr>
          <p:cNvPr id="23" name="Text 21"/>
          <p:cNvSpPr/>
          <p:nvPr/>
        </p:nvSpPr>
        <p:spPr>
          <a:xfrm>
            <a:off x="7400330" y="2894211"/>
            <a:ext cx="171956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Interface Segregation</a:t>
            </a:r>
            <a:endParaRPr lang="en-US" sz="1400" dirty="0"/>
          </a:p>
        </p:txBody>
      </p:sp>
      <p:sp>
        <p:nvSpPr>
          <p:cNvPr id="24" name="Shape 22"/>
          <p:cNvSpPr/>
          <p:nvPr/>
        </p:nvSpPr>
        <p:spPr>
          <a:xfrm>
            <a:off x="7400330" y="3412927"/>
            <a:ext cx="1668760" cy="0"/>
          </a:xfrm>
          <a:prstGeom prst="line">
            <a:avLst/>
          </a:prstGeom>
          <a:noFill/>
          <a:ln w="6350">
            <a:solidFill>
              <a:srgbClr val="E3E8EE"/>
            </a:solidFill>
            <a:prstDash val="solid"/>
          </a:ln>
        </p:spPr>
      </p:sp>
      <p:sp>
        <p:nvSpPr>
          <p:cNvPr id="25" name="Text 23"/>
          <p:cNvSpPr/>
          <p:nvPr/>
        </p:nvSpPr>
        <p:spPr>
          <a:xfrm>
            <a:off x="7400330" y="3492302"/>
            <a:ext cx="1719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мали уговори према потреби клијента</a:t>
            </a:r>
            <a:endParaRPr lang="en-US" sz="1200" dirty="0"/>
          </a:p>
        </p:txBody>
      </p:sp>
      <p:sp>
        <p:nvSpPr>
          <p:cNvPr id="26" name="Shape 24"/>
          <p:cNvSpPr/>
          <p:nvPr/>
        </p:nvSpPr>
        <p:spPr>
          <a:xfrm>
            <a:off x="9370715" y="2179836"/>
            <a:ext cx="2005310" cy="2120702"/>
          </a:xfrm>
          <a:prstGeom prst="roundRect">
            <a:avLst>
              <a:gd name="adj" fmla="val 4908"/>
            </a:avLst>
          </a:prstGeom>
          <a:solidFill>
            <a:srgbClr val="FCFCFB"/>
          </a:solidFill>
          <a:ln w="6350">
            <a:solidFill>
              <a:srgbClr val="D3DAE1"/>
            </a:solidFill>
            <a:prstDash val="solid"/>
          </a:ln>
        </p:spPr>
      </p:sp>
      <p:sp>
        <p:nvSpPr>
          <p:cNvPr id="27" name="Text 25"/>
          <p:cNvSpPr/>
          <p:nvPr/>
        </p:nvSpPr>
        <p:spPr>
          <a:xfrm>
            <a:off x="9538990" y="2348111"/>
            <a:ext cx="1719560"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A8520A"/>
                </a:solidFill>
                <a:latin typeface="IBM Plex Mono" pitchFamily="49" charset="0"/>
                <a:ea typeface="IBM Plex Mono" pitchFamily="49" charset="-122"/>
                <a:cs typeface="IBM Plex Mono" pitchFamily="49" charset="-120"/>
              </a:rPr>
              <a:t>D</a:t>
            </a:r>
            <a:endParaRPr lang="en-US" sz="3600" dirty="0"/>
          </a:p>
        </p:txBody>
      </p:sp>
      <p:sp>
        <p:nvSpPr>
          <p:cNvPr id="28" name="Text 26"/>
          <p:cNvSpPr/>
          <p:nvPr/>
        </p:nvSpPr>
        <p:spPr>
          <a:xfrm>
            <a:off x="9538990" y="2894211"/>
            <a:ext cx="171956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Dependency Inversion</a:t>
            </a:r>
            <a:endParaRPr lang="en-US" sz="1400" dirty="0"/>
          </a:p>
        </p:txBody>
      </p:sp>
      <p:sp>
        <p:nvSpPr>
          <p:cNvPr id="29" name="Shape 27"/>
          <p:cNvSpPr/>
          <p:nvPr/>
        </p:nvSpPr>
        <p:spPr>
          <a:xfrm>
            <a:off x="9538990" y="3412927"/>
            <a:ext cx="1668760" cy="0"/>
          </a:xfrm>
          <a:prstGeom prst="line">
            <a:avLst/>
          </a:prstGeom>
          <a:noFill/>
          <a:ln w="6350">
            <a:solidFill>
              <a:srgbClr val="E3E8EE"/>
            </a:solidFill>
            <a:prstDash val="solid"/>
          </a:ln>
        </p:spPr>
      </p:sp>
      <p:sp>
        <p:nvSpPr>
          <p:cNvPr id="30" name="Text 28"/>
          <p:cNvSpPr/>
          <p:nvPr/>
        </p:nvSpPr>
        <p:spPr>
          <a:xfrm>
            <a:off x="9538990" y="3492302"/>
            <a:ext cx="17195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зависност од апстракција, а не од детаља</a:t>
            </a:r>
            <a:endParaRPr lang="en-US" sz="1200" dirty="0"/>
          </a:p>
        </p:txBody>
      </p:sp>
      <p:sp>
        <p:nvSpPr>
          <p:cNvPr id="31" name="Shape 29"/>
          <p:cNvSpPr/>
          <p:nvPr/>
        </p:nvSpPr>
        <p:spPr>
          <a:xfrm>
            <a:off x="812800" y="4557713"/>
            <a:ext cx="10566400" cy="783530"/>
          </a:xfrm>
          <a:prstGeom prst="roundRect">
            <a:avLst>
              <a:gd name="adj" fmla="val 12967"/>
            </a:avLst>
          </a:prstGeom>
          <a:solidFill>
            <a:srgbClr val="F0E5E5"/>
          </a:solidFill>
          <a:ln/>
        </p:spPr>
      </p:sp>
      <p:sp>
        <p:nvSpPr>
          <p:cNvPr id="32" name="Shape 30"/>
          <p:cNvSpPr/>
          <p:nvPr/>
        </p:nvSpPr>
        <p:spPr>
          <a:xfrm>
            <a:off x="812800" y="4557713"/>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B0213C"/>
          </a:solidFill>
          <a:ln/>
        </p:spPr>
      </p:sp>
      <p:sp>
        <p:nvSpPr>
          <p:cNvPr id="33" name="Text 31"/>
          <p:cNvSpPr/>
          <p:nvPr/>
        </p:nvSpPr>
        <p:spPr>
          <a:xfrm>
            <a:off x="1054100" y="471011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НАПОМЕНА</a:t>
            </a:r>
            <a:endParaRPr lang="en-US" sz="1200" dirty="0"/>
          </a:p>
        </p:txBody>
      </p:sp>
      <p:sp>
        <p:nvSpPr>
          <p:cNvPr id="34" name="Text 32"/>
          <p:cNvSpPr/>
          <p:nvPr/>
        </p:nvSpPr>
        <p:spPr>
          <a:xfrm>
            <a:off x="1054100" y="494883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D принцип повезује SOLID са Clean Architecture, јер одређује смер зависности између слојева.</a:t>
            </a:r>
            <a:endParaRPr lang="en-US" sz="1400" dirty="0"/>
          </a:p>
        </p:txBody>
      </p:sp>
      <p:sp>
        <p:nvSpPr>
          <p:cNvPr id="35" name="Shape 33"/>
          <p:cNvSpPr/>
          <p:nvPr/>
        </p:nvSpPr>
        <p:spPr>
          <a:xfrm>
            <a:off x="812800" y="6209705"/>
            <a:ext cx="10566400" cy="0"/>
          </a:xfrm>
          <a:prstGeom prst="line">
            <a:avLst/>
          </a:prstGeom>
          <a:noFill/>
          <a:ln w="6350">
            <a:solidFill>
              <a:srgbClr val="D3DAE1"/>
            </a:solidFill>
            <a:prstDash val="solid"/>
          </a:ln>
        </p:spPr>
      </p:sp>
      <p:sp>
        <p:nvSpPr>
          <p:cNvPr id="36" name="Text 3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7" name="Text 3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5E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B0213C"/>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Основе и уговори</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Одакле потичу принципи, шта је потребно за њихову примену и како уговори описују пословно језгро.</a:t>
            </a:r>
            <a:endParaRPr lang="en-US" sz="1400" dirty="0"/>
          </a:p>
        </p:txBody>
      </p:sp>
      <p:sp>
        <p:nvSpPr>
          <p:cNvPr id="6" name="Text 4"/>
          <p:cNvSpPr/>
          <p:nvPr/>
        </p:nvSpPr>
        <p:spPr>
          <a:xfrm>
            <a:off x="4270375" y="3915966"/>
            <a:ext cx="1619349"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Порекло принципа</a:t>
            </a:r>
            <a:endParaRPr lang="en-US" sz="1200" dirty="0"/>
          </a:p>
        </p:txBody>
      </p:sp>
      <p:sp>
        <p:nvSpPr>
          <p:cNvPr id="7" name="Text 5"/>
          <p:cNvSpPr/>
          <p:nvPr/>
        </p:nvSpPr>
        <p:spPr>
          <a:xfrm>
            <a:off x="5972274" y="3915966"/>
            <a:ext cx="891183"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Interface</a:t>
            </a:r>
            <a:endParaRPr lang="en-US" sz="1200" dirty="0"/>
          </a:p>
        </p:txBody>
      </p:sp>
      <p:sp>
        <p:nvSpPr>
          <p:cNvPr id="8" name="Text 6"/>
          <p:cNvSpPr/>
          <p:nvPr/>
        </p:nvSpPr>
        <p:spPr>
          <a:xfrm>
            <a:off x="6946007" y="3915966"/>
            <a:ext cx="1307703"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Енкапсулација</a:t>
            </a:r>
            <a:endParaRPr lang="en-US" sz="1200" dirty="0"/>
          </a:p>
        </p:txBody>
      </p:sp>
      <p:sp>
        <p:nvSpPr>
          <p:cNvPr id="9" name="Text 7"/>
          <p:cNvSpPr/>
          <p:nvPr/>
        </p:nvSpPr>
        <p:spPr>
          <a:xfrm>
            <a:off x="8336260" y="3915966"/>
            <a:ext cx="1373188"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Полиморфизам</a:t>
            </a:r>
            <a:endParaRPr lang="en-US" sz="1200" dirty="0"/>
          </a:p>
        </p:txBody>
      </p:sp>
      <p:sp>
        <p:nvSpPr>
          <p:cNvPr id="10" name="Text 8"/>
          <p:cNvSpPr/>
          <p:nvPr/>
        </p:nvSpPr>
        <p:spPr>
          <a:xfrm>
            <a:off x="4270375" y="4319786"/>
            <a:ext cx="2095798"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Уговори пословног језгра</a:t>
            </a:r>
            <a:endParaRPr lang="en-US" sz="1200" dirty="0"/>
          </a:p>
        </p:txBody>
      </p:sp>
      <p:sp>
        <p:nvSpPr>
          <p:cNvPr id="11" name="Shape 9"/>
          <p:cNvSpPr/>
          <p:nvPr/>
        </p:nvSpPr>
        <p:spPr>
          <a:xfrm>
            <a:off x="812800" y="6209705"/>
            <a:ext cx="10566400" cy="0"/>
          </a:xfrm>
          <a:prstGeom prst="line">
            <a:avLst/>
          </a:prstGeom>
          <a:noFill/>
          <a:ln w="6350">
            <a:solidFill>
              <a:srgbClr val="C8B6B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01 · ОСНОВЕ И УГОВОРИ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Порекло принципа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Принципи су настајали током више деценија, а заједнички назив добили су знатно касније.</a:t>
            </a:r>
            <a:endParaRPr lang="en-US" sz="1400" dirty="0"/>
          </a:p>
        </p:txBody>
      </p:sp>
      <p:sp>
        <p:nvSpPr>
          <p:cNvPr id="6" name="Shape 4"/>
          <p:cNvSpPr/>
          <p:nvPr/>
        </p:nvSpPr>
        <p:spPr>
          <a:xfrm>
            <a:off x="815975" y="2129036"/>
            <a:ext cx="2025650" cy="1830487"/>
          </a:xfrm>
          <a:prstGeom prst="roundRect">
            <a:avLst>
              <a:gd name="adj" fmla="val 5377"/>
            </a:avLst>
          </a:prstGeom>
          <a:solidFill>
            <a:srgbClr val="FCFCFB"/>
          </a:solidFill>
          <a:ln w="6350">
            <a:solidFill>
              <a:srgbClr val="D3DAE1"/>
            </a:solidFill>
            <a:prstDash val="solid"/>
          </a:ln>
        </p:spPr>
      </p:sp>
      <p:sp>
        <p:nvSpPr>
          <p:cNvPr id="7" name="Text 5"/>
          <p:cNvSpPr/>
          <p:nvPr/>
        </p:nvSpPr>
        <p:spPr>
          <a:xfrm>
            <a:off x="971550" y="2284611"/>
            <a:ext cx="176593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1987</a:t>
            </a:r>
            <a:endParaRPr lang="en-US" sz="2200" dirty="0"/>
          </a:p>
        </p:txBody>
      </p:sp>
      <p:sp>
        <p:nvSpPr>
          <p:cNvPr id="8" name="Text 6"/>
          <p:cNvSpPr/>
          <p:nvPr/>
        </p:nvSpPr>
        <p:spPr>
          <a:xfrm>
            <a:off x="971550" y="2668091"/>
            <a:ext cx="176593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Barbara Liskov</a:t>
            </a:r>
            <a:endParaRPr lang="en-US" sz="1300" dirty="0"/>
          </a:p>
        </p:txBody>
      </p:sp>
      <p:sp>
        <p:nvSpPr>
          <p:cNvPr id="9" name="Text 7"/>
          <p:cNvSpPr/>
          <p:nvPr/>
        </p:nvSpPr>
        <p:spPr>
          <a:xfrm>
            <a:off x="971550" y="2950666"/>
            <a:ext cx="1765935"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Предавање „Data Abstraction and Hierarchy” на OOPSLA, основа LSP-а.</a:t>
            </a:r>
            <a:endParaRPr lang="en-US" sz="1200" dirty="0"/>
          </a:p>
        </p:txBody>
      </p:sp>
      <p:sp>
        <p:nvSpPr>
          <p:cNvPr id="10" name="Shape 8"/>
          <p:cNvSpPr/>
          <p:nvPr/>
        </p:nvSpPr>
        <p:spPr>
          <a:xfrm>
            <a:off x="2949575" y="2129036"/>
            <a:ext cx="2025650" cy="1830487"/>
          </a:xfrm>
          <a:prstGeom prst="roundRect">
            <a:avLst>
              <a:gd name="adj" fmla="val 5377"/>
            </a:avLst>
          </a:prstGeom>
          <a:solidFill>
            <a:srgbClr val="FCFCFB"/>
          </a:solidFill>
          <a:ln w="6350">
            <a:solidFill>
              <a:srgbClr val="D3DAE1"/>
            </a:solidFill>
            <a:prstDash val="solid"/>
          </a:ln>
        </p:spPr>
      </p:sp>
      <p:sp>
        <p:nvSpPr>
          <p:cNvPr id="11" name="Text 9"/>
          <p:cNvSpPr/>
          <p:nvPr/>
        </p:nvSpPr>
        <p:spPr>
          <a:xfrm>
            <a:off x="3105150" y="2284611"/>
            <a:ext cx="176593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1988</a:t>
            </a:r>
            <a:endParaRPr lang="en-US" sz="2200" dirty="0"/>
          </a:p>
        </p:txBody>
      </p:sp>
      <p:sp>
        <p:nvSpPr>
          <p:cNvPr id="12" name="Text 10"/>
          <p:cNvSpPr/>
          <p:nvPr/>
        </p:nvSpPr>
        <p:spPr>
          <a:xfrm>
            <a:off x="3105150" y="2668091"/>
            <a:ext cx="176593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Bertrand Meyer</a:t>
            </a:r>
            <a:endParaRPr lang="en-US" sz="1300" dirty="0"/>
          </a:p>
        </p:txBody>
      </p:sp>
      <p:sp>
        <p:nvSpPr>
          <p:cNvPr id="13" name="Text 11"/>
          <p:cNvSpPr/>
          <p:nvPr/>
        </p:nvSpPr>
        <p:spPr>
          <a:xfrm>
            <a:off x="3105150" y="2950666"/>
            <a:ext cx="1765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Књига „Object-Oriented Software Construction” формулише OCP.</a:t>
            </a:r>
            <a:endParaRPr lang="en-US" sz="1200" dirty="0"/>
          </a:p>
        </p:txBody>
      </p:sp>
      <p:sp>
        <p:nvSpPr>
          <p:cNvPr id="14" name="Shape 12"/>
          <p:cNvSpPr/>
          <p:nvPr/>
        </p:nvSpPr>
        <p:spPr>
          <a:xfrm>
            <a:off x="5083175" y="2129036"/>
            <a:ext cx="2025650" cy="1830487"/>
          </a:xfrm>
          <a:prstGeom prst="roundRect">
            <a:avLst>
              <a:gd name="adj" fmla="val 5377"/>
            </a:avLst>
          </a:prstGeom>
          <a:solidFill>
            <a:srgbClr val="FCFCFB"/>
          </a:solidFill>
          <a:ln w="6350">
            <a:solidFill>
              <a:srgbClr val="D3DAE1"/>
            </a:solidFill>
            <a:prstDash val="solid"/>
          </a:ln>
        </p:spPr>
      </p:sp>
      <p:sp>
        <p:nvSpPr>
          <p:cNvPr id="15" name="Text 13"/>
          <p:cNvSpPr/>
          <p:nvPr/>
        </p:nvSpPr>
        <p:spPr>
          <a:xfrm>
            <a:off x="5238750" y="2284611"/>
            <a:ext cx="176593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2000</a:t>
            </a:r>
            <a:endParaRPr lang="en-US" sz="2200" dirty="0"/>
          </a:p>
        </p:txBody>
      </p:sp>
      <p:sp>
        <p:nvSpPr>
          <p:cNvPr id="16" name="Text 14"/>
          <p:cNvSpPr/>
          <p:nvPr/>
        </p:nvSpPr>
        <p:spPr>
          <a:xfrm>
            <a:off x="5238750" y="2668091"/>
            <a:ext cx="176593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Robert C. Martin</a:t>
            </a:r>
            <a:endParaRPr lang="en-US" sz="1300" dirty="0"/>
          </a:p>
        </p:txBody>
      </p:sp>
      <p:sp>
        <p:nvSpPr>
          <p:cNvPr id="17" name="Text 15"/>
          <p:cNvSpPr/>
          <p:nvPr/>
        </p:nvSpPr>
        <p:spPr>
          <a:xfrm>
            <a:off x="5238750" y="2950666"/>
            <a:ext cx="1765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Рад „Design Principles and Design Patterns” обједињује принципе.</a:t>
            </a:r>
            <a:endParaRPr lang="en-US" sz="1200" dirty="0"/>
          </a:p>
        </p:txBody>
      </p:sp>
      <p:sp>
        <p:nvSpPr>
          <p:cNvPr id="18" name="Shape 16"/>
          <p:cNvSpPr/>
          <p:nvPr/>
        </p:nvSpPr>
        <p:spPr>
          <a:xfrm>
            <a:off x="7216775" y="2129036"/>
            <a:ext cx="2025650" cy="1830487"/>
          </a:xfrm>
          <a:prstGeom prst="roundRect">
            <a:avLst>
              <a:gd name="adj" fmla="val 5377"/>
            </a:avLst>
          </a:prstGeom>
          <a:solidFill>
            <a:srgbClr val="FCFCFB"/>
          </a:solidFill>
          <a:ln w="6350">
            <a:solidFill>
              <a:srgbClr val="D3DAE1"/>
            </a:solidFill>
            <a:prstDash val="solid"/>
          </a:ln>
        </p:spPr>
      </p:sp>
      <p:sp>
        <p:nvSpPr>
          <p:cNvPr id="19" name="Text 17"/>
          <p:cNvSpPr/>
          <p:nvPr/>
        </p:nvSpPr>
        <p:spPr>
          <a:xfrm>
            <a:off x="7372350" y="2284611"/>
            <a:ext cx="176593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 2004</a:t>
            </a:r>
            <a:endParaRPr lang="en-US" sz="2200" dirty="0"/>
          </a:p>
        </p:txBody>
      </p:sp>
      <p:sp>
        <p:nvSpPr>
          <p:cNvPr id="20" name="Text 18"/>
          <p:cNvSpPr/>
          <p:nvPr/>
        </p:nvSpPr>
        <p:spPr>
          <a:xfrm>
            <a:off x="7372350" y="2668091"/>
            <a:ext cx="176593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Michael Feathers</a:t>
            </a:r>
            <a:endParaRPr lang="en-US" sz="1300" dirty="0"/>
          </a:p>
        </p:txBody>
      </p:sp>
      <p:sp>
        <p:nvSpPr>
          <p:cNvPr id="21" name="Text 19"/>
          <p:cNvSpPr/>
          <p:nvPr/>
        </p:nvSpPr>
        <p:spPr>
          <a:xfrm>
            <a:off x="7372350" y="2950666"/>
            <a:ext cx="1765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Уводи скраћеницу SOLID за пет Martin-ових принципа.</a:t>
            </a:r>
            <a:endParaRPr lang="en-US" sz="1200" dirty="0"/>
          </a:p>
        </p:txBody>
      </p:sp>
      <p:sp>
        <p:nvSpPr>
          <p:cNvPr id="22" name="Shape 20"/>
          <p:cNvSpPr/>
          <p:nvPr/>
        </p:nvSpPr>
        <p:spPr>
          <a:xfrm>
            <a:off x="9350375" y="2129036"/>
            <a:ext cx="2025650" cy="1830487"/>
          </a:xfrm>
          <a:prstGeom prst="roundRect">
            <a:avLst>
              <a:gd name="adj" fmla="val 5377"/>
            </a:avLst>
          </a:prstGeom>
          <a:solidFill>
            <a:srgbClr val="FCFCFB"/>
          </a:solidFill>
          <a:ln w="6350">
            <a:solidFill>
              <a:srgbClr val="D3DAE1"/>
            </a:solidFill>
            <a:prstDash val="solid"/>
          </a:ln>
        </p:spPr>
      </p:sp>
      <p:sp>
        <p:nvSpPr>
          <p:cNvPr id="23" name="Text 21"/>
          <p:cNvSpPr/>
          <p:nvPr/>
        </p:nvSpPr>
        <p:spPr>
          <a:xfrm>
            <a:off x="9505950" y="2284611"/>
            <a:ext cx="176593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2012</a:t>
            </a:r>
            <a:endParaRPr lang="en-US" sz="2200" dirty="0"/>
          </a:p>
        </p:txBody>
      </p:sp>
      <p:sp>
        <p:nvSpPr>
          <p:cNvPr id="24" name="Text 22"/>
          <p:cNvSpPr/>
          <p:nvPr/>
        </p:nvSpPr>
        <p:spPr>
          <a:xfrm>
            <a:off x="9505950" y="2668091"/>
            <a:ext cx="176593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D"/>
                </a:solidFill>
                <a:latin typeface="IBM Plex Sans" pitchFamily="34" charset="0"/>
                <a:ea typeface="IBM Plex Sans" pitchFamily="34" charset="-122"/>
                <a:cs typeface="IBM Plex Sans" pitchFamily="34" charset="-120"/>
              </a:rPr>
              <a:t>Robert C. Martin</a:t>
            </a:r>
            <a:endParaRPr lang="en-US" sz="1300" dirty="0"/>
          </a:p>
        </p:txBody>
      </p:sp>
      <p:sp>
        <p:nvSpPr>
          <p:cNvPr id="25" name="Text 23"/>
          <p:cNvSpPr/>
          <p:nvPr/>
        </p:nvSpPr>
        <p:spPr>
          <a:xfrm>
            <a:off x="9505950" y="2950666"/>
            <a:ext cx="17659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Текст „The Clean Architecture”, а 2017. и истоимена књига.</a:t>
            </a:r>
            <a:endParaRPr lang="en-US" sz="1200" dirty="0"/>
          </a:p>
        </p:txBody>
      </p:sp>
      <p:sp>
        <p:nvSpPr>
          <p:cNvPr id="26" name="Text 24"/>
          <p:cNvSpPr/>
          <p:nvPr/>
        </p:nvSpPr>
        <p:spPr>
          <a:xfrm>
            <a:off x="812800" y="4191298"/>
            <a:ext cx="10566400" cy="629841"/>
          </a:xfrm>
          <a:prstGeom prst="roundRect">
            <a:avLst>
              <a:gd name="adj" fmla="val 12098"/>
            </a:avLst>
          </a:prstGeom>
          <a:solidFill>
            <a:srgbClr val="F0E5E5"/>
          </a:solidFill>
          <a:ln/>
        </p:spPr>
        <p:txBody>
          <a:bodyPr wrap="square" lIns="130082" tIns="79282" rIns="0" bIns="538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Сродни приступи су Hexagonal Architecture (Alistair Cockburn, 2005) и Onion Architecture (Jeffrey Palermo, 2008). Сви деле исто правило: зависности су усмерене ка пословном језгру.</a:t>
            </a:r>
            <a:endParaRPr lang="en-US" sz="1200" dirty="0"/>
          </a:p>
        </p:txBody>
      </p:sp>
      <p:sp>
        <p:nvSpPr>
          <p:cNvPr id="27" name="Shape 25"/>
          <p:cNvSpPr/>
          <p:nvPr/>
        </p:nvSpPr>
        <p:spPr>
          <a:xfrm>
            <a:off x="812800" y="6209705"/>
            <a:ext cx="10566400" cy="0"/>
          </a:xfrm>
          <a:prstGeom prst="line">
            <a:avLst/>
          </a:prstGeom>
          <a:noFill/>
          <a:ln w="6350">
            <a:solidFill>
              <a:srgbClr val="D3DAE1"/>
            </a:solidFill>
            <a:prstDash val="solid"/>
          </a:ln>
        </p:spPr>
      </p:sp>
      <p:sp>
        <p:nvSpPr>
          <p:cNvPr id="28" name="Text 2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9"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01 · ОСНОВЕ И УГОВОРИ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Предуслови за примену SOLID принципа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Уговори, енкапсулација, полиморфизам и одговорност чине основу примене принципа.</a:t>
            </a:r>
            <a:endParaRPr lang="en-US" sz="1400" dirty="0"/>
          </a:p>
        </p:txBody>
      </p:sp>
      <p:sp>
        <p:nvSpPr>
          <p:cNvPr id="6" name="Shape 4"/>
          <p:cNvSpPr/>
          <p:nvPr/>
        </p:nvSpPr>
        <p:spPr>
          <a:xfrm>
            <a:off x="815975" y="2179836"/>
            <a:ext cx="5400377" cy="2660352"/>
          </a:xfrm>
          <a:prstGeom prst="roundRect">
            <a:avLst>
              <a:gd name="adj" fmla="val 3700"/>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F4E0E4"/>
          </a:solidFill>
          <a:ln/>
        </p:spPr>
      </p:sp>
      <p:pic>
        <p:nvPicPr>
          <p:cNvPr id="8" name="Image 0" descr="Book">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479550" y="2416671"/>
            <a:ext cx="9750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Појмови</a:t>
            </a:r>
            <a:endParaRPr lang="en-US" sz="1600" dirty="0"/>
          </a:p>
        </p:txBody>
      </p:sp>
      <p:sp>
        <p:nvSpPr>
          <p:cNvPr id="10" name="Shape 7"/>
          <p:cNvSpPr/>
          <p:nvPr/>
        </p:nvSpPr>
        <p:spPr>
          <a:xfrm>
            <a:off x="1022350" y="2821186"/>
            <a:ext cx="4987627" cy="0"/>
          </a:xfrm>
          <a:prstGeom prst="line">
            <a:avLst/>
          </a:prstGeom>
          <a:noFill/>
          <a:ln w="6350">
            <a:solidFill>
              <a:srgbClr val="E3E8EE"/>
            </a:solidFill>
            <a:prstDash val="solid"/>
          </a:ln>
        </p:spPr>
      </p:sp>
      <p:sp>
        <p:nvSpPr>
          <p:cNvPr id="11" name="Text 8"/>
          <p:cNvSpPr/>
          <p:nvPr/>
        </p:nvSpPr>
        <p:spPr>
          <a:xfrm>
            <a:off x="1022350" y="2913261"/>
            <a:ext cx="513725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05D"/>
                </a:solidFill>
                <a:latin typeface="IBM Plex Sans" pitchFamily="34" charset="0"/>
                <a:ea typeface="IBM Plex Sans" pitchFamily="34" charset="-122"/>
                <a:cs typeface="IBM Plex Sans" pitchFamily="34" charset="-120"/>
              </a:rPr>
              <a:t>Interface</a:t>
            </a:r>
            <a:r>
              <a:rPr lang="en-US" sz="1300" dirty="0">
                <a:solidFill>
                  <a:srgbClr val="44505D"/>
                </a:solidFill>
                <a:latin typeface="IBM Plex Sans" pitchFamily="34" charset="0"/>
                <a:ea typeface="IBM Plex Sans" pitchFamily="34" charset="-122"/>
                <a:cs typeface="IBM Plex Sans" pitchFamily="34" charset="-120"/>
              </a:rPr>
              <a:t> дефинише очекивано понашање.</a:t>
            </a:r>
            <a:endParaRPr lang="en-US" sz="1300" dirty="0"/>
          </a:p>
        </p:txBody>
      </p:sp>
      <p:sp>
        <p:nvSpPr>
          <p:cNvPr id="12" name="Shape 9"/>
          <p:cNvSpPr/>
          <p:nvPr/>
        </p:nvSpPr>
        <p:spPr>
          <a:xfrm>
            <a:off x="1022350" y="3249116"/>
            <a:ext cx="4987627" cy="0"/>
          </a:xfrm>
          <a:prstGeom prst="line">
            <a:avLst/>
          </a:prstGeom>
          <a:noFill/>
          <a:ln w="6350">
            <a:solidFill>
              <a:srgbClr val="E3E8EE"/>
            </a:solidFill>
            <a:prstDash val="solid"/>
          </a:ln>
        </p:spPr>
      </p:sp>
      <p:sp>
        <p:nvSpPr>
          <p:cNvPr id="13" name="Text 10"/>
          <p:cNvSpPr/>
          <p:nvPr/>
        </p:nvSpPr>
        <p:spPr>
          <a:xfrm>
            <a:off x="1022350" y="3341191"/>
            <a:ext cx="513725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05D"/>
                </a:solidFill>
                <a:latin typeface="IBM Plex Sans" pitchFamily="34" charset="0"/>
                <a:ea typeface="IBM Plex Sans" pitchFamily="34" charset="-122"/>
                <a:cs typeface="IBM Plex Sans" pitchFamily="34" charset="-120"/>
              </a:rPr>
              <a:t>Енкапсулација</a:t>
            </a:r>
            <a:r>
              <a:rPr lang="en-US" sz="1300" dirty="0">
                <a:solidFill>
                  <a:srgbClr val="44505D"/>
                </a:solidFill>
                <a:latin typeface="IBM Plex Sans" pitchFamily="34" charset="0"/>
                <a:ea typeface="IBM Plex Sans" pitchFamily="34" charset="-122"/>
                <a:cs typeface="IBM Plex Sans" pitchFamily="34" charset="-120"/>
              </a:rPr>
              <a:t> чува инваријанте.</a:t>
            </a:r>
            <a:endParaRPr lang="en-US" sz="1300" dirty="0"/>
          </a:p>
        </p:txBody>
      </p:sp>
      <p:sp>
        <p:nvSpPr>
          <p:cNvPr id="14" name="Shape 11"/>
          <p:cNvSpPr/>
          <p:nvPr/>
        </p:nvSpPr>
        <p:spPr>
          <a:xfrm>
            <a:off x="1022350" y="3677047"/>
            <a:ext cx="4987627" cy="0"/>
          </a:xfrm>
          <a:prstGeom prst="line">
            <a:avLst/>
          </a:prstGeom>
          <a:noFill/>
          <a:ln w="6350">
            <a:solidFill>
              <a:srgbClr val="E3E8EE"/>
            </a:solidFill>
            <a:prstDash val="solid"/>
          </a:ln>
        </p:spPr>
      </p:sp>
      <p:sp>
        <p:nvSpPr>
          <p:cNvPr id="15" name="Text 12"/>
          <p:cNvSpPr/>
          <p:nvPr/>
        </p:nvSpPr>
        <p:spPr>
          <a:xfrm>
            <a:off x="1022350" y="3769122"/>
            <a:ext cx="513725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05D"/>
                </a:solidFill>
                <a:latin typeface="IBM Plex Sans" pitchFamily="34" charset="0"/>
                <a:ea typeface="IBM Plex Sans" pitchFamily="34" charset="-122"/>
                <a:cs typeface="IBM Plex Sans" pitchFamily="34" charset="-120"/>
              </a:rPr>
              <a:t>Полиморфизам</a:t>
            </a:r>
            <a:r>
              <a:rPr lang="en-US" sz="1300" dirty="0">
                <a:solidFill>
                  <a:srgbClr val="44505D"/>
                </a:solidFill>
                <a:latin typeface="IBM Plex Sans" pitchFamily="34" charset="0"/>
                <a:ea typeface="IBM Plex Sans" pitchFamily="34" charset="-122"/>
                <a:cs typeface="IBM Plex Sans" pitchFamily="34" charset="-120"/>
              </a:rPr>
              <a:t> омогућава заменљиве имплементације.</a:t>
            </a:r>
            <a:endParaRPr lang="en-US" sz="1300" dirty="0"/>
          </a:p>
        </p:txBody>
      </p:sp>
      <p:sp>
        <p:nvSpPr>
          <p:cNvPr id="16" name="Shape 13"/>
          <p:cNvSpPr/>
          <p:nvPr/>
        </p:nvSpPr>
        <p:spPr>
          <a:xfrm>
            <a:off x="1022350" y="4104977"/>
            <a:ext cx="4987627" cy="0"/>
          </a:xfrm>
          <a:prstGeom prst="line">
            <a:avLst/>
          </a:prstGeom>
          <a:noFill/>
          <a:ln w="6350">
            <a:solidFill>
              <a:srgbClr val="E3E8EE"/>
            </a:solidFill>
            <a:prstDash val="solid"/>
          </a:ln>
        </p:spPr>
      </p:sp>
      <p:sp>
        <p:nvSpPr>
          <p:cNvPr id="17" name="Text 14"/>
          <p:cNvSpPr/>
          <p:nvPr/>
        </p:nvSpPr>
        <p:spPr>
          <a:xfrm>
            <a:off x="1022350" y="4197052"/>
            <a:ext cx="5137256"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05D"/>
                </a:solidFill>
                <a:latin typeface="IBM Plex Sans" pitchFamily="34" charset="0"/>
                <a:ea typeface="IBM Plex Sans" pitchFamily="34" charset="-122"/>
                <a:cs typeface="IBM Plex Sans" pitchFamily="34" charset="-120"/>
              </a:rPr>
              <a:t>Апстрактна класа</a:t>
            </a:r>
            <a:r>
              <a:rPr lang="en-US" sz="1300" dirty="0">
                <a:solidFill>
                  <a:srgbClr val="44505D"/>
                </a:solidFill>
                <a:latin typeface="IBM Plex Sans" pitchFamily="34" charset="0"/>
                <a:ea typeface="IBM Plex Sans" pitchFamily="34" charset="-122"/>
                <a:cs typeface="IBM Plex Sans" pitchFamily="34" charset="-120"/>
              </a:rPr>
              <a:t> има смисла када постоји стварна заједничка основа.</a:t>
            </a:r>
            <a:endParaRPr lang="en-US" sz="1300" dirty="0"/>
          </a:p>
        </p:txBody>
      </p:sp>
      <p:pic>
        <p:nvPicPr>
          <p:cNvPr id="18" name="Image 1" descr="arrow-right">    </p:cNvPr>
          <p:cNvPicPr>
            <a:picLocks noChangeAspect="1"/>
          </p:cNvPicPr>
          <p:nvPr/>
        </p:nvPicPr>
        <p:blipFill>
          <a:blip r:embed="rId2"/>
          <a:srcRect l="0" r="0" t="0" b="0"/>
          <a:stretch/>
        </p:blipFill>
        <p:spPr>
          <a:xfrm>
            <a:off x="6397327" y="3452813"/>
            <a:ext cx="228600" cy="114300"/>
          </a:xfrm>
          <a:prstGeom prst="rect">
            <a:avLst/>
          </a:prstGeom>
        </p:spPr>
      </p:pic>
      <p:sp>
        <p:nvSpPr>
          <p:cNvPr id="19" name="Shape 15"/>
          <p:cNvSpPr/>
          <p:nvPr/>
        </p:nvSpPr>
        <p:spPr>
          <a:xfrm>
            <a:off x="6806902" y="2179836"/>
            <a:ext cx="4569123" cy="2660352"/>
          </a:xfrm>
          <a:prstGeom prst="roundRect">
            <a:avLst>
              <a:gd name="adj" fmla="val 3700"/>
            </a:avLst>
          </a:prstGeom>
          <a:solidFill>
            <a:srgbClr val="FCFCFB"/>
          </a:solidFill>
          <a:ln w="6350">
            <a:solidFill>
              <a:srgbClr val="D3DAE1"/>
            </a:solidFill>
            <a:prstDash val="solid"/>
          </a:ln>
        </p:spPr>
      </p:sp>
      <p:sp>
        <p:nvSpPr>
          <p:cNvPr id="20" name="Shape 16"/>
          <p:cNvSpPr/>
          <p:nvPr/>
        </p:nvSpPr>
        <p:spPr>
          <a:xfrm>
            <a:off x="7013277" y="2360811"/>
            <a:ext cx="355600" cy="355600"/>
          </a:xfrm>
          <a:prstGeom prst="roundRect">
            <a:avLst>
              <a:gd name="adj" fmla="val 21429"/>
            </a:avLst>
          </a:prstGeom>
          <a:solidFill>
            <a:srgbClr val="FBF1E6"/>
          </a:solidFill>
          <a:ln/>
        </p:spPr>
      </p:sp>
      <p:pic>
        <p:nvPicPr>
          <p:cNvPr id="21" name="Image 2" descr="CheckCircle">    </p:cNvPr>
          <p:cNvPicPr>
            <a:picLocks noChangeAspect="1"/>
          </p:cNvPicPr>
          <p:nvPr/>
        </p:nvPicPr>
        <p:blipFill>
          <a:blip r:embed="rId3"/>
          <a:srcRect l="0" r="0" t="0" b="0"/>
          <a:stretch/>
        </p:blipFill>
        <p:spPr>
          <a:xfrm>
            <a:off x="7089477" y="2437011"/>
            <a:ext cx="203200" cy="203200"/>
          </a:xfrm>
          <a:prstGeom prst="rect">
            <a:avLst/>
          </a:prstGeom>
        </p:spPr>
      </p:pic>
      <p:sp>
        <p:nvSpPr>
          <p:cNvPr id="22" name="Text 17"/>
          <p:cNvSpPr/>
          <p:nvPr/>
        </p:nvSpPr>
        <p:spPr>
          <a:xfrm>
            <a:off x="7470477" y="2416671"/>
            <a:ext cx="21951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Практичан ефекат</a:t>
            </a:r>
            <a:endParaRPr lang="en-US" sz="1600" dirty="0"/>
          </a:p>
        </p:txBody>
      </p:sp>
      <p:sp>
        <p:nvSpPr>
          <p:cNvPr id="23" name="Shape 18"/>
          <p:cNvSpPr/>
          <p:nvPr/>
        </p:nvSpPr>
        <p:spPr>
          <a:xfrm>
            <a:off x="7013277" y="2821186"/>
            <a:ext cx="4156373" cy="0"/>
          </a:xfrm>
          <a:prstGeom prst="line">
            <a:avLst/>
          </a:prstGeom>
          <a:noFill/>
          <a:ln w="6350">
            <a:solidFill>
              <a:srgbClr val="E3E8EE"/>
            </a:solidFill>
            <a:prstDash val="solid"/>
          </a:ln>
        </p:spPr>
      </p:sp>
      <p:sp>
        <p:nvSpPr>
          <p:cNvPr id="24" name="Text 19"/>
          <p:cNvSpPr/>
          <p:nvPr/>
        </p:nvSpPr>
        <p:spPr>
          <a:xfrm>
            <a:off x="7013277" y="2913261"/>
            <a:ext cx="428106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код описује намеру</a:t>
            </a:r>
            <a:endParaRPr lang="en-US" sz="1300" dirty="0"/>
          </a:p>
        </p:txBody>
      </p:sp>
      <p:sp>
        <p:nvSpPr>
          <p:cNvPr id="25" name="Shape 20"/>
          <p:cNvSpPr/>
          <p:nvPr/>
        </p:nvSpPr>
        <p:spPr>
          <a:xfrm>
            <a:off x="7013277" y="3249116"/>
            <a:ext cx="4156373" cy="0"/>
          </a:xfrm>
          <a:prstGeom prst="line">
            <a:avLst/>
          </a:prstGeom>
          <a:noFill/>
          <a:ln w="6350">
            <a:solidFill>
              <a:srgbClr val="E3E8EE"/>
            </a:solidFill>
            <a:prstDash val="solid"/>
          </a:ln>
        </p:spPr>
      </p:sp>
      <p:sp>
        <p:nvSpPr>
          <p:cNvPr id="26" name="Text 21"/>
          <p:cNvSpPr/>
          <p:nvPr/>
        </p:nvSpPr>
        <p:spPr>
          <a:xfrm>
            <a:off x="7013277" y="3341191"/>
            <a:ext cx="428106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одговорност је видљива</a:t>
            </a:r>
            <a:endParaRPr lang="en-US" sz="1300" dirty="0"/>
          </a:p>
        </p:txBody>
      </p:sp>
      <p:sp>
        <p:nvSpPr>
          <p:cNvPr id="27" name="Shape 22"/>
          <p:cNvSpPr/>
          <p:nvPr/>
        </p:nvSpPr>
        <p:spPr>
          <a:xfrm>
            <a:off x="7013277" y="3677047"/>
            <a:ext cx="4156373" cy="0"/>
          </a:xfrm>
          <a:prstGeom prst="line">
            <a:avLst/>
          </a:prstGeom>
          <a:noFill/>
          <a:ln w="6350">
            <a:solidFill>
              <a:srgbClr val="E3E8EE"/>
            </a:solidFill>
            <a:prstDash val="solid"/>
          </a:ln>
        </p:spPr>
      </p:sp>
      <p:sp>
        <p:nvSpPr>
          <p:cNvPr id="28" name="Text 23"/>
          <p:cNvSpPr/>
          <p:nvPr/>
        </p:nvSpPr>
        <p:spPr>
          <a:xfrm>
            <a:off x="7013277" y="3769122"/>
            <a:ext cx="428106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промене су локализоване</a:t>
            </a:r>
            <a:endParaRPr lang="en-US" sz="1300" dirty="0"/>
          </a:p>
        </p:txBody>
      </p:sp>
      <p:sp>
        <p:nvSpPr>
          <p:cNvPr id="29" name="Shape 24"/>
          <p:cNvSpPr/>
          <p:nvPr/>
        </p:nvSpPr>
        <p:spPr>
          <a:xfrm>
            <a:off x="7013277" y="4104977"/>
            <a:ext cx="4156373" cy="0"/>
          </a:xfrm>
          <a:prstGeom prst="line">
            <a:avLst/>
          </a:prstGeom>
          <a:noFill/>
          <a:ln w="6350">
            <a:solidFill>
              <a:srgbClr val="E3E8EE"/>
            </a:solidFill>
            <a:prstDash val="solid"/>
          </a:ln>
        </p:spPr>
      </p:sp>
      <p:sp>
        <p:nvSpPr>
          <p:cNvPr id="30" name="Text 25"/>
          <p:cNvSpPr/>
          <p:nvPr/>
        </p:nvSpPr>
        <p:spPr>
          <a:xfrm>
            <a:off x="7013277" y="4197052"/>
            <a:ext cx="428106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тестови лакше прате понашање</a:t>
            </a:r>
            <a:endParaRPr lang="en-US" sz="1300" dirty="0"/>
          </a:p>
        </p:txBody>
      </p:sp>
      <p:sp>
        <p:nvSpPr>
          <p:cNvPr id="31" name="Shape 26"/>
          <p:cNvSpPr/>
          <p:nvPr/>
        </p:nvSpPr>
        <p:spPr>
          <a:xfrm>
            <a:off x="812800" y="6209705"/>
            <a:ext cx="10566400" cy="0"/>
          </a:xfrm>
          <a:prstGeom prst="line">
            <a:avLst/>
          </a:prstGeom>
          <a:noFill/>
          <a:ln w="6350">
            <a:solidFill>
              <a:srgbClr val="D3DAE1"/>
            </a:solidFill>
            <a:prstDash val="solid"/>
          </a:ln>
        </p:spPr>
      </p:sp>
      <p:sp>
        <p:nvSpPr>
          <p:cNvPr id="32"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01 · ОСНОВЕ И УГОВОРИ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Уговори пословног језгра у примеру Logger–Blogger</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Доменски слој описује способности система без зависности од складишта и корисничког интерфејса.</a:t>
            </a:r>
            <a:endParaRPr lang="en-US" sz="1400" dirty="0"/>
          </a:p>
        </p:txBody>
      </p:sp>
      <p:sp>
        <p:nvSpPr>
          <p:cNvPr id="6" name="Shape 4"/>
          <p:cNvSpPr/>
          <p:nvPr/>
        </p:nvSpPr>
        <p:spPr>
          <a:xfrm>
            <a:off x="815975" y="2129036"/>
            <a:ext cx="6597650" cy="3201194"/>
          </a:xfrm>
          <a:prstGeom prst="roundRect">
            <a:avLst>
              <a:gd name="adj" fmla="val 3075"/>
            </a:avLst>
          </a:prstGeom>
          <a:solidFill>
            <a:srgbClr val="FCFCFB"/>
          </a:solidFill>
          <a:ln w="6350">
            <a:solidFill>
              <a:srgbClr val="D3DAE1"/>
            </a:solidFill>
            <a:prstDash val="solid"/>
          </a:ln>
        </p:spPr>
      </p:sp>
      <p:sp>
        <p:nvSpPr>
          <p:cNvPr id="7" name="Text 5"/>
          <p:cNvSpPr/>
          <p:nvPr/>
        </p:nvSpPr>
        <p:spPr>
          <a:xfrm>
            <a:off x="1022350" y="22846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Domain</a:t>
            </a:r>
            <a:endParaRPr lang="en-US" sz="1200" dirty="0"/>
          </a:p>
        </p:txBody>
      </p:sp>
      <p:sp>
        <p:nvSpPr>
          <p:cNvPr id="8" name="Text 6"/>
          <p:cNvSpPr/>
          <p:nvPr/>
        </p:nvSpPr>
        <p:spPr>
          <a:xfrm>
            <a:off x="1022350" y="25741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public interface</a:t>
            </a:r>
            <a:r>
              <a:rPr lang="en-US" sz="1200" dirty="0">
                <a:solidFill>
                  <a:srgbClr val="13202D"/>
                </a:solidFill>
                <a:latin typeface="IBM Plex Mono" pitchFamily="49" charset="0"/>
                <a:ea typeface="IBM Plex Mono" pitchFamily="49" charset="-122"/>
                <a:cs typeface="IBM Plex Mono" pitchFamily="49" charset="-120"/>
              </a:rPr>
              <a:t> IZapisiServis</a:t>
            </a:r>
            <a:endParaRPr lang="en-US" sz="1200" dirty="0"/>
          </a:p>
        </p:txBody>
      </p:sp>
      <p:sp>
        <p:nvSpPr>
          <p:cNvPr id="10" name="Text 8"/>
          <p:cNvSpPr/>
          <p:nvPr/>
        </p:nvSpPr>
        <p:spPr>
          <a:xfrm>
            <a:off x="1022350" y="28128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1285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22350" y="30515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5157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Result&lt;ZapisNaSajtu&gt; Objavi(ZapisNaSajtu zapis);</a:t>
            </a:r>
            <a:endParaRPr lang="en-US" sz="1200" dirty="0"/>
          </a:p>
        </p:txBody>
      </p:sp>
      <p:sp>
        <p:nvSpPr>
          <p:cNvPr id="14" name="Text 12"/>
          <p:cNvSpPr/>
          <p:nvPr/>
        </p:nvSpPr>
        <p:spPr>
          <a:xfrm>
            <a:off x="1022350" y="32902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29029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Result&lt;IReadOnlyList&lt;ZapisNaSajtu&gt;&gt; PregledZapisa();</a:t>
            </a:r>
            <a:endParaRPr lang="en-US" sz="1200" dirty="0"/>
          </a:p>
        </p:txBody>
      </p:sp>
      <p:sp>
        <p:nvSpPr>
          <p:cNvPr id="16" name="Text 14"/>
          <p:cNvSpPr/>
          <p:nvPr/>
        </p:nvSpPr>
        <p:spPr>
          <a:xfrm>
            <a:off x="1022350" y="35290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52901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1022350" y="37677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022350" y="40064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403350" y="400645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public interface</a:t>
            </a:r>
            <a:r>
              <a:rPr lang="en-US" sz="1200" dirty="0">
                <a:solidFill>
                  <a:srgbClr val="13202D"/>
                </a:solidFill>
                <a:latin typeface="IBM Plex Mono" pitchFamily="49" charset="0"/>
                <a:ea typeface="IBM Plex Mono" pitchFamily="49" charset="-122"/>
                <a:cs typeface="IBM Plex Mono" pitchFamily="49" charset="-120"/>
              </a:rPr>
              <a:t> IBazaPodataka</a:t>
            </a:r>
            <a:endParaRPr lang="en-US" sz="1200" dirty="0"/>
          </a:p>
        </p:txBody>
      </p:sp>
      <p:sp>
        <p:nvSpPr>
          <p:cNvPr id="21" name="Text 19"/>
          <p:cNvSpPr/>
          <p:nvPr/>
        </p:nvSpPr>
        <p:spPr>
          <a:xfrm>
            <a:off x="1022350" y="42451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403350" y="424517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3" name="Text 21"/>
          <p:cNvSpPr/>
          <p:nvPr/>
        </p:nvSpPr>
        <p:spPr>
          <a:xfrm>
            <a:off x="1022350" y="44838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403350" y="4483894"/>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TabeleBazaPodataka Tabele { </a:t>
            </a:r>
            <a:r>
              <a:rPr lang="en-US" sz="1200" dirty="0">
                <a:solidFill>
                  <a:srgbClr val="B0213C"/>
                </a:solidFill>
                <a:latin typeface="IBM Plex Mono" pitchFamily="49" charset="0"/>
                <a:ea typeface="IBM Plex Mono" pitchFamily="49" charset="-122"/>
                <a:cs typeface="IBM Plex Mono" pitchFamily="49" charset="-120"/>
              </a:rPr>
              <a:t>get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5" name="Text 23"/>
          <p:cNvSpPr/>
          <p:nvPr/>
        </p:nvSpPr>
        <p:spPr>
          <a:xfrm>
            <a:off x="1022350" y="47226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403350" y="4722614"/>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bool</a:t>
            </a:r>
            <a:r>
              <a:rPr lang="en-US" sz="1200" dirty="0">
                <a:solidFill>
                  <a:srgbClr val="13202D"/>
                </a:solidFill>
                <a:latin typeface="IBM Plex Mono" pitchFamily="49" charset="0"/>
                <a:ea typeface="IBM Plex Mono" pitchFamily="49" charset="-122"/>
                <a:cs typeface="IBM Plex Mono" pitchFamily="49" charset="-120"/>
              </a:rPr>
              <a:t> SacuvajPromene();</a:t>
            </a:r>
            <a:endParaRPr lang="en-US" sz="1200" dirty="0"/>
          </a:p>
        </p:txBody>
      </p:sp>
      <p:sp>
        <p:nvSpPr>
          <p:cNvPr id="27" name="Text 25"/>
          <p:cNvSpPr/>
          <p:nvPr/>
        </p:nvSpPr>
        <p:spPr>
          <a:xfrm>
            <a:off x="1022350" y="49613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403350" y="4961334"/>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9" name="Text 27"/>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0" name="Shape 28"/>
          <p:cNvSpPr/>
          <p:nvPr/>
        </p:nvSpPr>
        <p:spPr>
          <a:xfrm>
            <a:off x="7734300" y="2466181"/>
            <a:ext cx="0" cy="487561"/>
          </a:xfrm>
          <a:prstGeom prst="line">
            <a:avLst/>
          </a:prstGeom>
          <a:noFill/>
          <a:ln w="25400">
            <a:solidFill>
              <a:srgbClr val="B0213C"/>
            </a:solidFill>
            <a:prstDash val="solid"/>
          </a:ln>
        </p:spPr>
      </p:sp>
      <p:sp>
        <p:nvSpPr>
          <p:cNvPr id="31" name="Text 29"/>
          <p:cNvSpPr/>
          <p:nvPr/>
        </p:nvSpPr>
        <p:spPr>
          <a:xfrm>
            <a:off x="7886700" y="2478881"/>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Уговор описује стабилну потребу пословног језгра.</a:t>
            </a:r>
            <a:endParaRPr lang="en-US" sz="1300" dirty="0"/>
          </a:p>
        </p:txBody>
      </p:sp>
      <p:sp>
        <p:nvSpPr>
          <p:cNvPr id="32" name="Shape 30"/>
          <p:cNvSpPr/>
          <p:nvPr/>
        </p:nvSpPr>
        <p:spPr>
          <a:xfrm>
            <a:off x="7734300" y="3080742"/>
            <a:ext cx="0" cy="487561"/>
          </a:xfrm>
          <a:prstGeom prst="line">
            <a:avLst/>
          </a:prstGeom>
          <a:noFill/>
          <a:ln w="25400">
            <a:solidFill>
              <a:srgbClr val="B0213C"/>
            </a:solidFill>
            <a:prstDash val="solid"/>
          </a:ln>
        </p:spPr>
      </p:sp>
      <p:sp>
        <p:nvSpPr>
          <p:cNvPr id="33" name="Text 31"/>
          <p:cNvSpPr/>
          <p:nvPr/>
        </p:nvSpPr>
        <p:spPr>
          <a:xfrm>
            <a:off x="7886700" y="309344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Domain не зависи од Database или Presentation пројекта.</a:t>
            </a:r>
            <a:endParaRPr lang="en-US" sz="1300" dirty="0"/>
          </a:p>
        </p:txBody>
      </p:sp>
      <p:sp>
        <p:nvSpPr>
          <p:cNvPr id="34" name="Shape 32"/>
          <p:cNvSpPr/>
          <p:nvPr/>
        </p:nvSpPr>
        <p:spPr>
          <a:xfrm>
            <a:off x="7734300" y="3695303"/>
            <a:ext cx="0" cy="487561"/>
          </a:xfrm>
          <a:prstGeom prst="line">
            <a:avLst/>
          </a:prstGeom>
          <a:noFill/>
          <a:ln w="25400">
            <a:solidFill>
              <a:srgbClr val="E07B1F"/>
            </a:solidFill>
            <a:prstDash val="solid"/>
          </a:ln>
        </p:spPr>
      </p:sp>
      <p:sp>
        <p:nvSpPr>
          <p:cNvPr id="35" name="Text 33"/>
          <p:cNvSpPr/>
          <p:nvPr/>
        </p:nvSpPr>
        <p:spPr>
          <a:xfrm>
            <a:off x="7886700" y="370800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Заменљивост долази из јасних уговора, а не из назива слојева.</a:t>
            </a:r>
            <a:endParaRPr lang="en-US" sz="13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5E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B0213C"/>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SRP и OCP</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одговорност класе и место варијације одређују где ће се промена десити.</a:t>
            </a:r>
            <a:endParaRPr lang="en-US" sz="1400" dirty="0"/>
          </a:p>
        </p:txBody>
      </p:sp>
      <p:sp>
        <p:nvSpPr>
          <p:cNvPr id="6" name="Text 4"/>
          <p:cNvSpPr/>
          <p:nvPr/>
        </p:nvSpPr>
        <p:spPr>
          <a:xfrm>
            <a:off x="4270375" y="3915966"/>
            <a:ext cx="1676499"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Single Responsibility</a:t>
            </a:r>
            <a:endParaRPr lang="en-US" sz="1200" dirty="0"/>
          </a:p>
        </p:txBody>
      </p:sp>
      <p:sp>
        <p:nvSpPr>
          <p:cNvPr id="7" name="Text 5"/>
          <p:cNvSpPr/>
          <p:nvPr/>
        </p:nvSpPr>
        <p:spPr>
          <a:xfrm>
            <a:off x="6029424" y="3915966"/>
            <a:ext cx="1085949"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ZapisiServis</a:t>
            </a:r>
            <a:endParaRPr lang="en-US" sz="1200" dirty="0"/>
          </a:p>
        </p:txBody>
      </p:sp>
      <p:sp>
        <p:nvSpPr>
          <p:cNvPr id="8" name="Text 6"/>
          <p:cNvSpPr/>
          <p:nvPr/>
        </p:nvSpPr>
        <p:spPr>
          <a:xfrm>
            <a:off x="7197923" y="3915966"/>
            <a:ext cx="1150739"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Open/Closed</a:t>
            </a:r>
            <a:endParaRPr lang="en-US" sz="1200" dirty="0"/>
          </a:p>
        </p:txBody>
      </p:sp>
      <p:sp>
        <p:nvSpPr>
          <p:cNvPr id="9" name="Text 7"/>
          <p:cNvSpPr/>
          <p:nvPr/>
        </p:nvSpPr>
        <p:spPr>
          <a:xfrm>
            <a:off x="8431213" y="3915966"/>
            <a:ext cx="1952228"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switch наспрам уговора</a:t>
            </a:r>
            <a:endParaRPr lang="en-US" sz="1200" dirty="0"/>
          </a:p>
        </p:txBody>
      </p:sp>
      <p:sp>
        <p:nvSpPr>
          <p:cNvPr id="10" name="Text 8"/>
          <p:cNvSpPr/>
          <p:nvPr/>
        </p:nvSpPr>
        <p:spPr>
          <a:xfrm>
            <a:off x="4270375" y="4319786"/>
            <a:ext cx="1917402"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Заменљиво складиште</a:t>
            </a:r>
            <a:endParaRPr lang="en-US" sz="1200" dirty="0"/>
          </a:p>
        </p:txBody>
      </p:sp>
      <p:sp>
        <p:nvSpPr>
          <p:cNvPr id="11" name="Shape 9"/>
          <p:cNvSpPr/>
          <p:nvPr/>
        </p:nvSpPr>
        <p:spPr>
          <a:xfrm>
            <a:off x="812800" y="6209705"/>
            <a:ext cx="10566400" cy="0"/>
          </a:xfrm>
          <a:prstGeom prst="line">
            <a:avLst/>
          </a:prstGeom>
          <a:noFill/>
          <a:ln w="6350">
            <a:solidFill>
              <a:srgbClr val="C8B6B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02 · SRP И OCP</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Single Responsibility Principle</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Класа може имати више метода када све припадају истој одговорности.</a:t>
            </a:r>
            <a:endParaRPr lang="en-US" sz="1400" dirty="0"/>
          </a:p>
        </p:txBody>
      </p:sp>
      <p:sp>
        <p:nvSpPr>
          <p:cNvPr id="6" name="Shape 4"/>
          <p:cNvSpPr/>
          <p:nvPr/>
        </p:nvSpPr>
        <p:spPr>
          <a:xfrm>
            <a:off x="831850" y="2176661"/>
            <a:ext cx="0" cy="777081"/>
          </a:xfrm>
          <a:prstGeom prst="line">
            <a:avLst/>
          </a:prstGeom>
          <a:noFill/>
          <a:ln w="38100">
            <a:solidFill>
              <a:srgbClr val="B0213C"/>
            </a:solidFill>
            <a:prstDash val="solid"/>
          </a:ln>
        </p:spPr>
      </p:sp>
      <p:sp>
        <p:nvSpPr>
          <p:cNvPr id="7" name="Text 5"/>
          <p:cNvSpPr/>
          <p:nvPr/>
        </p:nvSpPr>
        <p:spPr>
          <a:xfrm>
            <a:off x="1079500" y="2202061"/>
            <a:ext cx="9536049" cy="75168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Проблем није број линија кода, већ чињеница да се иста класа мења из више међусобно независних разлога.</a:t>
            </a:r>
            <a:endParaRPr lang="en-US" sz="2200" dirty="0"/>
          </a:p>
        </p:txBody>
      </p:sp>
      <p:sp>
        <p:nvSpPr>
          <p:cNvPr id="8" name="Shape 6"/>
          <p:cNvSpPr/>
          <p:nvPr/>
        </p:nvSpPr>
        <p:spPr>
          <a:xfrm>
            <a:off x="815975" y="3210917"/>
            <a:ext cx="5187950" cy="1111052"/>
          </a:xfrm>
          <a:prstGeom prst="roundRect">
            <a:avLst>
              <a:gd name="adj" fmla="val 8859"/>
            </a:avLst>
          </a:prstGeom>
          <a:solidFill>
            <a:srgbClr val="FCFCFB"/>
          </a:solidFill>
          <a:ln w="6350">
            <a:solidFill>
              <a:srgbClr val="D3DAE1"/>
            </a:solidFill>
            <a:prstDash val="solid"/>
          </a:ln>
        </p:spPr>
      </p:sp>
      <p:sp>
        <p:nvSpPr>
          <p:cNvPr id="9" name="Text 7"/>
          <p:cNvSpPr/>
          <p:nvPr/>
        </p:nvSpPr>
        <p:spPr>
          <a:xfrm>
            <a:off x="1022350" y="3379192"/>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ФОРМУЛАЦИЈА · MARTIN, 2017</a:t>
            </a:r>
            <a:endParaRPr lang="en-US" sz="1200" dirty="0"/>
          </a:p>
        </p:txBody>
      </p:sp>
      <p:sp>
        <p:nvSpPr>
          <p:cNvPr id="10" name="Text 8"/>
          <p:cNvSpPr/>
          <p:nvPr/>
        </p:nvSpPr>
        <p:spPr>
          <a:xfrm>
            <a:off x="1022350" y="3656013"/>
            <a:ext cx="491845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Модул треба да одговара једном и само једном актеру, односно једној групи корисника која тражи промене.</a:t>
            </a:r>
            <a:endParaRPr lang="en-US" sz="1400" dirty="0"/>
          </a:p>
        </p:txBody>
      </p:sp>
      <p:sp>
        <p:nvSpPr>
          <p:cNvPr id="11" name="Shape 9"/>
          <p:cNvSpPr/>
          <p:nvPr/>
        </p:nvSpPr>
        <p:spPr>
          <a:xfrm>
            <a:off x="6159500" y="3207742"/>
            <a:ext cx="5219700" cy="1117402"/>
          </a:xfrm>
          <a:prstGeom prst="roundRect">
            <a:avLst>
              <a:gd name="adj" fmla="val 9093"/>
            </a:avLst>
          </a:prstGeom>
          <a:solidFill>
            <a:srgbClr val="F0E5E5"/>
          </a:solidFill>
          <a:ln/>
        </p:spPr>
      </p:sp>
      <p:sp>
        <p:nvSpPr>
          <p:cNvPr id="12" name="Shape 10"/>
          <p:cNvSpPr/>
          <p:nvPr/>
        </p:nvSpPr>
        <p:spPr>
          <a:xfrm>
            <a:off x="6159500" y="3207742"/>
            <a:ext cx="5219700" cy="1117402"/>
          </a:xfrm>
          <a:custGeom>
            <a:avLst/>
            <a:gdLst/>
            <a:ahLst/>
            <a:cxnLst/>
            <a:rect l="l" t="t" r="r" b="b"/>
            <a:pathLst>
              <a:path w="5219700" h="1117402">
                <a:moveTo>
                  <a:pt x="101600" y="1117402"/>
                </a:moveTo>
                <a:lnTo>
                  <a:pt x="101600" y="1117402"/>
                </a:lnTo>
                <a:arcTo hR="101600" wR="101600" stAng="5400000" swAng="5400000"/>
                <a:lnTo>
                  <a:pt x="0" y="101600"/>
                </a:lnTo>
                <a:arcTo hR="101600" wR="101600" stAng="10800000" swAng="5400000"/>
                <a:lnTo>
                  <a:pt x="101600" y="0"/>
                </a:lnTo>
                <a:arcTo hR="101600" wR="63500" stAng="16200000" swAng="-5400000"/>
                <a:lnTo>
                  <a:pt x="38100" y="1015802"/>
                </a:lnTo>
                <a:arcTo hR="101600" wR="63500" stAng="10800000" swAng="-5400000"/>
                <a:close/>
              </a:path>
            </a:pathLst>
          </a:custGeom>
          <a:solidFill>
            <a:srgbClr val="B0213C"/>
          </a:solidFill>
          <a:ln/>
        </p:spPr>
      </p:sp>
      <p:sp>
        <p:nvSpPr>
          <p:cNvPr id="13" name="Text 11"/>
          <p:cNvSpPr/>
          <p:nvPr/>
        </p:nvSpPr>
        <p:spPr>
          <a:xfrm>
            <a:off x="6400800" y="3372842"/>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НАПОМЕНА</a:t>
            </a:r>
            <a:endParaRPr lang="en-US" sz="1200" dirty="0"/>
          </a:p>
        </p:txBody>
      </p:sp>
      <p:sp>
        <p:nvSpPr>
          <p:cNvPr id="14" name="Text 12"/>
          <p:cNvSpPr/>
          <p:nvPr/>
        </p:nvSpPr>
        <p:spPr>
          <a:xfrm>
            <a:off x="6400800" y="3649663"/>
            <a:ext cx="491845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SRP подстиче кохерентне компоненте са јасном одговорношћу.</a:t>
            </a:r>
            <a:endParaRPr lang="en-US" sz="1400" dirty="0"/>
          </a:p>
        </p:txBody>
      </p:sp>
      <p:sp>
        <p:nvSpPr>
          <p:cNvPr id="15" name="Shape 13"/>
          <p:cNvSpPr/>
          <p:nvPr/>
        </p:nvSpPr>
        <p:spPr>
          <a:xfrm>
            <a:off x="812800" y="6209705"/>
            <a:ext cx="10566400" cy="0"/>
          </a:xfrm>
          <a:prstGeom prst="line">
            <a:avLst/>
          </a:prstGeom>
          <a:noFill/>
          <a:ln w="6350">
            <a:solidFill>
              <a:srgbClr val="D3DAE1"/>
            </a:solidFill>
            <a:prstDash val="solid"/>
          </a:ln>
        </p:spPr>
      </p:sp>
      <p:sp>
        <p:nvSpPr>
          <p:cNvPr id="16" name="Text 1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7" name="Text 1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02 · SRP И OCP</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SRP у сервису Logger–Blogger</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Сервис оркестрира објаву преко уговора, без одговорности интерфејса, базе и логовања.</a:t>
            </a:r>
            <a:endParaRPr lang="en-US" sz="1400" dirty="0"/>
          </a:p>
        </p:txBody>
      </p:sp>
      <p:sp>
        <p:nvSpPr>
          <p:cNvPr id="6" name="Shape 4"/>
          <p:cNvSpPr/>
          <p:nvPr/>
        </p:nvSpPr>
        <p:spPr>
          <a:xfrm>
            <a:off x="815975" y="2078236"/>
            <a:ext cx="6978650" cy="3488134"/>
          </a:xfrm>
          <a:prstGeom prst="roundRect">
            <a:avLst>
              <a:gd name="adj" fmla="val 2822"/>
            </a:avLst>
          </a:prstGeom>
          <a:solidFill>
            <a:srgbClr val="FCFCFB"/>
          </a:solidFill>
          <a:ln w="6350">
            <a:solidFill>
              <a:srgbClr val="D3DAE1"/>
            </a:solidFill>
            <a:prstDash val="solid"/>
          </a:ln>
        </p:spPr>
      </p:sp>
      <p:sp>
        <p:nvSpPr>
          <p:cNvPr id="7" name="Text 5"/>
          <p:cNvSpPr/>
          <p:nvPr/>
        </p:nvSpPr>
        <p:spPr>
          <a:xfrm>
            <a:off x="1022350" y="2221111"/>
            <a:ext cx="6762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ZapisiServis.cs</a:t>
            </a:r>
            <a:endParaRPr lang="en-US" sz="1200" dirty="0"/>
          </a:p>
        </p:txBody>
      </p:sp>
      <p:sp>
        <p:nvSpPr>
          <p:cNvPr id="8" name="Text 6"/>
          <p:cNvSpPr/>
          <p:nvPr/>
        </p:nvSpPr>
        <p:spPr>
          <a:xfrm>
            <a:off x="1022350" y="24979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49793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ZapisiServis : IZapisiServis</a:t>
            </a:r>
            <a:endParaRPr lang="en-US" sz="1200" dirty="0"/>
          </a:p>
        </p:txBody>
      </p:sp>
      <p:sp>
        <p:nvSpPr>
          <p:cNvPr id="10" name="Text 8"/>
          <p:cNvSpPr/>
          <p:nvPr/>
        </p:nvSpPr>
        <p:spPr>
          <a:xfrm>
            <a:off x="1022350" y="27239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723952"/>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22350" y="29499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2949972"/>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private readonly</a:t>
            </a:r>
            <a:r>
              <a:rPr lang="en-US" sz="1200" dirty="0">
                <a:solidFill>
                  <a:srgbClr val="13202D"/>
                </a:solidFill>
                <a:latin typeface="IBM Plex Mono" pitchFamily="49" charset="0"/>
                <a:ea typeface="IBM Plex Mono" pitchFamily="49" charset="-122"/>
                <a:cs typeface="IBM Plex Mono" pitchFamily="49" charset="-120"/>
              </a:rPr>
              <a:t> IBazaPodataka _baza;</a:t>
            </a:r>
            <a:endParaRPr lang="en-US" sz="1200" dirty="0"/>
          </a:p>
        </p:txBody>
      </p:sp>
      <p:sp>
        <p:nvSpPr>
          <p:cNvPr id="14" name="Text 12"/>
          <p:cNvSpPr/>
          <p:nvPr/>
        </p:nvSpPr>
        <p:spPr>
          <a:xfrm>
            <a:off x="1022350" y="31759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175992"/>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private readonly</a:t>
            </a:r>
            <a:r>
              <a:rPr lang="en-US" sz="1200" dirty="0">
                <a:solidFill>
                  <a:srgbClr val="13202D"/>
                </a:solidFill>
                <a:latin typeface="IBM Plex Mono" pitchFamily="49" charset="0"/>
                <a:ea typeface="IBM Plex Mono" pitchFamily="49" charset="-122"/>
                <a:cs typeface="IBM Plex Mono" pitchFamily="49" charset="-120"/>
              </a:rPr>
              <a:t> ILogger _logger;</a:t>
            </a:r>
            <a:endParaRPr lang="en-US" sz="1200" dirty="0"/>
          </a:p>
        </p:txBody>
      </p:sp>
      <p:sp>
        <p:nvSpPr>
          <p:cNvPr id="16" name="Text 14"/>
          <p:cNvSpPr/>
          <p:nvPr/>
        </p:nvSpPr>
        <p:spPr>
          <a:xfrm>
            <a:off x="1022350" y="34020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402013"/>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0"/>
                </a:solidFill>
                <a:latin typeface="IBM Plex Mono" pitchFamily="49" charset="0"/>
                <a:ea typeface="IBM Plex Mono" pitchFamily="49" charset="-122"/>
                <a:cs typeface="IBM Plex Mono" pitchFamily="49" charset="-120"/>
              </a:rPr>
              <a:t>    // конструктор прима оба уговора</a:t>
            </a:r>
            <a:endParaRPr lang="en-US" sz="1200" dirty="0"/>
          </a:p>
        </p:txBody>
      </p:sp>
      <p:sp>
        <p:nvSpPr>
          <p:cNvPr id="18" name="Text 16"/>
          <p:cNvSpPr/>
          <p:nvPr/>
        </p:nvSpPr>
        <p:spPr>
          <a:xfrm>
            <a:off x="1022350" y="36280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403350" y="3628033"/>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Result&lt;ZapisNaSajtu&gt; Objavi(ZapisNaSajtu zapis)</a:t>
            </a:r>
            <a:endParaRPr lang="en-US" sz="1200" dirty="0"/>
          </a:p>
        </p:txBody>
      </p:sp>
      <p:sp>
        <p:nvSpPr>
          <p:cNvPr id="20" name="Text 18"/>
          <p:cNvSpPr/>
          <p:nvPr/>
        </p:nvSpPr>
        <p:spPr>
          <a:xfrm>
            <a:off x="1022350" y="38540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403350" y="3854053"/>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2" name="Text 20"/>
          <p:cNvSpPr/>
          <p:nvPr/>
        </p:nvSpPr>
        <p:spPr>
          <a:xfrm>
            <a:off x="1022350" y="4080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403350" y="4080073"/>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_baza.Tabele.Zapisi.Add(zapis);</a:t>
            </a:r>
            <a:endParaRPr lang="en-US" sz="1200" dirty="0"/>
          </a:p>
        </p:txBody>
      </p:sp>
      <p:sp>
        <p:nvSpPr>
          <p:cNvPr id="24" name="Text 22"/>
          <p:cNvSpPr/>
          <p:nvPr/>
        </p:nvSpPr>
        <p:spPr>
          <a:xfrm>
            <a:off x="1022350" y="43060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403350" y="4306094"/>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_baza.SacuvajPromene();</a:t>
            </a:r>
            <a:endParaRPr lang="en-US" sz="1200" dirty="0"/>
          </a:p>
        </p:txBody>
      </p:sp>
      <p:sp>
        <p:nvSpPr>
          <p:cNvPr id="26" name="Text 24"/>
          <p:cNvSpPr/>
          <p:nvPr/>
        </p:nvSpPr>
        <p:spPr>
          <a:xfrm>
            <a:off x="1022350" y="45321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403350" y="4532114"/>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_logger.Info(</a:t>
            </a:r>
            <a:r>
              <a:rPr lang="en-US" sz="1200" dirty="0">
                <a:solidFill>
                  <a:srgbClr val="A8520A"/>
                </a:solidFill>
                <a:latin typeface="IBM Plex Mono" pitchFamily="49" charset="0"/>
                <a:ea typeface="IBM Plex Mono" pitchFamily="49" charset="-122"/>
                <a:cs typeface="IBM Plex Mono" pitchFamily="49" charset="-120"/>
              </a:rPr>
              <a:t>"Objavljen zapis"</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8" name="Text 26"/>
          <p:cNvSpPr/>
          <p:nvPr/>
        </p:nvSpPr>
        <p:spPr>
          <a:xfrm>
            <a:off x="1022350" y="47581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403350" y="4758134"/>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Result&lt;ZapisNaSajtu&gt;.Ok(zapis);</a:t>
            </a:r>
            <a:endParaRPr lang="en-US" sz="1200" dirty="0"/>
          </a:p>
        </p:txBody>
      </p:sp>
      <p:sp>
        <p:nvSpPr>
          <p:cNvPr id="30" name="Text 28"/>
          <p:cNvSpPr/>
          <p:nvPr/>
        </p:nvSpPr>
        <p:spPr>
          <a:xfrm>
            <a:off x="1022350" y="49841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403350" y="4984155"/>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2" name="Text 30"/>
          <p:cNvSpPr/>
          <p:nvPr/>
        </p:nvSpPr>
        <p:spPr>
          <a:xfrm>
            <a:off x="1022350" y="521017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3" name="Text 31"/>
          <p:cNvSpPr/>
          <p:nvPr/>
        </p:nvSpPr>
        <p:spPr>
          <a:xfrm>
            <a:off x="1403350" y="5210175"/>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4" name="Text 32"/>
          <p:cNvSpPr/>
          <p:nvPr/>
        </p:nvSpPr>
        <p:spPr>
          <a:xfrm>
            <a:off x="8102600" y="2075061"/>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5" name="Shape 33"/>
          <p:cNvSpPr/>
          <p:nvPr/>
        </p:nvSpPr>
        <p:spPr>
          <a:xfrm>
            <a:off x="8115300" y="2415381"/>
            <a:ext cx="0" cy="487561"/>
          </a:xfrm>
          <a:prstGeom prst="line">
            <a:avLst/>
          </a:prstGeom>
          <a:noFill/>
          <a:ln w="25400">
            <a:solidFill>
              <a:srgbClr val="B0213C"/>
            </a:solidFill>
            <a:prstDash val="solid"/>
          </a:ln>
        </p:spPr>
      </p:sp>
      <p:sp>
        <p:nvSpPr>
          <p:cNvPr id="36" name="Text 34"/>
          <p:cNvSpPr/>
          <p:nvPr/>
        </p:nvSpPr>
        <p:spPr>
          <a:xfrm>
            <a:off x="8267700" y="2428081"/>
            <a:ext cx="320484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Сервис оркестрира сараднике кроз уговоре.</a:t>
            </a:r>
            <a:endParaRPr lang="en-US" sz="1300" dirty="0"/>
          </a:p>
        </p:txBody>
      </p:sp>
      <p:sp>
        <p:nvSpPr>
          <p:cNvPr id="37" name="Shape 35"/>
          <p:cNvSpPr/>
          <p:nvPr/>
        </p:nvSpPr>
        <p:spPr>
          <a:xfrm>
            <a:off x="8115300" y="3029942"/>
            <a:ext cx="0" cy="487561"/>
          </a:xfrm>
          <a:prstGeom prst="line">
            <a:avLst/>
          </a:prstGeom>
          <a:noFill/>
          <a:ln w="25400">
            <a:solidFill>
              <a:srgbClr val="B0213C"/>
            </a:solidFill>
            <a:prstDash val="solid"/>
          </a:ln>
        </p:spPr>
      </p:sp>
      <p:sp>
        <p:nvSpPr>
          <p:cNvPr id="38" name="Text 36"/>
          <p:cNvSpPr/>
          <p:nvPr/>
        </p:nvSpPr>
        <p:spPr>
          <a:xfrm>
            <a:off x="8267700" y="3042642"/>
            <a:ext cx="320484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Начин чувања и логовања остаје спољни детаљ.</a:t>
            </a:r>
            <a:endParaRPr lang="en-US" sz="1300" dirty="0"/>
          </a:p>
        </p:txBody>
      </p:sp>
      <p:sp>
        <p:nvSpPr>
          <p:cNvPr id="39" name="Shape 37"/>
          <p:cNvSpPr/>
          <p:nvPr/>
        </p:nvSpPr>
        <p:spPr>
          <a:xfrm>
            <a:off x="8115300" y="3644503"/>
            <a:ext cx="0" cy="487561"/>
          </a:xfrm>
          <a:prstGeom prst="line">
            <a:avLst/>
          </a:prstGeom>
          <a:noFill/>
          <a:ln w="25400">
            <a:solidFill>
              <a:srgbClr val="E07B1F"/>
            </a:solidFill>
            <a:prstDash val="solid"/>
          </a:ln>
        </p:spPr>
      </p:sp>
      <p:sp>
        <p:nvSpPr>
          <p:cNvPr id="40" name="Text 38"/>
          <p:cNvSpPr/>
          <p:nvPr/>
        </p:nvSpPr>
        <p:spPr>
          <a:xfrm>
            <a:off x="8267700" y="3657203"/>
            <a:ext cx="320484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Ако се промени logger, пословни ток не мора да се мења.</a:t>
            </a:r>
            <a:endParaRPr lang="en-US" sz="1300" dirty="0"/>
          </a:p>
        </p:txBody>
      </p:sp>
      <p:sp>
        <p:nvSpPr>
          <p:cNvPr id="41" name="Shape 39"/>
          <p:cNvSpPr/>
          <p:nvPr/>
        </p:nvSpPr>
        <p:spPr>
          <a:xfrm>
            <a:off x="812800" y="6209705"/>
            <a:ext cx="10566400" cy="0"/>
          </a:xfrm>
          <a:prstGeom prst="line">
            <a:avLst/>
          </a:prstGeom>
          <a:noFill/>
          <a:ln w="6350">
            <a:solidFill>
              <a:srgbClr val="D3DAE1"/>
            </a:solidFill>
            <a:prstDash val="solid"/>
          </a:ln>
        </p:spPr>
      </p:sp>
      <p:sp>
        <p:nvSpPr>
          <p:cNvPr id="42" name="Text 4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3" name="Text 4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02 · SRP И OCP</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Open/Closed Principle</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Апстракције се уводе за познате и оправдане варијације понашања.</a:t>
            </a:r>
            <a:endParaRPr lang="en-US" sz="1400" dirty="0"/>
          </a:p>
        </p:txBody>
      </p:sp>
      <p:sp>
        <p:nvSpPr>
          <p:cNvPr id="6" name="Shape 4"/>
          <p:cNvSpPr/>
          <p:nvPr/>
        </p:nvSpPr>
        <p:spPr>
          <a:xfrm>
            <a:off x="831850" y="2176661"/>
            <a:ext cx="0" cy="777081"/>
          </a:xfrm>
          <a:prstGeom prst="line">
            <a:avLst/>
          </a:prstGeom>
          <a:noFill/>
          <a:ln w="38100">
            <a:solidFill>
              <a:srgbClr val="B0213C"/>
            </a:solidFill>
            <a:prstDash val="solid"/>
          </a:ln>
        </p:spPr>
      </p:sp>
      <p:sp>
        <p:nvSpPr>
          <p:cNvPr id="7" name="Text 5"/>
          <p:cNvSpPr/>
          <p:nvPr/>
        </p:nvSpPr>
        <p:spPr>
          <a:xfrm>
            <a:off x="1079500" y="2202061"/>
            <a:ext cx="9536049" cy="75168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Ако стабилан део система стално добија нови switch по типу понашања, променљиво понашање треба сместити иза уговора.</a:t>
            </a:r>
            <a:endParaRPr lang="en-US" sz="2200" dirty="0"/>
          </a:p>
        </p:txBody>
      </p:sp>
      <p:sp>
        <p:nvSpPr>
          <p:cNvPr id="8" name="Shape 6"/>
          <p:cNvSpPr/>
          <p:nvPr/>
        </p:nvSpPr>
        <p:spPr>
          <a:xfrm>
            <a:off x="815975" y="3210917"/>
            <a:ext cx="5187950" cy="1111052"/>
          </a:xfrm>
          <a:prstGeom prst="roundRect">
            <a:avLst>
              <a:gd name="adj" fmla="val 8859"/>
            </a:avLst>
          </a:prstGeom>
          <a:solidFill>
            <a:srgbClr val="FCFCFB"/>
          </a:solidFill>
          <a:ln w="6350">
            <a:solidFill>
              <a:srgbClr val="D3DAE1"/>
            </a:solidFill>
            <a:prstDash val="solid"/>
          </a:ln>
        </p:spPr>
      </p:sp>
      <p:sp>
        <p:nvSpPr>
          <p:cNvPr id="9" name="Text 7"/>
          <p:cNvSpPr/>
          <p:nvPr/>
        </p:nvSpPr>
        <p:spPr>
          <a:xfrm>
            <a:off x="1022350" y="3379192"/>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ФОРМУЛАЦИЈА · MEYER, 1988</a:t>
            </a:r>
            <a:endParaRPr lang="en-US" sz="1200" dirty="0"/>
          </a:p>
        </p:txBody>
      </p:sp>
      <p:sp>
        <p:nvSpPr>
          <p:cNvPr id="10" name="Text 8"/>
          <p:cNvSpPr/>
          <p:nvPr/>
        </p:nvSpPr>
        <p:spPr>
          <a:xfrm>
            <a:off x="1022350" y="3656013"/>
            <a:ext cx="491845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Софтверски ентитети треба да буду отворени за проширење, а затворени за измену.</a:t>
            </a:r>
            <a:endParaRPr lang="en-US" sz="1400" dirty="0"/>
          </a:p>
        </p:txBody>
      </p:sp>
      <p:sp>
        <p:nvSpPr>
          <p:cNvPr id="11" name="Shape 9"/>
          <p:cNvSpPr/>
          <p:nvPr/>
        </p:nvSpPr>
        <p:spPr>
          <a:xfrm>
            <a:off x="6159500" y="3207742"/>
            <a:ext cx="5219700" cy="1117402"/>
          </a:xfrm>
          <a:prstGeom prst="roundRect">
            <a:avLst>
              <a:gd name="adj" fmla="val 9093"/>
            </a:avLst>
          </a:prstGeom>
          <a:solidFill>
            <a:srgbClr val="F0E5E5"/>
          </a:solidFill>
          <a:ln/>
        </p:spPr>
      </p:sp>
      <p:sp>
        <p:nvSpPr>
          <p:cNvPr id="12" name="Shape 10"/>
          <p:cNvSpPr/>
          <p:nvPr/>
        </p:nvSpPr>
        <p:spPr>
          <a:xfrm>
            <a:off x="6159500" y="3207742"/>
            <a:ext cx="5219700" cy="1117402"/>
          </a:xfrm>
          <a:custGeom>
            <a:avLst/>
            <a:gdLst/>
            <a:ahLst/>
            <a:cxnLst/>
            <a:rect l="l" t="t" r="r" b="b"/>
            <a:pathLst>
              <a:path w="5219700" h="1117402">
                <a:moveTo>
                  <a:pt x="101600" y="1117402"/>
                </a:moveTo>
                <a:lnTo>
                  <a:pt x="101600" y="1117402"/>
                </a:lnTo>
                <a:arcTo hR="101600" wR="101600" stAng="5400000" swAng="5400000"/>
                <a:lnTo>
                  <a:pt x="0" y="101600"/>
                </a:lnTo>
                <a:arcTo hR="101600" wR="101600" stAng="10800000" swAng="5400000"/>
                <a:lnTo>
                  <a:pt x="101600" y="0"/>
                </a:lnTo>
                <a:arcTo hR="101600" wR="63500" stAng="16200000" swAng="-5400000"/>
                <a:lnTo>
                  <a:pt x="38100" y="1015802"/>
                </a:lnTo>
                <a:arcTo hR="101600" wR="63500" stAng="10800000" swAng="-5400000"/>
                <a:close/>
              </a:path>
            </a:pathLst>
          </a:custGeom>
          <a:solidFill>
            <a:srgbClr val="B0213C"/>
          </a:solidFill>
          <a:ln/>
        </p:spPr>
      </p:sp>
      <p:sp>
        <p:nvSpPr>
          <p:cNvPr id="13" name="Text 11"/>
          <p:cNvSpPr/>
          <p:nvPr/>
        </p:nvSpPr>
        <p:spPr>
          <a:xfrm>
            <a:off x="6400800" y="3372842"/>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НАПОМЕНА</a:t>
            </a:r>
            <a:endParaRPr lang="en-US" sz="1200" dirty="0"/>
          </a:p>
        </p:txBody>
      </p:sp>
      <p:sp>
        <p:nvSpPr>
          <p:cNvPr id="14" name="Text 12"/>
          <p:cNvSpPr/>
          <p:nvPr/>
        </p:nvSpPr>
        <p:spPr>
          <a:xfrm>
            <a:off x="6400800" y="3649663"/>
            <a:ext cx="491845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OCP омогућава проширење понашања без измене стабилног тока.</a:t>
            </a:r>
            <a:endParaRPr lang="en-US" sz="1400" dirty="0"/>
          </a:p>
        </p:txBody>
      </p:sp>
      <p:sp>
        <p:nvSpPr>
          <p:cNvPr id="15" name="Shape 13"/>
          <p:cNvSpPr/>
          <p:nvPr/>
        </p:nvSpPr>
        <p:spPr>
          <a:xfrm>
            <a:off x="812800" y="6209705"/>
            <a:ext cx="10566400" cy="0"/>
          </a:xfrm>
          <a:prstGeom prst="line">
            <a:avLst/>
          </a:prstGeom>
          <a:noFill/>
          <a:ln w="6350">
            <a:solidFill>
              <a:srgbClr val="D3DAE1"/>
            </a:solidFill>
            <a:prstDash val="solid"/>
          </a:ln>
        </p:spPr>
      </p:sp>
      <p:sp>
        <p:nvSpPr>
          <p:cNvPr id="16" name="Text 1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7" name="Text 1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02 · SRP И OCP</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Од switch-а до уговора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Илустрација: извоз записа у више формата.</a:t>
            </a:r>
            <a:endParaRPr lang="en-US" sz="1400" dirty="0"/>
          </a:p>
        </p:txBody>
      </p:sp>
      <p:sp>
        <p:nvSpPr>
          <p:cNvPr id="6" name="Shape 4"/>
          <p:cNvSpPr/>
          <p:nvPr/>
        </p:nvSpPr>
        <p:spPr>
          <a:xfrm>
            <a:off x="815975" y="2078236"/>
            <a:ext cx="4959350" cy="2144713"/>
          </a:xfrm>
          <a:prstGeom prst="roundRect">
            <a:avLst>
              <a:gd name="adj" fmla="val 4589"/>
            </a:avLst>
          </a:prstGeom>
          <a:solidFill>
            <a:srgbClr val="FCFCFB"/>
          </a:solidFill>
          <a:ln w="6350">
            <a:solidFill>
              <a:srgbClr val="D3DAE1"/>
            </a:solidFill>
            <a:prstDash val="solid"/>
          </a:ln>
        </p:spPr>
      </p:sp>
      <p:sp>
        <p:nvSpPr>
          <p:cNvPr id="7" name="Text 5"/>
          <p:cNvSpPr/>
          <p:nvPr/>
        </p:nvSpPr>
        <p:spPr>
          <a:xfrm>
            <a:off x="996950" y="2221111"/>
            <a:ext cx="473532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ПРЕ · SWITCH ПО ФОРМАТУ</a:t>
            </a:r>
            <a:endParaRPr lang="en-US" sz="1200" dirty="0"/>
          </a:p>
        </p:txBody>
      </p:sp>
      <p:sp>
        <p:nvSpPr>
          <p:cNvPr id="8" name="Text 6"/>
          <p:cNvSpPr/>
          <p:nvPr/>
        </p:nvSpPr>
        <p:spPr>
          <a:xfrm>
            <a:off x="996950" y="2510631"/>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Izvezi(ZapisNaSajtu z, </a:t>
            </a:r>
            <a:r>
              <a:rPr lang="en-US" sz="1200" dirty="0">
                <a:solidFill>
                  <a:srgbClr val="B0213C"/>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f) =&gt;</a:t>
            </a:r>
            <a:endParaRPr lang="en-US" sz="1200" dirty="0"/>
          </a:p>
        </p:txBody>
      </p:sp>
      <p:sp>
        <p:nvSpPr>
          <p:cNvPr id="9" name="Text 7"/>
          <p:cNvSpPr/>
          <p:nvPr/>
        </p:nvSpPr>
        <p:spPr>
          <a:xfrm>
            <a:off x="996950" y="273665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f </a:t>
            </a:r>
            <a:r>
              <a:rPr lang="en-US" sz="1200" dirty="0">
                <a:solidFill>
                  <a:srgbClr val="B0213C"/>
                </a:solidFill>
                <a:latin typeface="IBM Plex Mono" pitchFamily="49" charset="0"/>
                <a:ea typeface="IBM Plex Mono" pitchFamily="49" charset="-122"/>
                <a:cs typeface="IBM Plex Mono" pitchFamily="49" charset="-120"/>
              </a:rPr>
              <a:t>switch</a:t>
            </a:r>
            <a:endParaRPr lang="en-US" sz="1200" dirty="0"/>
          </a:p>
        </p:txBody>
      </p:sp>
      <p:sp>
        <p:nvSpPr>
          <p:cNvPr id="10" name="Text 8"/>
          <p:cNvSpPr/>
          <p:nvPr/>
        </p:nvSpPr>
        <p:spPr>
          <a:xfrm>
            <a:off x="996950" y="296267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1" name="Text 9"/>
          <p:cNvSpPr/>
          <p:nvPr/>
        </p:nvSpPr>
        <p:spPr>
          <a:xfrm>
            <a:off x="996950" y="318869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"json"</a:t>
            </a:r>
            <a:r>
              <a:rPr lang="en-US" sz="1200" dirty="0">
                <a:solidFill>
                  <a:srgbClr val="13202D"/>
                </a:solidFill>
                <a:latin typeface="IBM Plex Mono" pitchFamily="49" charset="0"/>
                <a:ea typeface="IBM Plex Mono" pitchFamily="49" charset="-122"/>
                <a:cs typeface="IBM Plex Mono" pitchFamily="49" charset="-120"/>
              </a:rPr>
              <a:t> =&gt; UJson(z),</a:t>
            </a:r>
            <a:endParaRPr lang="en-US" sz="1200" dirty="0"/>
          </a:p>
        </p:txBody>
      </p:sp>
      <p:sp>
        <p:nvSpPr>
          <p:cNvPr id="12" name="Text 10"/>
          <p:cNvSpPr/>
          <p:nvPr/>
        </p:nvSpPr>
        <p:spPr>
          <a:xfrm>
            <a:off x="996950" y="3414713"/>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"md"</a:t>
            </a:r>
            <a:r>
              <a:rPr lang="en-US" sz="1200" dirty="0">
                <a:solidFill>
                  <a:srgbClr val="13202D"/>
                </a:solidFill>
                <a:latin typeface="IBM Plex Mono" pitchFamily="49" charset="0"/>
                <a:ea typeface="IBM Plex Mono" pitchFamily="49" charset="-122"/>
                <a:cs typeface="IBM Plex Mono" pitchFamily="49" charset="-120"/>
              </a:rPr>
              <a:t> =&gt; UMarkdown(z),</a:t>
            </a:r>
            <a:endParaRPr lang="en-US" sz="1200" dirty="0"/>
          </a:p>
        </p:txBody>
      </p:sp>
      <p:sp>
        <p:nvSpPr>
          <p:cNvPr id="13" name="Text 11"/>
          <p:cNvSpPr/>
          <p:nvPr/>
        </p:nvSpPr>
        <p:spPr>
          <a:xfrm>
            <a:off x="996950" y="3640733"/>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_ =&gt; </a:t>
            </a:r>
            <a:r>
              <a:rPr lang="en-US" sz="1200" dirty="0">
                <a:solidFill>
                  <a:srgbClr val="B0213C"/>
                </a:solidFill>
                <a:latin typeface="IBM Plex Mono" pitchFamily="49" charset="0"/>
                <a:ea typeface="IBM Plex Mono" pitchFamily="49" charset="-122"/>
                <a:cs typeface="IBM Plex Mono" pitchFamily="49" charset="-120"/>
              </a:rPr>
              <a:t>throw new</a:t>
            </a:r>
            <a:r>
              <a:rPr lang="en-US" sz="1200" dirty="0">
                <a:solidFill>
                  <a:srgbClr val="13202D"/>
                </a:solidFill>
                <a:latin typeface="IBM Plex Mono" pitchFamily="49" charset="0"/>
                <a:ea typeface="IBM Plex Mono" pitchFamily="49" charset="-122"/>
                <a:cs typeface="IBM Plex Mono" pitchFamily="49" charset="-120"/>
              </a:rPr>
              <a:t> NotSupportedException()</a:t>
            </a:r>
            <a:endParaRPr lang="en-US" sz="1200" dirty="0"/>
          </a:p>
        </p:txBody>
      </p:sp>
      <p:sp>
        <p:nvSpPr>
          <p:cNvPr id="14" name="Text 12"/>
          <p:cNvSpPr/>
          <p:nvPr/>
        </p:nvSpPr>
        <p:spPr>
          <a:xfrm>
            <a:off x="996950" y="3866753"/>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pic>
        <p:nvPicPr>
          <p:cNvPr id="15" name="Image 0" descr="arrow-right">    </p:cNvPr>
          <p:cNvPicPr>
            <a:picLocks noChangeAspect="1"/>
          </p:cNvPicPr>
          <p:nvPr/>
        </p:nvPicPr>
        <p:blipFill>
          <a:blip r:embed="rId1"/>
          <a:srcRect l="0" r="0" t="0" b="0"/>
          <a:stretch/>
        </p:blipFill>
        <p:spPr>
          <a:xfrm>
            <a:off x="5981700" y="3093442"/>
            <a:ext cx="228600" cy="114300"/>
          </a:xfrm>
          <a:prstGeom prst="rect">
            <a:avLst/>
          </a:prstGeom>
        </p:spPr>
      </p:pic>
      <p:sp>
        <p:nvSpPr>
          <p:cNvPr id="16" name="Shape 13"/>
          <p:cNvSpPr/>
          <p:nvPr/>
        </p:nvSpPr>
        <p:spPr>
          <a:xfrm>
            <a:off x="6416675" y="2078236"/>
            <a:ext cx="4959350" cy="2144713"/>
          </a:xfrm>
          <a:prstGeom prst="roundRect">
            <a:avLst>
              <a:gd name="adj" fmla="val 4589"/>
            </a:avLst>
          </a:prstGeom>
          <a:solidFill>
            <a:srgbClr val="FCFCFB"/>
          </a:solidFill>
          <a:ln w="6350">
            <a:solidFill>
              <a:srgbClr val="D3DAE1"/>
            </a:solidFill>
            <a:prstDash val="solid"/>
          </a:ln>
        </p:spPr>
      </p:sp>
      <p:sp>
        <p:nvSpPr>
          <p:cNvPr id="17" name="Text 14"/>
          <p:cNvSpPr/>
          <p:nvPr/>
        </p:nvSpPr>
        <p:spPr>
          <a:xfrm>
            <a:off x="6597650" y="2221111"/>
            <a:ext cx="473532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ПОСЛЕ · УГОВОР</a:t>
            </a:r>
            <a:endParaRPr lang="en-US" sz="1200" dirty="0"/>
          </a:p>
        </p:txBody>
      </p:sp>
      <p:sp>
        <p:nvSpPr>
          <p:cNvPr id="18" name="Text 15"/>
          <p:cNvSpPr/>
          <p:nvPr/>
        </p:nvSpPr>
        <p:spPr>
          <a:xfrm>
            <a:off x="6597650" y="2510631"/>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public interface</a:t>
            </a:r>
            <a:r>
              <a:rPr lang="en-US" sz="1200" dirty="0">
                <a:solidFill>
                  <a:srgbClr val="13202D"/>
                </a:solidFill>
                <a:latin typeface="IBM Plex Mono" pitchFamily="49" charset="0"/>
                <a:ea typeface="IBM Plex Mono" pitchFamily="49" charset="-122"/>
                <a:cs typeface="IBM Plex Mono" pitchFamily="49" charset="-120"/>
              </a:rPr>
              <a:t> IIzvozZapisa</a:t>
            </a:r>
            <a:endParaRPr lang="en-US" sz="1200" dirty="0"/>
          </a:p>
        </p:txBody>
      </p:sp>
      <p:sp>
        <p:nvSpPr>
          <p:cNvPr id="19" name="Text 16"/>
          <p:cNvSpPr/>
          <p:nvPr/>
        </p:nvSpPr>
        <p:spPr>
          <a:xfrm>
            <a:off x="6597650" y="273665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0" name="Text 17"/>
          <p:cNvSpPr/>
          <p:nvPr/>
        </p:nvSpPr>
        <p:spPr>
          <a:xfrm>
            <a:off x="6597650" y="296267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Format { </a:t>
            </a:r>
            <a:r>
              <a:rPr lang="en-US" sz="1200" dirty="0">
                <a:solidFill>
                  <a:srgbClr val="B0213C"/>
                </a:solidFill>
                <a:latin typeface="IBM Plex Mono" pitchFamily="49" charset="0"/>
                <a:ea typeface="IBM Plex Mono" pitchFamily="49" charset="-122"/>
                <a:cs typeface="IBM Plex Mono" pitchFamily="49" charset="-120"/>
              </a:rPr>
              <a:t>get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1" name="Text 18"/>
          <p:cNvSpPr/>
          <p:nvPr/>
        </p:nvSpPr>
        <p:spPr>
          <a:xfrm>
            <a:off x="6597650" y="318869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Izvezi(ZapisNaSajtu zapis);</a:t>
            </a:r>
            <a:endParaRPr lang="en-US" sz="1200" dirty="0"/>
          </a:p>
        </p:txBody>
      </p:sp>
      <p:sp>
        <p:nvSpPr>
          <p:cNvPr id="22" name="Text 19"/>
          <p:cNvSpPr/>
          <p:nvPr/>
        </p:nvSpPr>
        <p:spPr>
          <a:xfrm>
            <a:off x="6597650" y="3414713"/>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3" name="Text 20"/>
          <p:cNvSpPr/>
          <p:nvPr/>
        </p:nvSpPr>
        <p:spPr>
          <a:xfrm>
            <a:off x="6597650" y="3640733"/>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0"/>
                </a:solidFill>
                <a:latin typeface="IBM Plex Mono" pitchFamily="49" charset="0"/>
                <a:ea typeface="IBM Plex Mono" pitchFamily="49" charset="-122"/>
                <a:cs typeface="IBM Plex Mono" pitchFamily="49" charset="-120"/>
              </a:rPr>
              <a:t>// нови формат је нова класа</a:t>
            </a:r>
            <a:endParaRPr lang="en-US" sz="1200" dirty="0"/>
          </a:p>
        </p:txBody>
      </p:sp>
      <p:sp>
        <p:nvSpPr>
          <p:cNvPr id="24" name="Text 21"/>
          <p:cNvSpPr/>
          <p:nvPr/>
        </p:nvSpPr>
        <p:spPr>
          <a:xfrm>
            <a:off x="6597650" y="3866753"/>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sealed class</a:t>
            </a:r>
            <a:r>
              <a:rPr lang="en-US" sz="1200" dirty="0">
                <a:solidFill>
                  <a:srgbClr val="13202D"/>
                </a:solidFill>
                <a:latin typeface="IBM Plex Mono" pitchFamily="49" charset="0"/>
                <a:ea typeface="IBM Plex Mono" pitchFamily="49" charset="-122"/>
                <a:cs typeface="IBM Plex Mono" pitchFamily="49" charset="-120"/>
              </a:rPr>
              <a:t> MarkdownIzvoz : IIzvozZapisa</a:t>
            </a:r>
            <a:endParaRPr lang="en-US" sz="1200" dirty="0"/>
          </a:p>
        </p:txBody>
      </p:sp>
      <p:sp>
        <p:nvSpPr>
          <p:cNvPr id="25" name="Shape 22"/>
          <p:cNvSpPr/>
          <p:nvPr/>
        </p:nvSpPr>
        <p:spPr>
          <a:xfrm>
            <a:off x="815975" y="4432498"/>
            <a:ext cx="5175250" cy="457795"/>
          </a:xfrm>
          <a:prstGeom prst="roundRect">
            <a:avLst>
              <a:gd name="adj" fmla="val 18726"/>
            </a:avLst>
          </a:prstGeom>
          <a:solidFill>
            <a:srgbClr val="FBF1E6"/>
          </a:solidFill>
          <a:ln w="6350">
            <a:solidFill>
              <a:srgbClr val="E9B98C"/>
            </a:solidFill>
            <a:prstDash val="solid"/>
          </a:ln>
        </p:spPr>
      </p:sp>
      <p:pic>
        <p:nvPicPr>
          <p:cNvPr id="26" name="Image 1" descr="Warning">    </p:cNvPr>
          <p:cNvPicPr>
            <a:picLocks noChangeAspect="1"/>
          </p:cNvPicPr>
          <p:nvPr/>
        </p:nvPicPr>
        <p:blipFill>
          <a:blip r:embed="rId2"/>
          <a:srcRect l="0" r="0" t="0" b="0"/>
          <a:stretch/>
        </p:blipFill>
        <p:spPr>
          <a:xfrm>
            <a:off x="971550" y="4559796"/>
            <a:ext cx="203200" cy="203200"/>
          </a:xfrm>
          <a:prstGeom prst="rect">
            <a:avLst/>
          </a:prstGeom>
        </p:spPr>
      </p:pic>
      <p:sp>
        <p:nvSpPr>
          <p:cNvPr id="27" name="Text 23"/>
          <p:cNvSpPr/>
          <p:nvPr/>
        </p:nvSpPr>
        <p:spPr>
          <a:xfrm>
            <a:off x="1276350" y="4549973"/>
            <a:ext cx="469607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Сваки нови формат мења исту стабилну методу.</a:t>
            </a:r>
            <a:endParaRPr lang="en-US" sz="1300" dirty="0"/>
          </a:p>
        </p:txBody>
      </p:sp>
      <p:sp>
        <p:nvSpPr>
          <p:cNvPr id="28" name="Shape 24"/>
          <p:cNvSpPr/>
          <p:nvPr/>
        </p:nvSpPr>
        <p:spPr>
          <a:xfrm>
            <a:off x="6200775" y="4432498"/>
            <a:ext cx="5175250" cy="457795"/>
          </a:xfrm>
          <a:prstGeom prst="roundRect">
            <a:avLst>
              <a:gd name="adj" fmla="val 18726"/>
            </a:avLst>
          </a:prstGeom>
          <a:solidFill>
            <a:srgbClr val="F0E5E5"/>
          </a:solidFill>
          <a:ln w="6350">
            <a:solidFill>
              <a:srgbClr val="ECCAD0"/>
            </a:solidFill>
            <a:prstDash val="solid"/>
          </a:ln>
        </p:spPr>
      </p:sp>
      <p:pic>
        <p:nvPicPr>
          <p:cNvPr id="29" name="Image 2" descr="CheckCircle">    </p:cNvPr>
          <p:cNvPicPr>
            <a:picLocks noChangeAspect="1"/>
          </p:cNvPicPr>
          <p:nvPr/>
        </p:nvPicPr>
        <p:blipFill>
          <a:blip r:embed="rId3"/>
          <a:srcRect l="0" r="0" t="0" b="0"/>
          <a:stretch/>
        </p:blipFill>
        <p:spPr>
          <a:xfrm>
            <a:off x="6356350" y="4559796"/>
            <a:ext cx="203200" cy="203200"/>
          </a:xfrm>
          <a:prstGeom prst="rect">
            <a:avLst/>
          </a:prstGeom>
        </p:spPr>
      </p:pic>
      <p:sp>
        <p:nvSpPr>
          <p:cNvPr id="30" name="Text 25"/>
          <p:cNvSpPr/>
          <p:nvPr/>
        </p:nvSpPr>
        <p:spPr>
          <a:xfrm>
            <a:off x="6661150" y="4549973"/>
            <a:ext cx="469607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Нови формат се додаје, а постојећи код се не мења.</a:t>
            </a:r>
            <a:endParaRPr lang="en-US" sz="1300" dirty="0"/>
          </a:p>
        </p:txBody>
      </p:sp>
      <p:sp>
        <p:nvSpPr>
          <p:cNvPr id="31" name="Shape 26"/>
          <p:cNvSpPr/>
          <p:nvPr/>
        </p:nvSpPr>
        <p:spPr>
          <a:xfrm>
            <a:off x="812800" y="6209705"/>
            <a:ext cx="10566400" cy="0"/>
          </a:xfrm>
          <a:prstGeom prst="line">
            <a:avLst/>
          </a:prstGeom>
          <a:noFill/>
          <a:ln w="6350">
            <a:solidFill>
              <a:srgbClr val="D3DAE1"/>
            </a:solidFill>
            <a:prstDash val="solid"/>
          </a:ln>
        </p:spPr>
      </p:sp>
      <p:sp>
        <p:nvSpPr>
          <p:cNvPr id="32"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02 · SRP И OCP</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OCP и заменљиво складиште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Нова имплементација складишта додаје се без измене пословног кода.</a:t>
            </a:r>
            <a:endParaRPr lang="en-US" sz="1400" dirty="0"/>
          </a:p>
        </p:txBody>
      </p:sp>
      <p:sp>
        <p:nvSpPr>
          <p:cNvPr id="6" name="Shape 4"/>
          <p:cNvSpPr/>
          <p:nvPr/>
        </p:nvSpPr>
        <p:spPr>
          <a:xfrm>
            <a:off x="815975" y="2129036"/>
            <a:ext cx="6597650" cy="3201194"/>
          </a:xfrm>
          <a:prstGeom prst="roundRect">
            <a:avLst>
              <a:gd name="adj" fmla="val 3075"/>
            </a:avLst>
          </a:prstGeom>
          <a:solidFill>
            <a:srgbClr val="FCFCFB"/>
          </a:solidFill>
          <a:ln w="6350">
            <a:solidFill>
              <a:srgbClr val="D3DAE1"/>
            </a:solidFill>
            <a:prstDash val="solid"/>
          </a:ln>
        </p:spPr>
      </p:sp>
      <p:sp>
        <p:nvSpPr>
          <p:cNvPr id="7" name="Text 5"/>
          <p:cNvSpPr/>
          <p:nvPr/>
        </p:nvSpPr>
        <p:spPr>
          <a:xfrm>
            <a:off x="1022350" y="22846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Domain и Infrastructure</a:t>
            </a:r>
            <a:endParaRPr lang="en-US" sz="1200" dirty="0"/>
          </a:p>
        </p:txBody>
      </p:sp>
      <p:sp>
        <p:nvSpPr>
          <p:cNvPr id="8" name="Text 6"/>
          <p:cNvSpPr/>
          <p:nvPr/>
        </p:nvSpPr>
        <p:spPr>
          <a:xfrm>
            <a:off x="1022350" y="25741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public interface</a:t>
            </a:r>
            <a:r>
              <a:rPr lang="en-US" sz="1200" dirty="0">
                <a:solidFill>
                  <a:srgbClr val="13202D"/>
                </a:solidFill>
                <a:latin typeface="IBM Plex Mono" pitchFamily="49" charset="0"/>
                <a:ea typeface="IBM Plex Mono" pitchFamily="49" charset="-122"/>
                <a:cs typeface="IBM Plex Mono" pitchFamily="49" charset="-120"/>
              </a:rPr>
              <a:t> IBazaPodataka</a:t>
            </a:r>
            <a:endParaRPr lang="en-US" sz="1200" dirty="0"/>
          </a:p>
        </p:txBody>
      </p:sp>
      <p:sp>
        <p:nvSpPr>
          <p:cNvPr id="10" name="Text 8"/>
          <p:cNvSpPr/>
          <p:nvPr/>
        </p:nvSpPr>
        <p:spPr>
          <a:xfrm>
            <a:off x="1022350" y="28128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1285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22350" y="30515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5157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TabeleBazaPodataka Tabele { </a:t>
            </a:r>
            <a:r>
              <a:rPr lang="en-US" sz="1200" dirty="0">
                <a:solidFill>
                  <a:srgbClr val="B0213C"/>
                </a:solidFill>
                <a:latin typeface="IBM Plex Mono" pitchFamily="49" charset="0"/>
                <a:ea typeface="IBM Plex Mono" pitchFamily="49" charset="-122"/>
                <a:cs typeface="IBM Plex Mono" pitchFamily="49" charset="-120"/>
              </a:rPr>
              <a:t>get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4" name="Text 12"/>
          <p:cNvSpPr/>
          <p:nvPr/>
        </p:nvSpPr>
        <p:spPr>
          <a:xfrm>
            <a:off x="1022350" y="32902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29029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bool</a:t>
            </a:r>
            <a:r>
              <a:rPr lang="en-US" sz="1200" dirty="0">
                <a:solidFill>
                  <a:srgbClr val="13202D"/>
                </a:solidFill>
                <a:latin typeface="IBM Plex Mono" pitchFamily="49" charset="0"/>
                <a:ea typeface="IBM Plex Mono" pitchFamily="49" charset="-122"/>
                <a:cs typeface="IBM Plex Mono" pitchFamily="49" charset="-120"/>
              </a:rPr>
              <a:t> SacuvajPromene();</a:t>
            </a:r>
            <a:endParaRPr lang="en-US" sz="1200" dirty="0"/>
          </a:p>
        </p:txBody>
      </p:sp>
      <p:sp>
        <p:nvSpPr>
          <p:cNvPr id="16" name="Text 14"/>
          <p:cNvSpPr/>
          <p:nvPr/>
        </p:nvSpPr>
        <p:spPr>
          <a:xfrm>
            <a:off x="1022350" y="35290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52901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1022350" y="37677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022350" y="40064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403350" y="400645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InMemoryBazaPodataka : IBazaPodataka</a:t>
            </a:r>
            <a:endParaRPr lang="en-US" sz="1200" dirty="0"/>
          </a:p>
        </p:txBody>
      </p:sp>
      <p:sp>
        <p:nvSpPr>
          <p:cNvPr id="21" name="Text 19"/>
          <p:cNvSpPr/>
          <p:nvPr/>
        </p:nvSpPr>
        <p:spPr>
          <a:xfrm>
            <a:off x="1022350" y="42451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403350" y="424517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3" name="Text 21"/>
          <p:cNvSpPr/>
          <p:nvPr/>
        </p:nvSpPr>
        <p:spPr>
          <a:xfrm>
            <a:off x="1022350" y="44838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403350" y="4483894"/>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TabeleBazaPodataka Tabele { </a:t>
            </a:r>
            <a:r>
              <a:rPr lang="en-US" sz="1200" dirty="0">
                <a:solidFill>
                  <a:srgbClr val="B0213C"/>
                </a:solidFill>
                <a:latin typeface="IBM Plex Mono" pitchFamily="49" charset="0"/>
                <a:ea typeface="IBM Plex Mono" pitchFamily="49" charset="-122"/>
                <a:cs typeface="IBM Plex Mono" pitchFamily="49" charset="-120"/>
              </a:rPr>
              <a:t>get</a:t>
            </a:r>
            <a:r>
              <a:rPr lang="en-US" sz="1200" dirty="0">
                <a:solidFill>
                  <a:srgbClr val="13202D"/>
                </a:solidFill>
                <a:latin typeface="IBM Plex Mono" pitchFamily="49" charset="0"/>
                <a:ea typeface="IBM Plex Mono" pitchFamily="49" charset="-122"/>
                <a:cs typeface="IBM Plex Mono" pitchFamily="49" charset="-120"/>
              </a:rPr>
              <a:t>; } = </a:t>
            </a:r>
            <a:r>
              <a:rPr lang="en-US" sz="1200" dirty="0">
                <a:solidFill>
                  <a:srgbClr val="B0213C"/>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5" name="Text 23"/>
          <p:cNvSpPr/>
          <p:nvPr/>
        </p:nvSpPr>
        <p:spPr>
          <a:xfrm>
            <a:off x="1022350" y="47226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403350" y="4722614"/>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public bool</a:t>
            </a:r>
            <a:r>
              <a:rPr lang="en-US" sz="1200" dirty="0">
                <a:solidFill>
                  <a:srgbClr val="13202D"/>
                </a:solidFill>
                <a:latin typeface="IBM Plex Mono" pitchFamily="49" charset="0"/>
                <a:ea typeface="IBM Plex Mono" pitchFamily="49" charset="-122"/>
                <a:cs typeface="IBM Plex Mono" pitchFamily="49" charset="-120"/>
              </a:rPr>
              <a:t> SacuvajPromene() =&gt; </a:t>
            </a:r>
            <a:r>
              <a:rPr lang="en-US" sz="1200" dirty="0">
                <a:solidFill>
                  <a:srgbClr val="B0213C"/>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7" name="Text 25"/>
          <p:cNvSpPr/>
          <p:nvPr/>
        </p:nvSpPr>
        <p:spPr>
          <a:xfrm>
            <a:off x="1022350" y="49613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403350" y="4961334"/>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9" name="Text 27"/>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0" name="Shape 28"/>
          <p:cNvSpPr/>
          <p:nvPr/>
        </p:nvSpPr>
        <p:spPr>
          <a:xfrm>
            <a:off x="7734300" y="2466181"/>
            <a:ext cx="0" cy="256480"/>
          </a:xfrm>
          <a:prstGeom prst="line">
            <a:avLst/>
          </a:prstGeom>
          <a:noFill/>
          <a:ln w="25400">
            <a:solidFill>
              <a:srgbClr val="B0213C"/>
            </a:solidFill>
            <a:prstDash val="solid"/>
          </a:ln>
        </p:spPr>
      </p:sp>
      <p:sp>
        <p:nvSpPr>
          <p:cNvPr id="31" name="Text 29"/>
          <p:cNvSpPr/>
          <p:nvPr/>
        </p:nvSpPr>
        <p:spPr>
          <a:xfrm>
            <a:off x="7886700" y="2478881"/>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Стабилан сервис користи IBazaPodataka.</a:t>
            </a:r>
            <a:endParaRPr lang="en-US" sz="1300" dirty="0"/>
          </a:p>
        </p:txBody>
      </p:sp>
      <p:sp>
        <p:nvSpPr>
          <p:cNvPr id="32" name="Shape 30"/>
          <p:cNvSpPr/>
          <p:nvPr/>
        </p:nvSpPr>
        <p:spPr>
          <a:xfrm>
            <a:off x="7734300" y="2849662"/>
            <a:ext cx="0" cy="487561"/>
          </a:xfrm>
          <a:prstGeom prst="line">
            <a:avLst/>
          </a:prstGeom>
          <a:noFill/>
          <a:ln w="25400">
            <a:solidFill>
              <a:srgbClr val="B0213C"/>
            </a:solidFill>
            <a:prstDash val="solid"/>
          </a:ln>
        </p:spPr>
      </p:sp>
      <p:sp>
        <p:nvSpPr>
          <p:cNvPr id="33" name="Text 31"/>
          <p:cNvSpPr/>
          <p:nvPr/>
        </p:nvSpPr>
        <p:spPr>
          <a:xfrm>
            <a:off x="7886700" y="286236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JSON, in-memory или други provider су технички детаљи.</a:t>
            </a:r>
            <a:endParaRPr lang="en-US" sz="1300" dirty="0"/>
          </a:p>
        </p:txBody>
      </p:sp>
      <p:sp>
        <p:nvSpPr>
          <p:cNvPr id="34" name="Shape 32"/>
          <p:cNvSpPr/>
          <p:nvPr/>
        </p:nvSpPr>
        <p:spPr>
          <a:xfrm>
            <a:off x="7734300" y="3464223"/>
            <a:ext cx="0" cy="487561"/>
          </a:xfrm>
          <a:prstGeom prst="line">
            <a:avLst/>
          </a:prstGeom>
          <a:noFill/>
          <a:ln w="25400">
            <a:solidFill>
              <a:srgbClr val="E07B1F"/>
            </a:solidFill>
            <a:prstDash val="solid"/>
          </a:ln>
        </p:spPr>
      </p:sp>
      <p:sp>
        <p:nvSpPr>
          <p:cNvPr id="35" name="Text 33"/>
          <p:cNvSpPr/>
          <p:nvPr/>
        </p:nvSpPr>
        <p:spPr>
          <a:xfrm>
            <a:off x="7886700" y="347692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Проширење се дешава додавањем имплементације.</a:t>
            </a:r>
            <a:endParaRPr lang="en-US" sz="13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5E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B0213C"/>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LSP, ISP и DIP</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Принципи који откривају неодговарајуће уговоре и погрешан смер зависности.</a:t>
            </a:r>
            <a:endParaRPr lang="en-US" sz="1400" dirty="0"/>
          </a:p>
        </p:txBody>
      </p:sp>
      <p:sp>
        <p:nvSpPr>
          <p:cNvPr id="6" name="Text 4"/>
          <p:cNvSpPr/>
          <p:nvPr/>
        </p:nvSpPr>
        <p:spPr>
          <a:xfrm>
            <a:off x="4270375" y="3915966"/>
            <a:ext cx="1829693"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Дефинисање граница</a:t>
            </a:r>
            <a:endParaRPr lang="en-US" sz="1200" dirty="0"/>
          </a:p>
        </p:txBody>
      </p:sp>
      <p:sp>
        <p:nvSpPr>
          <p:cNvPr id="7" name="Text 5"/>
          <p:cNvSpPr/>
          <p:nvPr/>
        </p:nvSpPr>
        <p:spPr>
          <a:xfrm>
            <a:off x="6182618" y="3915966"/>
            <a:ext cx="1868686"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Заменљивост подтипа</a:t>
            </a:r>
            <a:endParaRPr lang="en-US" sz="1200" dirty="0"/>
          </a:p>
        </p:txBody>
      </p:sp>
      <p:sp>
        <p:nvSpPr>
          <p:cNvPr id="8" name="Text 6"/>
          <p:cNvSpPr/>
          <p:nvPr/>
        </p:nvSpPr>
        <p:spPr>
          <a:xfrm>
            <a:off x="8133854" y="3915966"/>
            <a:ext cx="1219597"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Подела улога</a:t>
            </a:r>
            <a:endParaRPr lang="en-US" sz="1200" dirty="0"/>
          </a:p>
        </p:txBody>
      </p:sp>
      <p:sp>
        <p:nvSpPr>
          <p:cNvPr id="9" name="Text 7"/>
          <p:cNvSpPr/>
          <p:nvPr/>
        </p:nvSpPr>
        <p:spPr>
          <a:xfrm>
            <a:off x="4270375" y="4319786"/>
            <a:ext cx="1857970"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Инверзија зависности</a:t>
            </a:r>
            <a:endParaRPr lang="en-US" sz="1200" dirty="0"/>
          </a:p>
        </p:txBody>
      </p:sp>
      <p:sp>
        <p:nvSpPr>
          <p:cNvPr id="10" name="Shape 8"/>
          <p:cNvSpPr/>
          <p:nvPr/>
        </p:nvSpPr>
        <p:spPr>
          <a:xfrm>
            <a:off x="812800" y="6209705"/>
            <a:ext cx="10566400" cy="0"/>
          </a:xfrm>
          <a:prstGeom prst="line">
            <a:avLst/>
          </a:prstGeom>
          <a:noFill/>
          <a:ln w="6350">
            <a:solidFill>
              <a:srgbClr val="C8B6BF"/>
            </a:solidFill>
            <a:prstDash val="solid"/>
          </a:ln>
        </p:spPr>
      </p:sp>
      <p:sp>
        <p:nvSpPr>
          <p:cNvPr id="11" name="Text 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1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03 · LSP, ISP И DIP</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LSP, ISP и DIP у дефинисању граница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Принципи откривају неодговарајуће уговоре и погрешан смер зависности.</a:t>
            </a:r>
            <a:endParaRPr lang="en-US" sz="1400" dirty="0"/>
          </a:p>
        </p:txBody>
      </p:sp>
      <p:sp>
        <p:nvSpPr>
          <p:cNvPr id="6" name="Shape 4"/>
          <p:cNvSpPr/>
          <p:nvPr/>
        </p:nvSpPr>
        <p:spPr>
          <a:xfrm>
            <a:off x="812800" y="2176661"/>
            <a:ext cx="10566400" cy="2182813"/>
          </a:xfrm>
          <a:prstGeom prst="roundRect">
            <a:avLst>
              <a:gd name="adj" fmla="val 4655"/>
            </a:avLst>
          </a:prstGeom>
          <a:solidFill>
            <a:srgbClr val="FCFCFB"/>
          </a:solidFill>
          <a:ln/>
        </p:spPr>
      </p:sp>
      <p:sp>
        <p:nvSpPr>
          <p:cNvPr id="7" name="Shape 5"/>
          <p:cNvSpPr/>
          <p:nvPr/>
        </p:nvSpPr>
        <p:spPr>
          <a:xfrm>
            <a:off x="812800" y="2176661"/>
            <a:ext cx="10566400" cy="2182813"/>
          </a:xfrm>
          <a:custGeom>
            <a:avLst/>
            <a:gdLst/>
            <a:ahLst/>
            <a:cxnLst/>
            <a:rect l="l" t="t" r="r" b="b"/>
            <a:pathLst>
              <a:path w="10566400" h="2182813">
                <a:moveTo>
                  <a:pt x="10464800" y="0"/>
                </a:moveTo>
                <a:lnTo>
                  <a:pt x="10464800" y="0"/>
                </a:lnTo>
                <a:arcTo hR="101600" wR="101600" stAng="16200000" swAng="5400000"/>
                <a:lnTo>
                  <a:pt x="10566400" y="2081212"/>
                </a:lnTo>
                <a:arcTo hR="101600" wR="101600" stAng="0" swAng="5400000"/>
                <a:lnTo>
                  <a:pt x="101600" y="2182813"/>
                </a:lnTo>
                <a:arcTo hR="101600" wR="101600" stAng="5400000" swAng="5400000"/>
                <a:lnTo>
                  <a:pt x="0" y="2081212"/>
                </a:lnTo>
                <a:arcTo hR="95250" wR="101600" stAng="10800000" swAng="-5400000"/>
                <a:lnTo>
                  <a:pt x="10464800" y="217646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182813"/>
          </a:xfrm>
          <a:custGeom>
            <a:avLst/>
            <a:gdLst/>
            <a:ahLst/>
            <a:cxnLst/>
            <a:rect l="l" t="t" r="r" b="b"/>
            <a:pathLst>
              <a:path w="10566400" h="2182813">
                <a:moveTo>
                  <a:pt x="101600" y="2182813"/>
                </a:moveTo>
                <a:lnTo>
                  <a:pt x="101600" y="218281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081212"/>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163763"/>
        </p:xfrm>
        <a:graphic>
          <a:graphicData uri="http://schemas.openxmlformats.org/drawingml/2006/table">
            <a:tbl>
              <a:tblPr/>
              <a:tblGrid>
                <a:gridCol w="2320417"/>
                <a:gridCol w="4429887"/>
                <a:gridCol w="3797046"/>
              </a:tblGrid>
              <a:tr h="5409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Принцип</a:t>
                      </a:r>
                      <a:endParaRPr lang="en-US" sz="1400" dirty="0">
                        <a:latin typeface="IBM Plex Sans" charset="0"/>
                        <a:ea typeface="IBM Plex Sans" charset="0"/>
                        <a:cs typeface="IBM Plex Sans" charset="0"/>
                      </a:endParaRPr>
                    </a:p>
                  </a:txBody>
                  <a:tcPr marL="203200" marR="203200" marT="139700" marB="139700" anchor="t">
                    <a:lnL w="0" cap="flat" cmpd="sng" algn="ctr">
                      <a:noFill/>
                    </a:lnL>
                    <a:lnR w="12700" cap="flat" cmpd="sng" algn="ctr">
                      <a:solidFill>
                        <a:srgbClr val="C0B7B7"/>
                      </a:solidFill>
                      <a:prstDash val="solid"/>
                      <a:round/>
                      <a:headEnd type="none" w="med" len="med"/>
                      <a:tailEnd type="none" w="med" len="med"/>
                    </a:lnR>
                    <a:lnT w="0" cap="flat" cmpd="sng" algn="ctr">
                      <a:noFill/>
                    </a:lnT>
                    <a:lnB w="12700" cap="flat" cmpd="sng" algn="ctr">
                      <a:solidFill>
                        <a:srgbClr val="C0B7B7"/>
                      </a:solidFill>
                      <a:prstDash val="solid"/>
                      <a:round/>
                      <a:headEnd type="none" w="med" len="med"/>
                      <a:tailEnd type="none" w="med" len="med"/>
                    </a:lnB>
                    <a:solidFill>
                      <a:srgbClr val="F0E5E5"/>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Проблем</a:t>
                      </a:r>
                      <a:endParaRPr lang="en-US" sz="1400" dirty="0">
                        <a:latin typeface="IBM Plex Sans" charset="0"/>
                        <a:ea typeface="IBM Plex Sans" charset="0"/>
                        <a:cs typeface="IBM Plex Sans" charset="0"/>
                      </a:endParaRPr>
                    </a:p>
                  </a:txBody>
                  <a:tcPr marL="203200" marR="203200" marT="139700" marB="139700" anchor="t">
                    <a:lnL w="12700" cap="flat" cmpd="sng" algn="ctr">
                      <a:solidFill>
                        <a:srgbClr val="C0B7B7"/>
                      </a:solidFill>
                      <a:prstDash val="solid"/>
                      <a:round/>
                      <a:headEnd type="none" w="med" len="med"/>
                      <a:tailEnd type="none" w="med" len="med"/>
                    </a:lnL>
                    <a:lnR w="12700" cap="flat" cmpd="sng" algn="ctr">
                      <a:solidFill>
                        <a:srgbClr val="C0B7B7"/>
                      </a:solidFill>
                      <a:prstDash val="solid"/>
                      <a:round/>
                      <a:headEnd type="none" w="med" len="med"/>
                      <a:tailEnd type="none" w="med" len="med"/>
                    </a:lnR>
                    <a:lnT w="0" cap="flat" cmpd="sng" algn="ctr">
                      <a:noFill/>
                    </a:lnT>
                    <a:lnB w="12700" cap="flat" cmpd="sng" algn="ctr">
                      <a:solidFill>
                        <a:srgbClr val="C0B7B7"/>
                      </a:solidFill>
                      <a:prstDash val="solid"/>
                      <a:round/>
                      <a:headEnd type="none" w="med" len="med"/>
                      <a:tailEnd type="none" w="med" len="med"/>
                    </a:lnB>
                    <a:solidFill>
                      <a:srgbClr val="F0E5E5"/>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Смер корекције</a:t>
                      </a:r>
                      <a:endParaRPr lang="en-US" sz="1400" dirty="0">
                        <a:latin typeface="IBM Plex Sans" charset="0"/>
                        <a:ea typeface="IBM Plex Sans" charset="0"/>
                        <a:cs typeface="IBM Plex Sans" charset="0"/>
                      </a:endParaRPr>
                    </a:p>
                  </a:txBody>
                  <a:tcPr marL="203200" marR="203200" marT="139700" marB="139700" anchor="t">
                    <a:lnL w="12700" cap="flat" cmpd="sng" algn="ctr">
                      <a:solidFill>
                        <a:srgbClr val="C0B7B7"/>
                      </a:solidFill>
                      <a:prstDash val="solid"/>
                      <a:round/>
                      <a:headEnd type="none" w="med" len="med"/>
                      <a:tailEnd type="none" w="med" len="med"/>
                    </a:lnL>
                    <a:lnR w="12700" cap="flat" cmpd="sng" algn="ctr">
                      <a:solidFill>
                        <a:srgbClr val="C0B7B7"/>
                      </a:solidFill>
                      <a:prstDash val="solid"/>
                      <a:round/>
                      <a:headEnd type="none" w="med" len="med"/>
                      <a:tailEnd type="none" w="med" len="med"/>
                    </a:lnR>
                    <a:lnT w="0" cap="flat" cmpd="sng" algn="ctr">
                      <a:noFill/>
                    </a:lnT>
                    <a:lnB w="12700" cap="flat" cmpd="sng" algn="ctr">
                      <a:solidFill>
                        <a:srgbClr val="C0B7B7"/>
                      </a:solidFill>
                      <a:prstDash val="solid"/>
                      <a:round/>
                      <a:headEnd type="none" w="med" len="med"/>
                      <a:tailEnd type="none" w="med" len="med"/>
                    </a:lnB>
                    <a:solidFill>
                      <a:srgbClr val="F0E5E5"/>
                    </a:solidFill>
                  </a:tcPr>
                </a:tc>
              </a:tr>
              <a:tr h="540941">
                <a:tc>
                  <a:txBody>
                    <a:bodyPr/>
                    <a:lstStyle/>
                    <a:p>
                      <a:pPr indent="0" marL="0">
                        <a:lnSpc>
                          <a:spcPts val="1960"/>
                        </a:lnSpc>
                        <a:buNone/>
                      </a:pPr>
                      <a:r>
                        <a:rPr lang="en-US" sz="1400" dirty="0">
                          <a:solidFill>
                            <a:srgbClr val="B0213C"/>
                          </a:solidFill>
                          <a:latin typeface="IBM Plex Sans" pitchFamily="34" charset="0"/>
                          <a:ea typeface="IBM Plex Sans" pitchFamily="34" charset="-122"/>
                          <a:cs typeface="IBM Plex Sans" pitchFamily="34" charset="-120"/>
                        </a:rPr>
                        <a:t>LSP</a:t>
                      </a:r>
                      <a:endParaRPr lang="en-US" sz="1400" dirty="0">
                        <a:latin typeface="IBM Plex Sans" charset="0"/>
                        <a:ea typeface="IBM Plex Sans" charset="0"/>
                        <a:cs typeface="IBM Plex Sans" charset="0"/>
                      </a:endParaRPr>
                    </a:p>
                  </a:txBody>
                  <a:tcPr marL="203200" marR="203200" marT="139700" marB="1397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0B7B7"/>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подтип мења очекивање</a:t>
                      </a:r>
                      <a:endParaRPr lang="en-US" sz="1400" dirty="0">
                        <a:latin typeface="IBM Plex Sans" charset="0"/>
                        <a:ea typeface="IBM Plex Sans" charset="0"/>
                        <a:cs typeface="IBM Plex Sans" charset="0"/>
                      </a:endParaRPr>
                    </a:p>
                  </a:txBody>
                  <a:tcPr marL="203200" marR="203200" marT="139700" marB="1397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0B7B7"/>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редизајнирати уговор</a:t>
                      </a:r>
                      <a:endParaRPr lang="en-US" sz="1400" dirty="0">
                        <a:latin typeface="IBM Plex Sans" charset="0"/>
                        <a:ea typeface="IBM Plex Sans" charset="0"/>
                        <a:cs typeface="IBM Plex Sans" charset="0"/>
                      </a:endParaRPr>
                    </a:p>
                  </a:txBody>
                  <a:tcPr marL="203200" marR="203200" marT="139700" marB="1397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0B7B7"/>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40941">
                <a:tc>
                  <a:txBody>
                    <a:bodyPr/>
                    <a:lstStyle/>
                    <a:p>
                      <a:pPr indent="0" marL="0">
                        <a:lnSpc>
                          <a:spcPts val="1960"/>
                        </a:lnSpc>
                        <a:buNone/>
                      </a:pPr>
                      <a:r>
                        <a:rPr lang="en-US" sz="1400" dirty="0">
                          <a:solidFill>
                            <a:srgbClr val="B0213C"/>
                          </a:solidFill>
                          <a:latin typeface="IBM Plex Sans" pitchFamily="34" charset="0"/>
                          <a:ea typeface="IBM Plex Sans" pitchFamily="34" charset="-122"/>
                          <a:cs typeface="IBM Plex Sans" pitchFamily="34" charset="-120"/>
                        </a:rPr>
                        <a:t>ISP</a:t>
                      </a:r>
                      <a:endParaRPr lang="en-US" sz="1400" dirty="0">
                        <a:latin typeface="IBM Plex Sans" charset="0"/>
                        <a:ea typeface="IBM Plex Sans" charset="0"/>
                        <a:cs typeface="IBM Plex Sans" charset="0"/>
                      </a:endParaRPr>
                    </a:p>
                  </a:txBody>
                  <a:tcPr marL="203200" marR="203200" marT="139700" marB="1397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клијент зависи од вишка операција</a:t>
                      </a:r>
                      <a:endParaRPr lang="en-US" sz="1400" dirty="0">
                        <a:latin typeface="IBM Plex Sans" charset="0"/>
                        <a:ea typeface="IBM Plex Sans" charset="0"/>
                        <a:cs typeface="IBM Plex Sans" charset="0"/>
                      </a:endParaRPr>
                    </a:p>
                  </a:txBody>
                  <a:tcPr marL="203200" marR="203200" marT="139700" marB="1397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поделити улоге</a:t>
                      </a:r>
                      <a:endParaRPr lang="en-US" sz="1400" dirty="0">
                        <a:latin typeface="IBM Plex Sans" charset="0"/>
                        <a:ea typeface="IBM Plex Sans" charset="0"/>
                        <a:cs typeface="IBM Plex Sans" charset="0"/>
                      </a:endParaRPr>
                    </a:p>
                  </a:txBody>
                  <a:tcPr marL="203200" marR="203200" marT="139700" marB="1397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40941">
                <a:tc>
                  <a:txBody>
                    <a:bodyPr/>
                    <a:lstStyle/>
                    <a:p>
                      <a:pPr indent="0" marL="0">
                        <a:lnSpc>
                          <a:spcPts val="1960"/>
                        </a:lnSpc>
                        <a:buNone/>
                      </a:pPr>
                      <a:r>
                        <a:rPr lang="en-US" sz="1400" dirty="0">
                          <a:solidFill>
                            <a:srgbClr val="B0213C"/>
                          </a:solidFill>
                          <a:latin typeface="IBM Plex Sans" pitchFamily="34" charset="0"/>
                          <a:ea typeface="IBM Plex Sans" pitchFamily="34" charset="-122"/>
                          <a:cs typeface="IBM Plex Sans" pitchFamily="34" charset="-120"/>
                        </a:rPr>
                        <a:t>DIP</a:t>
                      </a:r>
                      <a:endParaRPr lang="en-US" sz="1400" dirty="0">
                        <a:latin typeface="IBM Plex Sans" charset="0"/>
                        <a:ea typeface="IBM Plex Sans" charset="0"/>
                        <a:cs typeface="IBM Plex Sans" charset="0"/>
                      </a:endParaRPr>
                    </a:p>
                  </a:txBody>
                  <a:tcPr marL="203200" marR="203200" marT="139700" marB="1397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use-case креира SQL или HTTP детаљ</a:t>
                      </a:r>
                      <a:endParaRPr lang="en-US" sz="1400" dirty="0">
                        <a:latin typeface="IBM Plex Sans" charset="0"/>
                        <a:ea typeface="IBM Plex Sans" charset="0"/>
                        <a:cs typeface="IBM Plex Sans" charset="0"/>
                      </a:endParaRPr>
                    </a:p>
                  </a:txBody>
                  <a:tcPr marL="203200" marR="203200" marT="139700" marB="1397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зависити од уговора</a:t>
                      </a:r>
                      <a:endParaRPr lang="en-US" sz="1400" dirty="0">
                        <a:latin typeface="IBM Plex Sans" charset="0"/>
                        <a:ea typeface="IBM Plex Sans" charset="0"/>
                        <a:cs typeface="IBM Plex Sans" charset="0"/>
                      </a:endParaRPr>
                    </a:p>
                  </a:txBody>
                  <a:tcPr marL="203200" marR="203200" marT="139700" marB="1397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4613473"/>
            <a:ext cx="10566400" cy="783530"/>
          </a:xfrm>
          <a:prstGeom prst="roundRect">
            <a:avLst>
              <a:gd name="adj" fmla="val 12967"/>
            </a:avLst>
          </a:prstGeom>
          <a:solidFill>
            <a:srgbClr val="F0E5E5"/>
          </a:solidFill>
          <a:ln/>
        </p:spPr>
      </p:sp>
      <p:sp>
        <p:nvSpPr>
          <p:cNvPr id="11" name="Shape 8"/>
          <p:cNvSpPr/>
          <p:nvPr/>
        </p:nvSpPr>
        <p:spPr>
          <a:xfrm>
            <a:off x="812800" y="4613473"/>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B0213C"/>
          </a:solidFill>
          <a:ln/>
        </p:spPr>
      </p:sp>
      <p:sp>
        <p:nvSpPr>
          <p:cNvPr id="12" name="Text 9"/>
          <p:cNvSpPr/>
          <p:nvPr/>
        </p:nvSpPr>
        <p:spPr>
          <a:xfrm>
            <a:off x="1054100" y="476587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НАПОМЕНА</a:t>
            </a:r>
            <a:endParaRPr lang="en-US" sz="1200" dirty="0"/>
          </a:p>
        </p:txBody>
      </p:sp>
      <p:sp>
        <p:nvSpPr>
          <p:cNvPr id="13" name="Text 10"/>
          <p:cNvSpPr/>
          <p:nvPr/>
        </p:nvSpPr>
        <p:spPr>
          <a:xfrm>
            <a:off x="1054100" y="500459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Наредна три слајда приказују сваки принцип на примеру из Logger–Blogger домена.</a:t>
            </a:r>
            <a:endParaRPr lang="en-US" sz="1400" dirty="0"/>
          </a:p>
        </p:txBody>
      </p:sp>
      <p:sp>
        <p:nvSpPr>
          <p:cNvPr id="14" name="Shape 11"/>
          <p:cNvSpPr/>
          <p:nvPr/>
        </p:nvSpPr>
        <p:spPr>
          <a:xfrm>
            <a:off x="812800" y="6209705"/>
            <a:ext cx="10566400" cy="0"/>
          </a:xfrm>
          <a:prstGeom prst="line">
            <a:avLst/>
          </a:prstGeom>
          <a:noFill/>
          <a:ln w="6350">
            <a:solidFill>
              <a:srgbClr val="D3DAE1"/>
            </a:solidFill>
            <a:prstDash val="solid"/>
          </a:ln>
        </p:spPr>
      </p:sp>
      <p:sp>
        <p:nvSpPr>
          <p:cNvPr id="15"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03 · LSP, ISP И DIP</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Liskov Substitution Principle</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Подтип сме да проширује понашање, али не сме да наруши оно што уговор обећава.</a:t>
            </a:r>
            <a:endParaRPr lang="en-US" sz="1400" dirty="0"/>
          </a:p>
        </p:txBody>
      </p:sp>
      <p:sp>
        <p:nvSpPr>
          <p:cNvPr id="6" name="Shape 4"/>
          <p:cNvSpPr/>
          <p:nvPr/>
        </p:nvSpPr>
        <p:spPr>
          <a:xfrm>
            <a:off x="815975" y="2078236"/>
            <a:ext cx="10560050" cy="737791"/>
          </a:xfrm>
          <a:prstGeom prst="roundRect">
            <a:avLst>
              <a:gd name="adj" fmla="val 13340"/>
            </a:avLst>
          </a:prstGeom>
          <a:solidFill>
            <a:srgbClr val="FCFCFB"/>
          </a:solidFill>
          <a:ln w="6350">
            <a:solidFill>
              <a:srgbClr val="D3DAE1"/>
            </a:solidFill>
            <a:prstDash val="solid"/>
          </a:ln>
        </p:spPr>
      </p:sp>
      <p:sp>
        <p:nvSpPr>
          <p:cNvPr id="7" name="Text 5"/>
          <p:cNvSpPr/>
          <p:nvPr/>
        </p:nvSpPr>
        <p:spPr>
          <a:xfrm>
            <a:off x="1047750" y="2233811"/>
            <a:ext cx="1962150"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LISKOV И WING, 1994</a:t>
            </a:r>
            <a:endParaRPr lang="en-US" sz="1200" dirty="0"/>
          </a:p>
        </p:txBody>
      </p:sp>
      <p:sp>
        <p:nvSpPr>
          <p:cNvPr id="8" name="Text 6"/>
          <p:cNvSpPr/>
          <p:nvPr/>
        </p:nvSpPr>
        <p:spPr>
          <a:xfrm>
            <a:off x="3206750" y="2265561"/>
            <a:ext cx="8175625" cy="388541"/>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13202D"/>
                </a:solidFill>
                <a:latin typeface="STIX Two Text" pitchFamily="18" charset="0"/>
                <a:ea typeface="STIX Two Text" pitchFamily="18" charset="-122"/>
                <a:cs typeface="STIX Two Text" pitchFamily="18" charset="-120"/>
              </a:rPr>
              <a:t>φ</a:t>
            </a:r>
            <a:r>
              <a:rPr lang="en-US" sz="2200" dirty="0">
                <a:solidFill>
                  <a:srgbClr val="13202D"/>
                </a:solidFill>
                <a:latin typeface="STIX Two Text" pitchFamily="18" charset="0"/>
                <a:ea typeface="STIX Two Text" pitchFamily="18" charset="-122"/>
                <a:cs typeface="STIX Two Text" pitchFamily="18" charset="-120"/>
              </a:rPr>
              <a:t>(</a:t>
            </a:r>
            <a:r>
              <a:rPr lang="en-US" sz="2200" i="1" dirty="0">
                <a:solidFill>
                  <a:srgbClr val="13202D"/>
                </a:solidFill>
                <a:latin typeface="STIX Two Text" pitchFamily="18" charset="0"/>
                <a:ea typeface="STIX Two Text" pitchFamily="18" charset="-122"/>
                <a:cs typeface="STIX Two Text" pitchFamily="18" charset="-120"/>
              </a:rPr>
              <a:t>x</a:t>
            </a:r>
            <a:r>
              <a:rPr lang="en-US" sz="2200" dirty="0">
                <a:solidFill>
                  <a:srgbClr val="13202D"/>
                </a:solidFill>
                <a:latin typeface="STIX Two Text" pitchFamily="18" charset="0"/>
                <a:ea typeface="STIX Two Text" pitchFamily="18" charset="-122"/>
                <a:cs typeface="STIX Two Text" pitchFamily="18" charset="-120"/>
              </a:rPr>
              <a:t>) за свако </a:t>
            </a:r>
            <a:r>
              <a:rPr lang="en-US" sz="2200" i="1" dirty="0">
                <a:solidFill>
                  <a:srgbClr val="13202D"/>
                </a:solidFill>
                <a:latin typeface="STIX Two Text" pitchFamily="18" charset="0"/>
                <a:ea typeface="STIX Two Text" pitchFamily="18" charset="-122"/>
                <a:cs typeface="STIX Two Text" pitchFamily="18" charset="-120"/>
              </a:rPr>
              <a:t>x</a:t>
            </a:r>
            <a:r>
              <a:rPr lang="en-US" sz="2200" dirty="0">
                <a:solidFill>
                  <a:srgbClr val="13202D"/>
                </a:solidFill>
                <a:latin typeface="STIX Two Text" pitchFamily="18" charset="0"/>
                <a:ea typeface="STIX Two Text" pitchFamily="18" charset="-122"/>
                <a:cs typeface="STIX Two Text" pitchFamily="18" charset="-120"/>
              </a:rPr>
              <a:t> : </a:t>
            </a:r>
            <a:r>
              <a:rPr lang="en-US" sz="2200" i="1" dirty="0">
                <a:solidFill>
                  <a:srgbClr val="13202D"/>
                </a:solidFill>
                <a:latin typeface="STIX Two Text" pitchFamily="18" charset="0"/>
                <a:ea typeface="STIX Two Text" pitchFamily="18" charset="-122"/>
                <a:cs typeface="STIX Two Text" pitchFamily="18" charset="-120"/>
              </a:rPr>
              <a:t>T</a:t>
            </a:r>
            <a:r>
              <a:rPr lang="en-US" sz="2200" dirty="0">
                <a:solidFill>
                  <a:srgbClr val="13202D"/>
                </a:solidFill>
                <a:latin typeface="STIX Two Text" pitchFamily="18" charset="0"/>
                <a:ea typeface="STIX Two Text" pitchFamily="18" charset="-122"/>
                <a:cs typeface="STIX Two Text" pitchFamily="18" charset="-120"/>
              </a:rPr>
              <a:t> </a:t>
            </a:r>
            <a:r>
              <a:rPr lang="en-US" sz="2200" dirty="0">
                <a:solidFill>
                  <a:srgbClr val="B0213C"/>
                </a:solidFill>
                <a:latin typeface="STIX Two Text" pitchFamily="18" charset="0"/>
                <a:ea typeface="STIX Two Text" pitchFamily="18" charset="-122"/>
                <a:cs typeface="STIX Two Text" pitchFamily="18" charset="-120"/>
              </a:rPr>
              <a:t>⇒</a:t>
            </a:r>
            <a:r>
              <a:rPr lang="en-US" sz="2200" dirty="0">
                <a:solidFill>
                  <a:srgbClr val="13202D"/>
                </a:solidFill>
                <a:latin typeface="STIX Two Text" pitchFamily="18" charset="0"/>
                <a:ea typeface="STIX Two Text" pitchFamily="18" charset="-122"/>
                <a:cs typeface="STIX Two Text" pitchFamily="18" charset="-120"/>
              </a:rPr>
              <a:t> </a:t>
            </a:r>
            <a:r>
              <a:rPr lang="en-US" sz="2200" i="1" dirty="0">
                <a:solidFill>
                  <a:srgbClr val="13202D"/>
                </a:solidFill>
                <a:latin typeface="STIX Two Text" pitchFamily="18" charset="0"/>
                <a:ea typeface="STIX Two Text" pitchFamily="18" charset="-122"/>
                <a:cs typeface="STIX Two Text" pitchFamily="18" charset="-120"/>
              </a:rPr>
              <a:t>φ</a:t>
            </a:r>
            <a:r>
              <a:rPr lang="en-US" sz="2200" dirty="0">
                <a:solidFill>
                  <a:srgbClr val="13202D"/>
                </a:solidFill>
                <a:latin typeface="STIX Two Text" pitchFamily="18" charset="0"/>
                <a:ea typeface="STIX Two Text" pitchFamily="18" charset="-122"/>
                <a:cs typeface="STIX Two Text" pitchFamily="18" charset="-120"/>
              </a:rPr>
              <a:t>(</a:t>
            </a:r>
            <a:r>
              <a:rPr lang="en-US" sz="2200" i="1" dirty="0">
                <a:solidFill>
                  <a:srgbClr val="13202D"/>
                </a:solidFill>
                <a:latin typeface="STIX Two Text" pitchFamily="18" charset="0"/>
                <a:ea typeface="STIX Two Text" pitchFamily="18" charset="-122"/>
                <a:cs typeface="STIX Two Text" pitchFamily="18" charset="-120"/>
              </a:rPr>
              <a:t>y</a:t>
            </a:r>
            <a:r>
              <a:rPr lang="en-US" sz="2200" dirty="0">
                <a:solidFill>
                  <a:srgbClr val="13202D"/>
                </a:solidFill>
                <a:latin typeface="STIX Two Text" pitchFamily="18" charset="0"/>
                <a:ea typeface="STIX Two Text" pitchFamily="18" charset="-122"/>
                <a:cs typeface="STIX Two Text" pitchFamily="18" charset="-120"/>
              </a:rPr>
              <a:t>) за свако </a:t>
            </a:r>
            <a:r>
              <a:rPr lang="en-US" sz="2200" i="1" dirty="0">
                <a:solidFill>
                  <a:srgbClr val="13202D"/>
                </a:solidFill>
                <a:latin typeface="STIX Two Text" pitchFamily="18" charset="0"/>
                <a:ea typeface="STIX Two Text" pitchFamily="18" charset="-122"/>
                <a:cs typeface="STIX Two Text" pitchFamily="18" charset="-120"/>
              </a:rPr>
              <a:t>y</a:t>
            </a:r>
            <a:r>
              <a:rPr lang="en-US" sz="2200" dirty="0">
                <a:solidFill>
                  <a:srgbClr val="13202D"/>
                </a:solidFill>
                <a:latin typeface="STIX Two Text" pitchFamily="18" charset="0"/>
                <a:ea typeface="STIX Two Text" pitchFamily="18" charset="-122"/>
                <a:cs typeface="STIX Two Text" pitchFamily="18" charset="-120"/>
              </a:rPr>
              <a:t> : </a:t>
            </a:r>
            <a:r>
              <a:rPr lang="en-US" sz="2200" i="1" dirty="0">
                <a:solidFill>
                  <a:srgbClr val="13202D"/>
                </a:solidFill>
                <a:latin typeface="STIX Two Text" pitchFamily="18" charset="0"/>
                <a:ea typeface="STIX Two Text" pitchFamily="18" charset="-122"/>
                <a:cs typeface="STIX Two Text" pitchFamily="18" charset="-120"/>
              </a:rPr>
              <a:t>S</a:t>
            </a:r>
            <a:r>
              <a:rPr lang="en-US" sz="2200" dirty="0">
                <a:solidFill>
                  <a:srgbClr val="13202D"/>
                </a:solidFill>
                <a:latin typeface="STIX Two Text" pitchFamily="18" charset="0"/>
                <a:ea typeface="STIX Two Text" pitchFamily="18" charset="-122"/>
                <a:cs typeface="STIX Two Text" pitchFamily="18" charset="-120"/>
              </a:rPr>
              <a:t>, где је </a:t>
            </a:r>
            <a:r>
              <a:rPr lang="en-US" sz="2200" i="1" dirty="0">
                <a:solidFill>
                  <a:srgbClr val="13202D"/>
                </a:solidFill>
                <a:latin typeface="STIX Two Text" pitchFamily="18" charset="0"/>
                <a:ea typeface="STIX Two Text" pitchFamily="18" charset="-122"/>
                <a:cs typeface="STIX Two Text" pitchFamily="18" charset="-120"/>
              </a:rPr>
              <a:t>S</a:t>
            </a:r>
            <a:r>
              <a:rPr lang="en-US" sz="2200" dirty="0">
                <a:solidFill>
                  <a:srgbClr val="13202D"/>
                </a:solidFill>
                <a:latin typeface="STIX Two Text" pitchFamily="18" charset="0"/>
                <a:ea typeface="STIX Two Text" pitchFamily="18" charset="-122"/>
                <a:cs typeface="STIX Two Text" pitchFamily="18" charset="-120"/>
              </a:rPr>
              <a:t> подтип од </a:t>
            </a:r>
            <a:r>
              <a:rPr lang="en-US" sz="2200" i="1" dirty="0">
                <a:solidFill>
                  <a:srgbClr val="13202D"/>
                </a:solidFill>
                <a:latin typeface="STIX Two Text" pitchFamily="18" charset="0"/>
                <a:ea typeface="STIX Two Text" pitchFamily="18" charset="-122"/>
                <a:cs typeface="STIX Two Text" pitchFamily="18" charset="-120"/>
              </a:rPr>
              <a:t>T</a:t>
            </a:r>
            <a:endParaRPr lang="en-US" sz="2200" dirty="0"/>
          </a:p>
        </p:txBody>
      </p:sp>
      <p:sp>
        <p:nvSpPr>
          <p:cNvPr id="9" name="Shape 7"/>
          <p:cNvSpPr/>
          <p:nvPr/>
        </p:nvSpPr>
        <p:spPr>
          <a:xfrm>
            <a:off x="815975" y="3025577"/>
            <a:ext cx="6597650" cy="1982192"/>
          </a:xfrm>
          <a:prstGeom prst="roundRect">
            <a:avLst>
              <a:gd name="adj" fmla="val 4965"/>
            </a:avLst>
          </a:prstGeom>
          <a:solidFill>
            <a:srgbClr val="FCFCFB"/>
          </a:solidFill>
          <a:ln w="6350">
            <a:solidFill>
              <a:srgbClr val="D3DAE1"/>
            </a:solidFill>
            <a:prstDash val="solid"/>
          </a:ln>
        </p:spPr>
      </p:sp>
      <p:sp>
        <p:nvSpPr>
          <p:cNvPr id="10" name="Text 8"/>
          <p:cNvSpPr/>
          <p:nvPr/>
        </p:nvSpPr>
        <p:spPr>
          <a:xfrm>
            <a:off x="1022350" y="3168452"/>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C# · пример нарушавања LSP-а</a:t>
            </a:r>
            <a:endParaRPr lang="en-US" sz="1200" dirty="0"/>
          </a:p>
        </p:txBody>
      </p:sp>
      <p:sp>
        <p:nvSpPr>
          <p:cNvPr id="11" name="Text 9"/>
          <p:cNvSpPr/>
          <p:nvPr/>
        </p:nvSpPr>
        <p:spPr>
          <a:xfrm>
            <a:off x="1022350" y="34579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12" name="Text 10"/>
          <p:cNvSpPr/>
          <p:nvPr/>
        </p:nvSpPr>
        <p:spPr>
          <a:xfrm>
            <a:off x="1403350" y="345797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ArhivaBazaPodataka : IBazaPodataka</a:t>
            </a:r>
            <a:endParaRPr lang="en-US" sz="1200" dirty="0"/>
          </a:p>
        </p:txBody>
      </p:sp>
      <p:sp>
        <p:nvSpPr>
          <p:cNvPr id="13" name="Text 11"/>
          <p:cNvSpPr/>
          <p:nvPr/>
        </p:nvSpPr>
        <p:spPr>
          <a:xfrm>
            <a:off x="1022350" y="36966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4" name="Text 12"/>
          <p:cNvSpPr/>
          <p:nvPr/>
        </p:nvSpPr>
        <p:spPr>
          <a:xfrm>
            <a:off x="1403350" y="369669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5" name="Text 13"/>
          <p:cNvSpPr/>
          <p:nvPr/>
        </p:nvSpPr>
        <p:spPr>
          <a:xfrm>
            <a:off x="1022350" y="39354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6" name="Text 14"/>
          <p:cNvSpPr/>
          <p:nvPr/>
        </p:nvSpPr>
        <p:spPr>
          <a:xfrm>
            <a:off x="1403350" y="393541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TabeleBazaPodataka Tabele { </a:t>
            </a:r>
            <a:r>
              <a:rPr lang="en-US" sz="1200" dirty="0">
                <a:solidFill>
                  <a:srgbClr val="B0213C"/>
                </a:solidFill>
                <a:latin typeface="IBM Plex Mono" pitchFamily="49" charset="0"/>
                <a:ea typeface="IBM Plex Mono" pitchFamily="49" charset="-122"/>
                <a:cs typeface="IBM Plex Mono" pitchFamily="49" charset="-120"/>
              </a:rPr>
              <a:t>get</a:t>
            </a:r>
            <a:r>
              <a:rPr lang="en-US" sz="1200" dirty="0">
                <a:solidFill>
                  <a:srgbClr val="13202D"/>
                </a:solidFill>
                <a:latin typeface="IBM Plex Mono" pitchFamily="49" charset="0"/>
                <a:ea typeface="IBM Plex Mono" pitchFamily="49" charset="-122"/>
                <a:cs typeface="IBM Plex Mono" pitchFamily="49" charset="-120"/>
              </a:rPr>
              <a:t>; } = </a:t>
            </a:r>
            <a:r>
              <a:rPr lang="en-US" sz="1200" dirty="0">
                <a:solidFill>
                  <a:srgbClr val="B0213C"/>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7" name="Text 15"/>
          <p:cNvSpPr/>
          <p:nvPr/>
        </p:nvSpPr>
        <p:spPr>
          <a:xfrm>
            <a:off x="1022350" y="41741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8" name="Text 16"/>
          <p:cNvSpPr/>
          <p:nvPr/>
        </p:nvSpPr>
        <p:spPr>
          <a:xfrm>
            <a:off x="1403350" y="417413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public bool</a:t>
            </a:r>
            <a:r>
              <a:rPr lang="en-US" sz="1200" dirty="0">
                <a:solidFill>
                  <a:srgbClr val="13202D"/>
                </a:solidFill>
                <a:latin typeface="IBM Plex Mono" pitchFamily="49" charset="0"/>
                <a:ea typeface="IBM Plex Mono" pitchFamily="49" charset="-122"/>
                <a:cs typeface="IBM Plex Mono" pitchFamily="49" charset="-120"/>
              </a:rPr>
              <a:t> SacuvajPromene() =&gt;</a:t>
            </a:r>
            <a:endParaRPr lang="en-US" sz="1200" dirty="0"/>
          </a:p>
        </p:txBody>
      </p:sp>
      <p:sp>
        <p:nvSpPr>
          <p:cNvPr id="19" name="Text 17"/>
          <p:cNvSpPr/>
          <p:nvPr/>
        </p:nvSpPr>
        <p:spPr>
          <a:xfrm>
            <a:off x="1022350" y="44128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20" name="Text 18"/>
          <p:cNvSpPr/>
          <p:nvPr/>
        </p:nvSpPr>
        <p:spPr>
          <a:xfrm>
            <a:off x="1403350" y="441285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B0213C"/>
                </a:solidFill>
                <a:latin typeface="IBM Plex Mono" pitchFamily="49" charset="0"/>
                <a:ea typeface="IBM Plex Mono" pitchFamily="49" charset="-122"/>
                <a:cs typeface="IBM Plex Mono" pitchFamily="49" charset="-120"/>
              </a:rPr>
              <a:t>throw new</a:t>
            </a:r>
            <a:r>
              <a:rPr lang="en-US" sz="1200" dirty="0">
                <a:solidFill>
                  <a:srgbClr val="13202D"/>
                </a:solidFill>
                <a:latin typeface="IBM Plex Mono" pitchFamily="49" charset="0"/>
                <a:ea typeface="IBM Plex Mono" pitchFamily="49" charset="-122"/>
                <a:cs typeface="IBM Plex Mono" pitchFamily="49" charset="-120"/>
              </a:rPr>
              <a:t> NotSupportedException();</a:t>
            </a:r>
            <a:endParaRPr lang="en-US" sz="1200" dirty="0"/>
          </a:p>
        </p:txBody>
      </p:sp>
      <p:sp>
        <p:nvSpPr>
          <p:cNvPr id="21" name="Text 19"/>
          <p:cNvSpPr/>
          <p:nvPr/>
        </p:nvSpPr>
        <p:spPr>
          <a:xfrm>
            <a:off x="1022350" y="46515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22" name="Text 20"/>
          <p:cNvSpPr/>
          <p:nvPr/>
        </p:nvSpPr>
        <p:spPr>
          <a:xfrm>
            <a:off x="1403350" y="465157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3" name="Text 21"/>
          <p:cNvSpPr/>
          <p:nvPr/>
        </p:nvSpPr>
        <p:spPr>
          <a:xfrm>
            <a:off x="7721600" y="3022402"/>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4" name="Shape 22"/>
          <p:cNvSpPr/>
          <p:nvPr/>
        </p:nvSpPr>
        <p:spPr>
          <a:xfrm>
            <a:off x="7734300" y="3362722"/>
            <a:ext cx="0" cy="256480"/>
          </a:xfrm>
          <a:prstGeom prst="line">
            <a:avLst/>
          </a:prstGeom>
          <a:noFill/>
          <a:ln w="25400">
            <a:solidFill>
              <a:srgbClr val="B0213C"/>
            </a:solidFill>
            <a:prstDash val="solid"/>
          </a:ln>
        </p:spPr>
      </p:sp>
      <p:sp>
        <p:nvSpPr>
          <p:cNvPr id="25" name="Text 23"/>
          <p:cNvSpPr/>
          <p:nvPr/>
        </p:nvSpPr>
        <p:spPr>
          <a:xfrm>
            <a:off x="7886700" y="3375422"/>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Уговор обећава резултат true или false.</a:t>
            </a:r>
            <a:endParaRPr lang="en-US" sz="1300" dirty="0"/>
          </a:p>
        </p:txBody>
      </p:sp>
      <p:sp>
        <p:nvSpPr>
          <p:cNvPr id="26" name="Shape 24"/>
          <p:cNvSpPr/>
          <p:nvPr/>
        </p:nvSpPr>
        <p:spPr>
          <a:xfrm>
            <a:off x="7734300" y="3746202"/>
            <a:ext cx="0" cy="256480"/>
          </a:xfrm>
          <a:prstGeom prst="line">
            <a:avLst/>
          </a:prstGeom>
          <a:noFill/>
          <a:ln w="25400">
            <a:solidFill>
              <a:srgbClr val="E07B1F"/>
            </a:solidFill>
            <a:prstDash val="solid"/>
          </a:ln>
        </p:spPr>
      </p:sp>
      <p:sp>
        <p:nvSpPr>
          <p:cNvPr id="27" name="Text 25"/>
          <p:cNvSpPr/>
          <p:nvPr/>
        </p:nvSpPr>
        <p:spPr>
          <a:xfrm>
            <a:off x="7886700" y="3758902"/>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Подтип баца изузетак и руши ZapisiServis.</a:t>
            </a:r>
            <a:endParaRPr lang="en-US" sz="1300" dirty="0"/>
          </a:p>
        </p:txBody>
      </p:sp>
      <p:sp>
        <p:nvSpPr>
          <p:cNvPr id="28" name="Shape 26"/>
          <p:cNvSpPr/>
          <p:nvPr/>
        </p:nvSpPr>
        <p:spPr>
          <a:xfrm>
            <a:off x="7734300" y="4129683"/>
            <a:ext cx="0" cy="256480"/>
          </a:xfrm>
          <a:prstGeom prst="line">
            <a:avLst/>
          </a:prstGeom>
          <a:noFill/>
          <a:ln w="25400">
            <a:solidFill>
              <a:srgbClr val="B0213C"/>
            </a:solidFill>
            <a:prstDash val="solid"/>
          </a:ln>
        </p:spPr>
      </p:sp>
      <p:sp>
        <p:nvSpPr>
          <p:cNvPr id="29" name="Text 27"/>
          <p:cNvSpPr/>
          <p:nvPr/>
        </p:nvSpPr>
        <p:spPr>
          <a:xfrm>
            <a:off x="7886700" y="4142383"/>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Корекција: посебан уговор само за читање.</a:t>
            </a:r>
            <a:endParaRPr lang="en-US" sz="13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03 · LSP, ISP И DIP</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Interface Segregation Principle</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Клијент зависи само од операција које стварно користи.</a:t>
            </a:r>
            <a:endParaRPr lang="en-US" sz="1400" dirty="0"/>
          </a:p>
        </p:txBody>
      </p:sp>
      <p:sp>
        <p:nvSpPr>
          <p:cNvPr id="6" name="Shape 4"/>
          <p:cNvSpPr/>
          <p:nvPr/>
        </p:nvSpPr>
        <p:spPr>
          <a:xfrm>
            <a:off x="815975" y="2078236"/>
            <a:ext cx="5194300" cy="2930823"/>
          </a:xfrm>
          <a:prstGeom prst="roundRect">
            <a:avLst>
              <a:gd name="adj" fmla="val 3358"/>
            </a:avLst>
          </a:prstGeom>
          <a:solidFill>
            <a:srgbClr val="FCFCFB"/>
          </a:solidFill>
          <a:ln w="6350">
            <a:solidFill>
              <a:srgbClr val="D3DAE1"/>
            </a:solidFill>
            <a:prstDash val="solid"/>
          </a:ln>
        </p:spPr>
      </p:sp>
      <p:sp>
        <p:nvSpPr>
          <p:cNvPr id="7" name="Text 5"/>
          <p:cNvSpPr/>
          <p:nvPr/>
        </p:nvSpPr>
        <p:spPr>
          <a:xfrm>
            <a:off x="1022350" y="2246511"/>
            <a:ext cx="49249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ПРЕ · ШИРОК УГОВОР</a:t>
            </a:r>
            <a:endParaRPr lang="en-US" sz="1200" dirty="0"/>
          </a:p>
        </p:txBody>
      </p:sp>
      <p:sp>
        <p:nvSpPr>
          <p:cNvPr id="8" name="Text 6"/>
          <p:cNvSpPr/>
          <p:nvPr/>
        </p:nvSpPr>
        <p:spPr>
          <a:xfrm>
            <a:off x="1022350" y="2561431"/>
            <a:ext cx="49249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IUpravljanjeZapisima</a:t>
            </a:r>
            <a:endParaRPr lang="en-US" sz="1500" dirty="0"/>
          </a:p>
        </p:txBody>
      </p:sp>
      <p:sp>
        <p:nvSpPr>
          <p:cNvPr id="9" name="Shape 7"/>
          <p:cNvSpPr/>
          <p:nvPr/>
        </p:nvSpPr>
        <p:spPr>
          <a:xfrm>
            <a:off x="1022350" y="2894806"/>
            <a:ext cx="4781550" cy="0"/>
          </a:xfrm>
          <a:prstGeom prst="line">
            <a:avLst/>
          </a:prstGeom>
          <a:noFill/>
          <a:ln w="6350">
            <a:solidFill>
              <a:srgbClr val="E3E8EE"/>
            </a:solidFill>
            <a:prstDash val="solid"/>
          </a:ln>
        </p:spPr>
      </p:sp>
      <p:sp>
        <p:nvSpPr>
          <p:cNvPr id="10" name="Text 8"/>
          <p:cNvSpPr/>
          <p:nvPr/>
        </p:nvSpPr>
        <p:spPr>
          <a:xfrm>
            <a:off x="1022350" y="2986881"/>
            <a:ext cx="4781550" cy="332680"/>
          </a:xfrm>
          <a:prstGeom prst="roundRect">
            <a:avLst>
              <a:gd name="adj" fmla="val 15270"/>
            </a:avLst>
          </a:prstGeom>
          <a:solidFill>
            <a:srgbClr val="F0E5E5"/>
          </a:solidFill>
          <a:ln/>
        </p:spPr>
        <p:txBody>
          <a:bodyPr wrap="square" lIns="86721" tIns="35921" rIns="0" bIns="10521"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Objavi(zapis)</a:t>
            </a:r>
            <a:endParaRPr lang="en-US" sz="1300" dirty="0"/>
          </a:p>
        </p:txBody>
      </p:sp>
      <p:sp>
        <p:nvSpPr>
          <p:cNvPr id="11" name="Text 9"/>
          <p:cNvSpPr/>
          <p:nvPr/>
        </p:nvSpPr>
        <p:spPr>
          <a:xfrm>
            <a:off x="1022350" y="3383062"/>
            <a:ext cx="4781550" cy="332680"/>
          </a:xfrm>
          <a:prstGeom prst="roundRect">
            <a:avLst>
              <a:gd name="adj" fmla="val 15270"/>
            </a:avLst>
          </a:prstGeom>
          <a:solidFill>
            <a:srgbClr val="F0E5E5"/>
          </a:solidFill>
          <a:ln/>
        </p:spPr>
        <p:txBody>
          <a:bodyPr wrap="square" lIns="86721" tIns="35921" rIns="0" bIns="10521"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PregledZapisa()</a:t>
            </a:r>
            <a:endParaRPr lang="en-US" sz="1300" dirty="0"/>
          </a:p>
        </p:txBody>
      </p:sp>
      <p:sp>
        <p:nvSpPr>
          <p:cNvPr id="12" name="Text 10"/>
          <p:cNvSpPr/>
          <p:nvPr/>
        </p:nvSpPr>
        <p:spPr>
          <a:xfrm>
            <a:off x="1022350" y="3779242"/>
            <a:ext cx="4781550" cy="332680"/>
          </a:xfrm>
          <a:prstGeom prst="roundRect">
            <a:avLst>
              <a:gd name="adj" fmla="val 15270"/>
            </a:avLst>
          </a:prstGeom>
          <a:solidFill>
            <a:srgbClr val="F0E5E5"/>
          </a:solidFill>
          <a:ln/>
        </p:spPr>
        <p:txBody>
          <a:bodyPr wrap="square" lIns="86721" tIns="35921" rIns="0" bIns="10521"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IzveziUJson(putanja)</a:t>
            </a:r>
            <a:endParaRPr lang="en-US" sz="1300" dirty="0"/>
          </a:p>
        </p:txBody>
      </p:sp>
      <p:sp>
        <p:nvSpPr>
          <p:cNvPr id="13" name="Text 11"/>
          <p:cNvSpPr/>
          <p:nvPr/>
        </p:nvSpPr>
        <p:spPr>
          <a:xfrm>
            <a:off x="1022350" y="4175423"/>
            <a:ext cx="4781550" cy="332680"/>
          </a:xfrm>
          <a:prstGeom prst="roundRect">
            <a:avLst>
              <a:gd name="adj" fmla="val 15270"/>
            </a:avLst>
          </a:prstGeom>
          <a:solidFill>
            <a:srgbClr val="F0E5E5"/>
          </a:solidFill>
          <a:ln/>
        </p:spPr>
        <p:txBody>
          <a:bodyPr wrap="square" lIns="86721" tIns="35921" rIns="0" bIns="10521"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ObrisiSve()</a:t>
            </a:r>
            <a:endParaRPr lang="en-US" sz="1300" dirty="0"/>
          </a:p>
        </p:txBody>
      </p:sp>
      <p:sp>
        <p:nvSpPr>
          <p:cNvPr id="14" name="Text 12"/>
          <p:cNvSpPr/>
          <p:nvPr/>
        </p:nvSpPr>
        <p:spPr>
          <a:xfrm>
            <a:off x="1022350" y="4609703"/>
            <a:ext cx="49249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Приказ листе записа зависи и од брисања и од извоза.</a:t>
            </a:r>
            <a:endParaRPr lang="en-US" sz="1300" dirty="0"/>
          </a:p>
        </p:txBody>
      </p:sp>
      <p:pic>
        <p:nvPicPr>
          <p:cNvPr id="15" name="Image 0" descr="arrow-right">    </p:cNvPr>
          <p:cNvPicPr>
            <a:picLocks noChangeAspect="1"/>
          </p:cNvPicPr>
          <p:nvPr/>
        </p:nvPicPr>
        <p:blipFill>
          <a:blip r:embed="rId1"/>
          <a:srcRect l="0" r="0" t="0" b="0"/>
          <a:stretch/>
        </p:blipFill>
        <p:spPr>
          <a:xfrm>
            <a:off x="6191250" y="3486448"/>
            <a:ext cx="228600" cy="114300"/>
          </a:xfrm>
          <a:prstGeom prst="rect">
            <a:avLst/>
          </a:prstGeom>
        </p:spPr>
      </p:pic>
      <p:sp>
        <p:nvSpPr>
          <p:cNvPr id="16" name="Text 13"/>
          <p:cNvSpPr/>
          <p:nvPr/>
        </p:nvSpPr>
        <p:spPr>
          <a:xfrm>
            <a:off x="6597650" y="2075061"/>
            <a:ext cx="492499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ПОСЛЕ · УГОВОРИ ПО УЛОГАМА</a:t>
            </a:r>
            <a:endParaRPr lang="en-US" sz="1200" dirty="0"/>
          </a:p>
        </p:txBody>
      </p:sp>
      <p:sp>
        <p:nvSpPr>
          <p:cNvPr id="17" name="Shape 14"/>
          <p:cNvSpPr/>
          <p:nvPr/>
        </p:nvSpPr>
        <p:spPr>
          <a:xfrm>
            <a:off x="6600825" y="2393156"/>
            <a:ext cx="4775200" cy="725091"/>
          </a:xfrm>
          <a:prstGeom prst="roundRect">
            <a:avLst>
              <a:gd name="adj" fmla="val 13574"/>
            </a:avLst>
          </a:prstGeom>
          <a:solidFill>
            <a:srgbClr val="FCFCFB"/>
          </a:solidFill>
          <a:ln w="6350">
            <a:solidFill>
              <a:srgbClr val="D3DAE1"/>
            </a:solidFill>
            <a:prstDash val="solid"/>
          </a:ln>
        </p:spPr>
      </p:sp>
      <p:sp>
        <p:nvSpPr>
          <p:cNvPr id="18" name="Text 15"/>
          <p:cNvSpPr/>
          <p:nvPr/>
        </p:nvSpPr>
        <p:spPr>
          <a:xfrm>
            <a:off x="6781800" y="2523331"/>
            <a:ext cx="45456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Mono" pitchFamily="49" charset="0"/>
                <a:ea typeface="IBM Plex Mono" pitchFamily="49" charset="-122"/>
                <a:cs typeface="IBM Plex Mono" pitchFamily="49" charset="-120"/>
              </a:rPr>
              <a:t>IObjavaZapisa</a:t>
            </a:r>
            <a:endParaRPr lang="en-US" sz="1400" dirty="0"/>
          </a:p>
        </p:txBody>
      </p:sp>
      <p:sp>
        <p:nvSpPr>
          <p:cNvPr id="19" name="Text 16"/>
          <p:cNvSpPr/>
          <p:nvPr/>
        </p:nvSpPr>
        <p:spPr>
          <a:xfrm>
            <a:off x="6781800" y="2774752"/>
            <a:ext cx="4545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Sans" pitchFamily="34" charset="0"/>
                <a:ea typeface="IBM Plex Sans" pitchFamily="34" charset="-122"/>
                <a:cs typeface="IBM Plex Sans" pitchFamily="34" charset="-120"/>
              </a:rPr>
              <a:t>Objavi</a:t>
            </a:r>
            <a:r>
              <a:rPr lang="en-US" sz="1200" dirty="0">
                <a:solidFill>
                  <a:srgbClr val="44505D"/>
                </a:solidFill>
                <a:latin typeface="IBM Plex Sans" pitchFamily="34" charset="0"/>
                <a:ea typeface="IBM Plex Sans" pitchFamily="34" charset="-122"/>
                <a:cs typeface="IBM Plex Sans" pitchFamily="34" charset="-120"/>
              </a:rPr>
              <a:t> · користи форма за објаву</a:t>
            </a:r>
            <a:endParaRPr lang="en-US" sz="1200" dirty="0"/>
          </a:p>
        </p:txBody>
      </p:sp>
      <p:sp>
        <p:nvSpPr>
          <p:cNvPr id="20" name="Shape 17"/>
          <p:cNvSpPr/>
          <p:nvPr/>
        </p:nvSpPr>
        <p:spPr>
          <a:xfrm>
            <a:off x="6600825" y="3226197"/>
            <a:ext cx="4775200" cy="725091"/>
          </a:xfrm>
          <a:prstGeom prst="roundRect">
            <a:avLst>
              <a:gd name="adj" fmla="val 13574"/>
            </a:avLst>
          </a:prstGeom>
          <a:solidFill>
            <a:srgbClr val="FCFCFB"/>
          </a:solidFill>
          <a:ln w="6350">
            <a:solidFill>
              <a:srgbClr val="D3DAE1"/>
            </a:solidFill>
            <a:prstDash val="solid"/>
          </a:ln>
        </p:spPr>
      </p:sp>
      <p:sp>
        <p:nvSpPr>
          <p:cNvPr id="21" name="Text 18"/>
          <p:cNvSpPr/>
          <p:nvPr/>
        </p:nvSpPr>
        <p:spPr>
          <a:xfrm>
            <a:off x="6781800" y="3356372"/>
            <a:ext cx="45456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Mono" pitchFamily="49" charset="0"/>
                <a:ea typeface="IBM Plex Mono" pitchFamily="49" charset="-122"/>
                <a:cs typeface="IBM Plex Mono" pitchFamily="49" charset="-120"/>
              </a:rPr>
              <a:t>IPregledZapisa</a:t>
            </a:r>
            <a:endParaRPr lang="en-US" sz="1400" dirty="0"/>
          </a:p>
        </p:txBody>
      </p:sp>
      <p:sp>
        <p:nvSpPr>
          <p:cNvPr id="22" name="Text 19"/>
          <p:cNvSpPr/>
          <p:nvPr/>
        </p:nvSpPr>
        <p:spPr>
          <a:xfrm>
            <a:off x="6781800" y="3607792"/>
            <a:ext cx="4545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Sans" pitchFamily="34" charset="0"/>
                <a:ea typeface="IBM Plex Sans" pitchFamily="34" charset="-122"/>
                <a:cs typeface="IBM Plex Sans" pitchFamily="34" charset="-120"/>
              </a:rPr>
              <a:t>PregledZapisa</a:t>
            </a:r>
            <a:r>
              <a:rPr lang="en-US" sz="1200" dirty="0">
                <a:solidFill>
                  <a:srgbClr val="44505D"/>
                </a:solidFill>
                <a:latin typeface="IBM Plex Sans" pitchFamily="34" charset="0"/>
                <a:ea typeface="IBM Plex Sans" pitchFamily="34" charset="-122"/>
                <a:cs typeface="IBM Plex Sans" pitchFamily="34" charset="-120"/>
              </a:rPr>
              <a:t> · користи приказ листе</a:t>
            </a:r>
            <a:endParaRPr lang="en-US" sz="1200" dirty="0"/>
          </a:p>
        </p:txBody>
      </p:sp>
      <p:sp>
        <p:nvSpPr>
          <p:cNvPr id="23" name="Shape 20"/>
          <p:cNvSpPr/>
          <p:nvPr/>
        </p:nvSpPr>
        <p:spPr>
          <a:xfrm>
            <a:off x="6600825" y="4059237"/>
            <a:ext cx="4775200" cy="725091"/>
          </a:xfrm>
          <a:prstGeom prst="roundRect">
            <a:avLst>
              <a:gd name="adj" fmla="val 13574"/>
            </a:avLst>
          </a:prstGeom>
          <a:solidFill>
            <a:srgbClr val="FCFCFB"/>
          </a:solidFill>
          <a:ln w="6350">
            <a:solidFill>
              <a:srgbClr val="D3DAE1"/>
            </a:solidFill>
            <a:prstDash val="solid"/>
          </a:ln>
        </p:spPr>
      </p:sp>
      <p:sp>
        <p:nvSpPr>
          <p:cNvPr id="24" name="Text 21"/>
          <p:cNvSpPr/>
          <p:nvPr/>
        </p:nvSpPr>
        <p:spPr>
          <a:xfrm>
            <a:off x="6781800" y="4189413"/>
            <a:ext cx="45456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Mono" pitchFamily="49" charset="0"/>
                <a:ea typeface="IBM Plex Mono" pitchFamily="49" charset="-122"/>
                <a:cs typeface="IBM Plex Mono" pitchFamily="49" charset="-120"/>
              </a:rPr>
              <a:t>IAdministracijaZapisa</a:t>
            </a:r>
            <a:endParaRPr lang="en-US" sz="1400" dirty="0"/>
          </a:p>
        </p:txBody>
      </p:sp>
      <p:sp>
        <p:nvSpPr>
          <p:cNvPr id="25" name="Text 22"/>
          <p:cNvSpPr/>
          <p:nvPr/>
        </p:nvSpPr>
        <p:spPr>
          <a:xfrm>
            <a:off x="6781800" y="4440833"/>
            <a:ext cx="45456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Sans" pitchFamily="34" charset="0"/>
                <a:ea typeface="IBM Plex Sans" pitchFamily="34" charset="-122"/>
                <a:cs typeface="IBM Plex Sans" pitchFamily="34" charset="-120"/>
              </a:rPr>
              <a:t>IzveziUJson, ObrisiSve</a:t>
            </a:r>
            <a:r>
              <a:rPr lang="en-US" sz="1200" dirty="0">
                <a:solidFill>
                  <a:srgbClr val="44505D"/>
                </a:solidFill>
                <a:latin typeface="IBM Plex Sans" pitchFamily="34" charset="0"/>
                <a:ea typeface="IBM Plex Sans" pitchFamily="34" charset="-122"/>
                <a:cs typeface="IBM Plex Sans" pitchFamily="34" charset="-120"/>
              </a:rPr>
              <a:t> · користи администрација</a:t>
            </a:r>
            <a:endParaRPr lang="en-US" sz="1200" dirty="0"/>
          </a:p>
        </p:txBody>
      </p:sp>
      <p:sp>
        <p:nvSpPr>
          <p:cNvPr id="26" name="Shape 23"/>
          <p:cNvSpPr/>
          <p:nvPr/>
        </p:nvSpPr>
        <p:spPr>
          <a:xfrm>
            <a:off x="812800" y="6209705"/>
            <a:ext cx="10566400" cy="0"/>
          </a:xfrm>
          <a:prstGeom prst="line">
            <a:avLst/>
          </a:prstGeom>
          <a:noFill/>
          <a:ln w="6350">
            <a:solidFill>
              <a:srgbClr val="D3DAE1"/>
            </a:solidFill>
            <a:prstDash val="solid"/>
          </a:ln>
        </p:spPr>
      </p:sp>
      <p:sp>
        <p:nvSpPr>
          <p:cNvPr id="27"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pic>
        <p:nvPicPr>
          <p:cNvPr id="3" name="Image 0" descr="Поређење пре и после инверзије зависности: лево ZapisiServis директно креира JsonBazaPodataka преко границе слоја, десно ZapisiServis зависи од уговора IBazaPodataka, а JsonBazaPodataka из Infrastructure слоја имплементира тај уговор">    </p:cNvPr>
          <p:cNvPicPr>
            <a:picLocks noChangeAspect="1"/>
          </p:cNvPicPr>
          <p:nvPr/>
        </p:nvPicPr>
        <p:blipFill>
          <a:blip r:embed="rId1"/>
          <a:srcRect l="0" r="0" t="0" b="0"/>
          <a:stretch/>
        </p:blipFill>
        <p:spPr>
          <a:xfrm>
            <a:off x="812800" y="2159000"/>
            <a:ext cx="10566400" cy="3302000"/>
          </a:xfrm>
          <a:prstGeom prst="rect">
            <a:avLst/>
          </a:prstGeom>
        </p:spPr>
      </p:pic>
      <p:sp>
        <p:nvSpPr>
          <p:cNvPr id="4"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03 · LSP, ISP И DIP</a:t>
            </a:r>
            <a:endParaRPr lang="en-US" sz="1200" dirty="0"/>
          </a:p>
        </p:txBody>
      </p:sp>
      <p:sp>
        <p:nvSpPr>
          <p:cNvPr id="5"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Dependency Inversion Principle</a:t>
            </a:r>
            <a:endParaRPr lang="en-US" sz="3000" dirty="0"/>
          </a:p>
        </p:txBody>
      </p:sp>
      <p:sp>
        <p:nvSpPr>
          <p:cNvPr id="6"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Политика зависи од апстракције, а технички детаљ имплементира ту апстракцију.</a:t>
            </a:r>
            <a:endParaRPr lang="en-US" sz="1400" dirty="0"/>
          </a:p>
        </p:txBody>
      </p:sp>
      <p:sp>
        <p:nvSpPr>
          <p:cNvPr id="7" name="Text 4"/>
          <p:cNvSpPr/>
          <p:nvPr/>
        </p:nvSpPr>
        <p:spPr>
          <a:xfrm>
            <a:off x="1016000" y="2298700"/>
            <a:ext cx="26162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ПРЕ</a:t>
            </a:r>
            <a:endParaRPr lang="en-US" sz="1200" dirty="0"/>
          </a:p>
        </p:txBody>
      </p:sp>
      <p:sp>
        <p:nvSpPr>
          <p:cNvPr id="8" name="Text 5"/>
          <p:cNvSpPr/>
          <p:nvPr/>
        </p:nvSpPr>
        <p:spPr>
          <a:xfrm>
            <a:off x="6502400" y="22987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ПОСЛЕ</a:t>
            </a:r>
            <a:endParaRPr lang="en-US" sz="1200" dirty="0"/>
          </a:p>
        </p:txBody>
      </p:sp>
      <p:sp>
        <p:nvSpPr>
          <p:cNvPr id="9" name="Text 6"/>
          <p:cNvSpPr/>
          <p:nvPr/>
        </p:nvSpPr>
        <p:spPr>
          <a:xfrm>
            <a:off x="2302510" y="2870200"/>
            <a:ext cx="235458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ZapisiServis</a:t>
            </a:r>
            <a:endParaRPr lang="en-US" sz="1300" dirty="0"/>
          </a:p>
        </p:txBody>
      </p:sp>
      <p:sp>
        <p:nvSpPr>
          <p:cNvPr id="10" name="Text 7"/>
          <p:cNvSpPr/>
          <p:nvPr/>
        </p:nvSpPr>
        <p:spPr>
          <a:xfrm>
            <a:off x="2302510" y="4711700"/>
            <a:ext cx="235458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JsonBazaPodataka</a:t>
            </a:r>
            <a:endParaRPr lang="en-US" sz="1300" dirty="0"/>
          </a:p>
        </p:txBody>
      </p:sp>
      <p:sp>
        <p:nvSpPr>
          <p:cNvPr id="11" name="Text 8"/>
          <p:cNvSpPr/>
          <p:nvPr/>
        </p:nvSpPr>
        <p:spPr>
          <a:xfrm>
            <a:off x="3581400" y="37465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креира конкретну класу</a:t>
            </a:r>
            <a:endParaRPr lang="en-US" sz="1200" dirty="0"/>
          </a:p>
        </p:txBody>
      </p:sp>
      <p:sp>
        <p:nvSpPr>
          <p:cNvPr id="12" name="Text 9"/>
          <p:cNvSpPr/>
          <p:nvPr/>
        </p:nvSpPr>
        <p:spPr>
          <a:xfrm>
            <a:off x="965200" y="391160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Application</a:t>
            </a:r>
            <a:endParaRPr lang="en-US" sz="1200" dirty="0"/>
          </a:p>
        </p:txBody>
      </p:sp>
      <p:sp>
        <p:nvSpPr>
          <p:cNvPr id="13" name="Text 10"/>
          <p:cNvSpPr/>
          <p:nvPr/>
        </p:nvSpPr>
        <p:spPr>
          <a:xfrm>
            <a:off x="965200" y="425450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Infrastructure</a:t>
            </a:r>
            <a:endParaRPr lang="en-US" sz="1200" dirty="0"/>
          </a:p>
        </p:txBody>
      </p:sp>
      <p:sp>
        <p:nvSpPr>
          <p:cNvPr id="14" name="Text 11"/>
          <p:cNvSpPr/>
          <p:nvPr/>
        </p:nvSpPr>
        <p:spPr>
          <a:xfrm>
            <a:off x="7788910" y="2584450"/>
            <a:ext cx="235458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ZapisiServis</a:t>
            </a:r>
            <a:endParaRPr lang="en-US" sz="1300" dirty="0"/>
          </a:p>
        </p:txBody>
      </p:sp>
      <p:sp>
        <p:nvSpPr>
          <p:cNvPr id="15" name="Text 12"/>
          <p:cNvSpPr/>
          <p:nvPr/>
        </p:nvSpPr>
        <p:spPr>
          <a:xfrm>
            <a:off x="7788910" y="3473450"/>
            <a:ext cx="235458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B0213C"/>
                </a:solidFill>
                <a:latin typeface="IBM Plex Mono" pitchFamily="49" charset="0"/>
                <a:ea typeface="IBM Plex Mono" pitchFamily="49" charset="-122"/>
                <a:cs typeface="IBM Plex Mono" pitchFamily="49" charset="-120"/>
              </a:rPr>
              <a:t>IBazaPodataka</a:t>
            </a:r>
            <a:endParaRPr lang="en-US" sz="1300" dirty="0"/>
          </a:p>
        </p:txBody>
      </p:sp>
      <p:sp>
        <p:nvSpPr>
          <p:cNvPr id="16" name="Text 13"/>
          <p:cNvSpPr/>
          <p:nvPr/>
        </p:nvSpPr>
        <p:spPr>
          <a:xfrm>
            <a:off x="7788910" y="4711700"/>
            <a:ext cx="235458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3202D"/>
                </a:solidFill>
                <a:latin typeface="IBM Plex Mono" pitchFamily="49" charset="0"/>
                <a:ea typeface="IBM Plex Mono" pitchFamily="49" charset="-122"/>
                <a:cs typeface="IBM Plex Mono" pitchFamily="49" charset="-120"/>
              </a:rPr>
              <a:t>JsonBazaPodataka</a:t>
            </a:r>
            <a:endParaRPr lang="en-US" sz="1300" dirty="0"/>
          </a:p>
        </p:txBody>
      </p:sp>
      <p:sp>
        <p:nvSpPr>
          <p:cNvPr id="17" name="Text 14"/>
          <p:cNvSpPr/>
          <p:nvPr/>
        </p:nvSpPr>
        <p:spPr>
          <a:xfrm>
            <a:off x="9067800" y="42672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Sans" pitchFamily="34" charset="0"/>
                <a:ea typeface="IBM Plex Sans" pitchFamily="34" charset="-122"/>
                <a:cs typeface="IBM Plex Sans" pitchFamily="34" charset="-120"/>
              </a:rPr>
              <a:t>имплементира уговор</a:t>
            </a:r>
            <a:endParaRPr lang="en-US" sz="1200" dirty="0"/>
          </a:p>
        </p:txBody>
      </p:sp>
      <p:sp>
        <p:nvSpPr>
          <p:cNvPr id="18" name="Text 15"/>
          <p:cNvSpPr/>
          <p:nvPr/>
        </p:nvSpPr>
        <p:spPr>
          <a:xfrm>
            <a:off x="6451600" y="391160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Application</a:t>
            </a:r>
            <a:endParaRPr lang="en-US" sz="1200" dirty="0"/>
          </a:p>
        </p:txBody>
      </p:sp>
      <p:sp>
        <p:nvSpPr>
          <p:cNvPr id="19" name="Text 16"/>
          <p:cNvSpPr/>
          <p:nvPr/>
        </p:nvSpPr>
        <p:spPr>
          <a:xfrm>
            <a:off x="6451600" y="425450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Infrastructure</a:t>
            </a:r>
            <a:endParaRPr lang="en-US" sz="1200" dirty="0"/>
          </a:p>
        </p:txBody>
      </p:sp>
      <p:sp>
        <p:nvSpPr>
          <p:cNvPr id="20" name="Shape 17"/>
          <p:cNvSpPr/>
          <p:nvPr/>
        </p:nvSpPr>
        <p:spPr>
          <a:xfrm>
            <a:off x="812800" y="6209705"/>
            <a:ext cx="10566400" cy="0"/>
          </a:xfrm>
          <a:prstGeom prst="line">
            <a:avLst/>
          </a:prstGeom>
          <a:noFill/>
          <a:ln w="6350">
            <a:solidFill>
              <a:srgbClr val="D3DAE1"/>
            </a:solidFill>
            <a:prstDash val="solid"/>
          </a:ln>
        </p:spPr>
      </p:sp>
      <p:sp>
        <p:nvSpPr>
          <p:cNvPr id="21" name="Text 1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2" name="Text 1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E5E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B0213C"/>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ЧЕТВРТИ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Clean Architecture</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Слојеви система и правило по коме зависности увек показују ка пословном језгру.</a:t>
            </a:r>
            <a:endParaRPr lang="en-US" sz="1400" dirty="0"/>
          </a:p>
        </p:txBody>
      </p:sp>
      <p:sp>
        <p:nvSpPr>
          <p:cNvPr id="6" name="Text 4"/>
          <p:cNvSpPr/>
          <p:nvPr/>
        </p:nvSpPr>
        <p:spPr>
          <a:xfrm>
            <a:off x="4270375" y="3915966"/>
            <a:ext cx="1491159"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Смер зависности</a:t>
            </a:r>
            <a:endParaRPr lang="en-US" sz="1200" dirty="0"/>
          </a:p>
        </p:txBody>
      </p:sp>
      <p:sp>
        <p:nvSpPr>
          <p:cNvPr id="7" name="Text 5"/>
          <p:cNvSpPr/>
          <p:nvPr/>
        </p:nvSpPr>
        <p:spPr>
          <a:xfrm>
            <a:off x="5844084" y="3915966"/>
            <a:ext cx="1850529"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Одговорности слојева</a:t>
            </a:r>
            <a:endParaRPr lang="en-US" sz="1200" dirty="0"/>
          </a:p>
        </p:txBody>
      </p:sp>
      <p:sp>
        <p:nvSpPr>
          <p:cNvPr id="8" name="Text 6"/>
          <p:cNvSpPr/>
          <p:nvPr/>
        </p:nvSpPr>
        <p:spPr>
          <a:xfrm>
            <a:off x="7777163" y="3915966"/>
            <a:ext cx="1097062"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Ток захтева</a:t>
            </a:r>
            <a:endParaRPr lang="en-US" sz="1200" dirty="0"/>
          </a:p>
        </p:txBody>
      </p:sp>
      <p:sp>
        <p:nvSpPr>
          <p:cNvPr id="9" name="Text 7"/>
          <p:cNvSpPr/>
          <p:nvPr/>
        </p:nvSpPr>
        <p:spPr>
          <a:xfrm>
            <a:off x="8956774" y="3915966"/>
            <a:ext cx="1438275"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Composition root</a:t>
            </a:r>
            <a:endParaRPr lang="en-US" sz="1200" dirty="0"/>
          </a:p>
        </p:txBody>
      </p:sp>
      <p:sp>
        <p:nvSpPr>
          <p:cNvPr id="10" name="Text 8"/>
          <p:cNvSpPr/>
          <p:nvPr/>
        </p:nvSpPr>
        <p:spPr>
          <a:xfrm>
            <a:off x="4270375" y="4319786"/>
            <a:ext cx="1359495"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Студија случаја</a:t>
            </a:r>
            <a:endParaRPr lang="en-US" sz="1200" dirty="0"/>
          </a:p>
        </p:txBody>
      </p:sp>
      <p:sp>
        <p:nvSpPr>
          <p:cNvPr id="11" name="Shape 9"/>
          <p:cNvSpPr/>
          <p:nvPr/>
        </p:nvSpPr>
        <p:spPr>
          <a:xfrm>
            <a:off x="812800" y="6209705"/>
            <a:ext cx="10566400" cy="0"/>
          </a:xfrm>
          <a:prstGeom prst="line">
            <a:avLst/>
          </a:prstGeom>
          <a:noFill/>
          <a:ln w="6350">
            <a:solidFill>
              <a:srgbClr val="C8B6B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pic>
        <p:nvPicPr>
          <p:cNvPr id="3" name="Image 0" descr="Смер зависности: Presentation зависи од Application, Application зависи од Domain, Infrastructure зависи од Domain и имплементира портове из Application слоја. Из Domain слоја не излази ниједна стрелица.">    </p:cNvPr>
          <p:cNvPicPr>
            <a:picLocks noChangeAspect="1"/>
          </p:cNvPicPr>
          <p:nvPr/>
        </p:nvPicPr>
        <p:blipFill>
          <a:blip r:embed="rId1"/>
          <a:srcRect l="0" r="0" t="-31" b="-31"/>
          <a:stretch/>
        </p:blipFill>
        <p:spPr>
          <a:xfrm>
            <a:off x="812800" y="2159000"/>
            <a:ext cx="10566400" cy="1905000"/>
          </a:xfrm>
          <a:prstGeom prst="rect">
            <a:avLst/>
          </a:prstGeom>
        </p:spPr>
      </p:pic>
      <p:sp>
        <p:nvSpPr>
          <p:cNvPr id="4"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04 · CLEAN ARCHITECTURE</a:t>
            </a:r>
            <a:endParaRPr lang="en-US" sz="1200" dirty="0"/>
          </a:p>
        </p:txBody>
      </p:sp>
      <p:sp>
        <p:nvSpPr>
          <p:cNvPr id="5"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Смер зависности у Clean Architecture</a:t>
            </a:r>
            <a:endParaRPr lang="en-US" sz="3000" dirty="0"/>
          </a:p>
        </p:txBody>
      </p:sp>
      <p:sp>
        <p:nvSpPr>
          <p:cNvPr id="6"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Називи пројеката могу да се разликују. Смер зависности остаје јасан и проверљив.</a:t>
            </a:r>
            <a:endParaRPr lang="en-US" sz="1400" dirty="0"/>
          </a:p>
        </p:txBody>
      </p:sp>
      <p:sp>
        <p:nvSpPr>
          <p:cNvPr id="7" name="Shape 4"/>
          <p:cNvSpPr/>
          <p:nvPr/>
        </p:nvSpPr>
        <p:spPr>
          <a:xfrm>
            <a:off x="815975" y="4321175"/>
            <a:ext cx="4558506" cy="932061"/>
          </a:xfrm>
          <a:prstGeom prst="roundRect">
            <a:avLst>
              <a:gd name="adj" fmla="val 10560"/>
            </a:avLst>
          </a:prstGeom>
          <a:solidFill>
            <a:srgbClr val="FCFCFB"/>
          </a:solidFill>
          <a:ln w="6350">
            <a:solidFill>
              <a:srgbClr val="A9B6C3"/>
            </a:solidFill>
            <a:prstDash val="dash"/>
          </a:ln>
        </p:spPr>
      </p:sp>
      <p:sp>
        <p:nvSpPr>
          <p:cNvPr id="8" name="Text 5"/>
          <p:cNvSpPr/>
          <p:nvPr/>
        </p:nvSpPr>
        <p:spPr>
          <a:xfrm>
            <a:off x="996950" y="4662785"/>
            <a:ext cx="6400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Mono" pitchFamily="49" charset="0"/>
                <a:ea typeface="IBM Plex Mono" pitchFamily="49" charset="-122"/>
                <a:cs typeface="IBM Plex Mono" pitchFamily="49" charset="-120"/>
              </a:rPr>
              <a:t>Tests</a:t>
            </a:r>
            <a:endParaRPr lang="en-US" sz="1400" dirty="0"/>
          </a:p>
        </p:txBody>
      </p:sp>
      <p:sp>
        <p:nvSpPr>
          <p:cNvPr id="9" name="Text 6"/>
          <p:cNvSpPr/>
          <p:nvPr/>
        </p:nvSpPr>
        <p:spPr>
          <a:xfrm>
            <a:off x="1657350" y="4564360"/>
            <a:ext cx="364224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0213C"/>
                </a:solidFill>
                <a:latin typeface="IBM Plex Sans" pitchFamily="34" charset="0"/>
                <a:ea typeface="IBM Plex Sans" pitchFamily="34" charset="-122"/>
                <a:cs typeface="IBM Plex Sans" pitchFamily="34" charset="-120"/>
              </a:rPr>
              <a:t>провера</a:t>
            </a:r>
            <a:r>
              <a:rPr lang="en-US" sz="1300" dirty="0">
                <a:solidFill>
                  <a:srgbClr val="44505D"/>
                </a:solidFill>
                <a:latin typeface="IBM Plex Sans" pitchFamily="34" charset="0"/>
                <a:ea typeface="IBM Plex Sans" pitchFamily="34" charset="-122"/>
                <a:cs typeface="IBM Plex Sans" pitchFamily="34" charset="-120"/>
              </a:rPr>
              <a:t> · зависе од слоја који проверавају и нису део ланца</a:t>
            </a:r>
            <a:endParaRPr lang="en-US" sz="1300" dirty="0"/>
          </a:p>
        </p:txBody>
      </p:sp>
      <p:sp>
        <p:nvSpPr>
          <p:cNvPr id="10" name="Shape 7"/>
          <p:cNvSpPr/>
          <p:nvPr/>
        </p:nvSpPr>
        <p:spPr>
          <a:xfrm>
            <a:off x="5530056" y="4318000"/>
            <a:ext cx="5849144" cy="938411"/>
          </a:xfrm>
          <a:prstGeom prst="roundRect">
            <a:avLst>
              <a:gd name="adj" fmla="val 10827"/>
            </a:avLst>
          </a:prstGeom>
          <a:solidFill>
            <a:srgbClr val="F0E5E5"/>
          </a:solidFill>
          <a:ln/>
        </p:spPr>
      </p:sp>
      <p:sp>
        <p:nvSpPr>
          <p:cNvPr id="11" name="Shape 8"/>
          <p:cNvSpPr/>
          <p:nvPr/>
        </p:nvSpPr>
        <p:spPr>
          <a:xfrm>
            <a:off x="5530056" y="4318000"/>
            <a:ext cx="5849144" cy="938411"/>
          </a:xfrm>
          <a:custGeom>
            <a:avLst/>
            <a:gdLst/>
            <a:ahLst/>
            <a:cxnLst/>
            <a:rect l="l" t="t" r="r" b="b"/>
            <a:pathLst>
              <a:path w="5849144" h="938411">
                <a:moveTo>
                  <a:pt x="101600" y="938411"/>
                </a:moveTo>
                <a:lnTo>
                  <a:pt x="101600" y="938411"/>
                </a:lnTo>
                <a:arcTo hR="101600" wR="101600" stAng="5400000" swAng="5400000"/>
                <a:lnTo>
                  <a:pt x="0" y="101600"/>
                </a:lnTo>
                <a:arcTo hR="101600" wR="101600" stAng="10800000" swAng="5400000"/>
                <a:lnTo>
                  <a:pt x="101600" y="0"/>
                </a:lnTo>
                <a:arcTo hR="101600" wR="63500" stAng="16200000" swAng="-5400000"/>
                <a:lnTo>
                  <a:pt x="38100" y="836811"/>
                </a:lnTo>
                <a:arcTo hR="101600" wR="63500" stAng="10800000" swAng="-5400000"/>
                <a:close/>
              </a:path>
            </a:pathLst>
          </a:custGeom>
          <a:solidFill>
            <a:srgbClr val="B0213C"/>
          </a:solidFill>
          <a:ln/>
        </p:spPr>
      </p:sp>
      <p:sp>
        <p:nvSpPr>
          <p:cNvPr id="12" name="Text 9"/>
          <p:cNvSpPr/>
          <p:nvPr/>
        </p:nvSpPr>
        <p:spPr>
          <a:xfrm>
            <a:off x="5745956" y="4445000"/>
            <a:ext cx="56191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НАПОМЕНА</a:t>
            </a:r>
            <a:endParaRPr lang="en-US" sz="1200" dirty="0"/>
          </a:p>
        </p:txBody>
      </p:sp>
      <p:sp>
        <p:nvSpPr>
          <p:cNvPr id="13" name="Text 10"/>
          <p:cNvSpPr/>
          <p:nvPr/>
        </p:nvSpPr>
        <p:spPr>
          <a:xfrm>
            <a:off x="5745956" y="4683720"/>
            <a:ext cx="561910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Пословно језгро остаје независно од радног оквира, базе података, HTTP-а и корисничког интерфејса.</a:t>
            </a:r>
            <a:endParaRPr lang="en-US" sz="1300" dirty="0"/>
          </a:p>
        </p:txBody>
      </p:sp>
      <p:sp>
        <p:nvSpPr>
          <p:cNvPr id="14" name="Text 11"/>
          <p:cNvSpPr/>
          <p:nvPr/>
        </p:nvSpPr>
        <p:spPr>
          <a:xfrm>
            <a:off x="6381115" y="24384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0213C"/>
                </a:solidFill>
                <a:latin typeface="IBM Plex Sans" pitchFamily="34" charset="0"/>
                <a:ea typeface="IBM Plex Sans" pitchFamily="34" charset="-122"/>
                <a:cs typeface="IBM Plex Sans" pitchFamily="34" charset="-120"/>
              </a:rPr>
              <a:t>имплементира портове</a:t>
            </a:r>
            <a:endParaRPr lang="en-US" sz="1200" dirty="0"/>
          </a:p>
        </p:txBody>
      </p:sp>
      <p:sp>
        <p:nvSpPr>
          <p:cNvPr id="15" name="Text 12"/>
          <p:cNvSpPr/>
          <p:nvPr/>
        </p:nvSpPr>
        <p:spPr>
          <a:xfrm>
            <a:off x="780415" y="2984500"/>
            <a:ext cx="222377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Presentation</a:t>
            </a:r>
            <a:endParaRPr lang="en-US" sz="1600" dirty="0"/>
          </a:p>
        </p:txBody>
      </p:sp>
      <p:sp>
        <p:nvSpPr>
          <p:cNvPr id="16" name="Text 13"/>
          <p:cNvSpPr/>
          <p:nvPr/>
        </p:nvSpPr>
        <p:spPr>
          <a:xfrm>
            <a:off x="780415" y="33020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UI/API</a:t>
            </a:r>
            <a:endParaRPr lang="en-US" sz="1200" dirty="0"/>
          </a:p>
        </p:txBody>
      </p:sp>
      <p:sp>
        <p:nvSpPr>
          <p:cNvPr id="17" name="Text 14"/>
          <p:cNvSpPr/>
          <p:nvPr/>
        </p:nvSpPr>
        <p:spPr>
          <a:xfrm>
            <a:off x="3580765" y="2984500"/>
            <a:ext cx="222377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Application</a:t>
            </a:r>
            <a:endParaRPr lang="en-US" sz="1600" dirty="0"/>
          </a:p>
        </p:txBody>
      </p:sp>
      <p:sp>
        <p:nvSpPr>
          <p:cNvPr id="18" name="Text 15"/>
          <p:cNvSpPr/>
          <p:nvPr/>
        </p:nvSpPr>
        <p:spPr>
          <a:xfrm>
            <a:off x="3580765" y="33020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use-case</a:t>
            </a:r>
            <a:endParaRPr lang="en-US" sz="1200" dirty="0"/>
          </a:p>
        </p:txBody>
      </p:sp>
      <p:sp>
        <p:nvSpPr>
          <p:cNvPr id="19" name="Text 16"/>
          <p:cNvSpPr/>
          <p:nvPr/>
        </p:nvSpPr>
        <p:spPr>
          <a:xfrm>
            <a:off x="6381115" y="2984500"/>
            <a:ext cx="222377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CFCFB"/>
                </a:solidFill>
                <a:latin typeface="IBM Plex Sans" pitchFamily="34" charset="0"/>
                <a:ea typeface="IBM Plex Sans" pitchFamily="34" charset="-122"/>
                <a:cs typeface="IBM Plex Sans" pitchFamily="34" charset="-120"/>
              </a:rPr>
              <a:t>Domain</a:t>
            </a:r>
            <a:endParaRPr lang="en-US" sz="1600" dirty="0"/>
          </a:p>
        </p:txBody>
      </p:sp>
      <p:sp>
        <p:nvSpPr>
          <p:cNvPr id="20" name="Text 17"/>
          <p:cNvSpPr/>
          <p:nvPr/>
        </p:nvSpPr>
        <p:spPr>
          <a:xfrm>
            <a:off x="6381115" y="33020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4E0E4"/>
                </a:solidFill>
                <a:latin typeface="IBM Plex Mono" pitchFamily="49" charset="0"/>
                <a:ea typeface="IBM Plex Mono" pitchFamily="49" charset="-122"/>
                <a:cs typeface="IBM Plex Mono" pitchFamily="49" charset="-120"/>
              </a:rPr>
              <a:t>правила</a:t>
            </a:r>
            <a:endParaRPr lang="en-US" sz="1200" dirty="0"/>
          </a:p>
        </p:txBody>
      </p:sp>
      <p:sp>
        <p:nvSpPr>
          <p:cNvPr id="21" name="Text 18"/>
          <p:cNvSpPr/>
          <p:nvPr/>
        </p:nvSpPr>
        <p:spPr>
          <a:xfrm>
            <a:off x="9181465" y="2984500"/>
            <a:ext cx="2223770"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Infrastructure</a:t>
            </a:r>
            <a:endParaRPr lang="en-US" sz="1600" dirty="0"/>
          </a:p>
        </p:txBody>
      </p:sp>
      <p:sp>
        <p:nvSpPr>
          <p:cNvPr id="22" name="Text 19"/>
          <p:cNvSpPr/>
          <p:nvPr/>
        </p:nvSpPr>
        <p:spPr>
          <a:xfrm>
            <a:off x="9181465" y="3302000"/>
            <a:ext cx="22237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адаптери</a:t>
            </a:r>
            <a:endParaRPr lang="en-US" sz="1200" dirty="0"/>
          </a:p>
        </p:txBody>
      </p:sp>
      <p:sp>
        <p:nvSpPr>
          <p:cNvPr id="23" name="Shape 20"/>
          <p:cNvSpPr/>
          <p:nvPr/>
        </p:nvSpPr>
        <p:spPr>
          <a:xfrm>
            <a:off x="812800" y="6209705"/>
            <a:ext cx="10566400" cy="0"/>
          </a:xfrm>
          <a:prstGeom prst="line">
            <a:avLst/>
          </a:prstGeom>
          <a:noFill/>
          <a:ln w="6350">
            <a:solidFill>
              <a:srgbClr val="D3DAE1"/>
            </a:solidFill>
            <a:prstDash val="solid"/>
          </a:ln>
        </p:spPr>
      </p:sp>
      <p:sp>
        <p:nvSpPr>
          <p:cNvPr id="24"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5"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04 · CLEAN ARCHITECTURE</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Одговорности архитектонских слојева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Квалитет архитектуре процењује се по јасноћи одговорности и смеру зависности.</a:t>
            </a:r>
            <a:endParaRPr lang="en-US" sz="1400" dirty="0"/>
          </a:p>
        </p:txBody>
      </p:sp>
      <p:sp>
        <p:nvSpPr>
          <p:cNvPr id="6" name="Shape 4"/>
          <p:cNvSpPr/>
          <p:nvPr/>
        </p:nvSpPr>
        <p:spPr>
          <a:xfrm>
            <a:off x="815975" y="2179836"/>
            <a:ext cx="5200650" cy="887611"/>
          </a:xfrm>
          <a:prstGeom prst="roundRect">
            <a:avLst>
              <a:gd name="adj" fmla="val 11089"/>
            </a:avLst>
          </a:prstGeom>
          <a:solidFill>
            <a:srgbClr val="FCFCFB"/>
          </a:solidFill>
          <a:ln w="6350">
            <a:solidFill>
              <a:srgbClr val="D3DAE1"/>
            </a:solidFill>
            <a:prstDash val="solid"/>
          </a:ln>
        </p:spPr>
      </p:sp>
      <p:sp>
        <p:nvSpPr>
          <p:cNvPr id="7" name="Text 5"/>
          <p:cNvSpPr/>
          <p:nvPr/>
        </p:nvSpPr>
        <p:spPr>
          <a:xfrm>
            <a:off x="10223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510109" y="2360811"/>
            <a:ext cx="390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Domain</a:t>
            </a:r>
            <a:endParaRPr lang="en-US" sz="1600" dirty="0"/>
          </a:p>
        </p:txBody>
      </p:sp>
      <p:sp>
        <p:nvSpPr>
          <p:cNvPr id="9" name="Text 7"/>
          <p:cNvSpPr/>
          <p:nvPr/>
        </p:nvSpPr>
        <p:spPr>
          <a:xfrm>
            <a:off x="1510109" y="2655391"/>
            <a:ext cx="390590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ентитети, инваријанте и стабилна правила</a:t>
            </a:r>
            <a:endParaRPr lang="en-US" sz="1300" dirty="0"/>
          </a:p>
        </p:txBody>
      </p:sp>
      <p:sp>
        <p:nvSpPr>
          <p:cNvPr id="10" name="Shape 8"/>
          <p:cNvSpPr/>
          <p:nvPr/>
        </p:nvSpPr>
        <p:spPr>
          <a:xfrm>
            <a:off x="5454650" y="2360811"/>
            <a:ext cx="355600" cy="355600"/>
          </a:xfrm>
          <a:prstGeom prst="roundRect">
            <a:avLst>
              <a:gd name="adj" fmla="val 21429"/>
            </a:avLst>
          </a:prstGeom>
          <a:solidFill>
            <a:srgbClr val="B0213C"/>
          </a:solidFill>
          <a:ln/>
        </p:spPr>
      </p:sp>
      <p:pic>
        <p:nvPicPr>
          <p:cNvPr id="11" name="Image 0" descr="Key">    </p:cNvPr>
          <p:cNvPicPr>
            <a:picLocks noChangeAspect="1"/>
          </p:cNvPicPr>
          <p:nvPr/>
        </p:nvPicPr>
        <p:blipFill>
          <a:blip r:embed="rId1"/>
          <a:srcRect l="0" r="0" t="0" b="0"/>
          <a:stretch/>
        </p:blipFill>
        <p:spPr>
          <a:xfrm>
            <a:off x="5530850" y="2437011"/>
            <a:ext cx="203200" cy="203200"/>
          </a:xfrm>
          <a:prstGeom prst="rect">
            <a:avLst/>
          </a:prstGeom>
        </p:spPr>
      </p:pic>
      <p:sp>
        <p:nvSpPr>
          <p:cNvPr id="12" name="Shape 9"/>
          <p:cNvSpPr/>
          <p:nvPr/>
        </p:nvSpPr>
        <p:spPr>
          <a:xfrm>
            <a:off x="6175375" y="2179836"/>
            <a:ext cx="5200650" cy="887611"/>
          </a:xfrm>
          <a:prstGeom prst="roundRect">
            <a:avLst>
              <a:gd name="adj" fmla="val 11089"/>
            </a:avLst>
          </a:prstGeom>
          <a:solidFill>
            <a:srgbClr val="FCFCFB"/>
          </a:solidFill>
          <a:ln w="6350">
            <a:solidFill>
              <a:srgbClr val="D3DAE1"/>
            </a:solidFill>
            <a:prstDash val="solid"/>
          </a:ln>
        </p:spPr>
      </p:sp>
      <p:sp>
        <p:nvSpPr>
          <p:cNvPr id="13" name="Text 10"/>
          <p:cNvSpPr/>
          <p:nvPr/>
        </p:nvSpPr>
        <p:spPr>
          <a:xfrm>
            <a:off x="63817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02</a:t>
            </a:r>
            <a:endParaRPr lang="en-US" sz="2200" dirty="0"/>
          </a:p>
        </p:txBody>
      </p:sp>
      <p:sp>
        <p:nvSpPr>
          <p:cNvPr id="14" name="Text 11"/>
          <p:cNvSpPr/>
          <p:nvPr/>
        </p:nvSpPr>
        <p:spPr>
          <a:xfrm>
            <a:off x="6869509" y="2360811"/>
            <a:ext cx="390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Application</a:t>
            </a:r>
            <a:endParaRPr lang="en-US" sz="1600" dirty="0"/>
          </a:p>
        </p:txBody>
      </p:sp>
      <p:sp>
        <p:nvSpPr>
          <p:cNvPr id="15" name="Text 12"/>
          <p:cNvSpPr/>
          <p:nvPr/>
        </p:nvSpPr>
        <p:spPr>
          <a:xfrm>
            <a:off x="6869509" y="2655391"/>
            <a:ext cx="390590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случајеви употребе и портови</a:t>
            </a:r>
            <a:endParaRPr lang="en-US" sz="1300" dirty="0"/>
          </a:p>
        </p:txBody>
      </p:sp>
      <p:sp>
        <p:nvSpPr>
          <p:cNvPr id="16" name="Shape 13"/>
          <p:cNvSpPr/>
          <p:nvPr/>
        </p:nvSpPr>
        <p:spPr>
          <a:xfrm>
            <a:off x="10814050" y="2360811"/>
            <a:ext cx="355600" cy="355600"/>
          </a:xfrm>
          <a:prstGeom prst="roundRect">
            <a:avLst>
              <a:gd name="adj" fmla="val 21429"/>
            </a:avLst>
          </a:prstGeom>
          <a:solidFill>
            <a:srgbClr val="F4E0E4"/>
          </a:solidFill>
          <a:ln/>
        </p:spPr>
      </p:sp>
      <p:pic>
        <p:nvPicPr>
          <p:cNvPr id="17" name="Image 1" descr="Settings">    </p:cNvPr>
          <p:cNvPicPr>
            <a:picLocks noChangeAspect="1"/>
          </p:cNvPicPr>
          <p:nvPr/>
        </p:nvPicPr>
        <p:blipFill>
          <a:blip r:embed="rId2"/>
          <a:srcRect l="0" r="0" t="0" b="0"/>
          <a:stretch/>
        </p:blipFill>
        <p:spPr>
          <a:xfrm>
            <a:off x="10890250" y="2437011"/>
            <a:ext cx="203200" cy="203200"/>
          </a:xfrm>
          <a:prstGeom prst="rect">
            <a:avLst/>
          </a:prstGeom>
        </p:spPr>
      </p:pic>
      <p:sp>
        <p:nvSpPr>
          <p:cNvPr id="18" name="Shape 14"/>
          <p:cNvSpPr/>
          <p:nvPr/>
        </p:nvSpPr>
        <p:spPr>
          <a:xfrm>
            <a:off x="815975" y="3226197"/>
            <a:ext cx="5200650" cy="887611"/>
          </a:xfrm>
          <a:prstGeom prst="roundRect">
            <a:avLst>
              <a:gd name="adj" fmla="val 11089"/>
            </a:avLst>
          </a:prstGeom>
          <a:solidFill>
            <a:srgbClr val="FCFCFB"/>
          </a:solidFill>
          <a:ln w="6350">
            <a:solidFill>
              <a:srgbClr val="D3DAE1"/>
            </a:solidFill>
            <a:prstDash val="solid"/>
          </a:ln>
        </p:spPr>
      </p:sp>
      <p:sp>
        <p:nvSpPr>
          <p:cNvPr id="19" name="Text 15"/>
          <p:cNvSpPr/>
          <p:nvPr/>
        </p:nvSpPr>
        <p:spPr>
          <a:xfrm>
            <a:off x="10223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03</a:t>
            </a:r>
            <a:endParaRPr lang="en-US" sz="2200" dirty="0"/>
          </a:p>
        </p:txBody>
      </p:sp>
      <p:sp>
        <p:nvSpPr>
          <p:cNvPr id="20" name="Text 16"/>
          <p:cNvSpPr/>
          <p:nvPr/>
        </p:nvSpPr>
        <p:spPr>
          <a:xfrm>
            <a:off x="1510109" y="3407172"/>
            <a:ext cx="390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Infrastructure</a:t>
            </a:r>
            <a:endParaRPr lang="en-US" sz="1600" dirty="0"/>
          </a:p>
        </p:txBody>
      </p:sp>
      <p:sp>
        <p:nvSpPr>
          <p:cNvPr id="21" name="Text 17"/>
          <p:cNvSpPr/>
          <p:nvPr/>
        </p:nvSpPr>
        <p:spPr>
          <a:xfrm>
            <a:off x="1510109" y="3701752"/>
            <a:ext cx="390590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база, датотеке и спољни сервиси</a:t>
            </a:r>
            <a:endParaRPr lang="en-US" sz="1300" dirty="0"/>
          </a:p>
        </p:txBody>
      </p:sp>
      <p:sp>
        <p:nvSpPr>
          <p:cNvPr id="22" name="Shape 18"/>
          <p:cNvSpPr/>
          <p:nvPr/>
        </p:nvSpPr>
        <p:spPr>
          <a:xfrm>
            <a:off x="5454650" y="3407172"/>
            <a:ext cx="355600" cy="355600"/>
          </a:xfrm>
          <a:prstGeom prst="roundRect">
            <a:avLst>
              <a:gd name="adj" fmla="val 21429"/>
            </a:avLst>
          </a:prstGeom>
          <a:solidFill>
            <a:srgbClr val="FBF1E6"/>
          </a:solidFill>
          <a:ln/>
        </p:spPr>
      </p:sp>
      <p:pic>
        <p:nvPicPr>
          <p:cNvPr id="23" name="Image 2" descr="Database">    </p:cNvPr>
          <p:cNvPicPr>
            <a:picLocks noChangeAspect="1"/>
          </p:cNvPicPr>
          <p:nvPr/>
        </p:nvPicPr>
        <p:blipFill>
          <a:blip r:embed="rId3"/>
          <a:srcRect l="0" r="0" t="0" b="0"/>
          <a:stretch/>
        </p:blipFill>
        <p:spPr>
          <a:xfrm>
            <a:off x="5530850" y="3483372"/>
            <a:ext cx="203200" cy="203200"/>
          </a:xfrm>
          <a:prstGeom prst="rect">
            <a:avLst/>
          </a:prstGeom>
        </p:spPr>
      </p:pic>
      <p:sp>
        <p:nvSpPr>
          <p:cNvPr id="24" name="Shape 19"/>
          <p:cNvSpPr/>
          <p:nvPr/>
        </p:nvSpPr>
        <p:spPr>
          <a:xfrm>
            <a:off x="6175375" y="3226197"/>
            <a:ext cx="5200650" cy="887611"/>
          </a:xfrm>
          <a:prstGeom prst="roundRect">
            <a:avLst>
              <a:gd name="adj" fmla="val 11089"/>
            </a:avLst>
          </a:prstGeom>
          <a:solidFill>
            <a:srgbClr val="FCFCFB"/>
          </a:solidFill>
          <a:ln w="6350">
            <a:solidFill>
              <a:srgbClr val="D3DAE1"/>
            </a:solidFill>
            <a:prstDash val="solid"/>
          </a:ln>
        </p:spPr>
      </p:sp>
      <p:sp>
        <p:nvSpPr>
          <p:cNvPr id="25" name="Text 20"/>
          <p:cNvSpPr/>
          <p:nvPr/>
        </p:nvSpPr>
        <p:spPr>
          <a:xfrm>
            <a:off x="63817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04</a:t>
            </a:r>
            <a:endParaRPr lang="en-US" sz="2200" dirty="0"/>
          </a:p>
        </p:txBody>
      </p:sp>
      <p:sp>
        <p:nvSpPr>
          <p:cNvPr id="26" name="Text 21"/>
          <p:cNvSpPr/>
          <p:nvPr/>
        </p:nvSpPr>
        <p:spPr>
          <a:xfrm>
            <a:off x="6869509" y="3407172"/>
            <a:ext cx="390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Presentation</a:t>
            </a:r>
            <a:endParaRPr lang="en-US" sz="1600" dirty="0"/>
          </a:p>
        </p:txBody>
      </p:sp>
      <p:sp>
        <p:nvSpPr>
          <p:cNvPr id="27" name="Text 22"/>
          <p:cNvSpPr/>
          <p:nvPr/>
        </p:nvSpPr>
        <p:spPr>
          <a:xfrm>
            <a:off x="6869509" y="3701752"/>
            <a:ext cx="390590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превод захтева у позив use-case-а</a:t>
            </a:r>
            <a:endParaRPr lang="en-US" sz="1300" dirty="0"/>
          </a:p>
        </p:txBody>
      </p:sp>
      <p:sp>
        <p:nvSpPr>
          <p:cNvPr id="28" name="Shape 23"/>
          <p:cNvSpPr/>
          <p:nvPr/>
        </p:nvSpPr>
        <p:spPr>
          <a:xfrm>
            <a:off x="10814050" y="3407172"/>
            <a:ext cx="355600" cy="355600"/>
          </a:xfrm>
          <a:prstGeom prst="roundRect">
            <a:avLst>
              <a:gd name="adj" fmla="val 21429"/>
            </a:avLst>
          </a:prstGeom>
          <a:solidFill>
            <a:srgbClr val="FBF1E6"/>
          </a:solidFill>
          <a:ln/>
        </p:spPr>
      </p:sp>
      <p:pic>
        <p:nvPicPr>
          <p:cNvPr id="29" name="Image 3" descr="Globe">    </p:cNvPr>
          <p:cNvPicPr>
            <a:picLocks noChangeAspect="1"/>
          </p:cNvPicPr>
          <p:nvPr/>
        </p:nvPicPr>
        <p:blipFill>
          <a:blip r:embed="rId4"/>
          <a:srcRect l="0" r="0" t="0" b="0"/>
          <a:stretch/>
        </p:blipFill>
        <p:spPr>
          <a:xfrm>
            <a:off x="10890250" y="3483372"/>
            <a:ext cx="203200" cy="203200"/>
          </a:xfrm>
          <a:prstGeom prst="rect">
            <a:avLst/>
          </a:prstGeom>
        </p:spPr>
      </p:pic>
      <p:sp>
        <p:nvSpPr>
          <p:cNvPr id="30" name="Text 24"/>
          <p:cNvSpPr/>
          <p:nvPr/>
        </p:nvSpPr>
        <p:spPr>
          <a:xfrm>
            <a:off x="812800" y="4370983"/>
            <a:ext cx="10566400" cy="416520"/>
          </a:xfrm>
          <a:prstGeom prst="roundRect">
            <a:avLst>
              <a:gd name="adj" fmla="val 18294"/>
            </a:avLst>
          </a:prstGeom>
          <a:solidFill>
            <a:srgbClr val="F0E5E5"/>
          </a:solidFill>
          <a:ln/>
        </p:spPr>
        <p:txBody>
          <a:bodyPr wrap="square" lIns="130082" tIns="79282" rIns="0" bIns="538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Плаве ознаке означавају пословно језгро, а наранџасте спољне детаље који се могу заменити.</a:t>
            </a:r>
            <a:endParaRPr lang="en-US" sz="1200" dirty="0"/>
          </a:p>
        </p:txBody>
      </p:sp>
      <p:sp>
        <p:nvSpPr>
          <p:cNvPr id="31" name="Shape 25"/>
          <p:cNvSpPr/>
          <p:nvPr/>
        </p:nvSpPr>
        <p:spPr>
          <a:xfrm>
            <a:off x="812800" y="6209705"/>
            <a:ext cx="10566400" cy="0"/>
          </a:xfrm>
          <a:prstGeom prst="line">
            <a:avLst/>
          </a:prstGeom>
          <a:noFill/>
          <a:ln w="6350">
            <a:solidFill>
              <a:srgbClr val="D3DAE1"/>
            </a:solidFill>
            <a:prstDash val="solid"/>
          </a:ln>
        </p:spPr>
      </p:sp>
      <p:sp>
        <p:nvSpPr>
          <p:cNvPr id="32" name="Text 2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04 · CLEAN ARCHITECTURE</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Пут једне објаве кроз слојеве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Позив иде од корисничког интерфејса ка језгру, а складишту стиже само преко уговора.</a:t>
            </a:r>
            <a:endParaRPr lang="en-US" sz="1400" dirty="0"/>
          </a:p>
        </p:txBody>
      </p:sp>
      <p:sp>
        <p:nvSpPr>
          <p:cNvPr id="6" name="Shape 4"/>
          <p:cNvSpPr/>
          <p:nvPr/>
        </p:nvSpPr>
        <p:spPr>
          <a:xfrm>
            <a:off x="815975" y="2179836"/>
            <a:ext cx="1804591" cy="1707952"/>
          </a:xfrm>
          <a:prstGeom prst="roundRect">
            <a:avLst>
              <a:gd name="adj" fmla="val 5763"/>
            </a:avLst>
          </a:prstGeom>
          <a:solidFill>
            <a:srgbClr val="FCFCFB"/>
          </a:solidFill>
          <a:ln w="6350">
            <a:solidFill>
              <a:srgbClr val="D3DAE1"/>
            </a:solidFill>
            <a:prstDash val="solid"/>
          </a:ln>
        </p:spPr>
      </p:sp>
      <p:sp>
        <p:nvSpPr>
          <p:cNvPr id="7" name="Shape 5"/>
          <p:cNvSpPr/>
          <p:nvPr/>
        </p:nvSpPr>
        <p:spPr>
          <a:xfrm>
            <a:off x="958850" y="2335411"/>
            <a:ext cx="330200" cy="330200"/>
          </a:xfrm>
          <a:prstGeom prst="roundRect">
            <a:avLst>
              <a:gd name="adj" fmla="val 23077"/>
            </a:avLst>
          </a:prstGeom>
          <a:solidFill>
            <a:srgbClr val="FBF1E6"/>
          </a:solidFill>
          <a:ln/>
        </p:spPr>
      </p:sp>
      <p:pic>
        <p:nvPicPr>
          <p:cNvPr id="8" name="Image 0" descr="Users">    </p:cNvPr>
          <p:cNvPicPr>
            <a:picLocks noChangeAspect="1"/>
          </p:cNvPicPr>
          <p:nvPr/>
        </p:nvPicPr>
        <p:blipFill>
          <a:blip r:embed="rId1"/>
          <a:srcRect l="0" r="0" t="0" b="0"/>
          <a:stretch/>
        </p:blipFill>
        <p:spPr>
          <a:xfrm>
            <a:off x="1028700" y="2405261"/>
            <a:ext cx="190500" cy="190500"/>
          </a:xfrm>
          <a:prstGeom prst="rect">
            <a:avLst/>
          </a:prstGeom>
        </p:spPr>
      </p:pic>
      <p:sp>
        <p:nvSpPr>
          <p:cNvPr id="9" name="Text 6"/>
          <p:cNvSpPr/>
          <p:nvPr/>
        </p:nvSpPr>
        <p:spPr>
          <a:xfrm>
            <a:off x="958850" y="2741811"/>
            <a:ext cx="156964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Presentation</a:t>
            </a:r>
            <a:endParaRPr lang="en-US" sz="1400" dirty="0"/>
          </a:p>
        </p:txBody>
      </p:sp>
      <p:sp>
        <p:nvSpPr>
          <p:cNvPr id="10" name="Text 7"/>
          <p:cNvSpPr/>
          <p:nvPr/>
        </p:nvSpPr>
        <p:spPr>
          <a:xfrm>
            <a:off x="958850" y="3031331"/>
            <a:ext cx="15696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AppContainer</a:t>
            </a:r>
            <a:endParaRPr lang="en-US" sz="1200" dirty="0"/>
          </a:p>
        </p:txBody>
      </p:sp>
      <p:sp>
        <p:nvSpPr>
          <p:cNvPr id="11" name="Text 8"/>
          <p:cNvSpPr/>
          <p:nvPr/>
        </p:nvSpPr>
        <p:spPr>
          <a:xfrm>
            <a:off x="958850" y="3320852"/>
            <a:ext cx="156964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чита унос и позива уговор</a:t>
            </a:r>
            <a:endParaRPr lang="en-US" sz="1200" dirty="0"/>
          </a:p>
        </p:txBody>
      </p:sp>
      <p:pic>
        <p:nvPicPr>
          <p:cNvPr id="12" name="Image 1" descr="arrow-right">    </p:cNvPr>
          <p:cNvPicPr>
            <a:picLocks noChangeAspect="1"/>
          </p:cNvPicPr>
          <p:nvPr/>
        </p:nvPicPr>
        <p:blipFill>
          <a:blip r:embed="rId2"/>
          <a:srcRect l="0" r="0" t="0" b="0"/>
          <a:stretch/>
        </p:blipFill>
        <p:spPr>
          <a:xfrm>
            <a:off x="2699941" y="2976662"/>
            <a:ext cx="228600" cy="114300"/>
          </a:xfrm>
          <a:prstGeom prst="rect">
            <a:avLst/>
          </a:prstGeom>
        </p:spPr>
      </p:pic>
      <p:sp>
        <p:nvSpPr>
          <p:cNvPr id="13" name="Shape 9"/>
          <p:cNvSpPr/>
          <p:nvPr/>
        </p:nvSpPr>
        <p:spPr>
          <a:xfrm>
            <a:off x="3007916" y="2179836"/>
            <a:ext cx="1804690" cy="1707952"/>
          </a:xfrm>
          <a:prstGeom prst="roundRect">
            <a:avLst>
              <a:gd name="adj" fmla="val 5763"/>
            </a:avLst>
          </a:prstGeom>
          <a:solidFill>
            <a:srgbClr val="FCFCFB"/>
          </a:solidFill>
          <a:ln w="6350">
            <a:solidFill>
              <a:srgbClr val="D3DAE1"/>
            </a:solidFill>
            <a:prstDash val="solid"/>
          </a:ln>
        </p:spPr>
      </p:sp>
      <p:sp>
        <p:nvSpPr>
          <p:cNvPr id="14" name="Shape 10"/>
          <p:cNvSpPr/>
          <p:nvPr/>
        </p:nvSpPr>
        <p:spPr>
          <a:xfrm>
            <a:off x="3150791" y="2335411"/>
            <a:ext cx="330200" cy="330200"/>
          </a:xfrm>
          <a:prstGeom prst="roundRect">
            <a:avLst>
              <a:gd name="adj" fmla="val 23077"/>
            </a:avLst>
          </a:prstGeom>
          <a:solidFill>
            <a:srgbClr val="F4E0E4"/>
          </a:solidFill>
          <a:ln/>
        </p:spPr>
      </p:sp>
      <p:pic>
        <p:nvPicPr>
          <p:cNvPr id="15" name="Image 2" descr="Settings">    </p:cNvPr>
          <p:cNvPicPr>
            <a:picLocks noChangeAspect="1"/>
          </p:cNvPicPr>
          <p:nvPr/>
        </p:nvPicPr>
        <p:blipFill>
          <a:blip r:embed="rId3"/>
          <a:srcRect l="0" r="0" t="0" b="0"/>
          <a:stretch/>
        </p:blipFill>
        <p:spPr>
          <a:xfrm>
            <a:off x="3220641" y="2405261"/>
            <a:ext cx="190500" cy="190500"/>
          </a:xfrm>
          <a:prstGeom prst="rect">
            <a:avLst/>
          </a:prstGeom>
        </p:spPr>
      </p:pic>
      <p:sp>
        <p:nvSpPr>
          <p:cNvPr id="16" name="Text 11"/>
          <p:cNvSpPr/>
          <p:nvPr/>
        </p:nvSpPr>
        <p:spPr>
          <a:xfrm>
            <a:off x="3150791" y="2741811"/>
            <a:ext cx="15697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Application</a:t>
            </a:r>
            <a:endParaRPr lang="en-US" sz="1400" dirty="0"/>
          </a:p>
        </p:txBody>
      </p:sp>
      <p:sp>
        <p:nvSpPr>
          <p:cNvPr id="17" name="Text 12"/>
          <p:cNvSpPr/>
          <p:nvPr/>
        </p:nvSpPr>
        <p:spPr>
          <a:xfrm>
            <a:off x="3150791" y="3031331"/>
            <a:ext cx="1569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ZapisiServis</a:t>
            </a:r>
            <a:endParaRPr lang="en-US" sz="1200" dirty="0"/>
          </a:p>
        </p:txBody>
      </p:sp>
      <p:sp>
        <p:nvSpPr>
          <p:cNvPr id="18" name="Text 13"/>
          <p:cNvSpPr/>
          <p:nvPr/>
        </p:nvSpPr>
        <p:spPr>
          <a:xfrm>
            <a:off x="3150791" y="3320852"/>
            <a:ext cx="156974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оркестрира објаву</a:t>
            </a:r>
            <a:endParaRPr lang="en-US" sz="1200" dirty="0"/>
          </a:p>
        </p:txBody>
      </p:sp>
      <p:pic>
        <p:nvPicPr>
          <p:cNvPr id="19" name="Image 3" descr="arrow-right">    </p:cNvPr>
          <p:cNvPicPr>
            <a:picLocks noChangeAspect="1"/>
          </p:cNvPicPr>
          <p:nvPr/>
        </p:nvPicPr>
        <p:blipFill>
          <a:blip r:embed="rId4"/>
          <a:srcRect l="0" r="0" t="0" b="0"/>
          <a:stretch/>
        </p:blipFill>
        <p:spPr>
          <a:xfrm>
            <a:off x="4891980" y="2976662"/>
            <a:ext cx="228600" cy="114300"/>
          </a:xfrm>
          <a:prstGeom prst="rect">
            <a:avLst/>
          </a:prstGeom>
        </p:spPr>
      </p:pic>
      <p:sp>
        <p:nvSpPr>
          <p:cNvPr id="20" name="Shape 14"/>
          <p:cNvSpPr/>
          <p:nvPr/>
        </p:nvSpPr>
        <p:spPr>
          <a:xfrm>
            <a:off x="5196780" y="2176661"/>
            <a:ext cx="1798340" cy="1714302"/>
          </a:xfrm>
          <a:prstGeom prst="roundRect">
            <a:avLst>
              <a:gd name="adj" fmla="val 5927"/>
            </a:avLst>
          </a:prstGeom>
          <a:solidFill>
            <a:srgbClr val="B0213C"/>
          </a:solidFill>
          <a:ln/>
        </p:spPr>
      </p:sp>
      <p:sp>
        <p:nvSpPr>
          <p:cNvPr id="21" name="Shape 15"/>
          <p:cNvSpPr/>
          <p:nvPr/>
        </p:nvSpPr>
        <p:spPr>
          <a:xfrm>
            <a:off x="5336480" y="2329061"/>
            <a:ext cx="330200" cy="330200"/>
          </a:xfrm>
          <a:prstGeom prst="roundRect">
            <a:avLst>
              <a:gd name="adj" fmla="val 23077"/>
            </a:avLst>
          </a:prstGeom>
          <a:solidFill>
            <a:srgbClr val="FCFCFB"/>
          </a:solidFill>
          <a:ln/>
        </p:spPr>
      </p:sp>
      <p:pic>
        <p:nvPicPr>
          <p:cNvPr id="22" name="Image 4" descr="Key">    </p:cNvPr>
          <p:cNvPicPr>
            <a:picLocks noChangeAspect="1"/>
          </p:cNvPicPr>
          <p:nvPr/>
        </p:nvPicPr>
        <p:blipFill>
          <a:blip r:embed="rId5"/>
          <a:srcRect l="0" r="0" t="0" b="0"/>
          <a:stretch/>
        </p:blipFill>
        <p:spPr>
          <a:xfrm>
            <a:off x="5406330" y="2398911"/>
            <a:ext cx="190500" cy="190500"/>
          </a:xfrm>
          <a:prstGeom prst="rect">
            <a:avLst/>
          </a:prstGeom>
        </p:spPr>
      </p:pic>
      <p:sp>
        <p:nvSpPr>
          <p:cNvPr id="23" name="Text 16"/>
          <p:cNvSpPr/>
          <p:nvPr/>
        </p:nvSpPr>
        <p:spPr>
          <a:xfrm>
            <a:off x="5336480" y="2735461"/>
            <a:ext cx="15697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Domain</a:t>
            </a:r>
            <a:endParaRPr lang="en-US" sz="1400" dirty="0"/>
          </a:p>
        </p:txBody>
      </p:sp>
      <p:sp>
        <p:nvSpPr>
          <p:cNvPr id="24" name="Text 17"/>
          <p:cNvSpPr/>
          <p:nvPr/>
        </p:nvSpPr>
        <p:spPr>
          <a:xfrm>
            <a:off x="5336480" y="3024981"/>
            <a:ext cx="1569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ZapisNaSajtu</a:t>
            </a:r>
            <a:endParaRPr lang="en-US" sz="1200" dirty="0"/>
          </a:p>
        </p:txBody>
      </p:sp>
      <p:sp>
        <p:nvSpPr>
          <p:cNvPr id="25" name="Text 18"/>
          <p:cNvSpPr/>
          <p:nvPr/>
        </p:nvSpPr>
        <p:spPr>
          <a:xfrm>
            <a:off x="5336480" y="3314502"/>
            <a:ext cx="156974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4E0E4"/>
                </a:solidFill>
                <a:latin typeface="IBM Plex Sans" pitchFamily="34" charset="0"/>
                <a:ea typeface="IBM Plex Sans" pitchFamily="34" charset="-122"/>
                <a:cs typeface="IBM Plex Sans" pitchFamily="34" charset="-120"/>
              </a:rPr>
              <a:t>ентитет и правила</a:t>
            </a:r>
            <a:endParaRPr lang="en-US" sz="1200" dirty="0"/>
          </a:p>
        </p:txBody>
      </p:sp>
      <p:pic>
        <p:nvPicPr>
          <p:cNvPr id="26" name="Image 5" descr="arrow-right">    </p:cNvPr>
          <p:cNvPicPr>
            <a:picLocks noChangeAspect="1"/>
          </p:cNvPicPr>
          <p:nvPr/>
        </p:nvPicPr>
        <p:blipFill>
          <a:blip r:embed="rId6"/>
          <a:srcRect l="0" r="0" t="0" b="0"/>
          <a:stretch/>
        </p:blipFill>
        <p:spPr>
          <a:xfrm>
            <a:off x="7071320" y="2976662"/>
            <a:ext cx="228600" cy="114300"/>
          </a:xfrm>
          <a:prstGeom prst="rect">
            <a:avLst/>
          </a:prstGeom>
        </p:spPr>
      </p:pic>
      <p:sp>
        <p:nvSpPr>
          <p:cNvPr id="27" name="Shape 19"/>
          <p:cNvSpPr/>
          <p:nvPr/>
        </p:nvSpPr>
        <p:spPr>
          <a:xfrm>
            <a:off x="7379295" y="2179836"/>
            <a:ext cx="1804690" cy="1707952"/>
          </a:xfrm>
          <a:prstGeom prst="roundRect">
            <a:avLst>
              <a:gd name="adj" fmla="val 5763"/>
            </a:avLst>
          </a:prstGeom>
          <a:solidFill>
            <a:srgbClr val="FCFCFB"/>
          </a:solidFill>
          <a:ln w="6350">
            <a:solidFill>
              <a:srgbClr val="B0213C"/>
            </a:solidFill>
            <a:prstDash val="dash"/>
          </a:ln>
        </p:spPr>
      </p:sp>
      <p:sp>
        <p:nvSpPr>
          <p:cNvPr id="28" name="Shape 20"/>
          <p:cNvSpPr/>
          <p:nvPr/>
        </p:nvSpPr>
        <p:spPr>
          <a:xfrm>
            <a:off x="7522170" y="2335411"/>
            <a:ext cx="330200" cy="330200"/>
          </a:xfrm>
          <a:prstGeom prst="roundRect">
            <a:avLst>
              <a:gd name="adj" fmla="val 23077"/>
            </a:avLst>
          </a:prstGeom>
          <a:solidFill>
            <a:srgbClr val="F4E0E4"/>
          </a:solidFill>
          <a:ln/>
        </p:spPr>
      </p:sp>
      <p:pic>
        <p:nvPicPr>
          <p:cNvPr id="29" name="Image 6" descr="Link">    </p:cNvPr>
          <p:cNvPicPr>
            <a:picLocks noChangeAspect="1"/>
          </p:cNvPicPr>
          <p:nvPr/>
        </p:nvPicPr>
        <p:blipFill>
          <a:blip r:embed="rId7"/>
          <a:srcRect l="0" r="0" t="0" b="0"/>
          <a:stretch/>
        </p:blipFill>
        <p:spPr>
          <a:xfrm>
            <a:off x="7592020" y="2405261"/>
            <a:ext cx="190500" cy="190500"/>
          </a:xfrm>
          <a:prstGeom prst="rect">
            <a:avLst/>
          </a:prstGeom>
        </p:spPr>
      </p:pic>
      <p:sp>
        <p:nvSpPr>
          <p:cNvPr id="30" name="Text 21"/>
          <p:cNvSpPr/>
          <p:nvPr/>
        </p:nvSpPr>
        <p:spPr>
          <a:xfrm>
            <a:off x="7522170" y="2741811"/>
            <a:ext cx="15697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Уговор</a:t>
            </a:r>
            <a:endParaRPr lang="en-US" sz="1400" dirty="0"/>
          </a:p>
        </p:txBody>
      </p:sp>
      <p:sp>
        <p:nvSpPr>
          <p:cNvPr id="31" name="Text 22"/>
          <p:cNvSpPr/>
          <p:nvPr/>
        </p:nvSpPr>
        <p:spPr>
          <a:xfrm>
            <a:off x="7522170" y="3031331"/>
            <a:ext cx="1569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IBazaPodataka</a:t>
            </a:r>
            <a:endParaRPr lang="en-US" sz="1200" dirty="0"/>
          </a:p>
        </p:txBody>
      </p:sp>
      <p:sp>
        <p:nvSpPr>
          <p:cNvPr id="32" name="Text 23"/>
          <p:cNvSpPr/>
          <p:nvPr/>
        </p:nvSpPr>
        <p:spPr>
          <a:xfrm>
            <a:off x="7522170" y="3320852"/>
            <a:ext cx="15697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апстракција складишта</a:t>
            </a:r>
            <a:endParaRPr lang="en-US" sz="1200" dirty="0"/>
          </a:p>
        </p:txBody>
      </p:sp>
      <p:pic>
        <p:nvPicPr>
          <p:cNvPr id="33" name="Image 7" descr="arrow-right">    </p:cNvPr>
          <p:cNvPicPr>
            <a:picLocks noChangeAspect="1"/>
          </p:cNvPicPr>
          <p:nvPr/>
        </p:nvPicPr>
        <p:blipFill>
          <a:blip r:embed="rId8"/>
          <a:srcRect l="0" r="0" t="0" b="0"/>
          <a:stretch/>
        </p:blipFill>
        <p:spPr>
          <a:xfrm>
            <a:off x="9263360" y="2976662"/>
            <a:ext cx="228600" cy="114300"/>
          </a:xfrm>
          <a:prstGeom prst="rect">
            <a:avLst/>
          </a:prstGeom>
        </p:spPr>
      </p:pic>
      <p:sp>
        <p:nvSpPr>
          <p:cNvPr id="34" name="Shape 24"/>
          <p:cNvSpPr/>
          <p:nvPr/>
        </p:nvSpPr>
        <p:spPr>
          <a:xfrm>
            <a:off x="9571335" y="2179836"/>
            <a:ext cx="1804690" cy="1707952"/>
          </a:xfrm>
          <a:prstGeom prst="roundRect">
            <a:avLst>
              <a:gd name="adj" fmla="val 5763"/>
            </a:avLst>
          </a:prstGeom>
          <a:solidFill>
            <a:srgbClr val="FCFCFB"/>
          </a:solidFill>
          <a:ln w="6350">
            <a:solidFill>
              <a:srgbClr val="D3DAE1"/>
            </a:solidFill>
            <a:prstDash val="solid"/>
          </a:ln>
        </p:spPr>
      </p:sp>
      <p:sp>
        <p:nvSpPr>
          <p:cNvPr id="35" name="Shape 25"/>
          <p:cNvSpPr/>
          <p:nvPr/>
        </p:nvSpPr>
        <p:spPr>
          <a:xfrm>
            <a:off x="9714210" y="2335411"/>
            <a:ext cx="330200" cy="330200"/>
          </a:xfrm>
          <a:prstGeom prst="roundRect">
            <a:avLst>
              <a:gd name="adj" fmla="val 23077"/>
            </a:avLst>
          </a:prstGeom>
          <a:solidFill>
            <a:srgbClr val="FBF1E6"/>
          </a:solidFill>
          <a:ln/>
        </p:spPr>
      </p:sp>
      <p:pic>
        <p:nvPicPr>
          <p:cNvPr id="36" name="Image 8" descr="Database">    </p:cNvPr>
          <p:cNvPicPr>
            <a:picLocks noChangeAspect="1"/>
          </p:cNvPicPr>
          <p:nvPr/>
        </p:nvPicPr>
        <p:blipFill>
          <a:blip r:embed="rId9"/>
          <a:srcRect l="0" r="0" t="0" b="0"/>
          <a:stretch/>
        </p:blipFill>
        <p:spPr>
          <a:xfrm>
            <a:off x="9784060" y="2405261"/>
            <a:ext cx="190500" cy="190500"/>
          </a:xfrm>
          <a:prstGeom prst="rect">
            <a:avLst/>
          </a:prstGeom>
        </p:spPr>
      </p:pic>
      <p:sp>
        <p:nvSpPr>
          <p:cNvPr id="37" name="Text 26"/>
          <p:cNvSpPr/>
          <p:nvPr/>
        </p:nvSpPr>
        <p:spPr>
          <a:xfrm>
            <a:off x="9714210" y="2741811"/>
            <a:ext cx="15697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Infrastructure</a:t>
            </a:r>
            <a:endParaRPr lang="en-US" sz="1400" dirty="0"/>
          </a:p>
        </p:txBody>
      </p:sp>
      <p:sp>
        <p:nvSpPr>
          <p:cNvPr id="38" name="Text 27"/>
          <p:cNvSpPr/>
          <p:nvPr/>
        </p:nvSpPr>
        <p:spPr>
          <a:xfrm>
            <a:off x="9714210" y="3031331"/>
            <a:ext cx="1569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JsonBazaPodataka</a:t>
            </a:r>
            <a:endParaRPr lang="en-US" sz="1200" dirty="0"/>
          </a:p>
        </p:txBody>
      </p:sp>
      <p:sp>
        <p:nvSpPr>
          <p:cNvPr id="39" name="Text 28"/>
          <p:cNvSpPr/>
          <p:nvPr/>
        </p:nvSpPr>
        <p:spPr>
          <a:xfrm>
            <a:off x="9714210" y="3320852"/>
            <a:ext cx="15697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чува промене у датотеци</a:t>
            </a:r>
            <a:endParaRPr lang="en-US" sz="1200" dirty="0"/>
          </a:p>
        </p:txBody>
      </p:sp>
      <p:sp>
        <p:nvSpPr>
          <p:cNvPr id="40" name="Shape 29"/>
          <p:cNvSpPr/>
          <p:nvPr/>
        </p:nvSpPr>
        <p:spPr>
          <a:xfrm>
            <a:off x="812800" y="4144962"/>
            <a:ext cx="10566400" cy="783530"/>
          </a:xfrm>
          <a:prstGeom prst="roundRect">
            <a:avLst>
              <a:gd name="adj" fmla="val 12967"/>
            </a:avLst>
          </a:prstGeom>
          <a:solidFill>
            <a:srgbClr val="F0E5E5"/>
          </a:solidFill>
          <a:ln/>
        </p:spPr>
      </p:sp>
      <p:sp>
        <p:nvSpPr>
          <p:cNvPr id="41" name="Shape 30"/>
          <p:cNvSpPr/>
          <p:nvPr/>
        </p:nvSpPr>
        <p:spPr>
          <a:xfrm>
            <a:off x="812800" y="414496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B0213C"/>
          </a:solidFill>
          <a:ln/>
        </p:spPr>
      </p:sp>
      <p:sp>
        <p:nvSpPr>
          <p:cNvPr id="42" name="Text 31"/>
          <p:cNvSpPr/>
          <p:nvPr/>
        </p:nvSpPr>
        <p:spPr>
          <a:xfrm>
            <a:off x="1054100" y="429736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НАПОМЕНА</a:t>
            </a:r>
            <a:endParaRPr lang="en-US" sz="1200" dirty="0"/>
          </a:p>
        </p:txBody>
      </p:sp>
      <p:sp>
        <p:nvSpPr>
          <p:cNvPr id="43" name="Text 32"/>
          <p:cNvSpPr/>
          <p:nvPr/>
        </p:nvSpPr>
        <p:spPr>
          <a:xfrm>
            <a:off x="1054100" y="453608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Ток позива не мора да прати смер зависности. JsonBazaPodataka се позива, али зависи од уговора, а не обрнуто.</a:t>
            </a:r>
            <a:endParaRPr lang="en-US" sz="1400" dirty="0"/>
          </a:p>
        </p:txBody>
      </p:sp>
      <p:sp>
        <p:nvSpPr>
          <p:cNvPr id="44" name="Shape 33"/>
          <p:cNvSpPr/>
          <p:nvPr/>
        </p:nvSpPr>
        <p:spPr>
          <a:xfrm>
            <a:off x="812800" y="6209705"/>
            <a:ext cx="10566400" cy="0"/>
          </a:xfrm>
          <a:prstGeom prst="line">
            <a:avLst/>
          </a:prstGeom>
          <a:noFill/>
          <a:ln w="6350">
            <a:solidFill>
              <a:srgbClr val="D3DAE1"/>
            </a:solidFill>
            <a:prstDash val="solid"/>
          </a:ln>
        </p:spPr>
      </p:sp>
      <p:sp>
        <p:nvSpPr>
          <p:cNvPr id="45" name="Text 3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6" name="Text 3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04 · CLEAN ARCHITECTURE</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Composition root у примеру Logger–Blogger</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Једно место бира конкретне имплементације, а пословни код зависи од уговора.</a:t>
            </a:r>
            <a:endParaRPr lang="en-US" sz="1400" dirty="0"/>
          </a:p>
        </p:txBody>
      </p:sp>
      <p:sp>
        <p:nvSpPr>
          <p:cNvPr id="6" name="Shape 4"/>
          <p:cNvSpPr/>
          <p:nvPr/>
        </p:nvSpPr>
        <p:spPr>
          <a:xfrm>
            <a:off x="815975" y="2129036"/>
            <a:ext cx="6597650" cy="2607270"/>
          </a:xfrm>
          <a:prstGeom prst="roundRect">
            <a:avLst>
              <a:gd name="adj" fmla="val 3775"/>
            </a:avLst>
          </a:prstGeom>
          <a:solidFill>
            <a:srgbClr val="FCFCFB"/>
          </a:solidFill>
          <a:ln w="6350">
            <a:solidFill>
              <a:srgbClr val="D3DAE1"/>
            </a:solidFill>
            <a:prstDash val="solid"/>
          </a:ln>
        </p:spPr>
      </p:sp>
      <p:sp>
        <p:nvSpPr>
          <p:cNvPr id="7" name="Text 5"/>
          <p:cNvSpPr/>
          <p:nvPr/>
        </p:nvSpPr>
        <p:spPr>
          <a:xfrm>
            <a:off x="1022350" y="22846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Presentation · улазна тачка апликације</a:t>
            </a:r>
            <a:endParaRPr lang="en-US" sz="1200" dirty="0"/>
          </a:p>
        </p:txBody>
      </p:sp>
      <p:sp>
        <p:nvSpPr>
          <p:cNvPr id="8" name="Text 6"/>
          <p:cNvSpPr/>
          <p:nvPr/>
        </p:nvSpPr>
        <p:spPr>
          <a:xfrm>
            <a:off x="1022350" y="257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IBazaPodataka baza = </a:t>
            </a:r>
            <a:r>
              <a:rPr lang="en-US" sz="1200" dirty="0">
                <a:solidFill>
                  <a:srgbClr val="B0213C"/>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JsonBazaPodataka(</a:t>
            </a:r>
            <a:r>
              <a:rPr lang="en-US" sz="1200" dirty="0">
                <a:solidFill>
                  <a:srgbClr val="A8520A"/>
                </a:solidFill>
                <a:latin typeface="IBM Plex Mono" pitchFamily="49" charset="0"/>
                <a:ea typeface="IBM Plex Mono" pitchFamily="49" charset="-122"/>
                <a:cs typeface="IBM Plex Mono" pitchFamily="49" charset="-120"/>
              </a:rPr>
              <a:t>"data.json"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1022350" y="282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281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ILogger logger = </a:t>
            </a:r>
            <a:r>
              <a:rPr lang="en-US" sz="1200" dirty="0">
                <a:solidFill>
                  <a:srgbClr val="B0213C"/>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FileLogger(</a:t>
            </a:r>
            <a:r>
              <a:rPr lang="en-US" sz="1200" dirty="0">
                <a:solidFill>
                  <a:srgbClr val="A8520A"/>
                </a:solidFill>
                <a:latin typeface="IBM Plex Mono" pitchFamily="49" charset="0"/>
                <a:ea typeface="IBM Plex Mono" pitchFamily="49" charset="-122"/>
                <a:cs typeface="IBM Plex Mono" pitchFamily="49" charset="-120"/>
              </a:rPr>
              <a:t>"app.log"</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22350" y="308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022350" y="3336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4" name="Text 12"/>
          <p:cNvSpPr/>
          <p:nvPr/>
        </p:nvSpPr>
        <p:spPr>
          <a:xfrm>
            <a:off x="1403350" y="33361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IZapisiServis zapisi = </a:t>
            </a:r>
            <a:r>
              <a:rPr lang="en-US" sz="1200" dirty="0">
                <a:solidFill>
                  <a:srgbClr val="B0213C"/>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ZapisiServis(baza, logger);</a:t>
            </a:r>
            <a:endParaRPr lang="en-US" sz="1200" dirty="0"/>
          </a:p>
        </p:txBody>
      </p:sp>
      <p:sp>
        <p:nvSpPr>
          <p:cNvPr id="15" name="Text 13"/>
          <p:cNvSpPr/>
          <p:nvPr/>
        </p:nvSpPr>
        <p:spPr>
          <a:xfrm>
            <a:off x="1022350" y="3590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403350" y="35901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IConsoleIO io = </a:t>
            </a:r>
            <a:r>
              <a:rPr lang="en-US" sz="1200" dirty="0">
                <a:solidFill>
                  <a:srgbClr val="B0213C"/>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ConsoleIO();</a:t>
            </a:r>
            <a:endParaRPr lang="en-US" sz="1200" dirty="0"/>
          </a:p>
        </p:txBody>
      </p:sp>
      <p:sp>
        <p:nvSpPr>
          <p:cNvPr id="17" name="Text 15"/>
          <p:cNvSpPr/>
          <p:nvPr/>
        </p:nvSpPr>
        <p:spPr>
          <a:xfrm>
            <a:off x="1022350" y="3844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022350" y="4098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19" name="Text 17"/>
          <p:cNvSpPr/>
          <p:nvPr/>
        </p:nvSpPr>
        <p:spPr>
          <a:xfrm>
            <a:off x="1403350" y="40981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0213C"/>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app = </a:t>
            </a:r>
            <a:r>
              <a:rPr lang="en-US" sz="1200" dirty="0">
                <a:solidFill>
                  <a:srgbClr val="B0213C"/>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AppContainer(zapisi, io);</a:t>
            </a:r>
            <a:endParaRPr lang="en-US" sz="1200" dirty="0"/>
          </a:p>
        </p:txBody>
      </p:sp>
      <p:sp>
        <p:nvSpPr>
          <p:cNvPr id="20" name="Text 18"/>
          <p:cNvSpPr/>
          <p:nvPr/>
        </p:nvSpPr>
        <p:spPr>
          <a:xfrm>
            <a:off x="1022350" y="4352131"/>
            <a:ext cx="3302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1" name="Text 19"/>
          <p:cNvSpPr/>
          <p:nvPr/>
        </p:nvSpPr>
        <p:spPr>
          <a:xfrm>
            <a:off x="1403350" y="4352131"/>
            <a:ext cx="59780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3202D"/>
                </a:solidFill>
                <a:latin typeface="IBM Plex Mono" pitchFamily="49" charset="0"/>
                <a:ea typeface="IBM Plex Mono" pitchFamily="49" charset="-122"/>
                <a:cs typeface="IBM Plex Mono" pitchFamily="49" charset="-120"/>
              </a:rPr>
              <a:t>app.Run();</a:t>
            </a:r>
            <a:endParaRPr lang="en-US" sz="1200" dirty="0"/>
          </a:p>
        </p:txBody>
      </p:sp>
      <p:sp>
        <p:nvSpPr>
          <p:cNvPr id="22" name="Text 20"/>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3" name="Shape 21"/>
          <p:cNvSpPr/>
          <p:nvPr/>
        </p:nvSpPr>
        <p:spPr>
          <a:xfrm>
            <a:off x="7734300" y="2466181"/>
            <a:ext cx="0" cy="256480"/>
          </a:xfrm>
          <a:prstGeom prst="line">
            <a:avLst/>
          </a:prstGeom>
          <a:noFill/>
          <a:ln w="25400">
            <a:solidFill>
              <a:srgbClr val="B0213C"/>
            </a:solidFill>
            <a:prstDash val="solid"/>
          </a:ln>
        </p:spPr>
      </p:sp>
      <p:sp>
        <p:nvSpPr>
          <p:cNvPr id="24" name="Text 22"/>
          <p:cNvSpPr/>
          <p:nvPr/>
        </p:nvSpPr>
        <p:spPr>
          <a:xfrm>
            <a:off x="7886700" y="2478881"/>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Presentation саставља граф зависности.</a:t>
            </a:r>
            <a:endParaRPr lang="en-US" sz="1300" dirty="0"/>
          </a:p>
        </p:txBody>
      </p:sp>
      <p:sp>
        <p:nvSpPr>
          <p:cNvPr id="25" name="Shape 23"/>
          <p:cNvSpPr/>
          <p:nvPr/>
        </p:nvSpPr>
        <p:spPr>
          <a:xfrm>
            <a:off x="7734300" y="2849662"/>
            <a:ext cx="0" cy="487561"/>
          </a:xfrm>
          <a:prstGeom prst="line">
            <a:avLst/>
          </a:prstGeom>
          <a:noFill/>
          <a:ln w="25400">
            <a:solidFill>
              <a:srgbClr val="B0213C"/>
            </a:solidFill>
            <a:prstDash val="solid"/>
          </a:ln>
        </p:spPr>
      </p:sp>
      <p:sp>
        <p:nvSpPr>
          <p:cNvPr id="26" name="Text 24"/>
          <p:cNvSpPr/>
          <p:nvPr/>
        </p:nvSpPr>
        <p:spPr>
          <a:xfrm>
            <a:off x="7886700" y="286236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Domain и сервиси не креирају JSON базу или FileLogger.</a:t>
            </a:r>
            <a:endParaRPr lang="en-US" sz="1300" dirty="0"/>
          </a:p>
        </p:txBody>
      </p:sp>
      <p:sp>
        <p:nvSpPr>
          <p:cNvPr id="27" name="Shape 25"/>
          <p:cNvSpPr/>
          <p:nvPr/>
        </p:nvSpPr>
        <p:spPr>
          <a:xfrm>
            <a:off x="7734300" y="3464223"/>
            <a:ext cx="0" cy="487561"/>
          </a:xfrm>
          <a:prstGeom prst="line">
            <a:avLst/>
          </a:prstGeom>
          <a:noFill/>
          <a:ln w="25400">
            <a:solidFill>
              <a:srgbClr val="E07B1F"/>
            </a:solidFill>
            <a:prstDash val="solid"/>
          </a:ln>
        </p:spPr>
      </p:sp>
      <p:sp>
        <p:nvSpPr>
          <p:cNvPr id="28" name="Text 26"/>
          <p:cNvSpPr/>
          <p:nvPr/>
        </p:nvSpPr>
        <p:spPr>
          <a:xfrm>
            <a:off x="7886700" y="347692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DIP омогућава замену детаља без промене језгра.</a:t>
            </a:r>
            <a:endParaRPr lang="en-US" sz="1300" dirty="0"/>
          </a:p>
        </p:txBody>
      </p:sp>
      <p:sp>
        <p:nvSpPr>
          <p:cNvPr id="29" name="Shape 27"/>
          <p:cNvSpPr/>
          <p:nvPr/>
        </p:nvSpPr>
        <p:spPr>
          <a:xfrm>
            <a:off x="812800" y="6209705"/>
            <a:ext cx="10566400" cy="0"/>
          </a:xfrm>
          <a:prstGeom prst="line">
            <a:avLst/>
          </a:prstGeom>
          <a:noFill/>
          <a:ln w="6350">
            <a:solidFill>
              <a:srgbClr val="D3DAE1"/>
            </a:solidFill>
            <a:prstDash val="solid"/>
          </a:ln>
        </p:spPr>
      </p:sp>
      <p:sp>
        <p:nvSpPr>
          <p:cNvPr id="30" name="Text 2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1" name="Text 2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04 · CLEAN ARCHITECTURE</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Logger–Blogger као студија случаја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Пример служи за анализу одговорности, уговора и зависности.</a:t>
            </a:r>
            <a:endParaRPr lang="en-US" sz="1400" dirty="0"/>
          </a:p>
        </p:txBody>
      </p:sp>
      <p:sp>
        <p:nvSpPr>
          <p:cNvPr id="6" name="Shape 4"/>
          <p:cNvSpPr/>
          <p:nvPr/>
        </p:nvSpPr>
        <p:spPr>
          <a:xfrm>
            <a:off x="815975" y="2179836"/>
            <a:ext cx="3414117" cy="2438102"/>
          </a:xfrm>
          <a:prstGeom prst="roundRect">
            <a:avLst>
              <a:gd name="adj" fmla="val 4037"/>
            </a:avLst>
          </a:prstGeom>
          <a:solidFill>
            <a:srgbClr val="FCFCFB"/>
          </a:solidFill>
          <a:ln w="6350">
            <a:solidFill>
              <a:srgbClr val="D3DAE1"/>
            </a:solidFill>
            <a:prstDash val="solid"/>
          </a:ln>
        </p:spPr>
      </p:sp>
      <p:sp>
        <p:nvSpPr>
          <p:cNvPr id="7" name="Text 5"/>
          <p:cNvSpPr/>
          <p:nvPr/>
        </p:nvSpPr>
        <p:spPr>
          <a:xfrm>
            <a:off x="1022350" y="2360811"/>
            <a:ext cx="3091408"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022350" y="275699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Пословно језгро</a:t>
            </a:r>
            <a:endParaRPr lang="en-US" sz="1600" dirty="0"/>
          </a:p>
        </p:txBody>
      </p:sp>
      <p:sp>
        <p:nvSpPr>
          <p:cNvPr id="9" name="Text 7"/>
          <p:cNvSpPr/>
          <p:nvPr/>
        </p:nvSpPr>
        <p:spPr>
          <a:xfrm>
            <a:off x="1022350" y="3089672"/>
            <a:ext cx="30914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правила без инфраструктурних детаља</a:t>
            </a:r>
            <a:endParaRPr lang="en-US" sz="1300" dirty="0"/>
          </a:p>
        </p:txBody>
      </p:sp>
      <p:sp>
        <p:nvSpPr>
          <p:cNvPr id="10" name="Shape 8"/>
          <p:cNvSpPr/>
          <p:nvPr/>
        </p:nvSpPr>
        <p:spPr>
          <a:xfrm>
            <a:off x="1022350" y="3643908"/>
            <a:ext cx="3001367" cy="0"/>
          </a:xfrm>
          <a:prstGeom prst="line">
            <a:avLst/>
          </a:prstGeom>
          <a:noFill/>
          <a:ln w="6350">
            <a:solidFill>
              <a:srgbClr val="E3E8EE"/>
            </a:solidFill>
            <a:prstDash val="solid"/>
          </a:ln>
        </p:spPr>
      </p:sp>
      <p:sp>
        <p:nvSpPr>
          <p:cNvPr id="11" name="Text 9"/>
          <p:cNvSpPr/>
          <p:nvPr/>
        </p:nvSpPr>
        <p:spPr>
          <a:xfrm>
            <a:off x="1022350" y="3748683"/>
            <a:ext cx="1249759" cy="264120"/>
          </a:xfrm>
          <a:prstGeom prst="roundRect">
            <a:avLst>
              <a:gd name="adj" fmla="val 19234"/>
            </a:avLst>
          </a:prstGeom>
          <a:solidFill>
            <a:srgbClr val="F4E0E4"/>
          </a:solidFill>
          <a:ln/>
        </p:spPr>
        <p:txBody>
          <a:bodyPr wrap="none" lIns="0" tIns="0" rIns="0" bIns="0" rtlCol="0" anchor="ctr">
            <a:normAutofit/>
          </a:bodyPr>
          <a:lstStyle/>
          <a:p>
            <a:pPr algn="ctr"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ZapisNaSajtu</a:t>
            </a:r>
            <a:endParaRPr lang="en-US" sz="1200" dirty="0"/>
          </a:p>
        </p:txBody>
      </p:sp>
      <p:sp>
        <p:nvSpPr>
          <p:cNvPr id="12" name="Text 10"/>
          <p:cNvSpPr/>
          <p:nvPr/>
        </p:nvSpPr>
        <p:spPr>
          <a:xfrm>
            <a:off x="2335609" y="3748683"/>
            <a:ext cx="1341140" cy="264120"/>
          </a:xfrm>
          <a:prstGeom prst="roundRect">
            <a:avLst>
              <a:gd name="adj" fmla="val 19234"/>
            </a:avLst>
          </a:prstGeom>
          <a:solidFill>
            <a:srgbClr val="F4E0E4"/>
          </a:solidFill>
          <a:ln/>
        </p:spPr>
        <p:txBody>
          <a:bodyPr wrap="none" lIns="0" tIns="0" rIns="0" bIns="0" rtlCol="0" anchor="ctr">
            <a:normAutofit/>
          </a:bodyPr>
          <a:lstStyle/>
          <a:p>
            <a:pPr algn="ctr"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IZapisiServis</a:t>
            </a:r>
            <a:endParaRPr lang="en-US" sz="1200" dirty="0"/>
          </a:p>
        </p:txBody>
      </p:sp>
      <p:sp>
        <p:nvSpPr>
          <p:cNvPr id="13" name="Text 11"/>
          <p:cNvSpPr/>
          <p:nvPr/>
        </p:nvSpPr>
        <p:spPr>
          <a:xfrm>
            <a:off x="1022350" y="4076303"/>
            <a:ext cx="1341140" cy="264120"/>
          </a:xfrm>
          <a:prstGeom prst="roundRect">
            <a:avLst>
              <a:gd name="adj" fmla="val 19234"/>
            </a:avLst>
          </a:prstGeom>
          <a:solidFill>
            <a:srgbClr val="F4E0E4"/>
          </a:solidFill>
          <a:ln/>
        </p:spPr>
        <p:txBody>
          <a:bodyPr wrap="none" lIns="0" tIns="0" rIns="0" bIns="0" rtlCol="0" anchor="ctr">
            <a:normAutofit/>
          </a:bodyPr>
          <a:lstStyle/>
          <a:p>
            <a:pPr algn="ctr"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IBazaPodataka</a:t>
            </a:r>
            <a:endParaRPr lang="en-US" sz="1200" dirty="0"/>
          </a:p>
        </p:txBody>
      </p:sp>
      <p:sp>
        <p:nvSpPr>
          <p:cNvPr id="14" name="Text 12"/>
          <p:cNvSpPr/>
          <p:nvPr/>
        </p:nvSpPr>
        <p:spPr>
          <a:xfrm>
            <a:off x="2426990" y="4076303"/>
            <a:ext cx="1249759" cy="264120"/>
          </a:xfrm>
          <a:prstGeom prst="roundRect">
            <a:avLst>
              <a:gd name="adj" fmla="val 19234"/>
            </a:avLst>
          </a:prstGeom>
          <a:solidFill>
            <a:srgbClr val="F4E0E4"/>
          </a:solidFill>
          <a:ln/>
        </p:spPr>
        <p:txBody>
          <a:bodyPr wrap="none" lIns="0" tIns="0" rIns="0" bIns="0" rtlCol="0" anchor="ctr">
            <a:normAutofit/>
          </a:bodyPr>
          <a:lstStyle/>
          <a:p>
            <a:pPr algn="ctr"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ZapisiServis</a:t>
            </a:r>
            <a:endParaRPr lang="en-US" sz="1200" dirty="0"/>
          </a:p>
        </p:txBody>
      </p:sp>
      <p:sp>
        <p:nvSpPr>
          <p:cNvPr id="15" name="Shape 13"/>
          <p:cNvSpPr/>
          <p:nvPr/>
        </p:nvSpPr>
        <p:spPr>
          <a:xfrm>
            <a:off x="4388842" y="2179836"/>
            <a:ext cx="3414216" cy="2438102"/>
          </a:xfrm>
          <a:prstGeom prst="roundRect">
            <a:avLst>
              <a:gd name="adj" fmla="val 4037"/>
            </a:avLst>
          </a:prstGeom>
          <a:solidFill>
            <a:srgbClr val="FCFCFB"/>
          </a:solidFill>
          <a:ln w="6350">
            <a:solidFill>
              <a:srgbClr val="D3DAE1"/>
            </a:solidFill>
            <a:prstDash val="solid"/>
          </a:ln>
        </p:spPr>
      </p:sp>
      <p:sp>
        <p:nvSpPr>
          <p:cNvPr id="16" name="Text 14"/>
          <p:cNvSpPr/>
          <p:nvPr/>
        </p:nvSpPr>
        <p:spPr>
          <a:xfrm>
            <a:off x="4595217" y="2360811"/>
            <a:ext cx="309151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02</a:t>
            </a:r>
            <a:endParaRPr lang="en-US" sz="2200" dirty="0"/>
          </a:p>
        </p:txBody>
      </p:sp>
      <p:sp>
        <p:nvSpPr>
          <p:cNvPr id="17" name="Text 15"/>
          <p:cNvSpPr/>
          <p:nvPr/>
        </p:nvSpPr>
        <p:spPr>
          <a:xfrm>
            <a:off x="4595217" y="275699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Adapter-и</a:t>
            </a:r>
            <a:endParaRPr lang="en-US" sz="1600" dirty="0"/>
          </a:p>
        </p:txBody>
      </p:sp>
      <p:sp>
        <p:nvSpPr>
          <p:cNvPr id="18" name="Text 16"/>
          <p:cNvSpPr/>
          <p:nvPr/>
        </p:nvSpPr>
        <p:spPr>
          <a:xfrm>
            <a:off x="4595217" y="3089672"/>
            <a:ext cx="30915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конкретна база, датотеке, логовање</a:t>
            </a:r>
            <a:endParaRPr lang="en-US" sz="1300" dirty="0"/>
          </a:p>
        </p:txBody>
      </p:sp>
      <p:sp>
        <p:nvSpPr>
          <p:cNvPr id="19" name="Shape 17"/>
          <p:cNvSpPr/>
          <p:nvPr/>
        </p:nvSpPr>
        <p:spPr>
          <a:xfrm>
            <a:off x="4595217" y="3412827"/>
            <a:ext cx="3001466" cy="0"/>
          </a:xfrm>
          <a:prstGeom prst="line">
            <a:avLst/>
          </a:prstGeom>
          <a:noFill/>
          <a:ln w="6350">
            <a:solidFill>
              <a:srgbClr val="E3E8EE"/>
            </a:solidFill>
            <a:prstDash val="solid"/>
          </a:ln>
        </p:spPr>
      </p:sp>
      <p:sp>
        <p:nvSpPr>
          <p:cNvPr id="20" name="Text 18"/>
          <p:cNvSpPr/>
          <p:nvPr/>
        </p:nvSpPr>
        <p:spPr>
          <a:xfrm>
            <a:off x="4595217" y="3517602"/>
            <a:ext cx="1615480" cy="264120"/>
          </a:xfrm>
          <a:prstGeom prst="roundRect">
            <a:avLst>
              <a:gd name="adj" fmla="val 19234"/>
            </a:avLst>
          </a:prstGeom>
          <a:solidFill>
            <a:srgbClr val="FBF1E6"/>
          </a:solidFill>
          <a:ln/>
        </p:spPr>
        <p:txBody>
          <a:bodyPr wrap="none" lIns="0" tIns="0" rIns="0" bIns="0" rtlCol="0" anchor="ctr">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JsonBazaPodataka</a:t>
            </a:r>
            <a:endParaRPr lang="en-US" sz="1200" dirty="0"/>
          </a:p>
        </p:txBody>
      </p:sp>
      <p:sp>
        <p:nvSpPr>
          <p:cNvPr id="21" name="Text 19"/>
          <p:cNvSpPr/>
          <p:nvPr/>
        </p:nvSpPr>
        <p:spPr>
          <a:xfrm>
            <a:off x="4595217" y="3845223"/>
            <a:ext cx="1981200" cy="264120"/>
          </a:xfrm>
          <a:prstGeom prst="roundRect">
            <a:avLst>
              <a:gd name="adj" fmla="val 19234"/>
            </a:avLst>
          </a:prstGeom>
          <a:solidFill>
            <a:srgbClr val="FBF1E6"/>
          </a:solidFill>
          <a:ln/>
        </p:spPr>
        <p:txBody>
          <a:bodyPr wrap="none" lIns="0" tIns="0" rIns="0" bIns="0" rtlCol="0" anchor="ctr">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InMemoryBazaPodataka</a:t>
            </a:r>
            <a:endParaRPr lang="en-US" sz="1200" dirty="0"/>
          </a:p>
        </p:txBody>
      </p:sp>
      <p:sp>
        <p:nvSpPr>
          <p:cNvPr id="22" name="Text 20"/>
          <p:cNvSpPr/>
          <p:nvPr/>
        </p:nvSpPr>
        <p:spPr>
          <a:xfrm>
            <a:off x="4595217" y="4172843"/>
            <a:ext cx="1066800" cy="264120"/>
          </a:xfrm>
          <a:prstGeom prst="roundRect">
            <a:avLst>
              <a:gd name="adj" fmla="val 19234"/>
            </a:avLst>
          </a:prstGeom>
          <a:solidFill>
            <a:srgbClr val="FBF1E6"/>
          </a:solidFill>
          <a:ln/>
        </p:spPr>
        <p:txBody>
          <a:bodyPr wrap="none" lIns="0" tIns="0" rIns="0" bIns="0" rtlCol="0" anchor="ctr">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FileLogger</a:t>
            </a:r>
            <a:endParaRPr lang="en-US" sz="1200" dirty="0"/>
          </a:p>
        </p:txBody>
      </p:sp>
      <p:sp>
        <p:nvSpPr>
          <p:cNvPr id="23" name="Text 21"/>
          <p:cNvSpPr/>
          <p:nvPr/>
        </p:nvSpPr>
        <p:spPr>
          <a:xfrm>
            <a:off x="5725517" y="4172843"/>
            <a:ext cx="975420" cy="264120"/>
          </a:xfrm>
          <a:prstGeom prst="roundRect">
            <a:avLst>
              <a:gd name="adj" fmla="val 19234"/>
            </a:avLst>
          </a:prstGeom>
          <a:solidFill>
            <a:srgbClr val="FBF1E6"/>
          </a:solidFill>
          <a:ln/>
        </p:spPr>
        <p:txBody>
          <a:bodyPr wrap="none" lIns="0" tIns="0" rIns="0" bIns="0" rtlCol="0" anchor="ctr">
            <a:normAutofit/>
          </a:bodyPr>
          <a:lstStyle/>
          <a:p>
            <a:pPr algn="ctr"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ConsoleIO</a:t>
            </a:r>
            <a:endParaRPr lang="en-US" sz="1200" dirty="0"/>
          </a:p>
        </p:txBody>
      </p:sp>
      <p:sp>
        <p:nvSpPr>
          <p:cNvPr id="24" name="Shape 22"/>
          <p:cNvSpPr/>
          <p:nvPr/>
        </p:nvSpPr>
        <p:spPr>
          <a:xfrm>
            <a:off x="7961809" y="2179836"/>
            <a:ext cx="3414216" cy="2438102"/>
          </a:xfrm>
          <a:prstGeom prst="roundRect">
            <a:avLst>
              <a:gd name="adj" fmla="val 4037"/>
            </a:avLst>
          </a:prstGeom>
          <a:solidFill>
            <a:srgbClr val="FCFCFB"/>
          </a:solidFill>
          <a:ln w="6350">
            <a:solidFill>
              <a:srgbClr val="D3DAE1"/>
            </a:solidFill>
            <a:prstDash val="solid"/>
          </a:ln>
        </p:spPr>
      </p:sp>
      <p:sp>
        <p:nvSpPr>
          <p:cNvPr id="25" name="Text 23"/>
          <p:cNvSpPr/>
          <p:nvPr/>
        </p:nvSpPr>
        <p:spPr>
          <a:xfrm>
            <a:off x="8168184" y="2360811"/>
            <a:ext cx="309151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13202D"/>
                </a:solidFill>
                <a:latin typeface="IBM Plex Mono" pitchFamily="49" charset="0"/>
                <a:ea typeface="IBM Plex Mono" pitchFamily="49" charset="-122"/>
                <a:cs typeface="IBM Plex Mono" pitchFamily="49" charset="-120"/>
              </a:rPr>
              <a:t>03</a:t>
            </a:r>
            <a:endParaRPr lang="en-US" sz="2200" dirty="0"/>
          </a:p>
        </p:txBody>
      </p:sp>
      <p:sp>
        <p:nvSpPr>
          <p:cNvPr id="26" name="Text 24"/>
          <p:cNvSpPr/>
          <p:nvPr/>
        </p:nvSpPr>
        <p:spPr>
          <a:xfrm>
            <a:off x="8168184" y="275699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Composition root</a:t>
            </a:r>
            <a:endParaRPr lang="en-US" sz="1600" dirty="0"/>
          </a:p>
        </p:txBody>
      </p:sp>
      <p:sp>
        <p:nvSpPr>
          <p:cNvPr id="27" name="Text 25"/>
          <p:cNvSpPr/>
          <p:nvPr/>
        </p:nvSpPr>
        <p:spPr>
          <a:xfrm>
            <a:off x="8168184" y="308967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место где се саставља граф зависности</a:t>
            </a:r>
            <a:endParaRPr lang="en-US" sz="1300" dirty="0"/>
          </a:p>
        </p:txBody>
      </p:sp>
      <p:sp>
        <p:nvSpPr>
          <p:cNvPr id="28" name="Shape 26"/>
          <p:cNvSpPr/>
          <p:nvPr/>
        </p:nvSpPr>
        <p:spPr>
          <a:xfrm>
            <a:off x="8168184" y="3643908"/>
            <a:ext cx="3001466" cy="0"/>
          </a:xfrm>
          <a:prstGeom prst="line">
            <a:avLst/>
          </a:prstGeom>
          <a:noFill/>
          <a:ln w="6350">
            <a:solidFill>
              <a:srgbClr val="E3E8EE"/>
            </a:solidFill>
            <a:prstDash val="solid"/>
          </a:ln>
        </p:spPr>
      </p:sp>
      <p:sp>
        <p:nvSpPr>
          <p:cNvPr id="29" name="Text 27"/>
          <p:cNvSpPr/>
          <p:nvPr/>
        </p:nvSpPr>
        <p:spPr>
          <a:xfrm>
            <a:off x="8168184" y="3748683"/>
            <a:ext cx="1249759" cy="264120"/>
          </a:xfrm>
          <a:prstGeom prst="roundRect">
            <a:avLst>
              <a:gd name="adj" fmla="val 19234"/>
            </a:avLst>
          </a:prstGeom>
          <a:solidFill>
            <a:srgbClr val="F0E5E5"/>
          </a:solidFill>
          <a:ln/>
        </p:spPr>
        <p:txBody>
          <a:bodyPr wrap="none" lIns="0" tIns="0" rIns="0" bIns="0" rtlCol="0" anchor="ctr">
            <a:normAutofit/>
          </a:bodyPr>
          <a:lstStyle/>
          <a:p>
            <a:pPr algn="ct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Presentation</a:t>
            </a:r>
            <a:endParaRPr lang="en-US" sz="1200" dirty="0"/>
          </a:p>
        </p:txBody>
      </p:sp>
      <p:sp>
        <p:nvSpPr>
          <p:cNvPr id="30" name="Text 28"/>
          <p:cNvSpPr/>
          <p:nvPr/>
        </p:nvSpPr>
        <p:spPr>
          <a:xfrm>
            <a:off x="9481443" y="3748683"/>
            <a:ext cx="1249759" cy="264120"/>
          </a:xfrm>
          <a:prstGeom prst="roundRect">
            <a:avLst>
              <a:gd name="adj" fmla="val 19234"/>
            </a:avLst>
          </a:prstGeom>
          <a:solidFill>
            <a:srgbClr val="F0E5E5"/>
          </a:solidFill>
          <a:ln/>
        </p:spPr>
        <p:txBody>
          <a:bodyPr wrap="none" lIns="0" tIns="0" rIns="0" bIns="0" rtlCol="0" anchor="ctr">
            <a:normAutofit/>
          </a:bodyPr>
          <a:lstStyle/>
          <a:p>
            <a:pPr algn="ctr"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AppContainer</a:t>
            </a:r>
            <a:endParaRPr lang="en-US" sz="12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E5E5"/>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B0213C"/>
                </a:solidFill>
                <a:latin typeface="IBM Plex Mono" pitchFamily="49" charset="0"/>
                <a:ea typeface="IBM Plex Mono" pitchFamily="49" charset="-122"/>
                <a:cs typeface="IBM Plex Mono" pitchFamily="49" charset="-120"/>
              </a:rPr>
              <a:t>05</a:t>
            </a:r>
            <a:endParaRPr lang="en-US" sz="14000" dirty="0"/>
          </a:p>
        </p:txBody>
      </p:sp>
      <p:sp>
        <p:nvSpPr>
          <p:cNvPr id="3" name="Text 1"/>
          <p:cNvSpPr/>
          <p:nvPr/>
        </p:nvSpPr>
        <p:spPr>
          <a:xfrm>
            <a:off x="4267200" y="2019399"/>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ПЕТИ ДЕО</a:t>
            </a:r>
            <a:endParaRPr lang="en-US" sz="1200" dirty="0"/>
          </a:p>
        </p:txBody>
      </p:sp>
      <p:sp>
        <p:nvSpPr>
          <p:cNvPr id="4" name="Text 2"/>
          <p:cNvSpPr/>
          <p:nvPr>
            <p:ph type="title"/>
          </p:nvPr>
        </p:nvSpPr>
        <p:spPr>
          <a:xfrm>
            <a:off x="4267200" y="241052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Примена и преглед</a:t>
            </a:r>
            <a:endParaRPr lang="en-US" sz="4800" dirty="0"/>
          </a:p>
        </p:txBody>
      </p:sp>
      <p:sp>
        <p:nvSpPr>
          <p:cNvPr id="5" name="Text 3"/>
          <p:cNvSpPr/>
          <p:nvPr/>
        </p:nvSpPr>
        <p:spPr>
          <a:xfrm>
            <a:off x="4267200" y="3228380"/>
            <a:ext cx="627888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Како препознати потребу за рефакторисањем, проверити дизајн кроз code review и избећи механичку примену принципа.</a:t>
            </a:r>
            <a:endParaRPr lang="en-US" sz="1400" dirty="0"/>
          </a:p>
        </p:txBody>
      </p:sp>
      <p:sp>
        <p:nvSpPr>
          <p:cNvPr id="6" name="Text 4"/>
          <p:cNvSpPr/>
          <p:nvPr/>
        </p:nvSpPr>
        <p:spPr>
          <a:xfrm>
            <a:off x="4270375" y="3907036"/>
            <a:ext cx="1414661"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Рефакторисање</a:t>
            </a:r>
            <a:endParaRPr lang="en-US" sz="1200" dirty="0"/>
          </a:p>
        </p:txBody>
      </p:sp>
      <p:sp>
        <p:nvSpPr>
          <p:cNvPr id="7" name="Text 5"/>
          <p:cNvSpPr/>
          <p:nvPr/>
        </p:nvSpPr>
        <p:spPr>
          <a:xfrm>
            <a:off x="5767586" y="3907036"/>
            <a:ext cx="1863824"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Питања за code review</a:t>
            </a:r>
            <a:endParaRPr lang="en-US" sz="1200" dirty="0"/>
          </a:p>
        </p:txBody>
      </p:sp>
      <p:sp>
        <p:nvSpPr>
          <p:cNvPr id="8" name="Text 6"/>
          <p:cNvSpPr/>
          <p:nvPr/>
        </p:nvSpPr>
        <p:spPr>
          <a:xfrm>
            <a:off x="7713960" y="3907036"/>
            <a:ext cx="1542554"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Задатак на вежби</a:t>
            </a:r>
            <a:endParaRPr lang="en-US" sz="1200" dirty="0"/>
          </a:p>
        </p:txBody>
      </p:sp>
      <p:sp>
        <p:nvSpPr>
          <p:cNvPr id="9" name="Text 7"/>
          <p:cNvSpPr/>
          <p:nvPr/>
        </p:nvSpPr>
        <p:spPr>
          <a:xfrm>
            <a:off x="4270375" y="4310856"/>
            <a:ext cx="1755477"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Критеријум примене</a:t>
            </a:r>
            <a:endParaRPr lang="en-US" sz="1200" dirty="0"/>
          </a:p>
        </p:txBody>
      </p:sp>
      <p:sp>
        <p:nvSpPr>
          <p:cNvPr id="10" name="Text 8"/>
          <p:cNvSpPr/>
          <p:nvPr/>
        </p:nvSpPr>
        <p:spPr>
          <a:xfrm>
            <a:off x="6108402" y="4310856"/>
            <a:ext cx="1423491"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Типичне грешке</a:t>
            </a:r>
            <a:endParaRPr lang="en-US" sz="1200" dirty="0"/>
          </a:p>
        </p:txBody>
      </p:sp>
      <p:sp>
        <p:nvSpPr>
          <p:cNvPr id="11" name="Text 9"/>
          <p:cNvSpPr/>
          <p:nvPr/>
        </p:nvSpPr>
        <p:spPr>
          <a:xfrm>
            <a:off x="7614444" y="4310856"/>
            <a:ext cx="990898" cy="321270"/>
          </a:xfrm>
          <a:prstGeom prst="roundRect">
            <a:avLst>
              <a:gd name="adj" fmla="val 50000"/>
            </a:avLst>
          </a:prstGeom>
          <a:solidFill>
            <a:srgbClr val="FCFCFB"/>
          </a:solidFill>
          <a:ln w="6350">
            <a:solidFill>
              <a:srgbClr val="C8B6B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Припрема</a:t>
            </a:r>
            <a:endParaRPr lang="en-US" sz="1200" dirty="0"/>
          </a:p>
        </p:txBody>
      </p:sp>
      <p:sp>
        <p:nvSpPr>
          <p:cNvPr id="12" name="Shape 10"/>
          <p:cNvSpPr/>
          <p:nvPr/>
        </p:nvSpPr>
        <p:spPr>
          <a:xfrm>
            <a:off x="812800" y="6209705"/>
            <a:ext cx="10566400" cy="0"/>
          </a:xfrm>
          <a:prstGeom prst="line">
            <a:avLst/>
          </a:prstGeom>
          <a:noFill/>
          <a:ln w="6350">
            <a:solidFill>
              <a:srgbClr val="C8B6BF"/>
            </a:solidFill>
            <a:prstDash val="solid"/>
          </a:ln>
        </p:spPr>
      </p:sp>
      <p:sp>
        <p:nvSpPr>
          <p:cNvPr id="13" name="Text 1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4" name="Text 1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05 · ПРИМЕНА И 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Разлози за рефакторисање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Декомпозиција се спроводи када смањује спрегу и локализује измене.</a:t>
            </a:r>
            <a:endParaRPr lang="en-US" sz="1400" dirty="0"/>
          </a:p>
        </p:txBody>
      </p:sp>
      <p:sp>
        <p:nvSpPr>
          <p:cNvPr id="6" name="Shape 4"/>
          <p:cNvSpPr/>
          <p:nvPr/>
        </p:nvSpPr>
        <p:spPr>
          <a:xfrm>
            <a:off x="815975" y="2179836"/>
            <a:ext cx="4984750" cy="2429272"/>
          </a:xfrm>
          <a:prstGeom prst="roundRect">
            <a:avLst>
              <a:gd name="adj" fmla="val 4052"/>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FBF1E6"/>
          </a:solidFill>
          <a:ln/>
        </p:spPr>
      </p:sp>
      <p:pic>
        <p:nvPicPr>
          <p:cNvPr id="8" name="Image 0" descr="Warning">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479550" y="2416671"/>
            <a:ext cx="13838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520A"/>
                </a:solidFill>
                <a:latin typeface="IBM Plex Sans" pitchFamily="34" charset="0"/>
                <a:ea typeface="IBM Plex Sans" pitchFamily="34" charset="-122"/>
                <a:cs typeface="IBM Plex Sans" pitchFamily="34" charset="-120"/>
              </a:rPr>
              <a:t>Лош сигнал</a:t>
            </a:r>
            <a:endParaRPr lang="en-US" sz="1600" dirty="0"/>
          </a:p>
        </p:txBody>
      </p:sp>
      <p:sp>
        <p:nvSpPr>
          <p:cNvPr id="10" name="Shape 7"/>
          <p:cNvSpPr/>
          <p:nvPr/>
        </p:nvSpPr>
        <p:spPr>
          <a:xfrm>
            <a:off x="1022350" y="2821186"/>
            <a:ext cx="4572000" cy="0"/>
          </a:xfrm>
          <a:prstGeom prst="line">
            <a:avLst/>
          </a:prstGeom>
          <a:noFill/>
          <a:ln w="6350">
            <a:solidFill>
              <a:srgbClr val="E3E8EE"/>
            </a:solidFill>
            <a:prstDash val="solid"/>
          </a:ln>
        </p:spPr>
      </p:sp>
      <p:sp>
        <p:nvSpPr>
          <p:cNvPr id="11" name="Text 8"/>
          <p:cNvSpPr/>
          <p:nvPr/>
        </p:nvSpPr>
        <p:spPr>
          <a:xfrm>
            <a:off x="1022350" y="291326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класа мења податке, шаље email и логује</a:t>
            </a:r>
            <a:endParaRPr lang="en-US" sz="1300" dirty="0"/>
          </a:p>
        </p:txBody>
      </p:sp>
      <p:sp>
        <p:nvSpPr>
          <p:cNvPr id="12" name="Shape 9"/>
          <p:cNvSpPr/>
          <p:nvPr/>
        </p:nvSpPr>
        <p:spPr>
          <a:xfrm>
            <a:off x="1022350" y="3249116"/>
            <a:ext cx="4572000" cy="0"/>
          </a:xfrm>
          <a:prstGeom prst="line">
            <a:avLst/>
          </a:prstGeom>
          <a:noFill/>
          <a:ln w="6350">
            <a:solidFill>
              <a:srgbClr val="E3E8EE"/>
            </a:solidFill>
            <a:prstDash val="solid"/>
          </a:ln>
        </p:spPr>
      </p:sp>
      <p:sp>
        <p:nvSpPr>
          <p:cNvPr id="13" name="Text 10"/>
          <p:cNvSpPr/>
          <p:nvPr/>
        </p:nvSpPr>
        <p:spPr>
          <a:xfrm>
            <a:off x="1022350" y="334119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метода има више неповезаних праваца</a:t>
            </a:r>
            <a:endParaRPr lang="en-US" sz="1300" dirty="0"/>
          </a:p>
        </p:txBody>
      </p:sp>
      <p:sp>
        <p:nvSpPr>
          <p:cNvPr id="14" name="Shape 11"/>
          <p:cNvSpPr/>
          <p:nvPr/>
        </p:nvSpPr>
        <p:spPr>
          <a:xfrm>
            <a:off x="1022350" y="3677047"/>
            <a:ext cx="4572000" cy="0"/>
          </a:xfrm>
          <a:prstGeom prst="line">
            <a:avLst/>
          </a:prstGeom>
          <a:noFill/>
          <a:ln w="6350">
            <a:solidFill>
              <a:srgbClr val="E3E8EE"/>
            </a:solidFill>
            <a:prstDash val="solid"/>
          </a:ln>
        </p:spPr>
      </p:sp>
      <p:sp>
        <p:nvSpPr>
          <p:cNvPr id="15" name="Text 12"/>
          <p:cNvSpPr/>
          <p:nvPr/>
        </p:nvSpPr>
        <p:spPr>
          <a:xfrm>
            <a:off x="1022350" y="376912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 мора да зна приватне детаље</a:t>
            </a:r>
            <a:endParaRPr lang="en-US" sz="1300" dirty="0"/>
          </a:p>
        </p:txBody>
      </p:sp>
      <p:sp>
        <p:nvSpPr>
          <p:cNvPr id="16" name="Shape 13"/>
          <p:cNvSpPr/>
          <p:nvPr/>
        </p:nvSpPr>
        <p:spPr>
          <a:xfrm>
            <a:off x="1022350" y="4104977"/>
            <a:ext cx="4572000" cy="0"/>
          </a:xfrm>
          <a:prstGeom prst="line">
            <a:avLst/>
          </a:prstGeom>
          <a:noFill/>
          <a:ln w="6350">
            <a:solidFill>
              <a:srgbClr val="E3E8EE"/>
            </a:solidFill>
            <a:prstDash val="solid"/>
          </a:ln>
        </p:spPr>
      </p:sp>
      <p:sp>
        <p:nvSpPr>
          <p:cNvPr id="17" name="Text 14"/>
          <p:cNvSpPr/>
          <p:nvPr/>
        </p:nvSpPr>
        <p:spPr>
          <a:xfrm>
            <a:off x="1022350" y="419705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ново понашање тражи измену стабилног центра</a:t>
            </a:r>
            <a:endParaRPr lang="en-US" sz="1300" dirty="0"/>
          </a:p>
        </p:txBody>
      </p:sp>
      <p:pic>
        <p:nvPicPr>
          <p:cNvPr id="18" name="Image 1" descr="arrow-right">    </p:cNvPr>
          <p:cNvPicPr>
            <a:picLocks noChangeAspect="1"/>
          </p:cNvPicPr>
          <p:nvPr/>
        </p:nvPicPr>
        <p:blipFill>
          <a:blip r:embed="rId2"/>
          <a:srcRect l="0" r="0" t="0" b="0"/>
          <a:stretch/>
        </p:blipFill>
        <p:spPr>
          <a:xfrm>
            <a:off x="5981700" y="3337322"/>
            <a:ext cx="228600" cy="114300"/>
          </a:xfrm>
          <a:prstGeom prst="rect">
            <a:avLst/>
          </a:prstGeom>
        </p:spPr>
      </p:pic>
      <p:sp>
        <p:nvSpPr>
          <p:cNvPr id="19" name="Shape 15"/>
          <p:cNvSpPr/>
          <p:nvPr/>
        </p:nvSpPr>
        <p:spPr>
          <a:xfrm>
            <a:off x="6391275" y="2179836"/>
            <a:ext cx="4984750" cy="2429272"/>
          </a:xfrm>
          <a:prstGeom prst="roundRect">
            <a:avLst>
              <a:gd name="adj" fmla="val 4052"/>
            </a:avLst>
          </a:prstGeom>
          <a:solidFill>
            <a:srgbClr val="FCFCFB"/>
          </a:solidFill>
          <a:ln w="6350">
            <a:solidFill>
              <a:srgbClr val="D3DAE1"/>
            </a:solidFill>
            <a:prstDash val="solid"/>
          </a:ln>
        </p:spPr>
      </p:sp>
      <p:sp>
        <p:nvSpPr>
          <p:cNvPr id="20" name="Shape 16"/>
          <p:cNvSpPr/>
          <p:nvPr/>
        </p:nvSpPr>
        <p:spPr>
          <a:xfrm>
            <a:off x="6597650" y="2360811"/>
            <a:ext cx="355600" cy="355600"/>
          </a:xfrm>
          <a:prstGeom prst="roundRect">
            <a:avLst>
              <a:gd name="adj" fmla="val 21429"/>
            </a:avLst>
          </a:prstGeom>
          <a:solidFill>
            <a:srgbClr val="F4E0E4"/>
          </a:solidFill>
          <a:ln/>
        </p:spPr>
      </p:sp>
      <p:pic>
        <p:nvPicPr>
          <p:cNvPr id="21" name="Image 2" descr="CheckCircle">    </p:cNvPr>
          <p:cNvPicPr>
            <a:picLocks noChangeAspect="1"/>
          </p:cNvPicPr>
          <p:nvPr/>
        </p:nvPicPr>
        <p:blipFill>
          <a:blip r:embed="rId3"/>
          <a:srcRect l="0" r="0" t="0" b="0"/>
          <a:stretch/>
        </p:blipFill>
        <p:spPr>
          <a:xfrm>
            <a:off x="6673850" y="2437011"/>
            <a:ext cx="203200" cy="203200"/>
          </a:xfrm>
          <a:prstGeom prst="rect">
            <a:avLst/>
          </a:prstGeom>
        </p:spPr>
      </p:pic>
      <p:sp>
        <p:nvSpPr>
          <p:cNvPr id="22" name="Text 17"/>
          <p:cNvSpPr/>
          <p:nvPr/>
        </p:nvSpPr>
        <p:spPr>
          <a:xfrm>
            <a:off x="7054850" y="2416671"/>
            <a:ext cx="16162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0213C"/>
                </a:solidFill>
                <a:latin typeface="IBM Plex Sans" pitchFamily="34" charset="0"/>
                <a:ea typeface="IBM Plex Sans" pitchFamily="34" charset="-122"/>
                <a:cs typeface="IBM Plex Sans" pitchFamily="34" charset="-120"/>
              </a:rPr>
              <a:t>Добар сигнал</a:t>
            </a:r>
            <a:endParaRPr lang="en-US" sz="1600" dirty="0"/>
          </a:p>
        </p:txBody>
      </p:sp>
      <p:sp>
        <p:nvSpPr>
          <p:cNvPr id="23" name="Shape 18"/>
          <p:cNvSpPr/>
          <p:nvPr/>
        </p:nvSpPr>
        <p:spPr>
          <a:xfrm>
            <a:off x="6597650" y="2821186"/>
            <a:ext cx="4572000" cy="0"/>
          </a:xfrm>
          <a:prstGeom prst="line">
            <a:avLst/>
          </a:prstGeom>
          <a:noFill/>
          <a:ln w="6350">
            <a:solidFill>
              <a:srgbClr val="E3E8EE"/>
            </a:solidFill>
            <a:prstDash val="solid"/>
          </a:ln>
        </p:spPr>
      </p:sp>
      <p:sp>
        <p:nvSpPr>
          <p:cNvPr id="24" name="Text 19"/>
          <p:cNvSpPr/>
          <p:nvPr/>
        </p:nvSpPr>
        <p:spPr>
          <a:xfrm>
            <a:off x="6597650" y="291326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једна реченица описује одговорност</a:t>
            </a:r>
            <a:endParaRPr lang="en-US" sz="1300" dirty="0"/>
          </a:p>
        </p:txBody>
      </p:sp>
      <p:sp>
        <p:nvSpPr>
          <p:cNvPr id="25" name="Shape 20"/>
          <p:cNvSpPr/>
          <p:nvPr/>
        </p:nvSpPr>
        <p:spPr>
          <a:xfrm>
            <a:off x="6597650" y="3249116"/>
            <a:ext cx="4572000" cy="0"/>
          </a:xfrm>
          <a:prstGeom prst="line">
            <a:avLst/>
          </a:prstGeom>
          <a:noFill/>
          <a:ln w="6350">
            <a:solidFill>
              <a:srgbClr val="E3E8EE"/>
            </a:solidFill>
            <a:prstDash val="solid"/>
          </a:ln>
        </p:spPr>
      </p:sp>
      <p:sp>
        <p:nvSpPr>
          <p:cNvPr id="26" name="Text 21"/>
          <p:cNvSpPr/>
          <p:nvPr/>
        </p:nvSpPr>
        <p:spPr>
          <a:xfrm>
            <a:off x="6597650" y="334119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сарадници су уговори</a:t>
            </a:r>
            <a:endParaRPr lang="en-US" sz="1300" dirty="0"/>
          </a:p>
        </p:txBody>
      </p:sp>
      <p:sp>
        <p:nvSpPr>
          <p:cNvPr id="27" name="Shape 22"/>
          <p:cNvSpPr/>
          <p:nvPr/>
        </p:nvSpPr>
        <p:spPr>
          <a:xfrm>
            <a:off x="6597650" y="3677047"/>
            <a:ext cx="4572000" cy="0"/>
          </a:xfrm>
          <a:prstGeom prst="line">
            <a:avLst/>
          </a:prstGeom>
          <a:noFill/>
          <a:ln w="6350">
            <a:solidFill>
              <a:srgbClr val="E3E8EE"/>
            </a:solidFill>
            <a:prstDash val="solid"/>
          </a:ln>
        </p:spPr>
      </p:sp>
      <p:sp>
        <p:nvSpPr>
          <p:cNvPr id="28" name="Text 23"/>
          <p:cNvSpPr/>
          <p:nvPr/>
        </p:nvSpPr>
        <p:spPr>
          <a:xfrm>
            <a:off x="6597650" y="376912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промена погађа очекивано место</a:t>
            </a:r>
            <a:endParaRPr lang="en-US" sz="1300" dirty="0"/>
          </a:p>
        </p:txBody>
      </p:sp>
      <p:sp>
        <p:nvSpPr>
          <p:cNvPr id="29" name="Shape 24"/>
          <p:cNvSpPr/>
          <p:nvPr/>
        </p:nvSpPr>
        <p:spPr>
          <a:xfrm>
            <a:off x="6597650" y="4104977"/>
            <a:ext cx="4572000" cy="0"/>
          </a:xfrm>
          <a:prstGeom prst="line">
            <a:avLst/>
          </a:prstGeom>
          <a:noFill/>
          <a:ln w="6350">
            <a:solidFill>
              <a:srgbClr val="E3E8EE"/>
            </a:solidFill>
            <a:prstDash val="solid"/>
          </a:ln>
        </p:spPr>
      </p:sp>
      <p:sp>
        <p:nvSpPr>
          <p:cNvPr id="30" name="Text 25"/>
          <p:cNvSpPr/>
          <p:nvPr/>
        </p:nvSpPr>
        <p:spPr>
          <a:xfrm>
            <a:off x="6597650" y="419705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тестови проверавају понашање</a:t>
            </a:r>
            <a:endParaRPr lang="en-US" sz="1300" dirty="0"/>
          </a:p>
        </p:txBody>
      </p:sp>
      <p:sp>
        <p:nvSpPr>
          <p:cNvPr id="31" name="Shape 26"/>
          <p:cNvSpPr/>
          <p:nvPr/>
        </p:nvSpPr>
        <p:spPr>
          <a:xfrm>
            <a:off x="812800" y="6209705"/>
            <a:ext cx="10566400" cy="0"/>
          </a:xfrm>
          <a:prstGeom prst="line">
            <a:avLst/>
          </a:prstGeom>
          <a:noFill/>
          <a:ln w="6350">
            <a:solidFill>
              <a:srgbClr val="D3DAE1"/>
            </a:solidFill>
            <a:prstDash val="solid"/>
          </a:ln>
        </p:spPr>
      </p:sp>
      <p:sp>
        <p:nvSpPr>
          <p:cNvPr id="32"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05 · ПРИМЕНА И 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Питања за преглед кода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Питања усмеравају анализу последица дизајнерских одлука.</a:t>
            </a:r>
            <a:endParaRPr lang="en-US" sz="1400" dirty="0"/>
          </a:p>
        </p:txBody>
      </p:sp>
      <p:sp>
        <p:nvSpPr>
          <p:cNvPr id="6" name="Shape 4"/>
          <p:cNvSpPr/>
          <p:nvPr/>
        </p:nvSpPr>
        <p:spPr>
          <a:xfrm>
            <a:off x="812800" y="2176661"/>
            <a:ext cx="10566400" cy="2959894"/>
          </a:xfrm>
          <a:prstGeom prst="roundRect">
            <a:avLst>
              <a:gd name="adj" fmla="val 3433"/>
            </a:avLst>
          </a:prstGeom>
          <a:solidFill>
            <a:srgbClr val="FCFCFB"/>
          </a:solidFill>
          <a:ln/>
        </p:spPr>
      </p:sp>
      <p:sp>
        <p:nvSpPr>
          <p:cNvPr id="7" name="Shape 5"/>
          <p:cNvSpPr/>
          <p:nvPr/>
        </p:nvSpPr>
        <p:spPr>
          <a:xfrm>
            <a:off x="812800" y="2176661"/>
            <a:ext cx="10566400" cy="2959894"/>
          </a:xfrm>
          <a:custGeom>
            <a:avLst/>
            <a:gdLst/>
            <a:ahLst/>
            <a:cxnLst/>
            <a:rect l="l" t="t" r="r" b="b"/>
            <a:pathLst>
              <a:path w="10566400" h="2959894">
                <a:moveTo>
                  <a:pt x="10464800" y="0"/>
                </a:moveTo>
                <a:lnTo>
                  <a:pt x="10464800" y="0"/>
                </a:lnTo>
                <a:arcTo hR="101600" wR="101600" stAng="16200000" swAng="5400000"/>
                <a:lnTo>
                  <a:pt x="10566400" y="2858294"/>
                </a:lnTo>
                <a:arcTo hR="101600" wR="101600" stAng="0" swAng="5400000"/>
                <a:lnTo>
                  <a:pt x="101600" y="2959894"/>
                </a:lnTo>
                <a:arcTo hR="101600" wR="101600" stAng="5400000" swAng="5400000"/>
                <a:lnTo>
                  <a:pt x="0" y="2858294"/>
                </a:lnTo>
                <a:arcTo hR="95250" wR="101600" stAng="10800000" swAng="-5400000"/>
                <a:lnTo>
                  <a:pt x="10464800" y="2953544"/>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959894"/>
          </a:xfrm>
          <a:custGeom>
            <a:avLst/>
            <a:gdLst/>
            <a:ahLst/>
            <a:cxnLst/>
            <a:rect l="l" t="t" r="r" b="b"/>
            <a:pathLst>
              <a:path w="10566400" h="2959894">
                <a:moveTo>
                  <a:pt x="101600" y="2959894"/>
                </a:moveTo>
                <a:lnTo>
                  <a:pt x="101600" y="2959894"/>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858294"/>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940844"/>
        </p:xfrm>
        <a:graphic>
          <a:graphicData uri="http://schemas.openxmlformats.org/drawingml/2006/table">
            <a:tbl>
              <a:tblPr/>
              <a:tblGrid>
                <a:gridCol w="8437880"/>
                <a:gridCol w="2109470"/>
              </a:tblGrid>
              <a:tr h="4901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Питање</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0B7B7"/>
                      </a:solidFill>
                      <a:prstDash val="solid"/>
                      <a:round/>
                      <a:headEnd type="none" w="med" len="med"/>
                      <a:tailEnd type="none" w="med" len="med"/>
                    </a:lnR>
                    <a:lnT w="0" cap="flat" cmpd="sng" algn="ctr">
                      <a:noFill/>
                    </a:lnT>
                    <a:lnB w="12700" cap="flat" cmpd="sng" algn="ctr">
                      <a:solidFill>
                        <a:srgbClr val="C0B7B7"/>
                      </a:solidFill>
                      <a:prstDash val="solid"/>
                      <a:round/>
                      <a:headEnd type="none" w="med" len="med"/>
                      <a:tailEnd type="none" w="med" len="med"/>
                    </a:lnB>
                    <a:solidFill>
                      <a:srgbClr val="F0E5E5"/>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Шта открива</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0B7B7"/>
                      </a:solidFill>
                      <a:prstDash val="solid"/>
                      <a:round/>
                      <a:headEnd type="none" w="med" len="med"/>
                      <a:tailEnd type="none" w="med" len="med"/>
                    </a:lnL>
                    <a:lnR w="12700" cap="flat" cmpd="sng" algn="ctr">
                      <a:solidFill>
                        <a:srgbClr val="C0B7B7"/>
                      </a:solidFill>
                      <a:prstDash val="solid"/>
                      <a:round/>
                      <a:headEnd type="none" w="med" len="med"/>
                      <a:tailEnd type="none" w="med" len="med"/>
                    </a:lnR>
                    <a:lnT w="0" cap="flat" cmpd="sng" algn="ctr">
                      <a:noFill/>
                    </a:lnT>
                    <a:lnB w="12700" cap="flat" cmpd="sng" algn="ctr">
                      <a:solidFill>
                        <a:srgbClr val="C0B7B7"/>
                      </a:solidFill>
                      <a:prstDash val="solid"/>
                      <a:round/>
                      <a:headEnd type="none" w="med" len="med"/>
                      <a:tailEnd type="none" w="med" len="med"/>
                    </a:lnB>
                    <a:solidFill>
                      <a:srgbClr val="F0E5E5"/>
                    </a:solidFill>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Да ли модул има један разлог за промену?</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0B7B7"/>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B0213C"/>
                          </a:solidFill>
                          <a:latin typeface="IBM Plex Sans" pitchFamily="34" charset="0"/>
                          <a:ea typeface="IBM Plex Sans" pitchFamily="34" charset="-122"/>
                          <a:cs typeface="IBM Plex Sans" pitchFamily="34" charset="-120"/>
                        </a:rPr>
                        <a:t>SRP</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0B7B7"/>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Да ли нова варијанта мења стабилан ток?</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B0213C"/>
                          </a:solidFill>
                          <a:latin typeface="IBM Plex Sans" pitchFamily="34" charset="0"/>
                          <a:ea typeface="IBM Plex Sans" pitchFamily="34" charset="-122"/>
                          <a:cs typeface="IBM Plex Sans" pitchFamily="34" charset="-120"/>
                        </a:rPr>
                        <a:t>OCP</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Да ли имплементација поштује уговор?</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B0213C"/>
                          </a:solidFill>
                          <a:latin typeface="IBM Plex Sans" pitchFamily="34" charset="0"/>
                          <a:ea typeface="IBM Plex Sans" pitchFamily="34" charset="-122"/>
                          <a:cs typeface="IBM Plex Sans" pitchFamily="34" charset="-120"/>
                        </a:rPr>
                        <a:t>LSP</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Да ли је интерфејс шири него што клијенту треба?</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B0213C"/>
                          </a:solidFill>
                          <a:latin typeface="IBM Plex Sans" pitchFamily="34" charset="0"/>
                          <a:ea typeface="IBM Plex Sans" pitchFamily="34" charset="-122"/>
                          <a:cs typeface="IBM Plex Sans" pitchFamily="34" charset="-120"/>
                        </a:rPr>
                        <a:t>ISP</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4901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Да ли политика зависи од техничког детаља?</a:t>
                      </a:r>
                      <a:endParaRPr lang="en-US" sz="1400" dirty="0">
                        <a:latin typeface="IBM Plex Sans" charset="0"/>
                        <a:ea typeface="IBM Plex Sans" charset="0"/>
                        <a:cs typeface="IBM Plex Sans" charset="0"/>
                      </a:endParaRPr>
                    </a:p>
                  </a:txBody>
                  <a:tcPr marL="203200" marR="203200" marT="114300" marB="1143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B0213C"/>
                          </a:solidFill>
                          <a:latin typeface="IBM Plex Sans" pitchFamily="34" charset="0"/>
                          <a:ea typeface="IBM Plex Sans" pitchFamily="34" charset="-122"/>
                          <a:cs typeface="IBM Plex Sans" pitchFamily="34" charset="-120"/>
                        </a:rPr>
                        <a:t>DIP</a:t>
                      </a:r>
                      <a:endParaRPr lang="en-US" sz="1400" dirty="0">
                        <a:latin typeface="IBM Plex Sans" charset="0"/>
                        <a:ea typeface="IBM Plex Sans" charset="0"/>
                        <a:cs typeface="IBM Plex Sans" charset="0"/>
                      </a:endParaRPr>
                    </a:p>
                  </a:txBody>
                  <a:tcPr marL="203200" marR="203200" marT="114300" marB="1143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6209705"/>
            <a:ext cx="10566400" cy="0"/>
          </a:xfrm>
          <a:prstGeom prst="line">
            <a:avLst/>
          </a:prstGeom>
          <a:noFill/>
          <a:ln w="6350">
            <a:solidFill>
              <a:srgbClr val="D3DAE1"/>
            </a:solidFill>
            <a:prstDash val="solid"/>
          </a:ln>
        </p:spPr>
      </p:sp>
      <p:sp>
        <p:nvSpPr>
          <p:cNvPr id="11" name="Text 8"/>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2" name="Text 9"/>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05 · ПРИМЕНА И 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Задатак на вежби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SOLID принципи примењују се на конкретан код и образлажу кроз последице измене.</a:t>
            </a:r>
            <a:endParaRPr lang="en-US" sz="1400" dirty="0"/>
          </a:p>
        </p:txBody>
      </p:sp>
      <p:sp>
        <p:nvSpPr>
          <p:cNvPr id="6" name="Shape 4"/>
          <p:cNvSpPr/>
          <p:nvPr/>
        </p:nvSpPr>
        <p:spPr>
          <a:xfrm>
            <a:off x="815975" y="2129036"/>
            <a:ext cx="10560050" cy="3054350"/>
          </a:xfrm>
          <a:prstGeom prst="roundRect">
            <a:avLst>
              <a:gd name="adj" fmla="val 3222"/>
            </a:avLst>
          </a:prstGeom>
          <a:solidFill>
            <a:srgbClr val="FCFCFB"/>
          </a:solidFill>
          <a:ln w="6350">
            <a:solidFill>
              <a:srgbClr val="D3DAE1"/>
            </a:solidFill>
            <a:prstDash val="solid"/>
          </a:ln>
        </p:spPr>
      </p:sp>
      <p:sp>
        <p:nvSpPr>
          <p:cNvPr id="7" name="Text 5"/>
          <p:cNvSpPr/>
          <p:nvPr/>
        </p:nvSpPr>
        <p:spPr>
          <a:xfrm>
            <a:off x="1047750" y="22973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0213C"/>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708150" y="2350691"/>
            <a:ext cx="922731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Пронаћи класу са најмање две неповезане одговорности.</a:t>
            </a:r>
            <a:endParaRPr lang="en-US" sz="1400" dirty="0"/>
          </a:p>
        </p:txBody>
      </p:sp>
      <p:sp>
        <p:nvSpPr>
          <p:cNvPr id="9" name="Text 7"/>
          <p:cNvSpPr/>
          <p:nvPr/>
        </p:nvSpPr>
        <p:spPr>
          <a:xfrm>
            <a:off x="10869910" y="2368451"/>
            <a:ext cx="32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SRP</a:t>
            </a:r>
            <a:endParaRPr lang="en-US" sz="1200" dirty="0"/>
          </a:p>
        </p:txBody>
      </p:sp>
      <p:sp>
        <p:nvSpPr>
          <p:cNvPr id="10" name="Shape 8"/>
          <p:cNvSpPr/>
          <p:nvPr/>
        </p:nvSpPr>
        <p:spPr>
          <a:xfrm>
            <a:off x="1047750" y="2770386"/>
            <a:ext cx="10096500" cy="0"/>
          </a:xfrm>
          <a:prstGeom prst="line">
            <a:avLst/>
          </a:prstGeom>
          <a:noFill/>
          <a:ln w="6350">
            <a:solidFill>
              <a:srgbClr val="E3E8EE"/>
            </a:solidFill>
            <a:prstDash val="solid"/>
          </a:ln>
        </p:spPr>
      </p:sp>
      <p:sp>
        <p:nvSpPr>
          <p:cNvPr id="11" name="Text 9"/>
          <p:cNvSpPr/>
          <p:nvPr/>
        </p:nvSpPr>
        <p:spPr>
          <a:xfrm>
            <a:off x="1047750" y="28878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0213C"/>
                </a:solidFill>
                <a:latin typeface="IBM Plex Mono" pitchFamily="49" charset="0"/>
                <a:ea typeface="IBM Plex Mono" pitchFamily="49" charset="-122"/>
                <a:cs typeface="IBM Plex Mono" pitchFamily="49" charset="-120"/>
              </a:rPr>
              <a:t>02</a:t>
            </a:r>
            <a:endParaRPr lang="en-US" sz="2000" dirty="0"/>
          </a:p>
        </p:txBody>
      </p:sp>
      <p:sp>
        <p:nvSpPr>
          <p:cNvPr id="12" name="Text 10"/>
          <p:cNvSpPr/>
          <p:nvPr/>
        </p:nvSpPr>
        <p:spPr>
          <a:xfrm>
            <a:off x="1708150" y="2941241"/>
            <a:ext cx="913309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Описати њену тренутну улогу једном реченицом.</a:t>
            </a:r>
            <a:endParaRPr lang="en-US" sz="1400" dirty="0"/>
          </a:p>
        </p:txBody>
      </p:sp>
      <p:sp>
        <p:nvSpPr>
          <p:cNvPr id="13" name="Text 11"/>
          <p:cNvSpPr/>
          <p:nvPr/>
        </p:nvSpPr>
        <p:spPr>
          <a:xfrm>
            <a:off x="10778430" y="2959001"/>
            <a:ext cx="416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опис</a:t>
            </a:r>
            <a:endParaRPr lang="en-US" sz="1200" dirty="0"/>
          </a:p>
        </p:txBody>
      </p:sp>
      <p:sp>
        <p:nvSpPr>
          <p:cNvPr id="14" name="Shape 12"/>
          <p:cNvSpPr/>
          <p:nvPr/>
        </p:nvSpPr>
        <p:spPr>
          <a:xfrm>
            <a:off x="1047750" y="3360936"/>
            <a:ext cx="10096500" cy="0"/>
          </a:xfrm>
          <a:prstGeom prst="line">
            <a:avLst/>
          </a:prstGeom>
          <a:noFill/>
          <a:ln w="6350">
            <a:solidFill>
              <a:srgbClr val="E3E8EE"/>
            </a:solidFill>
            <a:prstDash val="solid"/>
          </a:ln>
        </p:spPr>
      </p:sp>
      <p:sp>
        <p:nvSpPr>
          <p:cNvPr id="15" name="Text 13"/>
          <p:cNvSpPr/>
          <p:nvPr/>
        </p:nvSpPr>
        <p:spPr>
          <a:xfrm>
            <a:off x="1047750" y="34784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0213C"/>
                </a:solidFill>
                <a:latin typeface="IBM Plex Mono" pitchFamily="49" charset="0"/>
                <a:ea typeface="IBM Plex Mono" pitchFamily="49" charset="-122"/>
                <a:cs typeface="IBM Plex Mono" pitchFamily="49" charset="-120"/>
              </a:rPr>
              <a:t>03</a:t>
            </a:r>
            <a:endParaRPr lang="en-US" sz="2000" dirty="0"/>
          </a:p>
        </p:txBody>
      </p:sp>
      <p:sp>
        <p:nvSpPr>
          <p:cNvPr id="16" name="Text 14"/>
          <p:cNvSpPr/>
          <p:nvPr/>
        </p:nvSpPr>
        <p:spPr>
          <a:xfrm>
            <a:off x="1708150" y="3531791"/>
            <a:ext cx="894474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Предложити раздвајање и нове границе.</a:t>
            </a:r>
            <a:endParaRPr lang="en-US" sz="1400" dirty="0"/>
          </a:p>
        </p:txBody>
      </p:sp>
      <p:sp>
        <p:nvSpPr>
          <p:cNvPr id="17" name="Text 15"/>
          <p:cNvSpPr/>
          <p:nvPr/>
        </p:nvSpPr>
        <p:spPr>
          <a:xfrm>
            <a:off x="10595570" y="3549551"/>
            <a:ext cx="599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дизајн</a:t>
            </a:r>
            <a:endParaRPr lang="en-US" sz="1200" dirty="0"/>
          </a:p>
        </p:txBody>
      </p:sp>
      <p:sp>
        <p:nvSpPr>
          <p:cNvPr id="18" name="Shape 16"/>
          <p:cNvSpPr/>
          <p:nvPr/>
        </p:nvSpPr>
        <p:spPr>
          <a:xfrm>
            <a:off x="1047750" y="3951486"/>
            <a:ext cx="10096500" cy="0"/>
          </a:xfrm>
          <a:prstGeom prst="line">
            <a:avLst/>
          </a:prstGeom>
          <a:noFill/>
          <a:ln w="6350">
            <a:solidFill>
              <a:srgbClr val="E3E8EE"/>
            </a:solidFill>
            <a:prstDash val="solid"/>
          </a:ln>
        </p:spPr>
      </p:sp>
      <p:sp>
        <p:nvSpPr>
          <p:cNvPr id="19" name="Text 17"/>
          <p:cNvSpPr/>
          <p:nvPr/>
        </p:nvSpPr>
        <p:spPr>
          <a:xfrm>
            <a:off x="1047750" y="40689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0213C"/>
                </a:solidFill>
                <a:latin typeface="IBM Plex Mono" pitchFamily="49" charset="0"/>
                <a:ea typeface="IBM Plex Mono" pitchFamily="49" charset="-122"/>
                <a:cs typeface="IBM Plex Mono" pitchFamily="49" charset="-120"/>
              </a:rPr>
              <a:t>04</a:t>
            </a:r>
            <a:endParaRPr lang="en-US" sz="2000" dirty="0"/>
          </a:p>
        </p:txBody>
      </p:sp>
      <p:sp>
        <p:nvSpPr>
          <p:cNvPr id="20" name="Text 18"/>
          <p:cNvSpPr/>
          <p:nvPr/>
        </p:nvSpPr>
        <p:spPr>
          <a:xfrm>
            <a:off x="1708150" y="4122341"/>
            <a:ext cx="847383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Образложити које будуће промене постају локализоване.</a:t>
            </a:r>
            <a:endParaRPr lang="en-US" sz="1400" dirty="0"/>
          </a:p>
        </p:txBody>
      </p:sp>
      <p:sp>
        <p:nvSpPr>
          <p:cNvPr id="21" name="Text 19"/>
          <p:cNvSpPr/>
          <p:nvPr/>
        </p:nvSpPr>
        <p:spPr>
          <a:xfrm>
            <a:off x="10138370" y="4140101"/>
            <a:ext cx="1056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образложење</a:t>
            </a:r>
            <a:endParaRPr lang="en-US" sz="1200" dirty="0"/>
          </a:p>
        </p:txBody>
      </p:sp>
      <p:sp>
        <p:nvSpPr>
          <p:cNvPr id="22" name="Shape 20"/>
          <p:cNvSpPr/>
          <p:nvPr/>
        </p:nvSpPr>
        <p:spPr>
          <a:xfrm>
            <a:off x="1047750" y="4542036"/>
            <a:ext cx="10096500" cy="0"/>
          </a:xfrm>
          <a:prstGeom prst="line">
            <a:avLst/>
          </a:prstGeom>
          <a:noFill/>
          <a:ln w="6350">
            <a:solidFill>
              <a:srgbClr val="E3E8EE"/>
            </a:solidFill>
            <a:prstDash val="solid"/>
          </a:ln>
        </p:spPr>
      </p:sp>
      <p:sp>
        <p:nvSpPr>
          <p:cNvPr id="23" name="Text 21"/>
          <p:cNvSpPr/>
          <p:nvPr/>
        </p:nvSpPr>
        <p:spPr>
          <a:xfrm>
            <a:off x="1047750" y="46595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05</a:t>
            </a:r>
            <a:endParaRPr lang="en-US" sz="2000" dirty="0"/>
          </a:p>
        </p:txBody>
      </p:sp>
      <p:sp>
        <p:nvSpPr>
          <p:cNvPr id="24" name="Text 22"/>
          <p:cNvSpPr/>
          <p:nvPr/>
        </p:nvSpPr>
        <p:spPr>
          <a:xfrm>
            <a:off x="1708150" y="4712891"/>
            <a:ext cx="922731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Проверити да ли је смер зависности остао исправан.</a:t>
            </a:r>
            <a:endParaRPr lang="en-US" sz="1400" dirty="0"/>
          </a:p>
        </p:txBody>
      </p:sp>
      <p:sp>
        <p:nvSpPr>
          <p:cNvPr id="25" name="Text 23"/>
          <p:cNvSpPr/>
          <p:nvPr/>
        </p:nvSpPr>
        <p:spPr>
          <a:xfrm>
            <a:off x="10869910" y="4730651"/>
            <a:ext cx="325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DIP</a:t>
            </a:r>
            <a:endParaRPr lang="en-US" sz="1200" dirty="0"/>
          </a:p>
        </p:txBody>
      </p:sp>
      <p:sp>
        <p:nvSpPr>
          <p:cNvPr id="26" name="Shape 24"/>
          <p:cNvSpPr/>
          <p:nvPr/>
        </p:nvSpPr>
        <p:spPr>
          <a:xfrm>
            <a:off x="812800" y="6209705"/>
            <a:ext cx="10566400" cy="0"/>
          </a:xfrm>
          <a:prstGeom prst="line">
            <a:avLst/>
          </a:prstGeom>
          <a:noFill/>
          <a:ln w="6350">
            <a:solidFill>
              <a:srgbClr val="D3DAE1"/>
            </a:solidFill>
            <a:prstDash val="solid"/>
          </a:ln>
        </p:spPr>
      </p:sp>
      <p:sp>
        <p:nvSpPr>
          <p:cNvPr id="27"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05 · ПРИМЕНА И 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Критеријум примене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Последица промене треба да остане локализована и предвидљива.</a:t>
            </a:r>
            <a:endParaRPr lang="en-US" sz="1400" dirty="0"/>
          </a:p>
        </p:txBody>
      </p:sp>
      <p:sp>
        <p:nvSpPr>
          <p:cNvPr id="6" name="Text 4"/>
          <p:cNvSpPr/>
          <p:nvPr/>
        </p:nvSpPr>
        <p:spPr>
          <a:xfrm>
            <a:off x="787400" y="2176661"/>
            <a:ext cx="1701800" cy="1422400"/>
          </a:xfrm>
          <a:prstGeom prst="rect">
            <a:avLst/>
          </a:prstGeom>
          <a:noFill/>
          <a:ln/>
        </p:spPr>
        <p:txBody>
          <a:bodyPr wrap="square" lIns="0" tIns="0" rIns="0" bIns="0" rtlCol="0" anchor="t">
            <a:normAutofit/>
          </a:bodyPr>
          <a:lstStyle/>
          <a:p>
            <a:pPr algn="ctr" indent="0" marL="0">
              <a:lnSpc>
                <a:spcPts val="11000"/>
              </a:lnSpc>
              <a:buNone/>
            </a:pPr>
            <a:r>
              <a:rPr lang="en-US" sz="11000" dirty="0">
                <a:solidFill>
                  <a:srgbClr val="B0213C"/>
                </a:solidFill>
                <a:latin typeface="IBM Plex Mono" pitchFamily="49" charset="0"/>
                <a:ea typeface="IBM Plex Mono" pitchFamily="49" charset="-122"/>
                <a:cs typeface="IBM Plex Mono" pitchFamily="49" charset="-120"/>
              </a:rPr>
              <a:t>1</a:t>
            </a:r>
            <a:endParaRPr lang="en-US" sz="11000" dirty="0"/>
          </a:p>
        </p:txBody>
      </p:sp>
      <p:sp>
        <p:nvSpPr>
          <p:cNvPr id="7" name="Shape 5"/>
          <p:cNvSpPr/>
          <p:nvPr/>
        </p:nvSpPr>
        <p:spPr>
          <a:xfrm>
            <a:off x="2787650" y="2374801"/>
            <a:ext cx="0" cy="1000720"/>
          </a:xfrm>
          <a:prstGeom prst="line">
            <a:avLst/>
          </a:prstGeom>
          <a:noFill/>
          <a:ln w="38100">
            <a:solidFill>
              <a:srgbClr val="B0213C"/>
            </a:solidFill>
            <a:prstDash val="solid"/>
          </a:ln>
        </p:spPr>
      </p:sp>
      <p:sp>
        <p:nvSpPr>
          <p:cNvPr id="8" name="Text 6"/>
          <p:cNvSpPr/>
          <p:nvPr/>
        </p:nvSpPr>
        <p:spPr>
          <a:xfrm>
            <a:off x="3035300" y="2400201"/>
            <a:ext cx="859421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ЈЕДНА ЈАСНА ПРОМЕНА</a:t>
            </a:r>
            <a:endParaRPr lang="en-US" sz="1200" dirty="0"/>
          </a:p>
        </p:txBody>
      </p:sp>
      <p:sp>
        <p:nvSpPr>
          <p:cNvPr id="9" name="Text 7"/>
          <p:cNvSpPr/>
          <p:nvPr/>
        </p:nvSpPr>
        <p:spPr>
          <a:xfrm>
            <a:off x="3035300" y="2689721"/>
            <a:ext cx="8594217"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D"/>
                </a:solidFill>
                <a:latin typeface="IBM Plex Sans" pitchFamily="34" charset="0"/>
                <a:ea typeface="IBM Plex Sans" pitchFamily="34" charset="-122"/>
                <a:cs typeface="IBM Plex Sans" pitchFamily="34" charset="-120"/>
              </a:rPr>
              <a:t>Када се промени једно пословно правило или технички детаљ, треба да се мења мали и очекиван део система.</a:t>
            </a:r>
            <a:endParaRPr lang="en-US" sz="2000" dirty="0"/>
          </a:p>
        </p:txBody>
      </p:sp>
      <p:sp>
        <p:nvSpPr>
          <p:cNvPr id="10" name="Shape 8"/>
          <p:cNvSpPr/>
          <p:nvPr/>
        </p:nvSpPr>
        <p:spPr>
          <a:xfrm>
            <a:off x="815975" y="3830836"/>
            <a:ext cx="5200650" cy="680641"/>
          </a:xfrm>
          <a:prstGeom prst="roundRect">
            <a:avLst>
              <a:gd name="adj" fmla="val 12595"/>
            </a:avLst>
          </a:prstGeom>
          <a:solidFill>
            <a:srgbClr val="F0E5E5"/>
          </a:solidFill>
          <a:ln w="6350">
            <a:solidFill>
              <a:srgbClr val="ECCAD0"/>
            </a:solidFill>
            <a:prstDash val="solid"/>
          </a:ln>
        </p:spPr>
      </p:sp>
      <p:pic>
        <p:nvPicPr>
          <p:cNvPr id="11" name="Image 0" descr="CheckCircle">    </p:cNvPr>
          <p:cNvPicPr>
            <a:picLocks noChangeAspect="1"/>
          </p:cNvPicPr>
          <p:nvPr/>
        </p:nvPicPr>
        <p:blipFill>
          <a:blip r:embed="rId1"/>
          <a:srcRect l="0" r="0" t="0" b="0"/>
          <a:stretch/>
        </p:blipFill>
        <p:spPr>
          <a:xfrm>
            <a:off x="971550" y="4069556"/>
            <a:ext cx="203200" cy="203200"/>
          </a:xfrm>
          <a:prstGeom prst="rect">
            <a:avLst/>
          </a:prstGeom>
        </p:spPr>
      </p:pic>
      <p:sp>
        <p:nvSpPr>
          <p:cNvPr id="12" name="Text 9"/>
          <p:cNvSpPr/>
          <p:nvPr/>
        </p:nvSpPr>
        <p:spPr>
          <a:xfrm>
            <a:off x="1276350" y="3948311"/>
            <a:ext cx="472224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3202D"/>
                </a:solidFill>
                <a:latin typeface="IBM Plex Sans" pitchFamily="34" charset="0"/>
                <a:ea typeface="IBM Plex Sans" pitchFamily="34" charset="-122"/>
                <a:cs typeface="IBM Plex Sans" pitchFamily="34" charset="-120"/>
              </a:rPr>
              <a:t>Локализована промена:</a:t>
            </a:r>
            <a:r>
              <a:rPr lang="en-US" sz="1300" dirty="0">
                <a:solidFill>
                  <a:srgbClr val="13202D"/>
                </a:solidFill>
                <a:latin typeface="IBM Plex Sans" pitchFamily="34" charset="0"/>
                <a:ea typeface="IBM Plex Sans" pitchFamily="34" charset="-122"/>
                <a:cs typeface="IBM Plex Sans" pitchFamily="34" charset="-120"/>
              </a:rPr>
              <a:t> једна промена, једно очекивано место.</a:t>
            </a:r>
            <a:endParaRPr lang="en-US" sz="1300" dirty="0"/>
          </a:p>
        </p:txBody>
      </p:sp>
      <p:sp>
        <p:nvSpPr>
          <p:cNvPr id="13" name="Shape 10"/>
          <p:cNvSpPr/>
          <p:nvPr/>
        </p:nvSpPr>
        <p:spPr>
          <a:xfrm>
            <a:off x="6175375" y="3830836"/>
            <a:ext cx="5200650" cy="680641"/>
          </a:xfrm>
          <a:prstGeom prst="roundRect">
            <a:avLst>
              <a:gd name="adj" fmla="val 12595"/>
            </a:avLst>
          </a:prstGeom>
          <a:solidFill>
            <a:srgbClr val="FBF1E6"/>
          </a:solidFill>
          <a:ln w="6350">
            <a:solidFill>
              <a:srgbClr val="E9B98C"/>
            </a:solidFill>
            <a:prstDash val="solid"/>
          </a:ln>
        </p:spPr>
      </p:sp>
      <p:pic>
        <p:nvPicPr>
          <p:cNvPr id="14" name="Image 1" descr="Warning">    </p:cNvPr>
          <p:cNvPicPr>
            <a:picLocks noChangeAspect="1"/>
          </p:cNvPicPr>
          <p:nvPr/>
        </p:nvPicPr>
        <p:blipFill>
          <a:blip r:embed="rId2"/>
          <a:srcRect l="0" r="0" t="0" b="0"/>
          <a:stretch/>
        </p:blipFill>
        <p:spPr>
          <a:xfrm>
            <a:off x="6330950" y="4069556"/>
            <a:ext cx="203200" cy="203200"/>
          </a:xfrm>
          <a:prstGeom prst="rect">
            <a:avLst/>
          </a:prstGeom>
        </p:spPr>
      </p:pic>
      <p:sp>
        <p:nvSpPr>
          <p:cNvPr id="15" name="Text 11"/>
          <p:cNvSpPr/>
          <p:nvPr/>
        </p:nvSpPr>
        <p:spPr>
          <a:xfrm>
            <a:off x="6635750" y="3948311"/>
            <a:ext cx="4722241"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3202D"/>
                </a:solidFill>
                <a:latin typeface="IBM Plex Sans" pitchFamily="34" charset="0"/>
                <a:ea typeface="IBM Plex Sans" pitchFamily="34" charset="-122"/>
                <a:cs typeface="IBM Plex Sans" pitchFamily="34" charset="-120"/>
              </a:rPr>
              <a:t>Расута промена:</a:t>
            </a:r>
            <a:r>
              <a:rPr lang="en-US" sz="1300" dirty="0">
                <a:solidFill>
                  <a:srgbClr val="13202D"/>
                </a:solidFill>
                <a:latin typeface="IBM Plex Sans" pitchFamily="34" charset="0"/>
                <a:ea typeface="IBM Plex Sans" pitchFamily="34" charset="-122"/>
                <a:cs typeface="IBM Plex Sans" pitchFamily="34" charset="-120"/>
              </a:rPr>
              <a:t> једна промена захтева измене у много класа.</a:t>
            </a:r>
            <a:endParaRPr lang="en-US" sz="1300" dirty="0"/>
          </a:p>
        </p:txBody>
      </p:sp>
      <p:sp>
        <p:nvSpPr>
          <p:cNvPr id="16" name="Shape 12"/>
          <p:cNvSpPr/>
          <p:nvPr/>
        </p:nvSpPr>
        <p:spPr>
          <a:xfrm>
            <a:off x="812800" y="6209705"/>
            <a:ext cx="10566400" cy="0"/>
          </a:xfrm>
          <a:prstGeom prst="line">
            <a:avLst/>
          </a:prstGeom>
          <a:noFill/>
          <a:ln w="6350">
            <a:solidFill>
              <a:srgbClr val="D3DAE1"/>
            </a:solidFill>
            <a:prstDash val="solid"/>
          </a:ln>
        </p:spPr>
      </p:sp>
      <p:sp>
        <p:nvSpPr>
          <p:cNvPr id="17"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8"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05 · ПРИМЕНА И 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Типичне грешке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Механичка примена принципа ствара непотребне апстракције и сложеност.</a:t>
            </a:r>
            <a:endParaRPr lang="en-US" sz="1400" dirty="0"/>
          </a:p>
        </p:txBody>
      </p:sp>
      <p:sp>
        <p:nvSpPr>
          <p:cNvPr id="6" name="Shape 4"/>
          <p:cNvSpPr/>
          <p:nvPr/>
        </p:nvSpPr>
        <p:spPr>
          <a:xfrm>
            <a:off x="815975" y="2179836"/>
            <a:ext cx="5200650" cy="887611"/>
          </a:xfrm>
          <a:prstGeom prst="roundRect">
            <a:avLst>
              <a:gd name="adj" fmla="val 11089"/>
            </a:avLst>
          </a:prstGeom>
          <a:solidFill>
            <a:srgbClr val="FCFCFB"/>
          </a:solidFill>
          <a:ln w="6350">
            <a:solidFill>
              <a:srgbClr val="D3DAE1"/>
            </a:solidFill>
            <a:prstDash val="solid"/>
          </a:ln>
        </p:spPr>
      </p:sp>
      <p:sp>
        <p:nvSpPr>
          <p:cNvPr id="7" name="Text 5"/>
          <p:cNvSpPr/>
          <p:nvPr/>
        </p:nvSpPr>
        <p:spPr>
          <a:xfrm>
            <a:off x="10223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5101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Превише интерфејса</a:t>
            </a:r>
            <a:endParaRPr lang="en-US" sz="1600" dirty="0"/>
          </a:p>
        </p:txBody>
      </p:sp>
      <p:sp>
        <p:nvSpPr>
          <p:cNvPr id="9" name="Text 7"/>
          <p:cNvSpPr/>
          <p:nvPr/>
        </p:nvSpPr>
        <p:spPr>
          <a:xfrm>
            <a:off x="15101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апстракције без реалне варијабилности</a:t>
            </a:r>
            <a:endParaRPr lang="en-US" sz="1300" dirty="0"/>
          </a:p>
        </p:txBody>
      </p:sp>
      <p:sp>
        <p:nvSpPr>
          <p:cNvPr id="10" name="Shape 8"/>
          <p:cNvSpPr/>
          <p:nvPr/>
        </p:nvSpPr>
        <p:spPr>
          <a:xfrm>
            <a:off x="6175375" y="2179836"/>
            <a:ext cx="5200650" cy="887611"/>
          </a:xfrm>
          <a:prstGeom prst="roundRect">
            <a:avLst>
              <a:gd name="adj" fmla="val 11089"/>
            </a:avLst>
          </a:prstGeom>
          <a:solidFill>
            <a:srgbClr val="FCFCFB"/>
          </a:solidFill>
          <a:ln w="6350">
            <a:solidFill>
              <a:srgbClr val="D3DAE1"/>
            </a:solidFill>
            <a:prstDash val="solid"/>
          </a:ln>
        </p:spPr>
      </p:sp>
      <p:sp>
        <p:nvSpPr>
          <p:cNvPr id="11" name="Text 9"/>
          <p:cNvSpPr/>
          <p:nvPr/>
        </p:nvSpPr>
        <p:spPr>
          <a:xfrm>
            <a:off x="6381750" y="23608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02</a:t>
            </a:r>
            <a:endParaRPr lang="en-US" sz="2200" dirty="0"/>
          </a:p>
        </p:txBody>
      </p:sp>
      <p:sp>
        <p:nvSpPr>
          <p:cNvPr id="12" name="Text 10"/>
          <p:cNvSpPr/>
          <p:nvPr/>
        </p:nvSpPr>
        <p:spPr>
          <a:xfrm>
            <a:off x="6869509" y="2360811"/>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Погрешно наслеђивање</a:t>
            </a:r>
            <a:endParaRPr lang="en-US" sz="1600" dirty="0"/>
          </a:p>
        </p:txBody>
      </p:sp>
      <p:sp>
        <p:nvSpPr>
          <p:cNvPr id="13" name="Text 11"/>
          <p:cNvSpPr/>
          <p:nvPr/>
        </p:nvSpPr>
        <p:spPr>
          <a:xfrm>
            <a:off x="6869509" y="2655391"/>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подтип не поштује уговор</a:t>
            </a:r>
            <a:endParaRPr lang="en-US" sz="1300" dirty="0"/>
          </a:p>
        </p:txBody>
      </p:sp>
      <p:sp>
        <p:nvSpPr>
          <p:cNvPr id="14" name="Shape 12"/>
          <p:cNvSpPr/>
          <p:nvPr/>
        </p:nvSpPr>
        <p:spPr>
          <a:xfrm>
            <a:off x="815975" y="3226197"/>
            <a:ext cx="5200650" cy="887611"/>
          </a:xfrm>
          <a:prstGeom prst="roundRect">
            <a:avLst>
              <a:gd name="adj" fmla="val 11089"/>
            </a:avLst>
          </a:prstGeom>
          <a:solidFill>
            <a:srgbClr val="FCFCFB"/>
          </a:solidFill>
          <a:ln w="6350">
            <a:solidFill>
              <a:srgbClr val="D3DAE1"/>
            </a:solidFill>
            <a:prstDash val="solid"/>
          </a:ln>
        </p:spPr>
      </p:sp>
      <p:sp>
        <p:nvSpPr>
          <p:cNvPr id="15" name="Text 13"/>
          <p:cNvSpPr/>
          <p:nvPr/>
        </p:nvSpPr>
        <p:spPr>
          <a:xfrm>
            <a:off x="10223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03</a:t>
            </a:r>
            <a:endParaRPr lang="en-US" sz="2200" dirty="0"/>
          </a:p>
        </p:txBody>
      </p:sp>
      <p:sp>
        <p:nvSpPr>
          <p:cNvPr id="16" name="Text 14"/>
          <p:cNvSpPr/>
          <p:nvPr/>
        </p:nvSpPr>
        <p:spPr>
          <a:xfrm>
            <a:off x="1510109" y="3407172"/>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Anemic domain</a:t>
            </a:r>
            <a:endParaRPr lang="en-US" sz="1600" dirty="0"/>
          </a:p>
        </p:txBody>
      </p:sp>
      <p:sp>
        <p:nvSpPr>
          <p:cNvPr id="17" name="Text 15"/>
          <p:cNvSpPr/>
          <p:nvPr/>
        </p:nvSpPr>
        <p:spPr>
          <a:xfrm>
            <a:off x="1510109" y="3701752"/>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сва правила су у сервисима</a:t>
            </a:r>
            <a:endParaRPr lang="en-US" sz="1300" dirty="0"/>
          </a:p>
        </p:txBody>
      </p:sp>
      <p:sp>
        <p:nvSpPr>
          <p:cNvPr id="18" name="Shape 16"/>
          <p:cNvSpPr/>
          <p:nvPr/>
        </p:nvSpPr>
        <p:spPr>
          <a:xfrm>
            <a:off x="6175375" y="3226197"/>
            <a:ext cx="5200650" cy="887611"/>
          </a:xfrm>
          <a:prstGeom prst="roundRect">
            <a:avLst>
              <a:gd name="adj" fmla="val 11089"/>
            </a:avLst>
          </a:prstGeom>
          <a:solidFill>
            <a:srgbClr val="FCFCFB"/>
          </a:solidFill>
          <a:ln w="6350">
            <a:solidFill>
              <a:srgbClr val="D3DAE1"/>
            </a:solidFill>
            <a:prstDash val="solid"/>
          </a:ln>
        </p:spPr>
      </p:sp>
      <p:sp>
        <p:nvSpPr>
          <p:cNvPr id="19" name="Text 17"/>
          <p:cNvSpPr/>
          <p:nvPr/>
        </p:nvSpPr>
        <p:spPr>
          <a:xfrm>
            <a:off x="6381750" y="340717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04</a:t>
            </a:r>
            <a:endParaRPr lang="en-US" sz="2200" dirty="0"/>
          </a:p>
        </p:txBody>
      </p:sp>
      <p:sp>
        <p:nvSpPr>
          <p:cNvPr id="20" name="Text 18"/>
          <p:cNvSpPr/>
          <p:nvPr/>
        </p:nvSpPr>
        <p:spPr>
          <a:xfrm>
            <a:off x="6869509" y="3407172"/>
            <a:ext cx="442914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Framework у језгру</a:t>
            </a:r>
            <a:endParaRPr lang="en-US" sz="1600" dirty="0"/>
          </a:p>
        </p:txBody>
      </p:sp>
      <p:sp>
        <p:nvSpPr>
          <p:cNvPr id="21" name="Text 19"/>
          <p:cNvSpPr/>
          <p:nvPr/>
        </p:nvSpPr>
        <p:spPr>
          <a:xfrm>
            <a:off x="6869509" y="3701752"/>
            <a:ext cx="44291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Domain зависи од инфраструктуре</a:t>
            </a:r>
            <a:endParaRPr lang="en-US" sz="1300" dirty="0"/>
          </a:p>
        </p:txBody>
      </p:sp>
      <p:sp>
        <p:nvSpPr>
          <p:cNvPr id="22" name="Shape 20"/>
          <p:cNvSpPr/>
          <p:nvPr/>
        </p:nvSpPr>
        <p:spPr>
          <a:xfrm>
            <a:off x="812800" y="4370983"/>
            <a:ext cx="10566400" cy="783530"/>
          </a:xfrm>
          <a:prstGeom prst="roundRect">
            <a:avLst>
              <a:gd name="adj" fmla="val 12967"/>
            </a:avLst>
          </a:prstGeom>
          <a:solidFill>
            <a:srgbClr val="F0E5E5"/>
          </a:solidFill>
          <a:ln/>
        </p:spPr>
      </p:sp>
      <p:sp>
        <p:nvSpPr>
          <p:cNvPr id="23" name="Shape 21"/>
          <p:cNvSpPr/>
          <p:nvPr/>
        </p:nvSpPr>
        <p:spPr>
          <a:xfrm>
            <a:off x="812800" y="4370983"/>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B0213C"/>
          </a:solidFill>
          <a:ln/>
        </p:spPr>
      </p:sp>
      <p:sp>
        <p:nvSpPr>
          <p:cNvPr id="24" name="Text 22"/>
          <p:cNvSpPr/>
          <p:nvPr/>
        </p:nvSpPr>
        <p:spPr>
          <a:xfrm>
            <a:off x="1054100" y="452338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213C"/>
                </a:solidFill>
                <a:latin typeface="IBM Plex Mono" pitchFamily="49" charset="0"/>
                <a:ea typeface="IBM Plex Mono" pitchFamily="49" charset="-122"/>
                <a:cs typeface="IBM Plex Mono" pitchFamily="49" charset="-120"/>
              </a:rPr>
              <a:t>НАПОМЕНА</a:t>
            </a:r>
            <a:endParaRPr lang="en-US" sz="1200" dirty="0"/>
          </a:p>
        </p:txBody>
      </p:sp>
      <p:sp>
        <p:nvSpPr>
          <p:cNvPr id="25" name="Text 23"/>
          <p:cNvSpPr/>
          <p:nvPr/>
        </p:nvSpPr>
        <p:spPr>
          <a:xfrm>
            <a:off x="1054100" y="476210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Принцип се примењује када решава постојећи проблем, а не зато што је познат.</a:t>
            </a:r>
            <a:endParaRPr lang="en-US" sz="1400" dirty="0"/>
          </a:p>
        </p:txBody>
      </p:sp>
      <p:sp>
        <p:nvSpPr>
          <p:cNvPr id="26" name="Shape 24"/>
          <p:cNvSpPr/>
          <p:nvPr/>
        </p:nvSpPr>
        <p:spPr>
          <a:xfrm>
            <a:off x="812800" y="6209705"/>
            <a:ext cx="10566400" cy="0"/>
          </a:xfrm>
          <a:prstGeom prst="line">
            <a:avLst/>
          </a:prstGeom>
          <a:noFill/>
          <a:ln w="6350">
            <a:solidFill>
              <a:srgbClr val="D3DAE1"/>
            </a:solidFill>
            <a:prstDash val="solid"/>
          </a:ln>
        </p:spPr>
      </p:sp>
      <p:sp>
        <p:nvSpPr>
          <p:cNvPr id="27"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B0213C"/>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4E0E4"/>
                </a:solidFill>
                <a:latin typeface="IBM Plex Mono" pitchFamily="49" charset="0"/>
                <a:ea typeface="IBM Plex Mono" pitchFamily="49" charset="-122"/>
                <a:cs typeface="IBM Plex Mono" pitchFamily="49" charset="-120"/>
              </a:rPr>
              <a:t>05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E0E4"/>
                </a:solidFill>
                <a:latin typeface="IBM Plex Sans" pitchFamily="34" charset="0"/>
                <a:ea typeface="IBM Plex Sans" pitchFamily="34" charset="-122"/>
                <a:cs typeface="IBM Plex Sans" pitchFamily="34" charset="-120"/>
              </a:rPr>
              <a:t>SOLID и Clean Architecture штите разумљивост, заменљивост и проверљивост система.</a:t>
            </a:r>
            <a:endParaRPr lang="en-US" sz="1500" dirty="0"/>
          </a:p>
        </p:txBody>
      </p:sp>
      <p:sp>
        <p:nvSpPr>
          <p:cNvPr id="5" name="Text 3"/>
          <p:cNvSpPr/>
          <p:nvPr>
            <p:ph type="title"/>
          </p:nvPr>
        </p:nvSpPr>
        <p:spPr>
          <a:xfrm>
            <a:off x="812800" y="2475706"/>
            <a:ext cx="10203180" cy="1514872"/>
          </a:xfrm>
          <a:prstGeom prst="rect">
            <a:avLst/>
          </a:prstGeom>
          <a:noFill/>
          <a:ln/>
        </p:spPr>
        <p:txBody>
          <a:bodyPr wrap="square" lIns="0" tIns="0" rIns="0" bIns="0" rtlCol="0" anchor="t">
            <a:normAutofit/>
          </a:bodyPr>
          <a:lstStyle/>
          <a:p>
            <a:pPr algn="l" indent="0" marL="0">
              <a:lnSpc>
                <a:spcPts val="3910"/>
              </a:lnSpc>
              <a:buNone/>
            </a:pPr>
            <a:r>
              <a:rPr lang="en-US" sz="3400" b="1" i="0" spc="-75" kern="0" dirty="0">
                <a:solidFill>
                  <a:srgbClr val="FCFCFB"/>
                </a:solidFill>
                <a:latin typeface="IBM Plex Sans" pitchFamily="34" charset="0"/>
                <a:ea typeface="IBM Plex Sans" pitchFamily="34" charset="-122"/>
                <a:cs typeface="IBM Plex Sans" pitchFamily="34" charset="-120"/>
              </a:rPr>
              <a:t>Добар дизајн није онај који има највише слојева, већ онај у коме се одговорност, смер зависности и последица промене могу јасно објаснити.</a:t>
            </a:r>
            <a:endParaRPr lang="en-US" sz="3400" dirty="0"/>
          </a:p>
        </p:txBody>
      </p:sp>
      <p:sp>
        <p:nvSpPr>
          <p:cNvPr id="6" name="Text 4"/>
          <p:cNvSpPr/>
          <p:nvPr/>
        </p:nvSpPr>
        <p:spPr>
          <a:xfrm>
            <a:off x="815975" y="5347097"/>
            <a:ext cx="1266230" cy="321270"/>
          </a:xfrm>
          <a:prstGeom prst="roundRect">
            <a:avLst>
              <a:gd name="adj" fmla="val 50000"/>
            </a:avLst>
          </a:prstGeom>
          <a:noFill/>
          <a:ln w="6350">
            <a:solidFill>
              <a:srgbClr val="E2ADB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одговорност</a:t>
            </a:r>
            <a:endParaRPr lang="en-US" sz="1200" dirty="0"/>
          </a:p>
        </p:txBody>
      </p:sp>
      <p:sp>
        <p:nvSpPr>
          <p:cNvPr id="7" name="Text 5"/>
          <p:cNvSpPr/>
          <p:nvPr/>
        </p:nvSpPr>
        <p:spPr>
          <a:xfrm>
            <a:off x="2186980" y="5401072"/>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2ADB7"/>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2444155" y="5347097"/>
            <a:ext cx="809030" cy="321270"/>
          </a:xfrm>
          <a:prstGeom prst="roundRect">
            <a:avLst>
              <a:gd name="adj" fmla="val 50000"/>
            </a:avLst>
          </a:prstGeom>
          <a:noFill/>
          <a:ln w="6350">
            <a:solidFill>
              <a:srgbClr val="E2ADB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уговор</a:t>
            </a:r>
            <a:endParaRPr lang="en-US" sz="1200" dirty="0"/>
          </a:p>
        </p:txBody>
      </p:sp>
      <p:sp>
        <p:nvSpPr>
          <p:cNvPr id="9" name="Text 7"/>
          <p:cNvSpPr/>
          <p:nvPr/>
        </p:nvSpPr>
        <p:spPr>
          <a:xfrm>
            <a:off x="3357959" y="5401072"/>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2ADB7"/>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3615134" y="5347097"/>
            <a:ext cx="1631950" cy="321270"/>
          </a:xfrm>
          <a:prstGeom prst="roundRect">
            <a:avLst>
              <a:gd name="adj" fmla="val 50000"/>
            </a:avLst>
          </a:prstGeom>
          <a:noFill/>
          <a:ln w="6350">
            <a:solidFill>
              <a:srgbClr val="E2ADB7"/>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смер зависности</a:t>
            </a:r>
            <a:endParaRPr lang="en-US" sz="1200" dirty="0"/>
          </a:p>
        </p:txBody>
      </p:sp>
      <p:sp>
        <p:nvSpPr>
          <p:cNvPr id="11" name="Text 9"/>
          <p:cNvSpPr/>
          <p:nvPr/>
        </p:nvSpPr>
        <p:spPr>
          <a:xfrm>
            <a:off x="5351859" y="5401072"/>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2ADB7"/>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5605859" y="5350272"/>
            <a:ext cx="2082800"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B0213C"/>
                </a:solidFill>
                <a:latin typeface="IBM Plex Mono" pitchFamily="49" charset="0"/>
                <a:ea typeface="IBM Plex Mono" pitchFamily="49" charset="-122"/>
                <a:cs typeface="IBM Plex Mono" pitchFamily="49" charset="-120"/>
              </a:rPr>
              <a:t>локализована промена</a:t>
            </a:r>
            <a:endParaRPr lang="en-US" sz="1200" dirty="0"/>
          </a:p>
        </p:txBody>
      </p:sp>
      <p:sp>
        <p:nvSpPr>
          <p:cNvPr id="13" name="Text 11"/>
          <p:cNvSpPr/>
          <p:nvPr/>
        </p:nvSpPr>
        <p:spPr>
          <a:xfrm>
            <a:off x="8394700" y="5173464"/>
            <a:ext cx="3074035"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E0E4"/>
                </a:solidFill>
                <a:latin typeface="IBM Plex Sans" pitchFamily="34" charset="0"/>
                <a:ea typeface="IBM Plex Sans" pitchFamily="34" charset="-122"/>
                <a:cs typeface="IBM Plex Sans" pitchFamily="34" charset="-120"/>
              </a:rPr>
              <a:t>Наредна вежба разматра положај пословне логике у доменском и апликационом слоју.</a:t>
            </a:r>
            <a:endParaRPr lang="en-US" sz="1300" dirty="0"/>
          </a:p>
        </p:txBody>
      </p:sp>
      <p:sp>
        <p:nvSpPr>
          <p:cNvPr id="14" name="Shape 12"/>
          <p:cNvSpPr/>
          <p:nvPr/>
        </p:nvSpPr>
        <p:spPr>
          <a:xfrm>
            <a:off x="812800" y="6209705"/>
            <a:ext cx="10566400" cy="0"/>
          </a:xfrm>
          <a:prstGeom prst="line">
            <a:avLst/>
          </a:prstGeom>
          <a:noFill/>
          <a:ln w="6350">
            <a:solidFill>
              <a:srgbClr val="C15267"/>
            </a:solidFill>
            <a:prstDash val="solid"/>
          </a:ln>
        </p:spPr>
      </p:sp>
      <p:sp>
        <p:nvSpPr>
          <p:cNvPr id="15"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0E4"/>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4E0E4"/>
                </a:solidFill>
                <a:latin typeface="IBM Plex Mono" pitchFamily="49" charset="0"/>
                <a:ea typeface="IBM Plex Mono" pitchFamily="49" charset="-122"/>
                <a:cs typeface="IBM Plex Mono" pitchFamily="49"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B0213C"/>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213C"/>
                </a:solidFill>
                <a:latin typeface="IBM Plex Mono" pitchFamily="49" charset="0"/>
                <a:ea typeface="IBM Plex Mono" pitchFamily="49" charset="-122"/>
                <a:cs typeface="IBM Plex Mono" pitchFamily="49" charset="-120"/>
              </a:rPr>
              <a:t>05 · ПРИМЕНА И 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Припрема за наредну вежбу</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Наредна вежба разматра положај пословне логике и случајева употребе.</a:t>
            </a:r>
            <a:endParaRPr lang="en-US" sz="1400" dirty="0"/>
          </a:p>
        </p:txBody>
      </p:sp>
      <p:sp>
        <p:nvSpPr>
          <p:cNvPr id="6" name="Shape 4"/>
          <p:cNvSpPr/>
          <p:nvPr/>
        </p:nvSpPr>
        <p:spPr>
          <a:xfrm>
            <a:off x="815975" y="2129036"/>
            <a:ext cx="2025650" cy="1657052"/>
          </a:xfrm>
          <a:prstGeom prst="roundRect">
            <a:avLst>
              <a:gd name="adj" fmla="val 5940"/>
            </a:avLst>
          </a:prstGeom>
          <a:solidFill>
            <a:srgbClr val="FCFCFB"/>
          </a:solidFill>
          <a:ln w="6350">
            <a:solidFill>
              <a:srgbClr val="D3DAE1"/>
            </a:solidFill>
            <a:prstDash val="solid"/>
          </a:ln>
        </p:spPr>
      </p:sp>
      <p:sp>
        <p:nvSpPr>
          <p:cNvPr id="7" name="Text 5"/>
          <p:cNvSpPr/>
          <p:nvPr/>
        </p:nvSpPr>
        <p:spPr>
          <a:xfrm>
            <a:off x="9842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984250" y="2693491"/>
            <a:ext cx="17399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Изабрати један use-case у свом домену.</a:t>
            </a:r>
            <a:endParaRPr lang="en-US" sz="1300" dirty="0"/>
          </a:p>
        </p:txBody>
      </p:sp>
      <p:sp>
        <p:nvSpPr>
          <p:cNvPr id="9" name="Shape 7"/>
          <p:cNvSpPr/>
          <p:nvPr/>
        </p:nvSpPr>
        <p:spPr>
          <a:xfrm>
            <a:off x="2949575" y="2129036"/>
            <a:ext cx="2025650" cy="1657052"/>
          </a:xfrm>
          <a:prstGeom prst="roundRect">
            <a:avLst>
              <a:gd name="adj" fmla="val 5940"/>
            </a:avLst>
          </a:prstGeom>
          <a:solidFill>
            <a:srgbClr val="FCFCFB"/>
          </a:solidFill>
          <a:ln w="6350">
            <a:solidFill>
              <a:srgbClr val="D3DAE1"/>
            </a:solidFill>
            <a:prstDash val="solid"/>
          </a:ln>
        </p:spPr>
      </p:sp>
      <p:sp>
        <p:nvSpPr>
          <p:cNvPr id="10" name="Text 8"/>
          <p:cNvSpPr/>
          <p:nvPr/>
        </p:nvSpPr>
        <p:spPr>
          <a:xfrm>
            <a:off x="31178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02</a:t>
            </a:r>
            <a:endParaRPr lang="en-US" sz="2200" dirty="0"/>
          </a:p>
        </p:txBody>
      </p:sp>
      <p:sp>
        <p:nvSpPr>
          <p:cNvPr id="11" name="Text 9"/>
          <p:cNvSpPr/>
          <p:nvPr/>
        </p:nvSpPr>
        <p:spPr>
          <a:xfrm>
            <a:off x="3117850" y="2693491"/>
            <a:ext cx="1739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Означити Domain, Application и Infrastructure одговорности.</a:t>
            </a:r>
            <a:endParaRPr lang="en-US" sz="1300" dirty="0"/>
          </a:p>
        </p:txBody>
      </p:sp>
      <p:sp>
        <p:nvSpPr>
          <p:cNvPr id="12" name="Shape 10"/>
          <p:cNvSpPr/>
          <p:nvPr/>
        </p:nvSpPr>
        <p:spPr>
          <a:xfrm>
            <a:off x="5083175" y="2129036"/>
            <a:ext cx="2025650" cy="1657052"/>
          </a:xfrm>
          <a:prstGeom prst="roundRect">
            <a:avLst>
              <a:gd name="adj" fmla="val 5940"/>
            </a:avLst>
          </a:prstGeom>
          <a:solidFill>
            <a:srgbClr val="FCFCFB"/>
          </a:solidFill>
          <a:ln w="6350">
            <a:solidFill>
              <a:srgbClr val="D3DAE1"/>
            </a:solidFill>
            <a:prstDash val="solid"/>
          </a:ln>
        </p:spPr>
      </p:sp>
      <p:sp>
        <p:nvSpPr>
          <p:cNvPr id="13" name="Text 11"/>
          <p:cNvSpPr/>
          <p:nvPr/>
        </p:nvSpPr>
        <p:spPr>
          <a:xfrm>
            <a:off x="52514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03</a:t>
            </a:r>
            <a:endParaRPr lang="en-US" sz="2200" dirty="0"/>
          </a:p>
        </p:txBody>
      </p:sp>
      <p:sp>
        <p:nvSpPr>
          <p:cNvPr id="14" name="Text 12"/>
          <p:cNvSpPr/>
          <p:nvPr/>
        </p:nvSpPr>
        <p:spPr>
          <a:xfrm>
            <a:off x="52514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Пронаћи једну класу са нејасном одговорношћу.</a:t>
            </a:r>
            <a:endParaRPr lang="en-US" sz="1300" dirty="0"/>
          </a:p>
        </p:txBody>
      </p:sp>
      <p:sp>
        <p:nvSpPr>
          <p:cNvPr id="15" name="Shape 13"/>
          <p:cNvSpPr/>
          <p:nvPr/>
        </p:nvSpPr>
        <p:spPr>
          <a:xfrm>
            <a:off x="7216775" y="2129036"/>
            <a:ext cx="2025650" cy="1657052"/>
          </a:xfrm>
          <a:prstGeom prst="roundRect">
            <a:avLst>
              <a:gd name="adj" fmla="val 5940"/>
            </a:avLst>
          </a:prstGeom>
          <a:solidFill>
            <a:srgbClr val="FCFCFB"/>
          </a:solidFill>
          <a:ln w="6350">
            <a:solidFill>
              <a:srgbClr val="D3DAE1"/>
            </a:solidFill>
            <a:prstDash val="solid"/>
          </a:ln>
        </p:spPr>
      </p:sp>
      <p:sp>
        <p:nvSpPr>
          <p:cNvPr id="16" name="Text 14"/>
          <p:cNvSpPr/>
          <p:nvPr/>
        </p:nvSpPr>
        <p:spPr>
          <a:xfrm>
            <a:off x="73850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B0213C"/>
                </a:solidFill>
                <a:latin typeface="IBM Plex Mono" pitchFamily="49" charset="0"/>
                <a:ea typeface="IBM Plex Mono" pitchFamily="49" charset="-122"/>
                <a:cs typeface="IBM Plex Mono" pitchFamily="49" charset="-120"/>
              </a:rPr>
              <a:t>04</a:t>
            </a:r>
            <a:endParaRPr lang="en-US" sz="2200" dirty="0"/>
          </a:p>
        </p:txBody>
      </p:sp>
      <p:sp>
        <p:nvSpPr>
          <p:cNvPr id="17" name="Text 15"/>
          <p:cNvSpPr/>
          <p:nvPr/>
        </p:nvSpPr>
        <p:spPr>
          <a:xfrm>
            <a:off x="73850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Предложити refactoring са образложењем.</a:t>
            </a:r>
            <a:endParaRPr lang="en-US" sz="1300" dirty="0"/>
          </a:p>
        </p:txBody>
      </p:sp>
      <p:sp>
        <p:nvSpPr>
          <p:cNvPr id="18" name="Shape 16"/>
          <p:cNvSpPr/>
          <p:nvPr/>
        </p:nvSpPr>
        <p:spPr>
          <a:xfrm>
            <a:off x="9350375" y="2129036"/>
            <a:ext cx="2025650" cy="1657052"/>
          </a:xfrm>
          <a:prstGeom prst="roundRect">
            <a:avLst>
              <a:gd name="adj" fmla="val 5940"/>
            </a:avLst>
          </a:prstGeom>
          <a:solidFill>
            <a:srgbClr val="FCFCFB"/>
          </a:solidFill>
          <a:ln w="6350">
            <a:solidFill>
              <a:srgbClr val="D3DAE1"/>
            </a:solidFill>
            <a:prstDash val="solid"/>
          </a:ln>
        </p:spPr>
      </p:sp>
      <p:sp>
        <p:nvSpPr>
          <p:cNvPr id="19" name="Text 17"/>
          <p:cNvSpPr/>
          <p:nvPr/>
        </p:nvSpPr>
        <p:spPr>
          <a:xfrm>
            <a:off x="95186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05</a:t>
            </a:r>
            <a:endParaRPr lang="en-US" sz="2200" dirty="0"/>
          </a:p>
        </p:txBody>
      </p:sp>
      <p:sp>
        <p:nvSpPr>
          <p:cNvPr id="20" name="Text 18"/>
          <p:cNvSpPr/>
          <p:nvPr/>
        </p:nvSpPr>
        <p:spPr>
          <a:xfrm>
            <a:off x="9518650" y="2693491"/>
            <a:ext cx="17399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Припремити пример за code review.</a:t>
            </a:r>
            <a:endParaRPr lang="en-US" sz="1300" dirty="0"/>
          </a:p>
        </p:txBody>
      </p:sp>
      <p:sp>
        <p:nvSpPr>
          <p:cNvPr id="21" name="Shape 19"/>
          <p:cNvSpPr/>
          <p:nvPr/>
        </p:nvSpPr>
        <p:spPr>
          <a:xfrm>
            <a:off x="812800" y="4017863"/>
            <a:ext cx="10566400" cy="451445"/>
          </a:xfrm>
          <a:prstGeom prst="roundRect">
            <a:avLst>
              <a:gd name="adj" fmla="val 19692"/>
            </a:avLst>
          </a:prstGeom>
          <a:solidFill>
            <a:srgbClr val="F0E5E5"/>
          </a:solidFill>
          <a:ln/>
        </p:spPr>
      </p:sp>
      <p:pic>
        <p:nvPicPr>
          <p:cNvPr id="22" name="Image 0" descr="Search">    </p:cNvPr>
          <p:cNvPicPr>
            <a:picLocks noChangeAspect="1"/>
          </p:cNvPicPr>
          <p:nvPr/>
        </p:nvPicPr>
        <p:blipFill>
          <a:blip r:embed="rId1"/>
          <a:srcRect l="0" r="0" t="0" b="0"/>
          <a:stretch/>
        </p:blipFill>
        <p:spPr>
          <a:xfrm>
            <a:off x="990600" y="4141986"/>
            <a:ext cx="203200" cy="203200"/>
          </a:xfrm>
          <a:prstGeom prst="rect">
            <a:avLst/>
          </a:prstGeom>
        </p:spPr>
      </p:pic>
      <p:sp>
        <p:nvSpPr>
          <p:cNvPr id="23" name="Text 20"/>
          <p:cNvSpPr/>
          <p:nvPr/>
        </p:nvSpPr>
        <p:spPr>
          <a:xfrm>
            <a:off x="1320800" y="4132163"/>
            <a:ext cx="1017701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Питања за преглед кода са слајда 27 користити као контролну листу.</a:t>
            </a:r>
            <a:endParaRPr lang="en-US" sz="1300" dirty="0"/>
          </a:p>
        </p:txBody>
      </p:sp>
      <p:sp>
        <p:nvSpPr>
          <p:cNvPr id="24" name="Shape 21"/>
          <p:cNvSpPr/>
          <p:nvPr/>
        </p:nvSpPr>
        <p:spPr>
          <a:xfrm>
            <a:off x="812800" y="6209705"/>
            <a:ext cx="10566400" cy="0"/>
          </a:xfrm>
          <a:prstGeom prst="line">
            <a:avLst/>
          </a:prstGeom>
          <a:noFill/>
          <a:ln w="6350">
            <a:solidFill>
              <a:srgbClr val="D3DAE1"/>
            </a:solidFill>
            <a:prstDash val="solid"/>
          </a:ln>
        </p:spPr>
      </p:sp>
      <p:sp>
        <p:nvSpPr>
          <p:cNvPr id="25"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6"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32</a:t>
            </a:r>
            <a:endParaRPr lang="en-US" sz="1200" dirty="0"/>
          </a:p>
        </p:txBody>
      </p:sp>
    </p:spTree>
  </p:cSld>
  <p:clrMapOvr>
    <a:masterClrMapping/>
  </p:clrMapOvr>
</p:sld>
</file>

<file path=ppt/theme/theme1.xml><?xml version="1.0" encoding="utf-8"?>
<a:theme xmlns:a="http://schemas.openxmlformats.org/drawingml/2006/main" name="SOLID принципи и Clean Architecture">
  <a:themeElements>
    <a:clrScheme name="SOLID принципи и Clean Architecture">
      <a:dk1>
        <a:srgbClr val="13202D"/>
      </a:dk1>
      <a:lt1>
        <a:srgbClr val="F6F7F5"/>
      </a:lt1>
      <a:dk2>
        <a:srgbClr val="4C565F"/>
      </a:dk2>
      <a:lt2>
        <a:srgbClr val="DFE2E1"/>
      </a:lt2>
      <a:accent1>
        <a:srgbClr val="B0213C"/>
      </a:accent1>
      <a:accent2>
        <a:srgbClr val="A8520A"/>
      </a:accent2>
      <a:accent3>
        <a:srgbClr val="E2ADB7"/>
      </a:accent3>
      <a:accent4>
        <a:srgbClr val="E07B1F"/>
      </a:accent4>
      <a:accent5>
        <a:srgbClr val="44505D"/>
      </a:accent5>
      <a:accent6>
        <a:srgbClr val="5E6975"/>
      </a:accent6>
      <a:hlink>
        <a:srgbClr val="0563C1"/>
      </a:hlink>
      <a:folHlink>
        <a:srgbClr val="954F72"/>
      </a:folHlink>
    </a:clrScheme>
    <a:fontScheme name="SOLID принципи и Clean Architectu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SOLID принципи и Clean Architecture</dc:title>
  <dc:subject/>
  <dc:creator/>
  <cp:lastModifiedBy/>
  <cp:revision>1</cp:revision>
  <dcterms:created xsi:type="dcterms:W3CDTF">2026-10-09T16:48:07Z</dcterms:created>
  <dcterms:modified xsi:type="dcterms:W3CDTF">2026-10-09T16:48:07Z</dcterms:modified>
</cp:coreProperties>
</file>