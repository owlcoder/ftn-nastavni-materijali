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Уводна презентација предмета Елементи развоја софтвера. Прегледамо организацију наставе, начин полагања, расподелу пројектних поена, обавезе тима и појединца, као и одбрану пројекта и усмени испит.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Настава се састоји од предавања, на којима се обрађују теоријске основе, и вежби, на којима се ради практично и на пројекту. Присуство на рачунарским вежбама је обавезно. Више од два неоправдана изостанка искључују право на одбрану пројекта. Сви материјали и обавештења налазе се на званичној страници предмета.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Пројектни део носи највише 71 поен. Са 40 поена или мање пројекат није положен. Са 41 до 50 поена усмени испит је обавезан и потребно је достићи најмање 51 поен укупно. Са 51 поеном или више студент може уписати оцену без усменог испита. Усмени испит мења укупан резултат у распону од минус 20 до плус 30 поена, а коначна оцена се одређује према скали од 51 до 100 поена.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Максималан резултат на пројектном делу износи 71 поен. Основне обавезе обухватају Tapiz Boards, Agile и Scrum са 10 поена, SOLID принципе и Clean Architecture са 16 поена, пословну логику и аутоматизовано тестирање са 5 поена и КТ1 у термину 4. вежбе са 10 поена, укупно 41 поен. Интероперабилност и усклађеност уговорних страна, правилна и контролисана употреба AI алата и КТ2 у термину 8. вежбе носе по 10 поена, укупно 30. Контролне тачке су већ укључене у максималних 71 поен.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Током семестра реализују се две контролне тачке, свака са највише 10 поена. КТ1, основна имплементација, одржава се у термину 4. вежбе и проверава репозиторијум, покретање, Tapiz backlog, поделу рада, доменски модел, пословна правила и API/contract границе свих додељених целина. Потребни су најмање један извршив функционални ток и аутоматизовани тест значајног правила, уз договор са зависним тимовима или контролисани stub. КТ2, завршна демонстрација, одржава се у термину 8. вежбе. Обухвата обавезне случајеве употребе, позитивне и негативне тестове, интеграцију, build/CI, прегледане Pull Request-ове и поновљиво покретање са demo подацима. Проверавају се власништво над подацима, права приступа и tenant изолација где је применљиво. Укупних 20 поена већ је укључено у максимум од 71 пројектног поена. Контролне тачке и термини одбране пројекта су одвојене обавезе. До пет додатних поена за активност допуњује пројектни резултат до максималних 71 поен.</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Тим чини од шест до десет студената. Предметни асистент сваком тиму додељује пројектну целину за коју тим преузима примарну одговорност и одобрава приступ заједничком GitHub репозиторијуму. Сваки студент мора доставити тачно GitHub корисничко име, имати проверљив допринос у историји измена, умети да образложи свој рад на одбрани и поделити јавни линк ка Tapiz Boards табли.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Да би пројектна целина била прихваћена, мора имати јасну границу одговорности и јавни уговор према другим целинама. Обавезни су аутоматизовани тестови кључних правила, а по потреби и интеграциони, уговорни и регресиони тестови. Документација обухвата случајеве употребе, критеријуме прихватања, јавне уговоре, записе о архитектонским одлукама и упутство за покретање. Сваки студент посебно документује свој допринос.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Репозиторијум је главни доказ рада. Развојни материјали обухватају backlog са критеријумима прихватања, Git историју са прегледима Pull Request-ова, записе о значајним архитектонским одлукама и упутство за локално покретање. Проверљиви резултати су извршив пројекат, аутоматизовани тестови кључних правила, резултати компилације и тестирања и документација јавних уговора између модула.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Индивидуални допринос мора бити следљив кроз четири корака. Студент наводи захтев за који је одговоран, приказује измену кода кроз commit-е и Pull Request, образлаже архитектонску или дизајнерску одлуку и показује проверу резултата тестом, build-ом или демонстрационим сценаријем.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Целина се прихвата тек када се укључи у заједничко решење, а да не наруши постојеће понашање. Технички, то значи дефинисане и верзионисане јавне уговоре, исправан смер зависности, успешан build и тестове, као и конфигурацију без локалних и тајних података. На одбрани студент покреће функционалност у целом решењу, образлаже интеграционе тачке, показује тестове за граничне и неуспешне сценарије и јасно приказује свој допринос.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Пројекат се брани у предиспитном термину, у првој половини децембра, или у редовном термину, у последњој недељи зимског семестра. На одбрани се проверавају функционалност пројекта и испуњеност критеријума бодовања, разумевање донетих одлука, сопствени допринос и теоријска питања из градива. Пројектни поени важе до краја текуће академске године.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Студент са 41 до 50 пројектних поена мора изаћи на усмени испит и на њему достићи најмање 51 поен укупно. Студент са 51 до 71 поеном може прихватити оцену на основу пројекта. Усмени испит мења укупан резултат за највише 20 поена наниже или 30 поена навише. Ако студент пријави испит, а не приступи усменом делу, оцена се формира на основу пројектних поена.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Потпис се стиче када су испуњене све предиспитне обавезе. Пројектни поени важе до краја текуће академске године и не преносе се у наредну. Студент који до тада не положи испит поново похађа предмет и изнова испуњава предиспитне обавезе.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6" Type="http://schemas.openxmlformats.org/officeDocument/2006/relationships/hyperlink" Target="https://www.eepsi.ftn.uns.ac.rs/group/elementi-razvoja-softvera/"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ns0:Relationships xmlns:ns0="http://schemas.openxmlformats.org/package/2006/relationships"><ns0:Relationship Type="http://schemas.openxmlformats.org/officeDocument/2006/relationships/slideLayout" Target="../slideLayouts/slideLayout2.xml" Id="R062b2db9bff74830" /><ns0:Relationship Type="http://schemas.openxmlformats.org/officeDocument/2006/relationships/notesSlide" Target="../notesSlides/notesSlide4.xml" Id="R5b4417e635964103" /></ns0:Relationships>
</file>

<file path=ppt/slides/_rels/slide5.xml.rels><?xml version='1.0' encoding='utf-8'?>
<ns0:Relationships xmlns:ns0="http://schemas.openxmlformats.org/package/2006/relationships"><ns0:Relationship Type="http://schemas.openxmlformats.org/officeDocument/2006/relationships/slideLayout" Target="../slideLayouts/slideLayout2.xml" Id="R98c3f6f96ac546b7" /><ns0:Relationship Type="http://schemas.openxmlformats.org/officeDocument/2006/relationships/image" Target="../media/image-5-2.png" Id="R10b785b3b4944f92" /><ns0:Relationship Type="http://schemas.openxmlformats.org/officeDocument/2006/relationships/notesSlide" Target="../notesSlides/notesSlide5.xml" Id="R8242acd7312c4c61" /></ns0: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развојног тока: табла са задацима, Git граф са граном и спајањем и провера са успешним тестовима">    </p:cNvPr>
          <p:cNvPicPr>
            <a:picLocks noChangeAspect="1"/>
          </p:cNvPicPr>
          <p:nvPr/>
        </p:nvPicPr>
        <p:blipFill>
          <a:blip r:embed="rId1"/>
          <a:srcRect l="0" r="0" t="0" b="0"/>
          <a:stretch/>
        </p:blipFill>
        <p:spPr>
          <a:xfrm>
            <a:off x="7848600" y="1270000"/>
            <a:ext cx="3530600" cy="34671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0A5CA8"/>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25214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Основне информације о предмету и пројекту</a:t>
            </a:r>
            <a:endParaRPr lang="en-US" sz="4600" dirty="0"/>
          </a:p>
        </p:txBody>
      </p:sp>
      <p:sp>
        <p:nvSpPr>
          <p:cNvPr id="5" name="Shape 2"/>
          <p:cNvSpPr/>
          <p:nvPr/>
        </p:nvSpPr>
        <p:spPr>
          <a:xfrm>
            <a:off x="812800" y="5375275"/>
            <a:ext cx="6731000" cy="0"/>
          </a:xfrm>
          <a:prstGeom prst="line">
            <a:avLst/>
          </a:prstGeom>
          <a:noFill/>
          <a:ln w="6350">
            <a:solidFill>
              <a:srgbClr val="D3DAE1"/>
            </a:solidFill>
            <a:prstDash val="solid"/>
          </a:ln>
        </p:spPr>
      </p:sp>
      <p:sp>
        <p:nvSpPr>
          <p:cNvPr id="6" name="Text 3"/>
          <p:cNvSpPr/>
          <p:nvPr/>
        </p:nvSpPr>
        <p:spPr>
          <a:xfrm>
            <a:off x="812800" y="5530850"/>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7" name="Text 4"/>
          <p:cNvSpPr/>
          <p:nvPr/>
        </p:nvSpPr>
        <p:spPr>
          <a:xfrm>
            <a:off x="812800" y="5830491"/>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
        <p:nvSpPr>
          <p:cNvPr id="8" name="Text 5"/>
          <p:cNvSpPr/>
          <p:nvPr/>
        </p:nvSpPr>
        <p:spPr>
          <a:xfrm>
            <a:off x="812800" y="2851150"/>
            <a:ext cx="62788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Настава, оцењивање и пројектни рад</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01 · НАСТАВА</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Организација наставе, извођачи и материјали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Подаци за академску годину</a:t>
            </a:r>
            <a:endParaRPr lang="en-US" sz="1400" dirty="0"/>
          </a:p>
        </p:txBody>
      </p:sp>
      <p:sp>
        <p:nvSpPr>
          <p:cNvPr id="6" name="Text 4"/>
          <p:cNvSpPr/>
          <p:nvPr/>
        </p:nvSpPr>
        <p:spPr>
          <a:xfrm>
            <a:off x="812800" y="21766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ОРГАНИЗАЦИЈА НАСТАВЕ</a:t>
            </a:r>
            <a:endParaRPr lang="en-US" sz="1200" dirty="0"/>
          </a:p>
        </p:txBody>
      </p:sp>
      <p:sp>
        <p:nvSpPr>
          <p:cNvPr id="7" name="Shape 5"/>
          <p:cNvSpPr/>
          <p:nvPr/>
        </p:nvSpPr>
        <p:spPr>
          <a:xfrm>
            <a:off x="812800" y="2504281"/>
            <a:ext cx="330200" cy="330200"/>
          </a:xfrm>
          <a:prstGeom prst="roundRect">
            <a:avLst>
              <a:gd name="adj" fmla="val 23077"/>
            </a:avLst>
          </a:prstGeom>
          <a:solidFill>
            <a:srgbClr val="DCE8F4"/>
          </a:solidFill>
          <a:ln/>
        </p:spPr>
      </p:sp>
      <p:pic>
        <p:nvPicPr>
          <p:cNvPr id="8" name="Image 0" descr="GraduationCap">    </p:cNvPr>
          <p:cNvPicPr>
            <a:picLocks noChangeAspect="1"/>
          </p:cNvPicPr>
          <p:nvPr/>
        </p:nvPicPr>
        <p:blipFill>
          <a:blip r:embed="rId1"/>
          <a:srcRect l="0" r="0" t="0" b="0"/>
          <a:stretch/>
        </p:blipFill>
        <p:spPr>
          <a:xfrm>
            <a:off x="882650" y="2574131"/>
            <a:ext cx="190500" cy="190500"/>
          </a:xfrm>
          <a:prstGeom prst="rect">
            <a:avLst/>
          </a:prstGeom>
        </p:spPr>
      </p:pic>
      <p:sp>
        <p:nvSpPr>
          <p:cNvPr id="9" name="Text 6"/>
          <p:cNvSpPr/>
          <p:nvPr/>
        </p:nvSpPr>
        <p:spPr>
          <a:xfrm>
            <a:off x="1270000" y="25493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4505D"/>
                </a:solidFill>
                <a:latin typeface="IBM Plex Sans" pitchFamily="34" charset="0"/>
                <a:ea typeface="IBM Plex Sans" pitchFamily="34" charset="-122"/>
                <a:cs typeface="IBM Plex Sans" pitchFamily="34" charset="-120"/>
              </a:rPr>
              <a:t>Предавања:</a:t>
            </a:r>
            <a:r>
              <a:rPr lang="en-US" sz="1400" dirty="0">
                <a:solidFill>
                  <a:srgbClr val="44505D"/>
                </a:solidFill>
                <a:latin typeface="IBM Plex Sans" pitchFamily="34" charset="0"/>
                <a:ea typeface="IBM Plex Sans" pitchFamily="34" charset="-122"/>
                <a:cs typeface="IBM Plex Sans" pitchFamily="34" charset="-120"/>
              </a:rPr>
              <a:t> теоријске основе</a:t>
            </a:r>
            <a:endParaRPr lang="en-US" sz="1400" dirty="0"/>
          </a:p>
        </p:txBody>
      </p:sp>
      <p:sp>
        <p:nvSpPr>
          <p:cNvPr id="10" name="Shape 7"/>
          <p:cNvSpPr/>
          <p:nvPr/>
        </p:nvSpPr>
        <p:spPr>
          <a:xfrm>
            <a:off x="812800" y="2948781"/>
            <a:ext cx="330200" cy="330200"/>
          </a:xfrm>
          <a:prstGeom prst="roundRect">
            <a:avLst>
              <a:gd name="adj" fmla="val 23077"/>
            </a:avLst>
          </a:prstGeom>
          <a:solidFill>
            <a:srgbClr val="DCE8F4"/>
          </a:solidFill>
          <a:ln/>
        </p:spPr>
      </p:sp>
      <p:pic>
        <p:nvPicPr>
          <p:cNvPr id="11" name="Image 1" descr="Code">    </p:cNvPr>
          <p:cNvPicPr>
            <a:picLocks noChangeAspect="1"/>
          </p:cNvPicPr>
          <p:nvPr/>
        </p:nvPicPr>
        <p:blipFill>
          <a:blip r:embed="rId2"/>
          <a:srcRect l="0" r="0" t="0" b="0"/>
          <a:stretch/>
        </p:blipFill>
        <p:spPr>
          <a:xfrm>
            <a:off x="882650" y="3018631"/>
            <a:ext cx="190500" cy="190500"/>
          </a:xfrm>
          <a:prstGeom prst="rect">
            <a:avLst/>
          </a:prstGeom>
        </p:spPr>
      </p:pic>
      <p:sp>
        <p:nvSpPr>
          <p:cNvPr id="12" name="Text 8"/>
          <p:cNvSpPr/>
          <p:nvPr/>
        </p:nvSpPr>
        <p:spPr>
          <a:xfrm>
            <a:off x="1270000" y="29938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44505D"/>
                </a:solidFill>
                <a:latin typeface="IBM Plex Sans" pitchFamily="34" charset="0"/>
                <a:ea typeface="IBM Plex Sans" pitchFamily="34" charset="-122"/>
                <a:cs typeface="IBM Plex Sans" pitchFamily="34" charset="-120"/>
              </a:rPr>
              <a:t>Вежбе:</a:t>
            </a:r>
            <a:r>
              <a:rPr lang="en-US" sz="1400" dirty="0">
                <a:solidFill>
                  <a:srgbClr val="44505D"/>
                </a:solidFill>
                <a:latin typeface="IBM Plex Sans" pitchFamily="34" charset="0"/>
                <a:ea typeface="IBM Plex Sans" pitchFamily="34" charset="-122"/>
                <a:cs typeface="IBM Plex Sans" pitchFamily="34" charset="-120"/>
              </a:rPr>
              <a:t> практична настава и пројектни рад</a:t>
            </a:r>
            <a:endParaRPr lang="en-US" sz="1400" dirty="0"/>
          </a:p>
        </p:txBody>
      </p:sp>
      <p:sp>
        <p:nvSpPr>
          <p:cNvPr id="13" name="Shape 9"/>
          <p:cNvSpPr/>
          <p:nvPr/>
        </p:nvSpPr>
        <p:spPr>
          <a:xfrm>
            <a:off x="812800" y="3393281"/>
            <a:ext cx="330200" cy="330200"/>
          </a:xfrm>
          <a:prstGeom prst="roundRect">
            <a:avLst>
              <a:gd name="adj" fmla="val 23077"/>
            </a:avLst>
          </a:prstGeom>
          <a:solidFill>
            <a:srgbClr val="DCE8F4"/>
          </a:solidFill>
          <a:ln/>
        </p:spPr>
      </p:sp>
      <p:pic>
        <p:nvPicPr>
          <p:cNvPr id="14" name="Image 2" descr="Users">    </p:cNvPr>
          <p:cNvPicPr>
            <a:picLocks noChangeAspect="1"/>
          </p:cNvPicPr>
          <p:nvPr/>
        </p:nvPicPr>
        <p:blipFill>
          <a:blip r:embed="rId3"/>
          <a:srcRect l="0" r="0" t="0" b="0"/>
          <a:stretch/>
        </p:blipFill>
        <p:spPr>
          <a:xfrm>
            <a:off x="882650" y="3463131"/>
            <a:ext cx="190500" cy="190500"/>
          </a:xfrm>
          <a:prstGeom prst="rect">
            <a:avLst/>
          </a:prstGeom>
        </p:spPr>
      </p:pic>
      <p:sp>
        <p:nvSpPr>
          <p:cNvPr id="15" name="Text 10"/>
          <p:cNvSpPr/>
          <p:nvPr/>
        </p:nvSpPr>
        <p:spPr>
          <a:xfrm>
            <a:off x="1270000" y="3438327"/>
            <a:ext cx="476148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4505D"/>
                </a:solidFill>
                <a:latin typeface="IBM Plex Sans" pitchFamily="34" charset="0"/>
                <a:ea typeface="IBM Plex Sans" pitchFamily="34" charset="-122"/>
                <a:cs typeface="IBM Plex Sans" pitchFamily="34" charset="-120"/>
              </a:rPr>
              <a:t>Присуство на рачунарским вежбама је обавезно</a:t>
            </a:r>
            <a:endParaRPr lang="en-US" sz="1400" dirty="0"/>
          </a:p>
        </p:txBody>
      </p:sp>
      <p:sp>
        <p:nvSpPr>
          <p:cNvPr id="16" name="Shape 11"/>
          <p:cNvSpPr/>
          <p:nvPr/>
        </p:nvSpPr>
        <p:spPr>
          <a:xfrm>
            <a:off x="815975" y="3840956"/>
            <a:ext cx="5073650" cy="689570"/>
          </a:xfrm>
          <a:prstGeom prst="roundRect">
            <a:avLst>
              <a:gd name="adj" fmla="val 12432"/>
            </a:avLst>
          </a:prstGeom>
          <a:solidFill>
            <a:srgbClr val="FBF1E6"/>
          </a:solidFill>
          <a:ln w="6350">
            <a:solidFill>
              <a:srgbClr val="E9B98C"/>
            </a:solidFill>
            <a:prstDash val="solid"/>
          </a:ln>
        </p:spPr>
      </p:sp>
      <p:sp>
        <p:nvSpPr>
          <p:cNvPr id="17" name="Shape 12"/>
          <p:cNvSpPr/>
          <p:nvPr/>
        </p:nvSpPr>
        <p:spPr>
          <a:xfrm>
            <a:off x="946150" y="4020641"/>
            <a:ext cx="330200" cy="330200"/>
          </a:xfrm>
          <a:prstGeom prst="roundRect">
            <a:avLst>
              <a:gd name="adj" fmla="val 23077"/>
            </a:avLst>
          </a:prstGeom>
          <a:solidFill>
            <a:srgbClr val="FCFCFB"/>
          </a:solidFill>
          <a:ln/>
        </p:spPr>
      </p:sp>
      <p:pic>
        <p:nvPicPr>
          <p:cNvPr id="18" name="Image 3" descr="Warning">    </p:cNvPr>
          <p:cNvPicPr>
            <a:picLocks noChangeAspect="1"/>
          </p:cNvPicPr>
          <p:nvPr/>
        </p:nvPicPr>
        <p:blipFill>
          <a:blip r:embed="rId4"/>
          <a:srcRect l="0" r="0" t="0" b="0"/>
          <a:stretch/>
        </p:blipFill>
        <p:spPr>
          <a:xfrm>
            <a:off x="1016000" y="4090491"/>
            <a:ext cx="190500" cy="190500"/>
          </a:xfrm>
          <a:prstGeom prst="rect">
            <a:avLst/>
          </a:prstGeom>
        </p:spPr>
      </p:pic>
      <p:sp>
        <p:nvSpPr>
          <p:cNvPr id="19" name="Text 13"/>
          <p:cNvSpPr/>
          <p:nvPr/>
        </p:nvSpPr>
        <p:spPr>
          <a:xfrm>
            <a:off x="1403350" y="3945731"/>
            <a:ext cx="448678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Више од два неоправдана изостанка искључују право на одбрану пројекта</a:t>
            </a:r>
            <a:endParaRPr lang="en-US" sz="1400" dirty="0"/>
          </a:p>
        </p:txBody>
      </p:sp>
      <p:sp>
        <p:nvSpPr>
          <p:cNvPr id="20" name="Shape 14"/>
          <p:cNvSpPr/>
          <p:nvPr/>
        </p:nvSpPr>
        <p:spPr>
          <a:xfrm>
            <a:off x="812800" y="4648002"/>
            <a:ext cx="330200" cy="330200"/>
          </a:xfrm>
          <a:prstGeom prst="roundRect">
            <a:avLst>
              <a:gd name="adj" fmla="val 23077"/>
            </a:avLst>
          </a:prstGeom>
          <a:solidFill>
            <a:srgbClr val="DCE8F4"/>
          </a:solidFill>
          <a:ln/>
        </p:spPr>
      </p:sp>
      <p:pic>
        <p:nvPicPr>
          <p:cNvPr id="21" name="Image 4" descr="Link">    </p:cNvPr>
          <p:cNvPicPr>
            <a:picLocks noChangeAspect="1"/>
          </p:cNvPicPr>
          <p:nvPr/>
        </p:nvPicPr>
        <p:blipFill>
          <a:blip r:embed="rId5"/>
          <a:srcRect l="0" r="0" t="0" b="0"/>
          <a:stretch/>
        </p:blipFill>
        <p:spPr>
          <a:xfrm>
            <a:off x="882650" y="4717852"/>
            <a:ext cx="190500" cy="190500"/>
          </a:xfrm>
          <a:prstGeom prst="rect">
            <a:avLst/>
          </a:prstGeom>
        </p:spPr>
      </p:pic>
      <p:sp>
        <p:nvSpPr>
          <p:cNvPr id="22" name="Text 15"/>
          <p:cNvSpPr/>
          <p:nvPr/>
        </p:nvSpPr>
        <p:spPr>
          <a:xfrm>
            <a:off x="1270000" y="4693047"/>
            <a:ext cx="4761484" cy="265410"/>
          </a:xfrm>
          <a:prstGeom prst="rect">
            <a:avLst/>
          </a:prstGeom>
          <a:noFill/>
          <a:ln/>
        </p:spPr>
        <p:txBody>
          <a:bodyPr wrap="square" lIns="0" tIns="0" rIns="0" bIns="0" rtlCol="0" anchor="t">
            <a:normAutofit/>
          </a:bodyPr>
          <a:lstStyle/>
          <a:p>
            <a:pPr algn="l" indent="0" marL="0">
              <a:lnSpc>
                <a:spcPts val="1890"/>
              </a:lnSpc>
              <a:buNone/>
            </a:pPr>
            <a:r>
              <a:rPr lang="en-US" sz="1400" u="sng" dirty="0">
                <a:solidFill>
                  <a:srgbClr val="0A5CA8"/>
                </a:solidFill>
                <a:latin typeface="IBM Plex Sans" pitchFamily="34" charset="0"/>
                <a:ea typeface="IBM Plex Sans" pitchFamily="34" charset="-122"/>
                <a:cs typeface="IBM Plex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Званична страница предмета</a:t>
            </a:r>
            <a:endParaRPr lang="en-US" sz="1400" dirty="0"/>
          </a:p>
        </p:txBody>
      </p:sp>
      <p:sp>
        <p:nvSpPr>
          <p:cNvPr id="23" name="Shape 16"/>
          <p:cNvSpPr/>
          <p:nvPr/>
        </p:nvSpPr>
        <p:spPr>
          <a:xfrm>
            <a:off x="6302375" y="2179836"/>
            <a:ext cx="5073650" cy="2951063"/>
          </a:xfrm>
          <a:prstGeom prst="roundRect">
            <a:avLst>
              <a:gd name="adj" fmla="val 3335"/>
            </a:avLst>
          </a:prstGeom>
          <a:solidFill>
            <a:srgbClr val="FCFCFB"/>
          </a:solidFill>
          <a:ln w="6350">
            <a:solidFill>
              <a:srgbClr val="D3DAE1"/>
            </a:solidFill>
            <a:prstDash val="solid"/>
          </a:ln>
        </p:spPr>
      </p:sp>
      <p:sp>
        <p:nvSpPr>
          <p:cNvPr id="24" name="Text 17"/>
          <p:cNvSpPr/>
          <p:nvPr/>
        </p:nvSpPr>
        <p:spPr>
          <a:xfrm>
            <a:off x="6534150" y="2386211"/>
            <a:ext cx="47484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ИЗВОЂАЧИ НАСТАВЕ</a:t>
            </a:r>
            <a:endParaRPr lang="en-US" sz="1200" dirty="0"/>
          </a:p>
        </p:txBody>
      </p:sp>
      <p:sp>
        <p:nvSpPr>
          <p:cNvPr id="25" name="Text 18"/>
          <p:cNvSpPr/>
          <p:nvPr/>
        </p:nvSpPr>
        <p:spPr>
          <a:xfrm>
            <a:off x="6534150" y="2713831"/>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ПРОФЕСОР</a:t>
            </a:r>
            <a:endParaRPr lang="en-US" sz="1200" dirty="0"/>
          </a:p>
        </p:txBody>
      </p:sp>
      <p:sp>
        <p:nvSpPr>
          <p:cNvPr id="26" name="Text 19"/>
          <p:cNvSpPr/>
          <p:nvPr/>
        </p:nvSpPr>
        <p:spPr>
          <a:xfrm>
            <a:off x="6534150" y="2965252"/>
            <a:ext cx="4748403"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02D"/>
                </a:solidFill>
                <a:latin typeface="IBM Plex Sans" pitchFamily="34" charset="0"/>
                <a:ea typeface="IBM Plex Sans" pitchFamily="34" charset="-122"/>
                <a:cs typeface="IBM Plex Sans" pitchFamily="34" charset="-120"/>
              </a:rPr>
              <a:t>др Зоран Јанковић</a:t>
            </a:r>
            <a:endParaRPr lang="en-US" sz="1600" dirty="0"/>
          </a:p>
        </p:txBody>
      </p:sp>
      <p:sp>
        <p:nvSpPr>
          <p:cNvPr id="27" name="Text 20"/>
          <p:cNvSpPr/>
          <p:nvPr/>
        </p:nvSpPr>
        <p:spPr>
          <a:xfrm>
            <a:off x="6534150" y="3287812"/>
            <a:ext cx="47484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zoran.jankovic@uns.ac.rs</a:t>
            </a:r>
            <a:endParaRPr lang="en-US" sz="1200" dirty="0"/>
          </a:p>
        </p:txBody>
      </p:sp>
      <p:sp>
        <p:nvSpPr>
          <p:cNvPr id="28" name="Shape 21"/>
          <p:cNvSpPr/>
          <p:nvPr/>
        </p:nvSpPr>
        <p:spPr>
          <a:xfrm>
            <a:off x="6534150" y="3618607"/>
            <a:ext cx="4610100" cy="0"/>
          </a:xfrm>
          <a:prstGeom prst="line">
            <a:avLst/>
          </a:prstGeom>
          <a:noFill/>
          <a:ln w="6350">
            <a:solidFill>
              <a:srgbClr val="E3E8EE"/>
            </a:solidFill>
            <a:prstDash val="solid"/>
          </a:ln>
        </p:spPr>
      </p:sp>
      <p:sp>
        <p:nvSpPr>
          <p:cNvPr id="29" name="Text 22"/>
          <p:cNvSpPr/>
          <p:nvPr/>
        </p:nvSpPr>
        <p:spPr>
          <a:xfrm>
            <a:off x="6534150" y="3736082"/>
            <a:ext cx="4748403"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АСИСТЕНТИ</a:t>
            </a:r>
            <a:endParaRPr lang="en-US" sz="1200" dirty="0"/>
          </a:p>
        </p:txBody>
      </p:sp>
      <p:sp>
        <p:nvSpPr>
          <p:cNvPr id="30" name="Text 23"/>
          <p:cNvSpPr/>
          <p:nvPr/>
        </p:nvSpPr>
        <p:spPr>
          <a:xfrm>
            <a:off x="6534150" y="4025602"/>
            <a:ext cx="1905298"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Данијел Јовановић</a:t>
            </a:r>
            <a:endParaRPr lang="en-US" sz="1400" dirty="0"/>
          </a:p>
        </p:txBody>
      </p:sp>
      <p:sp>
        <p:nvSpPr>
          <p:cNvPr id="31" name="Text 24"/>
          <p:cNvSpPr/>
          <p:nvPr/>
        </p:nvSpPr>
        <p:spPr>
          <a:xfrm>
            <a:off x="8439448" y="4057352"/>
            <a:ext cx="270480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danijel.jovanovic@uns.ac.rs</a:t>
            </a:r>
            <a:endParaRPr lang="en-US" sz="1200" dirty="0"/>
          </a:p>
        </p:txBody>
      </p:sp>
      <p:sp>
        <p:nvSpPr>
          <p:cNvPr id="32" name="Text 25"/>
          <p:cNvSpPr/>
          <p:nvPr/>
        </p:nvSpPr>
        <p:spPr>
          <a:xfrm>
            <a:off x="6534150" y="4350643"/>
            <a:ext cx="13383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Тања Чубрић</a:t>
            </a:r>
            <a:endParaRPr lang="en-US" sz="1400" dirty="0"/>
          </a:p>
        </p:txBody>
      </p:sp>
      <p:sp>
        <p:nvSpPr>
          <p:cNvPr id="33" name="Text 26"/>
          <p:cNvSpPr/>
          <p:nvPr/>
        </p:nvSpPr>
        <p:spPr>
          <a:xfrm>
            <a:off x="8839914" y="4382393"/>
            <a:ext cx="230433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cubrictanja@gmail.com</a:t>
            </a:r>
            <a:endParaRPr lang="en-US" sz="1200" dirty="0"/>
          </a:p>
        </p:txBody>
      </p:sp>
      <p:sp>
        <p:nvSpPr>
          <p:cNvPr id="34" name="Text 27"/>
          <p:cNvSpPr/>
          <p:nvPr/>
        </p:nvSpPr>
        <p:spPr>
          <a:xfrm>
            <a:off x="6534150" y="4675684"/>
            <a:ext cx="131421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Петар Мутић</a:t>
            </a:r>
            <a:endParaRPr lang="en-US" sz="1400" dirty="0"/>
          </a:p>
        </p:txBody>
      </p:sp>
      <p:sp>
        <p:nvSpPr>
          <p:cNvPr id="35" name="Text 28"/>
          <p:cNvSpPr/>
          <p:nvPr/>
        </p:nvSpPr>
        <p:spPr>
          <a:xfrm>
            <a:off x="8839914" y="4707434"/>
            <a:ext cx="230433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A5CA8"/>
                </a:solidFill>
                <a:latin typeface="IBM Plex Mono" pitchFamily="49" charset="0"/>
                <a:ea typeface="IBM Plex Mono" pitchFamily="49" charset="-122"/>
                <a:cs typeface="IBM Plex Mono" pitchFamily="49" charset="-120"/>
              </a:rPr>
              <a:t>petarmutic5@gmail.com</a:t>
            </a:r>
            <a:endParaRPr lang="en-US" sz="1200" dirty="0"/>
          </a:p>
        </p:txBody>
      </p:sp>
      <p:sp>
        <p:nvSpPr>
          <p:cNvPr id="36" name="Shape 29"/>
          <p:cNvSpPr/>
          <p:nvPr/>
        </p:nvSpPr>
        <p:spPr>
          <a:xfrm>
            <a:off x="812800" y="6209705"/>
            <a:ext cx="10566400" cy="0"/>
          </a:xfrm>
          <a:prstGeom prst="line">
            <a:avLst/>
          </a:prstGeom>
          <a:noFill/>
          <a:ln w="6350">
            <a:solidFill>
              <a:srgbClr val="D3DAE1"/>
            </a:solidFill>
            <a:prstDash val="solid"/>
          </a:ln>
        </p:spPr>
      </p:sp>
      <p:sp>
        <p:nvSpPr>
          <p:cNvPr id="37"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02 · ОЦЕЊИВАЊЕ</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Начин полагања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Пројектни део носи највише 71 поен. Усмени испит мења укупан резултат у распону од −20 до +30 поена.</a:t>
            </a:r>
            <a:endParaRPr lang="en-US" sz="1400" dirty="0"/>
          </a:p>
        </p:txBody>
      </p:sp>
      <p:sp>
        <p:nvSpPr>
          <p:cNvPr id="6" name="Shape 4"/>
          <p:cNvSpPr/>
          <p:nvPr/>
        </p:nvSpPr>
        <p:spPr>
          <a:xfrm>
            <a:off x="815975" y="2129036"/>
            <a:ext cx="10560050" cy="374650"/>
          </a:xfrm>
          <a:prstGeom prst="roundRect">
            <a:avLst>
              <a:gd name="adj" fmla="val 19492"/>
            </a:avLst>
          </a:prstGeom>
          <a:noFill/>
          <a:ln w="6350">
            <a:solidFill>
              <a:srgbClr val="C3CEDA"/>
            </a:solidFill>
            <a:prstDash val="solid"/>
          </a:ln>
        </p:spPr>
      </p:sp>
      <p:sp>
        <p:nvSpPr>
          <p:cNvPr id="7" name="Text 5"/>
          <p:cNvSpPr/>
          <p:nvPr/>
        </p:nvSpPr>
        <p:spPr>
          <a:xfrm>
            <a:off x="819150" y="2132211"/>
            <a:ext cx="5956300" cy="368300"/>
          </a:xfrm>
          <a:custGeom>
            <a:avLst/>
            <a:gdLst/>
            <a:ahLst/>
            <a:cxnLst/>
            <a:rect l="l" t="t" r="r" b="b"/>
            <a:pathLst>
              <a:path w="5956300" h="368300">
                <a:moveTo>
                  <a:pt x="0" y="69850"/>
                </a:moveTo>
                <a:arcTo hR="69850" wR="69850" stAng="10800000" swAng="5400000"/>
                <a:lnTo>
                  <a:pt x="5956300" y="0"/>
                </a:lnTo>
                <a:lnTo>
                  <a:pt x="5956300" y="368300"/>
                </a:lnTo>
                <a:lnTo>
                  <a:pt x="69850" y="368300"/>
                </a:lnTo>
                <a:arcTo hR="69850" wR="69850" stAng="5400000" swAng="5400000"/>
                <a:close/>
              </a:path>
            </a:pathLst>
          </a:custGeom>
          <a:solidFill>
            <a:srgbClr val="ECEEF0"/>
          </a:solidFill>
          <a:ln/>
        </p:spPr>
        <p:txBody>
          <a:bodyPr wrap="square" lIns="152400" tIns="0" rIns="152400" bIns="0" rtlCol="0" anchor="ctr">
            <a:normAutofit/>
          </a:bodyPr>
          <a:lstStyle/>
          <a:p>
            <a:pPr algn="l" indent="0" marL="0">
              <a:lnSpc>
                <a:spcPts val="1820"/>
              </a:lnSpc>
              <a:buNone/>
            </a:pPr>
            <a:r>
              <a:rPr lang="en-US" sz="1300" b="1" dirty="0">
                <a:solidFill>
                  <a:srgbClr val="5E6975"/>
                </a:solidFill>
                <a:latin typeface="IBM Plex Mono" pitchFamily="49" charset="0"/>
                <a:ea typeface="IBM Plex Mono" pitchFamily="49" charset="-122"/>
                <a:cs typeface="IBM Plex Mono" pitchFamily="49" charset="-120"/>
              </a:rPr>
              <a:t>0–40</a:t>
            </a:r>
            <a:endParaRPr lang="en-US" sz="1300" dirty="0"/>
          </a:p>
        </p:txBody>
      </p:sp>
      <p:sp>
        <p:nvSpPr>
          <p:cNvPr id="8" name="Text 6"/>
          <p:cNvSpPr/>
          <p:nvPr/>
        </p:nvSpPr>
        <p:spPr>
          <a:xfrm>
            <a:off x="6775450" y="2132211"/>
            <a:ext cx="1485900" cy="368300"/>
          </a:xfrm>
          <a:prstGeom prst="rect">
            <a:avLst/>
          </a:prstGeom>
          <a:solidFill>
            <a:srgbClr val="FBF1E6"/>
          </a:solidFill>
          <a:ln/>
        </p:spPr>
        <p:txBody>
          <a:bodyPr wrap="square" lIns="6350" tIns="0" rIns="0" bIns="0" rtlCol="0" anchor="ctr">
            <a:normAutofit/>
          </a:bodyPr>
          <a:lstStyle/>
          <a:p>
            <a:pPr algn="ctr" indent="0" marL="0">
              <a:lnSpc>
                <a:spcPts val="1820"/>
              </a:lnSpc>
              <a:buNone/>
            </a:pPr>
            <a:r>
              <a:rPr lang="en-US" sz="1300" b="1" dirty="0">
                <a:solidFill>
                  <a:srgbClr val="A8520A"/>
                </a:solidFill>
                <a:latin typeface="IBM Plex Mono" pitchFamily="49" charset="0"/>
                <a:ea typeface="IBM Plex Mono" pitchFamily="49" charset="-122"/>
                <a:cs typeface="IBM Plex Mono" pitchFamily="49" charset="-120"/>
              </a:rPr>
              <a:t>41–50</a:t>
            </a:r>
            <a:endParaRPr lang="en-US" sz="1300" dirty="0"/>
          </a:p>
        </p:txBody>
      </p:sp>
      <p:sp>
        <p:nvSpPr>
          <p:cNvPr id="9" name="Shape 7"/>
          <p:cNvSpPr/>
          <p:nvPr/>
        </p:nvSpPr>
        <p:spPr>
          <a:xfrm>
            <a:off x="6778625" y="2132211"/>
            <a:ext cx="0" cy="368300"/>
          </a:xfrm>
          <a:prstGeom prst="line">
            <a:avLst/>
          </a:prstGeom>
          <a:noFill/>
          <a:ln w="6350">
            <a:solidFill>
              <a:srgbClr val="E9B98C"/>
            </a:solidFill>
            <a:prstDash val="solid"/>
          </a:ln>
        </p:spPr>
      </p:sp>
      <p:sp>
        <p:nvSpPr>
          <p:cNvPr id="10" name="Text 8"/>
          <p:cNvSpPr/>
          <p:nvPr/>
        </p:nvSpPr>
        <p:spPr>
          <a:xfrm>
            <a:off x="8261350" y="2132211"/>
            <a:ext cx="3111500" cy="368300"/>
          </a:xfrm>
          <a:custGeom>
            <a:avLst/>
            <a:gdLst/>
            <a:ahLst/>
            <a:cxnLst/>
            <a:rect l="l" t="t" r="r" b="b"/>
            <a:pathLst>
              <a:path w="3111500" h="368300">
                <a:moveTo>
                  <a:pt x="3041650" y="0"/>
                </a:moveTo>
                <a:arcTo hR="69850" wR="69850" stAng="16200000" swAng="5400000"/>
                <a:lnTo>
                  <a:pt x="3111500" y="298450"/>
                </a:lnTo>
                <a:arcTo hR="69850" wR="69850" stAng="0" swAng="5400000"/>
                <a:lnTo>
                  <a:pt x="0" y="368300"/>
                </a:lnTo>
                <a:lnTo>
                  <a:pt x="0" y="0"/>
                </a:lnTo>
                <a:close/>
              </a:path>
            </a:pathLst>
          </a:custGeom>
          <a:solidFill>
            <a:srgbClr val="DCE8F4"/>
          </a:solidFill>
          <a:ln/>
        </p:spPr>
        <p:txBody>
          <a:bodyPr wrap="square" lIns="158750" tIns="0" rIns="152400" bIns="0" rtlCol="0" anchor="ctr">
            <a:normAutofit/>
          </a:bodyPr>
          <a:lstStyle/>
          <a:p>
            <a:pPr algn="l" indent="0" marL="0">
              <a:lnSpc>
                <a:spcPts val="1820"/>
              </a:lnSpc>
              <a:buNone/>
            </a:pPr>
            <a:r>
              <a:rPr lang="en-US" sz="1300" b="1" dirty="0">
                <a:solidFill>
                  <a:srgbClr val="0A5CA8"/>
                </a:solidFill>
                <a:latin typeface="IBM Plex Mono" pitchFamily="49" charset="0"/>
                <a:ea typeface="IBM Plex Mono" pitchFamily="49" charset="-122"/>
                <a:cs typeface="IBM Plex Mono" pitchFamily="49" charset="-120"/>
              </a:rPr>
              <a:t>51–71</a:t>
            </a:r>
            <a:endParaRPr lang="en-US" sz="1300" dirty="0"/>
          </a:p>
        </p:txBody>
      </p:sp>
      <p:sp>
        <p:nvSpPr>
          <p:cNvPr id="11" name="Shape 9"/>
          <p:cNvSpPr/>
          <p:nvPr/>
        </p:nvSpPr>
        <p:spPr>
          <a:xfrm>
            <a:off x="8261350" y="2132211"/>
            <a:ext cx="3111500" cy="368300"/>
          </a:xfrm>
          <a:custGeom>
            <a:avLst/>
            <a:gdLst/>
            <a:ahLst/>
            <a:cxnLst/>
            <a:rect l="l" t="t" r="r" b="b"/>
            <a:pathLst>
              <a:path w="3111500" h="368300">
                <a:moveTo>
                  <a:pt x="0" y="0"/>
                </a:moveTo>
                <a:lnTo>
                  <a:pt x="6350" y="0"/>
                </a:lnTo>
                <a:lnTo>
                  <a:pt x="6350" y="368300"/>
                </a:lnTo>
                <a:lnTo>
                  <a:pt x="0" y="368300"/>
                </a:lnTo>
                <a:lnTo>
                  <a:pt x="0" y="0"/>
                </a:lnTo>
                <a:close/>
              </a:path>
            </a:pathLst>
          </a:custGeom>
          <a:solidFill>
            <a:srgbClr val="A9C2DC"/>
          </a:solidFill>
          <a:ln/>
        </p:spPr>
      </p:sp>
      <p:sp>
        <p:nvSpPr>
          <p:cNvPr id="12" name="Shape 10"/>
          <p:cNvSpPr/>
          <p:nvPr/>
        </p:nvSpPr>
        <p:spPr>
          <a:xfrm>
            <a:off x="815975" y="2611636"/>
            <a:ext cx="3414117" cy="963811"/>
          </a:xfrm>
          <a:prstGeom prst="roundRect">
            <a:avLst>
              <a:gd name="adj" fmla="val 8894"/>
            </a:avLst>
          </a:prstGeom>
          <a:solidFill>
            <a:srgbClr val="FCFCFB"/>
          </a:solidFill>
          <a:ln w="6350">
            <a:solidFill>
              <a:srgbClr val="D3DAE1"/>
            </a:solidFill>
            <a:prstDash val="solid"/>
          </a:ln>
        </p:spPr>
      </p:sp>
      <p:sp>
        <p:nvSpPr>
          <p:cNvPr id="13" name="Text 11"/>
          <p:cNvSpPr/>
          <p:nvPr/>
        </p:nvSpPr>
        <p:spPr>
          <a:xfrm>
            <a:off x="996950" y="2754511"/>
            <a:ext cx="314373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Неположен пројекат</a:t>
            </a:r>
            <a:endParaRPr lang="en-US" sz="1400" dirty="0"/>
          </a:p>
        </p:txBody>
      </p:sp>
      <p:sp>
        <p:nvSpPr>
          <p:cNvPr id="14" name="Text 12"/>
          <p:cNvSpPr/>
          <p:nvPr/>
        </p:nvSpPr>
        <p:spPr>
          <a:xfrm>
            <a:off x="996950" y="3005931"/>
            <a:ext cx="31437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Нема услова за позитивну оцену.</a:t>
            </a:r>
            <a:endParaRPr lang="en-US" sz="1200" dirty="0"/>
          </a:p>
        </p:txBody>
      </p:sp>
      <p:sp>
        <p:nvSpPr>
          <p:cNvPr id="15" name="Shape 13"/>
          <p:cNvSpPr/>
          <p:nvPr/>
        </p:nvSpPr>
        <p:spPr>
          <a:xfrm>
            <a:off x="4388842" y="2611636"/>
            <a:ext cx="3414216" cy="963811"/>
          </a:xfrm>
          <a:prstGeom prst="roundRect">
            <a:avLst>
              <a:gd name="adj" fmla="val 8894"/>
            </a:avLst>
          </a:prstGeom>
          <a:solidFill>
            <a:srgbClr val="FCFCFB"/>
          </a:solidFill>
          <a:ln w="6350">
            <a:solidFill>
              <a:srgbClr val="D3DAE1"/>
            </a:solidFill>
            <a:prstDash val="solid"/>
          </a:ln>
        </p:spPr>
      </p:sp>
      <p:sp>
        <p:nvSpPr>
          <p:cNvPr id="16" name="Text 14"/>
          <p:cNvSpPr/>
          <p:nvPr/>
        </p:nvSpPr>
        <p:spPr>
          <a:xfrm>
            <a:off x="4569817" y="275451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Обавезан усмени испит</a:t>
            </a:r>
            <a:endParaRPr lang="en-US" sz="1400" dirty="0"/>
          </a:p>
        </p:txBody>
      </p:sp>
      <p:sp>
        <p:nvSpPr>
          <p:cNvPr id="17" name="Text 15"/>
          <p:cNvSpPr/>
          <p:nvPr/>
        </p:nvSpPr>
        <p:spPr>
          <a:xfrm>
            <a:off x="4569817" y="300593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Потребно је достићи најмање 51 поен укупно.</a:t>
            </a:r>
            <a:endParaRPr lang="en-US" sz="1200" dirty="0"/>
          </a:p>
        </p:txBody>
      </p:sp>
      <p:sp>
        <p:nvSpPr>
          <p:cNvPr id="18" name="Shape 16"/>
          <p:cNvSpPr/>
          <p:nvPr/>
        </p:nvSpPr>
        <p:spPr>
          <a:xfrm>
            <a:off x="7961809" y="2611636"/>
            <a:ext cx="3414216" cy="963811"/>
          </a:xfrm>
          <a:prstGeom prst="roundRect">
            <a:avLst>
              <a:gd name="adj" fmla="val 8894"/>
            </a:avLst>
          </a:prstGeom>
          <a:solidFill>
            <a:srgbClr val="FCFCFB"/>
          </a:solidFill>
          <a:ln w="6350">
            <a:solidFill>
              <a:srgbClr val="D3DAE1"/>
            </a:solidFill>
            <a:prstDash val="solid"/>
          </a:ln>
        </p:spPr>
      </p:sp>
      <p:sp>
        <p:nvSpPr>
          <p:cNvPr id="19" name="Text 17"/>
          <p:cNvSpPr/>
          <p:nvPr/>
        </p:nvSpPr>
        <p:spPr>
          <a:xfrm>
            <a:off x="8142784" y="2754511"/>
            <a:ext cx="314383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Упис оцене без усменог</a:t>
            </a:r>
            <a:endParaRPr lang="en-US" sz="1400" dirty="0"/>
          </a:p>
        </p:txBody>
      </p:sp>
      <p:sp>
        <p:nvSpPr>
          <p:cNvPr id="20" name="Text 18"/>
          <p:cNvSpPr/>
          <p:nvPr/>
        </p:nvSpPr>
        <p:spPr>
          <a:xfrm>
            <a:off x="8142784" y="3005931"/>
            <a:ext cx="31438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Оцена на основу пројектних поена.</a:t>
            </a:r>
            <a:endParaRPr lang="en-US" sz="1200" dirty="0"/>
          </a:p>
        </p:txBody>
      </p:sp>
      <p:sp>
        <p:nvSpPr>
          <p:cNvPr id="21" name="Text 19"/>
          <p:cNvSpPr/>
          <p:nvPr/>
        </p:nvSpPr>
        <p:spPr>
          <a:xfrm>
            <a:off x="812800" y="380722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СКАЛА ОЦЕЊИВАЊА · УКУПНИ ПОЕНИ</a:t>
            </a:r>
            <a:endParaRPr lang="en-US" sz="1200" dirty="0"/>
          </a:p>
        </p:txBody>
      </p:sp>
      <p:sp>
        <p:nvSpPr>
          <p:cNvPr id="22" name="Shape 20"/>
          <p:cNvSpPr/>
          <p:nvPr/>
        </p:nvSpPr>
        <p:spPr>
          <a:xfrm>
            <a:off x="812800" y="4109442"/>
            <a:ext cx="2032000" cy="629841"/>
          </a:xfrm>
          <a:prstGeom prst="roundRect">
            <a:avLst>
              <a:gd name="adj" fmla="val 14115"/>
            </a:avLst>
          </a:prstGeom>
          <a:solidFill>
            <a:srgbClr val="EBF0F5"/>
          </a:solidFill>
          <a:ln/>
        </p:spPr>
      </p:sp>
      <p:sp>
        <p:nvSpPr>
          <p:cNvPr id="23" name="Text 21"/>
          <p:cNvSpPr/>
          <p:nvPr/>
        </p:nvSpPr>
        <p:spPr>
          <a:xfrm>
            <a:off x="9779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51–60</a:t>
            </a:r>
            <a:endParaRPr lang="en-US" sz="1200" dirty="0"/>
          </a:p>
        </p:txBody>
      </p:sp>
      <p:sp>
        <p:nvSpPr>
          <p:cNvPr id="24" name="Text 22"/>
          <p:cNvSpPr/>
          <p:nvPr/>
        </p:nvSpPr>
        <p:spPr>
          <a:xfrm>
            <a:off x="24459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6</a:t>
            </a:r>
            <a:endParaRPr lang="en-US" sz="2400" dirty="0"/>
          </a:p>
        </p:txBody>
      </p:sp>
      <p:sp>
        <p:nvSpPr>
          <p:cNvPr id="25" name="Shape 23"/>
          <p:cNvSpPr/>
          <p:nvPr/>
        </p:nvSpPr>
        <p:spPr>
          <a:xfrm>
            <a:off x="2946400" y="4109442"/>
            <a:ext cx="2032000" cy="629841"/>
          </a:xfrm>
          <a:prstGeom prst="roundRect">
            <a:avLst>
              <a:gd name="adj" fmla="val 14115"/>
            </a:avLst>
          </a:prstGeom>
          <a:solidFill>
            <a:srgbClr val="EBF0F5"/>
          </a:solidFill>
          <a:ln/>
        </p:spPr>
      </p:sp>
      <p:sp>
        <p:nvSpPr>
          <p:cNvPr id="26" name="Text 24"/>
          <p:cNvSpPr/>
          <p:nvPr/>
        </p:nvSpPr>
        <p:spPr>
          <a:xfrm>
            <a:off x="31115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61–70</a:t>
            </a:r>
            <a:endParaRPr lang="en-US" sz="1200" dirty="0"/>
          </a:p>
        </p:txBody>
      </p:sp>
      <p:sp>
        <p:nvSpPr>
          <p:cNvPr id="27" name="Text 25"/>
          <p:cNvSpPr/>
          <p:nvPr/>
        </p:nvSpPr>
        <p:spPr>
          <a:xfrm>
            <a:off x="45795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7</a:t>
            </a:r>
            <a:endParaRPr lang="en-US" sz="2400" dirty="0"/>
          </a:p>
        </p:txBody>
      </p:sp>
      <p:sp>
        <p:nvSpPr>
          <p:cNvPr id="28" name="Shape 26"/>
          <p:cNvSpPr/>
          <p:nvPr/>
        </p:nvSpPr>
        <p:spPr>
          <a:xfrm>
            <a:off x="5080000" y="4109442"/>
            <a:ext cx="2032000" cy="629841"/>
          </a:xfrm>
          <a:prstGeom prst="roundRect">
            <a:avLst>
              <a:gd name="adj" fmla="val 14115"/>
            </a:avLst>
          </a:prstGeom>
          <a:solidFill>
            <a:srgbClr val="EBF0F5"/>
          </a:solidFill>
          <a:ln/>
        </p:spPr>
      </p:sp>
      <p:sp>
        <p:nvSpPr>
          <p:cNvPr id="29" name="Text 27"/>
          <p:cNvSpPr/>
          <p:nvPr/>
        </p:nvSpPr>
        <p:spPr>
          <a:xfrm>
            <a:off x="52451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71–80</a:t>
            </a:r>
            <a:endParaRPr lang="en-US" sz="1200" dirty="0"/>
          </a:p>
        </p:txBody>
      </p:sp>
      <p:sp>
        <p:nvSpPr>
          <p:cNvPr id="30" name="Text 28"/>
          <p:cNvSpPr/>
          <p:nvPr/>
        </p:nvSpPr>
        <p:spPr>
          <a:xfrm>
            <a:off x="67131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8</a:t>
            </a:r>
            <a:endParaRPr lang="en-US" sz="2400" dirty="0"/>
          </a:p>
        </p:txBody>
      </p:sp>
      <p:sp>
        <p:nvSpPr>
          <p:cNvPr id="31" name="Shape 29"/>
          <p:cNvSpPr/>
          <p:nvPr/>
        </p:nvSpPr>
        <p:spPr>
          <a:xfrm>
            <a:off x="7213600" y="4109442"/>
            <a:ext cx="2032000" cy="629841"/>
          </a:xfrm>
          <a:prstGeom prst="roundRect">
            <a:avLst>
              <a:gd name="adj" fmla="val 14115"/>
            </a:avLst>
          </a:prstGeom>
          <a:solidFill>
            <a:srgbClr val="EBF0F5"/>
          </a:solidFill>
          <a:ln/>
        </p:spPr>
      </p:sp>
      <p:sp>
        <p:nvSpPr>
          <p:cNvPr id="32" name="Text 30"/>
          <p:cNvSpPr/>
          <p:nvPr/>
        </p:nvSpPr>
        <p:spPr>
          <a:xfrm>
            <a:off x="7378700" y="431770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Mono" pitchFamily="49" charset="0"/>
                <a:ea typeface="IBM Plex Mono" pitchFamily="49" charset="-122"/>
                <a:cs typeface="IBM Plex Mono" pitchFamily="49" charset="-120"/>
              </a:rPr>
              <a:t>81–90</a:t>
            </a:r>
            <a:endParaRPr lang="en-US" sz="1200" dirty="0"/>
          </a:p>
        </p:txBody>
      </p:sp>
      <p:sp>
        <p:nvSpPr>
          <p:cNvPr id="33" name="Text 31"/>
          <p:cNvSpPr/>
          <p:nvPr/>
        </p:nvSpPr>
        <p:spPr>
          <a:xfrm>
            <a:off x="8846741" y="4211042"/>
            <a:ext cx="233759"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0A5CA8"/>
                </a:solidFill>
                <a:latin typeface="IBM Plex Mono" pitchFamily="49" charset="0"/>
                <a:ea typeface="IBM Plex Mono" pitchFamily="49" charset="-122"/>
                <a:cs typeface="IBM Plex Mono" pitchFamily="49" charset="-120"/>
              </a:rPr>
              <a:t>9</a:t>
            </a:r>
            <a:endParaRPr lang="en-US" sz="2400" dirty="0"/>
          </a:p>
        </p:txBody>
      </p:sp>
      <p:sp>
        <p:nvSpPr>
          <p:cNvPr id="34" name="Shape 32"/>
          <p:cNvSpPr/>
          <p:nvPr/>
        </p:nvSpPr>
        <p:spPr>
          <a:xfrm>
            <a:off x="9347200" y="4109442"/>
            <a:ext cx="2032000" cy="629841"/>
          </a:xfrm>
          <a:prstGeom prst="roundRect">
            <a:avLst>
              <a:gd name="adj" fmla="val 14115"/>
            </a:avLst>
          </a:prstGeom>
          <a:solidFill>
            <a:srgbClr val="0A5CA8"/>
          </a:solidFill>
          <a:ln/>
        </p:spPr>
      </p:sp>
      <p:sp>
        <p:nvSpPr>
          <p:cNvPr id="35" name="Text 33"/>
          <p:cNvSpPr/>
          <p:nvPr/>
        </p:nvSpPr>
        <p:spPr>
          <a:xfrm>
            <a:off x="9512300" y="4317702"/>
            <a:ext cx="658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8F4"/>
                </a:solidFill>
                <a:latin typeface="IBM Plex Mono" pitchFamily="49" charset="0"/>
                <a:ea typeface="IBM Plex Mono" pitchFamily="49" charset="-122"/>
                <a:cs typeface="IBM Plex Mono" pitchFamily="49" charset="-120"/>
              </a:rPr>
              <a:t>91–100</a:t>
            </a:r>
            <a:endParaRPr lang="en-US" sz="1200" dirty="0"/>
          </a:p>
        </p:txBody>
      </p:sp>
      <p:sp>
        <p:nvSpPr>
          <p:cNvPr id="36" name="Text 34"/>
          <p:cNvSpPr/>
          <p:nvPr/>
        </p:nvSpPr>
        <p:spPr>
          <a:xfrm>
            <a:off x="10775117" y="4211042"/>
            <a:ext cx="438983" cy="452041"/>
          </a:xfrm>
          <a:prstGeom prst="rect">
            <a:avLst/>
          </a:prstGeom>
          <a:noFill/>
          <a:ln/>
        </p:spPr>
        <p:txBody>
          <a:bodyPr wrap="square" lIns="0" tIns="0" rIns="0" bIns="0" rtlCol="0" anchor="t">
            <a:normAutofit/>
          </a:bodyPr>
          <a:lstStyle/>
          <a:p>
            <a:pPr algn="r" indent="0" marL="0">
              <a:lnSpc>
                <a:spcPts val="3360"/>
              </a:lnSpc>
              <a:buNone/>
            </a:pPr>
            <a:r>
              <a:rPr lang="en-US" sz="2400" dirty="0">
                <a:solidFill>
                  <a:srgbClr val="FCFCFB"/>
                </a:solidFill>
                <a:latin typeface="IBM Plex Mono" pitchFamily="49" charset="0"/>
                <a:ea typeface="IBM Plex Mono" pitchFamily="49" charset="-122"/>
                <a:cs typeface="IBM Plex Mono" pitchFamily="49" charset="-120"/>
              </a:rPr>
              <a:t>10</a:t>
            </a:r>
            <a:endParaRPr lang="en-US" sz="24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5CD358D-6DF2-477E-A1F8-398C6EEC7FC6}"/>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0A5CA8"/>
          </a:solidFill>
        </p:spPr>
      </p:sp>
      <p:sp>
        <p:nvSpPr>
          <p:cNvPr id="3" name="Text 1">
            <a:extLst xmlns:a="http://schemas.openxmlformats.org/drawingml/2006/main">
              <a:ext uri="{FF2B5EF4-FFF2-40B4-BE49-F238E27FC236}">
                <a16:creationId xmlns:a16="http://schemas.microsoft.com/office/drawing/2014/main" id="{C6A0785D-E8E9-4FEF-BD53-A265518D859A}"/>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0A5CA8"/>
                </a:solidFill>
                <a:latin typeface="IBM Plex Mono"/>
                <a:ea typeface="IBM Plex Mono"/>
                <a:cs typeface="IBM Plex Mono"/>
              </a:rPr>
              <a:t>02 · ОЦЕЊИВАЊЕ</a:t>
            </a:r>
            <a:endParaRPr sz="1200"/>
          </a:p>
        </p:txBody>
      </p:sp>
      <p:sp>
        <p:nvSpPr>
          <p:cNvPr id="4" name="Text 2">
            <a:extLst xmlns:a="http://schemas.openxmlformats.org/drawingml/2006/main">
              <a:ext uri="{FF2B5EF4-FFF2-40B4-BE49-F238E27FC236}">
                <a16:creationId xmlns:a16="http://schemas.microsoft.com/office/drawing/2014/main" id="{93FB578E-CA2B-4807-9847-053F8667D448}"/>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Пројектне обавезе и расподела поена</a:t>
            </a:r>
            <a:endParaRPr sz="3000"/>
          </a:p>
        </p:txBody>
      </p:sp>
      <p:sp>
        <p:nvSpPr>
          <p:cNvPr id="5" name="Text 3">
            <a:extLst xmlns:a="http://schemas.openxmlformats.org/drawingml/2006/main">
              <a:ext uri="{FF2B5EF4-FFF2-40B4-BE49-F238E27FC236}">
                <a16:creationId xmlns:a16="http://schemas.microsoft.com/office/drawing/2014/main" id="{99D89944-03FA-4D20-8790-0E3320A4920B}"/>
              </a:ext>
            </a:extLst>
          </p:cNvPr>
          <p:cNvSpPr>
            <a:spLocks xmlns:a="http://schemas.openxmlformats.org/drawingml/2006/main" noGrp="1"/>
          </p:cNvSpPr>
          <p:nvPr/>
        </p:nvSpPr>
        <p:spPr>
          <a:xfrm xmlns:a="http://schemas.openxmlformats.org/drawingml/2006/main">
            <a:off x="838200" y="1623020"/>
            <a:ext cx="187452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13202D"/>
                </a:solidFill>
                <a:latin typeface="IBM Plex Mono"/>
                <a:ea typeface="IBM Plex Mono"/>
                <a:cs typeface="IBM Plex Mono"/>
              </a:rPr>
              <a:t>ОСНОВНЕ ОБАВЕЗЕ</a:t>
            </a:r>
            <a:endParaRPr sz="1200"/>
          </a:p>
        </p:txBody>
      </p:sp>
      <p:sp>
        <p:nvSpPr>
          <p:cNvPr id="6" name="Text 4">
            <a:extLst xmlns:a="http://schemas.openxmlformats.org/drawingml/2006/main">
              <a:ext uri="{FF2B5EF4-FFF2-40B4-BE49-F238E27FC236}">
                <a16:creationId xmlns:a16="http://schemas.microsoft.com/office/drawing/2014/main" id="{4542B768-8AD1-4504-9C2A-C1AF42FD6F4C}"/>
              </a:ext>
            </a:extLst>
          </p:cNvPr>
          <p:cNvSpPr>
            <a:spLocks xmlns:a="http://schemas.openxmlformats.org/drawingml/2006/main" noGrp="1"/>
          </p:cNvSpPr>
          <p:nvPr/>
        </p:nvSpPr>
        <p:spPr>
          <a:xfrm xmlns:a="http://schemas.openxmlformats.org/drawingml/2006/main">
            <a:off x="5040352" y="1623020"/>
            <a:ext cx="87784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41 поен</a:t>
            </a:r>
            <a:endParaRPr sz="1200"/>
          </a:p>
        </p:txBody>
      </p:sp>
      <p:sp>
        <p:nvSpPr>
          <p:cNvPr id="7" name="Shape 5">
            <a:extLst xmlns:a="http://schemas.openxmlformats.org/drawingml/2006/main">
              <a:ext uri="{FF2B5EF4-FFF2-40B4-BE49-F238E27FC236}">
                <a16:creationId xmlns:a16="http://schemas.microsoft.com/office/drawing/2014/main" id="{F9CB1DAC-930F-4A28-B429-593D7ED1DFA4}"/>
              </a:ext>
            </a:extLst>
          </p:cNvPr>
          <p:cNvSpPr>
            <a:spLocks xmlns:a="http://schemas.openxmlformats.org/drawingml/2006/main" noGrp="1"/>
          </p:cNvSpPr>
          <p:nvPr/>
        </p:nvSpPr>
        <p:spPr>
          <a:xfrm xmlns:a="http://schemas.openxmlformats.org/drawingml/2006/main">
            <a:off x="815975" y="1941116"/>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8" name="Text 6">
            <a:extLst xmlns:a="http://schemas.openxmlformats.org/drawingml/2006/main">
              <a:ext uri="{FF2B5EF4-FFF2-40B4-BE49-F238E27FC236}">
                <a16:creationId xmlns:a16="http://schemas.microsoft.com/office/drawing/2014/main" id="{0B849309-8D8F-42E8-B3C5-8B06588FC1CC}"/>
              </a:ext>
            </a:extLst>
          </p:cNvPr>
          <p:cNvSpPr>
            <a:spLocks xmlns:a="http://schemas.openxmlformats.org/drawingml/2006/main" noGrp="1"/>
          </p:cNvSpPr>
          <p:nvPr/>
        </p:nvSpPr>
        <p:spPr>
          <a:xfrm xmlns:a="http://schemas.openxmlformats.org/drawingml/2006/main">
            <a:off x="971550" y="2068116"/>
            <a:ext cx="4447540"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Tapiz Boards, Agile и Scrum</a:t>
            </a:r>
            <a:endParaRPr sz="1300"/>
          </a:p>
        </p:txBody>
      </p:sp>
      <p:sp>
        <p:nvSpPr>
          <p:cNvPr id="9" name="Text 7">
            <a:extLst xmlns:a="http://schemas.openxmlformats.org/drawingml/2006/main">
              <a:ext uri="{FF2B5EF4-FFF2-40B4-BE49-F238E27FC236}">
                <a16:creationId xmlns:a16="http://schemas.microsoft.com/office/drawing/2014/main" id="{B31DC19B-9B6D-4657-94A9-84C2B7B513B3}"/>
              </a:ext>
            </a:extLst>
          </p:cNvPr>
          <p:cNvSpPr>
            <a:spLocks xmlns:a="http://schemas.openxmlformats.org/drawingml/2006/main" noGrp="1"/>
          </p:cNvSpPr>
          <p:nvPr/>
        </p:nvSpPr>
        <p:spPr>
          <a:xfrm xmlns:a="http://schemas.openxmlformats.org/drawingml/2006/main">
            <a:off x="5353050" y="2033191"/>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10</a:t>
            </a:r>
            <a:endParaRPr sz="1600"/>
          </a:p>
        </p:txBody>
      </p:sp>
      <p:sp>
        <p:nvSpPr>
          <p:cNvPr id="14" name="Shape 12">
            <a:extLst xmlns:a="http://schemas.openxmlformats.org/drawingml/2006/main">
              <a:ext uri="{FF2B5EF4-FFF2-40B4-BE49-F238E27FC236}">
                <a16:creationId xmlns:a16="http://schemas.microsoft.com/office/drawing/2014/main" id="{891E13DF-1356-4818-8754-A02D210F56B9}"/>
              </a:ext>
            </a:extLst>
          </p:cNvPr>
          <p:cNvSpPr>
            <a:spLocks xmlns:a="http://schemas.openxmlformats.org/drawingml/2006/main" noGrp="1"/>
          </p:cNvSpPr>
          <p:nvPr/>
        </p:nvSpPr>
        <p:spPr>
          <a:xfrm xmlns:a="http://schemas.openxmlformats.org/drawingml/2006/main">
            <a:off x="815975" y="2479588"/>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15" name="Text 13">
            <a:extLst xmlns:a="http://schemas.openxmlformats.org/drawingml/2006/main">
              <a:ext uri="{FF2B5EF4-FFF2-40B4-BE49-F238E27FC236}">
                <a16:creationId xmlns:a16="http://schemas.microsoft.com/office/drawing/2014/main" id="{C65DE9D6-2282-4EAF-986E-EBDC772C8DEC}"/>
              </a:ext>
            </a:extLst>
          </p:cNvPr>
          <p:cNvSpPr>
            <a:spLocks xmlns:a="http://schemas.openxmlformats.org/drawingml/2006/main" noGrp="1"/>
          </p:cNvSpPr>
          <p:nvPr/>
        </p:nvSpPr>
        <p:spPr>
          <a:xfrm xmlns:a="http://schemas.openxmlformats.org/drawingml/2006/main">
            <a:off x="971550" y="2606588"/>
            <a:ext cx="4447540"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SOLID принципи и Clean Architecture</a:t>
            </a:r>
            <a:endParaRPr sz="1300"/>
          </a:p>
        </p:txBody>
      </p:sp>
      <p:sp>
        <p:nvSpPr>
          <p:cNvPr id="16" name="Text 14">
            <a:extLst xmlns:a="http://schemas.openxmlformats.org/drawingml/2006/main">
              <a:ext uri="{FF2B5EF4-FFF2-40B4-BE49-F238E27FC236}">
                <a16:creationId xmlns:a16="http://schemas.microsoft.com/office/drawing/2014/main" id="{068643A2-D3AA-4787-92D3-A2BBE025C9AB}"/>
              </a:ext>
            </a:extLst>
          </p:cNvPr>
          <p:cNvSpPr>
            <a:spLocks xmlns:a="http://schemas.openxmlformats.org/drawingml/2006/main" noGrp="1"/>
          </p:cNvSpPr>
          <p:nvPr/>
        </p:nvSpPr>
        <p:spPr>
          <a:xfrm xmlns:a="http://schemas.openxmlformats.org/drawingml/2006/main">
            <a:off x="5353050" y="2571663"/>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16</a:t>
            </a:r>
            <a:endParaRPr sz="1600"/>
          </a:p>
        </p:txBody>
      </p:sp>
      <p:sp>
        <p:nvSpPr>
          <p:cNvPr id="17" name="Shape 15">
            <a:extLst xmlns:a="http://schemas.openxmlformats.org/drawingml/2006/main">
              <a:ext uri="{FF2B5EF4-FFF2-40B4-BE49-F238E27FC236}">
                <a16:creationId xmlns:a16="http://schemas.microsoft.com/office/drawing/2014/main" id="{922F5EDF-892F-41A1-94A2-824781283027}"/>
              </a:ext>
            </a:extLst>
          </p:cNvPr>
          <p:cNvSpPr>
            <a:spLocks xmlns:a="http://schemas.openxmlformats.org/drawingml/2006/main" noGrp="1"/>
          </p:cNvSpPr>
          <p:nvPr/>
        </p:nvSpPr>
        <p:spPr>
          <a:xfrm xmlns:a="http://schemas.openxmlformats.org/drawingml/2006/main">
            <a:off x="815975" y="3556496"/>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18" name="Text 16">
            <a:extLst xmlns:a="http://schemas.openxmlformats.org/drawingml/2006/main">
              <a:ext uri="{FF2B5EF4-FFF2-40B4-BE49-F238E27FC236}">
                <a16:creationId xmlns:a16="http://schemas.microsoft.com/office/drawing/2014/main" id="{F049D23A-239F-40D5-B541-6D66512CB23E}"/>
              </a:ext>
            </a:extLst>
          </p:cNvPr>
          <p:cNvSpPr>
            <a:spLocks xmlns:a="http://schemas.openxmlformats.org/drawingml/2006/main" noGrp="1"/>
          </p:cNvSpPr>
          <p:nvPr/>
        </p:nvSpPr>
        <p:spPr>
          <a:xfrm xmlns:a="http://schemas.openxmlformats.org/drawingml/2006/main">
            <a:off x="971550" y="3671391"/>
            <a:ext cx="401340" cy="238720"/>
          </a:xfrm>
          <a:prstGeom xmlns:a="http://schemas.openxmlformats.org/drawingml/2006/main" prst="roundRect">
            <a:avLst>
              <a:gd name="adj" fmla="val 15960"/>
            </a:avLst>
          </a:prstGeom>
          <a:solidFill xmlns:a="http://schemas.openxmlformats.org/drawingml/2006/main">
            <a:srgbClr val="FBF1E6"/>
          </a:solidFill>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b="1">
                <a:solidFill>
                  <a:srgbClr val="A8520A"/>
                </a:solidFill>
                <a:latin typeface="IBM Plex Mono"/>
                <a:ea typeface="IBM Plex Mono"/>
                <a:cs typeface="IBM Plex Mono"/>
              </a:rPr>
              <a:t>КТ1</a:t>
            </a:r>
            <a:endParaRPr sz="1200"/>
          </a:p>
        </p:txBody>
      </p:sp>
      <p:sp>
        <p:nvSpPr>
          <p:cNvPr id="19" name="Text 17">
            <a:extLst xmlns:a="http://schemas.openxmlformats.org/drawingml/2006/main">
              <a:ext uri="{FF2B5EF4-FFF2-40B4-BE49-F238E27FC236}">
                <a16:creationId xmlns:a16="http://schemas.microsoft.com/office/drawing/2014/main" id="{01B17CED-5FA0-4127-BC1D-896664996A87}"/>
              </a:ext>
            </a:extLst>
          </p:cNvPr>
          <p:cNvSpPr>
            <a:spLocks xmlns:a="http://schemas.openxmlformats.org/drawingml/2006/main" noGrp="1"/>
          </p:cNvSpPr>
          <p:nvPr/>
        </p:nvSpPr>
        <p:spPr>
          <a:xfrm xmlns:a="http://schemas.openxmlformats.org/drawingml/2006/main">
            <a:off x="1487190" y="3683496"/>
            <a:ext cx="3916431"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Основна имплементација · 4. вежба</a:t>
            </a:r>
            <a:endParaRPr sz="1300"/>
          </a:p>
        </p:txBody>
      </p:sp>
      <p:sp>
        <p:nvSpPr>
          <p:cNvPr id="20" name="Text 18">
            <a:extLst xmlns:a="http://schemas.openxmlformats.org/drawingml/2006/main">
              <a:ext uri="{FF2B5EF4-FFF2-40B4-BE49-F238E27FC236}">
                <a16:creationId xmlns:a16="http://schemas.microsoft.com/office/drawing/2014/main" id="{A90DB6C1-5B92-4296-BA66-56D822A7450B}"/>
              </a:ext>
            </a:extLst>
          </p:cNvPr>
          <p:cNvSpPr>
            <a:spLocks xmlns:a="http://schemas.openxmlformats.org/drawingml/2006/main" noGrp="1"/>
          </p:cNvSpPr>
          <p:nvPr/>
        </p:nvSpPr>
        <p:spPr>
          <a:xfrm xmlns:a="http://schemas.openxmlformats.org/drawingml/2006/main">
            <a:off x="5353050" y="3648571"/>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10</a:t>
            </a:r>
            <a:endParaRPr sz="1600"/>
          </a:p>
        </p:txBody>
      </p:sp>
      <p:sp>
        <p:nvSpPr>
          <p:cNvPr id="21" name="Shape 19">
            <a:extLst xmlns:a="http://schemas.openxmlformats.org/drawingml/2006/main">
              <a:ext uri="{FF2B5EF4-FFF2-40B4-BE49-F238E27FC236}">
                <a16:creationId xmlns:a16="http://schemas.microsoft.com/office/drawing/2014/main" id="{4CFDD64F-7271-4A63-9FB9-C0452135E814}"/>
              </a:ext>
            </a:extLst>
          </p:cNvPr>
          <p:cNvSpPr>
            <a:spLocks xmlns:a="http://schemas.openxmlformats.org/drawingml/2006/main" noGrp="1"/>
          </p:cNvSpPr>
          <p:nvPr/>
        </p:nvSpPr>
        <p:spPr>
          <a:xfrm xmlns:a="http://schemas.openxmlformats.org/drawingml/2006/main">
            <a:off x="815975" y="3017964"/>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22" name="Text 20">
            <a:extLst xmlns:a="http://schemas.openxmlformats.org/drawingml/2006/main">
              <a:ext uri="{FF2B5EF4-FFF2-40B4-BE49-F238E27FC236}">
                <a16:creationId xmlns:a16="http://schemas.microsoft.com/office/drawing/2014/main" id="{84675BC0-451F-4596-8BD7-5D70BEEF0B42}"/>
              </a:ext>
            </a:extLst>
          </p:cNvPr>
          <p:cNvSpPr>
            <a:spLocks xmlns:a="http://schemas.openxmlformats.org/drawingml/2006/main" noGrp="1"/>
          </p:cNvSpPr>
          <p:nvPr/>
        </p:nvSpPr>
        <p:spPr>
          <a:xfrm xmlns:a="http://schemas.openxmlformats.org/drawingml/2006/main">
            <a:off x="971550" y="3144964"/>
            <a:ext cx="4447540"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Пословна логика и аутоматизовано тестирање</a:t>
            </a:r>
            <a:endParaRPr sz="1300"/>
          </a:p>
        </p:txBody>
      </p:sp>
      <p:sp>
        <p:nvSpPr>
          <p:cNvPr id="23" name="Text 21">
            <a:extLst xmlns:a="http://schemas.openxmlformats.org/drawingml/2006/main">
              <a:ext uri="{FF2B5EF4-FFF2-40B4-BE49-F238E27FC236}">
                <a16:creationId xmlns:a16="http://schemas.microsoft.com/office/drawing/2014/main" id="{B6CB62F3-BF0E-4655-B804-4F76033693B0}"/>
              </a:ext>
            </a:extLst>
          </p:cNvPr>
          <p:cNvSpPr>
            <a:spLocks xmlns:a="http://schemas.openxmlformats.org/drawingml/2006/main" noGrp="1"/>
          </p:cNvSpPr>
          <p:nvPr/>
        </p:nvSpPr>
        <p:spPr>
          <a:xfrm xmlns:a="http://schemas.openxmlformats.org/drawingml/2006/main">
            <a:off x="5353050" y="3110039"/>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5</a:t>
            </a:r>
            <a:endParaRPr sz="1600"/>
          </a:p>
        </p:txBody>
      </p:sp>
      <p:sp>
        <p:nvSpPr>
          <p:cNvPr id="24" name="Text 22">
            <a:extLst xmlns:a="http://schemas.openxmlformats.org/drawingml/2006/main">
              <a:ext uri="{FF2B5EF4-FFF2-40B4-BE49-F238E27FC236}">
                <a16:creationId xmlns:a16="http://schemas.microsoft.com/office/drawing/2014/main" id="{2E96E830-4858-4388-945A-187347A6C010}"/>
              </a:ext>
            </a:extLst>
          </p:cNvPr>
          <p:cNvSpPr>
            <a:spLocks xmlns:a="http://schemas.openxmlformats.org/drawingml/2006/main" noGrp="1"/>
          </p:cNvSpPr>
          <p:nvPr/>
        </p:nvSpPr>
        <p:spPr>
          <a:xfrm xmlns:a="http://schemas.openxmlformats.org/drawingml/2006/main">
            <a:off x="6273800" y="1623020"/>
            <a:ext cx="262437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13202D"/>
                </a:solidFill>
                <a:latin typeface="IBM Plex Mono"/>
                <a:ea typeface="IBM Plex Mono"/>
                <a:cs typeface="IBM Plex Mono"/>
              </a:rPr>
              <a:t>ПРОВЕРЕ И ИНТЕГРАЦИЈА</a:t>
            </a:r>
            <a:endParaRPr sz="1200"/>
          </a:p>
        </p:txBody>
      </p:sp>
      <p:sp>
        <p:nvSpPr>
          <p:cNvPr id="25" name="Text 23">
            <a:extLst xmlns:a="http://schemas.openxmlformats.org/drawingml/2006/main">
              <a:ext uri="{FF2B5EF4-FFF2-40B4-BE49-F238E27FC236}">
                <a16:creationId xmlns:a16="http://schemas.microsoft.com/office/drawing/2014/main" id="{ED77F10C-1D42-49CE-90FF-FFF946449AB2}"/>
              </a:ext>
            </a:extLst>
          </p:cNvPr>
          <p:cNvSpPr>
            <a:spLocks xmlns:a="http://schemas.openxmlformats.org/drawingml/2006/main" noGrp="1"/>
          </p:cNvSpPr>
          <p:nvPr/>
        </p:nvSpPr>
        <p:spPr>
          <a:xfrm xmlns:a="http://schemas.openxmlformats.org/drawingml/2006/main">
            <a:off x="10475952" y="1623020"/>
            <a:ext cx="87784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30 поена</a:t>
            </a:r>
            <a:endParaRPr sz="1200"/>
          </a:p>
        </p:txBody>
      </p:sp>
      <p:sp>
        <p:nvSpPr>
          <p:cNvPr id="30" name="Shape 28">
            <a:extLst xmlns:a="http://schemas.openxmlformats.org/drawingml/2006/main">
              <a:ext uri="{FF2B5EF4-FFF2-40B4-BE49-F238E27FC236}">
                <a16:creationId xmlns:a16="http://schemas.microsoft.com/office/drawing/2014/main" id="{ECA62934-DC98-484E-90C5-1235416C8047}"/>
              </a:ext>
            </a:extLst>
          </p:cNvPr>
          <p:cNvSpPr>
            <a:spLocks xmlns:a="http://schemas.openxmlformats.org/drawingml/2006/main" noGrp="1"/>
          </p:cNvSpPr>
          <p:nvPr/>
        </p:nvSpPr>
        <p:spPr>
          <a:xfrm xmlns:a="http://schemas.openxmlformats.org/drawingml/2006/main">
            <a:off x="6251575" y="1941128"/>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31" name="Text 29">
            <a:extLst xmlns:a="http://schemas.openxmlformats.org/drawingml/2006/main">
              <a:ext uri="{FF2B5EF4-FFF2-40B4-BE49-F238E27FC236}">
                <a16:creationId xmlns:a16="http://schemas.microsoft.com/office/drawing/2014/main" id="{42C6095D-D7B1-4011-9F46-D24EF97BE50E}"/>
              </a:ext>
            </a:extLst>
          </p:cNvPr>
          <p:cNvSpPr>
            <a:spLocks xmlns:a="http://schemas.openxmlformats.org/drawingml/2006/main" noGrp="1"/>
          </p:cNvSpPr>
          <p:nvPr/>
        </p:nvSpPr>
        <p:spPr>
          <a:xfrm xmlns:a="http://schemas.openxmlformats.org/drawingml/2006/main">
            <a:off x="6407150" y="2068128"/>
            <a:ext cx="4447540"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Интероперабилност и усклађеност уговорних страна</a:t>
            </a:r>
            <a:endParaRPr sz="1300"/>
          </a:p>
        </p:txBody>
      </p:sp>
      <p:sp>
        <p:nvSpPr>
          <p:cNvPr id="32" name="Text 30">
            <a:extLst xmlns:a="http://schemas.openxmlformats.org/drawingml/2006/main">
              <a:ext uri="{FF2B5EF4-FFF2-40B4-BE49-F238E27FC236}">
                <a16:creationId xmlns:a16="http://schemas.microsoft.com/office/drawing/2014/main" id="{11B8AF77-3B8F-4B08-A8B0-25F32973766C}"/>
              </a:ext>
            </a:extLst>
          </p:cNvPr>
          <p:cNvSpPr>
            <a:spLocks xmlns:a="http://schemas.openxmlformats.org/drawingml/2006/main" noGrp="1"/>
          </p:cNvSpPr>
          <p:nvPr/>
        </p:nvSpPr>
        <p:spPr>
          <a:xfrm xmlns:a="http://schemas.openxmlformats.org/drawingml/2006/main">
            <a:off x="10788650" y="2033203"/>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10</a:t>
            </a:r>
            <a:endParaRPr sz="1600"/>
          </a:p>
        </p:txBody>
      </p:sp>
      <p:sp>
        <p:nvSpPr>
          <p:cNvPr id="33" name="Shape 31">
            <a:extLst xmlns:a="http://schemas.openxmlformats.org/drawingml/2006/main">
              <a:ext uri="{FF2B5EF4-FFF2-40B4-BE49-F238E27FC236}">
                <a16:creationId xmlns:a16="http://schemas.microsoft.com/office/drawing/2014/main" id="{C2D19E19-704B-4903-9AEA-0A41660E11A1}"/>
              </a:ext>
            </a:extLst>
          </p:cNvPr>
          <p:cNvSpPr>
            <a:spLocks xmlns:a="http://schemas.openxmlformats.org/drawingml/2006/main" noGrp="1"/>
          </p:cNvSpPr>
          <p:nvPr/>
        </p:nvSpPr>
        <p:spPr>
          <a:xfrm xmlns:a="http://schemas.openxmlformats.org/drawingml/2006/main">
            <a:off x="6251575" y="2479588"/>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34" name="Text 32">
            <a:extLst xmlns:a="http://schemas.openxmlformats.org/drawingml/2006/main">
              <a:ext uri="{FF2B5EF4-FFF2-40B4-BE49-F238E27FC236}">
                <a16:creationId xmlns:a16="http://schemas.microsoft.com/office/drawing/2014/main" id="{12896409-CBEB-4C62-8EFB-EF60B9BBD2EE}"/>
              </a:ext>
            </a:extLst>
          </p:cNvPr>
          <p:cNvSpPr>
            <a:spLocks xmlns:a="http://schemas.openxmlformats.org/drawingml/2006/main" noGrp="1"/>
          </p:cNvSpPr>
          <p:nvPr/>
        </p:nvSpPr>
        <p:spPr>
          <a:xfrm xmlns:a="http://schemas.openxmlformats.org/drawingml/2006/main">
            <a:off x="6407150" y="2606588"/>
            <a:ext cx="4447540"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Правилна и контролисана употреба AI алата</a:t>
            </a:r>
            <a:endParaRPr sz="1300"/>
          </a:p>
        </p:txBody>
      </p:sp>
      <p:sp>
        <p:nvSpPr>
          <p:cNvPr id="35" name="Text 33">
            <a:extLst xmlns:a="http://schemas.openxmlformats.org/drawingml/2006/main">
              <a:ext uri="{FF2B5EF4-FFF2-40B4-BE49-F238E27FC236}">
                <a16:creationId xmlns:a16="http://schemas.microsoft.com/office/drawing/2014/main" id="{9F9E9CFF-9C20-405A-943B-15046A7B80EF}"/>
              </a:ext>
            </a:extLst>
          </p:cNvPr>
          <p:cNvSpPr>
            <a:spLocks xmlns:a="http://schemas.openxmlformats.org/drawingml/2006/main" noGrp="1"/>
          </p:cNvSpPr>
          <p:nvPr/>
        </p:nvSpPr>
        <p:spPr>
          <a:xfrm xmlns:a="http://schemas.openxmlformats.org/drawingml/2006/main">
            <a:off x="10788650" y="2571663"/>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10</a:t>
            </a:r>
            <a:endParaRPr sz="1600"/>
          </a:p>
        </p:txBody>
      </p:sp>
      <p:sp>
        <p:nvSpPr>
          <p:cNvPr id="36" name="Shape 34">
            <a:extLst xmlns:a="http://schemas.openxmlformats.org/drawingml/2006/main">
              <a:ext uri="{FF2B5EF4-FFF2-40B4-BE49-F238E27FC236}">
                <a16:creationId xmlns:a16="http://schemas.microsoft.com/office/drawing/2014/main" id="{D61362B0-A3D0-4C1E-903C-D395DB6F28EA}"/>
              </a:ext>
            </a:extLst>
          </p:cNvPr>
          <p:cNvSpPr>
            <a:spLocks xmlns:a="http://schemas.openxmlformats.org/drawingml/2006/main" noGrp="1"/>
          </p:cNvSpPr>
          <p:nvPr/>
        </p:nvSpPr>
        <p:spPr>
          <a:xfrm xmlns:a="http://schemas.openxmlformats.org/drawingml/2006/main">
            <a:off x="6251575" y="3018048"/>
            <a:ext cx="5124450" cy="468610"/>
          </a:xfrm>
          <a:prstGeom xmlns:a="http://schemas.openxmlformats.org/drawingml/2006/main" prst="roundRect">
            <a:avLst>
              <a:gd name="adj" fmla="val 15583"/>
            </a:avLst>
          </a:prstGeom>
          <a:solidFill xmlns:a="http://schemas.openxmlformats.org/drawingml/2006/main">
            <a:srgbClr val="FCFCFB"/>
          </a:solidFill>
          <a:ln xmlns:a="http://schemas.openxmlformats.org/drawingml/2006/main" w="6350">
            <a:solidFill>
              <a:srgbClr val="D3DAE1"/>
            </a:solidFill>
            <a:prstDash val="solid"/>
          </a:ln>
        </p:spPr>
      </p:sp>
      <p:sp>
        <p:nvSpPr>
          <p:cNvPr id="37" name="Text 35">
            <a:extLst xmlns:a="http://schemas.openxmlformats.org/drawingml/2006/main">
              <a:ext uri="{FF2B5EF4-FFF2-40B4-BE49-F238E27FC236}">
                <a16:creationId xmlns:a16="http://schemas.microsoft.com/office/drawing/2014/main" id="{F3ABFD99-7F33-44B6-97C8-EFE6BA4C2F6D}"/>
              </a:ext>
            </a:extLst>
          </p:cNvPr>
          <p:cNvSpPr>
            <a:spLocks xmlns:a="http://schemas.openxmlformats.org/drawingml/2006/main" noGrp="1"/>
          </p:cNvSpPr>
          <p:nvPr/>
        </p:nvSpPr>
        <p:spPr>
          <a:xfrm xmlns:a="http://schemas.openxmlformats.org/drawingml/2006/main">
            <a:off x="6407150" y="3132943"/>
            <a:ext cx="401340" cy="238720"/>
          </a:xfrm>
          <a:prstGeom xmlns:a="http://schemas.openxmlformats.org/drawingml/2006/main" prst="roundRect">
            <a:avLst>
              <a:gd name="adj" fmla="val 15960"/>
            </a:avLst>
          </a:prstGeom>
          <a:solidFill xmlns:a="http://schemas.openxmlformats.org/drawingml/2006/main">
            <a:srgbClr val="FBF1E6"/>
          </a:solidFill>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b="1">
                <a:solidFill>
                  <a:srgbClr val="A8520A"/>
                </a:solidFill>
                <a:latin typeface="IBM Plex Mono"/>
                <a:ea typeface="IBM Plex Mono"/>
                <a:cs typeface="IBM Plex Mono"/>
              </a:rPr>
              <a:t>КТ2</a:t>
            </a:r>
            <a:endParaRPr sz="1200"/>
          </a:p>
        </p:txBody>
      </p:sp>
      <p:sp>
        <p:nvSpPr>
          <p:cNvPr id="38" name="Text 36">
            <a:extLst xmlns:a="http://schemas.openxmlformats.org/drawingml/2006/main">
              <a:ext uri="{FF2B5EF4-FFF2-40B4-BE49-F238E27FC236}">
                <a16:creationId xmlns:a16="http://schemas.microsoft.com/office/drawing/2014/main" id="{EF869B15-B61E-48C2-B1C4-28A8F13B827B}"/>
              </a:ext>
            </a:extLst>
          </p:cNvPr>
          <p:cNvSpPr>
            <a:spLocks xmlns:a="http://schemas.openxmlformats.org/drawingml/2006/main" noGrp="1"/>
          </p:cNvSpPr>
          <p:nvPr/>
        </p:nvSpPr>
        <p:spPr>
          <a:xfrm xmlns:a="http://schemas.openxmlformats.org/drawingml/2006/main">
            <a:off x="6922790" y="3145048"/>
            <a:ext cx="3916431" cy="2400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90"/>
              </a:lnSpc>
              <a:buNone/>
            </a:pPr>
            <a:r>
              <a:rPr sz="1300">
                <a:solidFill>
                  <a:srgbClr val="13202D"/>
                </a:solidFill>
                <a:latin typeface="IBM Plex Sans"/>
                <a:ea typeface="IBM Plex Sans"/>
                <a:cs typeface="IBM Plex Sans"/>
              </a:rPr>
              <a:t>Завршна демонстрација · 8. вежба</a:t>
            </a:r>
            <a:endParaRPr sz="1300"/>
          </a:p>
        </p:txBody>
      </p:sp>
      <p:sp>
        <p:nvSpPr>
          <p:cNvPr id="39" name="Text 37">
            <a:extLst xmlns:a="http://schemas.openxmlformats.org/drawingml/2006/main">
              <a:ext uri="{FF2B5EF4-FFF2-40B4-BE49-F238E27FC236}">
                <a16:creationId xmlns:a16="http://schemas.microsoft.com/office/drawing/2014/main" id="{FBE913F6-A370-4710-8FCD-2FD6A5139988}"/>
              </a:ext>
            </a:extLst>
          </p:cNvPr>
          <p:cNvSpPr>
            <a:spLocks xmlns:a="http://schemas.openxmlformats.org/drawingml/2006/main" noGrp="1"/>
          </p:cNvSpPr>
          <p:nvPr/>
        </p:nvSpPr>
        <p:spPr>
          <a:xfrm xmlns:a="http://schemas.openxmlformats.org/drawingml/2006/main">
            <a:off x="10788650" y="3110123"/>
            <a:ext cx="43180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r">
              <a:lnSpc>
                <a:spcPts val="2240"/>
              </a:lnSpc>
              <a:buNone/>
            </a:pPr>
            <a:r>
              <a:rPr sz="1600" b="1">
                <a:solidFill>
                  <a:srgbClr val="0A5CA8"/>
                </a:solidFill>
                <a:latin typeface="IBM Plex Mono"/>
                <a:ea typeface="IBM Plex Mono"/>
                <a:cs typeface="IBM Plex Mono"/>
              </a:rPr>
              <a:t>10</a:t>
            </a:r>
            <a:endParaRPr sz="1600"/>
          </a:p>
        </p:txBody>
      </p:sp>
      <p:sp>
        <p:nvSpPr>
          <p:cNvPr id="40" name="Shape 38">
            <a:extLst xmlns:a="http://schemas.openxmlformats.org/drawingml/2006/main">
              <a:ext uri="{FF2B5EF4-FFF2-40B4-BE49-F238E27FC236}">
                <a16:creationId xmlns:a16="http://schemas.microsoft.com/office/drawing/2014/main" id="{813143FD-8259-4239-A03F-26CF3F7D7D02}"/>
              </a:ext>
            </a:extLst>
          </p:cNvPr>
          <p:cNvSpPr>
            <a:spLocks xmlns:a="http://schemas.openxmlformats.org/drawingml/2006/main" noGrp="1"/>
          </p:cNvSpPr>
          <p:nvPr/>
        </p:nvSpPr>
        <p:spPr>
          <a:xfrm xmlns:a="http://schemas.openxmlformats.org/drawingml/2006/main">
            <a:off x="812800" y="4769941"/>
            <a:ext cx="10566400" cy="548580"/>
          </a:xfrm>
          <a:prstGeom xmlns:a="http://schemas.openxmlformats.org/drawingml/2006/main" prst="roundRect">
            <a:avLst>
              <a:gd name="adj" fmla="val 16205"/>
            </a:avLst>
          </a:prstGeom>
          <a:solidFill xmlns:a="http://schemas.openxmlformats.org/drawingml/2006/main">
            <a:srgbClr val="0A5CA8"/>
          </a:solidFill>
        </p:spPr>
      </p:sp>
      <p:sp>
        <p:nvSpPr>
          <p:cNvPr id="41" name="Text 39">
            <a:extLst xmlns:a="http://schemas.openxmlformats.org/drawingml/2006/main">
              <a:ext uri="{FF2B5EF4-FFF2-40B4-BE49-F238E27FC236}">
                <a16:creationId xmlns:a16="http://schemas.microsoft.com/office/drawing/2014/main" id="{8EA19F18-76B2-45A3-B3D9-150B562F22CF}"/>
              </a:ext>
            </a:extLst>
          </p:cNvPr>
          <p:cNvSpPr>
            <a:spLocks xmlns:a="http://schemas.openxmlformats.org/drawingml/2006/main" noGrp="1"/>
          </p:cNvSpPr>
          <p:nvPr/>
        </p:nvSpPr>
        <p:spPr>
          <a:xfrm xmlns:a="http://schemas.openxmlformats.org/drawingml/2006/main">
            <a:off x="1016000" y="4928691"/>
            <a:ext cx="2950488" cy="2564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spc="100">
                <a:solidFill>
                  <a:srgbClr val="DCE8F4"/>
                </a:solidFill>
                <a:latin typeface="IBM Plex Mono"/>
                <a:ea typeface="IBM Plex Mono"/>
                <a:cs typeface="IBM Plex Mono"/>
              </a:rPr>
              <a:t>УКУПНО · ПРОЈЕКТНИ ДЕО</a:t>
            </a:r>
            <a:endParaRPr sz="1300"/>
          </a:p>
        </p:txBody>
      </p:sp>
      <p:sp>
        <p:nvSpPr>
          <p:cNvPr id="42" name="Text 40">
            <a:extLst xmlns:a="http://schemas.openxmlformats.org/drawingml/2006/main">
              <a:ext uri="{FF2B5EF4-FFF2-40B4-BE49-F238E27FC236}">
                <a16:creationId xmlns:a16="http://schemas.microsoft.com/office/drawing/2014/main" id="{80FDA29E-FDA3-414B-9840-7C8EC3F026FA}"/>
              </a:ext>
            </a:extLst>
          </p:cNvPr>
          <p:cNvSpPr>
            <a:spLocks xmlns:a="http://schemas.openxmlformats.org/drawingml/2006/main" noGrp="1"/>
          </p:cNvSpPr>
          <p:nvPr/>
        </p:nvSpPr>
        <p:spPr>
          <a:xfrm xmlns:a="http://schemas.openxmlformats.org/drawingml/2006/main">
            <a:off x="10023832" y="4884241"/>
            <a:ext cx="1152168" cy="3453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2520"/>
              </a:lnSpc>
              <a:buNone/>
            </a:pPr>
            <a:r>
              <a:rPr sz="1800" b="1">
                <a:solidFill>
                  <a:srgbClr val="FCFCFB"/>
                </a:solidFill>
                <a:latin typeface="IBM Plex Mono"/>
                <a:ea typeface="IBM Plex Mono"/>
                <a:cs typeface="IBM Plex Mono"/>
              </a:rPr>
              <a:t>71 поен</a:t>
            </a:r>
            <a:endParaRPr sz="1800"/>
          </a:p>
        </p:txBody>
      </p:sp>
      <p:sp>
        <p:nvSpPr>
          <p:cNvPr id="43" name="Shape 41">
            <a:extLst xmlns:a="http://schemas.openxmlformats.org/drawingml/2006/main">
              <a:ext uri="{FF2B5EF4-FFF2-40B4-BE49-F238E27FC236}">
                <a16:creationId xmlns:a16="http://schemas.microsoft.com/office/drawing/2014/main" id="{9115DBFF-2752-416B-965C-F3A93A633FEF}"/>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44" name="Text 42">
            <a:extLst xmlns:a="http://schemas.openxmlformats.org/drawingml/2006/main">
              <a:ext uri="{FF2B5EF4-FFF2-40B4-BE49-F238E27FC236}">
                <a16:creationId xmlns:a16="http://schemas.microsoft.com/office/drawing/2014/main" id="{95EFC772-B23D-46A2-9E73-5C5ED0B51D8E}"/>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45" name="Text 43">
            <a:extLst xmlns:a="http://schemas.openxmlformats.org/drawingml/2006/main">
              <a:ext uri="{FF2B5EF4-FFF2-40B4-BE49-F238E27FC236}">
                <a16:creationId xmlns:a16="http://schemas.microsoft.com/office/drawing/2014/main" id="{5A535E40-A0C0-4258-8AF2-0FDDB0892BFA}"/>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04</a:t>
            </a:r>
            <a:endParaRPr sz="1200"/>
          </a:p>
        </p:txBody>
      </p:sp>
    </p:spTree>
    <p:extLst>
      <p:ext uri="{BB962C8B-B14F-4D97-AF65-F5344CB8AC3E}">
        <p14:creationId xmlns:p14="http://schemas.microsoft.com/office/powerpoint/2010/main" val="1900495632"/>
      </p:ext>
    </p:extLst>
  </p:cSld>
</p:sld>
</file>

<file path=ppt/slides/slide5.xml><?xml version="1.0" encoding="utf-8"?>
<p:sld xmlns:p="http://schemas.openxmlformats.org/presentationml/2006/main">
  <p:cSld>
    <p:bg>
      <p:bgPr>
        <a:solidFill xmlns:a="http://schemas.openxmlformats.org/drawingml/2006/main">
          <a:srgbClr val="F6F7F5"/>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A7B96FB-02FB-46BF-850D-71055ADFF202}"/>
              </a:ext>
            </a:extLst>
          </p:cNvPr>
          <p:cNvSpPr>
            <a:spLocks xmlns:a="http://schemas.openxmlformats.org/drawingml/2006/main" noGrp="1"/>
          </p:cNvSpPr>
          <p:nvPr/>
        </p:nvSpPr>
        <p:spPr>
          <a:xfrm xmlns:a="http://schemas.openxmlformats.org/drawingml/2006/main">
            <a:off x="812800" y="457200"/>
            <a:ext cx="457200" cy="38100"/>
          </a:xfrm>
          <a:prstGeom xmlns:a="http://schemas.openxmlformats.org/drawingml/2006/main" prst="roundRect">
            <a:avLst>
              <a:gd name="adj" fmla="val 50000"/>
            </a:avLst>
          </a:prstGeom>
          <a:solidFill xmlns:a="http://schemas.openxmlformats.org/drawingml/2006/main">
            <a:srgbClr val="0A5CA8"/>
          </a:solidFill>
        </p:spPr>
      </p:sp>
      <p:sp>
        <p:nvSpPr>
          <p:cNvPr id="3" name="Text 1">
            <a:extLst xmlns:a="http://schemas.openxmlformats.org/drawingml/2006/main">
              <a:ext uri="{FF2B5EF4-FFF2-40B4-BE49-F238E27FC236}">
                <a16:creationId xmlns:a16="http://schemas.microsoft.com/office/drawing/2014/main" id="{FE56AC09-B066-4B99-8124-55121F939CB4}"/>
              </a:ext>
            </a:extLst>
          </p:cNvPr>
          <p:cNvSpPr>
            <a:spLocks xmlns:a="http://schemas.openxmlformats.org/drawingml/2006/main" noGrp="1"/>
          </p:cNvSpPr>
          <p:nvPr/>
        </p:nvSpPr>
        <p:spPr>
          <a:xfrm xmlns:a="http://schemas.openxmlformats.org/drawingml/2006/main">
            <a:off x="812800" y="711200"/>
            <a:ext cx="10883392"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spc="100">
                <a:solidFill>
                  <a:srgbClr val="0A5CA8"/>
                </a:solidFill>
                <a:latin typeface="IBM Plex Mono"/>
                <a:ea typeface="IBM Plex Mono"/>
                <a:cs typeface="IBM Plex Mono"/>
              </a:rPr>
              <a:t>02 · ОЦЕЊИВАЊЕ</a:t>
            </a:r>
            <a:endParaRPr sz="1200"/>
          </a:p>
        </p:txBody>
      </p:sp>
      <p:sp>
        <p:nvSpPr>
          <p:cNvPr id="4" name="Text 2">
            <a:extLst xmlns:a="http://schemas.openxmlformats.org/drawingml/2006/main">
              <a:ext uri="{FF2B5EF4-FFF2-40B4-BE49-F238E27FC236}">
                <a16:creationId xmlns:a16="http://schemas.microsoft.com/office/drawing/2014/main" id="{0149B63E-D9E6-4853-9BC0-7509CAAF4217}"/>
              </a:ext>
            </a:extLst>
          </p:cNvPr>
          <p:cNvSpPr>
            <a:spLocks xmlns:a="http://schemas.openxmlformats.org/drawingml/2006/main" noGrp="1"/>
          </p:cNvSpPr>
          <p:nvPr>
            <p:ph type="title" idx="0"/>
          </p:nvPr>
        </p:nvSpPr>
        <p:spPr>
          <a:xfrm xmlns:a="http://schemas.openxmlformats.org/drawingml/2006/main">
            <a:off x="812800" y="1000720"/>
            <a:ext cx="10883392" cy="4445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300"/>
              </a:lnSpc>
              <a:buNone/>
            </a:pPr>
            <a:r>
              <a:rPr sz="3000" b="1" i="0" spc="-50">
                <a:solidFill>
                  <a:srgbClr val="13202D"/>
                </a:solidFill>
                <a:latin typeface="IBM Plex Sans"/>
                <a:ea typeface="IBM Plex Sans"/>
                <a:cs typeface="IBM Plex Sans"/>
              </a:rPr>
              <a:t>Контролне тачке</a:t>
            </a:r>
            <a:endParaRPr sz="3000"/>
          </a:p>
        </p:txBody>
      </p:sp>
      <p:sp>
        <p:nvSpPr>
          <p:cNvPr id="5" name="Text 3">
            <a:extLst xmlns:a="http://schemas.openxmlformats.org/drawingml/2006/main">
              <a:ext uri="{FF2B5EF4-FFF2-40B4-BE49-F238E27FC236}">
                <a16:creationId xmlns:a16="http://schemas.microsoft.com/office/drawing/2014/main" id="{DD6E1C8E-1A77-47E1-BD8E-AC5AC1E9C326}"/>
              </a:ext>
            </a:extLst>
          </p:cNvPr>
          <p:cNvSpPr>
            <a:spLocks xmlns:a="http://schemas.openxmlformats.org/drawingml/2006/main" noGrp="1"/>
          </p:cNvSpPr>
          <p:nvPr/>
        </p:nvSpPr>
        <p:spPr>
          <a:xfrm xmlns:a="http://schemas.openxmlformats.org/drawingml/2006/main">
            <a:off x="812800" y="1673820"/>
            <a:ext cx="10883392" cy="2742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pPr>
            <a:r>
              <a:rPr sz="1400">
                <a:solidFill>
                  <a:srgbClr val="44505D"/>
                </a:solidFill>
                <a:latin typeface="IBM Plex Sans"/>
                <a:ea typeface="IBM Plex Sans"/>
                <a:cs typeface="IBM Plex Sans"/>
              </a:rPr>
              <a:t>Две контролне тачке проверавају напредак свих додељених целина у терминима 4. и 8. вежбе.</a:t>
            </a:r>
            <a:endParaRPr sz="1400"/>
          </a:p>
        </p:txBody>
      </p:sp>
      <p:sp>
        <p:nvSpPr>
          <p:cNvPr id="6" name="Shape 4">
            <a:extLst xmlns:a="http://schemas.openxmlformats.org/drawingml/2006/main">
              <a:ext uri="{FF2B5EF4-FFF2-40B4-BE49-F238E27FC236}">
                <a16:creationId xmlns:a16="http://schemas.microsoft.com/office/drawing/2014/main" id="{D52E9126-0059-4116-9F7E-D7198857B25E}"/>
              </a:ext>
            </a:extLst>
          </p:cNvPr>
          <p:cNvSpPr>
            <a:spLocks xmlns:a="http://schemas.openxmlformats.org/drawingml/2006/main" noGrp="1"/>
          </p:cNvSpPr>
          <p:nvPr/>
        </p:nvSpPr>
        <p:spPr>
          <a:xfrm xmlns:a="http://schemas.openxmlformats.org/drawingml/2006/main">
            <a:off x="815975" y="2179836"/>
            <a:ext cx="5060918" cy="1905000"/>
          </a:xfrm>
          <a:prstGeom xmlns:a="http://schemas.openxmlformats.org/drawingml/2006/main" prst="roundRect">
            <a:avLst>
              <a:gd name="adj" fmla="val 5447"/>
            </a:avLst>
          </a:prstGeom>
          <a:solidFill xmlns:a="http://schemas.openxmlformats.org/drawingml/2006/main">
            <a:srgbClr val="FCFCFB"/>
          </a:solidFill>
          <a:ln xmlns:a="http://schemas.openxmlformats.org/drawingml/2006/main" w="6350">
            <a:solidFill>
              <a:srgbClr val="D3DAE1"/>
            </a:solidFill>
            <a:prstDash val="solid"/>
          </a:ln>
        </p:spPr>
      </p:sp>
      <p:sp>
        <p:nvSpPr>
          <p:cNvPr id="7" name="Text 5">
            <a:extLst xmlns:a="http://schemas.openxmlformats.org/drawingml/2006/main">
              <a:ext uri="{FF2B5EF4-FFF2-40B4-BE49-F238E27FC236}">
                <a16:creationId xmlns:a16="http://schemas.microsoft.com/office/drawing/2014/main" id="{6FBC90F9-9B62-45F6-BE09-D9287AB381BF}"/>
              </a:ext>
            </a:extLst>
          </p:cNvPr>
          <p:cNvSpPr>
            <a:spLocks xmlns:a="http://schemas.openxmlformats.org/drawingml/2006/main" noGrp="1"/>
          </p:cNvSpPr>
          <p:nvPr/>
        </p:nvSpPr>
        <p:spPr>
          <a:xfrm xmlns:a="http://schemas.openxmlformats.org/drawingml/2006/main">
            <a:off x="996950" y="2348111"/>
            <a:ext cx="466725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240"/>
              </a:lnSpc>
              <a:buNone/>
            </a:pPr>
            <a:r>
              <a:rPr sz="1600" b="1">
                <a:solidFill>
                  <a:srgbClr val="0A5CA8"/>
                </a:solidFill>
                <a:latin typeface="IBM Plex Mono"/>
                <a:ea typeface="IBM Plex Mono"/>
                <a:cs typeface="IBM Plex Mono"/>
              </a:rPr>
              <a:t>КТ1 · 4. ВЕЖБА</a:t>
            </a:r>
            <a:endParaRPr sz="1600"/>
          </a:p>
        </p:txBody>
      </p:sp>
      <p:sp>
        <p:nvSpPr>
          <p:cNvPr id="8" name="Text 6">
            <a:extLst xmlns:a="http://schemas.openxmlformats.org/drawingml/2006/main">
              <a:ext uri="{FF2B5EF4-FFF2-40B4-BE49-F238E27FC236}">
                <a16:creationId xmlns:a16="http://schemas.microsoft.com/office/drawing/2014/main" id="{5A10C5F9-331C-4053-8E2F-AE215A00D974}"/>
              </a:ext>
            </a:extLst>
          </p:cNvPr>
          <p:cNvSpPr>
            <a:spLocks xmlns:a="http://schemas.openxmlformats.org/drawingml/2006/main" noGrp="1"/>
          </p:cNvSpPr>
          <p:nvPr/>
        </p:nvSpPr>
        <p:spPr>
          <a:xfrm xmlns:a="http://schemas.openxmlformats.org/drawingml/2006/main">
            <a:off x="996950" y="2708771"/>
            <a:ext cx="466725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400" b="1">
                <a:solidFill>
                  <a:srgbClr val="13202D"/>
                </a:solidFill>
                <a:latin typeface="IBM Plex Sans"/>
                <a:ea typeface="IBM Plex Sans"/>
                <a:cs typeface="IBM Plex Sans"/>
              </a:rPr>
              <a:t>Основна имплементација</a:t>
            </a:r>
            <a:endParaRPr sz="1400"/>
          </a:p>
        </p:txBody>
      </p:sp>
      <p:sp>
        <p:nvSpPr>
          <p:cNvPr id="9" name="Text 7">
            <a:extLst xmlns:a="http://schemas.openxmlformats.org/drawingml/2006/main">
              <a:ext uri="{FF2B5EF4-FFF2-40B4-BE49-F238E27FC236}">
                <a16:creationId xmlns:a16="http://schemas.microsoft.com/office/drawing/2014/main" id="{A88B5F44-D7C8-4D25-9329-35C6AAF0596B}"/>
              </a:ext>
            </a:extLst>
          </p:cNvPr>
          <p:cNvSpPr>
            <a:spLocks xmlns:a="http://schemas.openxmlformats.org/drawingml/2006/main" noGrp="1"/>
          </p:cNvSpPr>
          <p:nvPr/>
        </p:nvSpPr>
        <p:spPr>
          <a:xfrm xmlns:a="http://schemas.openxmlformats.org/drawingml/2006/main">
            <a:off x="996982" y="3676650"/>
            <a:ext cx="1028700" cy="264128"/>
          </a:xfrm>
          <a:prstGeom xmlns:a="http://schemas.openxmlformats.org/drawingml/2006/main" prst="roundRect">
            <a:avLst>
              <a:gd name="adj" fmla="val 50000"/>
            </a:avLst>
          </a:prstGeom>
          <a:solidFill xmlns:a="http://schemas.openxmlformats.org/drawingml/2006/main">
            <a:srgbClr val="DCE8F4"/>
          </a:solidFill>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b="1">
                <a:solidFill>
                  <a:srgbClr val="0A5CA8"/>
                </a:solidFill>
                <a:latin typeface="IBM Plex Mono"/>
                <a:ea typeface="IBM Plex Mono"/>
                <a:cs typeface="IBM Plex Mono"/>
              </a:rPr>
              <a:t>10 поена</a:t>
            </a:r>
            <a:endParaRPr sz="1200"/>
          </a:p>
        </p:txBody>
      </p:sp>
      <p:sp>
        <p:nvSpPr>
          <p:cNvPr id="11" name="Shape 8">
            <a:extLst xmlns:a="http://schemas.openxmlformats.org/drawingml/2006/main">
              <a:ext uri="{FF2B5EF4-FFF2-40B4-BE49-F238E27FC236}">
                <a16:creationId xmlns:a16="http://schemas.microsoft.com/office/drawing/2014/main" id="{D794E748-DE8F-401D-A739-1CCDE11FA82E}"/>
              </a:ext>
            </a:extLst>
          </p:cNvPr>
          <p:cNvSpPr>
            <a:spLocks xmlns:a="http://schemas.openxmlformats.org/drawingml/2006/main" noGrp="1"/>
          </p:cNvSpPr>
          <p:nvPr/>
        </p:nvSpPr>
        <p:spPr>
          <a:xfrm xmlns:a="http://schemas.openxmlformats.org/drawingml/2006/main">
            <a:off x="6315075" y="2179836"/>
            <a:ext cx="5060918" cy="1905000"/>
          </a:xfrm>
          <a:prstGeom xmlns:a="http://schemas.openxmlformats.org/drawingml/2006/main" prst="roundRect">
            <a:avLst>
              <a:gd name="adj" fmla="val 5447"/>
            </a:avLst>
          </a:prstGeom>
          <a:solidFill xmlns:a="http://schemas.openxmlformats.org/drawingml/2006/main">
            <a:srgbClr val="FCFCFB"/>
          </a:solidFill>
          <a:ln xmlns:a="http://schemas.openxmlformats.org/drawingml/2006/main" w="6350">
            <a:solidFill>
              <a:srgbClr val="D3DAE1"/>
            </a:solidFill>
            <a:prstDash val="solid"/>
          </a:ln>
        </p:spPr>
      </p:sp>
      <p:sp>
        <p:nvSpPr>
          <p:cNvPr id="12" name="Text 9">
            <a:extLst xmlns:a="http://schemas.openxmlformats.org/drawingml/2006/main">
              <a:ext uri="{FF2B5EF4-FFF2-40B4-BE49-F238E27FC236}">
                <a16:creationId xmlns:a16="http://schemas.microsoft.com/office/drawing/2014/main" id="{595F99E8-28C4-47B0-832A-A639AC7F7C88}"/>
              </a:ext>
            </a:extLst>
          </p:cNvPr>
          <p:cNvSpPr>
            <a:spLocks xmlns:a="http://schemas.openxmlformats.org/drawingml/2006/main" noGrp="1"/>
          </p:cNvSpPr>
          <p:nvPr/>
        </p:nvSpPr>
        <p:spPr>
          <a:xfrm xmlns:a="http://schemas.openxmlformats.org/drawingml/2006/main">
            <a:off x="6496050" y="2348111"/>
            <a:ext cx="4667250" cy="30986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240"/>
              </a:lnSpc>
              <a:buNone/>
            </a:pPr>
            <a:r>
              <a:rPr sz="1600" b="1">
                <a:solidFill>
                  <a:srgbClr val="0A5CA8"/>
                </a:solidFill>
                <a:latin typeface="IBM Plex Mono"/>
                <a:ea typeface="IBM Plex Mono"/>
                <a:cs typeface="IBM Plex Mono"/>
              </a:rPr>
              <a:t>КТ2 · 8. ВЕЖБА</a:t>
            </a:r>
            <a:endParaRPr sz="1600"/>
          </a:p>
        </p:txBody>
      </p:sp>
      <p:sp>
        <p:nvSpPr>
          <p:cNvPr id="13" name="Text 10">
            <a:extLst xmlns:a="http://schemas.openxmlformats.org/drawingml/2006/main">
              <a:ext uri="{FF2B5EF4-FFF2-40B4-BE49-F238E27FC236}">
                <a16:creationId xmlns:a16="http://schemas.microsoft.com/office/drawing/2014/main" id="{2903FC0B-A433-42C3-8B79-E165DF973C91}"/>
              </a:ext>
            </a:extLst>
          </p:cNvPr>
          <p:cNvSpPr>
            <a:spLocks xmlns:a="http://schemas.openxmlformats.org/drawingml/2006/main" noGrp="1"/>
          </p:cNvSpPr>
          <p:nvPr/>
        </p:nvSpPr>
        <p:spPr>
          <a:xfrm xmlns:a="http://schemas.openxmlformats.org/drawingml/2006/main">
            <a:off x="6496050" y="2708771"/>
            <a:ext cx="4667250" cy="2857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pPr>
            <a:r>
              <a:rPr sz="1400" b="1">
                <a:solidFill>
                  <a:srgbClr val="13202D"/>
                </a:solidFill>
                <a:latin typeface="IBM Plex Sans"/>
                <a:ea typeface="IBM Plex Sans"/>
                <a:cs typeface="IBM Plex Sans"/>
              </a:rPr>
              <a:t>Завршна демонстрација</a:t>
            </a:r>
            <a:endParaRPr sz="1400"/>
          </a:p>
        </p:txBody>
      </p:sp>
      <p:sp>
        <p:nvSpPr>
          <p:cNvPr id="14" name="Text 11">
            <a:extLst xmlns:a="http://schemas.openxmlformats.org/drawingml/2006/main">
              <a:ext uri="{FF2B5EF4-FFF2-40B4-BE49-F238E27FC236}">
                <a16:creationId xmlns:a16="http://schemas.microsoft.com/office/drawing/2014/main" id="{B2018830-065E-4114-8922-FDED7D198BF7}"/>
              </a:ext>
            </a:extLst>
          </p:cNvPr>
          <p:cNvSpPr>
            <a:spLocks xmlns:a="http://schemas.openxmlformats.org/drawingml/2006/main" noGrp="1"/>
          </p:cNvSpPr>
          <p:nvPr/>
        </p:nvSpPr>
        <p:spPr>
          <a:xfrm xmlns:a="http://schemas.openxmlformats.org/drawingml/2006/main">
            <a:off x="6496050" y="3676650"/>
            <a:ext cx="1028700" cy="264128"/>
          </a:xfrm>
          <a:prstGeom xmlns:a="http://schemas.openxmlformats.org/drawingml/2006/main" prst="roundRect">
            <a:avLst>
              <a:gd name="adj" fmla="val 50000"/>
            </a:avLst>
          </a:prstGeom>
          <a:solidFill xmlns:a="http://schemas.openxmlformats.org/drawingml/2006/main">
            <a:srgbClr val="DCE8F4"/>
          </a:solidFill>
        </p:spPr>
        <p:txBody>
          <a:bodyPr xmlns:a="http://schemas.openxmlformats.org/drawingml/2006/main" wrap="none" lIns="0" tIns="0" rIns="0" bIns="0" anchor="ctr">
            <a:normAutofit fontScale="100000"/>
          </a:bodyPr>
          <a:lstStyle xmlns:a="http://schemas.openxmlformats.org/drawingml/2006/main"/>
          <a:p xmlns:a="http://schemas.openxmlformats.org/drawingml/2006/main">
            <a:pPr marL="0" indent="0" algn="ctr">
              <a:lnSpc>
                <a:spcPts val="1680"/>
              </a:lnSpc>
              <a:buNone/>
            </a:pPr>
            <a:r>
              <a:rPr sz="1200" b="1">
                <a:solidFill>
                  <a:srgbClr val="0A5CA8"/>
                </a:solidFill>
                <a:latin typeface="IBM Plex Mono"/>
                <a:ea typeface="IBM Plex Mono"/>
                <a:cs typeface="IBM Plex Mono"/>
              </a:rPr>
              <a:t>10 поена</a:t>
            </a:r>
            <a:endParaRPr sz="1200"/>
          </a:p>
        </p:txBody>
      </p:sp>
      <p:pic>
        <p:nvPicPr>
          <p:cNvPr id="15" name="Image 1">
            <a:extLst xmlns:a="http://schemas.openxmlformats.org/drawingml/2006/main">
              <a:ext uri="{FF2B5EF4-FFF2-40B4-BE49-F238E27FC236}">
                <a16:creationId xmlns:a16="http://schemas.microsoft.com/office/drawing/2014/main" id="{665EFB76-78AD-4DCA-A6C6-3BDCA2A17111}"/>
              </a:ext>
            </a:extLst>
          </p:cNvPr>
          <p:cNvPicPr>
            <a:picLocks xmlns:a="http://schemas.openxmlformats.org/drawingml/2006/main" noChangeAspect="1"/>
          </p:cNvPicPr>
          <p:nvPr/>
        </p:nvPicPr>
        <p:blipFill>
          <a:blip xmlns:r="http://schemas.openxmlformats.org/officeDocument/2006/relationships" xmlns:a="http://schemas.openxmlformats.org/drawingml/2006/main" r:embed="R10b785b3b4944f92"/>
          <a:srcRect xmlns:a="http://schemas.openxmlformats.org/drawingml/2006/main" l="0" t="0" r="0" b="0"/>
          <a:stretch xmlns:a="http://schemas.openxmlformats.org/drawingml/2006/main"/>
        </p:blipFill>
        <p:spPr>
          <a:xfrm xmlns:a="http://schemas.openxmlformats.org/drawingml/2006/main">
            <a:off x="5981700" y="3026172"/>
            <a:ext cx="228600" cy="114300"/>
          </a:xfrm>
          <a:prstGeom xmlns:a="http://schemas.openxmlformats.org/drawingml/2006/main" prst="rect">
            <a:avLst/>
          </a:prstGeom>
        </p:spPr>
      </p:pic>
      <p:sp>
        <p:nvSpPr>
          <p:cNvPr id="25" name="Shape 20">
            <a:extLst xmlns:a="http://schemas.openxmlformats.org/drawingml/2006/main">
              <a:ext uri="{FF2B5EF4-FFF2-40B4-BE49-F238E27FC236}">
                <a16:creationId xmlns:a16="http://schemas.microsoft.com/office/drawing/2014/main" id="{41A3CE54-FD9E-4E65-B5E1-D3D80C952EA0}"/>
              </a:ext>
            </a:extLst>
          </p:cNvPr>
          <p:cNvSpPr>
            <a:spLocks xmlns:a="http://schemas.openxmlformats.org/drawingml/2006/main" noGrp="1"/>
          </p:cNvSpPr>
          <p:nvPr/>
        </p:nvSpPr>
        <p:spPr>
          <a:xfrm xmlns:a="http://schemas.openxmlformats.org/drawingml/2006/main">
            <a:off x="812800" y="4243983"/>
            <a:ext cx="3302000" cy="1005681"/>
          </a:xfrm>
          <a:prstGeom xmlns:a="http://schemas.openxmlformats.org/drawingml/2006/main" prst="roundRect">
            <a:avLst>
              <a:gd name="adj" fmla="val 10103"/>
            </a:avLst>
          </a:prstGeom>
          <a:solidFill xmlns:a="http://schemas.openxmlformats.org/drawingml/2006/main">
            <a:srgbClr val="EBF0F5"/>
          </a:solidFill>
        </p:spPr>
      </p:sp>
      <p:sp>
        <p:nvSpPr>
          <p:cNvPr id="26" name="Text 21">
            <a:extLst xmlns:a="http://schemas.openxmlformats.org/drawingml/2006/main">
              <a:ext uri="{FF2B5EF4-FFF2-40B4-BE49-F238E27FC236}">
                <a16:creationId xmlns:a16="http://schemas.microsoft.com/office/drawing/2014/main" id="{8CA1D047-7C62-4D8A-862F-6F9C46CA1385}"/>
              </a:ext>
            </a:extLst>
          </p:cNvPr>
          <p:cNvSpPr>
            <a:spLocks xmlns:a="http://schemas.openxmlformats.org/drawingml/2006/main" noGrp="1"/>
          </p:cNvSpPr>
          <p:nvPr/>
        </p:nvSpPr>
        <p:spPr>
          <a:xfrm xmlns:a="http://schemas.openxmlformats.org/drawingml/2006/main">
            <a:off x="1016000" y="4543623"/>
            <a:ext cx="585311" cy="4318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200"/>
              </a:lnSpc>
              <a:buNone/>
            </a:pPr>
            <a:r>
              <a:rPr sz="3200">
                <a:solidFill>
                  <a:srgbClr val="0A5CA8"/>
                </a:solidFill>
                <a:latin typeface="IBM Plex Mono"/>
                <a:ea typeface="IBM Plex Mono"/>
                <a:cs typeface="IBM Plex Mono"/>
              </a:rPr>
              <a:t>20</a:t>
            </a:r>
            <a:endParaRPr sz="3200"/>
          </a:p>
        </p:txBody>
      </p:sp>
      <p:sp>
        <p:nvSpPr>
          <p:cNvPr id="27" name="Text 22">
            <a:extLst xmlns:a="http://schemas.openxmlformats.org/drawingml/2006/main">
              <a:ext uri="{FF2B5EF4-FFF2-40B4-BE49-F238E27FC236}">
                <a16:creationId xmlns:a16="http://schemas.microsoft.com/office/drawing/2014/main" id="{79F7195F-F2C0-4CCF-A3B7-4BB13EE60255}"/>
              </a:ext>
            </a:extLst>
          </p:cNvPr>
          <p:cNvSpPr>
            <a:spLocks xmlns:a="http://schemas.openxmlformats.org/drawingml/2006/main" noGrp="1"/>
          </p:cNvSpPr>
          <p:nvPr/>
        </p:nvSpPr>
        <p:spPr>
          <a:xfrm xmlns:a="http://schemas.openxmlformats.org/drawingml/2006/main">
            <a:off x="1656159" y="4426843"/>
            <a:ext cx="2323104" cy="6653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44505D"/>
                </a:solidFill>
                <a:latin typeface="IBM Plex Sans"/>
                <a:ea typeface="IBM Plex Sans"/>
                <a:cs typeface="IBM Plex Sans"/>
              </a:rPr>
              <a:t>поена укупно на контролним тачкама, у оквиру 71 пројектног поена</a:t>
            </a:r>
            <a:endParaRPr sz="1200"/>
          </a:p>
        </p:txBody>
      </p:sp>
      <p:sp>
        <p:nvSpPr>
          <p:cNvPr id="28" name="Shape 23">
            <a:extLst xmlns:a="http://schemas.openxmlformats.org/drawingml/2006/main">
              <a:ext uri="{FF2B5EF4-FFF2-40B4-BE49-F238E27FC236}">
                <a16:creationId xmlns:a16="http://schemas.microsoft.com/office/drawing/2014/main" id="{683F5DA6-3BD8-445A-B808-D3FB63DDC01D}"/>
              </a:ext>
            </a:extLst>
          </p:cNvPr>
          <p:cNvSpPr>
            <a:spLocks xmlns:a="http://schemas.openxmlformats.org/drawingml/2006/main" noGrp="1"/>
          </p:cNvSpPr>
          <p:nvPr/>
        </p:nvSpPr>
        <p:spPr>
          <a:xfrm xmlns:a="http://schemas.openxmlformats.org/drawingml/2006/main">
            <a:off x="4270375" y="4247158"/>
            <a:ext cx="7105650" cy="999331"/>
          </a:xfrm>
          <a:prstGeom xmlns:a="http://schemas.openxmlformats.org/drawingml/2006/main" prst="roundRect">
            <a:avLst>
              <a:gd name="adj" fmla="val 9849"/>
            </a:avLst>
          </a:prstGeom>
          <a:solidFill xmlns:a="http://schemas.openxmlformats.org/drawingml/2006/main">
            <a:srgbClr val="FBF1E6"/>
          </a:solidFill>
          <a:ln xmlns:a="http://schemas.openxmlformats.org/drawingml/2006/main" w="6350">
            <a:solidFill>
              <a:srgbClr val="E9B98C"/>
            </a:solidFill>
            <a:prstDash val="solid"/>
          </a:ln>
        </p:spPr>
      </p:sp>
      <p:sp>
        <p:nvSpPr>
          <p:cNvPr id="29" name="Text 24">
            <a:extLst xmlns:a="http://schemas.openxmlformats.org/drawingml/2006/main">
              <a:ext uri="{FF2B5EF4-FFF2-40B4-BE49-F238E27FC236}">
                <a16:creationId xmlns:a16="http://schemas.microsoft.com/office/drawing/2014/main" id="{104124A3-0A63-426C-A3C6-4E5C7FD5082E}"/>
              </a:ext>
            </a:extLst>
          </p:cNvPr>
          <p:cNvSpPr>
            <a:spLocks xmlns:a="http://schemas.openxmlformats.org/drawingml/2006/main" noGrp="1"/>
          </p:cNvSpPr>
          <p:nvPr/>
        </p:nvSpPr>
        <p:spPr>
          <a:xfrm xmlns:a="http://schemas.openxmlformats.org/drawingml/2006/main">
            <a:off x="4476750" y="4390033"/>
            <a:ext cx="6893687"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A8520A"/>
                </a:solidFill>
                <a:latin typeface="IBM Plex Mono"/>
                <a:ea typeface="IBM Plex Mono"/>
                <a:cs typeface="IBM Plex Mono"/>
              </a:rPr>
              <a:t>ДОДАТНИ ПОЕНИ</a:t>
            </a:r>
            <a:endParaRPr sz="1200"/>
          </a:p>
        </p:txBody>
      </p:sp>
      <p:sp>
        <p:nvSpPr>
          <p:cNvPr id="30" name="Text 25">
            <a:extLst xmlns:a="http://schemas.openxmlformats.org/drawingml/2006/main">
              <a:ext uri="{FF2B5EF4-FFF2-40B4-BE49-F238E27FC236}">
                <a16:creationId xmlns:a16="http://schemas.microsoft.com/office/drawing/2014/main" id="{C11B94E6-8096-4AB2-AA12-E0C107B531DE}"/>
              </a:ext>
            </a:extLst>
          </p:cNvPr>
          <p:cNvSpPr>
            <a:spLocks xmlns:a="http://schemas.openxmlformats.org/drawingml/2006/main" noGrp="1"/>
          </p:cNvSpPr>
          <p:nvPr/>
        </p:nvSpPr>
        <p:spPr>
          <a:xfrm xmlns:a="http://schemas.openxmlformats.org/drawingml/2006/main">
            <a:off x="4476750" y="4641453"/>
            <a:ext cx="6893687" cy="48756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a:solidFill>
                  <a:srgbClr val="13202D"/>
                </a:solidFill>
                <a:latin typeface="IBM Plex Sans"/>
                <a:ea typeface="IBM Plex Sans"/>
                <a:cs typeface="IBM Plex Sans"/>
              </a:rPr>
              <a:t>Студент може остварити до 5 додатних поена за активност и ангажовање на настави. Додатни поени допуњују пројектни резултат највише до 71 поена.</a:t>
            </a:r>
            <a:endParaRPr sz="1300"/>
          </a:p>
        </p:txBody>
      </p:sp>
      <p:sp>
        <p:nvSpPr>
          <p:cNvPr id="31" name="Shape 26">
            <a:extLst xmlns:a="http://schemas.openxmlformats.org/drawingml/2006/main">
              <a:ext uri="{FF2B5EF4-FFF2-40B4-BE49-F238E27FC236}">
                <a16:creationId xmlns:a16="http://schemas.microsoft.com/office/drawing/2014/main" id="{B37FB643-D5A6-4E47-B7A8-B784D6BA914C}"/>
              </a:ext>
            </a:extLst>
          </p:cNvPr>
          <p:cNvSpPr>
            <a:spLocks xmlns:a="http://schemas.openxmlformats.org/drawingml/2006/main" noGrp="1"/>
          </p:cNvSpPr>
          <p:nvPr/>
        </p:nvSpPr>
        <p:spPr>
          <a:xfrm xmlns:a="http://schemas.openxmlformats.org/drawingml/2006/main">
            <a:off x="812800" y="6209705"/>
            <a:ext cx="10566400" cy="0"/>
          </a:xfrm>
          <a:prstGeom xmlns:a="http://schemas.openxmlformats.org/drawingml/2006/main" prst="line">
            <a:avLst/>
          </a:prstGeom>
          <a:noFill xmlns:a="http://schemas.openxmlformats.org/drawingml/2006/main"/>
          <a:ln xmlns:a="http://schemas.openxmlformats.org/drawingml/2006/main" w="6350">
            <a:solidFill>
              <a:srgbClr val="D3DAE1"/>
            </a:solidFill>
            <a:prstDash val="solid"/>
          </a:ln>
        </p:spPr>
      </p:sp>
      <p:sp>
        <p:nvSpPr>
          <p:cNvPr id="32" name="Text 27">
            <a:extLst xmlns:a="http://schemas.openxmlformats.org/drawingml/2006/main">
              <a:ext uri="{FF2B5EF4-FFF2-40B4-BE49-F238E27FC236}">
                <a16:creationId xmlns:a16="http://schemas.microsoft.com/office/drawing/2014/main" id="{0E36C5CE-5C8D-4C9F-8CC6-52ABD28BE37E}"/>
              </a:ext>
            </a:extLst>
          </p:cNvPr>
          <p:cNvSpPr>
            <a:spLocks xmlns:a="http://schemas.openxmlformats.org/drawingml/2006/main" noGrp="1"/>
          </p:cNvSpPr>
          <p:nvPr/>
        </p:nvSpPr>
        <p:spPr>
          <a:xfrm xmlns:a="http://schemas.openxmlformats.org/drawingml/2006/main">
            <a:off x="812800" y="6314480"/>
            <a:ext cx="2390061"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5E6975"/>
                </a:solidFill>
                <a:latin typeface="IBM Plex Sans"/>
                <a:ea typeface="IBM Plex Sans"/>
                <a:cs typeface="IBM Plex Sans"/>
              </a:rPr>
              <a:t>Елементи развоја софтвера</a:t>
            </a:r>
            <a:endParaRPr sz="1200"/>
          </a:p>
        </p:txBody>
      </p:sp>
      <p:sp>
        <p:nvSpPr>
          <p:cNvPr id="33" name="Text 28">
            <a:extLst xmlns:a="http://schemas.openxmlformats.org/drawingml/2006/main">
              <a:ext uri="{FF2B5EF4-FFF2-40B4-BE49-F238E27FC236}">
                <a16:creationId xmlns:a16="http://schemas.microsoft.com/office/drawing/2014/main" id="{39D734E4-33E3-47AF-B222-B3FAC05F5DDB}"/>
              </a:ext>
            </a:extLst>
          </p:cNvPr>
          <p:cNvSpPr>
            <a:spLocks xmlns:a="http://schemas.openxmlformats.org/drawingml/2006/main" noGrp="1"/>
          </p:cNvSpPr>
          <p:nvPr/>
        </p:nvSpPr>
        <p:spPr>
          <a:xfrm xmlns:a="http://schemas.openxmlformats.org/drawingml/2006/main">
            <a:off x="11145441" y="6314480"/>
            <a:ext cx="23375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r">
              <a:lnSpc>
                <a:spcPts val="1680"/>
              </a:lnSpc>
              <a:buNone/>
            </a:pPr>
            <a:r>
              <a:rPr sz="1200">
                <a:solidFill>
                  <a:srgbClr val="5E6975"/>
                </a:solidFill>
                <a:latin typeface="IBM Plex Mono"/>
                <a:ea typeface="IBM Plex Mono"/>
                <a:cs typeface="IBM Plex Mono"/>
              </a:rPr>
              <a:t>05</a:t>
            </a:r>
            <a:endParaRPr sz="1200"/>
          </a:p>
        </p:txBody>
      </p:sp>
      <p:sp>
        <p:nvSpPr>
          <p:cNvPr id="34" name="">
            <a:extLst xmlns:a="http://schemas.openxmlformats.org/drawingml/2006/main">
              <a:ext uri="{FF2B5EF4-FFF2-40B4-BE49-F238E27FC236}">
                <a16:creationId xmlns:a16="http://schemas.microsoft.com/office/drawing/2014/main" id="{C5A02FC6-1616-4D32-894B-64A63380E9FE}"/>
              </a:ext>
            </a:extLst>
          </p:cNvPr>
          <p:cNvSpPr>
            <a:spLocks xmlns:a="http://schemas.openxmlformats.org/drawingml/2006/main" noGrp="1"/>
          </p:cNvSpPr>
          <p:nvPr/>
        </p:nvSpPr>
        <p:spPr>
          <a:xfrm xmlns:a="http://schemas.openxmlformats.org/drawingml/2006/main">
            <a:off x="996982" y="3067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00">
                <a:solidFill>
                  <a:srgbClr val="44505D"/>
                </a:solidFill>
                <a:latin typeface="IBM Plex Sans"/>
                <a:ea typeface="IBM Plex Sans"/>
                <a:cs typeface="IBM Plex Sans"/>
              </a:defRPr>
            </a:defPPr>
            <a:lvl1pPr>
              <a:defRPr sz="1300">
                <a:solidFill>
                  <a:srgbClr val="44505D"/>
                </a:solidFill>
                <a:latin typeface="IBM Plex Sans"/>
                <a:ea typeface="IBM Plex Sans"/>
                <a:cs typeface="IBM Plex Sans"/>
              </a:defRPr>
            </a:lvl1pPr>
            <a:lvl2pPr>
              <a:defRPr sz="1300">
                <a:solidFill>
                  <a:srgbClr val="44505D"/>
                </a:solidFill>
                <a:latin typeface="IBM Plex Sans"/>
                <a:ea typeface="IBM Plex Sans"/>
                <a:cs typeface="IBM Plex Sans"/>
              </a:defRPr>
            </a:lvl2pPr>
            <a:lvl3pPr>
              <a:defRPr sz="1300">
                <a:solidFill>
                  <a:srgbClr val="44505D"/>
                </a:solidFill>
                <a:latin typeface="IBM Plex Sans"/>
                <a:ea typeface="IBM Plex Sans"/>
                <a:cs typeface="IBM Plex Sans"/>
              </a:defRPr>
            </a:lvl3pPr>
            <a:lvl4pPr>
              <a:defRPr sz="1300">
                <a:solidFill>
                  <a:srgbClr val="44505D"/>
                </a:solidFill>
                <a:latin typeface="IBM Plex Sans"/>
                <a:ea typeface="IBM Plex Sans"/>
                <a:cs typeface="IBM Plex Sans"/>
              </a:defRPr>
            </a:lvl4pPr>
            <a:lvl5pPr>
              <a:defRPr sz="1300">
                <a:solidFill>
                  <a:srgbClr val="44505D"/>
                </a:solidFill>
                <a:latin typeface="IBM Plex Sans"/>
                <a:ea typeface="IBM Plex Sans"/>
                <a:cs typeface="IBM Plex Sans"/>
              </a:defRPr>
            </a:lvl5pPr>
            <a:lvl6pPr>
              <a:defRPr sz="1300">
                <a:solidFill>
                  <a:srgbClr val="44505D"/>
                </a:solidFill>
                <a:latin typeface="IBM Plex Sans"/>
                <a:ea typeface="IBM Plex Sans"/>
                <a:cs typeface="IBM Plex Sans"/>
              </a:defRPr>
            </a:lvl6pPr>
            <a:lvl7pPr>
              <a:defRPr sz="1300">
                <a:solidFill>
                  <a:srgbClr val="44505D"/>
                </a:solidFill>
                <a:latin typeface="IBM Plex Sans"/>
                <a:ea typeface="IBM Plex Sans"/>
                <a:cs typeface="IBM Plex Sans"/>
              </a:defRPr>
            </a:lvl7pPr>
            <a:lvl8pPr>
              <a:defRPr sz="1300">
                <a:solidFill>
                  <a:srgbClr val="44505D"/>
                </a:solidFill>
                <a:latin typeface="IBM Plex Sans"/>
                <a:ea typeface="IBM Plex Sans"/>
                <a:cs typeface="IBM Plex Sans"/>
              </a:defRPr>
            </a:lvl8pPr>
            <a:lvl9pPr>
              <a:defRPr sz="1300">
                <a:solidFill>
                  <a:srgbClr val="44505D"/>
                </a:solidFill>
                <a:latin typeface="IBM Plex Sans"/>
                <a:ea typeface="IBM Plex Sans"/>
                <a:cs typeface="IBM Plex Sans"/>
              </a:defRPr>
            </a:lvl9pPr>
          </a:lstStyle>
          <a:p xmlns:a="http://schemas.openxmlformats.org/drawingml/2006/main">
            <a:pPr>
              <a:defRPr sz="1300">
                <a:solidFill>
                  <a:srgbClr val="44505D"/>
                </a:solidFill>
                <a:latin typeface="IBM Plex Sans"/>
                <a:ea typeface="IBM Plex Sans"/>
                <a:cs typeface="IBM Plex Sans"/>
              </a:defRPr>
            </a:pPr>
            <a:r>
              <a:rPr sz="1300">
                <a:solidFill>
                  <a:srgbClr val="44505D"/>
                </a:solidFill>
                <a:latin typeface="IBM Plex Sans"/>
                <a:ea typeface="IBM Plex Sans"/>
                <a:cs typeface="IBM Plex Sans"/>
              </a:rPr>
              <a:t>Доменски модел, извршив ток и тест</a:t>
            </a:r>
          </a:p>
          <a:p xmlns:a="http://schemas.openxmlformats.org/drawingml/2006/main">
            <a:pPr>
              <a:defRPr sz="1300">
                <a:solidFill>
                  <a:srgbClr val="44505D"/>
                </a:solidFill>
                <a:latin typeface="IBM Plex Sans"/>
                <a:ea typeface="IBM Plex Sans"/>
                <a:cs typeface="IBM Plex Sans"/>
              </a:defRPr>
            </a:pPr>
            <a:r>
              <a:rPr sz="1300">
                <a:solidFill>
                  <a:srgbClr val="44505D"/>
                </a:solidFill>
                <a:latin typeface="IBM Plex Sans"/>
                <a:ea typeface="IBM Plex Sans"/>
                <a:cs typeface="IBM Plex Sans"/>
              </a:rPr>
              <a:t>Уговори и договор са зависним тимовима</a:t>
            </a:r>
          </a:p>
        </p:txBody>
      </p:sp>
      <p:sp>
        <p:nvSpPr>
          <p:cNvPr id="35" name="">
            <a:extLst xmlns:a="http://schemas.openxmlformats.org/drawingml/2006/main">
              <a:ext uri="{FF2B5EF4-FFF2-40B4-BE49-F238E27FC236}">
                <a16:creationId xmlns:a16="http://schemas.microsoft.com/office/drawing/2014/main" id="{801456F4-5B65-477C-A408-D2F1D5E91D27}"/>
              </a:ext>
            </a:extLst>
          </p:cNvPr>
          <p:cNvSpPr>
            <a:spLocks xmlns:a="http://schemas.openxmlformats.org/drawingml/2006/main" noGrp="1"/>
          </p:cNvSpPr>
          <p:nvPr/>
        </p:nvSpPr>
        <p:spPr>
          <a:xfrm xmlns:a="http://schemas.openxmlformats.org/drawingml/2006/main">
            <a:off x="6496050" y="3067050"/>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00">
                <a:solidFill>
                  <a:srgbClr val="44505D"/>
                </a:solidFill>
                <a:latin typeface="IBM Plex Sans"/>
                <a:ea typeface="IBM Plex Sans"/>
                <a:cs typeface="IBM Plex Sans"/>
              </a:defRPr>
            </a:defPPr>
            <a:lvl1pPr>
              <a:defRPr sz="1300">
                <a:solidFill>
                  <a:srgbClr val="44505D"/>
                </a:solidFill>
                <a:latin typeface="IBM Plex Sans"/>
                <a:ea typeface="IBM Plex Sans"/>
                <a:cs typeface="IBM Plex Sans"/>
              </a:defRPr>
            </a:lvl1pPr>
            <a:lvl2pPr>
              <a:defRPr sz="1300">
                <a:solidFill>
                  <a:srgbClr val="44505D"/>
                </a:solidFill>
                <a:latin typeface="IBM Plex Sans"/>
                <a:ea typeface="IBM Plex Sans"/>
                <a:cs typeface="IBM Plex Sans"/>
              </a:defRPr>
            </a:lvl2pPr>
            <a:lvl3pPr>
              <a:defRPr sz="1300">
                <a:solidFill>
                  <a:srgbClr val="44505D"/>
                </a:solidFill>
                <a:latin typeface="IBM Plex Sans"/>
                <a:ea typeface="IBM Plex Sans"/>
                <a:cs typeface="IBM Plex Sans"/>
              </a:defRPr>
            </a:lvl3pPr>
            <a:lvl4pPr>
              <a:defRPr sz="1300">
                <a:solidFill>
                  <a:srgbClr val="44505D"/>
                </a:solidFill>
                <a:latin typeface="IBM Plex Sans"/>
                <a:ea typeface="IBM Plex Sans"/>
                <a:cs typeface="IBM Plex Sans"/>
              </a:defRPr>
            </a:lvl4pPr>
            <a:lvl5pPr>
              <a:defRPr sz="1300">
                <a:solidFill>
                  <a:srgbClr val="44505D"/>
                </a:solidFill>
                <a:latin typeface="IBM Plex Sans"/>
                <a:ea typeface="IBM Plex Sans"/>
                <a:cs typeface="IBM Plex Sans"/>
              </a:defRPr>
            </a:lvl5pPr>
            <a:lvl6pPr>
              <a:defRPr sz="1300">
                <a:solidFill>
                  <a:srgbClr val="44505D"/>
                </a:solidFill>
                <a:latin typeface="IBM Plex Sans"/>
                <a:ea typeface="IBM Plex Sans"/>
                <a:cs typeface="IBM Plex Sans"/>
              </a:defRPr>
            </a:lvl6pPr>
            <a:lvl7pPr>
              <a:defRPr sz="1300">
                <a:solidFill>
                  <a:srgbClr val="44505D"/>
                </a:solidFill>
                <a:latin typeface="IBM Plex Sans"/>
                <a:ea typeface="IBM Plex Sans"/>
                <a:cs typeface="IBM Plex Sans"/>
              </a:defRPr>
            </a:lvl7pPr>
            <a:lvl8pPr>
              <a:defRPr sz="1300">
                <a:solidFill>
                  <a:srgbClr val="44505D"/>
                </a:solidFill>
                <a:latin typeface="IBM Plex Sans"/>
                <a:ea typeface="IBM Plex Sans"/>
                <a:cs typeface="IBM Plex Sans"/>
              </a:defRPr>
            </a:lvl8pPr>
            <a:lvl9pPr>
              <a:defRPr sz="1300">
                <a:solidFill>
                  <a:srgbClr val="44505D"/>
                </a:solidFill>
                <a:latin typeface="IBM Plex Sans"/>
                <a:ea typeface="IBM Plex Sans"/>
                <a:cs typeface="IBM Plex Sans"/>
              </a:defRPr>
            </a:lvl9pPr>
          </a:lstStyle>
          <a:p xmlns:a="http://schemas.openxmlformats.org/drawingml/2006/main">
            <a:pPr>
              <a:defRPr sz="1300">
                <a:solidFill>
                  <a:srgbClr val="44505D"/>
                </a:solidFill>
                <a:latin typeface="IBM Plex Sans"/>
                <a:ea typeface="IBM Plex Sans"/>
                <a:cs typeface="IBM Plex Sans"/>
              </a:defRPr>
            </a:pPr>
            <a:r>
              <a:rPr sz="1300">
                <a:solidFill>
                  <a:srgbClr val="44505D"/>
                </a:solidFill>
                <a:latin typeface="IBM Plex Sans"/>
                <a:ea typeface="IBM Plex Sans"/>
                <a:cs typeface="IBM Plex Sans"/>
              </a:rPr>
              <a:t>Обавезни случајеви употребе, тестови и интеграција</a:t>
            </a:r>
          </a:p>
          <a:p xmlns:a="http://schemas.openxmlformats.org/drawingml/2006/main">
            <a:pPr>
              <a:defRPr sz="1300">
                <a:solidFill>
                  <a:srgbClr val="44505D"/>
                </a:solidFill>
                <a:latin typeface="IBM Plex Sans"/>
                <a:ea typeface="IBM Plex Sans"/>
                <a:cs typeface="IBM Plex Sans"/>
              </a:defRPr>
            </a:pPr>
            <a:r>
              <a:rPr sz="1300">
                <a:solidFill>
                  <a:srgbClr val="44505D"/>
                </a:solidFill>
                <a:latin typeface="IBM Plex Sans"/>
                <a:ea typeface="IBM Plex Sans"/>
                <a:cs typeface="IBM Plex Sans"/>
              </a:rPr>
              <a:t>Поновљив demo, build/CI и прегледани PR-ови</a:t>
            </a:r>
          </a:p>
        </p:txBody>
      </p:sp>
      <p:sp>
        <p:nvSpPr>
          <p:cNvPr id="36" name="">
            <a:extLst xmlns:a="http://schemas.openxmlformats.org/drawingml/2006/main">
              <a:ext uri="{FF2B5EF4-FFF2-40B4-BE49-F238E27FC236}">
                <a16:creationId xmlns:a16="http://schemas.microsoft.com/office/drawing/2014/main" id="{F1E75634-1924-4F15-BB6A-0F8255F72790}"/>
              </a:ext>
            </a:extLst>
          </p:cNvPr>
          <p:cNvSpPr>
            <a:spLocks xmlns:a="http://schemas.openxmlformats.org/drawingml/2006/main" noGrp="1"/>
          </p:cNvSpPr>
          <p:nvPr/>
        </p:nvSpPr>
        <p:spPr>
          <a:xfrm xmlns:a="http://schemas.openxmlformats.org/drawingml/2006/main">
            <a:off x="812768" y="5486400"/>
            <a:ext cx="10566368"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00">
                <a:solidFill>
                  <a:srgbClr val="44505D"/>
                </a:solidFill>
                <a:latin typeface="IBM Plex Sans"/>
                <a:ea typeface="IBM Plex Sans"/>
                <a:cs typeface="IBM Plex Sans"/>
              </a:defRPr>
            </a:defPPr>
            <a:lvl1pPr>
              <a:defRPr sz="1400">
                <a:solidFill>
                  <a:srgbClr val="44505D"/>
                </a:solidFill>
                <a:latin typeface="IBM Plex Sans"/>
                <a:ea typeface="IBM Plex Sans"/>
                <a:cs typeface="IBM Plex Sans"/>
              </a:defRPr>
            </a:lvl1pPr>
            <a:lvl2pPr>
              <a:defRPr sz="1400">
                <a:solidFill>
                  <a:srgbClr val="44505D"/>
                </a:solidFill>
                <a:latin typeface="IBM Plex Sans"/>
                <a:ea typeface="IBM Plex Sans"/>
                <a:cs typeface="IBM Plex Sans"/>
              </a:defRPr>
            </a:lvl2pPr>
            <a:lvl3pPr>
              <a:defRPr sz="1400">
                <a:solidFill>
                  <a:srgbClr val="44505D"/>
                </a:solidFill>
                <a:latin typeface="IBM Plex Sans"/>
                <a:ea typeface="IBM Plex Sans"/>
                <a:cs typeface="IBM Plex Sans"/>
              </a:defRPr>
            </a:lvl3pPr>
            <a:lvl4pPr>
              <a:defRPr sz="1400">
                <a:solidFill>
                  <a:srgbClr val="44505D"/>
                </a:solidFill>
                <a:latin typeface="IBM Plex Sans"/>
                <a:ea typeface="IBM Plex Sans"/>
                <a:cs typeface="IBM Plex Sans"/>
              </a:defRPr>
            </a:lvl4pPr>
            <a:lvl5pPr>
              <a:defRPr sz="1400">
                <a:solidFill>
                  <a:srgbClr val="44505D"/>
                </a:solidFill>
                <a:latin typeface="IBM Plex Sans"/>
                <a:ea typeface="IBM Plex Sans"/>
                <a:cs typeface="IBM Plex Sans"/>
              </a:defRPr>
            </a:lvl5pPr>
            <a:lvl6pPr>
              <a:defRPr sz="1400">
                <a:solidFill>
                  <a:srgbClr val="44505D"/>
                </a:solidFill>
                <a:latin typeface="IBM Plex Sans"/>
                <a:ea typeface="IBM Plex Sans"/>
                <a:cs typeface="IBM Plex Sans"/>
              </a:defRPr>
            </a:lvl6pPr>
            <a:lvl7pPr>
              <a:defRPr sz="1400">
                <a:solidFill>
                  <a:srgbClr val="44505D"/>
                </a:solidFill>
                <a:latin typeface="IBM Plex Sans"/>
                <a:ea typeface="IBM Plex Sans"/>
                <a:cs typeface="IBM Plex Sans"/>
              </a:defRPr>
            </a:lvl7pPr>
            <a:lvl8pPr>
              <a:defRPr sz="1400">
                <a:solidFill>
                  <a:srgbClr val="44505D"/>
                </a:solidFill>
                <a:latin typeface="IBM Plex Sans"/>
                <a:ea typeface="IBM Plex Sans"/>
                <a:cs typeface="IBM Plex Sans"/>
              </a:defRPr>
            </a:lvl8pPr>
            <a:lvl9pPr>
              <a:defRPr sz="1400">
                <a:solidFill>
                  <a:srgbClr val="44505D"/>
                </a:solidFill>
                <a:latin typeface="IBM Plex Sans"/>
                <a:ea typeface="IBM Plex Sans"/>
                <a:cs typeface="IBM Plex Sans"/>
              </a:defRPr>
            </a:lvl9pPr>
          </a:lstStyle>
          <a:p xmlns:a="http://schemas.openxmlformats.org/drawingml/2006/main">
            <a:pPr>
              <a:defRPr sz="1400">
                <a:solidFill>
                  <a:srgbClr val="44505D"/>
                </a:solidFill>
                <a:latin typeface="IBM Plex Sans"/>
                <a:ea typeface="IBM Plex Sans"/>
                <a:cs typeface="IBM Plex Sans"/>
              </a:defRPr>
            </a:pPr>
            <a:r>
              <a:rPr sz="1400">
                <a:solidFill>
                  <a:srgbClr val="44505D"/>
                </a:solidFill>
                <a:latin typeface="IBM Plex Sans"/>
                <a:ea typeface="IBM Plex Sans"/>
                <a:cs typeface="IBM Plex Sans"/>
              </a:rPr>
              <a:t>Контролне тачке и термини одбране пројекта су одвојене обавезе.</a:t>
            </a:r>
          </a:p>
        </p:txBody>
      </p:sp>
    </p:spTree>
    <p:extLst>
      <p:ext uri="{BB962C8B-B14F-4D97-AF65-F5344CB8AC3E}">
        <p14:creationId xmlns:p14="http://schemas.microsoft.com/office/powerpoint/2010/main" val="1763741716"/>
      </p:ext>
    </p:extLst>
  </p:cSld>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Организација пројектних целина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Тимови, пројектне целине и приступ заједничком GitHub репозиторијуму.</a:t>
            </a:r>
            <a:endParaRPr lang="en-US" sz="1400" dirty="0"/>
          </a:p>
        </p:txBody>
      </p:sp>
      <p:sp>
        <p:nvSpPr>
          <p:cNvPr id="6" name="Text 4"/>
          <p:cNvSpPr/>
          <p:nvPr/>
        </p:nvSpPr>
        <p:spPr>
          <a:xfrm>
            <a:off x="812800" y="21766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ОРГАНИЗАЦИЈА ТИМА</a:t>
            </a:r>
            <a:endParaRPr lang="en-US" sz="1200" dirty="0"/>
          </a:p>
        </p:txBody>
      </p:sp>
      <p:sp>
        <p:nvSpPr>
          <p:cNvPr id="7" name="Shape 5"/>
          <p:cNvSpPr/>
          <p:nvPr/>
        </p:nvSpPr>
        <p:spPr>
          <a:xfrm>
            <a:off x="812800" y="2516981"/>
            <a:ext cx="5080000" cy="914400"/>
          </a:xfrm>
          <a:prstGeom prst="roundRect">
            <a:avLst>
              <a:gd name="adj" fmla="val 11111"/>
            </a:avLst>
          </a:prstGeom>
          <a:solidFill>
            <a:srgbClr val="EBF0F5"/>
          </a:solidFill>
          <a:ln/>
        </p:spPr>
      </p:sp>
      <p:sp>
        <p:nvSpPr>
          <p:cNvPr id="8" name="Text 6"/>
          <p:cNvSpPr/>
          <p:nvPr/>
        </p:nvSpPr>
        <p:spPr>
          <a:xfrm>
            <a:off x="1016000" y="2669381"/>
            <a:ext cx="1666280"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0A5CA8"/>
                </a:solidFill>
                <a:latin typeface="IBM Plex Mono" pitchFamily="49" charset="0"/>
                <a:ea typeface="IBM Plex Mono" pitchFamily="49" charset="-122"/>
                <a:cs typeface="IBM Plex Mono" pitchFamily="49" charset="-120"/>
              </a:rPr>
              <a:t>6–10</a:t>
            </a:r>
            <a:endParaRPr lang="en-US" sz="4800" dirty="0"/>
          </a:p>
        </p:txBody>
      </p:sp>
      <p:sp>
        <p:nvSpPr>
          <p:cNvPr id="9" name="Text 7"/>
          <p:cNvSpPr/>
          <p:nvPr/>
        </p:nvSpPr>
        <p:spPr>
          <a:xfrm>
            <a:off x="2682280" y="2743101"/>
            <a:ext cx="130403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3202D"/>
                </a:solidFill>
                <a:latin typeface="IBM Plex Sans" pitchFamily="34" charset="0"/>
                <a:ea typeface="IBM Plex Sans" pitchFamily="34" charset="-122"/>
                <a:cs typeface="IBM Plex Sans" pitchFamily="34" charset="-120"/>
              </a:rPr>
              <a:t>студената</a:t>
            </a:r>
            <a:endParaRPr lang="en-US" sz="1400" dirty="0"/>
          </a:p>
          <a:p>
            <a:pPr algn="l" indent="0" marL="0">
              <a:lnSpc>
                <a:spcPts val="1820"/>
              </a:lnSpc>
              <a:buNone/>
            </a:pPr>
            <a:r>
              <a:rPr lang="en-US" sz="1400" dirty="0">
                <a:solidFill>
                  <a:srgbClr val="13202D"/>
                </a:solidFill>
                <a:latin typeface="IBM Plex Sans" pitchFamily="34" charset="0"/>
                <a:ea typeface="IBM Plex Sans" pitchFamily="34" charset="-122"/>
                <a:cs typeface="IBM Plex Sans" pitchFamily="34" charset="-120"/>
              </a:rPr>
              <a:t>чини један тим</a:t>
            </a:r>
            <a:endParaRPr lang="en-US" sz="1400" dirty="0"/>
          </a:p>
        </p:txBody>
      </p:sp>
      <p:sp>
        <p:nvSpPr>
          <p:cNvPr id="10" name="Shape 8"/>
          <p:cNvSpPr/>
          <p:nvPr/>
        </p:nvSpPr>
        <p:spPr>
          <a:xfrm>
            <a:off x="825500" y="3558381"/>
            <a:ext cx="0" cy="487561"/>
          </a:xfrm>
          <a:prstGeom prst="line">
            <a:avLst/>
          </a:prstGeom>
          <a:noFill/>
          <a:ln w="25400">
            <a:solidFill>
              <a:srgbClr val="0A5CA8"/>
            </a:solidFill>
            <a:prstDash val="solid"/>
          </a:ln>
        </p:spPr>
      </p:sp>
      <p:sp>
        <p:nvSpPr>
          <p:cNvPr id="11" name="Text 9"/>
          <p:cNvSpPr/>
          <p:nvPr/>
        </p:nvSpPr>
        <p:spPr>
          <a:xfrm>
            <a:off x="990600" y="3571081"/>
            <a:ext cx="504926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Предметни асистент додељује пројектну целину за коју тим преузима примарну одговорност.</a:t>
            </a:r>
            <a:endParaRPr lang="en-US" sz="1300" dirty="0"/>
          </a:p>
        </p:txBody>
      </p:sp>
      <p:sp>
        <p:nvSpPr>
          <p:cNvPr id="12" name="Shape 10"/>
          <p:cNvSpPr/>
          <p:nvPr/>
        </p:nvSpPr>
        <p:spPr>
          <a:xfrm>
            <a:off x="825500" y="4172942"/>
            <a:ext cx="0" cy="487561"/>
          </a:xfrm>
          <a:prstGeom prst="line">
            <a:avLst/>
          </a:prstGeom>
          <a:noFill/>
          <a:ln w="25400">
            <a:solidFill>
              <a:srgbClr val="0A5CA8"/>
            </a:solidFill>
            <a:prstDash val="solid"/>
          </a:ln>
        </p:spPr>
      </p:sp>
      <p:sp>
        <p:nvSpPr>
          <p:cNvPr id="13" name="Text 11"/>
          <p:cNvSpPr/>
          <p:nvPr/>
        </p:nvSpPr>
        <p:spPr>
          <a:xfrm>
            <a:off x="990600" y="4185642"/>
            <a:ext cx="5049266"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Приступ заједничком репозиторијуму одобрава предметни асистент.</a:t>
            </a:r>
            <a:endParaRPr lang="en-US" sz="1300" dirty="0"/>
          </a:p>
        </p:txBody>
      </p:sp>
      <p:sp>
        <p:nvSpPr>
          <p:cNvPr id="14" name="Shape 12"/>
          <p:cNvSpPr/>
          <p:nvPr/>
        </p:nvSpPr>
        <p:spPr>
          <a:xfrm>
            <a:off x="6302375" y="2179836"/>
            <a:ext cx="5073650" cy="2334121"/>
          </a:xfrm>
          <a:prstGeom prst="roundRect">
            <a:avLst>
              <a:gd name="adj" fmla="val 4217"/>
            </a:avLst>
          </a:prstGeom>
          <a:solidFill>
            <a:srgbClr val="FCFCFB"/>
          </a:solidFill>
          <a:ln w="6350">
            <a:solidFill>
              <a:srgbClr val="D3DAE1"/>
            </a:solidFill>
            <a:prstDash val="solid"/>
          </a:ln>
        </p:spPr>
      </p:sp>
      <p:sp>
        <p:nvSpPr>
          <p:cNvPr id="15" name="Text 13"/>
          <p:cNvSpPr/>
          <p:nvPr/>
        </p:nvSpPr>
        <p:spPr>
          <a:xfrm>
            <a:off x="6534150" y="2386211"/>
            <a:ext cx="4748403"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ОБАВЕЗЕ СТУДЕНТА</a:t>
            </a:r>
            <a:endParaRPr lang="en-US" sz="1200" dirty="0"/>
          </a:p>
        </p:txBody>
      </p:sp>
      <p:pic>
        <p:nvPicPr>
          <p:cNvPr id="16" name="Image 0" descr="CheckCircle">    </p:cNvPr>
          <p:cNvPicPr>
            <a:picLocks noChangeAspect="1"/>
          </p:cNvPicPr>
          <p:nvPr/>
        </p:nvPicPr>
        <p:blipFill>
          <a:blip r:embed="rId1"/>
          <a:srcRect l="0" r="0" t="0" b="0"/>
          <a:stretch/>
        </p:blipFill>
        <p:spPr>
          <a:xfrm>
            <a:off x="6534150" y="2726531"/>
            <a:ext cx="228600" cy="228600"/>
          </a:xfrm>
          <a:prstGeom prst="rect">
            <a:avLst/>
          </a:prstGeom>
        </p:spPr>
      </p:pic>
      <p:sp>
        <p:nvSpPr>
          <p:cNvPr id="17" name="Text 14"/>
          <p:cNvSpPr/>
          <p:nvPr/>
        </p:nvSpPr>
        <p:spPr>
          <a:xfrm>
            <a:off x="6877050" y="2726531"/>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Тачно GitHub корисничко име</a:t>
            </a:r>
            <a:endParaRPr lang="en-US" sz="1400" dirty="0"/>
          </a:p>
        </p:txBody>
      </p:sp>
      <p:pic>
        <p:nvPicPr>
          <p:cNvPr id="18" name="Image 1" descr="CheckCircle">    </p:cNvPr>
          <p:cNvPicPr>
            <a:picLocks noChangeAspect="1"/>
          </p:cNvPicPr>
          <p:nvPr/>
        </p:nvPicPr>
        <p:blipFill>
          <a:blip r:embed="rId2"/>
          <a:srcRect l="0" r="0" t="0" b="0"/>
          <a:stretch/>
        </p:blipFill>
        <p:spPr>
          <a:xfrm>
            <a:off x="6534150" y="3093541"/>
            <a:ext cx="228600" cy="228600"/>
          </a:xfrm>
          <a:prstGeom prst="rect">
            <a:avLst/>
          </a:prstGeom>
        </p:spPr>
      </p:pic>
      <p:sp>
        <p:nvSpPr>
          <p:cNvPr id="19" name="Text 15"/>
          <p:cNvSpPr/>
          <p:nvPr/>
        </p:nvSpPr>
        <p:spPr>
          <a:xfrm>
            <a:off x="6877050" y="3093541"/>
            <a:ext cx="439521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Проверљив индивидуални допринос у историји измена</a:t>
            </a:r>
            <a:endParaRPr lang="en-US" sz="1400" dirty="0"/>
          </a:p>
        </p:txBody>
      </p:sp>
      <p:pic>
        <p:nvPicPr>
          <p:cNvPr id="20" name="Image 2" descr="CheckCircle">    </p:cNvPr>
          <p:cNvPicPr>
            <a:picLocks noChangeAspect="1"/>
          </p:cNvPicPr>
          <p:nvPr/>
        </p:nvPicPr>
        <p:blipFill>
          <a:blip r:embed="rId3"/>
          <a:srcRect l="0" r="0" t="0" b="0"/>
          <a:stretch/>
        </p:blipFill>
        <p:spPr>
          <a:xfrm>
            <a:off x="6534150" y="3700562"/>
            <a:ext cx="228600" cy="228600"/>
          </a:xfrm>
          <a:prstGeom prst="rect">
            <a:avLst/>
          </a:prstGeom>
        </p:spPr>
      </p:pic>
      <p:sp>
        <p:nvSpPr>
          <p:cNvPr id="21" name="Text 16"/>
          <p:cNvSpPr/>
          <p:nvPr/>
        </p:nvSpPr>
        <p:spPr>
          <a:xfrm>
            <a:off x="6877050" y="3700562"/>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Образложење сопственог рада на одбрани</a:t>
            </a:r>
            <a:endParaRPr lang="en-US" sz="1400" dirty="0"/>
          </a:p>
        </p:txBody>
      </p:sp>
      <p:pic>
        <p:nvPicPr>
          <p:cNvPr id="22" name="Image 3" descr="CheckCircle">    </p:cNvPr>
          <p:cNvPicPr>
            <a:picLocks noChangeAspect="1"/>
          </p:cNvPicPr>
          <p:nvPr/>
        </p:nvPicPr>
        <p:blipFill>
          <a:blip r:embed="rId4"/>
          <a:srcRect l="0" r="0" t="0" b="0"/>
          <a:stretch/>
        </p:blipFill>
        <p:spPr>
          <a:xfrm>
            <a:off x="6534150" y="4067572"/>
            <a:ext cx="228600" cy="228600"/>
          </a:xfrm>
          <a:prstGeom prst="rect">
            <a:avLst/>
          </a:prstGeom>
        </p:spPr>
      </p:pic>
      <p:sp>
        <p:nvSpPr>
          <p:cNvPr id="23" name="Text 17"/>
          <p:cNvSpPr/>
          <p:nvPr/>
        </p:nvSpPr>
        <p:spPr>
          <a:xfrm>
            <a:off x="6877050" y="4067572"/>
            <a:ext cx="4395216"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Дељени јавни линк ка Tapiz Boards табли</a:t>
            </a:r>
            <a:endParaRPr lang="en-US" sz="1400" dirty="0"/>
          </a:p>
        </p:txBody>
      </p:sp>
      <p:sp>
        <p:nvSpPr>
          <p:cNvPr id="24" name="Shape 18"/>
          <p:cNvSpPr/>
          <p:nvPr/>
        </p:nvSpPr>
        <p:spPr>
          <a:xfrm>
            <a:off x="812800" y="6209705"/>
            <a:ext cx="10566400" cy="0"/>
          </a:xfrm>
          <a:prstGeom prst="line">
            <a:avLst/>
          </a:prstGeom>
          <a:noFill/>
          <a:ln w="6350">
            <a:solidFill>
              <a:srgbClr val="D3DAE1"/>
            </a:solidFill>
            <a:prstDash val="solid"/>
          </a:ln>
        </p:spPr>
      </p:sp>
      <p:sp>
        <p:nvSpPr>
          <p:cNvPr id="25" name="Text 1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6" name="Text 2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Обавезе за пројектну целину</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Минимални услови за прихватање пројектне целине.</a:t>
            </a:r>
            <a:endParaRPr lang="en-US" sz="1400" dirty="0"/>
          </a:p>
        </p:txBody>
      </p:sp>
      <p:sp>
        <p:nvSpPr>
          <p:cNvPr id="6" name="Shape 4"/>
          <p:cNvSpPr/>
          <p:nvPr/>
        </p:nvSpPr>
        <p:spPr>
          <a:xfrm>
            <a:off x="815975" y="2179836"/>
            <a:ext cx="5213350" cy="1227931"/>
          </a:xfrm>
          <a:prstGeom prst="roundRect">
            <a:avLst>
              <a:gd name="adj" fmla="val 8016"/>
            </a:avLst>
          </a:prstGeom>
          <a:solidFill>
            <a:srgbClr val="FCFCFB"/>
          </a:solidFill>
          <a:ln w="6350">
            <a:solidFill>
              <a:srgbClr val="D3DAE1"/>
            </a:solidFill>
            <a:prstDash val="solid"/>
          </a:ln>
        </p:spPr>
      </p:sp>
      <p:sp>
        <p:nvSpPr>
          <p:cNvPr id="7" name="Text 5"/>
          <p:cNvSpPr/>
          <p:nvPr/>
        </p:nvSpPr>
        <p:spPr>
          <a:xfrm>
            <a:off x="1022350" y="23481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1510109" y="234811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Граница одговорности и уговор</a:t>
            </a:r>
            <a:endParaRPr lang="en-US" sz="1400" dirty="0"/>
          </a:p>
        </p:txBody>
      </p:sp>
      <p:sp>
        <p:nvSpPr>
          <p:cNvPr id="9" name="Text 7"/>
          <p:cNvSpPr/>
          <p:nvPr/>
        </p:nvSpPr>
        <p:spPr>
          <a:xfrm>
            <a:off x="1510109" y="2599531"/>
            <a:ext cx="444222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Целина има јасно дефинисану одговорност, јавни уговор и односе са другим целинама.</a:t>
            </a:r>
            <a:endParaRPr lang="en-US" sz="1200" dirty="0"/>
          </a:p>
        </p:txBody>
      </p:sp>
      <p:sp>
        <p:nvSpPr>
          <p:cNvPr id="10" name="Shape 8"/>
          <p:cNvSpPr/>
          <p:nvPr/>
        </p:nvSpPr>
        <p:spPr>
          <a:xfrm>
            <a:off x="6162675" y="2179836"/>
            <a:ext cx="5213350" cy="1227931"/>
          </a:xfrm>
          <a:prstGeom prst="roundRect">
            <a:avLst>
              <a:gd name="adj" fmla="val 8016"/>
            </a:avLst>
          </a:prstGeom>
          <a:solidFill>
            <a:srgbClr val="FCFCFB"/>
          </a:solidFill>
          <a:ln w="6350">
            <a:solidFill>
              <a:srgbClr val="D3DAE1"/>
            </a:solidFill>
            <a:prstDash val="solid"/>
          </a:ln>
        </p:spPr>
      </p:sp>
      <p:sp>
        <p:nvSpPr>
          <p:cNvPr id="11" name="Text 9"/>
          <p:cNvSpPr/>
          <p:nvPr/>
        </p:nvSpPr>
        <p:spPr>
          <a:xfrm>
            <a:off x="6369050" y="23481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02</a:t>
            </a:r>
            <a:endParaRPr lang="en-US" sz="2200" dirty="0"/>
          </a:p>
        </p:txBody>
      </p:sp>
      <p:sp>
        <p:nvSpPr>
          <p:cNvPr id="12" name="Text 10"/>
          <p:cNvSpPr/>
          <p:nvPr/>
        </p:nvSpPr>
        <p:spPr>
          <a:xfrm>
            <a:off x="6856809" y="2348111"/>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Тестирање и стабилност</a:t>
            </a:r>
            <a:endParaRPr lang="en-US" sz="1400" dirty="0"/>
          </a:p>
        </p:txBody>
      </p:sp>
      <p:sp>
        <p:nvSpPr>
          <p:cNvPr id="13" name="Text 11"/>
          <p:cNvSpPr/>
          <p:nvPr/>
        </p:nvSpPr>
        <p:spPr>
          <a:xfrm>
            <a:off x="6856809" y="2599531"/>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Обавезни су аутоматизовани тестови кључних правила, а према потреби и интеграциони, уговорни и регресиони тестови.</a:t>
            </a:r>
            <a:endParaRPr lang="en-US" sz="1200" dirty="0"/>
          </a:p>
        </p:txBody>
      </p:sp>
      <p:sp>
        <p:nvSpPr>
          <p:cNvPr id="14" name="Shape 12"/>
          <p:cNvSpPr/>
          <p:nvPr/>
        </p:nvSpPr>
        <p:spPr>
          <a:xfrm>
            <a:off x="815975" y="3541117"/>
            <a:ext cx="5213350" cy="1227931"/>
          </a:xfrm>
          <a:prstGeom prst="roundRect">
            <a:avLst>
              <a:gd name="adj" fmla="val 8016"/>
            </a:avLst>
          </a:prstGeom>
          <a:solidFill>
            <a:srgbClr val="FCFCFB"/>
          </a:solidFill>
          <a:ln w="6350">
            <a:solidFill>
              <a:srgbClr val="D3DAE1"/>
            </a:solidFill>
            <a:prstDash val="solid"/>
          </a:ln>
        </p:spPr>
      </p:sp>
      <p:sp>
        <p:nvSpPr>
          <p:cNvPr id="15" name="Text 13"/>
          <p:cNvSpPr/>
          <p:nvPr/>
        </p:nvSpPr>
        <p:spPr>
          <a:xfrm>
            <a:off x="1022350" y="37093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03</a:t>
            </a:r>
            <a:endParaRPr lang="en-US" sz="2200" dirty="0"/>
          </a:p>
        </p:txBody>
      </p:sp>
      <p:sp>
        <p:nvSpPr>
          <p:cNvPr id="16" name="Text 14"/>
          <p:cNvSpPr/>
          <p:nvPr/>
        </p:nvSpPr>
        <p:spPr>
          <a:xfrm>
            <a:off x="1510109" y="37093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Документација</a:t>
            </a:r>
            <a:endParaRPr lang="en-US" sz="1400" dirty="0"/>
          </a:p>
        </p:txBody>
      </p:sp>
      <p:sp>
        <p:nvSpPr>
          <p:cNvPr id="17" name="Text 15"/>
          <p:cNvSpPr/>
          <p:nvPr/>
        </p:nvSpPr>
        <p:spPr>
          <a:xfrm>
            <a:off x="1510109" y="3960813"/>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Документација обухвата случајеве употребе, критеријуме прихватања, јавне уговоре, ADR и упутство за локално покретање и тестирање.</a:t>
            </a:r>
            <a:endParaRPr lang="en-US" sz="1200" dirty="0"/>
          </a:p>
        </p:txBody>
      </p:sp>
      <p:sp>
        <p:nvSpPr>
          <p:cNvPr id="18" name="Shape 16"/>
          <p:cNvSpPr/>
          <p:nvPr/>
        </p:nvSpPr>
        <p:spPr>
          <a:xfrm>
            <a:off x="6162675" y="3541117"/>
            <a:ext cx="5213350" cy="1227931"/>
          </a:xfrm>
          <a:prstGeom prst="roundRect">
            <a:avLst>
              <a:gd name="adj" fmla="val 8016"/>
            </a:avLst>
          </a:prstGeom>
          <a:solidFill>
            <a:srgbClr val="FCFCFB"/>
          </a:solidFill>
          <a:ln w="6350">
            <a:solidFill>
              <a:srgbClr val="D3DAE1"/>
            </a:solidFill>
            <a:prstDash val="solid"/>
          </a:ln>
        </p:spPr>
      </p:sp>
      <p:sp>
        <p:nvSpPr>
          <p:cNvPr id="19" name="Text 17"/>
          <p:cNvSpPr/>
          <p:nvPr/>
        </p:nvSpPr>
        <p:spPr>
          <a:xfrm>
            <a:off x="6369050" y="3709392"/>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0A5CA8"/>
                </a:solidFill>
                <a:latin typeface="IBM Plex Mono" pitchFamily="49" charset="0"/>
                <a:ea typeface="IBM Plex Mono" pitchFamily="49" charset="-122"/>
                <a:cs typeface="IBM Plex Mono" pitchFamily="49" charset="-120"/>
              </a:rPr>
              <a:t>04</a:t>
            </a:r>
            <a:endParaRPr lang="en-US" sz="2200" dirty="0"/>
          </a:p>
        </p:txBody>
      </p:sp>
      <p:sp>
        <p:nvSpPr>
          <p:cNvPr id="20" name="Text 18"/>
          <p:cNvSpPr/>
          <p:nvPr/>
        </p:nvSpPr>
        <p:spPr>
          <a:xfrm>
            <a:off x="6856809" y="3709392"/>
            <a:ext cx="444222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Индивидуални допринос</a:t>
            </a:r>
            <a:endParaRPr lang="en-US" sz="1400" dirty="0"/>
          </a:p>
        </p:txBody>
      </p:sp>
      <p:sp>
        <p:nvSpPr>
          <p:cNvPr id="21" name="Text 19"/>
          <p:cNvSpPr/>
          <p:nvPr/>
        </p:nvSpPr>
        <p:spPr>
          <a:xfrm>
            <a:off x="6856809" y="3960813"/>
            <a:ext cx="444222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Сваки студент документује сопствени рад, релевантан случај употребе, дизајнерску одлуку и зависности према другим целинама.</a:t>
            </a:r>
            <a:endParaRPr lang="en-US" sz="1200" dirty="0"/>
          </a:p>
        </p:txBody>
      </p:sp>
      <p:sp>
        <p:nvSpPr>
          <p:cNvPr id="22" name="Shape 20"/>
          <p:cNvSpPr/>
          <p:nvPr/>
        </p:nvSpPr>
        <p:spPr>
          <a:xfrm>
            <a:off x="812800" y="6209705"/>
            <a:ext cx="10566400" cy="0"/>
          </a:xfrm>
          <a:prstGeom prst="line">
            <a:avLst/>
          </a:prstGeom>
          <a:noFill/>
          <a:ln w="6350">
            <a:solidFill>
              <a:srgbClr val="D3DAE1"/>
            </a:solidFill>
            <a:prstDash val="solid"/>
          </a:ln>
        </p:spPr>
      </p:sp>
      <p:sp>
        <p:nvSpPr>
          <p:cNvPr id="23"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Пројектни артефакти</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Репозиторијум садржи доказе развоја, провере и техничких одлука.</a:t>
            </a:r>
            <a:endParaRPr lang="en-US" sz="1400" dirty="0"/>
          </a:p>
        </p:txBody>
      </p:sp>
      <p:sp>
        <p:nvSpPr>
          <p:cNvPr id="6" name="Text 4"/>
          <p:cNvSpPr/>
          <p:nvPr/>
        </p:nvSpPr>
        <p:spPr>
          <a:xfrm>
            <a:off x="812800" y="21766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РАЗВОЈНИ МАТЕРИЈАЛИ</a:t>
            </a:r>
            <a:endParaRPr lang="en-US" sz="1200" dirty="0"/>
          </a:p>
        </p:txBody>
      </p:sp>
      <p:sp>
        <p:nvSpPr>
          <p:cNvPr id="7" name="Shape 5"/>
          <p:cNvSpPr/>
          <p:nvPr/>
        </p:nvSpPr>
        <p:spPr>
          <a:xfrm>
            <a:off x="815975" y="2507456"/>
            <a:ext cx="5124450" cy="539750"/>
          </a:xfrm>
          <a:prstGeom prst="roundRect">
            <a:avLst>
              <a:gd name="adj" fmla="val 15882"/>
            </a:avLst>
          </a:prstGeom>
          <a:solidFill>
            <a:srgbClr val="FCFCFB"/>
          </a:solidFill>
          <a:ln w="6350">
            <a:solidFill>
              <a:srgbClr val="D3DAE1"/>
            </a:solidFill>
            <a:prstDash val="solid"/>
          </a:ln>
        </p:spPr>
      </p:sp>
      <p:sp>
        <p:nvSpPr>
          <p:cNvPr id="8" name="Shape 6"/>
          <p:cNvSpPr/>
          <p:nvPr/>
        </p:nvSpPr>
        <p:spPr>
          <a:xfrm>
            <a:off x="971550" y="2612231"/>
            <a:ext cx="330200" cy="330200"/>
          </a:xfrm>
          <a:prstGeom prst="roundRect">
            <a:avLst>
              <a:gd name="adj" fmla="val 23077"/>
            </a:avLst>
          </a:prstGeom>
          <a:solidFill>
            <a:srgbClr val="DCE8F4"/>
          </a:solidFill>
          <a:ln/>
        </p:spPr>
      </p:sp>
      <p:pic>
        <p:nvPicPr>
          <p:cNvPr id="9" name="Image 0" descr="Book">    </p:cNvPr>
          <p:cNvPicPr>
            <a:picLocks noChangeAspect="1"/>
          </p:cNvPicPr>
          <p:nvPr/>
        </p:nvPicPr>
        <p:blipFill>
          <a:blip r:embed="rId1"/>
          <a:srcRect l="0" r="0" t="0" b="0"/>
          <a:stretch/>
        </p:blipFill>
        <p:spPr>
          <a:xfrm>
            <a:off x="1041400" y="2682081"/>
            <a:ext cx="190500" cy="190500"/>
          </a:xfrm>
          <a:prstGeom prst="rect">
            <a:avLst/>
          </a:prstGeom>
        </p:spPr>
      </p:pic>
      <p:sp>
        <p:nvSpPr>
          <p:cNvPr id="10" name="Text 7"/>
          <p:cNvSpPr/>
          <p:nvPr/>
        </p:nvSpPr>
        <p:spPr>
          <a:xfrm>
            <a:off x="1428750" y="265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Backlog са критеријумима прихватања</a:t>
            </a:r>
            <a:endParaRPr lang="en-US" sz="1400" dirty="0"/>
          </a:p>
        </p:txBody>
      </p:sp>
      <p:sp>
        <p:nvSpPr>
          <p:cNvPr id="11" name="Shape 8"/>
          <p:cNvSpPr/>
          <p:nvPr/>
        </p:nvSpPr>
        <p:spPr>
          <a:xfrm>
            <a:off x="815975" y="3142456"/>
            <a:ext cx="5124450" cy="539750"/>
          </a:xfrm>
          <a:prstGeom prst="roundRect">
            <a:avLst>
              <a:gd name="adj" fmla="val 15882"/>
            </a:avLst>
          </a:prstGeom>
          <a:solidFill>
            <a:srgbClr val="FCFCFB"/>
          </a:solidFill>
          <a:ln w="6350">
            <a:solidFill>
              <a:srgbClr val="D3DAE1"/>
            </a:solidFill>
            <a:prstDash val="solid"/>
          </a:ln>
        </p:spPr>
      </p:sp>
      <p:sp>
        <p:nvSpPr>
          <p:cNvPr id="12" name="Shape 9"/>
          <p:cNvSpPr/>
          <p:nvPr/>
        </p:nvSpPr>
        <p:spPr>
          <a:xfrm>
            <a:off x="971550" y="3247231"/>
            <a:ext cx="330200" cy="330200"/>
          </a:xfrm>
          <a:prstGeom prst="roundRect">
            <a:avLst>
              <a:gd name="adj" fmla="val 23077"/>
            </a:avLst>
          </a:prstGeom>
          <a:solidFill>
            <a:srgbClr val="DCE8F4"/>
          </a:solidFill>
          <a:ln/>
        </p:spPr>
      </p:sp>
      <p:pic>
        <p:nvPicPr>
          <p:cNvPr id="13" name="Image 1" descr="Code">    </p:cNvPr>
          <p:cNvPicPr>
            <a:picLocks noChangeAspect="1"/>
          </p:cNvPicPr>
          <p:nvPr/>
        </p:nvPicPr>
        <p:blipFill>
          <a:blip r:embed="rId2"/>
          <a:srcRect l="0" r="0" t="0" b="0"/>
          <a:stretch/>
        </p:blipFill>
        <p:spPr>
          <a:xfrm>
            <a:off x="1041400" y="3317081"/>
            <a:ext cx="190500" cy="190500"/>
          </a:xfrm>
          <a:prstGeom prst="rect">
            <a:avLst/>
          </a:prstGeom>
        </p:spPr>
      </p:pic>
      <p:sp>
        <p:nvSpPr>
          <p:cNvPr id="14" name="Text 10"/>
          <p:cNvSpPr/>
          <p:nvPr/>
        </p:nvSpPr>
        <p:spPr>
          <a:xfrm>
            <a:off x="1428750" y="329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Git историја и Pull Request прегледи</a:t>
            </a:r>
            <a:endParaRPr lang="en-US" sz="1400" dirty="0"/>
          </a:p>
        </p:txBody>
      </p:sp>
      <p:sp>
        <p:nvSpPr>
          <p:cNvPr id="15" name="Shape 11"/>
          <p:cNvSpPr/>
          <p:nvPr/>
        </p:nvSpPr>
        <p:spPr>
          <a:xfrm>
            <a:off x="815975" y="3777456"/>
            <a:ext cx="5124450" cy="539750"/>
          </a:xfrm>
          <a:prstGeom prst="roundRect">
            <a:avLst>
              <a:gd name="adj" fmla="val 15882"/>
            </a:avLst>
          </a:prstGeom>
          <a:solidFill>
            <a:srgbClr val="FCFCFB"/>
          </a:solidFill>
          <a:ln w="6350">
            <a:solidFill>
              <a:srgbClr val="D3DAE1"/>
            </a:solidFill>
            <a:prstDash val="solid"/>
          </a:ln>
        </p:spPr>
      </p:sp>
      <p:sp>
        <p:nvSpPr>
          <p:cNvPr id="16" name="Shape 12"/>
          <p:cNvSpPr/>
          <p:nvPr/>
        </p:nvSpPr>
        <p:spPr>
          <a:xfrm>
            <a:off x="971550" y="3882231"/>
            <a:ext cx="330200" cy="330200"/>
          </a:xfrm>
          <a:prstGeom prst="roundRect">
            <a:avLst>
              <a:gd name="adj" fmla="val 23077"/>
            </a:avLst>
          </a:prstGeom>
          <a:solidFill>
            <a:srgbClr val="DCE8F4"/>
          </a:solidFill>
          <a:ln/>
        </p:spPr>
      </p:sp>
      <p:pic>
        <p:nvPicPr>
          <p:cNvPr id="17" name="Image 2" descr="Lightbulb">    </p:cNvPr>
          <p:cNvPicPr>
            <a:picLocks noChangeAspect="1"/>
          </p:cNvPicPr>
          <p:nvPr/>
        </p:nvPicPr>
        <p:blipFill>
          <a:blip r:embed="rId3"/>
          <a:srcRect l="0" r="0" t="0" b="0"/>
          <a:stretch/>
        </p:blipFill>
        <p:spPr>
          <a:xfrm>
            <a:off x="1041400" y="3952081"/>
            <a:ext cx="190500" cy="190500"/>
          </a:xfrm>
          <a:prstGeom prst="rect">
            <a:avLst/>
          </a:prstGeom>
        </p:spPr>
      </p:pic>
      <p:sp>
        <p:nvSpPr>
          <p:cNvPr id="18" name="Text 13"/>
          <p:cNvSpPr/>
          <p:nvPr/>
        </p:nvSpPr>
        <p:spPr>
          <a:xfrm>
            <a:off x="1428750" y="392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ADR записи за значајне архитектонске одлуке</a:t>
            </a:r>
            <a:endParaRPr lang="en-US" sz="1400" dirty="0"/>
          </a:p>
        </p:txBody>
      </p:sp>
      <p:sp>
        <p:nvSpPr>
          <p:cNvPr id="19" name="Shape 14"/>
          <p:cNvSpPr/>
          <p:nvPr/>
        </p:nvSpPr>
        <p:spPr>
          <a:xfrm>
            <a:off x="815975" y="4412456"/>
            <a:ext cx="5124450" cy="539750"/>
          </a:xfrm>
          <a:prstGeom prst="roundRect">
            <a:avLst>
              <a:gd name="adj" fmla="val 15882"/>
            </a:avLst>
          </a:prstGeom>
          <a:solidFill>
            <a:srgbClr val="FCFCFB"/>
          </a:solidFill>
          <a:ln w="6350">
            <a:solidFill>
              <a:srgbClr val="D3DAE1"/>
            </a:solidFill>
            <a:prstDash val="solid"/>
          </a:ln>
        </p:spPr>
      </p:sp>
      <p:sp>
        <p:nvSpPr>
          <p:cNvPr id="20" name="Shape 15"/>
          <p:cNvSpPr/>
          <p:nvPr/>
        </p:nvSpPr>
        <p:spPr>
          <a:xfrm>
            <a:off x="971550" y="4517231"/>
            <a:ext cx="330200" cy="330200"/>
          </a:xfrm>
          <a:prstGeom prst="roundRect">
            <a:avLst>
              <a:gd name="adj" fmla="val 23077"/>
            </a:avLst>
          </a:prstGeom>
          <a:solidFill>
            <a:srgbClr val="DCE8F4"/>
          </a:solidFill>
          <a:ln/>
        </p:spPr>
      </p:sp>
      <p:pic>
        <p:nvPicPr>
          <p:cNvPr id="21" name="Image 3" descr="Wrench">    </p:cNvPr>
          <p:cNvPicPr>
            <a:picLocks noChangeAspect="1"/>
          </p:cNvPicPr>
          <p:nvPr/>
        </p:nvPicPr>
        <p:blipFill>
          <a:blip r:embed="rId4"/>
          <a:srcRect l="0" r="0" t="0" b="0"/>
          <a:stretch/>
        </p:blipFill>
        <p:spPr>
          <a:xfrm>
            <a:off x="1041400" y="4587081"/>
            <a:ext cx="190500" cy="190500"/>
          </a:xfrm>
          <a:prstGeom prst="rect">
            <a:avLst/>
          </a:prstGeom>
        </p:spPr>
      </p:pic>
      <p:sp>
        <p:nvSpPr>
          <p:cNvPr id="22" name="Text 16"/>
          <p:cNvSpPr/>
          <p:nvPr/>
        </p:nvSpPr>
        <p:spPr>
          <a:xfrm>
            <a:off x="1428750" y="456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Упутство за локално покретање и тестирање</a:t>
            </a:r>
            <a:endParaRPr lang="en-US" sz="1400" dirty="0"/>
          </a:p>
        </p:txBody>
      </p:sp>
      <p:sp>
        <p:nvSpPr>
          <p:cNvPr id="23" name="Text 17"/>
          <p:cNvSpPr/>
          <p:nvPr/>
        </p:nvSpPr>
        <p:spPr>
          <a:xfrm>
            <a:off x="6248400" y="2176661"/>
            <a:ext cx="528472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ПРОВЕРЉИВИ РЕЗУЛТАТИ</a:t>
            </a:r>
            <a:endParaRPr lang="en-US" sz="1200" dirty="0"/>
          </a:p>
        </p:txBody>
      </p:sp>
      <p:sp>
        <p:nvSpPr>
          <p:cNvPr id="24" name="Shape 18"/>
          <p:cNvSpPr/>
          <p:nvPr/>
        </p:nvSpPr>
        <p:spPr>
          <a:xfrm>
            <a:off x="6251575" y="2507456"/>
            <a:ext cx="5124450" cy="539750"/>
          </a:xfrm>
          <a:prstGeom prst="roundRect">
            <a:avLst>
              <a:gd name="adj" fmla="val 15882"/>
            </a:avLst>
          </a:prstGeom>
          <a:solidFill>
            <a:srgbClr val="FCFCFB"/>
          </a:solidFill>
          <a:ln w="6350">
            <a:solidFill>
              <a:srgbClr val="D3DAE1"/>
            </a:solidFill>
            <a:prstDash val="solid"/>
          </a:ln>
        </p:spPr>
      </p:sp>
      <p:sp>
        <p:nvSpPr>
          <p:cNvPr id="25" name="Shape 19"/>
          <p:cNvSpPr/>
          <p:nvPr/>
        </p:nvSpPr>
        <p:spPr>
          <a:xfrm>
            <a:off x="6407150" y="2612231"/>
            <a:ext cx="330200" cy="330200"/>
          </a:xfrm>
          <a:prstGeom prst="roundRect">
            <a:avLst>
              <a:gd name="adj" fmla="val 23077"/>
            </a:avLst>
          </a:prstGeom>
          <a:solidFill>
            <a:srgbClr val="FBF1E6"/>
          </a:solidFill>
          <a:ln/>
        </p:spPr>
      </p:sp>
      <p:pic>
        <p:nvPicPr>
          <p:cNvPr id="26" name="Image 4" descr="Play">    </p:cNvPr>
          <p:cNvPicPr>
            <a:picLocks noChangeAspect="1"/>
          </p:cNvPicPr>
          <p:nvPr/>
        </p:nvPicPr>
        <p:blipFill>
          <a:blip r:embed="rId5"/>
          <a:srcRect l="0" r="0" t="0" b="0"/>
          <a:stretch/>
        </p:blipFill>
        <p:spPr>
          <a:xfrm>
            <a:off x="6477000" y="2682081"/>
            <a:ext cx="190500" cy="190500"/>
          </a:xfrm>
          <a:prstGeom prst="rect">
            <a:avLst/>
          </a:prstGeom>
        </p:spPr>
      </p:pic>
      <p:sp>
        <p:nvSpPr>
          <p:cNvPr id="27" name="Text 20"/>
          <p:cNvSpPr/>
          <p:nvPr/>
        </p:nvSpPr>
        <p:spPr>
          <a:xfrm>
            <a:off x="6864350" y="265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Извршив пројекат у заједничком репозиторијуму</a:t>
            </a:r>
            <a:endParaRPr lang="en-US" sz="1400" dirty="0"/>
          </a:p>
        </p:txBody>
      </p:sp>
      <p:sp>
        <p:nvSpPr>
          <p:cNvPr id="28" name="Shape 21"/>
          <p:cNvSpPr/>
          <p:nvPr/>
        </p:nvSpPr>
        <p:spPr>
          <a:xfrm>
            <a:off x="6251575" y="3142456"/>
            <a:ext cx="5124450" cy="539750"/>
          </a:xfrm>
          <a:prstGeom prst="roundRect">
            <a:avLst>
              <a:gd name="adj" fmla="val 15882"/>
            </a:avLst>
          </a:prstGeom>
          <a:solidFill>
            <a:srgbClr val="FCFCFB"/>
          </a:solidFill>
          <a:ln w="6350">
            <a:solidFill>
              <a:srgbClr val="D3DAE1"/>
            </a:solidFill>
            <a:prstDash val="solid"/>
          </a:ln>
        </p:spPr>
      </p:sp>
      <p:sp>
        <p:nvSpPr>
          <p:cNvPr id="29" name="Shape 22"/>
          <p:cNvSpPr/>
          <p:nvPr/>
        </p:nvSpPr>
        <p:spPr>
          <a:xfrm>
            <a:off x="6407150" y="3247231"/>
            <a:ext cx="330200" cy="330200"/>
          </a:xfrm>
          <a:prstGeom prst="roundRect">
            <a:avLst>
              <a:gd name="adj" fmla="val 23077"/>
            </a:avLst>
          </a:prstGeom>
          <a:solidFill>
            <a:srgbClr val="FBF1E6"/>
          </a:solidFill>
          <a:ln/>
        </p:spPr>
      </p:sp>
      <p:pic>
        <p:nvPicPr>
          <p:cNvPr id="30" name="Image 5" descr="CheckCircle">    </p:cNvPr>
          <p:cNvPicPr>
            <a:picLocks noChangeAspect="1"/>
          </p:cNvPicPr>
          <p:nvPr/>
        </p:nvPicPr>
        <p:blipFill>
          <a:blip r:embed="rId6"/>
          <a:srcRect l="0" r="0" t="0" b="0"/>
          <a:stretch/>
        </p:blipFill>
        <p:spPr>
          <a:xfrm>
            <a:off x="6477000" y="3317081"/>
            <a:ext cx="190500" cy="190500"/>
          </a:xfrm>
          <a:prstGeom prst="rect">
            <a:avLst/>
          </a:prstGeom>
        </p:spPr>
      </p:pic>
      <p:sp>
        <p:nvSpPr>
          <p:cNvPr id="31" name="Text 23"/>
          <p:cNvSpPr/>
          <p:nvPr/>
        </p:nvSpPr>
        <p:spPr>
          <a:xfrm>
            <a:off x="6864350" y="329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Аутоматизовани тестови кључних правила</a:t>
            </a:r>
            <a:endParaRPr lang="en-US" sz="1400" dirty="0"/>
          </a:p>
        </p:txBody>
      </p:sp>
      <p:sp>
        <p:nvSpPr>
          <p:cNvPr id="32" name="Shape 24"/>
          <p:cNvSpPr/>
          <p:nvPr/>
        </p:nvSpPr>
        <p:spPr>
          <a:xfrm>
            <a:off x="6251575" y="3777456"/>
            <a:ext cx="5124450" cy="539750"/>
          </a:xfrm>
          <a:prstGeom prst="roundRect">
            <a:avLst>
              <a:gd name="adj" fmla="val 15882"/>
            </a:avLst>
          </a:prstGeom>
          <a:solidFill>
            <a:srgbClr val="FCFCFB"/>
          </a:solidFill>
          <a:ln w="6350">
            <a:solidFill>
              <a:srgbClr val="D3DAE1"/>
            </a:solidFill>
            <a:prstDash val="solid"/>
          </a:ln>
        </p:spPr>
      </p:sp>
      <p:sp>
        <p:nvSpPr>
          <p:cNvPr id="33" name="Shape 25"/>
          <p:cNvSpPr/>
          <p:nvPr/>
        </p:nvSpPr>
        <p:spPr>
          <a:xfrm>
            <a:off x="6407150" y="3882231"/>
            <a:ext cx="330200" cy="330200"/>
          </a:xfrm>
          <a:prstGeom prst="roundRect">
            <a:avLst>
              <a:gd name="adj" fmla="val 23077"/>
            </a:avLst>
          </a:prstGeom>
          <a:solidFill>
            <a:srgbClr val="FBF1E6"/>
          </a:solidFill>
          <a:ln/>
        </p:spPr>
      </p:sp>
      <p:pic>
        <p:nvPicPr>
          <p:cNvPr id="34" name="Image 6" descr="Activity">    </p:cNvPr>
          <p:cNvPicPr>
            <a:picLocks noChangeAspect="1"/>
          </p:cNvPicPr>
          <p:nvPr/>
        </p:nvPicPr>
        <p:blipFill>
          <a:blip r:embed="rId7"/>
          <a:srcRect l="0" r="0" t="0" b="0"/>
          <a:stretch/>
        </p:blipFill>
        <p:spPr>
          <a:xfrm>
            <a:off x="6477000" y="3952081"/>
            <a:ext cx="190500" cy="190500"/>
          </a:xfrm>
          <a:prstGeom prst="rect">
            <a:avLst/>
          </a:prstGeom>
        </p:spPr>
      </p:pic>
      <p:sp>
        <p:nvSpPr>
          <p:cNvPr id="35" name="Text 26"/>
          <p:cNvSpPr/>
          <p:nvPr/>
        </p:nvSpPr>
        <p:spPr>
          <a:xfrm>
            <a:off x="6864350" y="3927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Резултати компилације и тестирања</a:t>
            </a:r>
            <a:endParaRPr lang="en-US" sz="1400" dirty="0"/>
          </a:p>
        </p:txBody>
      </p:sp>
      <p:sp>
        <p:nvSpPr>
          <p:cNvPr id="36" name="Shape 27"/>
          <p:cNvSpPr/>
          <p:nvPr/>
        </p:nvSpPr>
        <p:spPr>
          <a:xfrm>
            <a:off x="6251575" y="4412456"/>
            <a:ext cx="5124450" cy="539750"/>
          </a:xfrm>
          <a:prstGeom prst="roundRect">
            <a:avLst>
              <a:gd name="adj" fmla="val 15882"/>
            </a:avLst>
          </a:prstGeom>
          <a:solidFill>
            <a:srgbClr val="FCFCFB"/>
          </a:solidFill>
          <a:ln w="6350">
            <a:solidFill>
              <a:srgbClr val="D3DAE1"/>
            </a:solidFill>
            <a:prstDash val="solid"/>
          </a:ln>
        </p:spPr>
      </p:sp>
      <p:sp>
        <p:nvSpPr>
          <p:cNvPr id="37" name="Shape 28"/>
          <p:cNvSpPr/>
          <p:nvPr/>
        </p:nvSpPr>
        <p:spPr>
          <a:xfrm>
            <a:off x="6407150" y="4517231"/>
            <a:ext cx="330200" cy="330200"/>
          </a:xfrm>
          <a:prstGeom prst="roundRect">
            <a:avLst>
              <a:gd name="adj" fmla="val 23077"/>
            </a:avLst>
          </a:prstGeom>
          <a:solidFill>
            <a:srgbClr val="FBF1E6"/>
          </a:solidFill>
          <a:ln/>
        </p:spPr>
      </p:sp>
      <p:pic>
        <p:nvPicPr>
          <p:cNvPr id="38" name="Image 7" descr="Link">    </p:cNvPr>
          <p:cNvPicPr>
            <a:picLocks noChangeAspect="1"/>
          </p:cNvPicPr>
          <p:nvPr/>
        </p:nvPicPr>
        <p:blipFill>
          <a:blip r:embed="rId8"/>
          <a:srcRect l="0" r="0" t="0" b="0"/>
          <a:stretch/>
        </p:blipFill>
        <p:spPr>
          <a:xfrm>
            <a:off x="6477000" y="4587081"/>
            <a:ext cx="190500" cy="190500"/>
          </a:xfrm>
          <a:prstGeom prst="rect">
            <a:avLst/>
          </a:prstGeom>
        </p:spPr>
      </p:pic>
      <p:sp>
        <p:nvSpPr>
          <p:cNvPr id="39" name="Text 29"/>
          <p:cNvSpPr/>
          <p:nvPr/>
        </p:nvSpPr>
        <p:spPr>
          <a:xfrm>
            <a:off x="6864350" y="4562277"/>
            <a:ext cx="448678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Документација јавних уговора између модула</a:t>
            </a:r>
            <a:endParaRPr lang="en-US" sz="1400" dirty="0"/>
          </a:p>
        </p:txBody>
      </p:sp>
      <p:sp>
        <p:nvSpPr>
          <p:cNvPr id="40" name="Shape 30"/>
          <p:cNvSpPr/>
          <p:nvPr/>
        </p:nvSpPr>
        <p:spPr>
          <a:xfrm>
            <a:off x="812800" y="6209705"/>
            <a:ext cx="10566400" cy="0"/>
          </a:xfrm>
          <a:prstGeom prst="line">
            <a:avLst/>
          </a:prstGeom>
          <a:noFill/>
          <a:ln w="6350">
            <a:solidFill>
              <a:srgbClr val="D3DAE1"/>
            </a:solidFill>
            <a:prstDash val="solid"/>
          </a:ln>
        </p:spPr>
      </p:sp>
      <p:sp>
        <p:nvSpPr>
          <p:cNvPr id="41" name="Text 3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2" name="Text 3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Следљивост индивидуалног доприноса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Допринос студента повезује захтев, измену кода и доказ провере.</a:t>
            </a:r>
            <a:endParaRPr lang="en-US" sz="1400" dirty="0"/>
          </a:p>
        </p:txBody>
      </p:sp>
      <p:sp>
        <p:nvSpPr>
          <p:cNvPr id="6" name="Shape 4"/>
          <p:cNvSpPr/>
          <p:nvPr/>
        </p:nvSpPr>
        <p:spPr>
          <a:xfrm>
            <a:off x="815975" y="2179836"/>
            <a:ext cx="2311400" cy="2158802"/>
          </a:xfrm>
          <a:prstGeom prst="roundRect">
            <a:avLst>
              <a:gd name="adj" fmla="val 4559"/>
            </a:avLst>
          </a:prstGeom>
          <a:solidFill>
            <a:srgbClr val="FCFCFB"/>
          </a:solidFill>
          <a:ln w="6350">
            <a:solidFill>
              <a:srgbClr val="D3DAE1"/>
            </a:solidFill>
            <a:prstDash val="solid"/>
          </a:ln>
        </p:spPr>
      </p:sp>
      <p:sp>
        <p:nvSpPr>
          <p:cNvPr id="7" name="Shape 5"/>
          <p:cNvSpPr/>
          <p:nvPr/>
        </p:nvSpPr>
        <p:spPr>
          <a:xfrm>
            <a:off x="996950" y="2360811"/>
            <a:ext cx="355600" cy="355600"/>
          </a:xfrm>
          <a:prstGeom prst="roundRect">
            <a:avLst>
              <a:gd name="adj" fmla="val 21429"/>
            </a:avLst>
          </a:prstGeom>
          <a:solidFill>
            <a:srgbClr val="DCE8F4"/>
          </a:solidFill>
          <a:ln/>
        </p:spPr>
      </p:sp>
      <p:pic>
        <p:nvPicPr>
          <p:cNvPr id="8" name="Image 0" descr="Book">    </p:cNvPr>
          <p:cNvPicPr>
            <a:picLocks noChangeAspect="1"/>
          </p:cNvPicPr>
          <p:nvPr/>
        </p:nvPicPr>
        <p:blipFill>
          <a:blip r:embed="rId1"/>
          <a:srcRect l="0" r="0" t="0" b="0"/>
          <a:stretch/>
        </p:blipFill>
        <p:spPr>
          <a:xfrm>
            <a:off x="1073150" y="2437011"/>
            <a:ext cx="203200" cy="203200"/>
          </a:xfrm>
          <a:prstGeom prst="rect">
            <a:avLst/>
          </a:prstGeom>
        </p:spPr>
      </p:pic>
      <p:sp>
        <p:nvSpPr>
          <p:cNvPr id="9" name="Text 6"/>
          <p:cNvSpPr/>
          <p:nvPr/>
        </p:nvSpPr>
        <p:spPr>
          <a:xfrm>
            <a:off x="265172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01</a:t>
            </a:r>
            <a:endParaRPr lang="en-US" sz="1600" dirty="0"/>
          </a:p>
        </p:txBody>
      </p:sp>
      <p:sp>
        <p:nvSpPr>
          <p:cNvPr id="10" name="Text 7"/>
          <p:cNvSpPr/>
          <p:nvPr/>
        </p:nvSpPr>
        <p:spPr>
          <a:xfrm>
            <a:off x="99695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Захтев и одговорност</a:t>
            </a:r>
            <a:endParaRPr lang="en-US" sz="1400" dirty="0"/>
          </a:p>
        </p:txBody>
      </p:sp>
      <p:sp>
        <p:nvSpPr>
          <p:cNvPr id="11" name="Text 8"/>
          <p:cNvSpPr/>
          <p:nvPr/>
        </p:nvSpPr>
        <p:spPr>
          <a:xfrm>
            <a:off x="996950" y="3091061"/>
            <a:ext cx="200793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наводи backlog ставку или део случаја употребе за који је одговоран.</a:t>
            </a:r>
            <a:endParaRPr lang="en-US" sz="1200" dirty="0"/>
          </a:p>
        </p:txBody>
      </p:sp>
      <p:pic>
        <p:nvPicPr>
          <p:cNvPr id="12" name="Image 1" descr="arrow-right">    </p:cNvPr>
          <p:cNvPicPr>
            <a:picLocks noChangeAspect="1"/>
          </p:cNvPicPr>
          <p:nvPr/>
        </p:nvPicPr>
        <p:blipFill>
          <a:blip r:embed="rId2"/>
          <a:srcRect l="0" r="0" t="0" b="0"/>
          <a:stretch/>
        </p:blipFill>
        <p:spPr>
          <a:xfrm>
            <a:off x="3232150" y="3202087"/>
            <a:ext cx="228600" cy="114300"/>
          </a:xfrm>
          <a:prstGeom prst="rect">
            <a:avLst/>
          </a:prstGeom>
        </p:spPr>
      </p:pic>
      <p:sp>
        <p:nvSpPr>
          <p:cNvPr id="13" name="Shape 9"/>
          <p:cNvSpPr/>
          <p:nvPr/>
        </p:nvSpPr>
        <p:spPr>
          <a:xfrm>
            <a:off x="3565525" y="2179836"/>
            <a:ext cx="2311400" cy="2158802"/>
          </a:xfrm>
          <a:prstGeom prst="roundRect">
            <a:avLst>
              <a:gd name="adj" fmla="val 4559"/>
            </a:avLst>
          </a:prstGeom>
          <a:solidFill>
            <a:srgbClr val="FCFCFB"/>
          </a:solidFill>
          <a:ln w="6350">
            <a:solidFill>
              <a:srgbClr val="D3DAE1"/>
            </a:solidFill>
            <a:prstDash val="solid"/>
          </a:ln>
        </p:spPr>
      </p:sp>
      <p:sp>
        <p:nvSpPr>
          <p:cNvPr id="14" name="Shape 10"/>
          <p:cNvSpPr/>
          <p:nvPr/>
        </p:nvSpPr>
        <p:spPr>
          <a:xfrm>
            <a:off x="3746500" y="2360811"/>
            <a:ext cx="355600" cy="355600"/>
          </a:xfrm>
          <a:prstGeom prst="roundRect">
            <a:avLst>
              <a:gd name="adj" fmla="val 21429"/>
            </a:avLst>
          </a:prstGeom>
          <a:solidFill>
            <a:srgbClr val="DCE8F4"/>
          </a:solidFill>
          <a:ln/>
        </p:spPr>
      </p:sp>
      <p:pic>
        <p:nvPicPr>
          <p:cNvPr id="15" name="Image 2" descr="Code">    </p:cNvPr>
          <p:cNvPicPr>
            <a:picLocks noChangeAspect="1"/>
          </p:cNvPicPr>
          <p:nvPr/>
        </p:nvPicPr>
        <p:blipFill>
          <a:blip r:embed="rId3"/>
          <a:srcRect l="0" r="0" t="0" b="0"/>
          <a:stretch/>
        </p:blipFill>
        <p:spPr>
          <a:xfrm>
            <a:off x="3822700" y="2437011"/>
            <a:ext cx="203200" cy="203200"/>
          </a:xfrm>
          <a:prstGeom prst="rect">
            <a:avLst/>
          </a:prstGeom>
        </p:spPr>
      </p:pic>
      <p:sp>
        <p:nvSpPr>
          <p:cNvPr id="16" name="Text 11"/>
          <p:cNvSpPr/>
          <p:nvPr/>
        </p:nvSpPr>
        <p:spPr>
          <a:xfrm>
            <a:off x="540127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02</a:t>
            </a:r>
            <a:endParaRPr lang="en-US" sz="1600" dirty="0"/>
          </a:p>
        </p:txBody>
      </p:sp>
      <p:sp>
        <p:nvSpPr>
          <p:cNvPr id="17" name="Text 12"/>
          <p:cNvSpPr/>
          <p:nvPr/>
        </p:nvSpPr>
        <p:spPr>
          <a:xfrm>
            <a:off x="374650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Измена кода</a:t>
            </a:r>
            <a:endParaRPr lang="en-US" sz="1400" dirty="0"/>
          </a:p>
        </p:txBody>
      </p:sp>
      <p:sp>
        <p:nvSpPr>
          <p:cNvPr id="18" name="Text 13"/>
          <p:cNvSpPr/>
          <p:nvPr/>
        </p:nvSpPr>
        <p:spPr>
          <a:xfrm>
            <a:off x="3746500" y="3091061"/>
            <a:ext cx="200793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Commit-и и Pull Request приказују обим и смисао сопственог доприноса.</a:t>
            </a:r>
            <a:endParaRPr lang="en-US" sz="1200" dirty="0"/>
          </a:p>
        </p:txBody>
      </p:sp>
      <p:pic>
        <p:nvPicPr>
          <p:cNvPr id="19" name="Image 3" descr="arrow-right">    </p:cNvPr>
          <p:cNvPicPr>
            <a:picLocks noChangeAspect="1"/>
          </p:cNvPicPr>
          <p:nvPr/>
        </p:nvPicPr>
        <p:blipFill>
          <a:blip r:embed="rId4"/>
          <a:srcRect l="0" r="0" t="0" b="0"/>
          <a:stretch/>
        </p:blipFill>
        <p:spPr>
          <a:xfrm>
            <a:off x="5981700" y="3202087"/>
            <a:ext cx="228600" cy="114300"/>
          </a:xfrm>
          <a:prstGeom prst="rect">
            <a:avLst/>
          </a:prstGeom>
        </p:spPr>
      </p:pic>
      <p:sp>
        <p:nvSpPr>
          <p:cNvPr id="20" name="Shape 14"/>
          <p:cNvSpPr/>
          <p:nvPr/>
        </p:nvSpPr>
        <p:spPr>
          <a:xfrm>
            <a:off x="6315075" y="2179836"/>
            <a:ext cx="2311400" cy="2158802"/>
          </a:xfrm>
          <a:prstGeom prst="roundRect">
            <a:avLst>
              <a:gd name="adj" fmla="val 4559"/>
            </a:avLst>
          </a:prstGeom>
          <a:solidFill>
            <a:srgbClr val="FCFCFB"/>
          </a:solidFill>
          <a:ln w="6350">
            <a:solidFill>
              <a:srgbClr val="D3DAE1"/>
            </a:solidFill>
            <a:prstDash val="solid"/>
          </a:ln>
        </p:spPr>
      </p:sp>
      <p:sp>
        <p:nvSpPr>
          <p:cNvPr id="21" name="Shape 15"/>
          <p:cNvSpPr/>
          <p:nvPr/>
        </p:nvSpPr>
        <p:spPr>
          <a:xfrm>
            <a:off x="6496050" y="2360811"/>
            <a:ext cx="355600" cy="355600"/>
          </a:xfrm>
          <a:prstGeom prst="roundRect">
            <a:avLst>
              <a:gd name="adj" fmla="val 21429"/>
            </a:avLst>
          </a:prstGeom>
          <a:solidFill>
            <a:srgbClr val="DCE8F4"/>
          </a:solidFill>
          <a:ln/>
        </p:spPr>
      </p:sp>
      <p:pic>
        <p:nvPicPr>
          <p:cNvPr id="22" name="Image 4" descr="Lightbulb">    </p:cNvPr>
          <p:cNvPicPr>
            <a:picLocks noChangeAspect="1"/>
          </p:cNvPicPr>
          <p:nvPr/>
        </p:nvPicPr>
        <p:blipFill>
          <a:blip r:embed="rId5"/>
          <a:srcRect l="0" r="0" t="0" b="0"/>
          <a:stretch/>
        </p:blipFill>
        <p:spPr>
          <a:xfrm>
            <a:off x="6572250" y="2437011"/>
            <a:ext cx="203200" cy="203200"/>
          </a:xfrm>
          <a:prstGeom prst="rect">
            <a:avLst/>
          </a:prstGeom>
        </p:spPr>
      </p:pic>
      <p:sp>
        <p:nvSpPr>
          <p:cNvPr id="23" name="Text 16"/>
          <p:cNvSpPr/>
          <p:nvPr/>
        </p:nvSpPr>
        <p:spPr>
          <a:xfrm>
            <a:off x="815082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03</a:t>
            </a:r>
            <a:endParaRPr lang="en-US" sz="1600" dirty="0"/>
          </a:p>
        </p:txBody>
      </p:sp>
      <p:sp>
        <p:nvSpPr>
          <p:cNvPr id="24" name="Text 17"/>
          <p:cNvSpPr/>
          <p:nvPr/>
        </p:nvSpPr>
        <p:spPr>
          <a:xfrm>
            <a:off x="649605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Одлука</a:t>
            </a:r>
            <a:endParaRPr lang="en-US" sz="1400" dirty="0"/>
          </a:p>
        </p:txBody>
      </p:sp>
      <p:sp>
        <p:nvSpPr>
          <p:cNvPr id="25" name="Text 18"/>
          <p:cNvSpPr/>
          <p:nvPr/>
        </p:nvSpPr>
        <p:spPr>
          <a:xfrm>
            <a:off x="6496050" y="3091061"/>
            <a:ext cx="2007933" cy="1092002"/>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образлаже изабрану архитектонску или дизајнерску одлуку и њене последице по решење.</a:t>
            </a:r>
            <a:endParaRPr lang="en-US" sz="1200" dirty="0"/>
          </a:p>
        </p:txBody>
      </p:sp>
      <p:pic>
        <p:nvPicPr>
          <p:cNvPr id="26" name="Image 5" descr="arrow-right">    </p:cNvPr>
          <p:cNvPicPr>
            <a:picLocks noChangeAspect="1"/>
          </p:cNvPicPr>
          <p:nvPr/>
        </p:nvPicPr>
        <p:blipFill>
          <a:blip r:embed="rId6"/>
          <a:srcRect l="0" r="0" t="0" b="0"/>
          <a:stretch/>
        </p:blipFill>
        <p:spPr>
          <a:xfrm>
            <a:off x="8731250" y="3202087"/>
            <a:ext cx="228600" cy="114300"/>
          </a:xfrm>
          <a:prstGeom prst="rect">
            <a:avLst/>
          </a:prstGeom>
        </p:spPr>
      </p:pic>
      <p:sp>
        <p:nvSpPr>
          <p:cNvPr id="27" name="Shape 19"/>
          <p:cNvSpPr/>
          <p:nvPr/>
        </p:nvSpPr>
        <p:spPr>
          <a:xfrm>
            <a:off x="9064625" y="2179836"/>
            <a:ext cx="2311400" cy="2158802"/>
          </a:xfrm>
          <a:prstGeom prst="roundRect">
            <a:avLst>
              <a:gd name="adj" fmla="val 4559"/>
            </a:avLst>
          </a:prstGeom>
          <a:solidFill>
            <a:srgbClr val="FCFCFB"/>
          </a:solidFill>
          <a:ln w="6350">
            <a:solidFill>
              <a:srgbClr val="D3DAE1"/>
            </a:solidFill>
            <a:prstDash val="solid"/>
          </a:ln>
        </p:spPr>
      </p:sp>
      <p:sp>
        <p:nvSpPr>
          <p:cNvPr id="28" name="Shape 20"/>
          <p:cNvSpPr/>
          <p:nvPr/>
        </p:nvSpPr>
        <p:spPr>
          <a:xfrm>
            <a:off x="9245600" y="2360811"/>
            <a:ext cx="355600" cy="355600"/>
          </a:xfrm>
          <a:prstGeom prst="roundRect">
            <a:avLst>
              <a:gd name="adj" fmla="val 21429"/>
            </a:avLst>
          </a:prstGeom>
          <a:solidFill>
            <a:srgbClr val="FBF1E6"/>
          </a:solidFill>
          <a:ln/>
        </p:spPr>
      </p:sp>
      <p:pic>
        <p:nvPicPr>
          <p:cNvPr id="29" name="Image 6" descr="CheckCircle">    </p:cNvPr>
          <p:cNvPicPr>
            <a:picLocks noChangeAspect="1"/>
          </p:cNvPicPr>
          <p:nvPr/>
        </p:nvPicPr>
        <p:blipFill>
          <a:blip r:embed="rId7"/>
          <a:srcRect l="0" r="0" t="0" b="0"/>
          <a:stretch/>
        </p:blipFill>
        <p:spPr>
          <a:xfrm>
            <a:off x="9321800" y="2437011"/>
            <a:ext cx="203200" cy="203200"/>
          </a:xfrm>
          <a:prstGeom prst="rect">
            <a:avLst/>
          </a:prstGeom>
        </p:spPr>
      </p:pic>
      <p:sp>
        <p:nvSpPr>
          <p:cNvPr id="30" name="Text 21"/>
          <p:cNvSpPr/>
          <p:nvPr/>
        </p:nvSpPr>
        <p:spPr>
          <a:xfrm>
            <a:off x="10900370" y="2396331"/>
            <a:ext cx="294680" cy="309860"/>
          </a:xfrm>
          <a:prstGeom prst="rect">
            <a:avLst/>
          </a:prstGeom>
          <a:noFill/>
          <a:ln/>
        </p:spPr>
        <p:txBody>
          <a:bodyPr wrap="square" lIns="0" tIns="0" rIns="0" bIns="0" rtlCol="0" anchor="t">
            <a:normAutofit/>
          </a:bodyPr>
          <a:lstStyle/>
          <a:p>
            <a:pPr algn="r" indent="0" marL="0">
              <a:lnSpc>
                <a:spcPts val="2240"/>
              </a:lnSpc>
              <a:buNone/>
            </a:pPr>
            <a:r>
              <a:rPr lang="en-US" sz="1600" dirty="0">
                <a:solidFill>
                  <a:srgbClr val="0A5CA8"/>
                </a:solidFill>
                <a:latin typeface="IBM Plex Mono" pitchFamily="49" charset="0"/>
                <a:ea typeface="IBM Plex Mono" pitchFamily="49" charset="-122"/>
                <a:cs typeface="IBM Plex Mono" pitchFamily="49" charset="-120"/>
              </a:rPr>
              <a:t>04</a:t>
            </a:r>
            <a:endParaRPr lang="en-US" sz="1600" dirty="0"/>
          </a:p>
        </p:txBody>
      </p:sp>
      <p:sp>
        <p:nvSpPr>
          <p:cNvPr id="31" name="Text 22"/>
          <p:cNvSpPr/>
          <p:nvPr/>
        </p:nvSpPr>
        <p:spPr>
          <a:xfrm>
            <a:off x="9245600" y="2792611"/>
            <a:ext cx="200793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p>
        </p:txBody>
      </p:sp>
      <p:sp>
        <p:nvSpPr>
          <p:cNvPr id="32" name="Text 23"/>
          <p:cNvSpPr/>
          <p:nvPr/>
        </p:nvSpPr>
        <p:spPr>
          <a:xfrm>
            <a:off x="9245600" y="3091061"/>
            <a:ext cx="2007933"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Тест, build или демонстрациони сценарио потврђује резултат измене.</a:t>
            </a:r>
            <a:endParaRPr lang="en-US" sz="1200" dirty="0"/>
          </a:p>
        </p:txBody>
      </p:sp>
      <p:sp>
        <p:nvSpPr>
          <p:cNvPr id="33" name="Shape 24"/>
          <p:cNvSpPr/>
          <p:nvPr/>
        </p:nvSpPr>
        <p:spPr>
          <a:xfrm>
            <a:off x="812800" y="6209705"/>
            <a:ext cx="10566400" cy="0"/>
          </a:xfrm>
          <a:prstGeom prst="line">
            <a:avLst/>
          </a:prstGeom>
          <a:noFill/>
          <a:ln w="6350">
            <a:solidFill>
              <a:srgbClr val="D3DAE1"/>
            </a:solidFill>
            <a:prstDash val="solid"/>
          </a:ln>
        </p:spPr>
      </p:sp>
      <p:sp>
        <p:nvSpPr>
          <p:cNvPr id="34"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03 · ПРОЈЕКАТ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Услови интеграције пројектне целине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Пројектна целина се прихвата када се укључује у заједничко решење без нарушавања постојећег понашања.</a:t>
            </a:r>
            <a:endParaRPr lang="en-US" sz="1400" dirty="0"/>
          </a:p>
        </p:txBody>
      </p:sp>
      <p:sp>
        <p:nvSpPr>
          <p:cNvPr id="6" name="Shape 4"/>
          <p:cNvSpPr/>
          <p:nvPr/>
        </p:nvSpPr>
        <p:spPr>
          <a:xfrm>
            <a:off x="815975" y="2179836"/>
            <a:ext cx="5124450" cy="2497931"/>
          </a:xfrm>
          <a:prstGeom prst="roundRect">
            <a:avLst>
              <a:gd name="adj" fmla="val 3940"/>
            </a:avLst>
          </a:prstGeom>
          <a:solidFill>
            <a:srgbClr val="FCFCFB"/>
          </a:solidFill>
          <a:ln w="6350">
            <a:solidFill>
              <a:srgbClr val="D3DAE1"/>
            </a:solidFill>
            <a:prstDash val="solid"/>
          </a:ln>
        </p:spPr>
      </p:sp>
      <p:sp>
        <p:nvSpPr>
          <p:cNvPr id="7" name="Text 5"/>
          <p:cNvSpPr/>
          <p:nvPr/>
        </p:nvSpPr>
        <p:spPr>
          <a:xfrm>
            <a:off x="1047750" y="237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ТЕХНИЧКИ УСЛОВИ</a:t>
            </a:r>
            <a:endParaRPr lang="en-US" sz="1200" dirty="0"/>
          </a:p>
        </p:txBody>
      </p:sp>
      <p:pic>
        <p:nvPicPr>
          <p:cNvPr id="8" name="Image 0" descr="Check">    </p:cNvPr>
          <p:cNvPicPr>
            <a:picLocks noChangeAspect="1"/>
          </p:cNvPicPr>
          <p:nvPr/>
        </p:nvPicPr>
        <p:blipFill>
          <a:blip r:embed="rId1"/>
          <a:srcRect l="0" r="0" t="0" b="0"/>
          <a:stretch/>
        </p:blipFill>
        <p:spPr>
          <a:xfrm>
            <a:off x="1047750" y="2701131"/>
            <a:ext cx="215900" cy="215900"/>
          </a:xfrm>
          <a:prstGeom prst="rect">
            <a:avLst/>
          </a:prstGeom>
        </p:spPr>
      </p:pic>
      <p:sp>
        <p:nvSpPr>
          <p:cNvPr id="9" name="Text 6"/>
          <p:cNvSpPr/>
          <p:nvPr/>
        </p:nvSpPr>
        <p:spPr>
          <a:xfrm>
            <a:off x="1377950" y="2701131"/>
            <a:ext cx="446062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Јавни уговори су дефинисани и верзионисани</a:t>
            </a:r>
            <a:endParaRPr lang="en-US" sz="1400" dirty="0"/>
          </a:p>
        </p:txBody>
      </p:sp>
      <p:pic>
        <p:nvPicPr>
          <p:cNvPr id="10" name="Image 1" descr="Check">    </p:cNvPr>
          <p:cNvPicPr>
            <a:picLocks noChangeAspect="1"/>
          </p:cNvPicPr>
          <p:nvPr/>
        </p:nvPicPr>
        <p:blipFill>
          <a:blip r:embed="rId2"/>
          <a:srcRect l="0" r="0" t="0" b="0"/>
          <a:stretch/>
        </p:blipFill>
        <p:spPr>
          <a:xfrm>
            <a:off x="1047750" y="3055441"/>
            <a:ext cx="215900" cy="215900"/>
          </a:xfrm>
          <a:prstGeom prst="rect">
            <a:avLst/>
          </a:prstGeom>
        </p:spPr>
      </p:pic>
      <p:sp>
        <p:nvSpPr>
          <p:cNvPr id="11" name="Text 7"/>
          <p:cNvSpPr/>
          <p:nvPr/>
        </p:nvSpPr>
        <p:spPr>
          <a:xfrm>
            <a:off x="1377950" y="3055441"/>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Смер зависности одговара договореној архитектури</a:t>
            </a:r>
            <a:endParaRPr lang="en-US" sz="1400" dirty="0"/>
          </a:p>
        </p:txBody>
      </p:sp>
      <p:pic>
        <p:nvPicPr>
          <p:cNvPr id="12" name="Image 2" descr="Check">    </p:cNvPr>
          <p:cNvPicPr>
            <a:picLocks noChangeAspect="1"/>
          </p:cNvPicPr>
          <p:nvPr/>
        </p:nvPicPr>
        <p:blipFill>
          <a:blip r:embed="rId3"/>
          <a:srcRect l="0" r="0" t="0" b="0"/>
          <a:stretch/>
        </p:blipFill>
        <p:spPr>
          <a:xfrm>
            <a:off x="1047750" y="3649762"/>
            <a:ext cx="215900" cy="215900"/>
          </a:xfrm>
          <a:prstGeom prst="rect">
            <a:avLst/>
          </a:prstGeom>
        </p:spPr>
      </p:pic>
      <p:sp>
        <p:nvSpPr>
          <p:cNvPr id="13" name="Text 8"/>
          <p:cNvSpPr/>
          <p:nvPr/>
        </p:nvSpPr>
        <p:spPr>
          <a:xfrm>
            <a:off x="1377950" y="3649762"/>
            <a:ext cx="4559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Build и релевантни тестови успешно се извршавају</a:t>
            </a:r>
            <a:endParaRPr lang="en-US" sz="1400" dirty="0"/>
          </a:p>
        </p:txBody>
      </p:sp>
      <p:pic>
        <p:nvPicPr>
          <p:cNvPr id="14" name="Image 3" descr="Check">    </p:cNvPr>
          <p:cNvPicPr>
            <a:picLocks noChangeAspect="1"/>
          </p:cNvPicPr>
          <p:nvPr/>
        </p:nvPicPr>
        <p:blipFill>
          <a:blip r:embed="rId4"/>
          <a:srcRect l="0" r="0" t="0" b="0"/>
          <a:stretch/>
        </p:blipFill>
        <p:spPr>
          <a:xfrm>
            <a:off x="1047750" y="4004072"/>
            <a:ext cx="215900" cy="215900"/>
          </a:xfrm>
          <a:prstGeom prst="rect">
            <a:avLst/>
          </a:prstGeom>
        </p:spPr>
      </p:pic>
      <p:sp>
        <p:nvSpPr>
          <p:cNvPr id="15" name="Text 9"/>
          <p:cNvSpPr/>
          <p:nvPr/>
        </p:nvSpPr>
        <p:spPr>
          <a:xfrm>
            <a:off x="1377950" y="4004072"/>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Конфигурација не садржи локалне или тајне податке</a:t>
            </a:r>
            <a:endParaRPr lang="en-US" sz="1400" dirty="0"/>
          </a:p>
        </p:txBody>
      </p:sp>
      <p:sp>
        <p:nvSpPr>
          <p:cNvPr id="16" name="Shape 10"/>
          <p:cNvSpPr/>
          <p:nvPr/>
        </p:nvSpPr>
        <p:spPr>
          <a:xfrm>
            <a:off x="6251575" y="2179836"/>
            <a:ext cx="5124450" cy="2497931"/>
          </a:xfrm>
          <a:prstGeom prst="roundRect">
            <a:avLst>
              <a:gd name="adj" fmla="val 3940"/>
            </a:avLst>
          </a:prstGeom>
          <a:solidFill>
            <a:srgbClr val="FCFCFB"/>
          </a:solidFill>
          <a:ln w="6350">
            <a:solidFill>
              <a:srgbClr val="D3DAE1"/>
            </a:solidFill>
            <a:prstDash val="solid"/>
          </a:ln>
        </p:spPr>
      </p:sp>
      <p:sp>
        <p:nvSpPr>
          <p:cNvPr id="17" name="Text 11"/>
          <p:cNvSpPr/>
          <p:nvPr/>
        </p:nvSpPr>
        <p:spPr>
          <a:xfrm>
            <a:off x="6483350" y="2373511"/>
            <a:ext cx="48007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ДОКАЗ НА ОДБРАНИ</a:t>
            </a:r>
            <a:endParaRPr lang="en-US" sz="1200" dirty="0"/>
          </a:p>
        </p:txBody>
      </p:sp>
      <p:pic>
        <p:nvPicPr>
          <p:cNvPr id="18" name="Image 4" descr="Play">    </p:cNvPr>
          <p:cNvPicPr>
            <a:picLocks noChangeAspect="1"/>
          </p:cNvPicPr>
          <p:nvPr/>
        </p:nvPicPr>
        <p:blipFill>
          <a:blip r:embed="rId5"/>
          <a:srcRect l="0" r="0" t="0" b="0"/>
          <a:stretch/>
        </p:blipFill>
        <p:spPr>
          <a:xfrm>
            <a:off x="6483350" y="2701131"/>
            <a:ext cx="215900" cy="215900"/>
          </a:xfrm>
          <a:prstGeom prst="rect">
            <a:avLst/>
          </a:prstGeom>
        </p:spPr>
      </p:pic>
      <p:sp>
        <p:nvSpPr>
          <p:cNvPr id="19" name="Text 12"/>
          <p:cNvSpPr/>
          <p:nvPr/>
        </p:nvSpPr>
        <p:spPr>
          <a:xfrm>
            <a:off x="6813550" y="2701131"/>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Покретање функционалности у оквиру целог решења</a:t>
            </a:r>
            <a:endParaRPr lang="en-US" sz="1400" dirty="0"/>
          </a:p>
        </p:txBody>
      </p:sp>
      <p:pic>
        <p:nvPicPr>
          <p:cNvPr id="20" name="Image 5" descr="Play">    </p:cNvPr>
          <p:cNvPicPr>
            <a:picLocks noChangeAspect="1"/>
          </p:cNvPicPr>
          <p:nvPr/>
        </p:nvPicPr>
        <p:blipFill>
          <a:blip r:embed="rId6"/>
          <a:srcRect l="0" r="0" t="0" b="0"/>
          <a:stretch/>
        </p:blipFill>
        <p:spPr>
          <a:xfrm>
            <a:off x="6483350" y="3295452"/>
            <a:ext cx="215900" cy="215900"/>
          </a:xfrm>
          <a:prstGeom prst="rect">
            <a:avLst/>
          </a:prstGeom>
        </p:spPr>
      </p:pic>
      <p:sp>
        <p:nvSpPr>
          <p:cNvPr id="21" name="Text 13"/>
          <p:cNvSpPr/>
          <p:nvPr/>
        </p:nvSpPr>
        <p:spPr>
          <a:xfrm>
            <a:off x="6813550" y="3295452"/>
            <a:ext cx="4559300"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Образложење интеграционих тачака и зависности</a:t>
            </a:r>
            <a:endParaRPr lang="en-US" sz="1400" dirty="0"/>
          </a:p>
        </p:txBody>
      </p:sp>
      <p:pic>
        <p:nvPicPr>
          <p:cNvPr id="22" name="Image 6" descr="Play">    </p:cNvPr>
          <p:cNvPicPr>
            <a:picLocks noChangeAspect="1"/>
          </p:cNvPicPr>
          <p:nvPr/>
        </p:nvPicPr>
        <p:blipFill>
          <a:blip r:embed="rId7"/>
          <a:srcRect l="0" r="0" t="0" b="0"/>
          <a:stretch/>
        </p:blipFill>
        <p:spPr>
          <a:xfrm>
            <a:off x="6483350" y="3649762"/>
            <a:ext cx="215900" cy="215900"/>
          </a:xfrm>
          <a:prstGeom prst="rect">
            <a:avLst/>
          </a:prstGeom>
        </p:spPr>
      </p:pic>
      <p:sp>
        <p:nvSpPr>
          <p:cNvPr id="23" name="Text 14"/>
          <p:cNvSpPr/>
          <p:nvPr/>
        </p:nvSpPr>
        <p:spPr>
          <a:xfrm>
            <a:off x="6813550" y="3649762"/>
            <a:ext cx="4460621"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Приказ тестова за граничне и неуспешне сценарије</a:t>
            </a:r>
            <a:endParaRPr lang="en-US" sz="1400" dirty="0"/>
          </a:p>
        </p:txBody>
      </p:sp>
      <p:pic>
        <p:nvPicPr>
          <p:cNvPr id="24" name="Image 7" descr="Play">    </p:cNvPr>
          <p:cNvPicPr>
            <a:picLocks noChangeAspect="1"/>
          </p:cNvPicPr>
          <p:nvPr/>
        </p:nvPicPr>
        <p:blipFill>
          <a:blip r:embed="rId8"/>
          <a:srcRect l="0" r="0" t="0" b="0"/>
          <a:stretch/>
        </p:blipFill>
        <p:spPr>
          <a:xfrm>
            <a:off x="6483350" y="4244082"/>
            <a:ext cx="215900" cy="215900"/>
          </a:xfrm>
          <a:prstGeom prst="rect">
            <a:avLst/>
          </a:prstGeom>
        </p:spPr>
      </p:pic>
      <p:sp>
        <p:nvSpPr>
          <p:cNvPr id="25" name="Text 15"/>
          <p:cNvSpPr/>
          <p:nvPr/>
        </p:nvSpPr>
        <p:spPr>
          <a:xfrm>
            <a:off x="6813550" y="4244082"/>
            <a:ext cx="4460621"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Јасан приказ индивидуалног доприноса</a:t>
            </a:r>
            <a:endParaRPr lang="en-US" sz="1400" dirty="0"/>
          </a:p>
        </p:txBody>
      </p:sp>
      <p:sp>
        <p:nvSpPr>
          <p:cNvPr id="26" name="Shape 16"/>
          <p:cNvSpPr/>
          <p:nvPr/>
        </p:nvSpPr>
        <p:spPr>
          <a:xfrm>
            <a:off x="812800" y="6209705"/>
            <a:ext cx="10566400" cy="0"/>
          </a:xfrm>
          <a:prstGeom prst="line">
            <a:avLst/>
          </a:prstGeom>
          <a:noFill/>
          <a:ln w="6350">
            <a:solidFill>
              <a:srgbClr val="D3DAE1"/>
            </a:solidFill>
            <a:prstDash val="solid"/>
          </a:ln>
        </p:spPr>
      </p:sp>
      <p:sp>
        <p:nvSpPr>
          <p:cNvPr id="27" name="Text 1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1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Одбрана пројекта и важење поена</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Пројектни поени важе до краја текуће академске године.</a:t>
            </a:r>
            <a:endParaRPr lang="en-US" sz="1400" dirty="0"/>
          </a:p>
        </p:txBody>
      </p:sp>
      <p:sp>
        <p:nvSpPr>
          <p:cNvPr id="6" name="Text 4"/>
          <p:cNvSpPr/>
          <p:nvPr/>
        </p:nvSpPr>
        <p:spPr>
          <a:xfrm>
            <a:off x="812800" y="2176661"/>
            <a:ext cx="41859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ТЕРМИНИ ОДБРАНЕ</a:t>
            </a:r>
            <a:endParaRPr lang="en-US" sz="1200" dirty="0"/>
          </a:p>
        </p:txBody>
      </p:sp>
      <p:sp>
        <p:nvSpPr>
          <p:cNvPr id="7" name="Shape 5"/>
          <p:cNvSpPr/>
          <p:nvPr/>
        </p:nvSpPr>
        <p:spPr>
          <a:xfrm>
            <a:off x="815975" y="2507456"/>
            <a:ext cx="4057650" cy="841970"/>
          </a:xfrm>
          <a:prstGeom prst="roundRect">
            <a:avLst>
              <a:gd name="adj" fmla="val 11690"/>
            </a:avLst>
          </a:prstGeom>
          <a:solidFill>
            <a:srgbClr val="FCFCFB"/>
          </a:solidFill>
          <a:ln w="6350">
            <a:solidFill>
              <a:srgbClr val="D3DAE1"/>
            </a:solidFill>
            <a:prstDash val="solid"/>
          </a:ln>
        </p:spPr>
      </p:sp>
      <p:sp>
        <p:nvSpPr>
          <p:cNvPr id="8" name="Shape 6"/>
          <p:cNvSpPr/>
          <p:nvPr/>
        </p:nvSpPr>
        <p:spPr>
          <a:xfrm>
            <a:off x="1009650" y="2675731"/>
            <a:ext cx="355600" cy="355600"/>
          </a:xfrm>
          <a:prstGeom prst="roundRect">
            <a:avLst>
              <a:gd name="adj" fmla="val 21429"/>
            </a:avLst>
          </a:prstGeom>
          <a:solidFill>
            <a:srgbClr val="DCE8F4"/>
          </a:solidFill>
          <a:ln/>
        </p:spPr>
      </p:sp>
      <p:pic>
        <p:nvPicPr>
          <p:cNvPr id="9" name="Image 0" descr="Clock">    </p:cNvPr>
          <p:cNvPicPr>
            <a:picLocks noChangeAspect="1"/>
          </p:cNvPicPr>
          <p:nvPr/>
        </p:nvPicPr>
        <p:blipFill>
          <a:blip r:embed="rId1"/>
          <a:srcRect l="0" r="0" t="0" b="0"/>
          <a:stretch/>
        </p:blipFill>
        <p:spPr>
          <a:xfrm>
            <a:off x="1085850" y="2751931"/>
            <a:ext cx="203200" cy="203200"/>
          </a:xfrm>
          <a:prstGeom prst="rect">
            <a:avLst/>
          </a:prstGeom>
        </p:spPr>
      </p:pic>
      <p:sp>
        <p:nvSpPr>
          <p:cNvPr id="10" name="Text 7"/>
          <p:cNvSpPr/>
          <p:nvPr/>
        </p:nvSpPr>
        <p:spPr>
          <a:xfrm>
            <a:off x="1504950" y="2675731"/>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ПРЕДИСПИТНИ ТЕРМИН</a:t>
            </a:r>
            <a:endParaRPr lang="en-US" sz="1200" dirty="0"/>
          </a:p>
        </p:txBody>
      </p:sp>
      <p:sp>
        <p:nvSpPr>
          <p:cNvPr id="11" name="Text 8"/>
          <p:cNvSpPr/>
          <p:nvPr/>
        </p:nvSpPr>
        <p:spPr>
          <a:xfrm>
            <a:off x="1504950" y="2927152"/>
            <a:ext cx="3270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02D"/>
                </a:solidFill>
                <a:latin typeface="IBM Plex Sans" pitchFamily="34" charset="0"/>
                <a:ea typeface="IBM Plex Sans" pitchFamily="34" charset="-122"/>
                <a:cs typeface="IBM Plex Sans" pitchFamily="34" charset="-120"/>
              </a:rPr>
              <a:t>Прва половина децембра</a:t>
            </a:r>
            <a:endParaRPr lang="en-US" sz="1600" dirty="0"/>
          </a:p>
        </p:txBody>
      </p:sp>
      <p:sp>
        <p:nvSpPr>
          <p:cNvPr id="12" name="Shape 9"/>
          <p:cNvSpPr/>
          <p:nvPr/>
        </p:nvSpPr>
        <p:spPr>
          <a:xfrm>
            <a:off x="815975" y="3470077"/>
            <a:ext cx="4057650" cy="1095970"/>
          </a:xfrm>
          <a:prstGeom prst="roundRect">
            <a:avLst>
              <a:gd name="adj" fmla="val 8981"/>
            </a:avLst>
          </a:prstGeom>
          <a:solidFill>
            <a:srgbClr val="FCFCFB"/>
          </a:solidFill>
          <a:ln w="6350">
            <a:solidFill>
              <a:srgbClr val="D3DAE1"/>
            </a:solidFill>
            <a:prstDash val="solid"/>
          </a:ln>
        </p:spPr>
      </p:sp>
      <p:sp>
        <p:nvSpPr>
          <p:cNvPr id="13" name="Shape 10"/>
          <p:cNvSpPr/>
          <p:nvPr/>
        </p:nvSpPr>
        <p:spPr>
          <a:xfrm>
            <a:off x="1009650" y="3638352"/>
            <a:ext cx="355600" cy="355600"/>
          </a:xfrm>
          <a:prstGeom prst="roundRect">
            <a:avLst>
              <a:gd name="adj" fmla="val 21429"/>
            </a:avLst>
          </a:prstGeom>
          <a:solidFill>
            <a:srgbClr val="DCE8F4"/>
          </a:solidFill>
          <a:ln/>
        </p:spPr>
      </p:sp>
      <p:pic>
        <p:nvPicPr>
          <p:cNvPr id="14" name="Image 1" descr="Clock">    </p:cNvPr>
          <p:cNvPicPr>
            <a:picLocks noChangeAspect="1"/>
          </p:cNvPicPr>
          <p:nvPr/>
        </p:nvPicPr>
        <p:blipFill>
          <a:blip r:embed="rId2"/>
          <a:srcRect l="0" r="0" t="0" b="0"/>
          <a:stretch/>
        </p:blipFill>
        <p:spPr>
          <a:xfrm>
            <a:off x="1085850" y="3714552"/>
            <a:ext cx="203200" cy="203200"/>
          </a:xfrm>
          <a:prstGeom prst="rect">
            <a:avLst/>
          </a:prstGeom>
        </p:spPr>
      </p:pic>
      <p:sp>
        <p:nvSpPr>
          <p:cNvPr id="15" name="Text 11"/>
          <p:cNvSpPr/>
          <p:nvPr/>
        </p:nvSpPr>
        <p:spPr>
          <a:xfrm>
            <a:off x="1504950" y="3638352"/>
            <a:ext cx="327025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5E6975"/>
                </a:solidFill>
                <a:latin typeface="IBM Plex Mono" pitchFamily="49" charset="0"/>
                <a:ea typeface="IBM Plex Mono" pitchFamily="49" charset="-122"/>
                <a:cs typeface="IBM Plex Mono" pitchFamily="49" charset="-120"/>
              </a:rPr>
              <a:t>РЕДОВНИ ТЕРМИН</a:t>
            </a:r>
            <a:endParaRPr lang="en-US" sz="1200" dirty="0"/>
          </a:p>
        </p:txBody>
      </p:sp>
      <p:sp>
        <p:nvSpPr>
          <p:cNvPr id="16" name="Text 12"/>
          <p:cNvSpPr/>
          <p:nvPr/>
        </p:nvSpPr>
        <p:spPr>
          <a:xfrm>
            <a:off x="1504950" y="3889772"/>
            <a:ext cx="3270250"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02D"/>
                </a:solidFill>
                <a:latin typeface="IBM Plex Sans" pitchFamily="34" charset="0"/>
                <a:ea typeface="IBM Plex Sans" pitchFamily="34" charset="-122"/>
                <a:cs typeface="IBM Plex Sans" pitchFamily="34" charset="-120"/>
              </a:rPr>
              <a:t>Последња недеља зимског семестра</a:t>
            </a:r>
            <a:endParaRPr lang="en-US" sz="1600" dirty="0"/>
          </a:p>
        </p:txBody>
      </p:sp>
      <p:sp>
        <p:nvSpPr>
          <p:cNvPr id="17" name="Text 13"/>
          <p:cNvSpPr/>
          <p:nvPr/>
        </p:nvSpPr>
        <p:spPr>
          <a:xfrm>
            <a:off x="5181600" y="2176661"/>
            <a:ext cx="63835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САДРЖАЈ ОДБРАНЕ</a:t>
            </a:r>
            <a:endParaRPr lang="en-US" sz="1200" dirty="0"/>
          </a:p>
        </p:txBody>
      </p:sp>
      <p:sp>
        <p:nvSpPr>
          <p:cNvPr id="18" name="Shape 14"/>
          <p:cNvSpPr/>
          <p:nvPr/>
        </p:nvSpPr>
        <p:spPr>
          <a:xfrm>
            <a:off x="5181600" y="2507456"/>
            <a:ext cx="6197600" cy="0"/>
          </a:xfrm>
          <a:prstGeom prst="line">
            <a:avLst/>
          </a:prstGeom>
          <a:noFill/>
          <a:ln w="6350">
            <a:solidFill>
              <a:srgbClr val="D3DAE1"/>
            </a:solidFill>
            <a:prstDash val="solid"/>
          </a:ln>
        </p:spPr>
      </p:sp>
      <p:sp>
        <p:nvSpPr>
          <p:cNvPr id="19" name="Text 15"/>
          <p:cNvSpPr/>
          <p:nvPr/>
        </p:nvSpPr>
        <p:spPr>
          <a:xfrm>
            <a:off x="5181600" y="2612231"/>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01</a:t>
            </a:r>
            <a:endParaRPr lang="en-US" sz="1400" dirty="0"/>
          </a:p>
        </p:txBody>
      </p:sp>
      <p:sp>
        <p:nvSpPr>
          <p:cNvPr id="20" name="Text 16"/>
          <p:cNvSpPr/>
          <p:nvPr/>
        </p:nvSpPr>
        <p:spPr>
          <a:xfrm>
            <a:off x="5547420" y="2612231"/>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Функционалност пројекта и испуњеност критеријума бодовања</a:t>
            </a:r>
            <a:endParaRPr lang="en-US" sz="1400" dirty="0"/>
          </a:p>
        </p:txBody>
      </p:sp>
      <p:sp>
        <p:nvSpPr>
          <p:cNvPr id="21" name="Shape 17"/>
          <p:cNvSpPr/>
          <p:nvPr/>
        </p:nvSpPr>
        <p:spPr>
          <a:xfrm>
            <a:off x="5181600" y="2978547"/>
            <a:ext cx="6197600" cy="0"/>
          </a:xfrm>
          <a:prstGeom prst="line">
            <a:avLst/>
          </a:prstGeom>
          <a:noFill/>
          <a:ln w="6350">
            <a:solidFill>
              <a:srgbClr val="D3DAE1"/>
            </a:solidFill>
            <a:prstDash val="solid"/>
          </a:ln>
        </p:spPr>
      </p:sp>
      <p:sp>
        <p:nvSpPr>
          <p:cNvPr id="22" name="Text 18"/>
          <p:cNvSpPr/>
          <p:nvPr/>
        </p:nvSpPr>
        <p:spPr>
          <a:xfrm>
            <a:off x="5181600" y="3083322"/>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02</a:t>
            </a:r>
            <a:endParaRPr lang="en-US" sz="1400" dirty="0"/>
          </a:p>
        </p:txBody>
      </p:sp>
      <p:sp>
        <p:nvSpPr>
          <p:cNvPr id="23" name="Text 19"/>
          <p:cNvSpPr/>
          <p:nvPr/>
        </p:nvSpPr>
        <p:spPr>
          <a:xfrm>
            <a:off x="5547420" y="3083322"/>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Разумевање архитектонских, техничких и организационих одлука</a:t>
            </a:r>
            <a:endParaRPr lang="en-US" sz="1400" dirty="0"/>
          </a:p>
        </p:txBody>
      </p:sp>
      <p:sp>
        <p:nvSpPr>
          <p:cNvPr id="24" name="Shape 20"/>
          <p:cNvSpPr/>
          <p:nvPr/>
        </p:nvSpPr>
        <p:spPr>
          <a:xfrm>
            <a:off x="5181600" y="3449638"/>
            <a:ext cx="6197600" cy="0"/>
          </a:xfrm>
          <a:prstGeom prst="line">
            <a:avLst/>
          </a:prstGeom>
          <a:noFill/>
          <a:ln w="6350">
            <a:solidFill>
              <a:srgbClr val="D3DAE1"/>
            </a:solidFill>
            <a:prstDash val="solid"/>
          </a:ln>
        </p:spPr>
      </p:sp>
      <p:sp>
        <p:nvSpPr>
          <p:cNvPr id="25" name="Text 21"/>
          <p:cNvSpPr/>
          <p:nvPr/>
        </p:nvSpPr>
        <p:spPr>
          <a:xfrm>
            <a:off x="5181600" y="3554413"/>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03</a:t>
            </a:r>
            <a:endParaRPr lang="en-US" sz="1400" dirty="0"/>
          </a:p>
        </p:txBody>
      </p:sp>
      <p:sp>
        <p:nvSpPr>
          <p:cNvPr id="26" name="Text 22"/>
          <p:cNvSpPr/>
          <p:nvPr/>
        </p:nvSpPr>
        <p:spPr>
          <a:xfrm>
            <a:off x="5547420" y="3554413"/>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Сопствени допринос и релевантни делови заједничког решења</a:t>
            </a:r>
            <a:endParaRPr lang="en-US" sz="1400" dirty="0"/>
          </a:p>
        </p:txBody>
      </p:sp>
      <p:sp>
        <p:nvSpPr>
          <p:cNvPr id="27" name="Shape 23"/>
          <p:cNvSpPr/>
          <p:nvPr/>
        </p:nvSpPr>
        <p:spPr>
          <a:xfrm>
            <a:off x="5181600" y="3920728"/>
            <a:ext cx="6197600" cy="0"/>
          </a:xfrm>
          <a:prstGeom prst="line">
            <a:avLst/>
          </a:prstGeom>
          <a:noFill/>
          <a:ln w="6350">
            <a:solidFill>
              <a:srgbClr val="D3DAE1"/>
            </a:solidFill>
            <a:prstDash val="solid"/>
          </a:ln>
        </p:spPr>
      </p:sp>
      <p:sp>
        <p:nvSpPr>
          <p:cNvPr id="28" name="Text 24"/>
          <p:cNvSpPr/>
          <p:nvPr/>
        </p:nvSpPr>
        <p:spPr>
          <a:xfrm>
            <a:off x="5181600" y="4025503"/>
            <a:ext cx="26422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0A5CA8"/>
                </a:solidFill>
                <a:latin typeface="IBM Plex Mono" pitchFamily="49" charset="0"/>
                <a:ea typeface="IBM Plex Mono" pitchFamily="49" charset="-122"/>
                <a:cs typeface="IBM Plex Mono" pitchFamily="49" charset="-120"/>
              </a:rPr>
              <a:t>04</a:t>
            </a:r>
            <a:endParaRPr lang="en-US" sz="1400" dirty="0"/>
          </a:p>
        </p:txBody>
      </p:sp>
      <p:sp>
        <p:nvSpPr>
          <p:cNvPr id="29" name="Text 25"/>
          <p:cNvSpPr/>
          <p:nvPr/>
        </p:nvSpPr>
        <p:spPr>
          <a:xfrm>
            <a:off x="5547420" y="4025503"/>
            <a:ext cx="6006734"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Теоријска питања из области обрађених на предмету</a:t>
            </a:r>
            <a:endParaRPr lang="en-US" sz="1400" dirty="0"/>
          </a:p>
        </p:txBody>
      </p:sp>
      <p:sp>
        <p:nvSpPr>
          <p:cNvPr id="30" name="Shape 26"/>
          <p:cNvSpPr/>
          <p:nvPr/>
        </p:nvSpPr>
        <p:spPr>
          <a:xfrm>
            <a:off x="812800" y="6209705"/>
            <a:ext cx="10566400" cy="0"/>
          </a:xfrm>
          <a:prstGeom prst="line">
            <a:avLst/>
          </a:prstGeom>
          <a:noFill/>
          <a:ln w="6350">
            <a:solidFill>
              <a:srgbClr val="D3DAE1"/>
            </a:solidFill>
            <a:prstDash val="solid"/>
          </a:ln>
        </p:spPr>
      </p:sp>
      <p:sp>
        <p:nvSpPr>
          <p:cNvPr id="31" name="Text 27"/>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8"/>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Усмени испит</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Услови приступа усменом испиту и утицај резултата на коначну оцену.</a:t>
            </a:r>
            <a:endParaRPr lang="en-US" sz="1400" dirty="0"/>
          </a:p>
        </p:txBody>
      </p:sp>
      <p:sp>
        <p:nvSpPr>
          <p:cNvPr id="6" name="Shape 4"/>
          <p:cNvSpPr/>
          <p:nvPr/>
        </p:nvSpPr>
        <p:spPr>
          <a:xfrm>
            <a:off x="815975" y="2179836"/>
            <a:ext cx="3414117" cy="1767681"/>
          </a:xfrm>
          <a:prstGeom prst="roundRect">
            <a:avLst>
              <a:gd name="adj" fmla="val 5568"/>
            </a:avLst>
          </a:prstGeom>
          <a:solidFill>
            <a:srgbClr val="FCFCFB"/>
          </a:solidFill>
          <a:ln w="6350">
            <a:solidFill>
              <a:srgbClr val="D3DAE1"/>
            </a:solidFill>
            <a:prstDash val="solid"/>
          </a:ln>
        </p:spPr>
      </p:sp>
      <p:sp>
        <p:nvSpPr>
          <p:cNvPr id="7" name="Text 5"/>
          <p:cNvSpPr/>
          <p:nvPr/>
        </p:nvSpPr>
        <p:spPr>
          <a:xfrm>
            <a:off x="1022350" y="2360811"/>
            <a:ext cx="3091408"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A8520A"/>
                </a:solidFill>
                <a:latin typeface="IBM Plex Mono" pitchFamily="49" charset="0"/>
                <a:ea typeface="IBM Plex Mono" pitchFamily="49" charset="-122"/>
                <a:cs typeface="IBM Plex Mono" pitchFamily="49" charset="-120"/>
              </a:rPr>
              <a:t>41–50</a:t>
            </a:r>
            <a:endParaRPr lang="en-US" sz="2800" dirty="0"/>
          </a:p>
        </p:txBody>
      </p:sp>
      <p:sp>
        <p:nvSpPr>
          <p:cNvPr id="8" name="Text 6"/>
          <p:cNvSpPr/>
          <p:nvPr/>
        </p:nvSpPr>
        <p:spPr>
          <a:xfrm>
            <a:off x="1022350" y="2828131"/>
            <a:ext cx="30914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Обавезан усмени испит</a:t>
            </a:r>
            <a:endParaRPr lang="en-US" sz="1400" dirty="0"/>
          </a:p>
        </p:txBody>
      </p:sp>
      <p:sp>
        <p:nvSpPr>
          <p:cNvPr id="9" name="Text 7"/>
          <p:cNvSpPr/>
          <p:nvPr/>
        </p:nvSpPr>
        <p:spPr>
          <a:xfrm>
            <a:off x="1022350" y="3126581"/>
            <a:ext cx="3091408"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Са 41 до 50 пројектних поена за позитивну оцену потребно је најмање 51 поен укупно.</a:t>
            </a:r>
            <a:endParaRPr lang="en-US" sz="1200" dirty="0"/>
          </a:p>
        </p:txBody>
      </p:sp>
      <p:sp>
        <p:nvSpPr>
          <p:cNvPr id="10" name="Shape 8"/>
          <p:cNvSpPr/>
          <p:nvPr/>
        </p:nvSpPr>
        <p:spPr>
          <a:xfrm>
            <a:off x="4388842" y="2179836"/>
            <a:ext cx="3414216" cy="1767681"/>
          </a:xfrm>
          <a:prstGeom prst="roundRect">
            <a:avLst>
              <a:gd name="adj" fmla="val 5568"/>
            </a:avLst>
          </a:prstGeom>
          <a:solidFill>
            <a:srgbClr val="FCFCFB"/>
          </a:solidFill>
          <a:ln w="6350">
            <a:solidFill>
              <a:srgbClr val="D3DAE1"/>
            </a:solidFill>
            <a:prstDash val="solid"/>
          </a:ln>
        </p:spPr>
      </p:sp>
      <p:sp>
        <p:nvSpPr>
          <p:cNvPr id="11" name="Text 9"/>
          <p:cNvSpPr/>
          <p:nvPr/>
        </p:nvSpPr>
        <p:spPr>
          <a:xfrm>
            <a:off x="4595217" y="2360811"/>
            <a:ext cx="3091510"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0A5CA8"/>
                </a:solidFill>
                <a:latin typeface="IBM Plex Mono" pitchFamily="49" charset="0"/>
                <a:ea typeface="IBM Plex Mono" pitchFamily="49" charset="-122"/>
                <a:cs typeface="IBM Plex Mono" pitchFamily="49" charset="-120"/>
              </a:rPr>
              <a:t>51–71</a:t>
            </a:r>
            <a:endParaRPr lang="en-US" sz="2800" dirty="0"/>
          </a:p>
        </p:txBody>
      </p:sp>
      <p:sp>
        <p:nvSpPr>
          <p:cNvPr id="12" name="Text 10"/>
          <p:cNvSpPr/>
          <p:nvPr/>
        </p:nvSpPr>
        <p:spPr>
          <a:xfrm>
            <a:off x="4595217" y="282813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Упис оцене без усменог испита</a:t>
            </a:r>
            <a:endParaRPr lang="en-US" sz="1400" dirty="0"/>
          </a:p>
        </p:txBody>
      </p:sp>
      <p:sp>
        <p:nvSpPr>
          <p:cNvPr id="13" name="Text 11"/>
          <p:cNvSpPr/>
          <p:nvPr/>
        </p:nvSpPr>
        <p:spPr>
          <a:xfrm>
            <a:off x="4595217" y="3126581"/>
            <a:ext cx="309151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Са 51 до 71 пројектних поена студент може прихватити оцену на основу пројектног резултата.</a:t>
            </a:r>
            <a:endParaRPr lang="en-US" sz="1200" dirty="0"/>
          </a:p>
        </p:txBody>
      </p:sp>
      <p:sp>
        <p:nvSpPr>
          <p:cNvPr id="14" name="Shape 12"/>
          <p:cNvSpPr/>
          <p:nvPr/>
        </p:nvSpPr>
        <p:spPr>
          <a:xfrm>
            <a:off x="7961809" y="2179836"/>
            <a:ext cx="3414216" cy="1767681"/>
          </a:xfrm>
          <a:prstGeom prst="roundRect">
            <a:avLst>
              <a:gd name="adj" fmla="val 5568"/>
            </a:avLst>
          </a:prstGeom>
          <a:solidFill>
            <a:srgbClr val="FCFCFB"/>
          </a:solidFill>
          <a:ln w="6350">
            <a:solidFill>
              <a:srgbClr val="D3DAE1"/>
            </a:solidFill>
            <a:prstDash val="solid"/>
          </a:ln>
        </p:spPr>
      </p:sp>
      <p:sp>
        <p:nvSpPr>
          <p:cNvPr id="15" name="Text 13"/>
          <p:cNvSpPr/>
          <p:nvPr/>
        </p:nvSpPr>
        <p:spPr>
          <a:xfrm>
            <a:off x="8168184" y="2360811"/>
            <a:ext cx="3091510" cy="41652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3202D"/>
                </a:solidFill>
                <a:latin typeface="IBM Plex Mono" pitchFamily="49" charset="0"/>
                <a:ea typeface="IBM Plex Mono" pitchFamily="49" charset="-122"/>
                <a:cs typeface="IBM Plex Mono" pitchFamily="49" charset="-120"/>
              </a:rPr>
              <a:t>−20 / +30</a:t>
            </a:r>
            <a:endParaRPr lang="en-US" sz="2800" dirty="0"/>
          </a:p>
        </p:txBody>
      </p:sp>
      <p:sp>
        <p:nvSpPr>
          <p:cNvPr id="16" name="Text 14"/>
          <p:cNvSpPr/>
          <p:nvPr/>
        </p:nvSpPr>
        <p:spPr>
          <a:xfrm>
            <a:off x="8168184" y="282813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Промена укупног резултата</a:t>
            </a:r>
            <a:endParaRPr lang="en-US" sz="1400" dirty="0"/>
          </a:p>
        </p:txBody>
      </p:sp>
      <p:sp>
        <p:nvSpPr>
          <p:cNvPr id="17" name="Text 15"/>
          <p:cNvSpPr/>
          <p:nvPr/>
        </p:nvSpPr>
        <p:spPr>
          <a:xfrm>
            <a:off x="8168184" y="312658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Резултат усменог испита мења укупан број поена у распону од −20 до +30.</a:t>
            </a:r>
            <a:endParaRPr lang="en-US" sz="1200" dirty="0"/>
          </a:p>
        </p:txBody>
      </p:sp>
      <p:sp>
        <p:nvSpPr>
          <p:cNvPr id="18" name="Shape 16"/>
          <p:cNvSpPr/>
          <p:nvPr/>
        </p:nvSpPr>
        <p:spPr>
          <a:xfrm>
            <a:off x="812800" y="4204692"/>
            <a:ext cx="10566400" cy="783530"/>
          </a:xfrm>
          <a:prstGeom prst="roundRect">
            <a:avLst>
              <a:gd name="adj" fmla="val 12967"/>
            </a:avLst>
          </a:prstGeom>
          <a:solidFill>
            <a:srgbClr val="EBF0F5"/>
          </a:solidFill>
          <a:ln/>
        </p:spPr>
      </p:sp>
      <p:sp>
        <p:nvSpPr>
          <p:cNvPr id="19" name="Shape 17"/>
          <p:cNvSpPr/>
          <p:nvPr/>
        </p:nvSpPr>
        <p:spPr>
          <a:xfrm>
            <a:off x="812800" y="4204692"/>
            <a:ext cx="10566400" cy="783530"/>
          </a:xfrm>
          <a:custGeom>
            <a:avLst/>
            <a:gdLst/>
            <a:ahLst/>
            <a:cxnLst/>
            <a:rect l="l" t="t" r="r" b="b"/>
            <a:pathLst>
              <a:path w="10566400" h="783530">
                <a:moveTo>
                  <a:pt x="101600" y="783530"/>
                </a:moveTo>
                <a:lnTo>
                  <a:pt x="101600" y="783530"/>
                </a:lnTo>
                <a:arcTo hR="101600" wR="101600" stAng="5400000" swAng="5400000"/>
                <a:lnTo>
                  <a:pt x="0" y="101600"/>
                </a:lnTo>
                <a:arcTo hR="101600" wR="101600" stAng="10800000" swAng="5400000"/>
                <a:lnTo>
                  <a:pt x="101600" y="0"/>
                </a:lnTo>
                <a:arcTo hR="101600" wR="63500" stAng="16200000" swAng="-5400000"/>
                <a:lnTo>
                  <a:pt x="38100" y="681930"/>
                </a:lnTo>
                <a:arcTo hR="101600" wR="63500" stAng="10800000" swAng="-5400000"/>
                <a:close/>
              </a:path>
            </a:pathLst>
          </a:custGeom>
          <a:solidFill>
            <a:srgbClr val="0A5CA8"/>
          </a:solidFill>
          <a:ln/>
        </p:spPr>
      </p:sp>
      <p:pic>
        <p:nvPicPr>
          <p:cNvPr id="20" name="Image 0" descr="Warning">    </p:cNvPr>
          <p:cNvPicPr>
            <a:picLocks noChangeAspect="1"/>
          </p:cNvPicPr>
          <p:nvPr/>
        </p:nvPicPr>
        <p:blipFill>
          <a:blip r:embed="rId1"/>
          <a:srcRect l="0" r="0" t="0" b="0"/>
          <a:stretch/>
        </p:blipFill>
        <p:spPr>
          <a:xfrm>
            <a:off x="1054100" y="4469408"/>
            <a:ext cx="254000" cy="254000"/>
          </a:xfrm>
          <a:prstGeom prst="rect">
            <a:avLst/>
          </a:prstGeom>
        </p:spPr>
      </p:pic>
      <p:sp>
        <p:nvSpPr>
          <p:cNvPr id="21" name="Text 18"/>
          <p:cNvSpPr/>
          <p:nvPr/>
        </p:nvSpPr>
        <p:spPr>
          <a:xfrm>
            <a:off x="1460500" y="4357092"/>
            <a:ext cx="1000696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A5CA8"/>
                </a:solidFill>
                <a:latin typeface="IBM Plex Mono" pitchFamily="49" charset="0"/>
                <a:ea typeface="IBM Plex Mono" pitchFamily="49" charset="-122"/>
                <a:cs typeface="IBM Plex Mono" pitchFamily="49" charset="-120"/>
              </a:rPr>
              <a:t>ПРИЈАВА ИСПИТА</a:t>
            </a:r>
            <a:endParaRPr lang="en-US" sz="1200" dirty="0"/>
          </a:p>
        </p:txBody>
      </p:sp>
      <p:sp>
        <p:nvSpPr>
          <p:cNvPr id="22" name="Text 19"/>
          <p:cNvSpPr/>
          <p:nvPr/>
        </p:nvSpPr>
        <p:spPr>
          <a:xfrm>
            <a:off x="1460500" y="4595813"/>
            <a:ext cx="10006965"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Пријављен испит без приступа усменом делу: оцена на основу пројектних поена.</a:t>
            </a:r>
            <a:endParaRPr lang="en-US" sz="1400" dirty="0"/>
          </a:p>
        </p:txBody>
      </p:sp>
      <p:sp>
        <p:nvSpPr>
          <p:cNvPr id="23" name="Shape 20"/>
          <p:cNvSpPr/>
          <p:nvPr/>
        </p:nvSpPr>
        <p:spPr>
          <a:xfrm>
            <a:off x="812800" y="6209705"/>
            <a:ext cx="10566400" cy="0"/>
          </a:xfrm>
          <a:prstGeom prst="line">
            <a:avLst/>
          </a:prstGeom>
          <a:noFill/>
          <a:ln w="6350">
            <a:solidFill>
              <a:srgbClr val="D3DAE1"/>
            </a:solidFill>
            <a:prstDash val="solid"/>
          </a:ln>
        </p:spPr>
      </p:sp>
      <p:sp>
        <p:nvSpPr>
          <p:cNvPr id="24"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5"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0A5CA8"/>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A5CA8"/>
                </a:solidFill>
                <a:latin typeface="IBM Plex Mono" pitchFamily="49" charset="0"/>
                <a:ea typeface="IBM Plex Mono" pitchFamily="49" charset="-122"/>
                <a:cs typeface="IBM Plex Mono" pitchFamily="49" charset="-120"/>
              </a:rPr>
              <a:t>04 · ОДБРАНА И ИСПИТ</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Потпис и предиспитне обавезе</a:t>
            </a:r>
            <a:endParaRPr lang="en-US" sz="3000" dirty="0"/>
          </a:p>
        </p:txBody>
      </p:sp>
      <p:sp>
        <p:nvSpPr>
          <p:cNvPr id="5" name="Text 3"/>
          <p:cNvSpPr/>
          <p:nvPr/>
        </p:nvSpPr>
        <p:spPr>
          <a:xfrm>
            <a:off x="812800" y="16738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Услови за потпис и рок важења пројектних поена.</a:t>
            </a:r>
            <a:endParaRPr lang="en-US" sz="1400" dirty="0"/>
          </a:p>
        </p:txBody>
      </p:sp>
      <p:sp>
        <p:nvSpPr>
          <p:cNvPr id="6" name="Shape 4"/>
          <p:cNvSpPr/>
          <p:nvPr/>
        </p:nvSpPr>
        <p:spPr>
          <a:xfrm>
            <a:off x="815975" y="2179836"/>
            <a:ext cx="3414117" cy="1970881"/>
          </a:xfrm>
          <a:prstGeom prst="roundRect">
            <a:avLst>
              <a:gd name="adj" fmla="val 4994"/>
            </a:avLst>
          </a:prstGeom>
          <a:solidFill>
            <a:srgbClr val="FCFCFB"/>
          </a:solidFill>
          <a:ln w="6350">
            <a:solidFill>
              <a:srgbClr val="D3DAE1"/>
            </a:solidFill>
            <a:prstDash val="solid"/>
          </a:ln>
        </p:spPr>
      </p:sp>
      <p:sp>
        <p:nvSpPr>
          <p:cNvPr id="7" name="Shape 5"/>
          <p:cNvSpPr/>
          <p:nvPr/>
        </p:nvSpPr>
        <p:spPr>
          <a:xfrm>
            <a:off x="1022350" y="2360811"/>
            <a:ext cx="355600" cy="355600"/>
          </a:xfrm>
          <a:prstGeom prst="roundRect">
            <a:avLst>
              <a:gd name="adj" fmla="val 21429"/>
            </a:avLst>
          </a:prstGeom>
          <a:solidFill>
            <a:srgbClr val="DCE8F4"/>
          </a:solidFill>
          <a:ln/>
        </p:spPr>
      </p:sp>
      <p:pic>
        <p:nvPicPr>
          <p:cNvPr id="8" name="Image 0" descr="Verified">    </p:cNvPr>
          <p:cNvPicPr>
            <a:picLocks noChangeAspect="1"/>
          </p:cNvPicPr>
          <p:nvPr/>
        </p:nvPicPr>
        <p:blipFill>
          <a:blip r:embed="rId1"/>
          <a:srcRect l="0" r="0" t="0" b="0"/>
          <a:stretch/>
        </p:blipFill>
        <p:spPr>
          <a:xfrm>
            <a:off x="1098550" y="2437011"/>
            <a:ext cx="203200" cy="203200"/>
          </a:xfrm>
          <a:prstGeom prst="rect">
            <a:avLst/>
          </a:prstGeom>
        </p:spPr>
      </p:pic>
      <p:sp>
        <p:nvSpPr>
          <p:cNvPr id="9" name="Text 6"/>
          <p:cNvSpPr/>
          <p:nvPr/>
        </p:nvSpPr>
        <p:spPr>
          <a:xfrm>
            <a:off x="1022350" y="2805311"/>
            <a:ext cx="309140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Услов за потпис</a:t>
            </a:r>
            <a:endParaRPr lang="en-US" sz="1400" dirty="0"/>
          </a:p>
        </p:txBody>
      </p:sp>
      <p:sp>
        <p:nvSpPr>
          <p:cNvPr id="10" name="Text 7"/>
          <p:cNvSpPr/>
          <p:nvPr/>
        </p:nvSpPr>
        <p:spPr>
          <a:xfrm>
            <a:off x="1022350" y="3116461"/>
            <a:ext cx="309140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Студент стиче потпис након испуњења свих предиспитних обавеза.</a:t>
            </a:r>
            <a:endParaRPr lang="en-US" sz="1200" dirty="0"/>
          </a:p>
        </p:txBody>
      </p:sp>
      <p:sp>
        <p:nvSpPr>
          <p:cNvPr id="11" name="Shape 8"/>
          <p:cNvSpPr/>
          <p:nvPr/>
        </p:nvSpPr>
        <p:spPr>
          <a:xfrm>
            <a:off x="4388842" y="2179836"/>
            <a:ext cx="3414216" cy="1970881"/>
          </a:xfrm>
          <a:prstGeom prst="roundRect">
            <a:avLst>
              <a:gd name="adj" fmla="val 4994"/>
            </a:avLst>
          </a:prstGeom>
          <a:solidFill>
            <a:srgbClr val="FCFCFB"/>
          </a:solidFill>
          <a:ln w="6350">
            <a:solidFill>
              <a:srgbClr val="D3DAE1"/>
            </a:solidFill>
            <a:prstDash val="solid"/>
          </a:ln>
        </p:spPr>
      </p:sp>
      <p:sp>
        <p:nvSpPr>
          <p:cNvPr id="12" name="Shape 9"/>
          <p:cNvSpPr/>
          <p:nvPr/>
        </p:nvSpPr>
        <p:spPr>
          <a:xfrm>
            <a:off x="4595217" y="2360811"/>
            <a:ext cx="355600" cy="355600"/>
          </a:xfrm>
          <a:prstGeom prst="roundRect">
            <a:avLst>
              <a:gd name="adj" fmla="val 21429"/>
            </a:avLst>
          </a:prstGeom>
          <a:solidFill>
            <a:srgbClr val="DCE8F4"/>
          </a:solidFill>
          <a:ln/>
        </p:spPr>
      </p:sp>
      <p:pic>
        <p:nvPicPr>
          <p:cNvPr id="13" name="Image 1" descr="Clock">    </p:cNvPr>
          <p:cNvPicPr>
            <a:picLocks noChangeAspect="1"/>
          </p:cNvPicPr>
          <p:nvPr/>
        </p:nvPicPr>
        <p:blipFill>
          <a:blip r:embed="rId2"/>
          <a:srcRect l="0" r="0" t="0" b="0"/>
          <a:stretch/>
        </p:blipFill>
        <p:spPr>
          <a:xfrm>
            <a:off x="4671417" y="2437011"/>
            <a:ext cx="203200" cy="203200"/>
          </a:xfrm>
          <a:prstGeom prst="rect">
            <a:avLst/>
          </a:prstGeom>
        </p:spPr>
      </p:pic>
      <p:sp>
        <p:nvSpPr>
          <p:cNvPr id="14" name="Text 10"/>
          <p:cNvSpPr/>
          <p:nvPr/>
        </p:nvSpPr>
        <p:spPr>
          <a:xfrm>
            <a:off x="4595217" y="280531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Важење пројектних поена</a:t>
            </a:r>
            <a:endParaRPr lang="en-US" sz="1400" dirty="0"/>
          </a:p>
        </p:txBody>
      </p:sp>
      <p:sp>
        <p:nvSpPr>
          <p:cNvPr id="15" name="Text 11"/>
          <p:cNvSpPr/>
          <p:nvPr/>
        </p:nvSpPr>
        <p:spPr>
          <a:xfrm>
            <a:off x="4595217" y="3116461"/>
            <a:ext cx="30915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Остварени пројектни поени важе до краја текуће академске године.</a:t>
            </a:r>
            <a:endParaRPr lang="en-US" sz="1200" dirty="0"/>
          </a:p>
        </p:txBody>
      </p:sp>
      <p:sp>
        <p:nvSpPr>
          <p:cNvPr id="16" name="Shape 12"/>
          <p:cNvSpPr/>
          <p:nvPr/>
        </p:nvSpPr>
        <p:spPr>
          <a:xfrm>
            <a:off x="7961809" y="2179836"/>
            <a:ext cx="3414216" cy="1970881"/>
          </a:xfrm>
          <a:prstGeom prst="roundRect">
            <a:avLst>
              <a:gd name="adj" fmla="val 4994"/>
            </a:avLst>
          </a:prstGeom>
          <a:solidFill>
            <a:srgbClr val="FCFCFB"/>
          </a:solidFill>
          <a:ln w="6350">
            <a:solidFill>
              <a:srgbClr val="D3DAE1"/>
            </a:solidFill>
            <a:prstDash val="solid"/>
          </a:ln>
        </p:spPr>
      </p:sp>
      <p:sp>
        <p:nvSpPr>
          <p:cNvPr id="17" name="Shape 13"/>
          <p:cNvSpPr/>
          <p:nvPr/>
        </p:nvSpPr>
        <p:spPr>
          <a:xfrm>
            <a:off x="8168184" y="2360811"/>
            <a:ext cx="355600" cy="355600"/>
          </a:xfrm>
          <a:prstGeom prst="roundRect">
            <a:avLst>
              <a:gd name="adj" fmla="val 21429"/>
            </a:avLst>
          </a:prstGeom>
          <a:solidFill>
            <a:srgbClr val="DCE8F4"/>
          </a:solidFill>
          <a:ln/>
        </p:spPr>
      </p:sp>
      <p:pic>
        <p:nvPicPr>
          <p:cNvPr id="18" name="Image 2" descr="GraduationCap">    </p:cNvPr>
          <p:cNvPicPr>
            <a:picLocks noChangeAspect="1"/>
          </p:cNvPicPr>
          <p:nvPr/>
        </p:nvPicPr>
        <p:blipFill>
          <a:blip r:embed="rId3"/>
          <a:srcRect l="0" r="0" t="0" b="0"/>
          <a:stretch/>
        </p:blipFill>
        <p:spPr>
          <a:xfrm>
            <a:off x="8244384" y="2437011"/>
            <a:ext cx="203200" cy="203200"/>
          </a:xfrm>
          <a:prstGeom prst="rect">
            <a:avLst/>
          </a:prstGeom>
        </p:spPr>
      </p:pic>
      <p:sp>
        <p:nvSpPr>
          <p:cNvPr id="19" name="Text 14"/>
          <p:cNvSpPr/>
          <p:nvPr/>
        </p:nvSpPr>
        <p:spPr>
          <a:xfrm>
            <a:off x="8168184" y="2805311"/>
            <a:ext cx="309151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3202D"/>
                </a:solidFill>
                <a:latin typeface="IBM Plex Sans" pitchFamily="34" charset="0"/>
                <a:ea typeface="IBM Plex Sans" pitchFamily="34" charset="-122"/>
                <a:cs typeface="IBM Plex Sans" pitchFamily="34" charset="-120"/>
              </a:rPr>
              <a:t>Наредна академска година</a:t>
            </a:r>
            <a:endParaRPr lang="en-US" sz="1400" dirty="0"/>
          </a:p>
        </p:txBody>
      </p:sp>
      <p:sp>
        <p:nvSpPr>
          <p:cNvPr id="20" name="Text 15"/>
          <p:cNvSpPr/>
          <p:nvPr/>
        </p:nvSpPr>
        <p:spPr>
          <a:xfrm>
            <a:off x="8168184" y="3116461"/>
            <a:ext cx="3091510"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Ако не положи испит до краја текуће академске године, студент поново похађа предмет и испуњава предиспитне обавезе.</a:t>
            </a:r>
            <a:endParaRPr lang="en-US" sz="1200" dirty="0"/>
          </a:p>
        </p:txBody>
      </p:sp>
      <p:sp>
        <p:nvSpPr>
          <p:cNvPr id="21" name="Shape 16"/>
          <p:cNvSpPr/>
          <p:nvPr/>
        </p:nvSpPr>
        <p:spPr>
          <a:xfrm>
            <a:off x="815975" y="4411067"/>
            <a:ext cx="10560050" cy="789880"/>
          </a:xfrm>
          <a:prstGeom prst="roundRect">
            <a:avLst>
              <a:gd name="adj" fmla="val 12461"/>
            </a:avLst>
          </a:prstGeom>
          <a:solidFill>
            <a:srgbClr val="FBF1E6"/>
          </a:solidFill>
          <a:ln w="6350">
            <a:solidFill>
              <a:srgbClr val="E9B98C"/>
            </a:solidFill>
            <a:prstDash val="solid"/>
          </a:ln>
        </p:spPr>
      </p:sp>
      <p:pic>
        <p:nvPicPr>
          <p:cNvPr id="22" name="Image 3" descr="Warning">    </p:cNvPr>
          <p:cNvPicPr>
            <a:picLocks noChangeAspect="1"/>
          </p:cNvPicPr>
          <p:nvPr/>
        </p:nvPicPr>
        <p:blipFill>
          <a:blip r:embed="rId4"/>
          <a:srcRect l="0" r="0" t="0" b="0"/>
          <a:stretch/>
        </p:blipFill>
        <p:spPr>
          <a:xfrm>
            <a:off x="1022350" y="4678958"/>
            <a:ext cx="254000" cy="254000"/>
          </a:xfrm>
          <a:prstGeom prst="rect">
            <a:avLst/>
          </a:prstGeom>
        </p:spPr>
      </p:pic>
      <p:sp>
        <p:nvSpPr>
          <p:cNvPr id="23" name="Text 17"/>
          <p:cNvSpPr/>
          <p:nvPr/>
        </p:nvSpPr>
        <p:spPr>
          <a:xfrm>
            <a:off x="1428750" y="4566642"/>
            <a:ext cx="1003312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ПРЕНОС ОБАВЕЗА</a:t>
            </a:r>
            <a:endParaRPr lang="en-US" sz="1200" dirty="0"/>
          </a:p>
        </p:txBody>
      </p:sp>
      <p:sp>
        <p:nvSpPr>
          <p:cNvPr id="24" name="Text 18"/>
          <p:cNvSpPr/>
          <p:nvPr/>
        </p:nvSpPr>
        <p:spPr>
          <a:xfrm>
            <a:off x="1428750" y="4805363"/>
            <a:ext cx="1003312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Пројектни поени не преносе се у наредну академску годину.</a:t>
            </a:r>
            <a:endParaRPr lang="en-US" sz="1400" dirty="0"/>
          </a:p>
        </p:txBody>
      </p:sp>
      <p:sp>
        <p:nvSpPr>
          <p:cNvPr id="25" name="Shape 19"/>
          <p:cNvSpPr/>
          <p:nvPr/>
        </p:nvSpPr>
        <p:spPr>
          <a:xfrm>
            <a:off x="812800" y="6209705"/>
            <a:ext cx="10566400" cy="0"/>
          </a:xfrm>
          <a:prstGeom prst="line">
            <a:avLst/>
          </a:prstGeom>
          <a:noFill/>
          <a:ln w="6350">
            <a:solidFill>
              <a:srgbClr val="D3DAE1"/>
            </a:solidFill>
            <a:prstDash val="solid"/>
          </a:ln>
        </p:spPr>
      </p:sp>
      <p:sp>
        <p:nvSpPr>
          <p:cNvPr id="26"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theme/theme1.xml><?xml version="1.0" encoding="utf-8"?>
<a:theme xmlns:a="http://schemas.openxmlformats.org/drawingml/2006/main" name="Основне информације о предмету и пројекту">
  <a:themeElements>
    <a:clrScheme name="Основне информације о предмету и пројекту">
      <a:dk1>
        <a:srgbClr val="13202D"/>
      </a:dk1>
      <a:lt1>
        <a:srgbClr val="F6F7F5"/>
      </a:lt1>
      <a:dk2>
        <a:srgbClr val="4C565F"/>
      </a:dk2>
      <a:lt2>
        <a:srgbClr val="DFE2E1"/>
      </a:lt2>
      <a:accent1>
        <a:srgbClr val="0A5CA8"/>
      </a:accent1>
      <a:accent2>
        <a:srgbClr val="A8520A"/>
      </a:accent2>
      <a:accent3>
        <a:srgbClr val="44505D"/>
      </a:accent3>
      <a:accent4>
        <a:srgbClr val="5E6975"/>
      </a:accent4>
      <a:accent5>
        <a:srgbClr val="DCE8F4"/>
      </a:accent5>
      <a:accent6>
        <a:srgbClr val="9AA0A6"/>
      </a:accent6>
      <a:hlink>
        <a:srgbClr val="0563C1"/>
      </a:hlink>
      <a:folHlink>
        <a:srgbClr val="954F72"/>
      </a:folHlink>
    </a:clrScheme>
    <a:fontScheme name="Основне информације о предмету и пројекту">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Основне информације о предмету и пројекту</dc:title>
  <dc:subject/>
  <dc:creator/>
  <cp:lastModifiedBy/>
  <cp:revision>1</cp:revision>
  <dcterms:created xsi:type="dcterms:W3CDTF">2026-10-09T17:20:14Z</dcterms:created>
  <dcterms:modified xsi:type="dcterms:W3CDTF">2026-10-09T17:20:14Z</dcterms:modified>
</cp:coreProperties>
</file>