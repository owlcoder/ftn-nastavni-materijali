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d66193abd145a5" /><Relationship Type="http://schemas.openxmlformats.org/officeDocument/2006/relationships/extended-properties" Target="/docProps/app.xml" Id="Re4e5940eb7a74425" /><Relationship Type="http://schemas.openxmlformats.org/officeDocument/2006/relationships/officeDocument" Target="/ppt/presentation.xml" Id="Rbb017126ce754e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6fa81740f410f"/>
  </p:sldMasterIdLst>
  <p:notesMasterIdLst>
    <p:notesMasterId xmlns:r="http://schemas.openxmlformats.org/officeDocument/2006/relationships" r:id="R32f4affc068045ed"/>
  </p:notesMasterIdLst>
  <p:sldIdLst>
    <p:sldId xmlns:r="http://schemas.openxmlformats.org/officeDocument/2006/relationships" id="256" r:id="R7a5c3e8a7319410a"/>
    <p:sldId xmlns:r="http://schemas.openxmlformats.org/officeDocument/2006/relationships" id="257" r:id="Rfb5b50aa28664794"/>
    <p:sldId xmlns:r="http://schemas.openxmlformats.org/officeDocument/2006/relationships" id="258" r:id="Rc9ad9a708a684d4b"/>
    <p:sldId xmlns:r="http://schemas.openxmlformats.org/officeDocument/2006/relationships" id="259" r:id="R82205c6e41554276"/>
    <p:sldId xmlns:r="http://schemas.openxmlformats.org/officeDocument/2006/relationships" id="260" r:id="Rc63919df31e043ba"/>
    <p:sldId xmlns:r="http://schemas.openxmlformats.org/officeDocument/2006/relationships" id="261" r:id="Rb1f33fe410b24f0b"/>
    <p:sldId xmlns:r="http://schemas.openxmlformats.org/officeDocument/2006/relationships" id="262" r:id="R0f02d87d80f64a16"/>
    <p:sldId xmlns:r="http://schemas.openxmlformats.org/officeDocument/2006/relationships" id="263" r:id="R9069a42adb5d4d90"/>
    <p:sldId xmlns:r="http://schemas.openxmlformats.org/officeDocument/2006/relationships" id="264" r:id="Rce3e217e6ecd475e"/>
    <p:sldId xmlns:r="http://schemas.openxmlformats.org/officeDocument/2006/relationships" id="265" r:id="Rc31f811f70a24d53"/>
    <p:sldId xmlns:r="http://schemas.openxmlformats.org/officeDocument/2006/relationships" id="266" r:id="R246277e47d7148e4"/>
    <p:sldId xmlns:r="http://schemas.openxmlformats.org/officeDocument/2006/relationships" id="267" r:id="R3c12c731c639419c"/>
    <p:sldId xmlns:r="http://schemas.openxmlformats.org/officeDocument/2006/relationships" id="268" r:id="R08803c0fa6fc4ca8"/>
    <p:sldId xmlns:r="http://schemas.openxmlformats.org/officeDocument/2006/relationships" id="269" r:id="Rd6e71c607a1448cd"/>
    <p:sldId xmlns:r="http://schemas.openxmlformats.org/officeDocument/2006/relationships" id="270" r:id="Rbad56f7eb9974901"/>
    <p:sldId xmlns:r="http://schemas.openxmlformats.org/officeDocument/2006/relationships" id="271" r:id="R22f30d8a97e24028"/>
    <p:sldId xmlns:r="http://schemas.openxmlformats.org/officeDocument/2006/relationships" id="272" r:id="Rc991c05fb6634f85"/>
    <p:sldId xmlns:r="http://schemas.openxmlformats.org/officeDocument/2006/relationships" id="273" r:id="R433a7485ae7148a0"/>
    <p:sldId xmlns:r="http://schemas.openxmlformats.org/officeDocument/2006/relationships" id="274" r:id="Re732e56174d946f1"/>
    <p:sldId xmlns:r="http://schemas.openxmlformats.org/officeDocument/2006/relationships" id="275" r:id="R6896683fbb894267"/>
    <p:sldId xmlns:r="http://schemas.openxmlformats.org/officeDocument/2006/relationships" id="276" r:id="R170eccc44dff4b9f"/>
    <p:sldId xmlns:r="http://schemas.openxmlformats.org/officeDocument/2006/relationships" id="277" r:id="R739a87856bf3455c"/>
    <p:sldId xmlns:r="http://schemas.openxmlformats.org/officeDocument/2006/relationships" id="278" r:id="R5d61ec065fb9466e"/>
    <p:sldId xmlns:r="http://schemas.openxmlformats.org/officeDocument/2006/relationships" id="279" r:id="Rd360516f5c40471d"/>
    <p:sldId xmlns:r="http://schemas.openxmlformats.org/officeDocument/2006/relationships" id="280" r:id="R09cc375ae6be4c46"/>
    <p:sldId xmlns:r="http://schemas.openxmlformats.org/officeDocument/2006/relationships" id="281" r:id="R96c241261ade4d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badef5edb4436" /><Relationship Type="http://schemas.openxmlformats.org/officeDocument/2006/relationships/slideMaster" Target="/ppt/slideMasters/slideMaster1.xml" Id="R6c86fa81740f410f" /><Relationship Type="http://schemas.openxmlformats.org/officeDocument/2006/relationships/notesMaster" Target="/ppt/notesMasters/notesMaster1.xml" Id="R32f4affc068045ed" /><Relationship Type="http://schemas.openxmlformats.org/officeDocument/2006/relationships/presProps" Target="/ppt/presProps.xml" Id="R376ae7e3d4164a1d" /><Relationship Type="http://schemas.openxmlformats.org/officeDocument/2006/relationships/tableStyles" Target="/ppt/tableStyles.xml" Id="Rfec532ea9be34ae9" /><Relationship Type="http://schemas.openxmlformats.org/officeDocument/2006/relationships/slide" Target="/ppt/slides/slide1.xml" Id="R7a5c3e8a7319410a" /><Relationship Type="http://schemas.openxmlformats.org/officeDocument/2006/relationships/slide" Target="/ppt/slides/slide2.xml" Id="Rfb5b50aa28664794" /><Relationship Type="http://schemas.openxmlformats.org/officeDocument/2006/relationships/slide" Target="/ppt/slides/slide3.xml" Id="Rc9ad9a708a684d4b" /><Relationship Type="http://schemas.openxmlformats.org/officeDocument/2006/relationships/slide" Target="/ppt/slides/slide4.xml" Id="R82205c6e41554276" /><Relationship Type="http://schemas.openxmlformats.org/officeDocument/2006/relationships/slide" Target="/ppt/slides/slide5.xml" Id="Rc63919df31e043ba" /><Relationship Type="http://schemas.openxmlformats.org/officeDocument/2006/relationships/slide" Target="/ppt/slides/slide6.xml" Id="Rb1f33fe410b24f0b" /><Relationship Type="http://schemas.openxmlformats.org/officeDocument/2006/relationships/slide" Target="/ppt/slides/slide7.xml" Id="R0f02d87d80f64a16" /><Relationship Type="http://schemas.openxmlformats.org/officeDocument/2006/relationships/slide" Target="/ppt/slides/slide8.xml" Id="R9069a42adb5d4d90" /><Relationship Type="http://schemas.openxmlformats.org/officeDocument/2006/relationships/slide" Target="/ppt/slides/slide9.xml" Id="Rce3e217e6ecd475e" /><Relationship Type="http://schemas.openxmlformats.org/officeDocument/2006/relationships/slide" Target="/ppt/slides/slide10.xml" Id="Rc31f811f70a24d53" /><Relationship Type="http://schemas.openxmlformats.org/officeDocument/2006/relationships/slide" Target="/ppt/slides/slide11.xml" Id="R246277e47d7148e4" /><Relationship Type="http://schemas.openxmlformats.org/officeDocument/2006/relationships/slide" Target="/ppt/slides/slide12.xml" Id="R3c12c731c639419c" /><Relationship Type="http://schemas.openxmlformats.org/officeDocument/2006/relationships/slide" Target="/ppt/slides/slide13.xml" Id="R08803c0fa6fc4ca8" /><Relationship Type="http://schemas.openxmlformats.org/officeDocument/2006/relationships/slide" Target="/ppt/slides/slide14.xml" Id="Rd6e71c607a1448cd" /><Relationship Type="http://schemas.openxmlformats.org/officeDocument/2006/relationships/slide" Target="/ppt/slides/slide15.xml" Id="Rbad56f7eb9974901" /><Relationship Type="http://schemas.openxmlformats.org/officeDocument/2006/relationships/slide" Target="/ppt/slides/slide16.xml" Id="R22f30d8a97e24028" /><Relationship Type="http://schemas.openxmlformats.org/officeDocument/2006/relationships/slide" Target="/ppt/slides/slide17.xml" Id="Rc991c05fb6634f85" /><Relationship Type="http://schemas.openxmlformats.org/officeDocument/2006/relationships/slide" Target="/ppt/slides/slide18.xml" Id="R433a7485ae7148a0" /><Relationship Type="http://schemas.openxmlformats.org/officeDocument/2006/relationships/slide" Target="/ppt/slides/slide19.xml" Id="Re732e56174d946f1" /><Relationship Type="http://schemas.openxmlformats.org/officeDocument/2006/relationships/slide" Target="/ppt/slides/slide20.xml" Id="R6896683fbb894267" /><Relationship Type="http://schemas.openxmlformats.org/officeDocument/2006/relationships/slide" Target="/ppt/slides/slide21.xml" Id="R170eccc44dff4b9f" /><Relationship Type="http://schemas.openxmlformats.org/officeDocument/2006/relationships/slide" Target="/ppt/slides/slide22.xml" Id="R739a87856bf3455c" /><Relationship Type="http://schemas.openxmlformats.org/officeDocument/2006/relationships/slide" Target="/ppt/slides/slide23.xml" Id="R5d61ec065fb9466e" /><Relationship Type="http://schemas.openxmlformats.org/officeDocument/2006/relationships/slide" Target="/ppt/slides/slide24.xml" Id="Rd360516f5c40471d" /><Relationship Type="http://schemas.openxmlformats.org/officeDocument/2006/relationships/slide" Target="/ppt/slides/slide25.xml" Id="R09cc375ae6be4c46" /><Relationship Type="http://schemas.openxmlformats.org/officeDocument/2006/relationships/slide" Target="/ppt/slides/slide26.xml" Id="R96c241261ade4d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e84aacde6348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ba32cb64634f09" /><Relationship Type="http://schemas.openxmlformats.org/officeDocument/2006/relationships/notesMaster" Target="/ppt/notesMasters/notesMaster1.xml" Id="R6b14920f86b646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d3eaadd0f24d5c" /><Relationship Type="http://schemas.openxmlformats.org/officeDocument/2006/relationships/notesMaster" Target="/ppt/notesMasters/notesMaster1.xml" Id="R7bfe2cf795d044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4401058bb447c4" /><Relationship Type="http://schemas.openxmlformats.org/officeDocument/2006/relationships/notesMaster" Target="/ppt/notesMasters/notesMaster1.xml" Id="R6d557f53b81742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acd8dd11964a06" /><Relationship Type="http://schemas.openxmlformats.org/officeDocument/2006/relationships/notesMaster" Target="/ppt/notesMasters/notesMaster1.xml" Id="R88646afe4edc4c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8dcc14a02744e3" /><Relationship Type="http://schemas.openxmlformats.org/officeDocument/2006/relationships/notesMaster" Target="/ppt/notesMasters/notesMaster1.xml" Id="R46681a4bcec74a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8b9b2c1d8842aa" /><Relationship Type="http://schemas.openxmlformats.org/officeDocument/2006/relationships/notesMaster" Target="/ppt/notesMasters/notesMaster1.xml" Id="Re0cb69c17af440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1308ed0b5c4352" /><Relationship Type="http://schemas.openxmlformats.org/officeDocument/2006/relationships/notesMaster" Target="/ppt/notesMasters/notesMaster1.xml" Id="R277a9dabeb5244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8c32f5bd194e22" /><Relationship Type="http://schemas.openxmlformats.org/officeDocument/2006/relationships/notesMaster" Target="/ppt/notesMasters/notesMaster1.xml" Id="R12d7340fd0aa4e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d1e90a7c6f4e14" /><Relationship Type="http://schemas.openxmlformats.org/officeDocument/2006/relationships/notesMaster" Target="/ppt/notesMasters/notesMaster1.xml" Id="R73a3619edca443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6fb3c316a948a8" /><Relationship Type="http://schemas.openxmlformats.org/officeDocument/2006/relationships/notesMaster" Target="/ppt/notesMasters/notesMaster1.xml" Id="R8379c3b418b44c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d4528852f5477c" /><Relationship Type="http://schemas.openxmlformats.org/officeDocument/2006/relationships/notesMaster" Target="/ppt/notesMasters/notesMaster1.xml" Id="Rf77f85199e3a48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65919e88c44ae5" /><Relationship Type="http://schemas.openxmlformats.org/officeDocument/2006/relationships/notesMaster" Target="/ppt/notesMasters/notesMaster1.xml" Id="R79443a011ecb4d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052e15b76141e6" /><Relationship Type="http://schemas.openxmlformats.org/officeDocument/2006/relationships/notesMaster" Target="/ppt/notesMasters/notesMaster1.xml" Id="R2b5d25cdb7014e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9bf6887dff4979" /><Relationship Type="http://schemas.openxmlformats.org/officeDocument/2006/relationships/notesMaster" Target="/ppt/notesMasters/notesMaster1.xml" Id="R55f16e2b73904e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ac63ed61bd414b" /><Relationship Type="http://schemas.openxmlformats.org/officeDocument/2006/relationships/notesMaster" Target="/ppt/notesMasters/notesMaster1.xml" Id="Rda0eef2da27b48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0aea7c676049b8" /><Relationship Type="http://schemas.openxmlformats.org/officeDocument/2006/relationships/notesMaster" Target="/ppt/notesMasters/notesMaster1.xml" Id="R3e8f296a41f541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c1f49d176a4ecb" /><Relationship Type="http://schemas.openxmlformats.org/officeDocument/2006/relationships/notesMaster" Target="/ppt/notesMasters/notesMaster1.xml" Id="Ra57cc57cba604a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9ba56add074622" /><Relationship Type="http://schemas.openxmlformats.org/officeDocument/2006/relationships/notesMaster" Target="/ppt/notesMasters/notesMaster1.xml" Id="R74b8090b28f649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f1b3af42644399" /><Relationship Type="http://schemas.openxmlformats.org/officeDocument/2006/relationships/notesMaster" Target="/ppt/notesMasters/notesMaster1.xml" Id="Rcd9bce29fdc44e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5c83882d2e479c" /><Relationship Type="http://schemas.openxmlformats.org/officeDocument/2006/relationships/notesMaster" Target="/ppt/notesMasters/notesMaster1.xml" Id="R97ed0921090e49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c833fe9b37427e" /><Relationship Type="http://schemas.openxmlformats.org/officeDocument/2006/relationships/notesMaster" Target="/ppt/notesMasters/notesMaster1.xml" Id="Rce89ffe6e5d647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ee5ee971784613" /><Relationship Type="http://schemas.openxmlformats.org/officeDocument/2006/relationships/notesMaster" Target="/ppt/notesMasters/notesMaster1.xml" Id="R5cf2936ff6be4a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c768eb1ea464dca" /><Relationship Type="http://schemas.openxmlformats.org/officeDocument/2006/relationships/notesMaster" Target="/ppt/notesMasters/notesMaster1.xml" Id="Re570eb4c1bfe47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7dfe1d044242bc" /><Relationship Type="http://schemas.openxmlformats.org/officeDocument/2006/relationships/notesMaster" Target="/ppt/notesMasters/notesMaster1.xml" Id="Rfafc14a347cb403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f80ab34c9e749eb" /><Relationship Type="http://schemas.openxmlformats.org/officeDocument/2006/relationships/notesMaster" Target="/ppt/notesMasters/notesMaster1.xml" Id="R55e89029a53f4a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0f4f565bb84c49" /><Relationship Type="http://schemas.openxmlformats.org/officeDocument/2006/relationships/notesMaster" Target="/ppt/notesMasters/notesMaster1.xml" Id="R07e5cd81ce6744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Јасни компромиси при расту система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Објаснити како се бирају гаранције власништва, оптерећења и свежине података.</a:t>
            </a:r>
          </a:p>
          <a:p xmlns:a="http://schemas.openxmlformats.org/drawingml/2006/main">
            <a:r>
              <a:t>Више инстанци, већи улазни ритам и реплике читања уводе сукоб, заостајање и привремено различите приказе стања.</a:t>
            </a:r>
          </a:p>
          <a:p xmlns:a="http://schemas.openxmlformats.org/drawingml/2006/main">
            <a:r>
              <a:t>Координација штити ексклузиван рад, backpressure спречава колапс, а реплике убрзавају читање уз цену застарелости.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Напредни дистрибуирани дизајн прихвата да различите компоненте могу привремено имати различит поглед на стање.</a:t>
            </a:r>
          </a:p>
          <a:p xmlns:a="http://schemas.openxmlformats.org/drawingml/2006/main">
            <a:r>
              <a:t>један важећи извршилац</a:t>
            </a:r>
          </a:p>
          <a:p xmlns:a="http://schemas.openxmlformats.org/drawingml/2006/main">
            <a:r>
              <a:t>ритам производње и обраде</a:t>
            </a:r>
          </a:p>
          <a:p xmlns:a="http://schemas.openxmlformats.org/drawingml/2006/main">
            <a:r>
              <a:t>брже читање уз кашњење</a:t>
            </a:r>
          </a:p>
          <a:p xmlns:a="http://schemas.openxmlformats.org/drawingml/2006/main">
            <a:r>
              <a:t>видљива ограничења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Власништво бира инстанцу чија одлука тренутно важи. Lease, epoch или fencing токен спречавају закашњелог власника да пише након промене режима.</a:t>
            </a:r>
          </a:p>
          <a:p xmlns:a="http://schemas.openxmlformats.org/drawingml/2006/main">
            <a:r>
              <a:t>Само једна инстанца има важећу одлуку у датом тренутку.</a:t>
            </a:r>
          </a:p>
          <a:p xmlns:a="http://schemas.openxmlformats.org/drawingml/2006/main">
            <a:r>
              <a:t>Fencing токен спречава закашњелог власника да пише.</a:t>
            </a:r>
          </a:p>
          <a:p xmlns:a="http://schemas.openxmlformats.org/drawingml/2006/main">
            <a:r>
              <a:t>Кратак прекид не сме сам по себи покренути failover.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Проток пореди брзину пријема и обраде. Backpressure уводи границу пре него што ред и меморија прерасту капацитет система.</a:t>
            </a:r>
          </a:p>
          <a:p xmlns:a="http://schemas.openxmlformats.org/drawingml/2006/main">
            <a:r>
              <a:t>Пореди брзину пријема и обраде.</a:t>
            </a:r>
          </a:p>
          <a:p xmlns:a="http://schemas.openxmlformats.org/drawingml/2006/main">
            <a:r>
              <a:t>Backpressure поставља границу пре колапса.</a:t>
            </a:r>
          </a:p>
          <a:p xmlns:a="http://schemas.openxmlformats.org/drawingml/2006/main">
            <a:r>
              <a:t>Неограничен ред само одлаже и скрива проблем.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Реплика убрзава читање, али може приказати старије стање од ауторитативног извора. То је прихватљиво само када је кориснику јасно шта гаранција значи.</a:t>
            </a:r>
          </a:p>
          <a:p xmlns:a="http://schemas.openxmlformats.org/drawingml/2006/main">
            <a:r>
              <a:t>Убрзава читање уз цену могућег заостајања.</a:t>
            </a:r>
          </a:p>
          <a:p xmlns:a="http://schemas.openxmlformats.org/drawingml/2006/main">
            <a:r>
              <a:t>Корисник мора знати да приказ може бити застарео.</a:t>
            </a:r>
          </a:p>
          <a:p xmlns:a="http://schemas.openxmlformats.org/drawingml/2006/main">
            <a:r>
              <a:t>Не сме се тумачити као ауторитативан извор.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Уговор објашњава када резултат може бити застарео и када систем мора чекати ауторитативно стање. Тиме компромис постаје свестан дизајнерски избор.</a:t>
            </a:r>
          </a:p>
          <a:p xmlns:a="http://schemas.openxmlformats.org/drawingml/2006/main">
            <a:r>
              <a:t>Јасно каже када је резултат дозвољено да буде застарео.</a:t>
            </a:r>
          </a:p>
          <a:p xmlns:a="http://schemas.openxmlformats.org/drawingml/2006/main">
            <a:r>
              <a:t>Каже и када се мора чекати ауторитативно стање.</a:t>
            </a:r>
          </a:p>
          <a:p xmlns:a="http://schemas.openxmlformats.org/drawingml/2006/main">
            <a:r>
              <a:t>Компромис је свестан избор, не случајна последица.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Две инстанце накратко изгубе везу једна са другом.</a:t>
            </a:r>
          </a:p>
          <a:p xmlns:a="http://schemas.openxmlformats.org/drawingml/2006/main">
            <a:r>
              <a:t>Координација бира једног важећег извршиоца за рад који не сме бити паралелан.</a:t>
            </a:r>
          </a:p>
          <a:p xmlns:a="http://schemas.openxmlformats.org/drawingml/2006/main">
            <a:r>
              <a:t>Backpressure одлучује како систем реагује када улазни ритам надмаши обраду.</a:t>
            </a:r>
          </a:p>
          <a:p xmlns:a="http://schemas.openxmlformats.org/drawingml/2006/main">
            <a:r>
              <a:t>Реплика убрзава читање, али њен приказ мора моћи да покаже застарелост.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Напредни дистрибуирани дизајн не скрива компромис, већ кориснику и оператеру јасно показује гаранцију.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Прва колона је source-backed пример worker-a token 1 и worker-b token 2. Друга колона је пример капацитета реда 2, па job-3 добија queue_overloaded. Трећа колона приказује source концепт реплике и могуће застарелости. Не користити Read модел као ауторитативан извор.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показује две гаранције које систем мора да изабере када расте.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једном тренутку само један worker је власник ресурса.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истека lease-а нови власник добија већи токен, а упис бившег власника је одбијен.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Када је ред пун, пошиљалац добија queue_overloaded уместо тихог чекања.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важи тек када је препозната и замка која га тихо поништава.</a:t>
            </a:r>
          </a:p>
          <a:p xmlns:a="http://schemas.openxmlformats.org/drawingml/2006/main">
            <a:r>
              <a:t>Fencing токен спречава да стари власник настави рад након преузимања.</a:t>
            </a:r>
          </a:p>
          <a:p xmlns:a="http://schemas.openxmlformats.org/drawingml/2006/main">
            <a:r>
              <a:t>Backpressure бира контролисано успоравање или ограничен губитак пре потпуног колапса.</a:t>
            </a:r>
          </a:p>
          <a:p xmlns:a="http://schemas.openxmlformats.org/drawingml/2006/main">
            <a:r>
              <a:t>Read модел може бити застарео, али систем мора показати колико и када то утиче на одлуку.</a:t>
            </a:r>
          </a:p>
          <a:p xmlns:a="http://schemas.openxmlformats.org/drawingml/2006/main">
            <a:r>
              <a:t>Failover покренут на основу једног кратког прекида.</a:t>
            </a:r>
          </a:p>
          <a:p xmlns:a="http://schemas.openxmlformats.org/drawingml/2006/main">
            <a:r>
              <a:t>Неограничен ред порука који само одлаже квар.</a:t>
            </a:r>
          </a:p>
          <a:p xmlns:a="http://schemas.openxmlformats.org/drawingml/2006/main">
            <a:r>
              <a:t>Коришћење застарелог read модела као да је ауторитативно стање.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Ове грешке се најчешће понављају када се принцип површно примени.</a:t>
            </a:r>
          </a:p>
          <a:p xmlns:a="http://schemas.openxmlformats.org/drawingml/2006/main">
            <a:r>
              <a:t>Failover због кратког прекида.</a:t>
            </a:r>
          </a:p>
          <a:p xmlns:a="http://schemas.openxmlformats.org/drawingml/2006/main">
            <a:r>
              <a:t>Неограничен ред који само скрива проблем.</a:t>
            </a:r>
          </a:p>
          <a:p xmlns:a="http://schemas.openxmlformats.org/drawingml/2006/main">
            <a:r>
              <a:t>Застарео приказ се тумачи као ауторитет.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Кораци показују како се принцип препознаје и доследно спроводи у развоју.</a:t>
            </a:r>
          </a:p>
          <a:p xmlns:a="http://schemas.openxmlformats.org/drawingml/2006/main">
            <a:r>
              <a:t>Одредити шта захтева најновије стање.</a:t>
            </a:r>
          </a:p>
          <a:p xmlns:a="http://schemas.openxmlformats.org/drawingml/2006/main">
            <a:r>
              <a:t>Увести прагове за промену режима рада.</a:t>
            </a:r>
          </a:p>
          <a:p xmlns:a="http://schemas.openxmlformats.org/drawingml/2006/main">
            <a:r>
              <a:t>Спречити закашњелог власника јасним токеном или епохом.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Одговор се образлаже failure сценаријем и тестом, а не описом срећног пута.</a:t>
            </a:r>
          </a:p>
          <a:p xmlns:a="http://schemas.openxmlformats.org/drawingml/2006/main">
            <a:r>
              <a:t>За коју одлуку ваш систем може користити застарео приказ, а за коју мора чекати ауторитативно стање?</a:t>
            </a:r>
          </a:p>
          <a:p xmlns:a="http://schemas.openxmlformats.org/drawingml/2006/main">
            <a:r>
              <a:t>За једну одлуку наведите да ли захтева најновије стање или може да користи застарео приказ, па објасните последицу избора.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Проширење примера уз вежбу, правило иде у домен, а доказ у тест.</a:t>
            </a:r>
          </a:p>
          <a:p xmlns:a="http://schemas.openxmlformats.org/drawingml/2006/main">
            <a:r>
              <a:t>Додати у приказ распореда податак о свежини: време последњег уписа и ознаку IsStale када је приказ старији од задатог прага.</a:t>
            </a:r>
          </a:p>
          <a:p xmlns:a="http://schemas.openxmlformats.org/drawingml/2006/main">
            <a:r>
              <a:t>Тестом показати да читалац види застарео, али јасно означен податак док власник не упише нови.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Последња контролна тачка (Вежба 7–8) проверава оперативни и напредни ниво: телеметрију, команде, disconnected токове и координацију.</a:t>
            </a:r>
          </a:p>
          <a:p xmlns:a="http://schemas.openxmlformats.org/drawingml/2006/main">
            <a:r>
              <a:t>Telemetry и command/job токови имају документовану delivery семантику.</a:t>
            </a:r>
          </a:p>
          <a:p xmlns:a="http://schemas.openxmlformats.org/drawingml/2006/main">
            <a:r>
              <a:t>Disconnected station ток, dead-letter/replay и transactional outbox/inbox су имплементирани.</a:t>
            </a:r>
          </a:p>
          <a:p xmlns:a="http://schemas.openxmlformats.org/drawingml/2006/main">
            <a:r>
              <a:t>Најмање три евалуациона/дистрибуирана сценарија, укључујући најмање један failure/recovery случај.</a:t>
            </a:r>
          </a:p>
          <a:p xmlns:a="http://schemas.openxmlformats.org/drawingml/2006/main">
            <a:r>
              <a:t>Сваки члан тима објашњава свој део без ослањања на аутоматски генерисан одговор.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Завршна одбрана не тражи савршену архитектуру.</a:t>
            </a:r>
          </a:p>
          <a:p xmlns:a="http://schemas.openxmlformats.org/drawingml/2006/main">
            <a:r>
              <a:t>Напредни дистрибуирани дизајн не скрива компромис, већ кориснику и оператеру јасно показује гаранцију.</a:t>
            </a:r>
          </a:p>
          <a:p xmlns:a="http://schemas.openxmlformats.org/drawingml/2006/main">
            <a:r>
              <a:t>Завршна одбрана обухвата све теме и додељену пројектну целину.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51a9637c34f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3bd32b7304c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5bceb1bb34c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24019e2f547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71a021f6d49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7c2dcf7304c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22A852-43DC-4A43-8974-F6258CAE85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DC684E-46C5-4101-B2F0-2615316083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911F39-2481-4BE7-A43A-C82023E54E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8D4B92-05E3-4AD8-8FFF-974C0A7C1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B70E08-781B-4891-9D6C-2B0AA572E1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7F6C74-5261-406C-8A29-66521FC1E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8DE551-B201-42E5-AA60-CDD75962FB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AA9D18-9CAA-42FD-BE6B-5C41AD9FE1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12A636-6EE7-47BA-ABB0-4B3F50C78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5A59DA-8F5B-431B-8FC8-4779427E37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6b1546e2f4a1a" /><Relationship Type="http://schemas.openxmlformats.org/officeDocument/2006/relationships/slideLayout" Target="/ppt/slideLayouts/slideLayout1.xml" Id="R5eea3c0758c74d9c" /><Relationship Type="http://schemas.openxmlformats.org/officeDocument/2006/relationships/slideLayout" Target="/ppt/slideLayouts/slideLayout2.xml" Id="R1a1daf260e3b479a" /><Relationship Type="http://schemas.openxmlformats.org/officeDocument/2006/relationships/slideLayout" Target="/ppt/slideLayouts/slideLayout3.xml" Id="R9bcaf454080044d5" /><Relationship Type="http://schemas.openxmlformats.org/officeDocument/2006/relationships/slideLayout" Target="/ppt/slideLayouts/slideLayout4.xml" Id="Ra8044c291d4142c2" /><Relationship Type="http://schemas.openxmlformats.org/officeDocument/2006/relationships/slideLayout" Target="/ppt/slideLayouts/slideLayout5.xml" Id="R373a779b92764a99" /><Relationship Type="http://schemas.openxmlformats.org/officeDocument/2006/relationships/slideLayout" Target="/ppt/slideLayouts/slideLayout6.xml" Id="R1c327ab06bd346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ea3c0758c74d9c"/>
    <p:sldLayoutId xmlns:r="http://schemas.openxmlformats.org/officeDocument/2006/relationships" id="2147483650" r:id="R1a1daf260e3b479a"/>
    <p:sldLayoutId xmlns:r="http://schemas.openxmlformats.org/officeDocument/2006/relationships" id="2147483651" r:id="R9bcaf454080044d5"/>
    <p:sldLayoutId xmlns:r="http://schemas.openxmlformats.org/officeDocument/2006/relationships" id="2147483652" r:id="Ra8044c291d4142c2"/>
    <p:sldLayoutId xmlns:r="http://schemas.openxmlformats.org/officeDocument/2006/relationships" id="2147483653" r:id="R373a779b92764a99"/>
    <p:sldLayoutId xmlns:r="http://schemas.openxmlformats.org/officeDocument/2006/relationships" id="2147483654" r:id="R1c327ab06bd346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7f4c2c1394be0" /><Relationship Type="http://schemas.openxmlformats.org/officeDocument/2006/relationships/notesSlide" Target="/ppt/notesSlides/notesSlide1.xml" Id="R0a9a93b70a1443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d6cafa8824992" /><Relationship Type="http://schemas.openxmlformats.org/officeDocument/2006/relationships/notesSlide" Target="/ppt/notesSlides/notesSlide2.xml" Id="Ra3eb5f0f347d4f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a966cba7543bf" /><Relationship Type="http://schemas.openxmlformats.org/officeDocument/2006/relationships/notesSlide" Target="/ppt/notesSlides/notesSlide3.xml" Id="Rb2f98442d16647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c1c4e9f1e487e" /><Relationship Type="http://schemas.openxmlformats.org/officeDocument/2006/relationships/notesSlide" Target="/ppt/notesSlides/notesSlide4.xml" Id="R37e25848040040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6a40f97224b2e" /><Relationship Type="http://schemas.openxmlformats.org/officeDocument/2006/relationships/notesSlide" Target="/ppt/notesSlides/notesSlide5.xml" Id="R96d7a4d4c51941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bf52eee384195" /><Relationship Type="http://schemas.openxmlformats.org/officeDocument/2006/relationships/notesSlide" Target="/ppt/notesSlides/notesSlide6.xml" Id="R6c0605212a3c48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35d4aee654c5e" /><Relationship Type="http://schemas.openxmlformats.org/officeDocument/2006/relationships/notesSlide" Target="/ppt/notesSlides/notesSlide7.xml" Id="R5e329503b89548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3e63f271a442d" /><Relationship Type="http://schemas.openxmlformats.org/officeDocument/2006/relationships/notesSlide" Target="/ppt/notesSlides/notesSlide8.xml" Id="R1b2c78325e3e4f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876e292ac4ac6" /><Relationship Type="http://schemas.openxmlformats.org/officeDocument/2006/relationships/notesSlide" Target="/ppt/notesSlides/notesSlide9.xml" Id="R249e87fa649546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8fd7f2ade4f8a" /><Relationship Type="http://schemas.openxmlformats.org/officeDocument/2006/relationships/notesSlide" Target="/ppt/notesSlides/notesSlide10.xml" Id="Rfc65a1a066cf47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8dc287f9c4f3e" /><Relationship Type="http://schemas.openxmlformats.org/officeDocument/2006/relationships/notesSlide" Target="/ppt/notesSlides/notesSlide11.xml" Id="Rc8d8074d324447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65639020c4e7e" /><Relationship Type="http://schemas.openxmlformats.org/officeDocument/2006/relationships/notesSlide" Target="/ppt/notesSlides/notesSlide12.xml" Id="R16310b40a24b42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4d21b8d194c3a" /><Relationship Type="http://schemas.openxmlformats.org/officeDocument/2006/relationships/notesSlide" Target="/ppt/notesSlides/notesSlide13.xml" Id="Rf3aa566d0e5440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945a3e19e34e5a" /><Relationship Type="http://schemas.openxmlformats.org/officeDocument/2006/relationships/notesSlide" Target="/ppt/notesSlides/notesSlide14.xml" Id="R925a1fea2dcb4c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d2a162b6a4231" /><Relationship Type="http://schemas.openxmlformats.org/officeDocument/2006/relationships/notesSlide" Target="/ppt/notesSlides/notesSlide15.xml" Id="R1e2c438fa13147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3aa33f9934efa" /><Relationship Type="http://schemas.openxmlformats.org/officeDocument/2006/relationships/notesSlide" Target="/ppt/notesSlides/notesSlide16.xml" Id="R9bfa9ac0a0a249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cacf9b7854ab3" /><Relationship Type="http://schemas.openxmlformats.org/officeDocument/2006/relationships/notesSlide" Target="/ppt/notesSlides/notesSlide17.xml" Id="R938494edf99944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9256ed72e4363" /><Relationship Type="http://schemas.openxmlformats.org/officeDocument/2006/relationships/notesSlide" Target="/ppt/notesSlides/notesSlide18.xml" Id="R3d5bba9ae5a34a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ac5303b8243bc" /><Relationship Type="http://schemas.openxmlformats.org/officeDocument/2006/relationships/notesSlide" Target="/ppt/notesSlides/notesSlide19.xml" Id="R8da809a94b8749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9625c07d6b4f1e" /><Relationship Type="http://schemas.openxmlformats.org/officeDocument/2006/relationships/notesSlide" Target="/ppt/notesSlides/notesSlide20.xml" Id="Rf0a4b0648a4c4c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ee3394198d4b16" /><Relationship Type="http://schemas.openxmlformats.org/officeDocument/2006/relationships/notesSlide" Target="/ppt/notesSlides/notesSlide21.xml" Id="Ra287703591d848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79f5785564d51" /><Relationship Type="http://schemas.openxmlformats.org/officeDocument/2006/relationships/notesSlide" Target="/ppt/notesSlides/notesSlide22.xml" Id="Ra8ac78d32b174e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0cf078ea34a7e" /><Relationship Type="http://schemas.openxmlformats.org/officeDocument/2006/relationships/notesSlide" Target="/ppt/notesSlides/notesSlide23.xml" Id="R37850ed800cc46e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d90daa866416b" /><Relationship Type="http://schemas.openxmlformats.org/officeDocument/2006/relationships/notesSlide" Target="/ppt/notesSlides/notesSlide24.xml" Id="R9cd2062c7dd642c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5773a6617b46fb" /><Relationship Type="http://schemas.openxmlformats.org/officeDocument/2006/relationships/notesSlide" Target="/ppt/notesSlides/notesSlide25.xml" Id="Rd20cd4c531c14a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2609be30f42d6" /><Relationship Type="http://schemas.openxmlformats.org/officeDocument/2006/relationships/notesSlide" Target="/ppt/notesSlides/notesSlide26.xml" Id="Re77efc2b21fe4c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64429F-9644-4AF8-9FE7-05FE5468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ОСНОВЕ ДИСТРИБУИРАНОГ ПРОГРАМИРАЊА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8D672C1-4930-4ED4-97A3-65E23B9C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6572250" cy="190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Координација, проток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 евентуална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конзистентност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3E818-C71A-4406-86E6-CB629A0A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5824"/>
            <a:ext cx="6191250" cy="31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Јасни компромиси при расту система</a:t>
            </a:r>
          </a:p>
        </p:txBody>
      </p:sp>
      <p:sp>
        <p:nvSpPr>
          <p:cNvPr id="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0CF2D42A-FA4C-4B9A-BE8D-DB9038B8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628" y="1877739"/>
            <a:ext cx="1613995" cy="49957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E8DB"/>
          </a:solidFill>
          <a:ln xmlns:a="http://schemas.openxmlformats.org/drawingml/2006/main" w="19214">
            <a:solidFill>
              <a:srgbClr val="7D5E00"/>
            </a:solidFill>
            <a:prstDash val="solid"/>
          </a:ln>
        </p:spPr>
      </p:sp>
      <p:sp>
        <p:nvSpPr>
          <p:cNvPr id="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1769819-DF3A-4B6E-BB1C-FDA4E856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22572"/>
            <a:ext cx="1485900" cy="409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Lease</a:t>
            </a:r>
          </a:p>
        </p:txBody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79F34DB-BDE3-455C-B9B9-26858560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45" y="3081830"/>
            <a:ext cx="1460281" cy="49957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C3BC8FA-1B68-470A-A7EC-160836F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392" y="3126663"/>
            <a:ext cx="1332186" cy="409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Worker A</a:t>
            </a:r>
          </a:p>
        </p:txBody>
      </p:sp>
      <p:sp>
        <p:nvSpPr>
          <p:cNvPr id="8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55F1CC01-0EEA-4F09-BFFD-FB6727C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624" y="3081830"/>
            <a:ext cx="1460281" cy="49957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388456CC-4FF2-4FC9-B0F0-82DAFE7C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672" y="3126663"/>
            <a:ext cx="1332186" cy="409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Worker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B35E1-284E-4301-92FB-6C54F85A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24293" y="2582260"/>
            <a:ext cx="3330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132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46B9D-3461-4544-B1C8-337DD1BB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573485" y="2748784"/>
            <a:ext cx="717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13202D"/>
            </a:solidFill>
            <a:prstDash val="solid"/>
          </a:ln>
        </p:spPr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0BD2F-AAE1-4C64-9AA4-F7ACF2525387}"/>
              </a:ext>
            </a:extLst>
          </p:cNvPr>
          <p:cNvCxnSpPr/>
          <p:nvPr/>
        </p:nvCxnSpPr>
        <p:spPr>
          <a:xfrm xmlns:a="http://schemas.openxmlformats.org/drawingml/2006/main" rot="5400000">
            <a:off x="8426176" y="2896093"/>
            <a:ext cx="294618" cy="0"/>
          </a:xfrm>
          <a:prstGeom xmlns:a="http://schemas.openxmlformats.org/drawingml/2006/main" prst="straightConnector1">
            <a:avLst/>
          </a:prstGeom>
          <a:ln xmlns:a="http://schemas.openxmlformats.org/drawingml/2006/main" w="12809">
            <a:solidFill>
              <a:srgbClr val="13202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D3323-4A90-473A-934E-022D4C8F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87910" y="2582260"/>
            <a:ext cx="3330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7D5E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FC891-6362-4974-A485-A7AF7C2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4434" y="2748784"/>
            <a:ext cx="717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7D5E00"/>
            </a:solidFill>
            <a:prstDash val="solid"/>
          </a:ln>
        </p:spPr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6E8FA-E0DD-4257-A7E1-6C70D4EA065A}"/>
              </a:ext>
            </a:extLst>
          </p:cNvPr>
          <p:cNvCxnSpPr/>
          <p:nvPr/>
        </p:nvCxnSpPr>
        <p:spPr>
          <a:xfrm xmlns:a="http://schemas.openxmlformats.org/drawingml/2006/main" rot="5400000">
            <a:off x="10424456" y="2896093"/>
            <a:ext cx="294618" cy="0"/>
          </a:xfrm>
          <a:prstGeom xmlns:a="http://schemas.openxmlformats.org/drawingml/2006/main" prst="straightConnector1">
            <a:avLst/>
          </a:prstGeom>
          <a:ln xmlns:a="http://schemas.openxmlformats.org/drawingml/2006/main" w="12809">
            <a:solidFill>
              <a:srgbClr val="7D5E00"/>
            </a:solidFill>
            <a:prstDash val="solid"/>
            <a:tailEnd type="triangle" w="sm" len="sm"/>
          </a:ln>
        </p:spPr>
      </p:cxnSp>
      <p:sp>
        <p:nvSpPr>
          <p:cNvPr id="1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63D166ED-FC12-4AFA-BDEA-9EE6AF56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628" y="4503683"/>
            <a:ext cx="1613995" cy="448332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95FCB75C-652B-4D4B-BD38-ACB3CAE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48516"/>
            <a:ext cx="1485900" cy="358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Ресурс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158F6-9E49-4723-BC87-A237736A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28652" y="3664662"/>
            <a:ext cx="89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E07B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80F8F-CA46-4378-B055-B8AF00B6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035487" y="3709495"/>
            <a:ext cx="5379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E07B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43BF5-999C-4FD4-86DA-F2C8834C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63286" y="3981696"/>
            <a:ext cx="5444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E07B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C7A0D-AB0F-4673-B507-08360559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5487" y="4253898"/>
            <a:ext cx="1178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E07B1F"/>
            </a:solidFill>
            <a:prstDash val="solid"/>
          </a:ln>
        </p:spPr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51ECF-9274-4E0C-822B-9DA4AAE8FE74}"/>
              </a:ext>
            </a:extLst>
          </p:cNvPr>
          <p:cNvCxnSpPr/>
          <p:nvPr/>
        </p:nvCxnSpPr>
        <p:spPr>
          <a:xfrm xmlns:a="http://schemas.openxmlformats.org/drawingml/2006/main" rot="5400000">
            <a:off x="9108281" y="4359576"/>
            <a:ext cx="211356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E07B1F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5BA78-FC8D-4412-B57C-593E1DD2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526931" y="3664662"/>
            <a:ext cx="89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7D5E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10FEF-C4CE-4352-95A1-7BB066C6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1765" y="3709495"/>
            <a:ext cx="5379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7D5E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0E7DB-EFA9-49FB-8723-CDCD5CE0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837561" y="3981696"/>
            <a:ext cx="5444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7D5E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5D741-F520-4ADD-AB98-6C6BC6C5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931291" y="4253898"/>
            <a:ext cx="1178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7D5E00"/>
            </a:solidFill>
            <a:prstDash val="solid"/>
          </a:ln>
        </p:spPr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C8293-1F27-46DC-82B6-89680AE9CF07}"/>
              </a:ext>
            </a:extLst>
          </p:cNvPr>
          <p:cNvCxnSpPr/>
          <p:nvPr/>
        </p:nvCxnSpPr>
        <p:spPr>
          <a:xfrm xmlns:a="http://schemas.openxmlformats.org/drawingml/2006/main" rot="5400000">
            <a:off x="9825612" y="4359576"/>
            <a:ext cx="211356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7D5E00"/>
            </a:solidFill>
            <a:prstDash val="solid"/>
            <a:tailEnd type="triangle" w="sm" len="sm"/>
          </a:ln>
        </p:spPr>
      </p:cxnSp>
      <p:sp>
        <p:nvSpPr>
          <p:cNvPr id="2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19250E3-F80F-41B3-8FFA-ABD0E569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45" y="3792756"/>
            <a:ext cx="1460281" cy="25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1" b="0">
                <a:solidFill>
                  <a:srgbClr val="E07B1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1" b="0">
                <a:solidFill>
                  <a:srgbClr val="E07B1F"/>
                </a:solidFill>
                <a:latin typeface="IBM Plex Mono"/>
                <a:ea typeface="IBM Plex Mono"/>
                <a:cs typeface="IBM Plex Mono"/>
              </a:defRPr>
            </a:pPr>
            <a:r>
              <a:rPr sz="1311" b="0">
                <a:solidFill>
                  <a:srgbClr val="E07B1F"/>
                </a:solidFill>
                <a:latin typeface="IBM Plex Mono"/>
                <a:ea typeface="IBM Plex Mono"/>
                <a:cs typeface="IBM Plex Mono"/>
              </a:rPr>
              <a:t>token 1</a:t>
            </a:r>
          </a:p>
        </p:txBody>
      </p:sp>
      <p:sp>
        <p:nvSpPr>
          <p:cNvPr id="2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E1754026-756C-4F5B-BEF2-365F1A58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624" y="3792756"/>
            <a:ext cx="1460281" cy="25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1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1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311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token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58DBB4-454F-4FCE-98C0-93FF03B8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926795" y="4189850"/>
            <a:ext cx="2173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619">
            <a:solidFill>
              <a:srgbClr val="E07B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1766C9-58C5-4059-9760-0084813C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926795" y="4189850"/>
            <a:ext cx="2173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619">
            <a:solidFill>
              <a:srgbClr val="E07B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E243EA-1860-4679-8813-7674F6BF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1020371" y="4229720"/>
            <a:ext cx="855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619">
            <a:solidFill>
              <a:srgbClr val="7D5E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855BFB-D864-4AB8-A3C7-FC44BE6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55679">
            <a:off x="11057112" y="4186488"/>
            <a:ext cx="1850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619">
            <a:solidFill>
              <a:srgbClr val="7D5E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95A56F-82B8-4744-BD5C-495247FB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781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19EA9A-6702-4FEB-96D0-E7E573EA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9525000" cy="26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513774-F869-43A9-992E-27AAF375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29350"/>
            <a:ext cx="9525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832340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376FFC-9055-4F78-8B0B-1F515A2B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EC34F-1B6F-4718-8452-00199F05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ПРОВЕРА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0B4265-7731-435E-A37F-8A84EAC8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8C351-81B3-47BE-B4E0-E4731D43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AA643-DA83-4B61-8DE7-D2FB90F9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BAF14-309A-4338-B6BE-B42D5FA8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D6200-46C4-4299-8249-E7CFF503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8700E-6B8A-45A0-B24A-39029D7D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одговорности компоненти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конкретан failure сценарио.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0A446-C214-48AC-AD0C-ED6A098D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87A3A-4F29-41BC-AAF3-C1E6E973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B3B49-6C64-4A62-9460-C35892BF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5DB60-6823-4415-82E4-E50E8A0D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9CA9F-B00E-4247-ACEF-D6BA3B24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14786-EFD2-4651-BEEF-1C01B775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162425"/>
            <a:ext cx="2185988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повезују компоненте система.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D69FF-801B-4E5C-9F4E-F5266CAA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766CC-2AA4-459D-8B08-C8449E92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2E59B-E4F8-4EAE-A4EA-8FE9403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7DD42-B993-41ED-A273-4539F64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8EB76-37AC-4BDA-AB46-B0BC9903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тестови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EF3C8-87C4-4839-806C-17BCC8AF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доменско правило, тест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видљиви исходи.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CBE48-94C7-4CF0-86C1-79378676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14–18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C4F42-6D5F-4C04-BB07-83415925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4AA0D-18B0-4130-AF23-C86E116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CB359-6BBA-43C8-802B-527492B2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FDCBA-38D2-438D-A1BD-C7A2FE3F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0EF051-9841-43A6-9D8C-44AF29EF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и примена на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пројектну целину.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A0FEE0-6397-4A45-9AB1-859ADD23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19–26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EE93E-8E8C-4B87-9111-02A15D70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F9398-2B50-4281-A0A9-60E5BCF8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BA227E3-865A-411D-BAAA-75C9415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8981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EA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B518D-0FEF-4FD7-A5AE-144F3E48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316AE-E8F5-4AD4-85A5-244B0312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DE08D-EA8B-466E-A424-BA1524A9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43A76-FB7F-4C75-9BFD-60D4FC06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 одговорности компоненти и конкретан failure сценарио.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E644B-78E6-447D-AD68-E5484BEE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6D09F-D512-42B2-B087-3393149D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A28896D-28A3-4045-B140-FB847CB6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62096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69804-CBE0-43C7-8FA6-9F4780BA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EF0E8-FE9D-4FE5-AF62-5B918D4C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33D446-00F7-4BC1-87FA-02099F43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Тема и проблем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D4BA0FA-8116-404E-B676-5B20507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Објаснити како се бирају гаранције власништва, оптерећења и свежине података.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0DBCE-5270-456D-9F65-A63E8EB8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Више инстанци, већи улазни ритам и реплике читања уводе сукоб,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заостајање и привремено различите приказе стања.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7EB8A004-A906-48B2-9931-C85CCB8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774B1213-9A7E-4211-BCAD-74EACE17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F5D05-57A8-45DC-9F85-5649BF55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43405-5089-4E4F-B88C-3AA0E45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Координација штити ексклузиван рад, backpressure спречава колапс, а реплике убрзавају читање уз цену застарелости.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1C552-1740-4070-93D6-C1A305DF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9EC80-16DF-4522-809D-701FBCCA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9C50EFA-5AE7-4E53-A640-D362459D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9028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1DD1C-3E2A-4E92-A0F4-28A8A2FE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AA4FF-880B-47A6-A224-B0DB0D93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8AC5E0-7E49-4D56-A77B-4EE78168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појма теме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FD0D267-C8FC-4618-A9F3-F798D544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Напредни дистрибуирани дизајн прихвата да различите компоненте могу привремено имати различит поглед на стање.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D5245-183A-4D8B-9FD3-0AEB24A5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4635C-EAD1-492A-9C83-ECA2A6E7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0B115-7DF2-4DC1-8B26-98539C9F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Власништво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B7E5D-7880-4674-9D83-64ED96E4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један важећи извршилац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77791-C6EE-46A0-B5E9-1E27B591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443A8-BE3E-46D3-A308-771044D5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2B40A-FFDF-446D-86C3-0BAC5A32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Оптерећење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A6914-2098-4B8F-928C-8328F273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ритам производње и обраде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B81A4-5CEE-4846-9238-00EFF972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3829E-0044-40EF-8AEB-008A62C5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09DEC-F6F4-4AE0-BB5E-2664D4BD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Реплика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7A4C5-70C4-4649-88ED-D29064E8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брже читање уз кашњење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6754E-BA04-47DA-9A11-E9840324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C3129-05C4-41D3-AEBA-3E6E030D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7DC56-CF1C-47F7-B9E7-D9C152B5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Јасан уговор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05552-31A2-4E7D-804D-077D1C09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видљива ограничења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7C977-CB62-4DAD-981B-56EB56AC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05759-A191-4A66-9787-72E860A0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AB43CAB-51D1-49A6-A3F4-9988C337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2056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6087E-85F2-443A-AD1F-4DCCFE8E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8C5CC-29B1-4EF8-BCC4-964E1227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C5A022-AE88-4779-A433-CBD5B6C3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Важећи извршилац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ABBA758-95C8-4013-8E7D-D481694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Власништво бира инстанцу чија одлука тренутно важи. Lease, epoch или fencing токен спречавају закашњелог власника да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пише након промене режима.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4F321-4646-4951-82B1-326A9A62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07ECF-109F-422F-86FE-2C28132C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CAC09-527D-4D02-A188-94F0BF7A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Само једна инстанца има важећу одлуку у датом тренутку.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7C058-C3E4-4152-9F30-FD0A3DD5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C0E97-6204-46D3-8A4C-99DF5F7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DB98-593D-4F7A-8EFD-4D5B07E8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Fencing токен спречава закашњелог власника да пише.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0539C-4128-4756-88EC-C3616BF2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247E6-5AAE-403D-BEA0-6000377B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B89C6-7F98-42DA-85BA-C1225DA7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Кратак прекид не сме сам по себи покренути failover.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16338-6F17-4ACF-A48A-B1707295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E1304-A47D-495D-9CBD-79B470C1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AFD14B5-0863-432D-92CF-C29EFCA2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1194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BEDE8-49DA-4016-B142-ABC42D4B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75F2D-CD97-4974-AB2D-39210DF2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33F9FA-4A6D-4724-B62C-DB998200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Оптерећење и проток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1D93160-3E73-4161-AE9C-557FDFA2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Проток пореди брзину пријема и обраде. Backpressure уводи границу пре него што ред и меморија прерасту капацитет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3C4AA-5653-47E3-90A7-9281F701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4AF30-E3CD-436B-BDD4-354B0759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1881B-F027-4746-B4E7-4A3B9CF0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Пореди брзину пријема и обраде.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91B5F-A49D-4C80-95AB-A91E3BE6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891D6-AED7-48E3-8857-93D1A4E9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7B53D-DF3A-42F1-80B2-FA78CABF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Backpressure поставља границу пре колапса.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E4A41-6A32-4512-979A-33D1A56D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CD0EE-136C-4259-9154-FC39BCCA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906F0-1FA6-4B4C-8425-F77C55F8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Неограничен ред само одлаже и скрива проблем.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CBD84-9AC8-41CF-BAE1-B4D66A23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65F5B-531F-4914-95E7-8FC5D14A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B57F2E6-D8BA-4F46-A141-F4FADADF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40522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EEE04-E04B-4B28-818C-E27EE0CF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0A435-A8B5-46BD-B37C-5FA0BD2F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5D5908-A52A-4002-A5D9-5E1D85E8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Реплика за читање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78B3A4A-6760-4DB9-85FD-5176C1AC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Реплика убрзава читање, али може приказати старије стање од ауторитативног извора. То је прихватљиво само када 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кориснику јасно шта гаранција значи.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65A01-56F2-4791-A74E-7CB86C24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4C69A-C1A6-45AE-96B4-5134F13B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FE890-A62F-4165-896E-89F7C26C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Убрзава читање уз цену могућег заостајања.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838D5-FFA5-4A62-8829-B73305FF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0C3BB-4CED-4E0E-8526-D3869C53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DD730-1812-4647-9604-65EE3068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Корисник мора знати да приказ може бити застарео.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336C7-5441-4AED-AC18-1847CB1E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D5ABE-DAEB-41C4-B785-C7C3098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CCF0D-2224-4850-A200-1087FDF5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сме се тумачити као ауторитативан извор.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3E510-F945-47A6-B32B-494BDF58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98CBE-0D12-4D3C-9D00-A5A94F9B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2A250E3-1D65-4530-8837-22EA8D84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4802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BB40B-75E2-4AA0-ADD9-33F08B89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36A3E-70EA-4DFA-9A56-7838F09E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FB34BE-8F75-49B2-ACD0-3857EC46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Уговор о ограничењу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2C9C11C-F6AC-482B-A4F9-D6D7F4F8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Уговор објашњава када резултат може бити застарео и када систем мора чекати ауторитативно стање. Тиме компромис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постаје свестан дизајнерски избор.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C2F9B-7368-459A-8A81-49B7A57D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B74B7-2B5F-4694-8442-8EF9BE66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BB61B-9A40-4567-A838-BE363AE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Јасно каже када је резултат дозвољено да буде застарео.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202B4-7923-41DB-9B45-CB5F98DB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ED6F1-F5F5-415C-8224-E6D1B2A8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F9EAC-3E21-4CE4-BBA2-1C55D8CB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Каже и када се мора чекати ауторитативно стање.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78A24-AF43-4BF2-BB41-DC085800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5A263-BE79-42D9-AF3F-08E5BD42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F24F5-470F-40CA-9F8B-EF01F800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Компромис је свестан избор, не случајна последица.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84236-9FF2-4D76-A6D7-B94214B6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4A704-3CEE-425B-BB41-2A0DAB81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9FBE3A8-DA5B-4313-81D6-2A849890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487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C9F7F-8714-4912-BC35-F776A9E6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A8BAC-DA56-467E-98D4-D1CAE75D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53390B-E739-4418-93C6-49FFAE64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два чвора и један ексклузиван посао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2CA3044-6798-4A27-B11A-7281B487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Две инстанце накратко изгубе везу једна са другом.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2BBFB-D30D-4583-86AA-875D227C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4B4D9-7DC3-4E40-BA89-4438C6F7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AFFD8-C9D4-4E9E-BAAC-144B82F1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Координација бира једног важећег извршиоца за рад који не сме бити паралелан.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B3CCA-C3EC-45D2-9B9D-4D3FA298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9AE0D-458D-47E3-AC81-754343A9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53887-E3D4-48E9-A74B-93999905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Backpressure одлучује како систем реагује када улазни ритам надмаши обраду.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8BF9D-8665-4972-8643-10495B91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4C0B7-F3C1-4055-BDBF-D08F499A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3DC30-D34C-41CE-9D45-F8E5B2B2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Реплика убрзава читање, али њен приказ мора моћи да покаже застарелост.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68E32-0BA9-4DB6-8881-0034959B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D8B5C-7F04-4F61-B50F-EBAB66B5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EA2F98-DA23-4F3C-8FE5-6B3EDED2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31543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CEA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0DA73-4F92-46CD-9D34-E1274EC2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D921E-8B46-4A9B-9154-782B5FF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872DB-5AA9-4270-9CC7-3A1B0A0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EF1C4-1D5F-4F1E-AE51-C5A1E441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 повезују компоненте система.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55745-1ADC-4673-8B2D-AF14A023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606A7-7EEE-4EB6-9897-7E42766D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8D660F3-B5D6-46F5-B5DD-580536D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29872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E7A02-E8D5-469B-82F4-044D2222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38682-B82B-4D83-8C8B-B754FD5F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 · ТОК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D6040E-6215-4BA5-A235-4C4104B0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Шема рада под притиском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4F8FB85-0B4A-48AB-AD49-EBFA6757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Напредни дистрибуирани дизајн не скрива компромис, већ кориснику и оператеру јасно показује гаранцију.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D3200-2974-4E72-8777-7B8BA105F165}"/>
              </a:ext>
            </a:extLst>
          </p:cNvPr>
          <p:cNvGraphicFramePr/>
          <p:nvPr/>
        </p:nvGraphicFramePr>
        <p:xfrm>
          <a:off xmlns:a="http://schemas.openxmlformats.org/drawingml/2006/main" x="809625" y="2333625"/>
          <a:ext xmlns:a="http://schemas.openxmlformats.org/drawingml/2006/main" cx="105727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429500"/>
              </a:tblGrid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91440" marR="91440" marT="45720" marB="45720" anchor="ctr">
                    <a:solidFill>
                      <a:srgbClr val="ECEAE0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 у току</a:t>
                      </a:r>
                    </a:p>
                  </a:txBody>
                  <a:tcPr marL="91440" marR="91440" marT="45720" marB="45720" anchor="ctr">
                    <a:solidFill>
                      <a:srgbClr val="ECEAE0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Власништво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један важећи извршилац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Оптерећење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контролисан ритам обраде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Реплика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брже читање уз кашњење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Јасан уговор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видљиве границе гаранције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3A97E-EA79-4914-AE4F-D8BF1CD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E75D5-B354-43A5-B1D2-4FB0231C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E6361BE-8060-4C39-B2C1-E8445C7D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97796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8D78B9-308A-4386-8A3D-48359700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2684C-0179-44F4-8A14-6C3508A7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 · ДИЈАГРАМ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498737-9D98-4C34-936C-58BC6C4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Три гаранције које систем мора да изабере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87BB9B6-BC55-418E-9A72-BA602558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Fencing штити важећег власника, ограничен ред чува капацитет, а реплика показује свежину.</a:t>
            </a:r>
          </a:p>
        </p:txBody>
      </p:sp>
      <p:sp>
        <p:nvSpPr>
          <p:cNvPr id="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FC43DE9-C868-4917-BE02-F019311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2363391"/>
            <a:ext cx="2845594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66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66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66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ВЛАСНИШТВО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70ED0-6892-4719-AAE5-FBB3C903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938" y="2702719"/>
            <a:ext cx="28455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EDE8DB"/>
            </a:solidFill>
            <a:prstDash val="solid"/>
          </a:ln>
        </p:spPr>
      </p:sp>
      <p:sp>
        <p:nvSpPr>
          <p:cNvPr id="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0CEC9E2-789D-4DA9-8223-71DDA010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781" y="2363391"/>
            <a:ext cx="2845594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66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66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66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ПРОТОК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644CB-4D3B-4424-9C7C-8D015387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781" y="2702719"/>
            <a:ext cx="28455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EDE8DB"/>
            </a:solidFill>
            <a:prstDash val="solid"/>
          </a:ln>
        </p:spPr>
      </p:sp>
      <p:sp>
        <p:nvSpPr>
          <p:cNvPr id="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DB744C13-8590-4BAE-A364-478049B1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3391"/>
            <a:ext cx="2845594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66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66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66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СВЕЖИНА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5D555-E50D-4F9E-AD20-B00B33D7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2702719"/>
            <a:ext cx="28455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EDE8DB"/>
            </a:solidFill>
            <a:prstDash val="solid"/>
          </a:ln>
        </p:spPr>
      </p:sp>
      <p:sp>
        <p:nvSpPr>
          <p:cNvPr id="11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56C1EC77-5E8E-402C-9A93-EB73C170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3083719"/>
            <a:ext cx="2845594" cy="535781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06BDC07-EF6C-431C-A62C-307D62A3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9" y="3125391"/>
            <a:ext cx="2726531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Worker A • token 1</a:t>
            </a:r>
          </a:p>
        </p:txBody>
      </p:sp>
      <p:sp>
        <p:nvSpPr>
          <p:cNvPr id="13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7AAD1F2D-0FED-4573-B67C-ECCC3D4B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3905250"/>
            <a:ext cx="2845594" cy="535781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8DB"/>
          </a:solidFill>
          <a:ln xmlns:a="http://schemas.openxmlformats.org/drawingml/2006/main" w="17859">
            <a:solidFill>
              <a:srgbClr val="7D5E00"/>
            </a:solidFill>
            <a:prstDash val="solid"/>
          </a:ln>
        </p:spPr>
      </p:sp>
      <p:sp>
        <p:nvSpPr>
          <p:cNvPr id="1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ED2E08E0-BE9F-4D5A-9DB2-520AAD9A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9" y="3946922"/>
            <a:ext cx="2726531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Worker B • token 2</a:t>
            </a:r>
          </a:p>
        </p:txBody>
      </p:sp>
      <p:sp>
        <p:nvSpPr>
          <p:cNvPr id="1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55C1ED33-6CF9-446E-B465-70474989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4708922"/>
            <a:ext cx="2845594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pPr>
            <a:r>
              <a:rPr sz="13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rPr>
              <a:t>стари упис одбијен</a:t>
            </a:r>
          </a:p>
        </p:txBody>
      </p:sp>
      <p:sp>
        <p:nvSpPr>
          <p:cNvPr id="1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7DE7305-1D63-4893-817D-E41D7A11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5161359"/>
            <a:ext cx="2845594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9" b="0">
                <a:solidFill>
                  <a:srgbClr val="7D5E00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9" b="0">
                <a:solidFill>
                  <a:srgbClr val="7D5E00"/>
                </a:solidFill>
                <a:latin typeface="IBM Plex Sans"/>
                <a:ea typeface="IBM Plex Sans"/>
                <a:cs typeface="IBM Plex Sans"/>
              </a:defRPr>
            </a:pPr>
            <a:r>
              <a:rPr sz="1219" b="0">
                <a:solidFill>
                  <a:srgbClr val="7D5E00"/>
                </a:solidFill>
                <a:latin typeface="IBM Plex Sans"/>
                <a:ea typeface="IBM Plex Sans"/>
                <a:cs typeface="IBM Plex Sans"/>
              </a:rPr>
              <a:t>већи fencing токен важи</a:t>
            </a:r>
          </a:p>
        </p:txBody>
      </p:sp>
      <p:sp>
        <p:nvSpPr>
          <p:cNvPr id="1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17E81B02-74BD-4914-A75A-1296E38C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781" y="3083719"/>
            <a:ext cx="2845594" cy="535781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89E7DD30-35A3-4A64-85E1-885FEE5D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3125391"/>
            <a:ext cx="2726531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Ред • капацитет 2</a:t>
            </a:r>
          </a:p>
        </p:txBody>
      </p:sp>
      <p:sp>
        <p:nvSpPr>
          <p:cNvPr id="19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D28F44E4-0FDB-421B-86C7-36832E22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844" y="3929063"/>
            <a:ext cx="1226344" cy="488156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E8DB"/>
          </a:solidFill>
          <a:ln xmlns:a="http://schemas.openxmlformats.org/drawingml/2006/main" w="17859">
            <a:solidFill>
              <a:srgbClr val="7D5E00"/>
            </a:solidFill>
            <a:prstDash val="solid"/>
          </a:ln>
        </p:spPr>
      </p:sp>
      <p:sp>
        <p:nvSpPr>
          <p:cNvPr id="2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3245867-3FCD-4E49-84B6-706CA491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70734"/>
            <a:ext cx="110728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3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job-1</a:t>
            </a:r>
          </a:p>
        </p:txBody>
      </p:sp>
      <p:sp>
        <p:nvSpPr>
          <p:cNvPr id="21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D6B93808-0EA8-439E-A500-D9306F5B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969" y="3929063"/>
            <a:ext cx="1226344" cy="488156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E8DB"/>
          </a:solidFill>
          <a:ln xmlns:a="http://schemas.openxmlformats.org/drawingml/2006/main" w="17859">
            <a:solidFill>
              <a:srgbClr val="7D5E00"/>
            </a:solidFill>
            <a:prstDash val="solid"/>
          </a:ln>
        </p:spPr>
      </p:sp>
      <p:sp>
        <p:nvSpPr>
          <p:cNvPr id="2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EFBECCD4-00EA-4AE9-AF4C-643349E1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70734"/>
            <a:ext cx="110728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3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job-2</a:t>
            </a:r>
          </a:p>
        </p:txBody>
      </p:sp>
      <p:sp>
        <p:nvSpPr>
          <p:cNvPr id="2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960193F9-24A6-4833-91C6-E3ABF7E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781" y="4708922"/>
            <a:ext cx="2845594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72" b="0">
                <a:solidFill>
                  <a:srgbClr val="E07B1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172" b="0">
                <a:solidFill>
                  <a:srgbClr val="E07B1F"/>
                </a:solidFill>
                <a:latin typeface="IBM Plex Mono"/>
                <a:ea typeface="IBM Plex Mono"/>
                <a:cs typeface="IBM Plex Mono"/>
              </a:defRPr>
            </a:pPr>
            <a:r>
              <a:rPr sz="1172" b="0">
                <a:solidFill>
                  <a:srgbClr val="E07B1F"/>
                </a:solidFill>
                <a:latin typeface="IBM Plex Mono"/>
                <a:ea typeface="IBM Plex Mono"/>
                <a:cs typeface="IBM Plex Mono"/>
              </a:rPr>
              <a:t>job-3 → queue_overloaded</a:t>
            </a:r>
          </a:p>
        </p:txBody>
      </p:sp>
      <p:sp>
        <p:nvSpPr>
          <p:cNvPr id="2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FD693DD5-F108-4164-9625-FF4F0745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781" y="5161359"/>
            <a:ext cx="2845594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9" b="0">
                <a:solidFill>
                  <a:srgbClr val="7D5E00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9" b="0">
                <a:solidFill>
                  <a:srgbClr val="7D5E00"/>
                </a:solidFill>
                <a:latin typeface="IBM Plex Sans"/>
                <a:ea typeface="IBM Plex Sans"/>
                <a:cs typeface="IBM Plex Sans"/>
              </a:defRPr>
            </a:pPr>
            <a:r>
              <a:rPr sz="1219" b="0">
                <a:solidFill>
                  <a:srgbClr val="7D5E00"/>
                </a:solidFill>
                <a:latin typeface="IBM Plex Sans"/>
                <a:ea typeface="IBM Plex Sans"/>
                <a:cs typeface="IBM Plex Sans"/>
              </a:rPr>
              <a:t>граница пре колапса</a:t>
            </a:r>
          </a:p>
        </p:txBody>
      </p:sp>
      <p:sp>
        <p:nvSpPr>
          <p:cNvPr id="2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D5EC7559-1704-4929-9DDA-5CE39774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83719"/>
            <a:ext cx="2845594" cy="535781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2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FCE5312-A3A7-4F36-8BC6-6B288626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3125391"/>
            <a:ext cx="2726531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Ауторитативни извор</a:t>
            </a:r>
          </a:p>
        </p:txBody>
      </p:sp>
      <p:sp>
        <p:nvSpPr>
          <p:cNvPr id="2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867CCEDB-1A20-48CF-8D65-1E6C8873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71938"/>
            <a:ext cx="2845594" cy="535781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8DB"/>
          </a:solidFill>
          <a:ln xmlns:a="http://schemas.openxmlformats.org/drawingml/2006/main" w="17859">
            <a:solidFill>
              <a:srgbClr val="7D5E00"/>
            </a:solidFill>
            <a:prstDash val="solid"/>
          </a:ln>
        </p:spPr>
      </p:sp>
      <p:sp>
        <p:nvSpPr>
          <p:cNvPr id="2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B9DF035-A007-41CA-8FD0-E050BA9C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113609"/>
            <a:ext cx="2726531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Read реплика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04471-C5BA-40A5-BA7D-630C65FD50B4}"/>
              </a:ext>
            </a:extLst>
          </p:cNvPr>
          <p:cNvCxnSpPr/>
          <p:nvPr/>
        </p:nvCxnSpPr>
        <p:spPr>
          <a:xfrm xmlns:a="http://schemas.openxmlformats.org/drawingml/2006/main" rot="5400000">
            <a:off x="8899922" y="3845719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7D5E00"/>
            </a:solidFill>
            <a:prstDash val="solid"/>
            <a:tailEnd type="triangle" w="sm" len="sm"/>
          </a:ln>
        </p:spPr>
      </p:cxnSp>
      <p:sp>
        <p:nvSpPr>
          <p:cNvPr id="3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7585852A-F080-4F57-88CE-1E58FE9D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44641"/>
            <a:ext cx="284559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pPr>
            <a:r>
              <a:rPr sz="13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rPr>
              <a:t>може да касни</a:t>
            </a:r>
          </a:p>
        </p:txBody>
      </p:sp>
      <p:sp>
        <p:nvSpPr>
          <p:cNvPr id="3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04028F4-C67B-45B4-9846-389C19F9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61359"/>
            <a:ext cx="2845594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9" b="0">
                <a:solidFill>
                  <a:srgbClr val="7D5E00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9" b="0">
                <a:solidFill>
                  <a:srgbClr val="7D5E00"/>
                </a:solidFill>
                <a:latin typeface="IBM Plex Sans"/>
                <a:ea typeface="IBM Plex Sans"/>
                <a:cs typeface="IBM Plex Sans"/>
              </a:defRPr>
            </a:pPr>
            <a:r>
              <a:rPr sz="1219" b="0">
                <a:solidFill>
                  <a:srgbClr val="7D5E00"/>
                </a:solidFill>
                <a:latin typeface="IBM Plex Sans"/>
                <a:ea typeface="IBM Plex Sans"/>
                <a:cs typeface="IBM Plex Sans"/>
              </a:rPr>
              <a:t>свежина је видљива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3EF7E8-EC66-4441-950E-8A9B33F8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76F13-B9EF-4FE2-980F-C7252331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72BF1CC-A64A-4647-B3DD-A436FD71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014162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CEA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0B956-D2C7-4717-86AE-C402A78A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F5D0C-F5C8-4D30-AB28-4C84A8F8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F5545-9C5D-417F-87F4-5B3DE4D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 тестови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A7A0E-074A-4A99-8E38-653C0452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 доменско правило, тест и видљиви исходи.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20402-7CAD-42ED-A2F0-C12D4C38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8E478-6ECE-4263-9A3B-E571F743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D0AC10-5C6C-4953-B31E-8EAA718F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577568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4BCCD-AD2F-4ACD-BBF4-DE4504B3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3E8DC-FC60-4D00-ADB1-14EDB3DC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28D620-F41A-4425-A390-FE2ED58B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примера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7C223819-F8DB-405B-9248-E51EA1D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показује две гаранције које систем мора да изабере када расте.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6B76650E-6C12-4C32-94DA-0FBDB2F1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021955" cy="1144905"/>
          </a:xfrm>
          <a:prstGeom xmlns:a="http://schemas.openxmlformats.org/drawingml/2006/main" prst="roundRect">
            <a:avLst>
              <a:gd name="adj" fmla="val 831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8A96F-7D3A-4160-A943-ACC70EFF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66000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terminal · Корен Git репозиторијума nastava.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EFD99-D1AB-46ED-BA2F-2EE5E945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66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4A0B903-01B5-41F9-9438-86D3C75D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142C3FAA-8B24-4FC5-AAAE-902DC0E6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2313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cd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"03 Osnove Distribuiranog Programiranja/04 Primeri/08 Koordinacija protok"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0F0D288-EC13-41DC-80E3-A81A7BC1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F4C320F9-D021-423A-8726-79439A5E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2313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run --project src/Odp.Vezba08.ConsoleUi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CA89047-1572-4D2B-8BB9-8C33B52D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C6BD911B-5B13-4D5D-A676-EE447AD9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2313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test Odp.Vezba08.sln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39EBF-4165-49B1-9390-229C8769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32174-8649-4EFD-B033-9A4D5C3E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BB5D438-B229-4434-B010-9A2771A5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215308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6D3FAE-0990-422E-BF55-32EEC26F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EE443-7AEA-4A86-B346-44C2C927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611A8-ECD6-4852-BBA8-D65BC8E0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31152E7-A04A-432C-8937-8E29736D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 једном тренутку само један worker је власник ресурса.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2D9065F4-21B1-460F-955D-4DFD4B48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0216515" cy="3491865"/>
          </a:xfrm>
          <a:prstGeom xmlns:a="http://schemas.openxmlformats.org/drawingml/2006/main" prst="roundRect">
            <a:avLst>
              <a:gd name="adj" fmla="val 272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1EAAF-E61D-4142-A136-873C3DB6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85456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доменско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7F7E5-99E6-4C50-B27B-3DBA02A5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8545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636B00E-3E96-4CB3-A844-57508E90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FB3CA764-B78E-4D30-814D-B6CA84A0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LeaseDecision Acquire(Lease? current,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string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resource,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string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candidateId, DateTimeOffset now)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E366232-1A86-431B-B9D6-D8B398C3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D00811C5-2EDD-4D65-A3FF-CECA95B3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983F1BD-2AB6-4A8B-9012-D4F44581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AE1CF960-A2C1-4052-B5A5-5D5524C4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ArgumentException.ThrowIfNullOrWhiteSpace(resource);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9C8A3AF-E2DD-4B33-B316-9618EDCA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8189A026-DA0B-46E6-BDE9-31F1DAEF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ArgumentException.ThrowIfNullOrWhiteSpace(candidateId);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61E1BBB-A6FC-4CB0-8E82-637A4AE4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46576D26-F222-40BF-9E94-3A74E275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(current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is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null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|| now &gt;= current.ExpiresAt)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3FC75FB-32D9-490C-9F93-217410B3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E7F779D5-71C2-4D59-83C5-695BA4A8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E4EBC87-60E8-4689-AF5F-B63F9B0D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72859805-D467-441C-B2DB-74CF2E58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token = (current?.FencingToken ?? 0) + 1;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4E0C2B5-8A84-4C7E-AED1-E36FDFB4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5203F3FE-FD45-431B-A657-B6356254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LeaseCodes.Granted,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Lease(resource, candidateId, token, now +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2CBADAE-A3AB-47FF-9CAD-29EE4A64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E25E6A50-2356-4A4C-960F-92CA677D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_duration));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3F1C07B-8984-4DB3-9A45-BC8ACEB1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F0DE551C-36EC-40D4-89B5-84974C2B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BE7C11B-2D84-4FEF-B0A6-73B0D911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DCDCDABD-D89F-4A37-9130-0B0B2049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current.OwnerId == candidateId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A04E9D7-9B5F-4726-8607-F0C87F7A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A0BAD3E3-A571-4F79-BE47-4A934594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?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LeaseCodes.Renewed, current with { ExpiresAt = now + _duration })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D83A9AD-85A9-43FF-8F31-27840FFD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CB6CCAA2-C6DB-4FBE-96C3-2A3A89F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: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false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LeaseCodes.HeldByAnother, current);</a:t>
            </a:r>
          </a:p>
        </p:txBody>
      </p:sp>
      <p:sp>
        <p:nvSpPr>
          <p:cNvPr id="3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3F0B0D9-3C2B-4382-8115-37C12636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45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35" name="code-line">
            <a:extLst xmlns:a="http://schemas.openxmlformats.org/drawingml/2006/main">
              <a:ext uri="{FF2B5EF4-FFF2-40B4-BE49-F238E27FC236}">
                <a16:creationId xmlns:a16="http://schemas.microsoft.com/office/drawing/2014/main" id="{B87BAB0C-EE2B-4D38-AE47-7C3BCA5E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450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D6DD4B-82E0-4D3A-9CD8-6FAD482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DC1B18-055E-4FBA-8A6B-635B7CC5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6A68D13-EAAB-426A-8BDA-29632208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794986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88CE80-51AA-4714-A36A-681A355B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58DE3-EAD0-43F4-94B3-D5E29000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67C44C-65C5-4E6B-ABAE-17C9E84F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C12C1A1-22FD-4D19-B749-EFD53A17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После истека lease-а нови власник добија већи токен, а упис бившег власника је одбијен.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7393CA8E-A066-43DD-85A2-1BDD9B36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387715" cy="3491865"/>
          </a:xfrm>
          <a:prstGeom xmlns:a="http://schemas.openxmlformats.org/drawingml/2006/main" prst="roundRect">
            <a:avLst>
              <a:gd name="adj" fmla="val 272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9BDEF-EB81-4828-9978-F45B7881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802576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0D11E-B361-4BCB-805B-DE5565C5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80257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16FCBE1-1BAE-4FCD-92C0-874AA149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6F33732A-F032-459C-A4EA-3F5A7E6D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138A49F-5E19-430C-BF55-2291241C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370446A4-2F2C-4339-9C7D-DDFE7513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Write_WhenFormerOwnerWakesUpAfterTakeover_IsRejectedByItsStaleToken()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BF9D9B5-747F-4E7A-A0F9-23F0644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EAD48FCF-E0D2-4FF2-B8D1-AFB99224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ABDA6DA-16A6-4E18-B007-66C5A245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ADD2DDF5-B27B-4DCE-BAA1-4A753357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former = _acquire.Acquire(Resource,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"worker-a"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).Lease;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E9481E4-1062-43A9-8D10-A5A91633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4FD75D57-321D-48F9-9A68-39DE171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_clock.Advance(TimeSpan.FromSeconds(45));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34D0C0D-EEDE-49A8-9E8F-68FB9708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87153644-0ECE-4C3E-A43F-C63BE560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current = _acquire.Acquire(Resource,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"worker-b"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).Lease;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8756A2D-7286-4039-91C3-EB0E8A53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9E620375-0F20-479C-AC06-275323C3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_write.Write(Resource, current.FencingToken,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"plan B"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F16BBB4-4DA8-4F75-9B75-300208BA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739A6067-6873-4CAB-B9F3-DE0130B3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code = _write.Write(Resource, former.FencingToken,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"zakasneli plan A"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2BC4C50-7981-48A6-B826-4C0A9DB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282F78EF-6DCB-4B02-81FA-1A4E81C5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(Assert.EnterMultipleScope())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41A5F79-AFE0-4496-85F0-D93403C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2339120A-4E5B-488E-B20B-C7B09E8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DCC8033-20CC-4279-8191-CA94DD4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3335D4DC-9487-435F-9811-524BC521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Assert.That(code, Is.EqualTo(FencingCodes.StaleToken));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E0B29CA-2105-4E48-9D78-E28EE61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2DBBC5FE-BBB9-4DB3-AF17-D9B3CDE9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Assert.That(_schedules.ValueOf(Resource), Is.EqualTo(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"plan B"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));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D0AC492-8A7C-4B59-B146-CBDB28A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B785FF05-9A75-4548-83A5-565A084C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3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5136338-509D-4A25-AC53-460B3A17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45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35" name="code-line">
            <a:extLst xmlns:a="http://schemas.openxmlformats.org/drawingml/2006/main">
              <a:ext uri="{FF2B5EF4-FFF2-40B4-BE49-F238E27FC236}">
                <a16:creationId xmlns:a16="http://schemas.microsoft.com/office/drawing/2014/main" id="{C3F047FE-52A8-4B8D-BF23-D9236D0F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450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668E8E-6DB6-482A-880A-18E3607D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B60A54-1DE8-4CBE-807D-B857642C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96339FC-55D5-4B18-9BB7-B7E0B64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778659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B53E1B-BCAE-4F99-97E9-CE4275B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FF8E2-E6A0-4A92-9627-43A5684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DE2156-C1AB-4802-86A6-F9C5BBAF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Испис демонстрације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422E8A3-BB9C-4DA0-B9B5-8E2AC29D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Када је ред пун, пошиљалац добија queue_overloaded уместо тихог чекања.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5F65C06B-D2BA-43D5-BF0D-1A03EFFB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839075" cy="3278505"/>
          </a:xfrm>
          <a:prstGeom xmlns:a="http://schemas.openxmlformats.org/drawingml/2006/main" prst="roundRect">
            <a:avLst>
              <a:gd name="adj" fmla="val 290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71F5B-7FE6-4C47-A733-9F64184B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47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console · исходи демонстрације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171AD-5561-4D7E-9A4D-FB454558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47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B9FAD25-CCD0-43DC-8E23-D53EEFFC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445D4CC6-9B97-4E8C-86EB-F97E74FC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Koordinacija: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A3F93CF-4107-4DB9-B02C-2AC8A4FD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C75E8D7D-A615-48E9-A592-9FF92587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worker-a traži lease -&gt; lease_granted (vlasnik worker-a, token 1)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2DF4278-4AE3-4652-BF92-F248A54D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09CDDE35-FDF9-45B3-A41D-27957CAA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worker-b traži lease -&gt; lease_held_by_another (vlasnik worker-a, token 1)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7E673E1-A420-401C-B65C-9E82A2AA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FF14F125-5138-4BD2-85C3-77EF10F8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worker-a upisuje "plan A" sa tokenom 1 -&gt; write_accepted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A51B078-3275-4CCC-894A-E909A88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B5359159-BC97-4126-B893-771567A3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worker-a je zastao 45 s; lease je istekao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3DA868F-F5FA-45A0-8867-C5B1B31A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CA62A248-796A-418A-89F1-C6B66FFF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worker-b traži lease -&gt; lease_granted (vlasnik worker-b, token 2)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B6C3A78-7872-486F-9F8F-E8742123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C6B528B6-E169-4194-8810-C42BE8D3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worker-b upisuje "plan B" sa tokenom 2 -&gt; write_accepted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8512E4D-5581-4A04-9351-27318B15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68541502-7545-4017-9301-1B96C85E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worker-a upisuje "zakasneli plan A" sa tokenom 1 -&gt; stale_fencing_token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642148C-4956-44CF-A56D-21768FAD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2E85E673-DA51-4D3E-B389-6DEEDD9C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važeći raspored: plan B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D47E7F5-E791-464A-AD1B-E8B33C38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624E4C4B-0E2A-4841-8FF8-CA6513B9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Protok (kapacitet reda 2):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A674FF3-874F-426E-BD62-B817339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4F4D894C-9239-4C27-AFA0-FD9ADD0E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job-1 -&gt; job_accepted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1498919-3293-42C5-8FA8-83524DAC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0C06C459-6C00-477B-8422-76692CA9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job-2 -&gt; job_accepted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F1AD34B-7DA9-41AE-BA76-FF184CE9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AACB49FD-E2C6-4B53-8824-9286AD28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job-3 -&gt; queue_overloaded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0D520E-FBEA-4E19-B30F-3F2CA1FC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47BEBA-3E54-43B8-9760-C5B1724D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86503BA-AB15-4377-AE11-38FF81C1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730121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CEA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79F0C-DB48-44AE-90D1-9BB4F253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5B3F6-B2B6-49D1-A99D-10730E80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35733-53BD-4981-A79E-41CC2780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16471-5554-4920-82E7-7938DF0A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 пример и примена на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E3DEB-6C63-49B3-A502-F0D20A97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BEFF3-3F6C-4C68-B9F2-19AF2227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5A7FD38-FB12-4546-959D-41288225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425396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8A79B-9B57-4599-9DC8-02FA50CC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E609A-30E6-414D-95C9-46E94B00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7960E-7368-41EA-A4D0-FEA6662A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Принципи и замке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0C730FE-3EDB-41D7-8A12-B6F24A54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3BAF2-D303-4387-8B0C-840586CD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21877-A155-4CB8-A9D0-4D8289E2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ПРИНЦИПИ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CE843-D96B-44A9-95A3-4FBC01D1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FDDF4-FBB5-4703-86FA-AD66C0FC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Fencing токен спречава да стари власник настави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рад након преузимања.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93D7A-7D73-4DBF-B63C-6C334AB1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06F3A-8B8C-4D0C-9C61-A7F4367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Backpressure бира контролисано успоравање или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ограничен губитак пре потпуног колапса.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28017-7C5C-4D25-A0B0-2C03FFD9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29DAC-07C4-43F5-A82F-22178072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Read модел може бити застарео, али систем мора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показати колико и када то утиче на одлуку.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0178B-406B-4CF4-9208-A885FC35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2244090"/>
          </a:xfrm>
          <a:prstGeom xmlns:a="http://schemas.openxmlformats.org/drawingml/2006/main" prst="roundRect">
            <a:avLst>
              <a:gd name="adj" fmla="val 424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FD1BF-9AEB-47A2-8003-AB7D11ED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ЗАМКЕ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C5CCF-D140-4E20-BEDC-2562AD96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07177-CF45-4771-A681-3F302C6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4322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Failover покренут на основу једног кратког прекида.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0F482-307E-4078-8DDC-722B23A2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7568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84F9B-521E-418E-918E-85F39E28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8518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Неограничен ред порука који само одлаже квар.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1B294-257C-4494-AB94-B560196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76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61E0C-F0CC-4DBD-AB9D-94B1FC1C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271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Коришћење застарелог read модела као да је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ауторитативно стање.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52F17-145A-422A-A56D-D62769A4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1DC0A-8C98-4965-87C6-3A5758A0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B2E355-FC12-4FF3-BE7E-9D255A2C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20964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895EC-3132-4210-90B2-1E3F484B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AA5BD-F1E7-4BC8-8E01-5286335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57483-6E28-4529-AE95-D8182CC3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Типичне грешке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B731915-6AEE-41E0-9467-1615A9F5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190FE-CC24-45F9-8891-613552B4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CF49D-6057-47AB-8B06-7187B96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C8FA4-BCBF-4C0C-B336-62E50891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Failover због кратког прекида.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037B2-97B2-4B90-AA5A-663C5F6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4E454-F8D0-4AD3-9BA7-3BC964DF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3533E-A3DD-46C7-9E58-3956572C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Неограничен ред који само скрива проблем.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5B35D-4AA5-4511-9CFA-14EFA8D6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CFA14-1A10-49A2-B344-1ABD9FEB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79936-53EF-4271-BB54-0D023A29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Застарео приказ се тумачи као ауторитет.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E3901-AEBB-4808-BC11-8EE7DB99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2DC21-AEF9-44AB-BB84-84288672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32608B3-CA30-4861-8DD3-01134AD3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752884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BD47D-AEE8-47A4-BEA0-3EE57B85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61AE2-42E9-4781-973D-2CAE0DC3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44493B-4951-4A92-9A8F-232D9C94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принцип примењује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E02AF8C-4631-4505-B2AC-EADE20FB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EAADA-831A-4D26-99B4-5039EF10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3E726-D2C5-47EC-9479-A701CC84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5A15D-B879-42B9-855B-6E535E31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Одредити шта захтева најновије стање.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8A02B-E8FD-41D0-87E5-6B70E7B0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E6FD3-80F1-4585-B51F-E0F8F5F2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A2D90-A36F-44C9-A473-71C0C1DF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Увести прагове за промену режима рада.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4BBD0-9F7F-4DCD-A784-D0E26764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457D5-36B0-4139-848B-8DAAF86F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DDFAE-EB23-45E5-AE0E-A6EB69C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Спречити закашњелог власника јасним токеном или епохом.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4E737-D243-4375-9C75-0EEF0E2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B51E0-8ABD-4C3B-8CC6-323D2558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7EC34C9-8E41-43CF-BF9A-091A10CA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031839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37872-7082-4C0A-93F7-3063E1A4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44A96-3997-40A9-8239-AE3AF0E2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C2DE61-F23F-4A4D-AF4A-095FDADE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Питање за дискусију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5F23706-D538-4788-B5B0-DFD076B4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6E617-3E21-441B-993E-DB285761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 коју одлуку ваш систем може користити застарео приказ, а за коју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мора чекати ауторитативно стање?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99E07CFF-3F0C-4255-92FD-20E3AF7A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97536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3F7ADE6A-2FA6-4827-BB88-8D522A25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975360"/>
          </a:xfrm>
          <a:custGeom xmlns:a="http://schemas.openxmlformats.org/drawingml/2006/main">
            <a:pathLst>
              <a:path w="76200" h="97536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899160"/>
                </a:lnTo>
                <a:cubicBezTo>
                  <a:pt x="0" y="941261"/>
                  <a:pt x="34100" y="975360"/>
                  <a:pt x="76200" y="975360"/>
                </a:cubicBezTo>
                <a:lnTo>
                  <a:pt x="76200" y="937260"/>
                </a:lnTo>
                <a:cubicBezTo>
                  <a:pt x="55150" y="937260"/>
                  <a:pt x="38100" y="920210"/>
                  <a:pt x="38100" y="89916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F7569-9F4C-488B-89CA-6B17CA4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ЗА ВЕЖБУ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3AB72-8A40-42DF-9314-3687FE7C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 једну одлуку наведите да ли захтева најновије стање или може да користи застарео приказ, па објасните последицу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избора.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49B77-D830-4435-95CF-013962CD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38A0B-4751-41D2-8DFA-6B08430A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9F3387C-E267-4B9E-96C5-77B6C5B2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843680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C2BBC-33AF-4E20-9A33-3E34EA6C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74872-F5BD-4F35-92EE-D0F84FA0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B282D9-4985-44A7-BDB8-3475E443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Задатак уз пример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10CD71C-500C-4149-8749-B398F717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Проширење примера уз вежбу, правило иде у домен, а доказ у тест.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93064-5A38-4150-8113-12C28431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DDB80-31DC-43F7-9C82-150F87D4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FD69F-C99E-4E09-9DFD-9E15781D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Додати у приказ распореда податак о свежини: време последњег уписа и ознаку IsStale када је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приказ старији од задатог прага.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E4445-6482-46A9-B129-AE118489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2194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736A6-4730-4367-A603-0E48978A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4FC1E-E4E9-4688-A50D-67E21D7C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62325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Тестом показати да читалац види застарео, али јасно означен податак док власник не упише нови.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98143-6C42-498D-80F0-20A235E6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4D1AB-C796-4664-A5C7-8632DC12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103C84A-0E4F-4785-8274-E3599B1D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229380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CE3DB-BF05-478F-B9BD-85594B7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91A89-565D-4885-810B-AB90505E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55A3AB-FB4E-4A91-924A-8AB11401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Контролна тачка P4 (26.05.)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AC485E9-8787-4FD2-9CFD-44FB55AF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Последња контролна тачка (Вежба 7–8) проверава оперативни и напредни ниво: телеметрију, команде, disconnected токове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 координацију.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4E629-FE56-44F6-A47A-ADB449A2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46C22-B0CE-49C9-93B7-D2775058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17776-DFFE-4BA4-9299-A19193CF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Telemetry и command/job токови имају документовану delivery семантику.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0F34D-4A26-4F36-9ABE-99EBE900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B8A3C-4E7D-4F57-B3BD-F5897D34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FE69E-5D36-4F9E-A39F-69F4F3A0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Disconnected station ток, dead-letter/replay и transactional outbox/inbox су имплементирани.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7E155-92D6-4926-90E1-3E807E7E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A9BF5-2F94-471E-A60D-0CBB7E8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0E1A6-D54C-411A-8CDB-27BCE7E4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Најмање три евалуациона/дистрибуирана сценарија, укључујући најмање један failure/recovery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случај.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A5934-BFE4-4173-993F-1F03C320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4355554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8F4D9-3AC4-4869-92A5-08327E21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9379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91FC6-9498-4178-A2DC-F0B6E4B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98429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Сваки члан тима објашњава свој део без ослањања на аутоматски генерисан одговор.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2363F-30D6-4172-856D-50679954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0F361-A0D9-44A5-886E-8625FEF9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C4049F7-76E1-4F0D-9CDB-A4DE63A6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946949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7D5E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4761C-87CE-485D-92E4-DF519BBA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D1552-D885-40D7-ADBC-92906D28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CB004D-3961-464A-AC26-CF950AC2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Резиме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7813627-3A1B-428F-B150-19072F26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Завршна одбрана не тражи савршену архитектуру.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615A0-5ACE-474F-9800-DD68F19A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Напредни дистрибуирани дизајн не скрива компромис, већ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кориснику и оператеру јасно показује гаранцију.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8BD67872-99D3-4A8A-A3D6-D1007EBB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8E7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9763AE5B-CF2E-4893-BBAC-5F0F10E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A047A-A4BB-4D14-813B-5C5BD025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1332A-9B60-4A1B-B788-C25F69D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Завршна одбрана обухвата све теме и додељену пројектну целину.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3B676-6F6B-4490-AD0C-CBC9BA9E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81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BABC6-9064-4408-AB18-ACB878DA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43EC431-784B-4065-A74F-A7B87FA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10597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2026-10-10T19:18:18.7240000Z</dcterms:created>
  <dcterms:modified xsi:type="dcterms:W3CDTF">2026-10-10T19:18:18.7240000Z</dcterms:modified>
</coreProperties>
</file>