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f6b6e05c8444ea" /><Relationship Type="http://schemas.openxmlformats.org/officeDocument/2006/relationships/extended-properties" Target="/docProps/app.xml" Id="Rcd73dca3cb13463e" /><Relationship Type="http://schemas.openxmlformats.org/officeDocument/2006/relationships/officeDocument" Target="/ppt/presentation.xml" Id="Rff121b933cd842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d5471582bc4566"/>
  </p:sldMasterIdLst>
  <p:notesMasterIdLst>
    <p:notesMasterId xmlns:r="http://schemas.openxmlformats.org/officeDocument/2006/relationships" r:id="Reb3cb7f1b8744de7"/>
  </p:notesMasterIdLst>
  <p:sldIdLst>
    <p:sldId xmlns:r="http://schemas.openxmlformats.org/officeDocument/2006/relationships" id="256" r:id="R62811cb98279496c"/>
    <p:sldId xmlns:r="http://schemas.openxmlformats.org/officeDocument/2006/relationships" id="257" r:id="R75f78d36c9134b9f"/>
    <p:sldId xmlns:r="http://schemas.openxmlformats.org/officeDocument/2006/relationships" id="258" r:id="Rd29523ee10654856"/>
    <p:sldId xmlns:r="http://schemas.openxmlformats.org/officeDocument/2006/relationships" id="259" r:id="R748cbe64544449c6"/>
    <p:sldId xmlns:r="http://schemas.openxmlformats.org/officeDocument/2006/relationships" id="260" r:id="Racc620c732824d18"/>
    <p:sldId xmlns:r="http://schemas.openxmlformats.org/officeDocument/2006/relationships" id="261" r:id="R082ca6d95e714dc1"/>
    <p:sldId xmlns:r="http://schemas.openxmlformats.org/officeDocument/2006/relationships" id="262" r:id="R2f1bfc0820874c1f"/>
    <p:sldId xmlns:r="http://schemas.openxmlformats.org/officeDocument/2006/relationships" id="263" r:id="R50244d7a09de4e3b"/>
    <p:sldId xmlns:r="http://schemas.openxmlformats.org/officeDocument/2006/relationships" id="264" r:id="Rd634a72e27414043"/>
    <p:sldId xmlns:r="http://schemas.openxmlformats.org/officeDocument/2006/relationships" id="265" r:id="R030693f46f1b49be"/>
    <p:sldId xmlns:r="http://schemas.openxmlformats.org/officeDocument/2006/relationships" id="266" r:id="R79efca4023fa4610"/>
    <p:sldId xmlns:r="http://schemas.openxmlformats.org/officeDocument/2006/relationships" id="267" r:id="R63d76d2d977047bf"/>
    <p:sldId xmlns:r="http://schemas.openxmlformats.org/officeDocument/2006/relationships" id="268" r:id="Rec002997af4a4e69"/>
    <p:sldId xmlns:r="http://schemas.openxmlformats.org/officeDocument/2006/relationships" id="269" r:id="R3cd21bd333c147c4"/>
    <p:sldId xmlns:r="http://schemas.openxmlformats.org/officeDocument/2006/relationships" id="270" r:id="R7444152e0b674acf"/>
    <p:sldId xmlns:r="http://schemas.openxmlformats.org/officeDocument/2006/relationships" id="271" r:id="Rd769b8e475dd4f65"/>
    <p:sldId xmlns:r="http://schemas.openxmlformats.org/officeDocument/2006/relationships" id="272" r:id="Rae33bec4af6040c6"/>
    <p:sldId xmlns:r="http://schemas.openxmlformats.org/officeDocument/2006/relationships" id="273" r:id="R36b1a5b740bc4875"/>
    <p:sldId xmlns:r="http://schemas.openxmlformats.org/officeDocument/2006/relationships" id="274" r:id="R6e82d9abc281489e"/>
    <p:sldId xmlns:r="http://schemas.openxmlformats.org/officeDocument/2006/relationships" id="275" r:id="R862d993da5ca48f0"/>
    <p:sldId xmlns:r="http://schemas.openxmlformats.org/officeDocument/2006/relationships" id="276" r:id="Rd956a53f19e74bdc"/>
    <p:sldId xmlns:r="http://schemas.openxmlformats.org/officeDocument/2006/relationships" id="277" r:id="R6270be0154de4b68"/>
    <p:sldId xmlns:r="http://schemas.openxmlformats.org/officeDocument/2006/relationships" id="278" r:id="Rba11c7e6b5b74b2f"/>
    <p:sldId xmlns:r="http://schemas.openxmlformats.org/officeDocument/2006/relationships" id="279" r:id="R532b0180177d483e"/>
    <p:sldId xmlns:r="http://schemas.openxmlformats.org/officeDocument/2006/relationships" id="280" r:id="R8c584ab20e354b6c"/>
    <p:sldId xmlns:r="http://schemas.openxmlformats.org/officeDocument/2006/relationships" id="281" r:id="R852fad8f19234546"/>
    <p:sldId xmlns:r="http://schemas.openxmlformats.org/officeDocument/2006/relationships" id="282" r:id="R0c7877feca384168"/>
    <p:sldId xmlns:r="http://schemas.openxmlformats.org/officeDocument/2006/relationships" id="283" r:id="Ra455cf1471744eb4"/>
    <p:sldId xmlns:r="http://schemas.openxmlformats.org/officeDocument/2006/relationships" id="284" r:id="Rde32253a2aa34916"/>
    <p:sldId xmlns:r="http://schemas.openxmlformats.org/officeDocument/2006/relationships" id="285" r:id="R13f90ec4f1a6410b"/>
    <p:sldId xmlns:r="http://schemas.openxmlformats.org/officeDocument/2006/relationships" id="286" r:id="Reafcbe4aa1054421"/>
    <p:sldId xmlns:r="http://schemas.openxmlformats.org/officeDocument/2006/relationships" id="287" r:id="R36bca00e6e024614"/>
    <p:sldId xmlns:r="http://schemas.openxmlformats.org/officeDocument/2006/relationships" id="288" r:id="R90bbb21cf61449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eed15f5ce4dd3" /><Relationship Type="http://schemas.openxmlformats.org/officeDocument/2006/relationships/slideMaster" Target="/ppt/slideMasters/slideMaster1.xml" Id="R2cd5471582bc4566" /><Relationship Type="http://schemas.openxmlformats.org/officeDocument/2006/relationships/notesMaster" Target="/ppt/notesMasters/notesMaster1.xml" Id="Reb3cb7f1b8744de7" /><Relationship Type="http://schemas.openxmlformats.org/officeDocument/2006/relationships/presProps" Target="/ppt/presProps.xml" Id="R9eb87951fa594d55" /><Relationship Type="http://schemas.openxmlformats.org/officeDocument/2006/relationships/tableStyles" Target="/ppt/tableStyles.xml" Id="R59b953f77f814d9c" /><Relationship Type="http://schemas.openxmlformats.org/officeDocument/2006/relationships/slide" Target="/ppt/slides/slide1.xml" Id="R62811cb98279496c" /><Relationship Type="http://schemas.openxmlformats.org/officeDocument/2006/relationships/slide" Target="/ppt/slides/slide2.xml" Id="R75f78d36c9134b9f" /><Relationship Type="http://schemas.openxmlformats.org/officeDocument/2006/relationships/slide" Target="/ppt/slides/slide3.xml" Id="Rd29523ee10654856" /><Relationship Type="http://schemas.openxmlformats.org/officeDocument/2006/relationships/slide" Target="/ppt/slides/slide4.xml" Id="R748cbe64544449c6" /><Relationship Type="http://schemas.openxmlformats.org/officeDocument/2006/relationships/slide" Target="/ppt/slides/slide5.xml" Id="Racc620c732824d18" /><Relationship Type="http://schemas.openxmlformats.org/officeDocument/2006/relationships/slide" Target="/ppt/slides/slide6.xml" Id="R082ca6d95e714dc1" /><Relationship Type="http://schemas.openxmlformats.org/officeDocument/2006/relationships/slide" Target="/ppt/slides/slide7.xml" Id="R2f1bfc0820874c1f" /><Relationship Type="http://schemas.openxmlformats.org/officeDocument/2006/relationships/slide" Target="/ppt/slides/slide8.xml" Id="R50244d7a09de4e3b" /><Relationship Type="http://schemas.openxmlformats.org/officeDocument/2006/relationships/slide" Target="/ppt/slides/slide9.xml" Id="Rd634a72e27414043" /><Relationship Type="http://schemas.openxmlformats.org/officeDocument/2006/relationships/slide" Target="/ppt/slides/slide10.xml" Id="R030693f46f1b49be" /><Relationship Type="http://schemas.openxmlformats.org/officeDocument/2006/relationships/slide" Target="/ppt/slides/slide11.xml" Id="R79efca4023fa4610" /><Relationship Type="http://schemas.openxmlformats.org/officeDocument/2006/relationships/slide" Target="/ppt/slides/slide12.xml" Id="R63d76d2d977047bf" /><Relationship Type="http://schemas.openxmlformats.org/officeDocument/2006/relationships/slide" Target="/ppt/slides/slide13.xml" Id="Rec002997af4a4e69" /><Relationship Type="http://schemas.openxmlformats.org/officeDocument/2006/relationships/slide" Target="/ppt/slides/slide14.xml" Id="R3cd21bd333c147c4" /><Relationship Type="http://schemas.openxmlformats.org/officeDocument/2006/relationships/slide" Target="/ppt/slides/slide15.xml" Id="R7444152e0b674acf" /><Relationship Type="http://schemas.openxmlformats.org/officeDocument/2006/relationships/slide" Target="/ppt/slides/slide16.xml" Id="Rd769b8e475dd4f65" /><Relationship Type="http://schemas.openxmlformats.org/officeDocument/2006/relationships/slide" Target="/ppt/slides/slide17.xml" Id="Rae33bec4af6040c6" /><Relationship Type="http://schemas.openxmlformats.org/officeDocument/2006/relationships/slide" Target="/ppt/slides/slide18.xml" Id="R36b1a5b740bc4875" /><Relationship Type="http://schemas.openxmlformats.org/officeDocument/2006/relationships/slide" Target="/ppt/slides/slide19.xml" Id="R6e82d9abc281489e" /><Relationship Type="http://schemas.openxmlformats.org/officeDocument/2006/relationships/slide" Target="/ppt/slides/slide20.xml" Id="R862d993da5ca48f0" /><Relationship Type="http://schemas.openxmlformats.org/officeDocument/2006/relationships/slide" Target="/ppt/slides/slide21.xml" Id="Rd956a53f19e74bdc" /><Relationship Type="http://schemas.openxmlformats.org/officeDocument/2006/relationships/slide" Target="/ppt/slides/slide22.xml" Id="R6270be0154de4b68" /><Relationship Type="http://schemas.openxmlformats.org/officeDocument/2006/relationships/slide" Target="/ppt/slides/slide23.xml" Id="Rba11c7e6b5b74b2f" /><Relationship Type="http://schemas.openxmlformats.org/officeDocument/2006/relationships/slide" Target="/ppt/slides/slide24.xml" Id="R532b0180177d483e" /><Relationship Type="http://schemas.openxmlformats.org/officeDocument/2006/relationships/slide" Target="/ppt/slides/slide25.xml" Id="R8c584ab20e354b6c" /><Relationship Type="http://schemas.openxmlformats.org/officeDocument/2006/relationships/slide" Target="/ppt/slides/slide26.xml" Id="R852fad8f19234546" /><Relationship Type="http://schemas.openxmlformats.org/officeDocument/2006/relationships/slide" Target="/ppt/slides/slide27.xml" Id="R0c7877feca384168" /><Relationship Type="http://schemas.openxmlformats.org/officeDocument/2006/relationships/slide" Target="/ppt/slides/slide28.xml" Id="Ra455cf1471744eb4" /><Relationship Type="http://schemas.openxmlformats.org/officeDocument/2006/relationships/slide" Target="/ppt/slides/slide29.xml" Id="Rde32253a2aa34916" /><Relationship Type="http://schemas.openxmlformats.org/officeDocument/2006/relationships/slide" Target="/ppt/slides/slide30.xml" Id="R13f90ec4f1a6410b" /><Relationship Type="http://schemas.openxmlformats.org/officeDocument/2006/relationships/slide" Target="/ppt/slides/slide31.xml" Id="Reafcbe4aa1054421" /><Relationship Type="http://schemas.openxmlformats.org/officeDocument/2006/relationships/slide" Target="/ppt/slides/slide32.xml" Id="R36bca00e6e024614" /><Relationship Type="http://schemas.openxmlformats.org/officeDocument/2006/relationships/slide" Target="/ppt/slides/slide33.xml" Id="R90bbb21cf61449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b9985b8339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96d02556664575" /><Relationship Type="http://schemas.openxmlformats.org/officeDocument/2006/relationships/notesMaster" Target="/ppt/notesMasters/notesMaster1.xml" Id="Rf7e0d0e48bcf4e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e811a7aae44f1f" /><Relationship Type="http://schemas.openxmlformats.org/officeDocument/2006/relationships/notesMaster" Target="/ppt/notesMasters/notesMaster1.xml" Id="Rbf992327a0cd43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3d9d341b794026" /><Relationship Type="http://schemas.openxmlformats.org/officeDocument/2006/relationships/notesMaster" Target="/ppt/notesMasters/notesMaster1.xml" Id="Rb832949d3da3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12071d07124022" /><Relationship Type="http://schemas.openxmlformats.org/officeDocument/2006/relationships/notesMaster" Target="/ppt/notesMasters/notesMaster1.xml" Id="R63f7dcddefca4f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aff8d5cd074c8e" /><Relationship Type="http://schemas.openxmlformats.org/officeDocument/2006/relationships/notesMaster" Target="/ppt/notesMasters/notesMaster1.xml" Id="R865339bfdb3940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3a0f149b604388" /><Relationship Type="http://schemas.openxmlformats.org/officeDocument/2006/relationships/notesMaster" Target="/ppt/notesMasters/notesMaster1.xml" Id="Rd1915201452e40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8085829d114305" /><Relationship Type="http://schemas.openxmlformats.org/officeDocument/2006/relationships/notesMaster" Target="/ppt/notesMasters/notesMaster1.xml" Id="R538b5339821e4e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346890af054c27" /><Relationship Type="http://schemas.openxmlformats.org/officeDocument/2006/relationships/notesMaster" Target="/ppt/notesMasters/notesMaster1.xml" Id="Rdb0a5055033a4d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96c04690e64764" /><Relationship Type="http://schemas.openxmlformats.org/officeDocument/2006/relationships/notesMaster" Target="/ppt/notesMasters/notesMaster1.xml" Id="R2700f09f079044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de30e64b6942d2" /><Relationship Type="http://schemas.openxmlformats.org/officeDocument/2006/relationships/notesMaster" Target="/ppt/notesMasters/notesMaster1.xml" Id="R6d2b48081d5644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e224e02f84422a" /><Relationship Type="http://schemas.openxmlformats.org/officeDocument/2006/relationships/notesMaster" Target="/ppt/notesMasters/notesMaster1.xml" Id="Rf29dd27bd97a48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0fba214b5c4ef5" /><Relationship Type="http://schemas.openxmlformats.org/officeDocument/2006/relationships/notesMaster" Target="/ppt/notesMasters/notesMaster1.xml" Id="R2073e1f0554847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edf93abbd6436c" /><Relationship Type="http://schemas.openxmlformats.org/officeDocument/2006/relationships/notesMaster" Target="/ppt/notesMasters/notesMaster1.xml" Id="R997b062a0af442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26d1857b8e40f9" /><Relationship Type="http://schemas.openxmlformats.org/officeDocument/2006/relationships/notesMaster" Target="/ppt/notesMasters/notesMaster1.xml" Id="R7e89e23d38c14c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500bbaa4474900" /><Relationship Type="http://schemas.openxmlformats.org/officeDocument/2006/relationships/notesMaster" Target="/ppt/notesMasters/notesMaster1.xml" Id="R18f9a02b476945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3ef68d5c4a4043" /><Relationship Type="http://schemas.openxmlformats.org/officeDocument/2006/relationships/notesMaster" Target="/ppt/notesMasters/notesMaster1.xml" Id="Rcb076c98e71e47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0a8ddd7fbe4262" /><Relationship Type="http://schemas.openxmlformats.org/officeDocument/2006/relationships/notesMaster" Target="/ppt/notesMasters/notesMaster1.xml" Id="R387f7479608043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466c72604c40ea" /><Relationship Type="http://schemas.openxmlformats.org/officeDocument/2006/relationships/notesMaster" Target="/ppt/notesMasters/notesMaster1.xml" Id="R0c4295483a4a4d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aa3da7c9954a05" /><Relationship Type="http://schemas.openxmlformats.org/officeDocument/2006/relationships/notesMaster" Target="/ppt/notesMasters/notesMaster1.xml" Id="R965da9a24d2d43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f13d14cd584843" /><Relationship Type="http://schemas.openxmlformats.org/officeDocument/2006/relationships/notesMaster" Target="/ppt/notesMasters/notesMaster1.xml" Id="R82b639d8791346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157b9bf12149c0" /><Relationship Type="http://schemas.openxmlformats.org/officeDocument/2006/relationships/notesMaster" Target="/ppt/notesMasters/notesMaster1.xml" Id="R42007efd5f51431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b6d7e7282fa40ba" /><Relationship Type="http://schemas.openxmlformats.org/officeDocument/2006/relationships/notesMaster" Target="/ppt/notesMasters/notesMaster1.xml" Id="Ra3ce3ce8017c4db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4ab2459ecd4154" /><Relationship Type="http://schemas.openxmlformats.org/officeDocument/2006/relationships/notesMaster" Target="/ppt/notesMasters/notesMaster1.xml" Id="R33bdaf7ed5e94f1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db2903f0ed44c7c" /><Relationship Type="http://schemas.openxmlformats.org/officeDocument/2006/relationships/notesMaster" Target="/ppt/notesMasters/notesMaster1.xml" Id="Re5b349669fee417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d02ffaf563942b7" /><Relationship Type="http://schemas.openxmlformats.org/officeDocument/2006/relationships/notesMaster" Target="/ppt/notesMasters/notesMaster1.xml" Id="R209da6c3a71c4d2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4ed4f7af534dd7" /><Relationship Type="http://schemas.openxmlformats.org/officeDocument/2006/relationships/notesMaster" Target="/ppt/notesMasters/notesMaster1.xml" Id="R7aae5e7df86845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cbc57d28a54396" /><Relationship Type="http://schemas.openxmlformats.org/officeDocument/2006/relationships/notesMaster" Target="/ppt/notesMasters/notesMaster1.xml" Id="R75be38b566af49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e236eccab94643" /><Relationship Type="http://schemas.openxmlformats.org/officeDocument/2006/relationships/notesMaster" Target="/ppt/notesMasters/notesMaster1.xml" Id="Ra477d49812f04f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ad4cc21f3f4446b" /><Relationship Type="http://schemas.openxmlformats.org/officeDocument/2006/relationships/notesMaster" Target="/ppt/notesMasters/notesMaster1.xml" Id="R7847501ac73042f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71983baa24f4f16" /><Relationship Type="http://schemas.openxmlformats.org/officeDocument/2006/relationships/notesMaster" Target="/ppt/notesMasters/notesMaster1.xml" Id="Rfa1b9a06473e433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b76814d4be14756" /><Relationship Type="http://schemas.openxmlformats.org/officeDocument/2006/relationships/notesMaster" Target="/ppt/notesMasters/notesMaster1.xml" Id="Radce5951413945e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2fd0defef234e91" /><Relationship Type="http://schemas.openxmlformats.org/officeDocument/2006/relationships/notesMaster" Target="/ppt/notesMasters/notesMaster1.xml" Id="Rf570729cc5364f5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b3ae4a80baf413b" /><Relationship Type="http://schemas.openxmlformats.org/officeDocument/2006/relationships/notesMaster" Target="/ppt/notesMasters/notesMaster1.xml" Id="R38a153e39bb54e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Попречни слој за разумевање тока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Разумети како се операција прати кроз више компоненти без губитка контекста.</a:t>
            </a:r>
          </a:p>
          <a:p xmlns:a="http://schemas.openxmlformats.org/drawingml/2006/main">
            <a:r>
              <a:t>Када се ток прекине, засебни логови не дају одговор ко је покренуо радњу, шта се догодило и под којим условима.</a:t>
            </a:r>
          </a:p>
          <a:p xmlns:a="http://schemas.openxmlformats.org/drawingml/2006/main">
            <a:r>
              <a:t>Заједнички контекст и audit омогућавају реконструкцију тока, док конфигурација чува видљиве услове под којима систем ради.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Дистрибуирани систем мора моћи да одговори на четири питања: ко је покренуо радњу, шта се догодило, кроз које компоненте је ток прошао и под којим условима је радио.</a:t>
            </a:r>
          </a:p>
          <a:p xmlns:a="http://schemas.openxmlformats.org/drawingml/2006/main">
            <a:r>
              <a:t>ко покреће радњу</a:t>
            </a:r>
          </a:p>
          <a:p xmlns:a="http://schemas.openxmlformats.org/drawingml/2006/main">
            <a:r>
              <a:t>један ток кроз компоненте</a:t>
            </a:r>
          </a:p>
          <a:p xmlns:a="http://schemas.openxmlformats.org/drawingml/2006/main">
            <a:r>
              <a:t>пословно значајна одлука</a:t>
            </a:r>
          </a:p>
          <a:p xmlns:a="http://schemas.openxmlformats.org/drawingml/2006/main">
            <a:r>
              <a:t>услови рада система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Идентитет показује ко или шта је покренуло радњу. Без њега није могуће повезати захтев са одговорношћу и правом приступа.</a:t>
            </a:r>
          </a:p>
          <a:p xmlns:a="http://schemas.openxmlformats.org/drawingml/2006/main">
            <a:r>
              <a:t>Повезује захтев са одговорношћу и правом приступа.</a:t>
            </a:r>
          </a:p>
          <a:p xmlns:a="http://schemas.openxmlformats.org/drawingml/2006/main">
            <a:r>
              <a:t>Проверава се и улога и припадност мисији.</a:t>
            </a:r>
          </a:p>
          <a:p xmlns:a="http://schemas.openxmlformats.org/drawingml/2006/main">
            <a:r>
              <a:t>Нема одлуку о приступу без познатог идентитета.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Исти корелациони идентификатор прати операцију кроз API, ред и worker. Он омогућава да се више техничких трагова прочита као један ток.</a:t>
            </a:r>
          </a:p>
          <a:p xmlns:a="http://schemas.openxmlformats.org/drawingml/2006/main">
            <a:r>
              <a:t>Исти идентификатор кроз API, ред и worker.</a:t>
            </a:r>
          </a:p>
          <a:p xmlns:a="http://schemas.openxmlformats.org/drawingml/2006/main">
            <a:r>
              <a:t>Спаја техничке трагове у један разумљив ток.</a:t>
            </a:r>
          </a:p>
          <a:p xmlns:a="http://schemas.openxmlformats.org/drawingml/2006/main">
            <a:r>
              <a:t>Не сме се регенерисати у сваком слоју.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бележи одлуке које имају пословни или безбедносни значај: ко је шта променио, када и са којим исходом. Није замена за сваки технички лог.</a:t>
            </a:r>
          </a:p>
          <a:p xmlns:a="http://schemas.openxmlformats.org/drawingml/2006/main">
            <a:r>
              <a:t>Бележи пословно и безбедносно значајне одлуке.</a:t>
            </a:r>
          </a:p>
          <a:p xmlns:a="http://schemas.openxmlformats.org/drawingml/2006/main">
            <a:r>
              <a:t>Append-only и претражив по correlation id-у.</a:t>
            </a:r>
          </a:p>
          <a:p xmlns:a="http://schemas.openxmlformats.org/drawingml/2006/main">
            <a:r>
              <a:t>Није замена за сваки технички лог.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Конфигурација одређује под којим условима компонента ради. Валидне вредности, извор и промена конфигурације морају бити видљиви тиму.</a:t>
            </a:r>
          </a:p>
          <a:p xmlns:a="http://schemas.openxmlformats.org/drawingml/2006/main">
            <a:r>
              <a:t>Одређује услове рада компоненте.</a:t>
            </a:r>
          </a:p>
          <a:p xmlns:a="http://schemas.openxmlformats.org/drawingml/2006/main">
            <a:r>
              <a:t>Валидан опсег и извор морају бити видљиви.</a:t>
            </a:r>
          </a:p>
          <a:p xmlns:a="http://schemas.openxmlformats.org/drawingml/2006/main">
            <a:r>
              <a:t>Промена конфигурације је следљива, не тиха.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Корисник покреће операцију кроз API, API објављује поруку, а worker завршава обраду.</a:t>
            </a:r>
          </a:p>
          <a:p xmlns:a="http://schemas.openxmlformats.org/drawingml/2006/main">
            <a:r>
              <a:t>Корелациони идентификатор настаје на граници тока и преноси се даље.</a:t>
            </a:r>
          </a:p>
          <a:p xmlns:a="http://schemas.openxmlformats.org/drawingml/2006/main">
            <a:r>
              <a:t>Audit чува одлуке које утичу на одговорност, док лог чува технички контекст.</a:t>
            </a:r>
          </a:p>
          <a:p xmlns:a="http://schemas.openxmlformats.org/drawingml/2006/main">
            <a:r>
              <a:t>Конфигурација одређује очекивано понашање, као што су рокови и прагови, и мора бити проверљива.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Један контекст пролази кроз све компоненте, па се неуспех може објаснити без нагађања.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у извору користи op-42 и ActorId ana. CorrelationId прелази границе компоненти. Audit бележи и одбијен захтев. Конфигурација има валидан опсег и видљив извор.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прати једну операцију кроз две компоненте.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Исти CorrelationId види се у логу станице и у ревизијском трагу центра.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 који задаје квар</a:t>
            </a:r>
          </a:p>
          <a:p xmlns:a="http://schemas.openxmlformats.org/drawingml/2006/main">
            <a:r>
              <a:t>Ревизијски запис настаје и када је захтев одбијен пре позива станице.</a:t>
            </a:r>
          </a:p>
          <a:p xmlns:a="http://schemas.openxmlformats.org/drawingml/2006/main">
            <a:r>
              <a:t>Тест показује да успешан захтев преноси исти CorrelationId до станице и ревизијског трага.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 показује да успешан захтев преноси исти CorrelationId до станице и ревизијског трага.</a:t>
            </a:r>
          </a:p>
          <a:p xmlns:a="http://schemas.openxmlformats.org/drawingml/2006/main">
            <a:r>
              <a:t>Ревизијски запис настаје и када је захтев одбијен пре позива станице.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 показује да успешан захтев преноси исти CorrelationId до станице и ревизијског трага.</a:t>
            </a:r>
          </a:p>
          <a:p xmlns:a="http://schemas.openxmlformats.org/drawingml/2006/main">
            <a:r>
              <a:t>Ревизијски запис настаје и када је захтев одбијен пре позива станице.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постоји и за одбијен захтев</a:t>
            </a:r>
          </a:p>
          <a:p xmlns:a="http://schemas.openxmlformats.org/drawingml/2006/main">
            <a:r>
              <a:t>Лимит је 15 минута, а захтев траје 40 минута. SetUp припрема исти handler, audit log и station gateway као у претходном тесту.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Невалидан захтев добија duration_too_long, станица се не позива, а одбијање остаје у ревизијском трагу.</a:t>
            </a:r>
          </a:p>
          <a:p xmlns:a="http://schemas.openxmlformats.org/drawingml/2006/main">
            <a:r>
              <a:t>Лимит је 15 минута, а захтев траје 40 минута. SetUp припрема исти handler, audit log и station gateway као у претходном тесту.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Испис демонстрације</a:t>
            </a:r>
          </a:p>
          <a:p xmlns:a="http://schemas.openxmlformats.org/drawingml/2006/main">
            <a:r>
              <a:t>Неисправна конфигурација зауставља покретање са кодом грешке.</a:t>
            </a:r>
          </a:p>
          <a:p xmlns:a="http://schemas.openxmlformats.org/drawingml/2006/main">
            <a:r>
              <a:t>Испис повезује успешан контакт и два неуспешна исхода са одговарајућим корелационим идентификаторима.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Испис повезује успешан контакт и два неуспешна исхода са одговарајућим корелационим идентификаторима.</a:t>
            </a:r>
          </a:p>
          <a:p xmlns:a="http://schemas.openxmlformats.org/drawingml/2006/main">
            <a:r>
              <a:t>Неисправна конфигурација зауставља покретање са кодом грешке.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MaxDuration мора бити већи од нуле и највише 60 минута. Провера се извршава пре конструисања use case-а.</a:t>
            </a:r>
          </a:p>
          <a:p xmlns:a="http://schemas.openxmlformats.org/drawingml/2006/main">
            <a:r>
              <a:t>MaxDuration = 0 → config_max_duration_must_be_positive</a:t>
            </a:r>
          </a:p>
          <a:p xmlns:a="http://schemas.openxmlformats.org/drawingml/2006/main">
            <a:r>
              <a:t>MaxDuration = 61 min → config_max_duration_above_hard_limit</a:t>
            </a:r>
          </a:p>
          <a:p xmlns:a="http://schemas.openxmlformats.org/drawingml/2006/main">
            <a:r>
              <a:t>Покретање → TryCreateDemo враћа Demo = null, а Program исписује код грешке и враћа exit code 1.</a:t>
            </a:r>
          </a:p>
          <a:p xmlns:a="http://schemas.openxmlformats.org/drawingml/2006/main">
            <a:r>
              <a:t>Изворни тест проверава validator. Прекид покретања потврђен је читањем CompositionRoot/Program кода, без тврдње да постоји end-to-end startup тест.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MaxDuration мора бити већи од нуле и највише 60 минута. Провера се извршава пре конструисања use case-а.</a:t>
            </a:r>
          </a:p>
          <a:p xmlns:a="http://schemas.openxmlformats.org/drawingml/2006/main">
            <a:r>
              <a:t>Изворни тест проверава validator. Прекид покретања потврђен је читањем CompositionRoot/Program кода, без тврдње да постоји end-to-end startup тест.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важи тек када је препозната и замка која га тихо поништава.</a:t>
            </a:r>
          </a:p>
          <a:p xmlns:a="http://schemas.openxmlformats.org/drawingml/2006/main">
            <a:r>
              <a:t>Audit чува одлуке које су важне за одговорност и истрагу.</a:t>
            </a:r>
          </a:p>
          <a:p xmlns:a="http://schemas.openxmlformats.org/drawingml/2006/main">
            <a:r>
              <a:t>Логови и трагови чувају технички контекст, али не тајне.</a:t>
            </a:r>
          </a:p>
          <a:p xmlns:a="http://schemas.openxmlformats.org/drawingml/2006/main">
            <a:r>
              <a:t>Конфигурација има валидно значење, власника и начин промене.</a:t>
            </a:r>
          </a:p>
          <a:p xmlns:a="http://schemas.openxmlformats.org/drawingml/2006/main">
            <a:r>
              <a:t>Лог који открива креденцијале или личне податке.</a:t>
            </a:r>
          </a:p>
          <a:p xmlns:a="http://schemas.openxmlformats.org/drawingml/2006/main">
            <a:r>
              <a:t>Корелациони идентификатор креиран у свакој компоненти уместо пренет.</a:t>
            </a:r>
          </a:p>
          <a:p xmlns:a="http://schemas.openxmlformats.org/drawingml/2006/main">
            <a:r>
              <a:t>Конфигурација прихваћена без провере опсега и утицаја.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Ове грешке се најчешће понављају када се принцип површно примени.</a:t>
            </a:r>
          </a:p>
          <a:p xmlns:a="http://schemas.openxmlformats.org/drawingml/2006/main">
            <a:r>
              <a:t>Тајне у логовима.</a:t>
            </a:r>
          </a:p>
          <a:p xmlns:a="http://schemas.openxmlformats.org/drawingml/2006/main">
            <a:r>
              <a:t>Нови корелациони идентификатор у сваком слоју.</a:t>
            </a:r>
          </a:p>
          <a:p xmlns:a="http://schemas.openxmlformats.org/drawingml/2006/main">
            <a:r>
              <a:t>Конфигурација без валидног опсега.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Кораци показују како се принцип препознаје и доследно спроводи у развоју.</a:t>
            </a:r>
          </a:p>
          <a:p xmlns:a="http://schemas.openxmlformats.org/drawingml/2006/main">
            <a:r>
              <a:t>Пратити неколико важних токова од захтева до исхода.</a:t>
            </a:r>
          </a:p>
          <a:p xmlns:a="http://schemas.openxmlformats.org/drawingml/2006/main">
            <a:r>
              <a:t>Преносити исти контекст кроз границе.</a:t>
            </a:r>
          </a:p>
          <a:p xmlns:a="http://schemas.openxmlformats.org/drawingml/2006/main">
            <a:r>
              <a:t>Тестирати промењен или невалидан услов рада.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Одговор се образлаже failure сценаријем и тестом, а не описом срећног пута.</a:t>
            </a:r>
          </a:p>
          <a:p xmlns:a="http://schemas.openxmlformats.org/drawingml/2006/main">
            <a:r>
              <a:t>Како бисте за један неуспешан захтев спојили траг из API-ја, реда порука и workera?</a:t>
            </a:r>
          </a:p>
          <a:p xmlns:a="http://schemas.openxmlformats.org/drawingml/2006/main">
            <a:r>
              <a:t>Како бисте реконструисали једну неуспелу операцију која је прошла кроз API, ред порука и worker, а да не читате неограничену количину логова?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Проширење примера уз вежбу, правило иде у домен, а доказ у тест.</a:t>
            </a:r>
          </a:p>
          <a:p xmlns:a="http://schemas.openxmlformats.org/drawingml/2006/main">
            <a:r>
              <a:t>Додати у OperationContext идентификатор позивајуће компоненте (Source) и уписати га у ревизијски запис.</a:t>
            </a:r>
          </a:p>
          <a:p xmlns:a="http://schemas.openxmlformats.org/drawingml/2006/main">
            <a:r>
              <a:t>Проширити тест тако да доказује да запис садржи и извор операције.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Принцип са вежбе примењује се на додељену пројектну целину.</a:t>
            </a:r>
          </a:p>
          <a:p xmlns:a="http://schemas.openxmlformats.org/drawingml/2006/main">
            <a:r>
              <a:t>Идентификовати конкретну дистрибуирану одлуку у својој целини.</a:t>
            </a:r>
          </a:p>
          <a:p xmlns:a="http://schemas.openxmlformats.org/drawingml/2006/main">
            <a:r>
              <a:t>Имплементирати је са стабилним кодом исхода.</a:t>
            </a:r>
          </a:p>
          <a:p xmlns:a="http://schemas.openxmlformats.org/drawingml/2006/main">
            <a:r>
              <a:t>Припремити поновљив failure сценарио и тест који га доказује.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Тим бира неколико операција које мора умети да прати од захтева до исхода.</a:t>
            </a:r>
          </a:p>
          <a:p xmlns:a="http://schemas.openxmlformats.org/drawingml/2006/main">
            <a:r>
              <a:t>Један контекст пролази кроз све компоненте, па се неуспех може објаснити без нагађања.</a:t>
            </a:r>
          </a:p>
          <a:p xmlns:a="http://schemas.openxmlformats.org/drawingml/2006/main">
            <a:r>
              <a:t>Наредна вежба: Верзионисање и failure-first тестирање.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651d758ec45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10a48c8404c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f0171dda345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3d0ef3ce94e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64ef3fc434e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ab7021d344d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A12121-A758-4C51-87F6-3592F164C6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4D2596-60D0-4727-959F-DB9D7CB1B4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91384B-1111-4EB4-AEBA-CDF2308D55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0CEB0E-DF75-4A59-AFA3-B13A1E640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2F59E8-075F-4EED-94A9-AD63101FFC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5AB89A-FE9C-4DBB-93AA-0D615A04DE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7D29BA-5B5A-4660-9AEC-99BD9B07D0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44D7D2-D6D5-402A-B133-996A56524C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0A56DC-7160-4B4D-A2DB-53CB17375E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C1E908-3975-4106-9830-865FB979B9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8186418f0c4e5b" /><Relationship Type="http://schemas.openxmlformats.org/officeDocument/2006/relationships/slideLayout" Target="/ppt/slideLayouts/slideLayout1.xml" Id="Rbd0c16dcadb64b52" /><Relationship Type="http://schemas.openxmlformats.org/officeDocument/2006/relationships/slideLayout" Target="/ppt/slideLayouts/slideLayout2.xml" Id="Ra6e9cb8997f745b6" /><Relationship Type="http://schemas.openxmlformats.org/officeDocument/2006/relationships/slideLayout" Target="/ppt/slideLayouts/slideLayout3.xml" Id="Rf927d111fc764e58" /><Relationship Type="http://schemas.openxmlformats.org/officeDocument/2006/relationships/slideLayout" Target="/ppt/slideLayouts/slideLayout4.xml" Id="R03d5b7bb0ead41c7" /><Relationship Type="http://schemas.openxmlformats.org/officeDocument/2006/relationships/slideLayout" Target="/ppt/slideLayouts/slideLayout5.xml" Id="R3d32b7ab1c204f58" /><Relationship Type="http://schemas.openxmlformats.org/officeDocument/2006/relationships/slideLayout" Target="/ppt/slideLayouts/slideLayout6.xml" Id="R09fbd7fed72e4c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0c16dcadb64b52"/>
    <p:sldLayoutId xmlns:r="http://schemas.openxmlformats.org/officeDocument/2006/relationships" id="2147483650" r:id="Ra6e9cb8997f745b6"/>
    <p:sldLayoutId xmlns:r="http://schemas.openxmlformats.org/officeDocument/2006/relationships" id="2147483651" r:id="Rf927d111fc764e58"/>
    <p:sldLayoutId xmlns:r="http://schemas.openxmlformats.org/officeDocument/2006/relationships" id="2147483652" r:id="R03d5b7bb0ead41c7"/>
    <p:sldLayoutId xmlns:r="http://schemas.openxmlformats.org/officeDocument/2006/relationships" id="2147483653" r:id="R3d32b7ab1c204f58"/>
    <p:sldLayoutId xmlns:r="http://schemas.openxmlformats.org/officeDocument/2006/relationships" id="2147483654" r:id="R09fbd7fed72e4c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fca776262a489a" /><Relationship Type="http://schemas.openxmlformats.org/officeDocument/2006/relationships/notesSlide" Target="/ppt/notesSlides/notesSlide1.xml" Id="R78234db594804c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72260126042b9" /><Relationship Type="http://schemas.openxmlformats.org/officeDocument/2006/relationships/notesSlide" Target="/ppt/notesSlides/notesSlide2.xml" Id="R9484c8ce0e6345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b873598dfa42af" /><Relationship Type="http://schemas.openxmlformats.org/officeDocument/2006/relationships/notesSlide" Target="/ppt/notesSlides/notesSlide3.xml" Id="R22bc7038f71049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97f8951214aa3" /><Relationship Type="http://schemas.openxmlformats.org/officeDocument/2006/relationships/notesSlide" Target="/ppt/notesSlides/notesSlide4.xml" Id="R780809386c1043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ad57e54584a8c" /><Relationship Type="http://schemas.openxmlformats.org/officeDocument/2006/relationships/notesSlide" Target="/ppt/notesSlides/notesSlide5.xml" Id="R62d8635636a447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f975341b4c4939" /><Relationship Type="http://schemas.openxmlformats.org/officeDocument/2006/relationships/notesSlide" Target="/ppt/notesSlides/notesSlide6.xml" Id="R422fdd42257446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de7aafd1d4339" /><Relationship Type="http://schemas.openxmlformats.org/officeDocument/2006/relationships/notesSlide" Target="/ppt/notesSlides/notesSlide7.xml" Id="R46498e400d5345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e73e35c274de0" /><Relationship Type="http://schemas.openxmlformats.org/officeDocument/2006/relationships/notesSlide" Target="/ppt/notesSlides/notesSlide8.xml" Id="R4e5a43a321bb40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7d752eec5248c1" /><Relationship Type="http://schemas.openxmlformats.org/officeDocument/2006/relationships/notesSlide" Target="/ppt/notesSlides/notesSlide9.xml" Id="R52a23278e0464e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140c9d7ea4a5a" /><Relationship Type="http://schemas.openxmlformats.org/officeDocument/2006/relationships/notesSlide" Target="/ppt/notesSlides/notesSlide10.xml" Id="Rc8c0e03aca444f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9db68e78c4b88" /><Relationship Type="http://schemas.openxmlformats.org/officeDocument/2006/relationships/notesSlide" Target="/ppt/notesSlides/notesSlide11.xml" Id="R42dfd595e50347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45945a1724d35" /><Relationship Type="http://schemas.openxmlformats.org/officeDocument/2006/relationships/notesSlide" Target="/ppt/notesSlides/notesSlide12.xml" Id="Rcb4c23994c7a49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e438e016d45bf" /><Relationship Type="http://schemas.openxmlformats.org/officeDocument/2006/relationships/notesSlide" Target="/ppt/notesSlides/notesSlide13.xml" Id="R5b5a8507969d42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6eb792920486f" /><Relationship Type="http://schemas.openxmlformats.org/officeDocument/2006/relationships/notesSlide" Target="/ppt/notesSlides/notesSlide14.xml" Id="Rfc1a7dcad0f14f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84df2940a4c32" /><Relationship Type="http://schemas.openxmlformats.org/officeDocument/2006/relationships/notesSlide" Target="/ppt/notesSlides/notesSlide15.xml" Id="Re84da5b58d4a4c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23ab179cc4e87" /><Relationship Type="http://schemas.openxmlformats.org/officeDocument/2006/relationships/notesSlide" Target="/ppt/notesSlides/notesSlide16.xml" Id="Rbd6ce6997ac345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784aa13f94cd3" /><Relationship Type="http://schemas.openxmlformats.org/officeDocument/2006/relationships/notesSlide" Target="/ppt/notesSlides/notesSlide17.xml" Id="R295e8ee1aeb045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4e91515aa461a" /><Relationship Type="http://schemas.openxmlformats.org/officeDocument/2006/relationships/notesSlide" Target="/ppt/notesSlides/notesSlide18.xml" Id="R96a917cbb5274e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8bca4a0ff4f23" /><Relationship Type="http://schemas.openxmlformats.org/officeDocument/2006/relationships/notesSlide" Target="/ppt/notesSlides/notesSlide19.xml" Id="Rab57d9a41afe41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a3f87274f4ec3" /><Relationship Type="http://schemas.openxmlformats.org/officeDocument/2006/relationships/notesSlide" Target="/ppt/notesSlides/notesSlide20.xml" Id="Rd42f90d815dd4a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7e75330034500" /><Relationship Type="http://schemas.openxmlformats.org/officeDocument/2006/relationships/notesSlide" Target="/ppt/notesSlides/notesSlide21.xml" Id="Rbdb0901ed56144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6300e395647a3" /><Relationship Type="http://schemas.openxmlformats.org/officeDocument/2006/relationships/notesSlide" Target="/ppt/notesSlides/notesSlide22.xml" Id="Rb32ef1ae181b48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124a34a73b425f" /><Relationship Type="http://schemas.openxmlformats.org/officeDocument/2006/relationships/notesSlide" Target="/ppt/notesSlides/notesSlide23.xml" Id="Rca850c97b51d46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531b2d3aea4df4" /><Relationship Type="http://schemas.openxmlformats.org/officeDocument/2006/relationships/notesSlide" Target="/ppt/notesSlides/notesSlide24.xml" Id="Rbac2bf4bc2214ec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8a5130a804313" /><Relationship Type="http://schemas.openxmlformats.org/officeDocument/2006/relationships/notesSlide" Target="/ppt/notesSlides/notesSlide25.xml" Id="Rb33fddee964446e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92a1417d984576" /><Relationship Type="http://schemas.openxmlformats.org/officeDocument/2006/relationships/notesSlide" Target="/ppt/notesSlides/notesSlide26.xml" Id="R7e324af1391a4c0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27939d8e44491" /><Relationship Type="http://schemas.openxmlformats.org/officeDocument/2006/relationships/notesSlide" Target="/ppt/notesSlides/notesSlide27.xml" Id="Rcbd8aab436e548e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2e9877d0247eb" /><Relationship Type="http://schemas.openxmlformats.org/officeDocument/2006/relationships/notesSlide" Target="/ppt/notesSlides/notesSlide28.xml" Id="R4cecc6f82f234e8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107cf637d494a" /><Relationship Type="http://schemas.openxmlformats.org/officeDocument/2006/relationships/notesSlide" Target="/ppt/notesSlides/notesSlide29.xml" Id="R5340c861a817430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3fd336c334132" /><Relationship Type="http://schemas.openxmlformats.org/officeDocument/2006/relationships/notesSlide" Target="/ppt/notesSlides/notesSlide30.xml" Id="Reecf4ca763494bc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5b2c1c8d149a3" /><Relationship Type="http://schemas.openxmlformats.org/officeDocument/2006/relationships/notesSlide" Target="/ppt/notesSlides/notesSlide31.xml" Id="R7370c35fb7774aa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4e5a18ac0c4d2f" /><Relationship Type="http://schemas.openxmlformats.org/officeDocument/2006/relationships/notesSlide" Target="/ppt/notesSlides/notesSlide32.xml" Id="Rb6c33ab57efe449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ee6b0db904017" /><Relationship Type="http://schemas.openxmlformats.org/officeDocument/2006/relationships/notesSlide" Target="/ppt/notesSlides/notesSlide33.xml" Id="R17d7ddf4c3364b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08F3FF-AB8A-4075-9E1B-7D8A7D1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"/>
            <a:ext cx="666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ОСНОВЕ ДИСТРИБУИРАНОГ ПРОГРАМИРАЊА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DA2FE3E-AC11-4383-9CAA-8CD7F7BF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6572250" cy="190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Идентитет, audit,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observability и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6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конфигурација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2C813-8C57-4EE0-A342-2A9B8832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5824"/>
            <a:ext cx="6191250" cy="31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98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Попречни слој за разумевање тока</a:t>
            </a:r>
          </a:p>
        </p:txBody>
      </p:sp>
      <p:sp>
        <p:nvSpPr>
          <p:cNvPr id="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2BC4A0BC-70F1-411D-B36E-ECC95E0A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154" y="1954596"/>
            <a:ext cx="3432941" cy="384284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0E4"/>
          </a:solidFill>
          <a:ln xmlns:a="http://schemas.openxmlformats.org/drawingml/2006/main" w="19214">
            <a:solidFill>
              <a:srgbClr val="B0213C"/>
            </a:solidFill>
            <a:prstDash val="solid"/>
          </a:ln>
        </p:spPr>
      </p:sp>
      <p:sp>
        <p:nvSpPr>
          <p:cNvPr id="5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11ECADD-5400-4728-81F7-5DEA8069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202" y="1999429"/>
            <a:ext cx="3304847" cy="294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412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op-42</a:t>
            </a:r>
          </a:p>
        </p:txBody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48610F59-3BEE-4FA1-B87A-DC279D4B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154" y="2851259"/>
            <a:ext cx="909473" cy="53799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FBF88890-0E96-48A4-9294-A75D21F8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202" y="2896093"/>
            <a:ext cx="781378" cy="44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API</a:t>
            </a:r>
          </a:p>
        </p:txBody>
      </p:sp>
      <p:sp>
        <p:nvSpPr>
          <p:cNvPr id="8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5F245A21-2FF5-45A7-9F8A-85E97EFC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484" y="2851259"/>
            <a:ext cx="922283" cy="53799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F49A655F-744D-4416-9622-54CEE268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5531" y="2896093"/>
            <a:ext cx="794188" cy="44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Ред</a:t>
            </a:r>
          </a:p>
        </p:txBody>
      </p:sp>
      <p:sp>
        <p:nvSpPr>
          <p:cNvPr id="1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C5DDA40D-F454-4497-A1C7-4F7AEAAB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622" y="2851259"/>
            <a:ext cx="909473" cy="53799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1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5A4A045E-5C48-42E9-B5EB-C3FA55AC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3670" y="2896093"/>
            <a:ext cx="781378" cy="44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12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Worker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A56EE-8499-4B60-89CF-954DDB7C38A4}"/>
              </a:ext>
            </a:extLst>
          </p:cNvPr>
          <p:cNvCxnSpPr/>
          <p:nvPr/>
        </p:nvCxnSpPr>
        <p:spPr>
          <a:xfrm xmlns:a="http://schemas.openxmlformats.org/drawingml/2006/main" rot="0">
            <a:off x="8804056" y="3120259"/>
            <a:ext cx="268999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B0213C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F015-09CE-4A8B-A01B-8C4665928118}"/>
              </a:ext>
            </a:extLst>
          </p:cNvPr>
          <p:cNvCxnSpPr/>
          <p:nvPr/>
        </p:nvCxnSpPr>
        <p:spPr>
          <a:xfrm xmlns:a="http://schemas.openxmlformats.org/drawingml/2006/main" rot="0">
            <a:off x="10072195" y="3120259"/>
            <a:ext cx="268999" cy="0"/>
          </a:xfrm>
          <a:prstGeom xmlns:a="http://schemas.openxmlformats.org/drawingml/2006/main" prst="straightConnector1">
            <a:avLst/>
          </a:prstGeom>
          <a:ln xmlns:a="http://schemas.openxmlformats.org/drawingml/2006/main" w="19214">
            <a:solidFill>
              <a:srgbClr val="B0213C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8614A-7D82-48FC-842B-EA55952F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96332" y="2591867"/>
            <a:ext cx="4291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B021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9812A-64F8-4E96-99F9-129C348D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619800" y="2591867"/>
            <a:ext cx="4291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B021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EEB5E-3687-4064-BBD8-787E1969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40601" y="2409332"/>
            <a:ext cx="640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B021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706F1-EF17-4CF4-8B76-E6B9E875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37399" y="2771200"/>
            <a:ext cx="704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B0213C"/>
            </a:solidFill>
            <a:prstDash val="solid"/>
          </a:ln>
        </p:spPr>
      </p:sp>
      <p:sp>
        <p:nvSpPr>
          <p:cNvPr id="18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21BC4FFB-B8D5-4D93-8982-EB02A1F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958" y="4170636"/>
            <a:ext cx="1537138" cy="62766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1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5771F7D3-DE31-4181-9EBA-19297DB9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005" y="4228279"/>
            <a:ext cx="1409043" cy="307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Audit</a:t>
            </a:r>
          </a:p>
        </p:txBody>
      </p:sp>
      <p:sp>
        <p:nvSpPr>
          <p:cNvPr id="2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23183EFE-FF89-4591-B9B9-C77DEDCE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154" y="4170636"/>
            <a:ext cx="1537138" cy="62766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9214">
            <a:solidFill>
              <a:srgbClr val="13202D"/>
            </a:solidFill>
            <a:prstDash val="solid"/>
          </a:ln>
        </p:spPr>
      </p:sp>
      <p:sp>
        <p:nvSpPr>
          <p:cNvPr id="2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6D601AA6-CA89-45AB-8FC9-9619D7E1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202" y="4228279"/>
            <a:ext cx="1409043" cy="307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13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Config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BBB75-1503-4C7E-881B-F129E727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445391" y="3952875"/>
            <a:ext cx="3586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1320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E7969-5A35-4E28-ADA1-823018A1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310891" y="3773542"/>
            <a:ext cx="313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13202D"/>
            </a:solidFill>
            <a:prstDash val="solid"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981D5-AAF3-499E-8368-95B00F459BF3}"/>
              </a:ext>
            </a:extLst>
          </p:cNvPr>
          <p:cNvCxnSpPr/>
          <p:nvPr/>
        </p:nvCxnSpPr>
        <p:spPr>
          <a:xfrm xmlns:a="http://schemas.openxmlformats.org/drawingml/2006/main" rot="-5400000">
            <a:off x="8137963" y="3600614"/>
            <a:ext cx="345856" cy="0"/>
          </a:xfrm>
          <a:prstGeom xmlns:a="http://schemas.openxmlformats.org/drawingml/2006/main" prst="straightConnector1">
            <a:avLst/>
          </a:prstGeom>
          <a:ln xmlns:a="http://schemas.openxmlformats.org/drawingml/2006/main" w="12809">
            <a:solidFill>
              <a:srgbClr val="13202D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81DE49-72A2-4037-A17E-564FF116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661431" y="3600614"/>
            <a:ext cx="3458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B021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EDBBE-0E48-4A13-9836-F8196407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520527" y="3773542"/>
            <a:ext cx="313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09">
            <a:solidFill>
              <a:srgbClr val="B0213C"/>
            </a:solidFill>
            <a:prstDash val="solid"/>
          </a:ln>
        </p:spPr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90767E-37FC-4903-BD9E-CB984821ECA2}"/>
              </a:ext>
            </a:extLst>
          </p:cNvPr>
          <p:cNvCxnSpPr/>
          <p:nvPr/>
        </p:nvCxnSpPr>
        <p:spPr>
          <a:xfrm xmlns:a="http://schemas.openxmlformats.org/drawingml/2006/main" rot="5400000">
            <a:off x="10341194" y="3952875"/>
            <a:ext cx="358666" cy="0"/>
          </a:xfrm>
          <a:prstGeom xmlns:a="http://schemas.openxmlformats.org/drawingml/2006/main" prst="straightConnector1">
            <a:avLst/>
          </a:prstGeom>
          <a:ln xmlns:a="http://schemas.openxmlformats.org/drawingml/2006/main" w="12809">
            <a:solidFill>
              <a:srgbClr val="B0213C"/>
            </a:solidFill>
            <a:prstDash val="solid"/>
            <a:tailEnd type="triangle" w="sm" len="sm"/>
          </a:ln>
        </p:spPr>
      </p:cxnSp>
      <p:sp>
        <p:nvSpPr>
          <p:cNvPr id="2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15D607C-5E94-4B1F-9E1D-33CF688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154" y="2454166"/>
            <a:ext cx="3432941" cy="24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0" b="0">
                <a:solidFill>
                  <a:srgbClr val="B0213C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0" b="0">
                <a:solidFill>
                  <a:srgbClr val="B0213C"/>
                </a:solidFill>
                <a:latin typeface="IBM Plex Sans"/>
                <a:ea typeface="IBM Plex Sans"/>
                <a:cs typeface="IBM Plex Sans"/>
              </a:defRPr>
            </a:pPr>
            <a:r>
              <a:rPr sz="1210" b="0">
                <a:solidFill>
                  <a:srgbClr val="B0213C"/>
                </a:solidFill>
                <a:latin typeface="IBM Plex Sans"/>
                <a:ea typeface="IBM Plex Sans"/>
                <a:cs typeface="IBM Plex Sans"/>
              </a:rPr>
              <a:t>идентитет и корелација</a:t>
            </a:r>
          </a:p>
        </p:txBody>
      </p:sp>
      <p:sp>
        <p:nvSpPr>
          <p:cNvPr id="2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0691249C-4E12-4A1B-BAD6-87911E6F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83" y="4561325"/>
            <a:ext cx="1460281" cy="192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услови рада</a:t>
            </a:r>
          </a:p>
        </p:txBody>
      </p:sp>
      <p:sp>
        <p:nvSpPr>
          <p:cNvPr id="30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415965EB-931E-458B-8C12-2AB06592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96" y="4561325"/>
            <a:ext cx="1434662" cy="192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21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исход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0AD2FC-BC0C-44D2-BA42-E223B8A3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781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D4D3CF-B72B-4F8C-8FDF-34843A6B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9525000" cy="268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2ACA2D-FEF1-40A7-BDA6-AC915ACC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29350"/>
            <a:ext cx="9525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1162289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A30C24-BB80-4FD4-AE89-CA10EE2B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93D7C-839B-4952-A084-98A7163F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ПРОВЕРА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D161E0-0602-4A27-8DE8-40DEDD3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22147-BDF1-48DC-8C4F-E6B96E17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3E107-AAA1-4DD9-992D-05276927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2D509-66C7-4FB0-AEC5-A1714BE1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92463-037E-4BEB-B96F-EDB6CFD3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1957E-7054-43D5-97D2-8D8F2526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одговорности компоненти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конкретан failure сценарио.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2CD5B-C078-4A01-867D-2CBDD778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30752-5F37-4FC2-B348-30A45A7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F6819-4ABA-4CEE-92B7-5DE56391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6807E-D190-4C2F-8415-053FDB5E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C3CB2-E6C0-47F1-A6EB-2D70FD9A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7D5F9-AF71-41C2-A8E1-5CA0CAD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162425"/>
            <a:ext cx="2185988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повезују компоненте система.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D069C-0508-4C55-B44D-E7458178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11–13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F9611-2C3D-4F1F-B7C3-F93B1E0D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3CF02-E995-4A29-8876-5E854670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03C95-8B32-4E08-8164-C5459EC4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217CE-66CC-4DCD-B2FA-F7D3A2F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тестови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5E7B1-BEC6-4B4C-A363-754FC944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доменско правило, тест и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видљиви исходи.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A4ACC-723A-4353-87AB-0AB9E466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14–25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39344-62E5-4308-97AB-02ED39F1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333625"/>
            <a:ext cx="2528888" cy="2924175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4FE496-AE07-4BA7-BCDE-02618C99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524125"/>
            <a:ext cx="361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0C1D1-DEA9-4BEE-BCE1-92D085DE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62250"/>
            <a:ext cx="218598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C9E20-1779-44D4-A3F7-7585A6B9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409950"/>
            <a:ext cx="2185988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CE5CDA-5E84-4B5B-98CF-3D588A91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162425"/>
            <a:ext cx="2185988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и примена на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пројектну целину.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88EA8-675B-4D2B-A669-A0B216E7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914900"/>
            <a:ext cx="2185988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26–33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48E5F5-5679-4704-9CB7-4E68A835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58C905-CE84-40EA-AD48-34B0BB20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F42779D-7FA2-449D-BA83-44E01DB7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7047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E5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1634E-30B7-4451-8387-85AB9CB6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7E683-5E7C-4956-92E6-218B3090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4AEF8-62B8-4CC7-ADCF-62C535FC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Појмови и границе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28398-446C-43B5-975F-BA02A2E3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Кључни појмови, одговорности компоненти и конкретан failure сценарио.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9113B-241E-4674-8173-8F2CA0D7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6B2A4-B5A5-4983-B811-354157F7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A60C74-FEEC-49A7-B1D9-DBC597B0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9186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7DA8C-9227-4DF5-82A7-6F6DE94A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30387-A22E-4F26-9B27-1EFAC5C9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9E36BE-83B6-466C-BCE4-45838250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Тема и проблем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BAE4C7B-DBC5-4D16-B9D0-D837B82C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Разумети како се операција прати кроз више компоненти без губитка контекста.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37150-25B0-46B0-8111-3861526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Када се ток прекине, засебни логови не дају одговор ко је покренуо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радњу, шта се догодило и под којим условима.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FFE067EE-3F15-4A89-8350-6480BBD9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97536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0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CA27015D-3AC4-4352-9E51-A0C033EF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975360"/>
          </a:xfrm>
          <a:custGeom xmlns:a="http://schemas.openxmlformats.org/drawingml/2006/main">
            <a:pathLst>
              <a:path w="76200" h="97536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899160"/>
                </a:lnTo>
                <a:cubicBezTo>
                  <a:pt x="0" y="941261"/>
                  <a:pt x="34100" y="975360"/>
                  <a:pt x="76200" y="975360"/>
                </a:cubicBezTo>
                <a:lnTo>
                  <a:pt x="76200" y="937260"/>
                </a:lnTo>
                <a:cubicBezTo>
                  <a:pt x="55150" y="937260"/>
                  <a:pt x="38100" y="920210"/>
                  <a:pt x="38100" y="89916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43EE1-9C07-4F85-AA1B-D0870B9F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32134-8D8D-4DE0-B343-F62301FF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Заједнички контекст и audit омогућавају реконструкцију тока, док конфигурација чува видљиве услове под којима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 ради.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F78F0-D696-4597-A6DF-EBDF3824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72DD7-0F9A-4CBE-BD14-D3C791B2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BE1E706-AD8C-4F03-B2B3-D5C389BE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9453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5284C-82DE-4DC5-8ABC-B40371AF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B1DB7-08A4-49FF-B8D1-94970DA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E7CC41-C2AC-4A04-A22B-40E50C45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Четири појма теме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912D305-A3BE-45CF-98CA-BDD73769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Дистрибуирани систем мора моћи да одговори на четири питања: ко је покренуо радњу, шта се догодило, кроз које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компоненте је ток прошао и под којим условима је радио.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52D12-9E40-46A9-91A7-D55ED3AA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4829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CE1D7-7E92-4F2C-973C-F286461E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17229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941A0-2348-4BA8-99B8-8B00249E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74379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E6BE0-E85C-414C-9299-B8BD8824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222079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 покреће радњу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C6F4A-7753-41EB-8FD7-7769B5D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64829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46A12-BD38-4766-8A11-A78E71DC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17229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B97CF-1A51-4AE5-B7ED-A968488E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4379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0F994-D54E-4D8B-A4AA-65A23B46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22079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један ток кроз компоненте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FB76C-6004-42C8-A5D4-BEE4B242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69804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48886-033A-47E7-906E-33EA5E60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22204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FFB56-65CD-4471-9AAA-9BD84293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79354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7FDCF-0454-474F-9C5E-B424ED69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927054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пословно значајна одлука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835BF-7827-46F3-BC25-6848172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69804"/>
            <a:ext cx="51625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4DD06-1231-432B-8C6E-726AA7AD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22204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EA764-43F1-4628-9D3E-1E93463A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79354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Конфигурација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1E6D5-96C3-470D-9FEE-B167C8B3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27054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услови рада система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CFC23-5C8D-47B3-89BC-73C47F00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12066-6AD2-40C7-B2E5-45104F35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920E5B-5E68-46DD-B9A2-C8A01E4C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14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D7735-5E9F-4A37-ADB9-3C22B452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C6F76-D535-4DA5-9F9F-D8A4B70B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1E1FA7-84E6-40D5-9CFD-1519538F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Идентитет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1C75FE1-8C40-4476-BC7D-A687B3A6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 показује ко или шта је покренуло радњу. Без њега није могуће повезати захтев са одговорношћу и правом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приступа.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1656B-3B16-4567-A6D5-6DD7A81D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97972-F527-4CE6-A6C3-C740D145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8AF61-0F6F-4C79-97B4-FC53AA66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Повезује захтев са одговорношћу и правом приступа.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61F8C-0556-441D-A459-150F3617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2A07A-E87D-45AD-BB43-3B5CFDB1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09187-09C0-427D-A3DE-AC54DD9D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Проверава се и улога и припадност мисији.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1C8DA-FE98-457D-AB81-70134C56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66D55-D84E-4BD4-8572-AB0B89D6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77E51-8EEF-4016-BF5E-6462B878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Нема одлуку о приступу без познатог идентитета.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0DF75-0421-41F3-8FF5-0ED9716E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D5EC1-C300-4763-A70E-C46D1983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603F081-93E5-40CB-9A21-5C44F4D3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6497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4291A-FC51-4A89-8037-9006CF86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879C6-8CAF-47EE-A51E-639361F1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A32191-0067-433C-B055-4C65361D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2226E9F-6521-4F81-80A8-C65315B3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Исти корелациони идентификатор прати операцију кроз API, ред и worker. Он омогућава да се више техничких трагова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прочита као један ток.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D0A65-ACB8-4A80-908F-5BAB133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197BB-7F54-4CD0-B2DA-AF1776A4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A78B4-CE91-4390-ABD0-70EF9691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Исти идентификатор кроз API, ред и worker.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40BF2-D9C3-4C29-9B51-078BD566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53164-8F18-4F73-8A0E-202838B4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ADA27-A1B8-4A6B-A9C5-20C57129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Спаја техничке трагове у један разумљив ток.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A8F5C-10A1-489A-87B7-9B2EC74D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506C3-70B8-4826-9999-3CA0D252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566E0-3616-4775-A1C0-22C4E311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сме се регенерисати у сваком слоју.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44559-168D-45A6-B88E-7BDD2BEA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05688-FC5D-4BAD-8CF3-21EEB614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AD1707F-3CB6-471E-922D-49C9A68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2399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3D846-AD9D-4AC2-84B8-2723FDC9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25575-AFA7-47D3-8959-EC8C17F3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FE5F2E-4EA7-41B2-AA89-184E81F2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Audit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A7B08CE-4F37-469F-8B0D-8A490519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Audit бележи одлуке које имају пословни или безбедносни значај: ко је шта променио, када и са којим исходом. Није замена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 сваки технички лог.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CB27B-D33A-4A3F-A597-1CF42EFC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A324D-2E3A-4281-9361-5E7180D3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4BB72-EE53-462B-B756-E635EE2D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Бележи пословно и безбедносно значајне одлуке.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ABBF9-828A-4773-90FF-ABD25D85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205A4-BEA0-42BB-BBDE-0AC5AC44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A288B-6CAB-431B-ACEA-739CC5A9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Append-only и претражив по correlation id-у.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2EB41-92C8-4EF0-B8EB-5BC5314F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7FBB0-DF80-45B0-AD4D-7B733E5F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5972D-2EDF-4DFA-83B1-CB31F1E5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Није замена за сваки технички лог.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55062-E3B4-47D7-A5F1-51E81714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A794A-FC6F-4176-A9D2-10B5F0B2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3AB8103-8CF3-4E11-83EE-7448DF42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8642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6921B-1956-4BCB-922A-C743E3EC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F9815-6903-4216-B0EC-245B549E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E12352-B086-4992-8E76-673F2699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Конфигурација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62DA95F1-D2CC-497F-ABA1-D896193C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52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Конфигурација одређује под којим условима компонента ради. Валидне вредности, извор и промена конфигурације морају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бити видљиви тиму.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CCC21-B96A-4BD5-809E-24F63789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648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31073-6492-407E-8939-21F1712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886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B5287-6960-440B-9D77-03624A54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77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Одређује услове рада компоненте.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28398-84AA-4C3B-BC39-125EF5E3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91727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18254-4C43-4140-82A8-79270E9B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110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92BAC-E1A1-40FE-8EB7-8B55820B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015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Валидан опсег и извор морају бити видљиви.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535C6-8A72-416E-90DB-E2944234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69729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FDEA4-1B80-4FA6-8E2F-037C3EC3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3554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85257-B3A2-462A-B79E-78D42F6F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2604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конфигурације је следљива, не тиха.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1ADEC-02B6-49C4-9A83-24C1AD1C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13B8B-08A3-4E2F-886E-98307D3F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A8BBCE8-F217-40F5-A4AA-46ED15FD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04826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0913B-D4C1-4238-8E07-985E825D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F17A0-5B78-4054-B8B9-187EE78A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21134E-3466-4EE8-8F34-51FCB2D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захтев пролази кроз три компоненте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FE1BD42-0465-4AE3-A675-460FDAF4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Корисник покреће операцију кроз API, API објављује поруку, а worker завршава обраду.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B2158-696E-4F1C-96F0-1E514C2B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D67FA-159A-4988-B419-EFD833BA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1A2E6-D0BE-45CB-8DEB-EBBE39F2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Корелациони идентификатор настаје на граници тока и преноси се даље.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38E03-2E90-4137-BC82-9954D115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34D32-2EEE-4270-9A99-249F4735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CB0E1-9F9E-418E-B9CC-0C2871AC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Audit чува одлуке које утичу на одговорност, док лог чува технички контекст.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F477A-3D9F-4396-AA87-9D0A9DE8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5F210-A75D-4534-97CA-1F2E706F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D0B85-F716-4B3C-91B6-16E0B33C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Конфигурација одређује очекивано понашање, као што су рокови и прагови, и мора бити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проверљива.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5028E-322B-419D-915E-A2F015DA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034FF-53F3-48CF-A20A-43D64C84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1504D38-7FD0-497C-9694-A1393E5C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3001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E5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D94D1-D715-490B-A87B-2F57C6B3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0636B-B50C-4E60-87EE-9539213E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B6664-2CA3-4606-A32F-CF4E84DE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Дистрибуирани 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F5156-05B5-4746-BBCC-A870D73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Шема тока и гаранције које повезују компоненте система.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4885E-338B-4ADE-82EF-C78D4395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B9E6B-D9EF-4855-AFB5-CC186D14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1454745-E7AB-4942-B630-8710193C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96914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2B732-2EA2-4E8C-B8CA-2CD500D0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9E21F-D179-4734-88A7-9B04030A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 · ТОК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1E1511-58A2-413F-A1AD-41890B7E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Шема следљивог дистрибуираног тока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60844CC-6A3F-42D2-84FC-CC48E62B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Један контекст пролази кроз све компоненте, па се неуспех може објаснити без нагађања.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F7256-A83F-4FC4-AE46-D20522739948}"/>
              </a:ext>
            </a:extLst>
          </p:cNvPr>
          <p:cNvGraphicFramePr/>
          <p:nvPr/>
        </p:nvGraphicFramePr>
        <p:xfrm>
          <a:off xmlns:a="http://schemas.openxmlformats.org/drawingml/2006/main" x="809625" y="2333625"/>
          <a:ext xmlns:a="http://schemas.openxmlformats.org/drawingml/2006/main" cx="105727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429500"/>
              </a:tblGrid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Елемент</a:t>
                      </a:r>
                    </a:p>
                  </a:txBody>
                  <a:tcPr marL="91440" marR="91440" marT="45720" marB="45720" anchor="ctr">
                    <a:solidFill>
                      <a:srgbClr val="F0E5E5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Улога у току</a:t>
                      </a:r>
                    </a:p>
                  </a:txBody>
                  <a:tcPr marL="91440" marR="91440" marT="45720" marB="45720" anchor="ctr">
                    <a:solidFill>
                      <a:srgbClr val="F0E5E5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Улазни захтев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идентитет и корелација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API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прихвата или одбија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Порука и worker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обрађују исти контекст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  <a:tr h="542925"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Audit и траг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  <a:tc>
                  <a:txBody>
                    <a:bodyPr lIns="152400" tIns="152400" rIns="152400" bIns="152400">
                      <a:noAutofit/>
                    </a:bodyPr>
                    <a:lstStyle/>
                    <a:p>
                      <a:r>
                        <a:rPr sz="144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објашњавају исход</a:t>
                      </a:r>
                    </a:p>
                  </a:txBody>
                  <a:tcPr marL="91440" marR="91440" marT="45720" marB="45720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3FE41-5F98-4964-894D-263C97A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B30B5-C9A1-4FE7-A540-37F2C67C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497E375-744F-4503-8BBA-4B97935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61573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BC1499-75A7-4765-841F-8666747B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F08D1-27E6-490D-836B-09D50C94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 · ДИЈАГРАМ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EFDB22-7D39-4AA0-8B88-72A67795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Један контекст повезује цео ток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25F3D656-3C8E-413B-BA96-EF9A7678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Идентитет и CorrelationId се преносе, а Audit и конфигурација објашњавају одлуку.</a:t>
            </a:r>
          </a:p>
        </p:txBody>
      </p:sp>
      <p:sp>
        <p:nvSpPr>
          <p:cNvPr id="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8B3CD6B6-1B77-4F9C-8F95-933ADC3C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531" y="2476500"/>
            <a:ext cx="9120188" cy="4643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0E4"/>
          </a:solidFill>
          <a:ln xmlns:a="http://schemas.openxmlformats.org/drawingml/2006/main" w="17859">
            <a:solidFill>
              <a:srgbClr val="B0213C"/>
            </a:solidFill>
            <a:prstDash val="solid"/>
          </a:ln>
        </p:spPr>
      </p:sp>
      <p:sp>
        <p:nvSpPr>
          <p:cNvPr id="6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41A1B479-31D6-4FF2-BE76-7B4CCC0A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2518172"/>
            <a:ext cx="900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4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94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594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ActorId + CorrelationId: op-42</a:t>
            </a:r>
          </a:p>
        </p:txBody>
      </p:sp>
      <p:sp>
        <p:nvSpPr>
          <p:cNvPr id="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14C519B9-1ADD-4A3B-9289-A282EA1B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531" y="3417094"/>
            <a:ext cx="1905000" cy="654844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8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04C1CEFC-C11E-449F-9192-74F520E2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3458766"/>
            <a:ext cx="17859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B3AD0-EB49-4BFA-B547-081D7177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52625" y="3178969"/>
            <a:ext cx="404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B0213C"/>
            </a:solidFill>
            <a:prstDash val="solid"/>
          </a:ln>
        </p:spPr>
      </p:sp>
      <p:sp>
        <p:nvSpPr>
          <p:cNvPr id="1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07D38DA0-E007-4216-B88F-F8524704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688" y="3417094"/>
            <a:ext cx="1905000" cy="654844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1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43271B9A-CBDD-4237-86E0-23BA5E83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219" y="3458766"/>
            <a:ext cx="17859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Ред порука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A22FB-C846-46C6-A32D-D15E8D8C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8781" y="3178969"/>
            <a:ext cx="404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B0213C"/>
            </a:solidFill>
            <a:prstDash val="solid"/>
          </a:ln>
        </p:spPr>
      </p:sp>
      <p:sp>
        <p:nvSpPr>
          <p:cNvPr id="13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6EBD7643-C4FF-452F-99A7-20B117AC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19" y="3417094"/>
            <a:ext cx="1905000" cy="654844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14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96A0DBAF-068E-4E94-A617-2121D6DE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58766"/>
            <a:ext cx="17859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7161C-43F3-46FE-9287-A68FB716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67813" y="3178969"/>
            <a:ext cx="404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B0213C"/>
            </a:solidFill>
            <a:prstDash val="solid"/>
          </a:ln>
        </p:spPr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7902A-8209-4BE6-A118-6DA9F78C764D}"/>
              </a:ext>
            </a:extLst>
          </p:cNvPr>
          <p:cNvCxnSpPr/>
          <p:nvPr/>
        </p:nvCxnSpPr>
        <p:spPr>
          <a:xfrm xmlns:a="http://schemas.openxmlformats.org/drawingml/2006/main" rot="0">
            <a:off x="3143250" y="3744516"/>
            <a:ext cx="1559719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B0213C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85568-6C34-4F93-A20C-2B7280C87E0E}"/>
              </a:ext>
            </a:extLst>
          </p:cNvPr>
          <p:cNvCxnSpPr/>
          <p:nvPr/>
        </p:nvCxnSpPr>
        <p:spPr>
          <a:xfrm xmlns:a="http://schemas.openxmlformats.org/drawingml/2006/main" rot="0">
            <a:off x="6679406" y="3744516"/>
            <a:ext cx="1702594" cy="0"/>
          </a:xfrm>
          <a:prstGeom xmlns:a="http://schemas.openxmlformats.org/drawingml/2006/main" prst="straightConnector1">
            <a:avLst/>
          </a:prstGeom>
          <a:ln xmlns:a="http://schemas.openxmlformats.org/drawingml/2006/main" w="17859">
            <a:solidFill>
              <a:srgbClr val="B0213C"/>
            </a:solidFill>
            <a:prstDash val="solid"/>
            <a:tailEnd type="triangle" w="sm" len="sm"/>
          </a:ln>
        </p:spPr>
      </p:cxnSp>
      <p:sp>
        <p:nvSpPr>
          <p:cNvPr id="18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4DD1BF0A-95C5-46D3-8CD9-ABA64ED0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531" y="4774406"/>
            <a:ext cx="3345656" cy="690563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7859">
            <a:solidFill>
              <a:srgbClr val="13202D"/>
            </a:solidFill>
            <a:prstDash val="solid"/>
          </a:ln>
        </p:spPr>
      </p:sp>
      <p:sp>
        <p:nvSpPr>
          <p:cNvPr id="19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2BA59415-5C80-49B0-8DBA-400F2249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4816078"/>
            <a:ext cx="3226594" cy="607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Конфигурација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проверени услови рада</a:t>
            </a:r>
          </a:p>
        </p:txBody>
      </p:sp>
      <p:sp>
        <p:nvSpPr>
          <p:cNvPr id="2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A07497DD-7CA4-466C-BA90-9301630E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156" y="4774406"/>
            <a:ext cx="3357563" cy="690563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E0E4"/>
          </a:solidFill>
          <a:ln xmlns:a="http://schemas.openxmlformats.org/drawingml/2006/main" w="17859">
            <a:solidFill>
              <a:srgbClr val="B0213C"/>
            </a:solidFill>
            <a:prstDash val="solid"/>
          </a:ln>
        </p:spPr>
      </p:sp>
      <p:sp>
        <p:nvSpPr>
          <p:cNvPr id="21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C69FAD58-E96B-4AD2-8DAD-8DB36AA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4816078"/>
            <a:ext cx="3238500" cy="607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Audit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 • шта • када • исход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B4C45C-74EF-4948-A8E1-8B931B30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006203" y="4589859"/>
            <a:ext cx="2976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13202D"/>
            </a:solidFill>
            <a:prstDash val="solid"/>
          </a:ln>
        </p:spPr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0EDDB-927A-4347-B2D1-B093F2C0E5FB}"/>
              </a:ext>
            </a:extLst>
          </p:cNvPr>
          <p:cNvCxnSpPr/>
          <p:nvPr/>
        </p:nvCxnSpPr>
        <p:spPr>
          <a:xfrm xmlns:a="http://schemas.openxmlformats.org/drawingml/2006/main" rot="-5400000">
            <a:off x="1988344" y="4274344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3202D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D5B5D3-87E9-4A5C-9182-E072E9F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03531" y="4274344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B021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15A02-00E7-4E21-9884-95DC5C9D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643938" y="4441031"/>
            <a:ext cx="7262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B0213C"/>
            </a:solidFill>
            <a:prstDash val="solid"/>
          </a:ln>
        </p:spPr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769DF-678A-445F-9028-4207F7368AF5}"/>
              </a:ext>
            </a:extLst>
          </p:cNvPr>
          <p:cNvCxnSpPr/>
          <p:nvPr/>
        </p:nvCxnSpPr>
        <p:spPr>
          <a:xfrm xmlns:a="http://schemas.openxmlformats.org/drawingml/2006/main" rot="5400000">
            <a:off x="8495109" y="4589859"/>
            <a:ext cx="297656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B0213C"/>
            </a:solidFill>
            <a:prstDash val="solid"/>
            <a:tailEnd type="triangle" w="sm" len="sm"/>
          </a:ln>
        </p:spPr>
      </p:cxnSp>
      <p:sp>
        <p:nvSpPr>
          <p:cNvPr id="27" name="diagram-label">
            <a:extLst xmlns:a="http://schemas.openxmlformats.org/drawingml/2006/main">
              <a:ext uri="{FF2B5EF4-FFF2-40B4-BE49-F238E27FC236}">
                <a16:creationId xmlns:a16="http://schemas.microsoft.com/office/drawing/2014/main" id="{B66943AF-2B04-44D9-9C91-84CFFA7F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6953"/>
            <a:ext cx="3345656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B0213C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313" b="0">
                <a:solidFill>
                  <a:srgbClr val="B0213C"/>
                </a:solidFill>
                <a:latin typeface="IBM Plex Sans"/>
                <a:ea typeface="IBM Plex Sans"/>
                <a:cs typeface="IBM Plex Sans"/>
              </a:defRPr>
            </a:pPr>
            <a:r>
              <a:rPr sz="1313" b="0">
                <a:solidFill>
                  <a:srgbClr val="B0213C"/>
                </a:solidFill>
                <a:latin typeface="IBM Plex Sans"/>
                <a:ea typeface="IBM Plex Sans"/>
                <a:cs typeface="IBM Plex Sans"/>
              </a:rPr>
              <a:t>контекст се преноси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4E980E-C86D-430B-8EC3-88EB1ACF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65A0D-DE5D-404D-9A82-8E703A92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953799C-BE66-4585-A8F3-417A6315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823109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0E5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2146F-208D-45D6-B19E-5FCD90B2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65FD6-7E00-4A01-8B42-93D043A1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7C4FC-D4AF-42BB-8005-5E032051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Код и failure тестови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52DCC-8077-4B63-8064-4AAAD3F2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примера, доменско правило, тест и видљиви исходи.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76DD4-85C2-464B-A1A5-0C567690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ED98C-848E-4A9B-9DBD-0A091A09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A21A10B-6C42-4C64-83C9-39BE2AC4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62773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0F113-1A10-489C-B3E7-36C66C1A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23C38-AD52-469B-BBC6-0C8F9938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443123-2938-44BD-9CB6-EAFBF48F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Покретање примера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18B917E8-3ABA-4DAD-8DBE-0D93F9F8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Пример прати једну операцију кроз две компоненте.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E54C9932-4EA7-4D6C-B7BF-0BF8865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8936355" cy="1144905"/>
          </a:xfrm>
          <a:prstGeom xmlns:a="http://schemas.openxmlformats.org/drawingml/2006/main" prst="roundRect">
            <a:avLst>
              <a:gd name="adj" fmla="val 8319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C620-8D6E-4EAA-99EC-DC1E71E0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857440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terminal · Корен Git репозиторијума nastava.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80A8C-C241-43BE-B7A9-97DFFE99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85744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CAB59C1-0954-44A0-8619-40A82E18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2B197192-E76B-4828-A601-0A5C6425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81457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cd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"03 Osnove Distribuiranog Programiranja/04 Primeri/03 Identitet audit konfiguracija"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0814795-3B5D-41DA-9D32-5E453650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B069A069-1D57-46FB-90DE-85409D38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81457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run --project src/Odp.Vezba03.ConsoleUi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7772400-7B8A-4F95-AEE5-48742DD0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2C63DB09-8AD4-4621-BB7B-F0703D87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81457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dotnet test Odp.Vezba03.sln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51B69-D265-46D2-BC71-C364ECDD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EB176-8F1A-48EC-9C27-AF006028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CE439F5-E3D5-499B-8AE7-F85BD26C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561504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D6D2A7-E739-459D-BFD3-6C4CAA19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9C599-D26F-434F-B7CD-50C2F6D6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304E9E-B559-4D29-9A58-90C750FF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у коду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527CFC42-8664-4BBD-B7BC-E01378B2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Исти CorrelationId види се у логу станице и у ревизијском трагу центра.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CCAF919E-C8E7-446E-8E4A-A75F78EC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942195" cy="3491865"/>
          </a:xfrm>
          <a:prstGeom xmlns:a="http://schemas.openxmlformats.org/drawingml/2006/main" prst="roundRect">
            <a:avLst>
              <a:gd name="adj" fmla="val 272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F6457-9111-4C12-8D11-88897D41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5802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доменско 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4CADD-ECFB-4456-AF7F-B48CCF45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5802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187CCBA-17B6-427A-935B-FF00833F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A4004754-B118-4FB4-B203-082F4E99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ScheduleContactResult Schedule(ContactRequest request, OperationContext context)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9C4B813-5949-47B1-A481-A3DD1C1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25D819BD-BD19-45FE-A753-F451469A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EFC2D33-0B47-44DE-872F-BB1C0665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FCDFAA49-7178-4F93-87D1-25BC6BB7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ArgumentNullException.ThrowIfNull(request);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EEFEE97-7417-4F1C-9F2F-F62F48F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30D3422C-5C75-41B1-91FA-CE292D1E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ArgumentNullException.ThrowIfNull(context);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088BC06-B859-4D6C-A9E7-6C6D3275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70552D9E-9554-47F3-9BD5-2C32BB6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code = Decide(request, context);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150ECA5-4C4D-4D4C-AB5F-9C539FD0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5937D77D-D43E-490E-BC45-22176888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auditLog.Record(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AuditEntry(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9847B89-761A-4C46-B770-FA0384D4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0657CA11-0622-412A-A6D7-BCBEF4C5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clock.UtcNow,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B25657A-3C92-49CA-AFB8-C1A0836F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F80E5407-D107-4D6A-9CC9-DB80055D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context.CorrelationId,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01CFFE6-D6E7-41FD-ABB6-347630DB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5980BEEF-0B5E-43DA-AEA4-CFAF8655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context.ActorId,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8CEE8A9-7B0E-4650-A1E0-50302767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4EF5D63A-542F-4A79-8B49-7790E76E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Action,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85409AE-7293-4078-81B7-AFF6A6A7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2F60FF2D-05A3-4A58-8791-511148BF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request.StationId,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2163D0A-AE4E-4882-B0B3-E86F4DA8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8B05D9AE-6156-495F-85BA-1AFB3158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code));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34CB67F-2ABD-4A24-A6F3-3B19FE1F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6A467B0E-7971-4EF0-8DB0-BA32E29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ScheduleContactResult(code == ContactCodes.Scheduled, code, context.CorrelationId);</a:t>
            </a:r>
          </a:p>
        </p:txBody>
      </p:sp>
      <p:sp>
        <p:nvSpPr>
          <p:cNvPr id="3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F921202-8693-4C08-84CD-5555ACAC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45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35" name="code-line">
            <a:extLst xmlns:a="http://schemas.openxmlformats.org/drawingml/2006/main">
              <a:ext uri="{FF2B5EF4-FFF2-40B4-BE49-F238E27FC236}">
                <a16:creationId xmlns:a16="http://schemas.microsoft.com/office/drawing/2014/main" id="{E5E56DCC-CBEB-4978-B3DB-5B6673A2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450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CBBAD5-8046-47BA-B4BA-13E90CAC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C41088-1F18-48CC-9560-5B28B886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D5C745-7B0C-43DA-9B67-818FDA66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793944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05309-8DD5-4B3F-8E0E-BE6ECE82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936C5-D2A7-46F2-A195-4614725C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FD9272-CF04-4E2C-872F-3DCC37FA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Контекст сценарија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A0FCEE3-0710-4E8F-B053-538AC65C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који задаје квар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4A734-37E9-43E5-A95F-24651389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375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Ревизијски запис настаје и када је захтев одбијен пре позива станице.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A01FD3FA-F6B4-4E83-8CD6-1B01D85C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F0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1FA1719D-6936-43E3-87CC-D79AC1E0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D4AED-0541-4F45-9D0A-8F0C72D1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ПРИКАЗАНИ ПРИМЕР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A2A14-7F1E-4E3A-9E20-D319EBF3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показује да успешан захтев преноси исти CorrelationId до станице и ревизијског трага.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D1417-BAEA-499B-84F5-EAD6F3FE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B39DC-A93C-4784-BCD9-FE2B4035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2902B24-E823-4375-8682-B77E5B83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015192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D8A449-57A3-48DE-BC6E-45EED140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710AA-8992-4D7C-BD21-98548DCD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D078C8-EE87-43B4-8591-D9D6B014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A0E003E7-2F98-44D5-9B0B-96EA7D98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показује да успешан захтев преноси исти CorrelationId до станице и ревизијског трага.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0850EAAF-6599-4917-BBFD-37F11B61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576435" cy="3491865"/>
          </a:xfrm>
          <a:prstGeom xmlns:a="http://schemas.openxmlformats.org/drawingml/2006/main" prst="roundRect">
            <a:avLst>
              <a:gd name="adj" fmla="val 2728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E84D7-3003-4C1A-AED8-ECB69EA5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21448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A2BDF-29D3-4B21-A8DC-6B6511C0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2144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A6E222F-6585-4A03-9EB0-562A6C4A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DC9A0748-8668-4498-9970-4214652D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DBD5A7C-3251-41D5-BD92-92D6C52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E6DA6123-DB49-4D1F-BC25-36ACC6E2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void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Schedule_CarriesTheSameCorrelationIdToTheStationAndTheAuditTrail()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B5E4EBE-11A9-4E54-BB6B-01F10AC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6FD7B5EC-D650-4FFD-8B1B-E0B41695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CBA4A114-F6C3-4ED7-B5C6-BA4B93DC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B44ADFD1-523B-439A-898D-458CDDFC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result = _handler.Schedule(Request, Context);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09EAFB7-FA45-41B9-B280-39B289D3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807DEA02-E6E1-4AA7-B256-250EABFE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using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(Assert.EnterMultipleScope())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7729794-07ED-444C-96F4-9475076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46032E4D-AFB9-447C-94E7-F14F7643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45EF916-01EB-4CF6-8C19-49D4C0EC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48F966F7-B09C-49E4-ADF1-9DF6DF96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Assert.That(result, Is.EqualTo(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ScheduleContactResult(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true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 ContactCodes.Scheduled,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D632152-C1E6-4053-A0B4-09A14535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70B8CEC7-5C4C-4789-B172-7AFA4B5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"op-42"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)));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3391CE8-EEB2-41CC-B3FF-32AE6BEE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CD56557A-0DB2-436A-B24B-350A5B37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Assert.That(_stationGateway.Calls.Single().CorrelationId, Is.EqualTo(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"op-42"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));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3B315CB-8510-44D1-B146-FADA9F02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53EFD772-DB58-4E8D-9827-D058BC63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DF0F5FD-D5FD-415F-B81E-116B4804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E26B3B12-C6B3-41B8-A6EE-87A76A1A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_auditLog.Entries.Single(),</a:t>
            </a:r>
          </a:p>
        </p:txBody>
      </p:sp>
      <p:sp>
        <p:nvSpPr>
          <p:cNvPr id="3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E64302F-E920-4D50-BB31-7CFA40AE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77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1" name="code-line">
            <a:extLst xmlns:a="http://schemas.openxmlformats.org/drawingml/2006/main">
              <a:ext uri="{FF2B5EF4-FFF2-40B4-BE49-F238E27FC236}">
                <a16:creationId xmlns:a16="http://schemas.microsoft.com/office/drawing/2014/main" id="{133688B6-D023-415F-8F54-FCB47081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778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Is.EqualTo(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AuditEntry(</a:t>
            </a:r>
          </a:p>
        </p:txBody>
      </p:sp>
      <p:sp>
        <p:nvSpPr>
          <p:cNvPr id="3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9967C3B9-8BD8-4768-A53E-6C947EC0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11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3" name="code-line">
            <a:extLst xmlns:a="http://schemas.openxmlformats.org/drawingml/2006/main">
              <a:ext uri="{FF2B5EF4-FFF2-40B4-BE49-F238E27FC236}">
                <a16:creationId xmlns:a16="http://schemas.microsoft.com/office/drawing/2014/main" id="{CAE64D37-01BA-479E-85D8-EF21EB7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114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    Now,</a:t>
            </a:r>
          </a:p>
        </p:txBody>
      </p:sp>
      <p:sp>
        <p:nvSpPr>
          <p:cNvPr id="3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2114F45-3100-4155-BEA2-27155BE1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45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35" name="code-line">
            <a:extLst xmlns:a="http://schemas.openxmlformats.org/drawingml/2006/main">
              <a:ext uri="{FF2B5EF4-FFF2-40B4-BE49-F238E27FC236}">
                <a16:creationId xmlns:a16="http://schemas.microsoft.com/office/drawing/2014/main" id="{8D317BB0-8AAA-467B-B296-25620879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4505"/>
            <a:ext cx="878586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   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"op-42"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BC27D0-F880-401D-B4E5-5B4425AD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56457B-73C5-4E09-BD3B-6CD17B1D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E5111BE-AE32-49F3-A09B-056D13F8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925274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098A9-64D8-470E-9A34-148746B6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F3AE7-C851-4C26-8D33-8827E973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F9701B-6B01-4F3F-94B3-E18087AD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који задаје квар (наставак)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798E4F6-631D-4479-8924-BCF58157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показује да успешан захтев преноси исти CorrelationId до станице и ревизијског трага.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0CDFE7DC-F3A6-4272-8C27-6BD8226E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143750" cy="1784985"/>
          </a:xfrm>
          <a:prstGeom xmlns:a="http://schemas.openxmlformats.org/drawingml/2006/main" prst="roundRect">
            <a:avLst>
              <a:gd name="adj" fmla="val 533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6B190-5C85-48BD-9ECE-A52C3C42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1C397-FA2C-4639-A88B-8473CEFE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9DB5CDD-A4FE-456F-974C-6EB8E0C3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2D331A4A-00AA-4275-B982-CCC45FC6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   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"ana"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E659F2F-8A92-46D5-92AC-062925DF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CEECA2C2-113B-4BB1-BA7B-E5640CF1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   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"contact.schedule"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AFDE269-B6B5-4F74-96DB-C5A0590B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9DA28905-FA60-4A61-9937-16DE21D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    </a:t>
            </a:r>
            <a:r>
              <a:rPr sz="120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"GS-NOVI-SAD"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C8819D5-31C1-4407-888A-2BDB5498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758CBBBD-2077-4A30-8B46-C2FC96CC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        ContactCodes.Scheduled)));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868C7D4-28F1-4C10-B180-813162A5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4F5F1355-BE76-48EB-A108-24B6C839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DB87391-CA82-4E89-9C1F-3BB73F05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065D4582-AF45-4C75-8C8F-A3287A63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63531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26674-0C52-4FFB-B5EF-5E1BCFC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C6F07-7F0B-4646-8C0A-5BF25253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0824CFD-39BD-451C-9B88-CAA5F211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52251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E381C-BC80-4741-96AA-F88FFE18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C9CC0-9308-42C0-B607-D4961205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F9FDF5-3E71-4E0B-9043-CFA877D3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Услов failure теста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9EB28BCD-9BAE-4742-8449-1593321F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Audit постоји и за одбијен захтев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52A6A-705D-4F63-BC72-3420150E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Лимит је 15 минута, а захтев траје 40 минута. SetUp припрема исти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handler, audit log и station gateway као у претходном тесту.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CD40A-24C9-4F20-ADA7-36EF0DF3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283E4-73AA-440A-BC8E-941A638F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57B854E-BCA5-4FD9-B8F6-C087FA35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174031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A8365B-0BD4-40ED-B6AD-2D7B0E8B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8FC28-650F-4282-9FEA-D282C1D7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D149D6-ECCA-4BAC-B80E-1EAE05A9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Audit постоји и за одбијен захтев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17056EE-0439-4718-8675-0A0E1A7E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Невалидан захтев добија duration_too_long, станица се не позива, а одбијање остаје у ревизијском трагу.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50A6BB07-CCB8-4EE5-9AD4-6D88CD5C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942195" cy="2851785"/>
          </a:xfrm>
          <a:prstGeom xmlns:a="http://schemas.openxmlformats.org/drawingml/2006/main" prst="roundRect">
            <a:avLst>
              <a:gd name="adj" fmla="val 3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01AF9-4488-4813-B6EB-FCDDD31F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95802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C103F-E61D-463D-9912-05D636FC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95802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69D3B5FC-12D8-4461-8CD9-EBC3DE58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1EC0EE0B-CE2D-413F-B0B0-BD79E5F0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D1603274-EFDF-4070-9E34-462EEF72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B27E8763-4667-46BA-8AD1-F2BDB17A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void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Schedule_WhenRequestIsInvalid_AuditsTheRejectionWithoutCallingTheStation()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6B06B2A-3511-4B5A-B2A0-F59FC156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961FE3AE-614E-46EE-A5EA-0850FA3B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EEAECC7D-068F-477E-B01E-380F1E8A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3FB291C7-1A2F-4FC1-8D7A-696631E3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result = _handler.Schedule(Request with { Duration = TimeSpan.FromMinutes(40) }, Context);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E230570-1372-4CB7-A46E-261825FE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CC70BC2B-5C19-4A10-AD04-67BA96C9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using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(Assert.EnterMultipleScope())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F3A63F3-F673-40AC-B20D-64205FDD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7BEA40A5-6DC6-46FD-A779-998F3E1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{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37C3568-ADBD-4002-8DD6-85BB4879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30C5208B-A0FB-4554-B235-634F5885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Assert.That(result.Scheduled, Is.False);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6A21732-16B3-4275-86BF-B242616E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9C74D44C-18F4-4744-ACE7-6506A54C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Assert.That(_stationGateway.Calls, Is.Empty);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4DE0393-C7A7-4A44-BF66-B7D3EC2B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140768F8-FC92-4E34-AC50-A9215677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    Assert.That(_auditLog.Entries.Single().Outcome, Is.EqualTo(ContactCodes.DurationTooLong));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6E639FA-8BA0-4222-8A1F-802F34E1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F0DE5107-3D50-42BC-848E-18011BAC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}</a:t>
            </a:r>
          </a:p>
        </p:txBody>
      </p:sp>
      <p:sp>
        <p:nvSpPr>
          <p:cNvPr id="2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470F0761-9F15-4164-B6AF-B69F0225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29" name="code-line">
            <a:extLst xmlns:a="http://schemas.openxmlformats.org/drawingml/2006/main">
              <a:ext uri="{FF2B5EF4-FFF2-40B4-BE49-F238E27FC236}">
                <a16:creationId xmlns:a16="http://schemas.microsoft.com/office/drawing/2014/main" id="{E08B21AA-C3D4-45E7-A5AB-7D110611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91516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5E40A4-7249-43D8-8F16-170B4F32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902F21-25D7-4722-94BB-F27845F9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334D67B-389A-48B5-BEAE-F99883F7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240260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16F16-176D-4428-B971-4F4375BA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D37F8-8680-4992-A373-15B47873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CC72A-D573-4C84-B4E6-91EE4068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Контекст сценарија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067A4F81-ACA8-4C69-BD42-5996F2D1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Испис демонстрације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48D46-FBD7-4DDF-8258-F77FFDC0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375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Неисправна конфигурација зауставља покретање са кодом грешке.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F3CDB2FE-10D8-4A2D-93EA-CDD014F4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F0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0E60C220-86AC-40F2-B5EC-3176B53C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3D78D-265B-439E-9E21-409BA85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ПРИКАЗАНИ ПРИМЕР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75EAD-9789-4F04-9B54-4F8BF633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Испис повезује успешан контакт и два неуспешна исхода са одговарајућим корелационим идентификаторима.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42D84-8FC8-4670-9008-9653124F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3D7AC-79B6-4919-91E4-CCBD26DD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490AC49-656B-438B-812B-EDCB7790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150094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1B48B-9A3D-4636-AD5F-8A9D25DE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4342C-310C-45FC-8C22-04051D24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C9970A-432E-45E6-9B8A-B302C18F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Испис демонстрације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C528FA9-6659-4BB5-B67A-13E579AD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Испис повезује успешан контакт и два неуспешна исхода са одговарајућим корелационим идентификаторима.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8D640B1B-F389-4A2F-870C-E105F045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564755" cy="2638425"/>
          </a:xfrm>
          <a:prstGeom xmlns:a="http://schemas.openxmlformats.org/drawingml/2006/main" prst="roundRect">
            <a:avLst>
              <a:gd name="adj" fmla="val 361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95A1B-D87F-4029-AC1F-9C51600E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20280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console · исходи демонстрације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909A0-E722-4EA8-ADF9-DDAB626B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72028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7553CFE-C5EA-40C2-A701-7FBDD9F4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D43ED836-C8B0-4131-9348-86DBD1CC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op-0001: GS-NOVI-SAD, 10 min -&gt; contact_scheduled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32845BC5-A631-43E0-AEC1-DDE9F75B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FB7B327D-58E9-4CE3-AB42-E2AB4741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op-0002: GS-NOVI-SAD, 40 min -&gt; duration_too_long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6FE7EB5-F861-4615-8624-248BC9E4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8FC60972-4EE4-4E84-B206-873A7C29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op-0003: GS-BEOGRAD, 10 min -&gt; station_unavailable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52C1B16A-1488-4285-907C-83304001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B1E8DAFD-D060-4811-9F2F-4BEDB6E0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Log stanice: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DD12CFB-C759-47AB-827C-CC369CC1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8D3017CD-1568-4B6F-A9BA-4C8FD800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op-0001 | GS-NOVI-SAD | reserved=True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329E212-0318-473E-905F-3DD47115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A29E9D56-9979-423B-BF4D-8966AE80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op-0003 | GS-BEOGRAD | reserved=False</a:t>
            </a:r>
          </a:p>
        </p:txBody>
      </p:sp>
      <p:sp>
        <p:nvSpPr>
          <p:cNvPr id="2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2BAB045-11E7-4CA5-8B83-B098D448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09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1" name="code-line">
            <a:extLst xmlns:a="http://schemas.openxmlformats.org/drawingml/2006/main">
              <a:ext uri="{FF2B5EF4-FFF2-40B4-BE49-F238E27FC236}">
                <a16:creationId xmlns:a16="http://schemas.microsoft.com/office/drawing/2014/main" id="{DE6862D3-5D0D-4552-A91E-2E89E454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098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Revizijski trag:</a:t>
            </a:r>
          </a:p>
        </p:txBody>
      </p:sp>
      <p:sp>
        <p:nvSpPr>
          <p:cNvPr id="2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1D7AAFFC-AEC6-4EDD-86D1-708A8AF5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43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3" name="code-line">
            <a:extLst xmlns:a="http://schemas.openxmlformats.org/drawingml/2006/main">
              <a:ext uri="{FF2B5EF4-FFF2-40B4-BE49-F238E27FC236}">
                <a16:creationId xmlns:a16="http://schemas.microsoft.com/office/drawing/2014/main" id="{7EE058BA-FC22-4D51-B344-CABD9424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434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op-0001 | ana | contact.schedule | GS-NOVI-SAD | contact_scheduled</a:t>
            </a:r>
          </a:p>
        </p:txBody>
      </p:sp>
      <p:sp>
        <p:nvSpPr>
          <p:cNvPr id="2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7EA4C133-5A44-47C7-AFAC-D4DAEB08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77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5" name="code-line">
            <a:extLst xmlns:a="http://schemas.openxmlformats.org/drawingml/2006/main">
              <a:ext uri="{FF2B5EF4-FFF2-40B4-BE49-F238E27FC236}">
                <a16:creationId xmlns:a16="http://schemas.microsoft.com/office/drawing/2014/main" id="{215F5F90-9E41-4DB9-9CED-8148ACA1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770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op-0002 | marko | contact.schedule | GS-NOVI-SAD | duration_too_long</a:t>
            </a:r>
          </a:p>
        </p:txBody>
      </p:sp>
      <p:sp>
        <p:nvSpPr>
          <p:cNvPr id="2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B69CBF6-9564-4218-AEFF-3D8A32C7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10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27" name="code-line">
            <a:extLst xmlns:a="http://schemas.openxmlformats.org/drawingml/2006/main">
              <a:ext uri="{FF2B5EF4-FFF2-40B4-BE49-F238E27FC236}">
                <a16:creationId xmlns:a16="http://schemas.microsoft.com/office/drawing/2014/main" id="{8311AC40-5110-42BA-8B1D-8D252D50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1065"/>
            <a:ext cx="67741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op-0003 | jelena | contact.schedule | GS-BEOGRAD | station_unavailable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F54FA-37D2-48CF-9925-52A217BD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8EFD69-C04C-4896-B805-36B34D94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3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2FEE06C-838E-4882-B35F-590BE705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498280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509ED-2D26-420C-B4B6-CC9D15F1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2AD78-246F-4E8D-AED4-7080C9C9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9FD8D5-E03F-47B2-B8D3-4EB0F576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Невалидна конфигурација зауставља покретање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C261C8A4-940F-4D1F-8327-FE3E288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MaxDuration мора бити већи од нуле и највише 60 минута. Провера се извршава пре конструисања use case-а.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167CC-9C1A-449B-9A7B-07ED730D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A2511-757C-4E7D-A3AC-3BCA0097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116DB-FF71-402A-9F48-41B0A45A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MaxDuration = 0 → config_max_duration_must_be_positive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65701-3347-4F89-9ACF-60A9EF72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64407-FBDD-4F80-B774-DD4A3CA7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91F0A-9292-406F-A7FE-E7CD1C9E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MaxDuration = 61 min → config_max_duration_above_hard_limit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C6A3E-D691-45F5-A68E-D2166CCE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0DDE1-2FCB-4825-B96B-C26A7B37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B61E3-6F62-4CED-87F6-63A1976A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→ TryCreateDemo враћа Demo = null, а Program исписује код грешке и враћа exit code 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9708A-5C72-4B43-B4B8-368C158E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235FC-969F-40F0-BC5F-04CADA94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5DFC5FD-B252-475E-B186-8F4C610F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196784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20E75-2694-4250-907F-71FE5CD6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37DF8-35A1-499C-8B2E-0B5DB090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 · КОД И ТЕСТ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EC5BCC-A66A-4734-AFEB-1ADA4CBC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Невалидна конфигурација зауставља покретање · тест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EAEF55A7-BFAA-4FCC-816B-5C32A83A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MaxDuration мора бити већи од нуле и највише 60 минута. Провера се извршава пре конструисања use case-а.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2160DF09-83B9-481E-B5F3-8F5C8A11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9027795" cy="1784985"/>
          </a:xfrm>
          <a:prstGeom xmlns:a="http://schemas.openxmlformats.org/drawingml/2006/main" prst="roundRect">
            <a:avLst>
              <a:gd name="adj" fmla="val 533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EC078-BDCB-471B-BE94-D4011045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86658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NUnit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802EE-BD46-4C41-B8E6-A4E9B5EF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714625"/>
            <a:ext cx="86658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A67D71CA-6255-4CD9-A4EE-E554B472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9" name="code-line">
            <a:extLst xmlns:a="http://schemas.openxmlformats.org/drawingml/2006/main">
              <a:ext uri="{FF2B5EF4-FFF2-40B4-BE49-F238E27FC236}">
                <a16:creationId xmlns:a16="http://schemas.microsoft.com/office/drawing/2014/main" id="{606FB4F7-5DEA-46EE-BD55-992AEBC2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0" name="line-number">
            <a:extLst xmlns:a="http://schemas.openxmlformats.org/drawingml/2006/main">
              <a:ext uri="{FF2B5EF4-FFF2-40B4-BE49-F238E27FC236}">
                <a16:creationId xmlns:a16="http://schemas.microsoft.com/office/drawing/2014/main" id="{01974910-1E42-43FE-AB3F-AD96C04E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418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1" name="code-line">
            <a:extLst xmlns:a="http://schemas.openxmlformats.org/drawingml/2006/main">
              <a:ext uri="{FF2B5EF4-FFF2-40B4-BE49-F238E27FC236}">
                <a16:creationId xmlns:a16="http://schemas.microsoft.com/office/drawing/2014/main" id="{D953E769-ECE3-41D9-ADE2-3213A61C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418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void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Validate_WhenLimitIsNotPositive_Rejects()</a:t>
            </a:r>
          </a:p>
        </p:txBody>
      </p:sp>
      <p:sp>
        <p:nvSpPr>
          <p:cNvPr id="12" name="line-number">
            <a:extLst xmlns:a="http://schemas.openxmlformats.org/drawingml/2006/main">
              <a:ext uri="{FF2B5EF4-FFF2-40B4-BE49-F238E27FC236}">
                <a16:creationId xmlns:a16="http://schemas.microsoft.com/office/drawing/2014/main" id="{BE5F743B-7E51-4F4D-A7D5-31B9D4F4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754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3" name="code-line">
            <a:extLst xmlns:a="http://schemas.openxmlformats.org/drawingml/2006/main">
              <a:ext uri="{FF2B5EF4-FFF2-40B4-BE49-F238E27FC236}">
                <a16:creationId xmlns:a16="http://schemas.microsoft.com/office/drawing/2014/main" id="{822DE155-C6EA-4FB9-AD10-AF0C9FA2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754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line-number">
            <a:extLst xmlns:a="http://schemas.openxmlformats.org/drawingml/2006/main">
              <a:ext uri="{FF2B5EF4-FFF2-40B4-BE49-F238E27FC236}">
                <a16:creationId xmlns:a16="http://schemas.microsoft.com/office/drawing/2014/main" id="{8F8960DD-4449-4131-94A8-24AA4945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090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5" name="code-line">
            <a:extLst xmlns:a="http://schemas.openxmlformats.org/drawingml/2006/main">
              <a:ext uri="{FF2B5EF4-FFF2-40B4-BE49-F238E27FC236}">
                <a16:creationId xmlns:a16="http://schemas.microsoft.com/office/drawing/2014/main" id="{DC5EE769-7053-4859-83E5-7C6BC15D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090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result = _validator.Validate(</a:t>
            </a:r>
            <a:r>
              <a:rPr sz="120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ContactLimits(TimeSpan.Zero));</a:t>
            </a:r>
          </a:p>
        </p:txBody>
      </p:sp>
      <p:sp>
        <p:nvSpPr>
          <p:cNvPr id="16" name="line-number">
            <a:extLst xmlns:a="http://schemas.openxmlformats.org/drawingml/2006/main">
              <a:ext uri="{FF2B5EF4-FFF2-40B4-BE49-F238E27FC236}">
                <a16:creationId xmlns:a16="http://schemas.microsoft.com/office/drawing/2014/main" id="{FC425090-B747-4A02-AA16-FAEB748C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426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17" name="code-line">
            <a:extLst xmlns:a="http://schemas.openxmlformats.org/drawingml/2006/main">
              <a:ext uri="{FF2B5EF4-FFF2-40B4-BE49-F238E27FC236}">
                <a16:creationId xmlns:a16="http://schemas.microsoft.com/office/drawing/2014/main" id="{F364C08B-D52F-4610-8015-7D10C3BB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4426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    Assert.That(result.Error, Is.EqualTo(ConfigurationCodes.MaxDurationMustBePositive));</a:t>
            </a:r>
          </a:p>
        </p:txBody>
      </p:sp>
      <p:sp>
        <p:nvSpPr>
          <p:cNvPr id="18" name="line-number">
            <a:extLst xmlns:a="http://schemas.openxmlformats.org/drawingml/2006/main">
              <a:ext uri="{FF2B5EF4-FFF2-40B4-BE49-F238E27FC236}">
                <a16:creationId xmlns:a16="http://schemas.microsoft.com/office/drawing/2014/main" id="{24213DFE-2C95-4F27-9CA6-FCDB228D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952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19" name="code-line">
            <a:extLst xmlns:a="http://schemas.openxmlformats.org/drawingml/2006/main">
              <a:ext uri="{FF2B5EF4-FFF2-40B4-BE49-F238E27FC236}">
                <a16:creationId xmlns:a16="http://schemas.microsoft.com/office/drawing/2014/main" id="{688A4BB1-86DC-4754-B5C0-AF575250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82372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CFCF2-F5F8-4175-A3E9-E32CE8BF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33CD4-B710-4EFE-BB68-A0890EC9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0F19075-39D8-48FE-8439-D9DDF0EA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06750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0E5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BD487-B252-47F4-BDC0-13F38758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3875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C03B5-30A4-4234-AA07-BE464A09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6858000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31F73-D0ED-486E-AED0-1A99B7F8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6858000" cy="699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48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и провера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B7AD9-2281-437A-B8F2-E84745A0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758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Принципи, замке, задатак уз пример и примена на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15E40-5E08-445E-BA7E-92D050C7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1E5E2-7959-402B-8882-020A40FF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27C7DE6-0561-421B-8CAA-138D9E29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356787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C2DE1-650B-46EA-8DDC-E3E6D128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B6388-58A8-476C-A227-EB86D42C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E0D97E-3A3E-4E7E-9DC4-833260E2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Принципи и замке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DDF3FA4-8FEC-4E48-8051-5762C889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DECD4-09E3-43FD-AC04-005467C1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5162550" cy="2747010"/>
          </a:xfrm>
          <a:prstGeom xmlns:a="http://schemas.openxmlformats.org/drawingml/2006/main" prst="roundRect">
            <a:avLst>
              <a:gd name="adj" fmla="val 346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2B2F1-2350-4C6F-BD68-E72DD712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ПРИНЦИПИ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CE7CB-3C71-4235-9C0E-3410F49E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71BAD-371C-4EFB-A4BB-D869835B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4322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Audit чува одлуке које су важне за одговорност и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истрагу.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6C73A-14FA-4CF8-9B90-E75A5B39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2714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53A24-5C65-4503-8A40-1E45C136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664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Логови и трагови чувају технички контекст, али не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тајне.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B7998-8D5F-4254-898E-ADD523E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2056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AE4EB-A2D5-4FFD-B861-A60F8759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3006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Конфигурација има валидно значење, власника и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начин промене.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8404B-92AE-4667-89B9-DD4FB8FA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162550" cy="2495550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CF8C9-B010-4DB8-854A-7AE7BC2F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ЗАМКЕ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837EA-D132-4FFD-BE42-2192F545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337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4851E-EB50-4225-96D4-655DC3FB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43225"/>
            <a:ext cx="45529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Лог који открива креденцијале или личне податке.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BD5CB-D51C-4010-B404-CFEF67E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7568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978FC-D1B5-46F6-B063-36EE3CC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8518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Корелациони идентификатор креиран у свакој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компоненти уместо пренет.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B5FF3-E770-4865-81F5-E11FE74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6910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2A330-C841-442B-BA54-65CA0FC6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8605"/>
            <a:ext cx="455295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Конфигурација прихваћена без провере опсега и</a:t>
            </a:r>
          </a:p>
          <a:p xmlns:a="http://schemas.openxmlformats.org/drawingml/2006/main">
            <a:pPr algn="l">
              <a:lnSpc>
                <a:spcPct val="137500"/>
              </a:lnSpc>
              <a:buNone/>
              <a:def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4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утицаја.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3FBDE-6A44-4BBF-B2F9-54A67640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4C421-B209-460C-9411-08202637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6A29882-C112-4F3A-92DF-9ABB12D3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626383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D7193-35D0-404F-A3A4-4A51200F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8A788-C8AC-4DC0-8C9F-6AE60455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AE6847-49FD-4ADE-9741-F8A55B22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Типичне грешке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026EA80-7B25-4462-ABA9-BB79AB13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18FA8-2DA4-460C-A436-5777E88A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5D82C-DCA5-4593-A74A-11FD7937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30361-9F39-4206-8A0A-D55D330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Тајне у логовима.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2ECBE-4CC3-4887-9DB7-E392835F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C6E6C-0FBD-4EFF-BAD5-8FEB45CD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070A4-3C51-479A-AC79-708F5C9A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Нови корелациони идентификатор у сваком слоју.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AADE4-3E8A-40F1-A238-D20D3B38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D218D-B25F-485F-8B74-CF8976DE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F62E1-51C6-4278-9D95-2D0547C5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Конфигурација без валидног опсега.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45DBE-CEEF-4C80-A545-BD19699B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B5BE7-83AF-4216-990D-1D23B529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30567A9-7CA6-4E69-9979-4960702E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625555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1957C-F1FC-421C-B790-1BB34A9F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2694C-8742-4336-B6EC-B0019B0F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B521D9-6BF0-4BF8-B619-D51067FA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се принцип примењује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B563A6D1-CEC0-442F-BFA6-EB9ED2C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9AD67-5F01-4564-B23F-0DA32360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E325E-C192-4868-8F92-15995FC9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CE28F-477B-47BD-A4C8-B732118F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Пратити неколико важних токова од захтева до исхода.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93061-A86B-4A5F-93A0-050AC669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EB8B8-8570-40F1-A8AB-CF7087E0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79C0A-45D7-4123-94FC-BF5DA806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Преносити исти контекст кроз границе.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532C1-ED41-4D06-9069-3C806FD8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CB839-7B26-429A-A436-F1BDD0FE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721E5-DCC8-4D8C-9626-26AE3B55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Тестирати промењен или невалидан услов рада.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BF3E8-67A8-40D0-9A65-2654725F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06E0D-582A-4917-8901-AEBB050B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A89B690-EEF7-4FD8-8C0D-ACEBBFB5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23511771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8E98C-8C84-4BA2-BA09-EE67EA14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EC147-9C2E-4827-8D79-D20691A6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99AC17-FC39-4412-A783-AD9A8EE2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Питање за дискусију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F65CD9BA-78D5-4159-A321-5EB75868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8CE37-AD9D-442A-8754-1395F883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2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бисте за један неуспешан захтев спојили траг из API-ја, реда порука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 workera?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5AC84B72-CD54-45CD-9FFD-461CC023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97536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0E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7D80C8C1-D59D-4CE4-B040-49D8C2E1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975360"/>
          </a:xfrm>
          <a:custGeom xmlns:a="http://schemas.openxmlformats.org/drawingml/2006/main">
            <a:pathLst>
              <a:path w="76200" h="97536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899160"/>
                </a:lnTo>
                <a:cubicBezTo>
                  <a:pt x="0" y="941261"/>
                  <a:pt x="34100" y="975360"/>
                  <a:pt x="76200" y="975360"/>
                </a:cubicBezTo>
                <a:lnTo>
                  <a:pt x="76200" y="937260"/>
                </a:lnTo>
                <a:cubicBezTo>
                  <a:pt x="55150" y="937260"/>
                  <a:pt x="38100" y="920210"/>
                  <a:pt x="38100" y="89916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6B3A8-6898-49A4-9283-7E4FA673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ЗА ВЕЖБУ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9C35B-5BD3-4BA1-A3DC-E48F16E2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50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Како бисте реконструисали једну неуспелу операцију која је прошла кроз API, ред порука и worker, а да не читате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неограничену количину логова?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4935E-94D8-4679-9695-40581F9E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C1B6C-7D59-4A00-9860-37B4BBCA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39F73C9-C3E3-4E0D-BBB0-E0A48CB5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837011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E200D-E89C-401C-B215-56F6CB9E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5BBF8-35D8-4232-ADC1-D756E73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9EF96F-8C60-4F36-AC12-18E3E668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Задатак уз пример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5D2EC0C-2A8F-4B94-B459-270962D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Проширење примера уз вежбу, правило иде у домен, а доказ у тест.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330BD-2A13-4228-B726-85171C66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CCD59-7D24-4DA7-A49A-1C311F4B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214D6-0D42-45CC-8473-63715D36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Додати у OperationContext идентификатор позивајуће компоненте (Source) и уписати га у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ревизијски запис.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01A23-A0FF-438B-97CD-D2FA2DB5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2194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6DBEE-8376-47D6-9229-BB2244BD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0CEF2-BD62-45AF-93AD-C8D05D9C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62325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Проширити тест тако да доказује да запис садржи и извор операције.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85FEC-1E3C-4C83-9E95-E83743AF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8A505-E9DA-4620-B8B7-A910BF3E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7E2309F-810C-4C1C-BC2F-9459A26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4406443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DA0A4-2080-495D-AB04-1504B18B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02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33195-A6D1-4105-9ADB-248D699B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44BC41-0AD5-40BC-821A-13BBF369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на пројекат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42F67A05-56E5-482A-AF24-8E9425FC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Принцип са вежбе примењује се на додељену пројектну целину.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782AE-CE3C-4C95-8F24-C2584338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33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56FEB-98F9-4271-83C1-E7CAE76C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45B41-7B93-4228-97C7-A0AFB44B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Идентификовати конкретну дистрибуирану одлуку у својој целини.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FE7A5-96A0-4797-95E2-A94F7F1E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860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6CEFD-39D7-4312-B462-C41EF8B4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DFD59-B75C-4963-BCAE-2019BBFA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Имплементирати је са стабилним кодом исхода.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0737A-6672-4560-9608-427919D2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3438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C50FB-699F-4231-BB2B-6B815ACB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695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defRPr>
            </a:pPr>
            <a:r>
              <a:rPr sz="2198" b="0">
                <a:solidFill>
                  <a:srgbClr val="B0213C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41A04-B5EC-4EA0-B888-8D0AAAA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81400"/>
            <a:ext cx="979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Припремити поновљив failure сценарио и тест који га доказује.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1DBD8-D32A-4059-9FF0-234077BE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4B316-2F81-4994-9E5E-4451BA02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5ECD053-9602-4DE7-B6EE-C9806910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055967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B021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C5789-1404-4A25-B584-A3641A9B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22BB8-AF42-4DA2-B4FE-987CA0F9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4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04 · ПРИМЕНА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0897BD-1BA4-470D-B8F5-345C2A6E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810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Резиме</a:t>
            </a:r>
          </a:p>
        </p:txBody>
      </p:sp>
      <p:sp>
        <p:nvSpPr>
          <p:cNvPr id="4" name="slide-lead">
            <a:extLst xmlns:a="http://schemas.openxmlformats.org/drawingml/2006/main">
              <a:ext uri="{FF2B5EF4-FFF2-40B4-BE49-F238E27FC236}">
                <a16:creationId xmlns:a16="http://schemas.microsoft.com/office/drawing/2014/main" id="{33EB295A-94C1-4357-AC34-AF3CB2D7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90675"/>
            <a:ext cx="10572750" cy="277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Тим бира неколико операција које мора умети да прати од захтева до исхода.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94C63-3DA9-4338-A11C-5D2FCAA4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9810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Један контекст пролази кроз све компоненте, па се неуспех може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објаснити без нагађања.</a:t>
            </a:r>
          </a:p>
        </p:txBody>
      </p:sp>
      <p:sp>
        <p:nvSpPr>
          <p:cNvPr id="6" name="banner-background">
            <a:extLst xmlns:a="http://schemas.openxmlformats.org/drawingml/2006/main">
              <a:ext uri="{FF2B5EF4-FFF2-40B4-BE49-F238E27FC236}">
                <a16:creationId xmlns:a16="http://schemas.microsoft.com/office/drawing/2014/main" id="{32960E12-9F19-46B3-9FFB-A3C297E0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572750" cy="735330"/>
          </a:xfrm>
          <a:prstGeom xmlns:a="http://schemas.openxmlformats.org/drawingml/2006/main" prst="roundRect">
            <a:avLst>
              <a:gd name="adj" fmla="val 10363"/>
            </a:avLst>
          </a:prstGeom>
          <a:solidFill xmlns:a="http://schemas.openxmlformats.org/drawingml/2006/main">
            <a:srgbClr val="BA3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ner-curved-accent">
            <a:extLst xmlns:a="http://schemas.openxmlformats.org/drawingml/2006/main">
              <a:ext uri="{FF2B5EF4-FFF2-40B4-BE49-F238E27FC236}">
                <a16:creationId xmlns:a16="http://schemas.microsoft.com/office/drawing/2014/main" id="{38AE2754-B409-4A6B-BF15-B944B9BF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76200" cy="735330"/>
          </a:xfrm>
          <a:custGeom xmlns:a="http://schemas.openxmlformats.org/drawingml/2006/main">
            <a:pathLst>
              <a:path w="76200" h="735330">
                <a:moveTo>
                  <a:pt x="76200" y="0"/>
                </a:moveTo>
                <a:cubicBezTo>
                  <a:pt x="34100" y="0"/>
                  <a:pt x="0" y="34100"/>
                  <a:pt x="0" y="76200"/>
                </a:cubicBezTo>
                <a:lnTo>
                  <a:pt x="0" y="659130"/>
                </a:lnTo>
                <a:cubicBezTo>
                  <a:pt x="0" y="701231"/>
                  <a:pt x="34100" y="735330"/>
                  <a:pt x="76200" y="735330"/>
                </a:cubicBezTo>
                <a:lnTo>
                  <a:pt x="76200" y="697230"/>
                </a:lnTo>
                <a:cubicBezTo>
                  <a:pt x="55150" y="697230"/>
                  <a:pt x="38100" y="680180"/>
                  <a:pt x="38100" y="659130"/>
                </a:cubicBezTo>
                <a:lnTo>
                  <a:pt x="38100" y="76200"/>
                </a:lnTo>
                <a:cubicBezTo>
                  <a:pt x="38100" y="55150"/>
                  <a:pt x="55150" y="38100"/>
                  <a:pt x="76200" y="38100"/>
                </a:cubicBezTo>
                <a:close/>
              </a:path>
            </a:pathLst>
          </a:custGeom>
          <a:solidFill xmlns:a="http://schemas.openxmlformats.org/drawingml/2006/main">
            <a:srgbClr val="FCFC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E3D1F-2493-4BF2-ACBE-145EC189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11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1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00BCD-259E-4D35-B746-0942B148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95825"/>
            <a:ext cx="1011555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4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Наредна вежба: Верзионисање и failure-first тестирање.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BDF8A-B8FA-46B3-AF0C-F7F17ADC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152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79574-E4E0-4A36-BB63-D05BD45B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9602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FCFCFB"/>
                </a:solidFill>
                <a:latin typeface="IBM Plex Sans"/>
                <a:ea typeface="IBM Plex Sans"/>
                <a:cs typeface="IBM Plex Sans"/>
              </a:rPr>
              <a:t>Основе дистрибуираног програмирања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649C487-801F-429C-BDC2-46EA1193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2960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defPPr>
          </a:lstStyle>
          <a:p xmlns:a="http://schemas.openxmlformats.org/drawingml/2006/main">
            <a:pPr algn="r">
              <a:lnSpc>
                <a:spcPct val="135000"/>
              </a:lnSpc>
              <a:buNone/>
              <a:def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 b="0">
                <a:solidFill>
                  <a:srgbClr val="FCFCFB"/>
                </a:solidFill>
                <a:latin typeface="IBM Plex Mono"/>
                <a:ea typeface="IBM Plex Mono"/>
                <a:cs typeface="IBM Plex Mono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07627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2026-10-10T19:18:56.1530000Z</dcterms:created>
  <dcterms:modified xsi:type="dcterms:W3CDTF">2026-10-10T19:18:56.1530000Z</dcterms:modified>
</coreProperties>
</file>