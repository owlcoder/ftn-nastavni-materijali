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8c286a95e24c78" /><Relationship Type="http://schemas.openxmlformats.org/officeDocument/2006/relationships/extended-properties" Target="/docProps/app.xml" Id="R76ad395320774916" /><Relationship Type="http://schemas.openxmlformats.org/officeDocument/2006/relationships/officeDocument" Target="/ppt/presentation.xml" Id="R03654d2b112d4b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c8654f2dd24052"/>
  </p:sldMasterIdLst>
  <p:notesMasterIdLst>
    <p:notesMasterId xmlns:r="http://schemas.openxmlformats.org/officeDocument/2006/relationships" r:id="R83c11ca2bc054f5c"/>
  </p:notesMasterIdLst>
  <p:sldIdLst>
    <p:sldId xmlns:r="http://schemas.openxmlformats.org/officeDocument/2006/relationships" id="256" r:id="Rce2c53db6115494b"/>
    <p:sldId xmlns:r="http://schemas.openxmlformats.org/officeDocument/2006/relationships" id="257" r:id="R4d554cdeb7a14e24"/>
    <p:sldId xmlns:r="http://schemas.openxmlformats.org/officeDocument/2006/relationships" id="258" r:id="Ra8dc800b7834415a"/>
    <p:sldId xmlns:r="http://schemas.openxmlformats.org/officeDocument/2006/relationships" id="259" r:id="Rb5c9c7b1f817462c"/>
    <p:sldId xmlns:r="http://schemas.openxmlformats.org/officeDocument/2006/relationships" id="260" r:id="Raeb2059be26a4260"/>
    <p:sldId xmlns:r="http://schemas.openxmlformats.org/officeDocument/2006/relationships" id="261" r:id="R203b35e3cd0c4479"/>
    <p:sldId xmlns:r="http://schemas.openxmlformats.org/officeDocument/2006/relationships" id="262" r:id="R4ac695834a6f455f"/>
    <p:sldId xmlns:r="http://schemas.openxmlformats.org/officeDocument/2006/relationships" id="263" r:id="Re7b4bab442bb41bd"/>
    <p:sldId xmlns:r="http://schemas.openxmlformats.org/officeDocument/2006/relationships" id="264" r:id="Rd395e1b3112e48e4"/>
    <p:sldId xmlns:r="http://schemas.openxmlformats.org/officeDocument/2006/relationships" id="265" r:id="R23e63c86b9fa40ad"/>
    <p:sldId xmlns:r="http://schemas.openxmlformats.org/officeDocument/2006/relationships" id="266" r:id="Rc576f289e00f49e1"/>
    <p:sldId xmlns:r="http://schemas.openxmlformats.org/officeDocument/2006/relationships" id="267" r:id="Rcd9419434c904421"/>
    <p:sldId xmlns:r="http://schemas.openxmlformats.org/officeDocument/2006/relationships" id="268" r:id="R9d49e60431db427b"/>
    <p:sldId xmlns:r="http://schemas.openxmlformats.org/officeDocument/2006/relationships" id="269" r:id="R182e9ca2521a441c"/>
    <p:sldId xmlns:r="http://schemas.openxmlformats.org/officeDocument/2006/relationships" id="270" r:id="Rc4b3d47688ba4474"/>
    <p:sldId xmlns:r="http://schemas.openxmlformats.org/officeDocument/2006/relationships" id="271" r:id="R522dd764e1464d92"/>
    <p:sldId xmlns:r="http://schemas.openxmlformats.org/officeDocument/2006/relationships" id="272" r:id="Rd3c8f79512724b33"/>
    <p:sldId xmlns:r="http://schemas.openxmlformats.org/officeDocument/2006/relationships" id="273" r:id="Rd196ec30f4974fd0"/>
    <p:sldId xmlns:r="http://schemas.openxmlformats.org/officeDocument/2006/relationships" id="274" r:id="R8f51674a34bf40e1"/>
    <p:sldId xmlns:r="http://schemas.openxmlformats.org/officeDocument/2006/relationships" id="275" r:id="R513008d1b14847c8"/>
    <p:sldId xmlns:r="http://schemas.openxmlformats.org/officeDocument/2006/relationships" id="276" r:id="Ra29e4ea25092497c"/>
    <p:sldId xmlns:r="http://schemas.openxmlformats.org/officeDocument/2006/relationships" id="277" r:id="R05ca19a632b94d5e"/>
    <p:sldId xmlns:r="http://schemas.openxmlformats.org/officeDocument/2006/relationships" id="278" r:id="R2551d964559948d9"/>
    <p:sldId xmlns:r="http://schemas.openxmlformats.org/officeDocument/2006/relationships" id="279" r:id="R0beef079670b4ee7"/>
    <p:sldId xmlns:r="http://schemas.openxmlformats.org/officeDocument/2006/relationships" id="280" r:id="R8dc3e6a57c5045fc"/>
    <p:sldId xmlns:r="http://schemas.openxmlformats.org/officeDocument/2006/relationships" id="281" r:id="R9b4d54d57d8e421a"/>
    <p:sldId xmlns:r="http://schemas.openxmlformats.org/officeDocument/2006/relationships" id="282" r:id="R6ed499bcd5c1448b"/>
    <p:sldId xmlns:r="http://schemas.openxmlformats.org/officeDocument/2006/relationships" id="283" r:id="R913c6b29bda740ea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bfc640fd0443ee" /><Relationship Type="http://schemas.openxmlformats.org/officeDocument/2006/relationships/slideMaster" Target="/ppt/slideMasters/slideMaster1.xml" Id="Rddc8654f2dd24052" /><Relationship Type="http://schemas.openxmlformats.org/officeDocument/2006/relationships/notesMaster" Target="/ppt/notesMasters/notesMaster1.xml" Id="R83c11ca2bc054f5c" /><Relationship Type="http://schemas.openxmlformats.org/officeDocument/2006/relationships/presProps" Target="/ppt/presProps.xml" Id="Rf02fefb6f2b04618" /><Relationship Type="http://schemas.openxmlformats.org/officeDocument/2006/relationships/tableStyles" Target="/ppt/tableStyles.xml" Id="Rbdf87e3a5311459d" /><Relationship Type="http://schemas.openxmlformats.org/officeDocument/2006/relationships/slide" Target="/ppt/slides/slide1.xml" Id="Rce2c53db6115494b" /><Relationship Type="http://schemas.openxmlformats.org/officeDocument/2006/relationships/slide" Target="/ppt/slides/slide2.xml" Id="R4d554cdeb7a14e24" /><Relationship Type="http://schemas.openxmlformats.org/officeDocument/2006/relationships/slide" Target="/ppt/slides/slide3.xml" Id="Ra8dc800b7834415a" /><Relationship Type="http://schemas.openxmlformats.org/officeDocument/2006/relationships/slide" Target="/ppt/slides/slide4.xml" Id="Rb5c9c7b1f817462c" /><Relationship Type="http://schemas.openxmlformats.org/officeDocument/2006/relationships/slide" Target="/ppt/slides/slide5.xml" Id="Raeb2059be26a4260" /><Relationship Type="http://schemas.openxmlformats.org/officeDocument/2006/relationships/slide" Target="/ppt/slides/slide6.xml" Id="R203b35e3cd0c4479" /><Relationship Type="http://schemas.openxmlformats.org/officeDocument/2006/relationships/slide" Target="/ppt/slides/slide7.xml" Id="R4ac695834a6f455f" /><Relationship Type="http://schemas.openxmlformats.org/officeDocument/2006/relationships/slide" Target="/ppt/slides/slide8.xml" Id="Re7b4bab442bb41bd" /><Relationship Type="http://schemas.openxmlformats.org/officeDocument/2006/relationships/slide" Target="/ppt/slides/slide9.xml" Id="Rd395e1b3112e48e4" /><Relationship Type="http://schemas.openxmlformats.org/officeDocument/2006/relationships/slide" Target="/ppt/slides/slide10.xml" Id="R23e63c86b9fa40ad" /><Relationship Type="http://schemas.openxmlformats.org/officeDocument/2006/relationships/slide" Target="/ppt/slides/slide11.xml" Id="Rc576f289e00f49e1" /><Relationship Type="http://schemas.openxmlformats.org/officeDocument/2006/relationships/slide" Target="/ppt/slides/slide12.xml" Id="Rcd9419434c904421" /><Relationship Type="http://schemas.openxmlformats.org/officeDocument/2006/relationships/slide" Target="/ppt/slides/slide13.xml" Id="R9d49e60431db427b" /><Relationship Type="http://schemas.openxmlformats.org/officeDocument/2006/relationships/slide" Target="/ppt/slides/slide14.xml" Id="R182e9ca2521a441c" /><Relationship Type="http://schemas.openxmlformats.org/officeDocument/2006/relationships/slide" Target="/ppt/slides/slide15.xml" Id="Rc4b3d47688ba4474" /><Relationship Type="http://schemas.openxmlformats.org/officeDocument/2006/relationships/slide" Target="/ppt/slides/slide16.xml" Id="R522dd764e1464d92" /><Relationship Type="http://schemas.openxmlformats.org/officeDocument/2006/relationships/slide" Target="/ppt/slides/slide17.xml" Id="Rd3c8f79512724b33" /><Relationship Type="http://schemas.openxmlformats.org/officeDocument/2006/relationships/slide" Target="/ppt/slides/slide18.xml" Id="Rd196ec30f4974fd0" /><Relationship Type="http://schemas.openxmlformats.org/officeDocument/2006/relationships/slide" Target="/ppt/slides/slide19.xml" Id="R8f51674a34bf40e1" /><Relationship Type="http://schemas.openxmlformats.org/officeDocument/2006/relationships/slide" Target="/ppt/slides/slide20.xml" Id="R513008d1b14847c8" /><Relationship Type="http://schemas.openxmlformats.org/officeDocument/2006/relationships/slide" Target="/ppt/slides/slide21.xml" Id="Ra29e4ea25092497c" /><Relationship Type="http://schemas.openxmlformats.org/officeDocument/2006/relationships/slide" Target="/ppt/slides/slide22.xml" Id="R05ca19a632b94d5e" /><Relationship Type="http://schemas.openxmlformats.org/officeDocument/2006/relationships/slide" Target="/ppt/slides/slide23.xml" Id="R2551d964559948d9" /><Relationship Type="http://schemas.openxmlformats.org/officeDocument/2006/relationships/slide" Target="/ppt/slides/slide24.xml" Id="R0beef079670b4ee7" /><Relationship Type="http://schemas.openxmlformats.org/officeDocument/2006/relationships/slide" Target="/ppt/slides/slide25.xml" Id="R8dc3e6a57c5045fc" /><Relationship Type="http://schemas.openxmlformats.org/officeDocument/2006/relationships/slide" Target="/ppt/slides/slide26.xml" Id="R9b4d54d57d8e421a" /><Relationship Type="http://schemas.openxmlformats.org/officeDocument/2006/relationships/slide" Target="/ppt/slides/slide27.xml" Id="R6ed499bcd5c1448b" /><Relationship Type="http://schemas.openxmlformats.org/officeDocument/2006/relationships/slide" Target="/ppt/slides/slide28.xml" Id="R913c6b29bda740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2dfddf6e1245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a648bb7ee4475a" /><Relationship Type="http://schemas.openxmlformats.org/officeDocument/2006/relationships/notesMaster" Target="/ppt/notesMasters/notesMaster1.xml" Id="Ree479e43633f40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f189305a614cb9" /><Relationship Type="http://schemas.openxmlformats.org/officeDocument/2006/relationships/notesMaster" Target="/ppt/notesMasters/notesMaster1.xml" Id="R47b3d10897de4d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dfed4f3abc4f6b" /><Relationship Type="http://schemas.openxmlformats.org/officeDocument/2006/relationships/notesMaster" Target="/ppt/notesMasters/notesMaster1.xml" Id="R5c533bdd0fb24d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3293416cde4c6f" /><Relationship Type="http://schemas.openxmlformats.org/officeDocument/2006/relationships/notesMaster" Target="/ppt/notesMasters/notesMaster1.xml" Id="R44ed95b40cab42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d948e3f5b6474e" /><Relationship Type="http://schemas.openxmlformats.org/officeDocument/2006/relationships/notesMaster" Target="/ppt/notesMasters/notesMaster1.xml" Id="Rc6a6b1b2ca014e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ca0488cd694d1d" /><Relationship Type="http://schemas.openxmlformats.org/officeDocument/2006/relationships/notesMaster" Target="/ppt/notesMasters/notesMaster1.xml" Id="Rf277934efb7942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0124f9ea934d32" /><Relationship Type="http://schemas.openxmlformats.org/officeDocument/2006/relationships/notesMaster" Target="/ppt/notesMasters/notesMaster1.xml" Id="R2090ddba0fc947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47c9a59ba4441c" /><Relationship Type="http://schemas.openxmlformats.org/officeDocument/2006/relationships/notesMaster" Target="/ppt/notesMasters/notesMaster1.xml" Id="Ra70aa70644d547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cb38f29a884760" /><Relationship Type="http://schemas.openxmlformats.org/officeDocument/2006/relationships/notesMaster" Target="/ppt/notesMasters/notesMaster1.xml" Id="R699237dc412543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812b833c92428b" /><Relationship Type="http://schemas.openxmlformats.org/officeDocument/2006/relationships/notesMaster" Target="/ppt/notesMasters/notesMaster1.xml" Id="R250a351873944f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44d86bff714140" /><Relationship Type="http://schemas.openxmlformats.org/officeDocument/2006/relationships/notesMaster" Target="/ppt/notesMasters/notesMaster1.xml" Id="R76f4a51407944d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59971fba924925" /><Relationship Type="http://schemas.openxmlformats.org/officeDocument/2006/relationships/notesMaster" Target="/ppt/notesMasters/notesMaster1.xml" Id="R11ef39b643a942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bdc613f17e417d" /><Relationship Type="http://schemas.openxmlformats.org/officeDocument/2006/relationships/notesMaster" Target="/ppt/notesMasters/notesMaster1.xml" Id="Rf5aad411ee454d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0fc0bdf4434b4b" /><Relationship Type="http://schemas.openxmlformats.org/officeDocument/2006/relationships/notesMaster" Target="/ppt/notesMasters/notesMaster1.xml" Id="Rb7a6b5bb8e1e49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e31fe6683743dd" /><Relationship Type="http://schemas.openxmlformats.org/officeDocument/2006/relationships/notesMaster" Target="/ppt/notesMasters/notesMaster1.xml" Id="Rddd0409db4f24e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511771192c4191" /><Relationship Type="http://schemas.openxmlformats.org/officeDocument/2006/relationships/notesMaster" Target="/ppt/notesMasters/notesMaster1.xml" Id="R06b23467394840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fcd624378c4535" /><Relationship Type="http://schemas.openxmlformats.org/officeDocument/2006/relationships/notesMaster" Target="/ppt/notesMasters/notesMaster1.xml" Id="Re825fc499af948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ca3b5ffcade420c" /><Relationship Type="http://schemas.openxmlformats.org/officeDocument/2006/relationships/notesMaster" Target="/ppt/notesMasters/notesMaster1.xml" Id="R4e88c03662fb4d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0942e29b2fb4e1f" /><Relationship Type="http://schemas.openxmlformats.org/officeDocument/2006/relationships/notesMaster" Target="/ppt/notesMasters/notesMaster1.xml" Id="R4cc57c543001463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27eaf885c054d23" /><Relationship Type="http://schemas.openxmlformats.org/officeDocument/2006/relationships/notesMaster" Target="/ppt/notesMasters/notesMaster1.xml" Id="R83b1211ef7624e6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d6337587a95495d" /><Relationship Type="http://schemas.openxmlformats.org/officeDocument/2006/relationships/notesMaster" Target="/ppt/notesMasters/notesMaster1.xml" Id="R20b242b16a98419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6b1beaf189d4571" /><Relationship Type="http://schemas.openxmlformats.org/officeDocument/2006/relationships/notesMaster" Target="/ppt/notesMasters/notesMaster1.xml" Id="Reda5336fb9f94c9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426663b156548b9" /><Relationship Type="http://schemas.openxmlformats.org/officeDocument/2006/relationships/notesMaster" Target="/ppt/notesMasters/notesMaster1.xml" Id="R40f3eaa7bdfc406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b0fc459aecc4482" /><Relationship Type="http://schemas.openxmlformats.org/officeDocument/2006/relationships/notesMaster" Target="/ppt/notesMasters/notesMaster1.xml" Id="R13af424a7abf43e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d7673fcc37a4256" /><Relationship Type="http://schemas.openxmlformats.org/officeDocument/2006/relationships/notesMaster" Target="/ppt/notesMasters/notesMaster1.xml" Id="R094de2e4a9bd4d5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f1dca1181cf4b22" /><Relationship Type="http://schemas.openxmlformats.org/officeDocument/2006/relationships/notesMaster" Target="/ppt/notesMasters/notesMaster1.xml" Id="Rdc6c048ad4ef4de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e17a3beecab466d" /><Relationship Type="http://schemas.openxmlformats.org/officeDocument/2006/relationships/notesMaster" Target="/ppt/notesMasters/notesMaster1.xml" Id="R01970dd85b0f480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1c3e682577d4945" /><Relationship Type="http://schemas.openxmlformats.org/officeDocument/2006/relationships/notesMaster" Target="/ppt/notesMasters/notesMaster1.xml" Id="R1ad9e08f105b4a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Извори: OIB_Pravila_Polaganja.pdf, oibPracticum.ts. Академска 2026/27.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Презентација је организована у четири тематске целине. Опсези слајдова су наведени у садржају.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oibPracticum.ts — сажетак практикума.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Илустративна шема. Захтев утврђује очекивани исход, серверска контрола спроводи правило, а негативан тест и ревизиони запис показују шта се десило. Не описује додатно правило полагања.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Начини полагања, бодови, испитне компоненте и признавање раније испуњених обавеза.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одељак 1.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табела структуре полагања. Додатни бодови су раздвојени на предиспитни и испитни део према табели правила полагања. Укупан збир се ограничава на 100.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 — коначна оцена.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одељци 4–6.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одељак 5. Структура 6 × 2 + 8 додата је из OIB_Pravila_Polaganja.pdf, одељак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одељак 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одељак 7.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Тимски пројекат у систему SCUTUM, индивидуални допринос и практични део дипломског рада.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одељак 2.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одељак 2.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одељци 1, 2 и 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Током семестра постоје две контролне тачке. КТ1 је у термину 4. рачунарске вежбе и проверава основну имплементацију и безбедносни модел, покренут функционални ток и негативни тест. КТ2 је у термину 8. рачунарске вежбе и проверава све додељене целине у одобреном обиму, интеграцију, тестове и поновљиву демонстрацију. Контролне тачке и термини одбране пројекта су одвојене обавезе. Неиспуњена контролна тачка може донети умањење до 5 бодова према Правилима полагања.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Током семестра постоје две контролне тачке. КТ1 је у термину 4. рачунарске вежбе и проверава основну имплементацију и безбедносни модел, покренут функционални ток и негативни тест. КТ2 је у термину 8. рачунарске вежбе и проверава све додељене целине у одобреном обиму, интеграцију, тестове и поновљиву демонстрацију. Контролне тачке и термини одбране пројекта су одвојене обавезе. Неиспуњена контролна тачка може донети умањење до 5 бодова према Правилима полагања.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Током семестра постоје две контролне тачке. КТ1 је у термину 4. рачунарске вежбе и проверава основну имплементацију и безбедносни модел, покренут функционални ток и негативни тест. КТ2 је у термину 8. рачунарске вежбе и проверава све додељене целине у одобреном обиму, интеграцију, тестове и поновљиву демонстрацију. Контролне тачке и термини одбране пројекта су одвојене обавезе. Неиспуњена контролна тачка може донети умањење до 5 бодова према Правилима полагања.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одељак 8.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Практикум, исходи предмета, правила рада и припрема тима за прву тему.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oibPracticum.ts — Како користити практикум.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oibPracticum.ts — циљеви и сажетак практикума.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одељак 9.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OIB_Pravila_Polaganja.pdf, одељци 4 и 9.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Извори: oibPracticum.ts и oibCheckpoints.ts.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Додат илустративни пример, није нова обавеза предмета. Заснован на принципима практикума и теме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Резиме организационих правила и радног модела из изворне презентације.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5f6bae24ed4f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d1511ff0d142f4" /><Relationship Type="http://schemas.openxmlformats.org/officeDocument/2006/relationships/slideLayout" Target="/ppt/slideLayouts/slideLayout1.xml" Id="R5ce84cea0fd240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e84cea0fd240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546fc214d4de5" /><Relationship Type="http://schemas.openxmlformats.org/officeDocument/2006/relationships/image" Target="/ppt/media/image.png" Id="R3e2645a603574e8d" /><Relationship Type="http://schemas.openxmlformats.org/officeDocument/2006/relationships/notesSlide" Target="/ppt/notesSlides/notesSlide1.xml" Id="Rc4075f6f707e46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d0c3cacfe4925" /><Relationship Type="http://schemas.openxmlformats.org/officeDocument/2006/relationships/notesSlide" Target="/ppt/notesSlides/notesSlide2.xml" Id="Rc1a32d31c9ac45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b288ae5c84dbd" /><Relationship Type="http://schemas.openxmlformats.org/officeDocument/2006/relationships/image" Target="/ppt/media/image2.png" Id="Rafe3560f0c8a4164" /><Relationship Type="http://schemas.openxmlformats.org/officeDocument/2006/relationships/image" Target="/ppt/media/image3.png" Id="R482691eb9fd64bcd" /><Relationship Type="http://schemas.openxmlformats.org/officeDocument/2006/relationships/image" Target="/ppt/media/image4.png" Id="Re624ad62103b4d04" /><Relationship Type="http://schemas.openxmlformats.org/officeDocument/2006/relationships/image" Target="/ppt/media/image5.png" Id="R170fab7c349e417e" /><Relationship Type="http://schemas.openxmlformats.org/officeDocument/2006/relationships/notesSlide" Target="/ppt/notesSlides/notesSlide3.xml" Id="Rc557c16a5f0c4d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fd864227c4876" /><Relationship Type="http://schemas.openxmlformats.org/officeDocument/2006/relationships/image" Target="/ppt/media/image6.png" Id="R5e2f07c42f214920" /><Relationship Type="http://schemas.openxmlformats.org/officeDocument/2006/relationships/notesSlide" Target="/ppt/notesSlides/notesSlide4.xml" Id="R1957a880fbd848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d707e183340e7" /><Relationship Type="http://schemas.openxmlformats.org/officeDocument/2006/relationships/notesSlide" Target="/ppt/notesSlides/notesSlide5.xml" Id="R45260ccbed8c49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7b9dfe0ed4912" /><Relationship Type="http://schemas.openxmlformats.org/officeDocument/2006/relationships/notesSlide" Target="/ppt/notesSlides/notesSlide6.xml" Id="R144c81e7b08c4b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bc686a58a42df" /><Relationship Type="http://schemas.openxmlformats.org/officeDocument/2006/relationships/notesSlide" Target="/ppt/notesSlides/notesSlide7.xml" Id="R083984c72b744b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dcc4b4c834e08" /><Relationship Type="http://schemas.openxmlformats.org/officeDocument/2006/relationships/notesSlide" Target="/ppt/notesSlides/notesSlide8.xml" Id="R9f2c66e01d6640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44bae5f8c4594" /><Relationship Type="http://schemas.openxmlformats.org/officeDocument/2006/relationships/notesSlide" Target="/ppt/notesSlides/notesSlide9.xml" Id="R048a164bf4ff4d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ed8cb339d4f90" /><Relationship Type="http://schemas.openxmlformats.org/officeDocument/2006/relationships/notesSlide" Target="/ppt/notesSlides/notesSlide10.xml" Id="Re3061b0452e84c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3e507121c4ca8" /><Relationship Type="http://schemas.openxmlformats.org/officeDocument/2006/relationships/image" Target="/ppt/media/image7.png" Id="Rfbc9129721254750" /><Relationship Type="http://schemas.openxmlformats.org/officeDocument/2006/relationships/image" Target="/ppt/media/image8.png" Id="R122aade55e1c4f23" /><Relationship Type="http://schemas.openxmlformats.org/officeDocument/2006/relationships/image" Target="/ppt/media/image9.png" Id="Rbeeb1e1213254f21" /><Relationship Type="http://schemas.openxmlformats.org/officeDocument/2006/relationships/image" Target="/ppt/media/image10.png" Id="R06c1aedf924f47ff" /><Relationship Type="http://schemas.openxmlformats.org/officeDocument/2006/relationships/notesSlide" Target="/ppt/notesSlides/notesSlide11.xml" Id="R78f1d1715cb641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92175d18146ed" /><Relationship Type="http://schemas.openxmlformats.org/officeDocument/2006/relationships/notesSlide" Target="/ppt/notesSlides/notesSlide12.xml" Id="R3e0d729e1b0d4a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36d1869d643b8" /><Relationship Type="http://schemas.openxmlformats.org/officeDocument/2006/relationships/notesSlide" Target="/ppt/notesSlides/notesSlide13.xml" Id="R01a5e61cb18e48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ef42cd1d14ac2" /><Relationship Type="http://schemas.openxmlformats.org/officeDocument/2006/relationships/notesSlide" Target="/ppt/notesSlides/notesSlide14.xml" Id="Rf65aad688c9643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38151de7347df" /><Relationship Type="http://schemas.openxmlformats.org/officeDocument/2006/relationships/image" Target="/ppt/media/image11.png" Id="R1fee130feab34e6d" /><Relationship Type="http://schemas.openxmlformats.org/officeDocument/2006/relationships/image" Target="/ppt/media/image12.png" Id="Rdac7a479fb294a41" /><Relationship Type="http://schemas.openxmlformats.org/officeDocument/2006/relationships/image" Target="/ppt/media/image13.png" Id="R5df161f8bb4146ee" /><Relationship Type="http://schemas.openxmlformats.org/officeDocument/2006/relationships/image" Target="/ppt/media/image14.png" Id="R8b40232df2284e7a" /><Relationship Type="http://schemas.openxmlformats.org/officeDocument/2006/relationships/notesSlide" Target="/ppt/notesSlides/notesSlide15.xml" Id="R597d6c3bcd1448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9fe44c7014aac" /><Relationship Type="http://schemas.openxmlformats.org/officeDocument/2006/relationships/notesSlide" Target="/ppt/notesSlides/notesSlide16.xml" Id="Rbe19909cf2b445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cc134863f4602" /><Relationship Type="http://schemas.openxmlformats.org/officeDocument/2006/relationships/notesSlide" Target="/ppt/notesSlides/notesSlide17.xml" Id="Re70e36f57f2647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12a8268b04392" /><Relationship Type="http://schemas.openxmlformats.org/officeDocument/2006/relationships/image" Target="/ppt/media/image23.png" Id="R7c3fce3e59314918" /><Relationship Type="http://schemas.openxmlformats.org/officeDocument/2006/relationships/image" Target="/ppt/media/image23.png" Id="Rfc813bb2dc7e49c5" /><Relationship Type="http://schemas.openxmlformats.org/officeDocument/2006/relationships/image" Target="/ppt/media/image23.png" Id="R4dd2c7bf14124d69" /><Relationship Type="http://schemas.openxmlformats.org/officeDocument/2006/relationships/notesSlide" Target="/ppt/notesSlides/notesSlide18.xml" Id="R051fbf33809e4fb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04cd2d4524179" /><Relationship Type="http://schemas.openxmlformats.org/officeDocument/2006/relationships/notesSlide" Target="/ppt/notesSlides/notesSlide19.xml" Id="R2abaf1a2fa734c1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da58776874b62" /><Relationship Type="http://schemas.openxmlformats.org/officeDocument/2006/relationships/notesSlide" Target="/ppt/notesSlides/notesSlide20.xml" Id="Rec7487cd7cef4a0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52cbff1684b55" /><Relationship Type="http://schemas.openxmlformats.org/officeDocument/2006/relationships/notesSlide" Target="/ppt/notesSlides/notesSlide21.xml" Id="R57aa9e85f25246c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3b9bbbd2e4f3e" /><Relationship Type="http://schemas.openxmlformats.org/officeDocument/2006/relationships/image" Target="/ppt/media/image18.png" Id="R48911eb73fed47e8" /><Relationship Type="http://schemas.openxmlformats.org/officeDocument/2006/relationships/image" Target="/ppt/media/image19.png" Id="Rc00124ed8ac643f5" /><Relationship Type="http://schemas.openxmlformats.org/officeDocument/2006/relationships/image" Target="/ppt/media/image20.png" Id="Ra7538b48fcc04d1c" /><Relationship Type="http://schemas.openxmlformats.org/officeDocument/2006/relationships/notesSlide" Target="/ppt/notesSlides/notesSlide22.xml" Id="Rd955e9d15b8b421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8e5e51eef46b6" /><Relationship Type="http://schemas.openxmlformats.org/officeDocument/2006/relationships/notesSlide" Target="/ppt/notesSlides/notesSlide23.xml" Id="Rca8fc845627b4aa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25a08eea34fd3" /><Relationship Type="http://schemas.openxmlformats.org/officeDocument/2006/relationships/notesSlide" Target="/ppt/notesSlides/notesSlide24.xml" Id="Rf32a662c90cb4ab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3e1abbaad480e" /><Relationship Type="http://schemas.openxmlformats.org/officeDocument/2006/relationships/hyperlink" Target="https://ftn-nastavni-portal.vercel.app/#oib" TargetMode="External" Id="R20f6ada01afb44de" /><Relationship Type="http://schemas.openxmlformats.org/officeDocument/2006/relationships/notesSlide" Target="/ppt/notesSlides/notesSlide25.xml" Id="Rb03e70130aca4ed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785ea30314418" /><Relationship Type="http://schemas.openxmlformats.org/officeDocument/2006/relationships/image" Target="/ppt/media/image21.png" Id="R3d3188b24d7946c4" /><Relationship Type="http://schemas.openxmlformats.org/officeDocument/2006/relationships/image" Target="/ppt/media/image22.png" Id="R0dae71edfcb145f8" /><Relationship Type="http://schemas.openxmlformats.org/officeDocument/2006/relationships/image" Target="/ppt/media/image23.png" Id="R52310c3c2a184a16" /><Relationship Type="http://schemas.openxmlformats.org/officeDocument/2006/relationships/notesSlide" Target="/ppt/notesSlides/notesSlide26.xml" Id="Rc4e3950e8cd84c9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c29fa824b4a1b" /><Relationship Type="http://schemas.openxmlformats.org/officeDocument/2006/relationships/notesSlide" Target="/ppt/notesSlides/notesSlide27.xml" Id="R186ab655315142f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afe3d89534f16" /><Relationship Type="http://schemas.openxmlformats.org/officeDocument/2006/relationships/notesSlide" Target="/ppt/notesSlides/notesSlide28.xml" Id="Raa1b19435eca4d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FE152-F07D-44F4-8646-BA81950F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060234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645a603574e8d"/>
          <a:stretch xmlns:a="http://schemas.openxmlformats.org/drawingml/2006/main"/>
        </p:blipFill>
        <p:spPr>
          <a:xfrm xmlns:a="http://schemas.openxmlformats.org/drawingml/2006/main">
            <a:off x="10858500" y="2000250"/>
            <a:ext cx="6477000" cy="4857750"/>
          </a:xfrm>
          <a:prstGeom xmlns:a="http://schemas.openxmlformats.org/drawingml/2006/main" prst="rect">
            <a:avLst/>
          </a:prstGeom>
        </p:spPr>
      </p:pic>
      <p:sp>
        <p:nvSpPr>
          <p:cNvPr id="3" name="text-cover">
            <a:extLst xmlns:a="http://schemas.openxmlformats.org/drawingml/2006/main">
              <a:ext uri="{FF2B5EF4-FFF2-40B4-BE49-F238E27FC236}">
                <a16:creationId xmlns:a16="http://schemas.microsoft.com/office/drawing/2014/main" id="{02CFB414-DC2E-42A6-9FC4-72D702D5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219200"/>
            <a:ext cx="5341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ПРИМЕЊЕНО СОФТВЕРСКО ИНЖЕЊЕРСТВО</a:t>
            </a:r>
          </a:p>
        </p:txBody>
      </p:sp>
      <p:sp>
        <p:nvSpPr>
          <p:cNvPr id="4" name="text-cover">
            <a:extLst xmlns:a="http://schemas.openxmlformats.org/drawingml/2006/main">
              <a:ext uri="{FF2B5EF4-FFF2-40B4-BE49-F238E27FC236}">
                <a16:creationId xmlns:a16="http://schemas.microsoft.com/office/drawing/2014/main" id="{187B1183-E7BA-41FB-8049-8479CA9D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39180"/>
            <a:ext cx="51854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ОСНОВЕ ИНФОРМАЦИОНЕ БЕЗБЕДНОСТИ</a:t>
            </a:r>
          </a:p>
        </p:txBody>
      </p:sp>
      <p:sp>
        <p:nvSpPr>
          <p:cNvPr id="5" name="heading-cover">
            <a:extLst xmlns:a="http://schemas.openxmlformats.org/drawingml/2006/main">
              <a:ext uri="{FF2B5EF4-FFF2-40B4-BE49-F238E27FC236}">
                <a16:creationId xmlns:a16="http://schemas.microsoft.com/office/drawing/2014/main" id="{2E0C796B-F240-4EB2-B5E4-D2BCB5B3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21086"/>
            <a:ext cx="9275266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349"/>
          </a:bodyPr>
          <a:lstStyle xmlns:a="http://schemas.openxmlformats.org/drawingml/2006/main"/>
          <a:p xmlns:a="http://schemas.openxmlformats.org/drawingml/2006/main">
            <a:pPr algn="l">
              <a:defRPr sz="6300">
                <a:latin typeface="IBM Plex Sans"/>
                <a:ea typeface="IBM Plex Sans"/>
                <a:cs typeface="IBM Plex Sans"/>
              </a:defRPr>
            </a:pPr>
            <a:r>
              <a:rPr sz="63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Основне информације о </a:t>
            </a:r>
          </a:p>
        </p:txBody>
      </p:sp>
      <p:sp>
        <p:nvSpPr>
          <p:cNvPr id="6" name="heading-cover">
            <a:extLst xmlns:a="http://schemas.openxmlformats.org/drawingml/2006/main">
              <a:ext uri="{FF2B5EF4-FFF2-40B4-BE49-F238E27FC236}">
                <a16:creationId xmlns:a16="http://schemas.microsoft.com/office/drawing/2014/main" id="{8AC31F50-C7A7-4CD3-91E8-EBC3D1B0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61072"/>
            <a:ext cx="3935909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0">
                <a:latin typeface="IBM Plex Sans"/>
                <a:ea typeface="IBM Plex Sans"/>
                <a:cs typeface="IBM Plex Sans"/>
              </a:defRPr>
            </a:pPr>
            <a:r>
              <a:rPr sz="63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предмету</a:t>
            </a:r>
          </a:p>
        </p:txBody>
      </p:sp>
      <p:sp>
        <p:nvSpPr>
          <p:cNvPr id="7" name="text-cover">
            <a:extLst xmlns:a="http://schemas.openxmlformats.org/drawingml/2006/main">
              <a:ext uri="{FF2B5EF4-FFF2-40B4-BE49-F238E27FC236}">
                <a16:creationId xmlns:a16="http://schemas.microsoft.com/office/drawing/2014/main" id="{FA681832-1D57-4542-9257-488A29AE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82058"/>
            <a:ext cx="914474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Организација наставе, начини полагања и пројектне обавезе</a:t>
            </a:r>
          </a:p>
        </p:txBody>
      </p:sp>
      <p:sp>
        <p:nvSpPr>
          <p:cNvPr id="8" name="text-cover">
            <a:extLst xmlns:a="http://schemas.openxmlformats.org/drawingml/2006/main">
              <a:ext uri="{FF2B5EF4-FFF2-40B4-BE49-F238E27FC236}">
                <a16:creationId xmlns:a16="http://schemas.microsoft.com/office/drawing/2014/main" id="{79D24440-C49E-4838-9DA1-E97DE912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307884"/>
            <a:ext cx="746179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Факултет техничких наука · Универзитет у Новом Саду</a:t>
            </a:r>
          </a:p>
        </p:txBody>
      </p:sp>
      <p:sp>
        <p:nvSpPr>
          <p:cNvPr id="9" name="text-cover">
            <a:extLst xmlns:a="http://schemas.openxmlformats.org/drawingml/2006/main">
              <a:ext uri="{FF2B5EF4-FFF2-40B4-BE49-F238E27FC236}">
                <a16:creationId xmlns:a16="http://schemas.microsoft.com/office/drawing/2014/main" id="{80626284-51E7-4D2F-AB6A-749CEB12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47820"/>
            <a:ext cx="135433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Нови Сад</a:t>
            </a:r>
          </a:p>
        </p:txBody>
      </p:sp>
    </p:spTree>
    <p:extLst>
      <p:ext uri="{BB962C8B-B14F-4D97-AF65-F5344CB8AC3E}">
        <p14:creationId xmlns:p14="http://schemas.microsoft.com/office/powerpoint/2010/main" val="18166749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5E8527-2DA8-4CB4-B18E-A9852641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D4CD9-BEDD-4223-B0D6-39A6977C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4530"/>
            <a:ext cx="3819525" cy="2723852"/>
          </a:xfrm>
          <a:prstGeom xmlns:a="http://schemas.openxmlformats.org/drawingml/2006/main" prst="roundRect">
            <a:avLst>
              <a:gd name="adj" fmla="val 559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308E3-9E39-4DBA-8808-E109A7D2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34530"/>
            <a:ext cx="3819525" cy="2723852"/>
          </a:xfrm>
          <a:prstGeom xmlns:a="http://schemas.openxmlformats.org/drawingml/2006/main" prst="roundRect">
            <a:avLst>
              <a:gd name="adj" fmla="val 559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8C826-7ABC-474B-AAB9-1286B0E5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34530"/>
            <a:ext cx="3819525" cy="2723852"/>
          </a:xfrm>
          <a:prstGeom xmlns:a="http://schemas.openxmlformats.org/drawingml/2006/main" prst="roundRect">
            <a:avLst>
              <a:gd name="adj" fmla="val 559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919AB-FE97-4435-A2FD-11690A08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434530"/>
            <a:ext cx="3819525" cy="2723852"/>
          </a:xfrm>
          <a:prstGeom xmlns:a="http://schemas.openxmlformats.org/drawingml/2006/main" prst="roundRect">
            <a:avLst>
              <a:gd name="adj" fmla="val 559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A3333-D5A5-466A-850C-A97F8188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63183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BF0F5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138BF52B-1998-45C2-B626-04DB0B30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63183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4B2BE-3003-4369-B8E1-A80EEDEC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9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FA3BF925-96DA-4E67-8070-D8E65FC6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143648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ПРЕГЛЕД</a:t>
            </a:r>
          </a:p>
        </p:txBody>
      </p:sp>
      <p:sp>
        <p:nvSpPr>
          <p:cNvPr id="10" name="heading-sadrzaj">
            <a:extLst xmlns:a="http://schemas.openxmlformats.org/drawingml/2006/main">
              <a:ext uri="{FF2B5EF4-FFF2-40B4-BE49-F238E27FC236}">
                <a16:creationId xmlns:a16="http://schemas.microsoft.com/office/drawing/2014/main" id="{A650D2D0-5625-4395-A6FC-E5E3CF07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636463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Садржај презентације</a:t>
            </a:r>
          </a:p>
        </p:txBody>
      </p:sp>
      <p:sp>
        <p:nvSpPr>
          <p:cNvPr id="11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82BCDAA6-D6EF-40BD-A5DD-6E9B1DE3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72980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CB03B7DD-7439-48EC-A8CC-B1EF4611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30786"/>
            <a:ext cx="294947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Оцењивање и испит</a:t>
            </a:r>
          </a:p>
        </p:txBody>
      </p:sp>
      <p:sp>
        <p:nvSpPr>
          <p:cNvPr id="13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A40F3667-36AF-4FE7-9FCA-CE4FA28C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22216"/>
            <a:ext cx="244331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Бодовање, испитне </a:t>
            </a:r>
          </a:p>
        </p:txBody>
      </p:sp>
      <p:sp>
        <p:nvSpPr>
          <p:cNvPr id="14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6E51EC57-0046-46B9-9CD0-15CB33D1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42197"/>
            <a:ext cx="268515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компоненте и услови.</a:t>
            </a:r>
          </a:p>
        </p:txBody>
      </p:sp>
      <p:sp>
        <p:nvSpPr>
          <p:cNvPr id="15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B647DBEF-A731-4542-922B-F0F06F00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562177"/>
            <a:ext cx="102602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05–12</a:t>
            </a:r>
          </a:p>
        </p:txBody>
      </p:sp>
      <p:sp>
        <p:nvSpPr>
          <p:cNvPr id="16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4DB5F33C-AA78-4CD2-B9B4-262DA1FB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2980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7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BD4BB14A-25EB-43FB-B801-2C3B0364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30786"/>
            <a:ext cx="148872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Пројекат</a:t>
            </a:r>
          </a:p>
        </p:txBody>
      </p:sp>
      <p:sp>
        <p:nvSpPr>
          <p:cNvPr id="18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C808EA4C-C5C2-45E5-A7DC-4337CBDD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22216"/>
            <a:ext cx="344685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SCUTUM, тимски рад и супер </a:t>
            </a:r>
          </a:p>
        </p:txBody>
      </p:sp>
      <p:sp>
        <p:nvSpPr>
          <p:cNvPr id="19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F4B45760-755B-48CB-B225-AD250C9C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42197"/>
            <a:ext cx="13284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пројекат.</a:t>
            </a:r>
          </a:p>
        </p:txBody>
      </p:sp>
      <p:sp>
        <p:nvSpPr>
          <p:cNvPr id="20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A8EE0629-FB5B-433F-80CF-04D3EC71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562177"/>
            <a:ext cx="102602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13–16</a:t>
            </a:r>
          </a:p>
        </p:txBody>
      </p:sp>
      <p:sp>
        <p:nvSpPr>
          <p:cNvPr id="21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3A26C20F-1352-4BFB-8FD5-8B95E7A6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2980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2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95724A94-962E-4973-9067-483EDC18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430786"/>
            <a:ext cx="273293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Напредак и вежбе</a:t>
            </a:r>
          </a:p>
        </p:txBody>
      </p:sp>
      <p:sp>
        <p:nvSpPr>
          <p:cNvPr id="23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2AD68688-1F31-44DC-810F-11706EB2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922216"/>
            <a:ext cx="314697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Контролне тачке, КТ1–КТ2 и </a:t>
            </a:r>
          </a:p>
        </p:txBody>
      </p:sp>
      <p:sp>
        <p:nvSpPr>
          <p:cNvPr id="24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1C5125FF-50B9-40EA-B8DF-6BF09B0F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242197"/>
            <a:ext cx="166315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теме вежби.</a:t>
            </a:r>
          </a:p>
        </p:txBody>
      </p:sp>
      <p:sp>
        <p:nvSpPr>
          <p:cNvPr id="25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BCEF78BD-A297-4369-9699-E92CE37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562177"/>
            <a:ext cx="102602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17–20</a:t>
            </a:r>
          </a:p>
        </p:txBody>
      </p:sp>
      <p:sp>
        <p:nvSpPr>
          <p:cNvPr id="26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E4C9E4F0-2B2F-42BE-B877-332A8B83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2980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7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884477FE-3E96-4E51-A7FC-1F32C617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430786"/>
            <a:ext cx="215949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Рад и обавезе</a:t>
            </a:r>
          </a:p>
        </p:txBody>
      </p:sp>
      <p:sp>
        <p:nvSpPr>
          <p:cNvPr id="28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24314510-9253-49FB-847F-7883EDD5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922216"/>
            <a:ext cx="329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Практикум, правила рада и </a:t>
            </a:r>
          </a:p>
        </p:txBody>
      </p:sp>
      <p:sp>
        <p:nvSpPr>
          <p:cNvPr id="29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52B2EAD4-034D-4421-82F4-511E016E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242197"/>
            <a:ext cx="231859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почетак семестра.</a:t>
            </a:r>
          </a:p>
        </p:txBody>
      </p:sp>
      <p:sp>
        <p:nvSpPr>
          <p:cNvPr id="30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9866577F-2211-4161-A300-D9C21FE4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562177"/>
            <a:ext cx="102602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21–28</a:t>
            </a:r>
          </a:p>
        </p:txBody>
      </p:sp>
      <p:sp>
        <p:nvSpPr>
          <p:cNvPr id="31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B60DC9E5-58C3-4DF6-896E-C5C9F272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53683"/>
            <a:ext cx="8916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Увод</a:t>
            </a:r>
          </a:p>
        </p:txBody>
      </p:sp>
      <p:sp>
        <p:nvSpPr>
          <p:cNvPr id="32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3D42796F-940A-4A14-83FB-D601FB03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59388"/>
            <a:ext cx="625033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Безбедносни захтев, контрола и доказ (03–04)</a:t>
            </a:r>
          </a:p>
        </p:txBody>
      </p:sp>
      <p:sp>
        <p:nvSpPr>
          <p:cNvPr id="33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2ADCDCC9-0BD9-4E5A-AA5D-ACAD29E9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4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71C19A96-3EB3-445B-A4D9-491050CA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579681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21EDEB-6609-427C-B109-6387C57F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3791A-6918-434A-8E56-4BC5593D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2651671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73213-97E1-4101-AB6F-A8D86468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571" y="3112591"/>
            <a:ext cx="2651820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BA1C3-6E77-4EB3-B7E7-75150BD0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090" y="3112591"/>
            <a:ext cx="2651671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58176-A4C7-46BD-9D1B-73D145B1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461" y="3112591"/>
            <a:ext cx="2651820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76CF8-2424-4358-9D5F-3A5833B4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6980" y="3112591"/>
            <a:ext cx="2651820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9A06E-FA7C-4FB8-8B41-E85E7FB7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BF0F5"/>
          </a:solidFill>
          <a:ln xmlns:a="http://schemas.openxmlformats.org/drawingml/2006/main" w="0">
            <a:noFill/>
          </a:ln>
        </p:spPr>
      </p:sp>
      <p:sp>
        <p:nvSpPr>
          <p:cNvPr id="8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B9EFCD13-4B64-44D9-AA26-93E00CCA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81197-E63B-420B-88D3-04F5FC06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3560f0c8a4164"/>
          <a:stretch xmlns:a="http://schemas.openxmlformats.org/drawingml/2006/main"/>
        </p:blipFill>
        <p:spPr>
          <a:xfrm xmlns:a="http://schemas.openxmlformats.org/drawingml/2006/main">
            <a:off x="4061371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691eb9fd64bcd"/>
          <a:stretch xmlns:a="http://schemas.openxmlformats.org/drawingml/2006/main"/>
        </p:blipFill>
        <p:spPr>
          <a:xfrm xmlns:a="http://schemas.openxmlformats.org/drawingml/2006/main">
            <a:off x="7360890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4ad62103b4d04"/>
          <a:stretch xmlns:a="http://schemas.openxmlformats.org/drawingml/2006/main"/>
        </p:blipFill>
        <p:spPr>
          <a:xfrm xmlns:a="http://schemas.openxmlformats.org/drawingml/2006/main">
            <a:off x="10660261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fab7c349e417e"/>
          <a:stretch xmlns:a="http://schemas.openxmlformats.org/drawingml/2006/main"/>
        </p:blipFill>
        <p:spPr>
          <a:xfrm xmlns:a="http://schemas.openxmlformats.org/drawingml/2006/main">
            <a:off x="13959780" y="4219277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FA099F0A-78F1-4B62-A15C-6501FB3D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1547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УВОД · РАДНИ МОДЕЛ</a:t>
            </a:r>
          </a:p>
        </p:txBody>
      </p:sp>
      <p:sp>
        <p:nvSpPr>
          <p:cNvPr id="15" name="heading-source-02">
            <a:extLst xmlns:a="http://schemas.openxmlformats.org/drawingml/2006/main">
              <a:ext uri="{FF2B5EF4-FFF2-40B4-BE49-F238E27FC236}">
                <a16:creationId xmlns:a16="http://schemas.microsoft.com/office/drawing/2014/main" id="{9CA28B38-00C7-4BC2-A69E-42826742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0771138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714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Безбедносни захтев, контрола и доказ</a:t>
            </a:r>
          </a:p>
        </p:txBody>
      </p:sp>
      <p:sp>
        <p:nvSpPr>
          <p:cNvPr id="16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67B19CA6-703C-4BEC-B264-7199DA32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087502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Анализа полази од имовине и претње, а завршава се провером изабране контроле.</a:t>
            </a:r>
          </a:p>
        </p:txBody>
      </p:sp>
      <p:sp>
        <p:nvSpPr>
          <p:cNvPr id="17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8A28CA19-2250-409D-9BBA-51A7B789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8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86942A36-0375-4400-8F67-126A9A82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15001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Имовина</a:t>
            </a:r>
          </a:p>
        </p:txBody>
      </p:sp>
      <p:sp>
        <p:nvSpPr>
          <p:cNvPr id="19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ADE6DA89-F398-458C-8521-11CA572F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228421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шта има вредност</a:t>
            </a:r>
          </a:p>
        </p:txBody>
      </p:sp>
      <p:sp>
        <p:nvSpPr>
          <p:cNvPr id="20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ADD9A63F-A93E-4D7A-91B3-A4F159E2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796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1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0F586C7C-A5CA-4C95-92D3-84DE5B0E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796" y="4108847"/>
            <a:ext cx="134525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Претња</a:t>
            </a:r>
          </a:p>
        </p:txBody>
      </p:sp>
      <p:sp>
        <p:nvSpPr>
          <p:cNvPr id="22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68EB58CE-7E43-46FB-AC93-EDC2AFD9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796" y="4600277"/>
            <a:ext cx="227781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шта може поћи по </a:t>
            </a:r>
          </a:p>
        </p:txBody>
      </p:sp>
      <p:sp>
        <p:nvSpPr>
          <p:cNvPr id="23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F7F82C29-2C31-4C9F-A88B-0117FEC0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796" y="4920258"/>
            <a:ext cx="69964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злу</a:t>
            </a:r>
          </a:p>
        </p:txBody>
      </p:sp>
      <p:sp>
        <p:nvSpPr>
          <p:cNvPr id="24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A70A06DE-C7AF-48D1-9057-F6716C1C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1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5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5915A58C-3203-44E7-9A04-62A1D302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15" y="4108847"/>
            <a:ext cx="122738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Захтев</a:t>
            </a:r>
          </a:p>
        </p:txBody>
      </p:sp>
      <p:sp>
        <p:nvSpPr>
          <p:cNvPr id="26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5B2A8280-DFCD-4896-A4F0-3E2A9599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15" y="4600277"/>
            <a:ext cx="1965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које понашање </a:t>
            </a:r>
          </a:p>
        </p:txBody>
      </p:sp>
      <p:sp>
        <p:nvSpPr>
          <p:cNvPr id="27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FB2755ED-488E-4832-90F5-8CC1C405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15" y="4920258"/>
            <a:ext cx="13031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тражимо</a:t>
            </a:r>
          </a:p>
        </p:txBody>
      </p:sp>
      <p:sp>
        <p:nvSpPr>
          <p:cNvPr id="28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B0EA484D-78A0-486C-B965-49C6F98D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686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9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A2100EE1-D128-4690-9076-C10E9C0D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686" y="4108847"/>
            <a:ext cx="157594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</a:t>
            </a:r>
          </a:p>
        </p:txBody>
      </p:sp>
      <p:sp>
        <p:nvSpPr>
          <p:cNvPr id="30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946AC9F8-D750-4260-9FDC-D4F1DB98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686" y="4600277"/>
            <a:ext cx="24241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како ограничавамо </a:t>
            </a:r>
          </a:p>
        </p:txBody>
      </p:sp>
      <p:sp>
        <p:nvSpPr>
          <p:cNvPr id="31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34A50AFF-2F96-4C41-89DC-6661CA88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686" y="4920258"/>
            <a:ext cx="98464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ризик</a:t>
            </a:r>
          </a:p>
        </p:txBody>
      </p:sp>
      <p:sp>
        <p:nvSpPr>
          <p:cNvPr id="32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95A3CB05-3A7C-4BBC-A197-0E7B2D3D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320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33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DDE5C781-1BD7-484C-97E7-21FBE779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3205" y="4108847"/>
            <a:ext cx="114121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</a:t>
            </a:r>
          </a:p>
        </p:txBody>
      </p:sp>
      <p:sp>
        <p:nvSpPr>
          <p:cNvPr id="34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6B153AD0-9BA4-49A8-95D5-51888420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3205" y="4600277"/>
            <a:ext cx="172194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тест, лог или </a:t>
            </a:r>
          </a:p>
        </p:txBody>
      </p:sp>
      <p:sp>
        <p:nvSpPr>
          <p:cNvPr id="35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D88BD597-80C6-43A4-963F-C762C5C0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3205" y="4920258"/>
            <a:ext cx="195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демонстрација</a:t>
            </a:r>
          </a:p>
        </p:txBody>
      </p:sp>
      <p:sp>
        <p:nvSpPr>
          <p:cNvPr id="36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C6EAD0A6-4A5B-4EC6-A081-AF782C7D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11763"/>
            <a:ext cx="18517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РАДНИ МОДЕЛ</a:t>
            </a:r>
          </a:p>
        </p:txBody>
      </p:sp>
      <p:sp>
        <p:nvSpPr>
          <p:cNvPr id="37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1404EA95-D469-40B9-A76D-989C805E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17469"/>
            <a:ext cx="1250930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Исти модел важи за идентитет, приступ подацима, политике, MFA, инциденте и процену ризика.</a:t>
            </a:r>
          </a:p>
        </p:txBody>
      </p:sp>
      <p:sp>
        <p:nvSpPr>
          <p:cNvPr id="38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FD72F1F5-3A57-4AB0-9B91-3FBAF63C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9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61BFD447-1C0D-4CA5-8EA4-42167A05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14296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570EC0-45DA-4E0F-AF0D-5C2F44C6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85F09-1090-4F7E-9D0D-FAE38049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f07c42f214920"/>
          <a:stretch xmlns:a="http://schemas.openxmlformats.org/drawingml/2006/main"/>
        </p:blipFill>
        <p:spPr>
          <a:xfrm xmlns:a="http://schemas.openxmlformats.org/drawingml/2006/main">
            <a:off x="1219200" y="3112591"/>
            <a:ext cx="15849600" cy="4953000"/>
          </a:xfrm>
          <a:prstGeom xmlns:a="http://schemas.openxmlformats.org/drawingml/2006/main" prst="rect">
            <a:avLst/>
          </a:prstGeom>
        </p:spPr>
      </p:pic>
      <p:sp>
        <p:nvSpPr>
          <p:cNvPr id="4" name="text-zahtev-kontrola-dokaz">
            <a:extLst xmlns:a="http://schemas.openxmlformats.org/drawingml/2006/main">
              <a:ext uri="{FF2B5EF4-FFF2-40B4-BE49-F238E27FC236}">
                <a16:creationId xmlns:a16="http://schemas.microsoft.com/office/drawing/2014/main" id="{1EEBEA07-C48E-4CDB-9732-AD967AB5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3736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УВОД · ПРИМЕР</a:t>
            </a:r>
          </a:p>
        </p:txBody>
      </p:sp>
      <p:sp>
        <p:nvSpPr>
          <p:cNvPr id="5" name="heading-zahtev-kontrola-dokaz">
            <a:extLst xmlns:a="http://schemas.openxmlformats.org/drawingml/2006/main">
              <a:ext uri="{FF2B5EF4-FFF2-40B4-BE49-F238E27FC236}">
                <a16:creationId xmlns:a16="http://schemas.microsoft.com/office/drawing/2014/main" id="{2B6219FD-2B0B-4D4F-B63A-8A260DC9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9121378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096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Веза захтева, контроле и доказа</a:t>
            </a:r>
          </a:p>
        </p:txBody>
      </p:sp>
      <p:sp>
        <p:nvSpPr>
          <p:cNvPr id="6" name="text-zahtev-kontrola-dokaz">
            <a:extLst xmlns:a="http://schemas.openxmlformats.org/drawingml/2006/main">
              <a:ext uri="{FF2B5EF4-FFF2-40B4-BE49-F238E27FC236}">
                <a16:creationId xmlns:a16="http://schemas.microsoft.com/office/drawing/2014/main" id="{00E0FB8D-A6DE-42B1-8529-9DEDCA1B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648459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Илустративни пример: приступ туђем извештају.</a:t>
            </a:r>
          </a:p>
        </p:txBody>
      </p:sp>
      <p:sp>
        <p:nvSpPr>
          <p:cNvPr id="7" name="text-zahtev-kontrola-dokaz">
            <a:extLst xmlns:a="http://schemas.openxmlformats.org/drawingml/2006/main">
              <a:ext uri="{FF2B5EF4-FFF2-40B4-BE49-F238E27FC236}">
                <a16:creationId xmlns:a16="http://schemas.microsoft.com/office/drawing/2014/main" id="{E67B6CEB-C6E2-44B6-B6AC-24A0CC9F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778" y="3503116"/>
            <a:ext cx="1480096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Захтев</a:t>
            </a:r>
          </a:p>
        </p:txBody>
      </p:sp>
      <p:sp>
        <p:nvSpPr>
          <p:cNvPr id="8" name="text-zahtev-kontrola-dokaz">
            <a:extLst xmlns:a="http://schemas.openxmlformats.org/drawingml/2006/main">
              <a:ext uri="{FF2B5EF4-FFF2-40B4-BE49-F238E27FC236}">
                <a16:creationId xmlns:a16="http://schemas.microsoft.com/office/drawing/2014/main" id="{0513A1DF-509F-4C6F-AE29-19B8F90C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091" y="3350716"/>
            <a:ext cx="192821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</a:t>
            </a:r>
          </a:p>
        </p:txBody>
      </p:sp>
      <p:sp>
        <p:nvSpPr>
          <p:cNvPr id="9" name="text-zahtev-kontrola-dokaz">
            <a:extLst xmlns:a="http://schemas.openxmlformats.org/drawingml/2006/main">
              <a:ext uri="{FF2B5EF4-FFF2-40B4-BE49-F238E27FC236}">
                <a16:creationId xmlns:a16="http://schemas.microsoft.com/office/drawing/2014/main" id="{58ACFBD3-9986-49D8-B56D-50DDCEFE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6166" y="3369766"/>
            <a:ext cx="1369219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</a:t>
            </a:r>
          </a:p>
        </p:txBody>
      </p:sp>
      <p:sp>
        <p:nvSpPr>
          <p:cNvPr id="10" name="text-zahtev-kontrola-dokaz">
            <a:extLst xmlns:a="http://schemas.openxmlformats.org/drawingml/2006/main">
              <a:ext uri="{FF2B5EF4-FFF2-40B4-BE49-F238E27FC236}">
                <a16:creationId xmlns:a16="http://schemas.microsoft.com/office/drawing/2014/main" id="{69112315-6834-4034-ADD2-EE01004B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244" y="5522416"/>
            <a:ext cx="211916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Туђи извештај</a:t>
            </a:r>
          </a:p>
        </p:txBody>
      </p:sp>
      <p:sp>
        <p:nvSpPr>
          <p:cNvPr id="11" name="text-zahtev-kontrola-dokaz">
            <a:extLst xmlns:a="http://schemas.openxmlformats.org/drawingml/2006/main">
              <a:ext uri="{FF2B5EF4-FFF2-40B4-BE49-F238E27FC236}">
                <a16:creationId xmlns:a16="http://schemas.microsoft.com/office/drawing/2014/main" id="{4E533AFB-8079-443A-A550-739C56B8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895677"/>
            <a:ext cx="2628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остаје недоступан</a:t>
            </a:r>
          </a:p>
        </p:txBody>
      </p:sp>
      <p:sp>
        <p:nvSpPr>
          <p:cNvPr id="12" name="text-zahtev-kontrola-dokaz">
            <a:extLst xmlns:a="http://schemas.openxmlformats.org/drawingml/2006/main">
              <a:ext uri="{FF2B5EF4-FFF2-40B4-BE49-F238E27FC236}">
                <a16:creationId xmlns:a16="http://schemas.microsoft.com/office/drawing/2014/main" id="{D314F933-ACD7-4F38-ACA2-F25A4B69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379" y="5503366"/>
            <a:ext cx="266164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Сервер проверава</a:t>
            </a:r>
          </a:p>
        </p:txBody>
      </p:sp>
      <p:sp>
        <p:nvSpPr>
          <p:cNvPr id="13" name="text-zahtev-kontrola-dokaz">
            <a:extLst xmlns:a="http://schemas.openxmlformats.org/drawingml/2006/main">
              <a:ext uri="{FF2B5EF4-FFF2-40B4-BE49-F238E27FC236}">
                <a16:creationId xmlns:a16="http://schemas.microsoft.com/office/drawing/2014/main" id="{AC94ADAD-0CFD-430A-8731-1974019E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555" y="5876627"/>
            <a:ext cx="250328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дозволу и ресурс</a:t>
            </a:r>
          </a:p>
        </p:txBody>
      </p:sp>
      <p:sp>
        <p:nvSpPr>
          <p:cNvPr id="14" name="text-zahtev-kontrola-dokaz">
            <a:extLst xmlns:a="http://schemas.openxmlformats.org/drawingml/2006/main">
              <a:ext uri="{FF2B5EF4-FFF2-40B4-BE49-F238E27FC236}">
                <a16:creationId xmlns:a16="http://schemas.microsoft.com/office/drawing/2014/main" id="{E467D667-7527-4E16-99AE-5CE884CB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3120" y="6265366"/>
            <a:ext cx="224968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Негативан тест</a:t>
            </a:r>
          </a:p>
        </p:txBody>
      </p:sp>
      <p:sp>
        <p:nvSpPr>
          <p:cNvPr id="15" name="text-zahtev-kontrola-dokaz">
            <a:extLst xmlns:a="http://schemas.openxmlformats.org/drawingml/2006/main">
              <a:ext uri="{FF2B5EF4-FFF2-40B4-BE49-F238E27FC236}">
                <a16:creationId xmlns:a16="http://schemas.microsoft.com/office/drawing/2014/main" id="{040B139F-AB8D-4459-BBE8-A8F68ECC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5710" y="6638627"/>
            <a:ext cx="270435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 ревизиони запис</a:t>
            </a:r>
          </a:p>
        </p:txBody>
      </p:sp>
      <p:sp>
        <p:nvSpPr>
          <p:cNvPr id="16" name="text-zahtev-kontrola-dokaz">
            <a:extLst xmlns:a="http://schemas.openxmlformats.org/drawingml/2006/main">
              <a:ext uri="{FF2B5EF4-FFF2-40B4-BE49-F238E27FC236}">
                <a16:creationId xmlns:a16="http://schemas.microsoft.com/office/drawing/2014/main" id="{8C09D349-CC1E-404E-B623-0E2A64EB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7" name="text-zahtev-kontrola-dokaz">
            <a:extLst xmlns:a="http://schemas.openxmlformats.org/drawingml/2006/main">
              <a:ext uri="{FF2B5EF4-FFF2-40B4-BE49-F238E27FC236}">
                <a16:creationId xmlns:a16="http://schemas.microsoft.com/office/drawing/2014/main" id="{99C594B8-5370-47EB-9A15-12BB007C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229019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BF0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B05C4-F158-4121-82DC-5F511AAA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8657"/>
            <a:ext cx="2006798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3CED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9B064-7A50-4A6A-8E26-909E01E8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898" y="6158657"/>
            <a:ext cx="2022425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3CED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57EA2-3A3F-46C3-B2F1-3A030C0E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624" y="6158657"/>
            <a:ext cx="1081088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3CED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B15C6-143F-43D1-8BFA-40A86685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011" y="6158657"/>
            <a:ext cx="1049982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3CE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0CA8A-0E48-4577-80AA-E0DC38A3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CEDA"/>
          </a:solidFill>
          <a:ln xmlns:a="http://schemas.openxmlformats.org/drawingml/2006/main" w="0">
            <a:noFill/>
          </a:ln>
        </p:spPr>
      </p:sp>
      <p:sp>
        <p:nvSpPr>
          <p:cNvPr id="6" name="text-deo1">
            <a:extLst xmlns:a="http://schemas.openxmlformats.org/drawingml/2006/main">
              <a:ext uri="{FF2B5EF4-FFF2-40B4-BE49-F238E27FC236}">
                <a16:creationId xmlns:a16="http://schemas.microsoft.com/office/drawing/2014/main" id="{06B1B6A4-7848-4CA4-89FA-0B846537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text-deo1">
            <a:extLst xmlns:a="http://schemas.openxmlformats.org/drawingml/2006/main">
              <a:ext uri="{FF2B5EF4-FFF2-40B4-BE49-F238E27FC236}">
                <a16:creationId xmlns:a16="http://schemas.microsoft.com/office/drawing/2014/main" id="{5A9A1E8B-56B2-401F-95CE-3C303C1C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15926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ПРВИ ДЕО</a:t>
            </a:r>
          </a:p>
        </p:txBody>
      </p:sp>
      <p:sp>
        <p:nvSpPr>
          <p:cNvPr id="8" name="heading-deo1">
            <a:extLst xmlns:a="http://schemas.openxmlformats.org/drawingml/2006/main">
              <a:ext uri="{FF2B5EF4-FFF2-40B4-BE49-F238E27FC236}">
                <a16:creationId xmlns:a16="http://schemas.microsoft.com/office/drawing/2014/main" id="{32E9FAA8-6DF1-4C71-AC1E-AC4AE92B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8938171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927"/>
          </a:bodyPr>
          <a:lstStyle xmlns:a="http://schemas.openxmlformats.org/drawingml/2006/main"/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Полагање предмета</a:t>
            </a:r>
          </a:p>
        </p:txBody>
      </p:sp>
      <p:sp>
        <p:nvSpPr>
          <p:cNvPr id="9" name="text-deo1">
            <a:extLst xmlns:a="http://schemas.openxmlformats.org/drawingml/2006/main">
              <a:ext uri="{FF2B5EF4-FFF2-40B4-BE49-F238E27FC236}">
                <a16:creationId xmlns:a16="http://schemas.microsoft.com/office/drawing/2014/main" id="{08FEF03B-262E-44EF-BA75-670D667A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907122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Начини полагања, бодови, испитне компоненте и признавање раније </a:t>
            </a:r>
          </a:p>
        </p:txBody>
      </p:sp>
      <p:sp>
        <p:nvSpPr>
          <p:cNvPr id="10" name="text-deo1">
            <a:extLst xmlns:a="http://schemas.openxmlformats.org/drawingml/2006/main">
              <a:ext uri="{FF2B5EF4-FFF2-40B4-BE49-F238E27FC236}">
                <a16:creationId xmlns:a16="http://schemas.microsoft.com/office/drawing/2014/main" id="{6457D11A-F163-48D8-BFD5-83C7A65E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288592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испуњених обавеза.</a:t>
            </a:r>
          </a:p>
        </p:txBody>
      </p:sp>
      <p:sp>
        <p:nvSpPr>
          <p:cNvPr id="11" name="text-deo1">
            <a:extLst xmlns:a="http://schemas.openxmlformats.org/drawingml/2006/main">
              <a:ext uri="{FF2B5EF4-FFF2-40B4-BE49-F238E27FC236}">
                <a16:creationId xmlns:a16="http://schemas.microsoft.com/office/drawing/2014/main" id="{586D3BCB-7DEB-4AA8-A9FD-3DA5F6A5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244382"/>
            <a:ext cx="194964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Редован начин</a:t>
            </a:r>
          </a:p>
        </p:txBody>
      </p:sp>
      <p:sp>
        <p:nvSpPr>
          <p:cNvPr id="12" name="text-deo1">
            <a:extLst xmlns:a="http://schemas.openxmlformats.org/drawingml/2006/main">
              <a:ext uri="{FF2B5EF4-FFF2-40B4-BE49-F238E27FC236}">
                <a16:creationId xmlns:a16="http://schemas.microsoft.com/office/drawing/2014/main" id="{0EECDB1B-B4B0-4B42-AF4E-FDFE816E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1923" y="6244382"/>
            <a:ext cx="1965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Супер пројекат</a:t>
            </a:r>
          </a:p>
        </p:txBody>
      </p:sp>
      <p:sp>
        <p:nvSpPr>
          <p:cNvPr id="13" name="text-deo1">
            <a:extLst xmlns:a="http://schemas.openxmlformats.org/drawingml/2006/main">
              <a:ext uri="{FF2B5EF4-FFF2-40B4-BE49-F238E27FC236}">
                <a16:creationId xmlns:a16="http://schemas.microsoft.com/office/drawing/2014/main" id="{B466C121-D7C0-4E79-BCC3-F6C5183B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649" y="6244382"/>
            <a:ext cx="102393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Оцена</a:t>
            </a:r>
          </a:p>
        </p:txBody>
      </p:sp>
      <p:sp>
        <p:nvSpPr>
          <p:cNvPr id="14" name="text-deo1">
            <a:extLst xmlns:a="http://schemas.openxmlformats.org/drawingml/2006/main">
              <a:ext uri="{FF2B5EF4-FFF2-40B4-BE49-F238E27FC236}">
                <a16:creationId xmlns:a16="http://schemas.microsoft.com/office/drawing/2014/main" id="{4D3AFEF2-4639-43DC-8C18-F2C99A55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4036" y="6244382"/>
            <a:ext cx="9928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Испит</a:t>
            </a:r>
          </a:p>
        </p:txBody>
      </p:sp>
      <p:sp>
        <p:nvSpPr>
          <p:cNvPr id="15" name="text-deo1">
            <a:extLst xmlns:a="http://schemas.openxmlformats.org/drawingml/2006/main">
              <a:ext uri="{FF2B5EF4-FFF2-40B4-BE49-F238E27FC236}">
                <a16:creationId xmlns:a16="http://schemas.microsoft.com/office/drawing/2014/main" id="{E222CF9B-82AD-4C39-9D28-4F87B874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6" name="text-deo1">
            <a:extLst xmlns:a="http://schemas.openxmlformats.org/drawingml/2006/main">
              <a:ext uri="{FF2B5EF4-FFF2-40B4-BE49-F238E27FC236}">
                <a16:creationId xmlns:a16="http://schemas.microsoft.com/office/drawing/2014/main" id="{50EE81DC-A716-43EE-A201-7C08D367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247210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AF1E3D-7CB9-41DE-88C7-060F9293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25782-89A1-4D15-87CB-67B6FB96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7829550" cy="3035945"/>
          </a:xfrm>
          <a:prstGeom xmlns:a="http://schemas.openxmlformats.org/drawingml/2006/main" prst="roundRect">
            <a:avLst>
              <a:gd name="adj" fmla="val 502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E2995-9B64-40A3-9674-57DEA57E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12591"/>
            <a:ext cx="7829550" cy="3035945"/>
          </a:xfrm>
          <a:prstGeom xmlns:a="http://schemas.openxmlformats.org/drawingml/2006/main" prst="roundRect">
            <a:avLst>
              <a:gd name="adj" fmla="val 502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CADDA-FA26-4BB6-9475-8965C576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53336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BF0F5"/>
          </a:solidFill>
          <a:ln xmlns:a="http://schemas.openxmlformats.org/drawingml/2006/main" w="0">
            <a:noFill/>
          </a:ln>
        </p:spPr>
      </p:sp>
      <p:sp>
        <p:nvSpPr>
          <p:cNvPr id="5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34125D16-1D68-489C-9C04-A39E30D6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53336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73DA2-1AAF-425E-A0C9-656B4835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7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7CAF120C-6EC3-4513-833E-103F56D0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3736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 · ПОЛАГАЊЕ</a:t>
            </a:r>
          </a:p>
        </p:txBody>
      </p:sp>
      <p:sp>
        <p:nvSpPr>
          <p:cNvPr id="8" name="heading-source-03">
            <a:extLst xmlns:a="http://schemas.openxmlformats.org/drawingml/2006/main">
              <a:ext uri="{FF2B5EF4-FFF2-40B4-BE49-F238E27FC236}">
                <a16:creationId xmlns:a16="http://schemas.microsoft.com/office/drawing/2014/main" id="{68B789B7-B514-45EF-9D4D-D5F5436E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10927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Начини полагања</a:t>
            </a:r>
          </a:p>
        </p:txBody>
      </p:sp>
      <p:sp>
        <p:nvSpPr>
          <p:cNvPr id="9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C1B04CDE-8632-4BA7-9067-578AD7B1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537602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Оба начина завршавају се усменим испитом. Разликују се по обиму пројекта и обавези полагања елиминационог теста.</a:t>
            </a:r>
          </a:p>
        </p:txBody>
      </p:sp>
      <p:sp>
        <p:nvSpPr>
          <p:cNvPr id="10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1CD18412-5812-41CB-804D-E5962355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21260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РЕДОВАН НАЧИН</a:t>
            </a:r>
          </a:p>
        </p:txBody>
      </p:sp>
      <p:sp>
        <p:nvSpPr>
          <p:cNvPr id="11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71BF0BFC-43A5-4FDE-8432-08508D9A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42147"/>
            <a:ext cx="321811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30 + 20 + 40 бодова</a:t>
            </a:r>
          </a:p>
        </p:txBody>
      </p:sp>
      <p:sp>
        <p:nvSpPr>
          <p:cNvPr id="12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C0C5BB3F-BCBF-4B06-A087-78B03B95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88793"/>
            <a:ext cx="323611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Тимски пројекат: до 30</a:t>
            </a:r>
          </a:p>
        </p:txBody>
      </p:sp>
      <p:sp>
        <p:nvSpPr>
          <p:cNvPr id="13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82DCDD39-2964-4459-9CAA-DBFEDAC5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62054"/>
            <a:ext cx="328121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Елиминациони тест: 20</a:t>
            </a:r>
          </a:p>
        </p:txBody>
      </p:sp>
      <p:sp>
        <p:nvSpPr>
          <p:cNvPr id="14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BB821DF3-BC10-4181-9259-411FC82A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135314"/>
            <a:ext cx="288324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Усмени испит: до 40</a:t>
            </a:r>
          </a:p>
        </p:txBody>
      </p:sp>
      <p:sp>
        <p:nvSpPr>
          <p:cNvPr id="15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5D07B450-BA8E-4311-9845-D4ED7B9E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508575"/>
            <a:ext cx="388634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Додатни бодови: до 5 + до 5</a:t>
            </a:r>
          </a:p>
        </p:txBody>
      </p:sp>
      <p:sp>
        <p:nvSpPr>
          <p:cNvPr id="16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5D4CA167-A1B0-4747-9A35-9ACDD3C2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388816"/>
            <a:ext cx="22632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СУПЕР ПРОЈЕКАТ</a:t>
            </a:r>
          </a:p>
        </p:txBody>
      </p:sp>
      <p:sp>
        <p:nvSpPr>
          <p:cNvPr id="17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65930288-E6BB-4A74-90AF-D8FD29FE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842147"/>
            <a:ext cx="2525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60 + 40 бодова</a:t>
            </a:r>
          </a:p>
        </p:txBody>
      </p:sp>
      <p:sp>
        <p:nvSpPr>
          <p:cNvPr id="18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78BB3B5A-FE78-4A15-9759-5F590146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388793"/>
            <a:ext cx="528890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Практични део дипломског рада: до 60</a:t>
            </a:r>
          </a:p>
        </p:txBody>
      </p:sp>
      <p:sp>
        <p:nvSpPr>
          <p:cNvPr id="19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0C26C764-4EE6-4E29-ABFD-DED630C1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762054"/>
            <a:ext cx="43005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Елиминациони тест: ослобођен</a:t>
            </a:r>
          </a:p>
        </p:txBody>
      </p:sp>
      <p:sp>
        <p:nvSpPr>
          <p:cNvPr id="20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ECECEEA6-EA3A-41AF-AD80-BD61EA50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135314"/>
            <a:ext cx="288324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Усмени испит: до 40</a:t>
            </a:r>
          </a:p>
        </p:txBody>
      </p:sp>
      <p:sp>
        <p:nvSpPr>
          <p:cNvPr id="21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58F6390C-B06C-4D76-9591-47EC3283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508575"/>
            <a:ext cx="493424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Највише 12 студената по генерацији</a:t>
            </a:r>
          </a:p>
        </p:txBody>
      </p:sp>
      <p:sp>
        <p:nvSpPr>
          <p:cNvPr id="22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4062711B-8F20-48DD-AE91-45B4BEEE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643836"/>
            <a:ext cx="55550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За позитивну оцену важе сва три услова</a:t>
            </a:r>
          </a:p>
        </p:txBody>
      </p:sp>
      <p:sp>
        <p:nvSpPr>
          <p:cNvPr id="23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793093A0-50DD-43A9-AA6E-4E573ED4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049542"/>
            <a:ext cx="1190967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100 бодова је максимум. За пролаз је потребан најмање 51 бод и све обавезне компоненте.</a:t>
            </a:r>
          </a:p>
        </p:txBody>
      </p:sp>
      <p:sp>
        <p:nvSpPr>
          <p:cNvPr id="24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E6C98481-9B62-492B-8825-F6DFA27D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5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804635E2-DDEA-422A-AF6C-5CB20F9C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077362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97FE0-69C7-49CB-86B1-3E8DBDE7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2C9FF-1DEA-4C5C-976A-68BEB1D7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80199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BF0F5"/>
          </a:solidFill>
          <a:ln xmlns:a="http://schemas.openxmlformats.org/drawingml/2006/main" w="0">
            <a:noFill/>
          </a:ln>
        </p:spPr>
      </p:sp>
      <p:sp>
        <p:nvSpPr>
          <p:cNvPr id="3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E9EEF3A2-B455-4C7F-A982-6C356816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80199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8CF2A-B56B-4591-B6FC-2E5CE39F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5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D292AD8D-DEA0-4185-B701-B61A3CFB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3736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 · ПОЛАГАЊЕ</a:t>
            </a:r>
          </a:p>
        </p:txBody>
      </p:sp>
      <p:sp>
        <p:nvSpPr>
          <p:cNvPr id="6" name="heading-source-04">
            <a:extLst xmlns:a="http://schemas.openxmlformats.org/drawingml/2006/main">
              <a:ext uri="{FF2B5EF4-FFF2-40B4-BE49-F238E27FC236}">
                <a16:creationId xmlns:a16="http://schemas.microsoft.com/office/drawing/2014/main" id="{03E2A993-7039-4919-8F49-A5EE8F18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95059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Структура бодовања</a:t>
            </a:r>
          </a:p>
        </p:txBody>
      </p:sp>
      <p:sp>
        <p:nvSpPr>
          <p:cNvPr id="7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D1E24AE0-2837-430E-8512-00FCE43A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217518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Бодови се сабирају до максимума од 100. Додатни бодови не замењују обавезне компоненте.</a:t>
            </a:r>
          </a:p>
        </p:txBody>
      </p:sp>
      <p:sp>
        <p:nvSpPr>
          <p:cNvPr id="8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4F3BCA47-FECA-4633-AC5A-B2FEA148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70699"/>
            <a:ext cx="22632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УСЛОВ БОДОВАЊА</a:t>
            </a:r>
          </a:p>
        </p:txBody>
      </p:sp>
      <p:sp>
        <p:nvSpPr>
          <p:cNvPr id="9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A8591410-ACEF-422C-B8AD-C026B11E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76405"/>
            <a:ext cx="1447427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Коначни збир не може прећи 100 бодова. Позитивна оцена захтева најмање 51 бод и све обавезне компоненте.</a:t>
            </a:r>
          </a:p>
        </p:txBody>
      </p:sp>
      <p:sp>
        <p:nvSpPr>
          <p:cNvPr id="10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8FA61CD3-EC88-4650-B615-F9F6CF7D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1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91BF5367-47B9-41FC-ACD7-2407520E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1219200" y="3112591"/>
          <a:ext xmlns:a="http://schemas.openxmlformats.org/drawingml/2006/main" cx="15849600" cy="2462808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07668"/>
                <a:gridCol w="1899642"/>
                <a:gridCol w="2216200"/>
                <a:gridCol w="2374553"/>
                <a:gridCol w="1899642"/>
                <a:gridCol w="2374553"/>
                <a:gridCol w="2058293"/>
              </a:tblGrid>
              <a:tr h="104566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Начин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Пројекат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Тест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Додатно</a:t>
                      </a:r>
                    </a:p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предиспитно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Усмени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Додатно</a:t>
                      </a:r>
                    </a:p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испитно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Максимум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BF0F5"/>
                    </a:solidFill>
                  </a:tcPr>
                </a:tc>
              </a:tr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Редован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30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до 5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40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до 5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100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Супер пројекат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60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ослобођен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до 5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40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до 5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100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95770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8D3299-E141-4DEA-8DA0-B99AF5A8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073BE-4496-4D62-887C-B8FD2E0E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3017490" cy="1497211"/>
          </a:xfrm>
          <a:prstGeom xmlns:a="http://schemas.openxmlformats.org/drawingml/2006/main" prst="roundRect">
            <a:avLst>
              <a:gd name="adj" fmla="val 1017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30FB3-29E1-44DA-A463-793BC5BF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190" y="3112591"/>
            <a:ext cx="3017639" cy="1497211"/>
          </a:xfrm>
          <a:prstGeom xmlns:a="http://schemas.openxmlformats.org/drawingml/2006/main" prst="roundRect">
            <a:avLst>
              <a:gd name="adj" fmla="val 1017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A64EF-A916-4844-94B2-6F4D1A71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329" y="3112591"/>
            <a:ext cx="3017490" cy="1497211"/>
          </a:xfrm>
          <a:prstGeom xmlns:a="http://schemas.openxmlformats.org/drawingml/2006/main" prst="roundRect">
            <a:avLst>
              <a:gd name="adj" fmla="val 1017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E232E-A2C2-4706-906B-AAD037ED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3320" y="3112591"/>
            <a:ext cx="3017490" cy="1497211"/>
          </a:xfrm>
          <a:prstGeom xmlns:a="http://schemas.openxmlformats.org/drawingml/2006/main" prst="roundRect">
            <a:avLst>
              <a:gd name="adj" fmla="val 1017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0B289-3B91-453B-96D7-27FB1412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310" y="3112591"/>
            <a:ext cx="3017490" cy="1497211"/>
          </a:xfrm>
          <a:prstGeom xmlns:a="http://schemas.openxmlformats.org/drawingml/2006/main" prst="roundRect">
            <a:avLst>
              <a:gd name="adj" fmla="val 1017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2D768-22DD-403F-AC62-EFF3EF8A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14602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BF0F5"/>
          </a:solidFill>
          <a:ln xmlns:a="http://schemas.openxmlformats.org/drawingml/2006/main" w="0">
            <a:noFill/>
          </a:ln>
        </p:spPr>
      </p:sp>
      <p:sp>
        <p:nvSpPr>
          <p:cNvPr id="8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0A1F2A33-66FB-45C3-88DE-50C0283B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14602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A79F1-5C97-4238-954B-AF14D070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10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5F6CA0F3-9491-4D9D-B208-EBB841D2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3736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 · ПОЛАГАЊЕ</a:t>
            </a:r>
          </a:p>
        </p:txBody>
      </p:sp>
      <p:sp>
        <p:nvSpPr>
          <p:cNvPr id="11" name="heading-source-05">
            <a:extLst xmlns:a="http://schemas.openxmlformats.org/drawingml/2006/main">
              <a:ext uri="{FF2B5EF4-FFF2-40B4-BE49-F238E27FC236}">
                <a16:creationId xmlns:a16="http://schemas.microsoft.com/office/drawing/2014/main" id="{8350A7FC-2A0A-4236-83C1-85B167B8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7740253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Формирање коначне оцене</a:t>
            </a:r>
          </a:p>
        </p:txBody>
      </p:sp>
      <p:sp>
        <p:nvSpPr>
          <p:cNvPr id="12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36DEC925-B7EC-4E60-B2F6-DFDABC1D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24982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Оцена се утврђује на основу укупног броја бодова након испуњења свих обавезних компоненти.</a:t>
            </a:r>
          </a:p>
        </p:txBody>
      </p:sp>
      <p:sp>
        <p:nvSpPr>
          <p:cNvPr id="13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7FD39365-D95D-4535-9117-60981530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51–60</a:t>
            </a:r>
          </a:p>
        </p:txBody>
      </p:sp>
      <p:sp>
        <p:nvSpPr>
          <p:cNvPr id="14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83D7BFF4-E443-4A93-9F46-77EA283A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42147"/>
            <a:ext cx="149646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6 · оцена</a:t>
            </a:r>
          </a:p>
        </p:txBody>
      </p:sp>
      <p:sp>
        <p:nvSpPr>
          <p:cNvPr id="15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22FAD255-C3A4-4B5A-9DBC-A31CDFC2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415" y="3388816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61–70</a:t>
            </a:r>
          </a:p>
        </p:txBody>
      </p:sp>
      <p:sp>
        <p:nvSpPr>
          <p:cNvPr id="16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943DD332-6E36-4BCA-ACFA-1F3ED5A0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415" y="3842147"/>
            <a:ext cx="149646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7 · оцена</a:t>
            </a:r>
          </a:p>
        </p:txBody>
      </p:sp>
      <p:sp>
        <p:nvSpPr>
          <p:cNvPr id="17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B377D17F-649C-45C0-80D0-2E7C045D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554" y="3388816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71–80</a:t>
            </a:r>
          </a:p>
        </p:txBody>
      </p:sp>
      <p:sp>
        <p:nvSpPr>
          <p:cNvPr id="18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422454A0-FAD3-4909-A695-F6FBE032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554" y="3842147"/>
            <a:ext cx="149646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8 · оцена</a:t>
            </a:r>
          </a:p>
        </p:txBody>
      </p:sp>
      <p:sp>
        <p:nvSpPr>
          <p:cNvPr id="19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9136787B-F012-4ED5-9FC9-06983FA3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9545" y="3388816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81–90</a:t>
            </a:r>
          </a:p>
        </p:txBody>
      </p:sp>
      <p:sp>
        <p:nvSpPr>
          <p:cNvPr id="20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84C8B3B6-84AD-4AC9-91A1-057BF40B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9545" y="3842147"/>
            <a:ext cx="149646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9 · оцена</a:t>
            </a:r>
          </a:p>
        </p:txBody>
      </p:sp>
      <p:sp>
        <p:nvSpPr>
          <p:cNvPr id="21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A74A995E-DD21-45B3-A6F9-B5D9FB3A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7535" y="3388816"/>
            <a:ext cx="11659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91–100</a:t>
            </a:r>
          </a:p>
        </p:txBody>
      </p:sp>
      <p:sp>
        <p:nvSpPr>
          <p:cNvPr id="22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B0E40638-7CE3-409A-9C5C-22B23CDC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7535" y="3842147"/>
            <a:ext cx="165645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10 · оцена</a:t>
            </a:r>
          </a:p>
        </p:txBody>
      </p:sp>
      <p:sp>
        <p:nvSpPr>
          <p:cNvPr id="23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4933E3E9-4EF4-4638-84FA-7FB3537B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05102"/>
            <a:ext cx="22632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УСЛОВ ЗА ОЦЕНУ</a:t>
            </a:r>
          </a:p>
        </p:txBody>
      </p:sp>
      <p:sp>
        <p:nvSpPr>
          <p:cNvPr id="24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51B7061A-0D55-45FD-B985-130DD56A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10808"/>
            <a:ext cx="1338485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Прво се испуњавају обавезе изабраног начина полагања. Тек затим укупан број бодова одређује оцену.</a:t>
            </a:r>
          </a:p>
        </p:txBody>
      </p:sp>
      <p:sp>
        <p:nvSpPr>
          <p:cNvPr id="25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354DE68E-D132-4E50-8C68-7D39AA25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6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B1BC6906-8A08-4BCB-835C-FC4B0041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699704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25A1C0-6017-45CC-AE27-0E6DDB94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CB0C2-9241-4E8B-8941-B855635C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5156150" cy="3782467"/>
          </a:xfrm>
          <a:prstGeom xmlns:a="http://schemas.openxmlformats.org/drawingml/2006/main" prst="roundRect">
            <a:avLst>
              <a:gd name="adj" fmla="val 402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1A6C6-50ED-49A1-A65E-FFA9FFF0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3112591"/>
            <a:ext cx="5156299" cy="3782467"/>
          </a:xfrm>
          <a:prstGeom xmlns:a="http://schemas.openxmlformats.org/drawingml/2006/main" prst="roundRect">
            <a:avLst>
              <a:gd name="adj" fmla="val 402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88FC8-DC0A-4A69-A637-5E56C10F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650" y="3112591"/>
            <a:ext cx="5156150" cy="3782467"/>
          </a:xfrm>
          <a:prstGeom xmlns:a="http://schemas.openxmlformats.org/drawingml/2006/main" prst="roundRect">
            <a:avLst>
              <a:gd name="adj" fmla="val 402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50C8A-E1B2-4435-A649-21A6A437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7F3A8A91-A62B-42AA-95E5-86B9450E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9357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 · ИСПИТНЕ КОМПОНЕНТЕ</a:t>
            </a:r>
          </a:p>
        </p:txBody>
      </p:sp>
      <p:sp>
        <p:nvSpPr>
          <p:cNvPr id="7" name="heading-source-08">
            <a:extLst xmlns:a="http://schemas.openxmlformats.org/drawingml/2006/main">
              <a:ext uri="{FF2B5EF4-FFF2-40B4-BE49-F238E27FC236}">
                <a16:creationId xmlns:a16="http://schemas.microsoft.com/office/drawing/2014/main" id="{B73E9EF0-37D7-449A-AC64-F07D2815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59995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Компоненте испита</a:t>
            </a:r>
          </a:p>
        </p:txBody>
      </p:sp>
      <p:sp>
        <p:nvSpPr>
          <p:cNvPr id="8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ECEDFDD1-7EC1-4638-B2F4-0328A4E8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576328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Одбрана пројекта, елиминациони тест и усмени испит проверавају различите аспекте знања и индивидуалног доприноса.</a:t>
            </a:r>
          </a:p>
        </p:txBody>
      </p:sp>
      <p:sp>
        <p:nvSpPr>
          <p:cNvPr id="9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BA70D501-98F6-4EA2-96B6-B5358C23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25375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ОДБРАНА ПРОЈЕКТА</a:t>
            </a:r>
          </a:p>
        </p:txBody>
      </p:sp>
      <p:sp>
        <p:nvSpPr>
          <p:cNvPr id="10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9F4799B0-FDAD-4B2F-96E9-01EA8692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42147"/>
            <a:ext cx="4775002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Демонстрација + разумевање</a:t>
            </a:r>
          </a:p>
        </p:txBody>
      </p:sp>
      <p:sp>
        <p:nvSpPr>
          <p:cNvPr id="11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9366CBD1-5351-4454-A229-C5F0E75A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88793"/>
            <a:ext cx="49163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Предрок: прва недеља децембра, уз </a:t>
            </a:r>
          </a:p>
        </p:txBody>
      </p:sp>
      <p:sp>
        <p:nvSpPr>
          <p:cNvPr id="12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C6275478-06A3-4322-829D-3168FD6B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62054"/>
            <a:ext cx="264437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олакшани усмени.</a:t>
            </a:r>
          </a:p>
        </p:txBody>
      </p:sp>
      <p:sp>
        <p:nvSpPr>
          <p:cNvPr id="13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4B61A96A-24BA-452B-8B34-76FEECF0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135314"/>
            <a:ext cx="481072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Редовни термин: пред крај зимског </a:t>
            </a:r>
          </a:p>
        </p:txBody>
      </p:sp>
      <p:sp>
        <p:nvSpPr>
          <p:cNvPr id="14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71BF6C4D-6164-4BF0-B0BA-C96D031E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508575"/>
            <a:ext cx="158472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семестра.</a:t>
            </a:r>
          </a:p>
        </p:txBody>
      </p:sp>
      <p:sp>
        <p:nvSpPr>
          <p:cNvPr id="15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FD3C8A13-58F6-4B76-9447-3C375A2A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881836"/>
            <a:ext cx="483096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Проверавају се механизми, тестови </a:t>
            </a:r>
          </a:p>
        </p:txBody>
      </p:sp>
      <p:sp>
        <p:nvSpPr>
          <p:cNvPr id="16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E0730051-4BD9-4EFB-BE7B-C14235D1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255097"/>
            <a:ext cx="343346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 архитектонске одлуке.</a:t>
            </a:r>
          </a:p>
        </p:txBody>
      </p:sp>
      <p:sp>
        <p:nvSpPr>
          <p:cNvPr id="17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C35DCCC6-AD40-4E63-903F-A4086B0F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388816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ЕЛИМИНАЦИОНИ ТЕСТ</a:t>
            </a:r>
          </a:p>
        </p:txBody>
      </p:sp>
      <p:sp>
        <p:nvSpPr>
          <p:cNvPr id="18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4536D48F-2628-42EE-88B3-80091F5C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842147"/>
            <a:ext cx="183311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20 бодова</a:t>
            </a:r>
          </a:p>
        </p:txBody>
      </p:sp>
      <p:sp>
        <p:nvSpPr>
          <p:cNvPr id="19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1F7BFBF4-E096-40EF-8405-CF47E021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388793"/>
            <a:ext cx="408265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Обавезан у редовном начину.</a:t>
            </a:r>
          </a:p>
        </p:txBody>
      </p:sp>
      <p:sp>
        <p:nvSpPr>
          <p:cNvPr id="20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1CDDE7E0-B8A1-4DDA-8CC1-28737746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762054"/>
            <a:ext cx="371266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Питања су отвореног типа.</a:t>
            </a:r>
          </a:p>
        </p:txBody>
      </p:sp>
      <p:sp>
        <p:nvSpPr>
          <p:cNvPr id="21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FCB93F28-DEB4-4391-B245-B53CA0F3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135314"/>
            <a:ext cx="402952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Два редовна термина и један </a:t>
            </a:r>
          </a:p>
        </p:txBody>
      </p:sp>
      <p:sp>
        <p:nvSpPr>
          <p:cNvPr id="22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A0046360-0EBF-47F1-A0D1-CA82BC95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508575"/>
            <a:ext cx="408399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поправни у летњем семестру.</a:t>
            </a:r>
          </a:p>
        </p:txBody>
      </p:sp>
      <p:sp>
        <p:nvSpPr>
          <p:cNvPr id="23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96978DA6-0F42-474F-9241-E710D250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388816"/>
            <a:ext cx="19889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УСМЕНИ ИСПИТ</a:t>
            </a:r>
          </a:p>
        </p:txBody>
      </p:sp>
      <p:sp>
        <p:nvSpPr>
          <p:cNvPr id="24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58069FE9-C3F8-477A-ADF5-4F9CA71B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842147"/>
            <a:ext cx="231442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 40 бодова</a:t>
            </a:r>
          </a:p>
        </p:txBody>
      </p:sp>
      <p:sp>
        <p:nvSpPr>
          <p:cNvPr id="25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6D5209DD-2E02-4A12-968B-47EBE515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388793"/>
            <a:ext cx="328523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Обавезан у оба начина.</a:t>
            </a:r>
          </a:p>
        </p:txBody>
      </p:sp>
      <p:sp>
        <p:nvSpPr>
          <p:cNvPr id="26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A95DE377-414B-4240-BEC9-CA901F6E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762054"/>
            <a:ext cx="443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Повезује концепте са пројектом.</a:t>
            </a:r>
          </a:p>
        </p:txBody>
      </p:sp>
      <p:sp>
        <p:nvSpPr>
          <p:cNvPr id="27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35218757-F64E-4EFF-992D-18EEE760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135314"/>
            <a:ext cx="47005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Студент образлаже безбедносне и </a:t>
            </a:r>
          </a:p>
        </p:txBody>
      </p:sp>
      <p:sp>
        <p:nvSpPr>
          <p:cNvPr id="28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0B7B9F6A-F980-49EA-8E9B-2ED3B032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508575"/>
            <a:ext cx="321379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архитектонске одлуке.</a:t>
            </a:r>
          </a:p>
        </p:txBody>
      </p:sp>
      <p:sp>
        <p:nvSpPr>
          <p:cNvPr id="29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3D1A6ECC-301B-41C3-ACB7-4E13B2EA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0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DFD481D4-44EF-44F2-81C7-A460E3A5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483619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2B8076-3398-4AD2-8F4B-131FA3A2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CFAB9-38A0-4189-A60D-84BCC3A5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5156150" cy="2662684"/>
          </a:xfrm>
          <a:prstGeom xmlns:a="http://schemas.openxmlformats.org/drawingml/2006/main" prst="roundRect">
            <a:avLst>
              <a:gd name="adj" fmla="val 572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7B4DA-9F62-4D1C-B4EA-F5E3761B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3112591"/>
            <a:ext cx="5156299" cy="2662684"/>
          </a:xfrm>
          <a:prstGeom xmlns:a="http://schemas.openxmlformats.org/drawingml/2006/main" prst="roundRect">
            <a:avLst>
              <a:gd name="adj" fmla="val 572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690A4-A96D-4EF1-AFF7-F2B4C725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650" y="3112591"/>
            <a:ext cx="5156150" cy="2662684"/>
          </a:xfrm>
          <a:prstGeom xmlns:a="http://schemas.openxmlformats.org/drawingml/2006/main" prst="roundRect">
            <a:avLst>
              <a:gd name="adj" fmla="val 572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E383A-AC4D-4795-A69C-D391D5D5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80075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BF0F5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290A456E-808F-4909-A6DB-47436FE3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80075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074BF-BBD2-4B6A-9D77-83680C52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807ED795-C241-4FDE-B0EF-72F90645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7796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 · ЕЛИМИНАЦИОНИ ТЕСТ</a:t>
            </a:r>
          </a:p>
        </p:txBody>
      </p:sp>
      <p:sp>
        <p:nvSpPr>
          <p:cNvPr id="9" name="heading-source-17">
            <a:extLst xmlns:a="http://schemas.openxmlformats.org/drawingml/2006/main">
              <a:ext uri="{FF2B5EF4-FFF2-40B4-BE49-F238E27FC236}">
                <a16:creationId xmlns:a16="http://schemas.microsoft.com/office/drawing/2014/main" id="{0E12C1EA-7808-4B81-B7D7-4C678024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649218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Елиминациони тест</a:t>
            </a:r>
          </a:p>
        </p:txBody>
      </p:sp>
      <p:sp>
        <p:nvSpPr>
          <p:cNvPr id="10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D0CF4C45-DB78-45CB-A393-5B2B4C68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229186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 проверава основне појмове и градиво предмета кроз самостално формулисане одговоре.</a:t>
            </a:r>
          </a:p>
        </p:txBody>
      </p:sp>
      <p:sp>
        <p:nvSpPr>
          <p:cNvPr id="11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DD25723E-228A-4129-9FD4-50E2B9D3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11659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ФОРМАТ</a:t>
            </a:r>
          </a:p>
        </p:txBody>
      </p:sp>
      <p:sp>
        <p:nvSpPr>
          <p:cNvPr id="12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66905298-9561-4C38-B469-9E832019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42147"/>
            <a:ext cx="183311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20 бодова</a:t>
            </a:r>
          </a:p>
        </p:txBody>
      </p:sp>
      <p:sp>
        <p:nvSpPr>
          <p:cNvPr id="13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D7FB951A-4870-42B6-B4E2-1DFAC83E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88793"/>
            <a:ext cx="443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Питања су отвореног типа. Нема </a:t>
            </a:r>
          </a:p>
        </p:txBody>
      </p:sp>
      <p:sp>
        <p:nvSpPr>
          <p:cNvPr id="14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41ACEE60-B9BA-4C57-B243-28379712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62054"/>
            <a:ext cx="484167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понуђених одговора типа a, b, c или </a:t>
            </a:r>
          </a:p>
        </p:txBody>
      </p:sp>
      <p:sp>
        <p:nvSpPr>
          <p:cNvPr id="15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DEA5532A-99AB-4698-92E0-4B757E5A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135314"/>
            <a:ext cx="57016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d.</a:t>
            </a:r>
          </a:p>
        </p:txBody>
      </p:sp>
      <p:sp>
        <p:nvSpPr>
          <p:cNvPr id="16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50858BEB-030F-4451-962C-56C57941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388816"/>
            <a:ext cx="13031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ТЕРМИНИ</a:t>
            </a:r>
          </a:p>
        </p:txBody>
      </p:sp>
      <p:sp>
        <p:nvSpPr>
          <p:cNvPr id="17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06F04F6D-AC0B-422D-BBFE-02E38F90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842147"/>
            <a:ext cx="389111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Редовна: 2, поправни: 1</a:t>
            </a:r>
          </a:p>
        </p:txBody>
      </p:sp>
      <p:sp>
        <p:nvSpPr>
          <p:cNvPr id="18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0A906460-65D6-44CC-9D3F-572638CF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388793"/>
            <a:ext cx="413757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Термини су пре предрока, пре </a:t>
            </a:r>
          </a:p>
        </p:txBody>
      </p:sp>
      <p:sp>
        <p:nvSpPr>
          <p:cNvPr id="19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5822005C-DBBF-4116-9CC8-2652D1EF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762054"/>
            <a:ext cx="410393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редовног термина и у летњем </a:t>
            </a:r>
          </a:p>
        </p:txBody>
      </p:sp>
      <p:sp>
        <p:nvSpPr>
          <p:cNvPr id="20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A2F5E479-F135-47FD-BA68-25C4C652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135314"/>
            <a:ext cx="157400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семестру.</a:t>
            </a:r>
          </a:p>
        </p:txBody>
      </p:sp>
      <p:sp>
        <p:nvSpPr>
          <p:cNvPr id="21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06E72648-E5A2-4D14-8DD3-E19F1E87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388816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ПРИПРЕМА</a:t>
            </a:r>
          </a:p>
        </p:txBody>
      </p:sp>
      <p:sp>
        <p:nvSpPr>
          <p:cNvPr id="22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81F64469-E465-4562-9B53-82414F22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842147"/>
            <a:ext cx="381253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Одговор својим речима</a:t>
            </a:r>
          </a:p>
        </p:txBody>
      </p:sp>
      <p:sp>
        <p:nvSpPr>
          <p:cNvPr id="23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DA0E1AFA-5106-4C3D-B3B6-7228EB13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388793"/>
            <a:ext cx="446484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Питања се не објављују унапред. </a:t>
            </a:r>
          </a:p>
        </p:txBody>
      </p:sp>
      <p:sp>
        <p:nvSpPr>
          <p:cNvPr id="24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B919A142-CAB4-4BEC-93FF-0C158E32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762054"/>
            <a:ext cx="471368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Практикум служи за систематично </a:t>
            </a:r>
          </a:p>
        </p:txBody>
      </p:sp>
      <p:sp>
        <p:nvSpPr>
          <p:cNvPr id="25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F98D42E1-155B-4152-9365-399C9F2B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135314"/>
            <a:ext cx="262726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разумевање тема.</a:t>
            </a:r>
          </a:p>
        </p:txBody>
      </p:sp>
      <p:sp>
        <p:nvSpPr>
          <p:cNvPr id="26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B9874262-2ECC-4D05-9F4E-D35E542E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270575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Структура теста</a:t>
            </a:r>
          </a:p>
        </p:txBody>
      </p:sp>
      <p:sp>
        <p:nvSpPr>
          <p:cNvPr id="27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3C5C08EA-2F82-473D-A543-B2C5CC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676281"/>
            <a:ext cx="780201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6 питања × 2 бода + мини задатак од 8 бодова = 20 бодова.</a:t>
            </a:r>
          </a:p>
        </p:txBody>
      </p:sp>
      <p:sp>
        <p:nvSpPr>
          <p:cNvPr id="28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F8F94EB4-7462-4C04-8225-84DD958B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9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B05AE366-6F0D-4D64-99FA-610203D9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260970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6559DD-E85E-4379-A2E1-932BB982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669C8-8CD5-4B4A-9968-A8323B90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2651671" cy="2723852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05C5E-DFC2-4B8D-9A39-996F9FFA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571" y="3112591"/>
            <a:ext cx="2651820" cy="2723852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D43EC-F03E-4CE1-BCCC-BC04ABFE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090" y="3112591"/>
            <a:ext cx="2651671" cy="2723852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B6445-4289-408A-9473-C6E5EFE4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461" y="3112591"/>
            <a:ext cx="2651820" cy="2723852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F353A-FBFB-46AA-8783-FE204F26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6980" y="3112591"/>
            <a:ext cx="2651820" cy="2723852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291DC-0D0A-498A-892B-6EB3FAE9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141244"/>
            <a:ext cx="158496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EBF0F5"/>
          </a:solidFill>
          <a:ln xmlns:a="http://schemas.openxmlformats.org/drawingml/2006/main" w="0">
            <a:noFill/>
          </a:ln>
        </p:spPr>
      </p:sp>
      <p:sp>
        <p:nvSpPr>
          <p:cNvPr id="8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2A9A1837-46BE-453A-B2B0-5E48C576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141244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4E4D6-5228-4EAB-85CE-59E70D01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9129721254750"/>
          <a:stretch xmlns:a="http://schemas.openxmlformats.org/drawingml/2006/main"/>
        </p:blipFill>
        <p:spPr>
          <a:xfrm xmlns:a="http://schemas.openxmlformats.org/drawingml/2006/main">
            <a:off x="4061371" y="4379268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aade55e1c4f23"/>
          <a:stretch xmlns:a="http://schemas.openxmlformats.org/drawingml/2006/main"/>
        </p:blipFill>
        <p:spPr>
          <a:xfrm xmlns:a="http://schemas.openxmlformats.org/drawingml/2006/main">
            <a:off x="7360890" y="4379268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b1e1213254f21"/>
          <a:stretch xmlns:a="http://schemas.openxmlformats.org/drawingml/2006/main"/>
        </p:blipFill>
        <p:spPr>
          <a:xfrm xmlns:a="http://schemas.openxmlformats.org/drawingml/2006/main">
            <a:off x="10660261" y="4379268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1aedf924f47ff"/>
          <a:stretch xmlns:a="http://schemas.openxmlformats.org/drawingml/2006/main"/>
        </p:blipFill>
        <p:spPr>
          <a:xfrm xmlns:a="http://schemas.openxmlformats.org/drawingml/2006/main">
            <a:off x="13959780" y="4379268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A99472D3-B94F-4DB4-9575-BD8A3929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99858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 · УСМЕНИ ИСПИТ</a:t>
            </a:r>
          </a:p>
        </p:txBody>
      </p:sp>
      <p:sp>
        <p:nvSpPr>
          <p:cNvPr id="15" name="heading-source-18">
            <a:extLst xmlns:a="http://schemas.openxmlformats.org/drawingml/2006/main">
              <a:ext uri="{FF2B5EF4-FFF2-40B4-BE49-F238E27FC236}">
                <a16:creationId xmlns:a16="http://schemas.microsoft.com/office/drawing/2014/main" id="{C510369E-E2C6-4230-9928-3615E73E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398576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Усмени испит</a:t>
            </a:r>
          </a:p>
        </p:txBody>
      </p:sp>
      <p:sp>
        <p:nvSpPr>
          <p:cNvPr id="16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988E1C5A-DA64-43EB-8A17-9EAC8B08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413882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Студент повезује концепте предмета са безбедносним и архитектонским одлукама примењеним на пројекту.</a:t>
            </a:r>
          </a:p>
        </p:txBody>
      </p:sp>
      <p:sp>
        <p:nvSpPr>
          <p:cNvPr id="17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1C185C5D-9448-41D4-9BCE-EB20E35B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8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F74509E9-E55D-4F2F-A6AA-1286C7B5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143053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Концепт</a:t>
            </a:r>
          </a:p>
        </p:txBody>
      </p:sp>
      <p:sp>
        <p:nvSpPr>
          <p:cNvPr id="19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1461AA60-9D57-4A2E-BFC8-E0245A00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223510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јасна дефиниција</a:t>
            </a:r>
          </a:p>
        </p:txBody>
      </p:sp>
      <p:sp>
        <p:nvSpPr>
          <p:cNvPr id="20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FCCD7A6D-68E1-47F6-BFD2-2D3451B1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796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1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9CF3C53D-0268-4626-91FF-DC29C53B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796" y="4108847"/>
            <a:ext cx="148947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Проблем</a:t>
            </a:r>
          </a:p>
        </p:txBody>
      </p:sp>
      <p:sp>
        <p:nvSpPr>
          <p:cNvPr id="22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0D73DBBE-8491-4767-AED6-C46996D4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796" y="4600277"/>
            <a:ext cx="115267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ризик у </a:t>
            </a:r>
          </a:p>
        </p:txBody>
      </p:sp>
      <p:sp>
        <p:nvSpPr>
          <p:cNvPr id="23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A6D7E0BF-62A1-4682-8ACC-322BDD91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796" y="4920258"/>
            <a:ext cx="163770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конкретном </a:t>
            </a:r>
          </a:p>
        </p:txBody>
      </p:sp>
      <p:sp>
        <p:nvSpPr>
          <p:cNvPr id="24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D1FFA629-73CB-41F5-BA9F-8869FA37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796" y="5240238"/>
            <a:ext cx="121190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систему</a:t>
            </a:r>
          </a:p>
        </p:txBody>
      </p:sp>
      <p:sp>
        <p:nvSpPr>
          <p:cNvPr id="25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D7685BE7-34EE-4E15-A44F-38657137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1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6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D777FE50-7EDB-4648-AFE9-67615D6E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15" y="4108847"/>
            <a:ext cx="130150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Одлука</a:t>
            </a:r>
          </a:p>
        </p:txBody>
      </p:sp>
      <p:sp>
        <p:nvSpPr>
          <p:cNvPr id="27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B46F035F-746A-44D8-937B-2CF45FDF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15" y="4600277"/>
            <a:ext cx="24113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изабрана контрола</a:t>
            </a:r>
          </a:p>
        </p:txBody>
      </p:sp>
      <p:sp>
        <p:nvSpPr>
          <p:cNvPr id="28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4A4749EE-4AE3-48FD-A348-BE6A16DD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686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9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496CBF2C-D954-491F-AD52-5CED1544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686" y="4108847"/>
            <a:ext cx="195976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Ограничење</a:t>
            </a:r>
          </a:p>
        </p:txBody>
      </p:sp>
      <p:sp>
        <p:nvSpPr>
          <p:cNvPr id="30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AAAFA123-73FB-4CB4-B546-72C3209E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686" y="4600277"/>
            <a:ext cx="212348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шта контрола не </a:t>
            </a:r>
          </a:p>
        </p:txBody>
      </p:sp>
      <p:sp>
        <p:nvSpPr>
          <p:cNvPr id="31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65E8957C-5495-4D53-A80D-74391A78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686" y="4920258"/>
            <a:ext cx="124316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покрива</a:t>
            </a:r>
          </a:p>
        </p:txBody>
      </p:sp>
      <p:sp>
        <p:nvSpPr>
          <p:cNvPr id="32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E204A2AC-2629-4F58-9412-184D7352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320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33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4650E5DE-2CD8-4B8B-AE93-C89259AD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3205" y="4108847"/>
            <a:ext cx="114121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</a:t>
            </a:r>
          </a:p>
        </p:txBody>
      </p:sp>
      <p:sp>
        <p:nvSpPr>
          <p:cNvPr id="34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EC09C6C5-CDD2-449D-A0D2-7A3300C7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3205" y="4600277"/>
            <a:ext cx="172194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тест, лог или </a:t>
            </a:r>
          </a:p>
        </p:txBody>
      </p:sp>
      <p:sp>
        <p:nvSpPr>
          <p:cNvPr id="35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A8532E2D-80C3-4D11-8B71-AE1A1F03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3205" y="4920258"/>
            <a:ext cx="195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демонстрација</a:t>
            </a:r>
          </a:p>
        </p:txBody>
      </p:sp>
      <p:sp>
        <p:nvSpPr>
          <p:cNvPr id="36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4393DEC6-EB10-4461-AE3E-A84972DC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31744"/>
            <a:ext cx="19889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УСМЕНИ ИСПИТ</a:t>
            </a:r>
          </a:p>
        </p:txBody>
      </p:sp>
      <p:sp>
        <p:nvSpPr>
          <p:cNvPr id="37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D8B43A3B-F42C-4E6A-8430-148837A2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737449"/>
            <a:ext cx="223763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 40 БОДОВА</a:t>
            </a:r>
          </a:p>
        </p:txBody>
      </p:sp>
      <p:sp>
        <p:nvSpPr>
          <p:cNvPr id="38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9931FC5F-8C87-44F0-815E-D99000D1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110710"/>
            <a:ext cx="483706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Обавезан је у оба начина полагања.</a:t>
            </a:r>
          </a:p>
        </p:txBody>
      </p:sp>
      <p:sp>
        <p:nvSpPr>
          <p:cNvPr id="39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EA6D598C-91E6-4E6E-9FB5-7057F2FC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40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A27B3F41-991E-48F0-B0D8-1BDC559B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68614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2BF8C-FD8C-4E27-A3F5-8DD0F1DA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E3649-CC71-4A07-8855-BFFB3117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3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254792A7-46A2-4A7C-AA7E-4CF4D16A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6233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 · ПРЕЛАЗНА ПРАВИЛА</a:t>
            </a:r>
          </a:p>
        </p:txBody>
      </p:sp>
      <p:sp>
        <p:nvSpPr>
          <p:cNvPr id="4" name="heading-source-11">
            <a:extLst xmlns:a="http://schemas.openxmlformats.org/drawingml/2006/main">
              <a:ext uri="{FF2B5EF4-FFF2-40B4-BE49-F238E27FC236}">
                <a16:creationId xmlns:a16="http://schemas.microsoft.com/office/drawing/2014/main" id="{EE68EBDE-EA2D-4AA1-8250-37DCAA5D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34605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Прелазна правила</a:t>
            </a:r>
          </a:p>
        </p:txBody>
      </p:sp>
      <p:sp>
        <p:nvSpPr>
          <p:cNvPr id="5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331907AE-E7CF-4E27-9F91-3E892C44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37280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Раније генерације примењују актуелни режим полагања уз признавање претходно испуњених обавеза.</a:t>
            </a:r>
          </a:p>
        </p:txBody>
      </p:sp>
      <p:sp>
        <p:nvSpPr>
          <p:cNvPr id="6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6250F27D-F270-4C6D-A7F0-9D28D51D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7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DA534C6E-E151-4CE6-B528-33049474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1219200" y="3112591"/>
          <a:ext xmlns:a="http://schemas.openxmlformats.org/drawingml/2006/main" cx="15849600" cy="4394002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857280"/>
                <a:gridCol w="9973270"/>
              </a:tblGrid>
              <a:tr h="7256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СТАТУС СТУДЕНТА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ОБАВЕЗА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BF0F5"/>
                    </a:solidFill>
                  </a:tcPr>
                </a:tc>
              </a:tr>
              <a:tr h="7256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Нема потпис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Поново похађа предмет и све обавезе реализује по актуелним правилима.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10989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Има потпис, без положених предиспитних обавеза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Предиспитне и испитне обавезе реализује по актуелним правилима.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7256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Признате предиспитне обавезе, без теста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Полаже елиминациони тест по актуелним правилима.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10989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Признате предиспитне обавезе и тест, без усменог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Полаже усмени. Бодови са усменог множе се коефицијентом 0,5.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1945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BF0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199E0F-2027-462D-940C-9DF26C42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8657"/>
            <a:ext cx="814090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3CED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AD40E-C673-4F53-8CCE-40AE6154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190" y="6158657"/>
            <a:ext cx="1614636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3CED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91246-58E4-4166-8C97-C1B69382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126" y="6158657"/>
            <a:ext cx="1252389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3CED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CBCAC-893C-4CE5-8928-3606517D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815" y="6158657"/>
            <a:ext cx="1335732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3CE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4DD13-8D0C-4FC6-B859-0ABDD529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CEDA"/>
          </a:solidFill>
          <a:ln xmlns:a="http://schemas.openxmlformats.org/drawingml/2006/main" w="0">
            <a:noFill/>
          </a:ln>
        </p:spPr>
      </p:sp>
      <p:sp>
        <p:nvSpPr>
          <p:cNvPr id="6" name="text-deo2">
            <a:extLst xmlns:a="http://schemas.openxmlformats.org/drawingml/2006/main">
              <a:ext uri="{FF2B5EF4-FFF2-40B4-BE49-F238E27FC236}">
                <a16:creationId xmlns:a16="http://schemas.microsoft.com/office/drawing/2014/main" id="{FC2A1CD2-0C96-483F-831C-E05CD514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7" name="text-deo2">
            <a:extLst xmlns:a="http://schemas.openxmlformats.org/drawingml/2006/main">
              <a:ext uri="{FF2B5EF4-FFF2-40B4-BE49-F238E27FC236}">
                <a16:creationId xmlns:a16="http://schemas.microsoft.com/office/drawing/2014/main" id="{1A190C06-A165-41EE-AE4A-1D3470F5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17488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ДРУГИ ДЕО</a:t>
            </a:r>
          </a:p>
        </p:txBody>
      </p:sp>
      <p:sp>
        <p:nvSpPr>
          <p:cNvPr id="8" name="heading-deo2">
            <a:extLst xmlns:a="http://schemas.openxmlformats.org/drawingml/2006/main">
              <a:ext uri="{FF2B5EF4-FFF2-40B4-BE49-F238E27FC236}">
                <a16:creationId xmlns:a16="http://schemas.microsoft.com/office/drawing/2014/main" id="{6FDE1880-50FC-4C7B-AAEB-791B4EA4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6514356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Пројектни рад</a:t>
            </a:r>
          </a:p>
        </p:txBody>
      </p:sp>
      <p:sp>
        <p:nvSpPr>
          <p:cNvPr id="9" name="text-deo2">
            <a:extLst xmlns:a="http://schemas.openxmlformats.org/drawingml/2006/main">
              <a:ext uri="{FF2B5EF4-FFF2-40B4-BE49-F238E27FC236}">
                <a16:creationId xmlns:a16="http://schemas.microsoft.com/office/drawing/2014/main" id="{3A91D6F5-FD27-4887-A88B-901907FF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825415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Тимски пројекат у систему SCUTUM, индивидуални допринос и </a:t>
            </a:r>
          </a:p>
        </p:txBody>
      </p:sp>
      <p:sp>
        <p:nvSpPr>
          <p:cNvPr id="10" name="text-deo2">
            <a:extLst xmlns:a="http://schemas.openxmlformats.org/drawingml/2006/main">
              <a:ext uri="{FF2B5EF4-FFF2-40B4-BE49-F238E27FC236}">
                <a16:creationId xmlns:a16="http://schemas.microsoft.com/office/drawing/2014/main" id="{4265A583-8B58-41DD-A57E-158A7623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449713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практични део дипломског рада.</a:t>
            </a:r>
          </a:p>
        </p:txBody>
      </p:sp>
      <p:sp>
        <p:nvSpPr>
          <p:cNvPr id="11" name="text-deo2">
            <a:extLst xmlns:a="http://schemas.openxmlformats.org/drawingml/2006/main">
              <a:ext uri="{FF2B5EF4-FFF2-40B4-BE49-F238E27FC236}">
                <a16:creationId xmlns:a16="http://schemas.microsoft.com/office/drawing/2014/main" id="{A860FAF3-6BAC-4763-997C-7B9ABB15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244382"/>
            <a:ext cx="7569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Тим</a:t>
            </a:r>
          </a:p>
        </p:txBody>
      </p:sp>
      <p:sp>
        <p:nvSpPr>
          <p:cNvPr id="12" name="text-deo2">
            <a:extLst xmlns:a="http://schemas.openxmlformats.org/drawingml/2006/main">
              <a:ext uri="{FF2B5EF4-FFF2-40B4-BE49-F238E27FC236}">
                <a16:creationId xmlns:a16="http://schemas.microsoft.com/office/drawing/2014/main" id="{8A124CF1-9BD0-4F6C-ACA4-E96273F2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215" y="6244382"/>
            <a:ext cx="155748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Git и review</a:t>
            </a:r>
          </a:p>
        </p:txBody>
      </p:sp>
      <p:sp>
        <p:nvSpPr>
          <p:cNvPr id="13" name="text-deo2">
            <a:extLst xmlns:a="http://schemas.openxmlformats.org/drawingml/2006/main">
              <a:ext uri="{FF2B5EF4-FFF2-40B4-BE49-F238E27FC236}">
                <a16:creationId xmlns:a16="http://schemas.microsoft.com/office/drawing/2014/main" id="{8E306573-5F06-44A0-8CC7-F3E23F42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151" y="6244382"/>
            <a:ext cx="11952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Тестови</a:t>
            </a:r>
          </a:p>
        </p:txBody>
      </p:sp>
      <p:sp>
        <p:nvSpPr>
          <p:cNvPr id="14" name="text-deo2">
            <a:extLst xmlns:a="http://schemas.openxmlformats.org/drawingml/2006/main">
              <a:ext uri="{FF2B5EF4-FFF2-40B4-BE49-F238E27FC236}">
                <a16:creationId xmlns:a16="http://schemas.microsoft.com/office/drawing/2014/main" id="{ABB02D60-AE49-4DDF-AAB7-46EF5B74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840" y="6244382"/>
            <a:ext cx="127858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Одбрана</a:t>
            </a:r>
          </a:p>
        </p:txBody>
      </p:sp>
      <p:sp>
        <p:nvSpPr>
          <p:cNvPr id="15" name="text-deo2">
            <a:extLst xmlns:a="http://schemas.openxmlformats.org/drawingml/2006/main">
              <a:ext uri="{FF2B5EF4-FFF2-40B4-BE49-F238E27FC236}">
                <a16:creationId xmlns:a16="http://schemas.microsoft.com/office/drawing/2014/main" id="{79B05AB4-67E4-4FDB-AFEA-1C57E0FF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6" name="text-deo2">
            <a:extLst xmlns:a="http://schemas.openxmlformats.org/drawingml/2006/main">
              <a:ext uri="{FF2B5EF4-FFF2-40B4-BE49-F238E27FC236}">
                <a16:creationId xmlns:a16="http://schemas.microsoft.com/office/drawing/2014/main" id="{70C58144-86CD-46E8-8E22-CD2E8549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85254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47F488-7D7C-4E05-8661-B50DDBA1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48F9B-BCFB-4933-95E3-4C67887C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5156150" cy="3035945"/>
          </a:xfrm>
          <a:prstGeom xmlns:a="http://schemas.openxmlformats.org/drawingml/2006/main" prst="roundRect">
            <a:avLst>
              <a:gd name="adj" fmla="val 502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AA3CC-0738-4D6F-9BD6-B814BC33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3112591"/>
            <a:ext cx="5156299" cy="3035945"/>
          </a:xfrm>
          <a:prstGeom xmlns:a="http://schemas.openxmlformats.org/drawingml/2006/main" prst="roundRect">
            <a:avLst>
              <a:gd name="adj" fmla="val 502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5DC35-8074-4534-96C2-B19D1619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650" y="3112591"/>
            <a:ext cx="5156150" cy="3035945"/>
          </a:xfrm>
          <a:prstGeom xmlns:a="http://schemas.openxmlformats.org/drawingml/2006/main" prst="roundRect">
            <a:avLst>
              <a:gd name="adj" fmla="val 502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8695F-8D4C-425D-8D44-54BD4921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53336"/>
            <a:ext cx="158496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FBF1E6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0A417FC8-AE85-4AAA-B48F-463C1955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53336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8520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755CA-7A28-4DD6-93DF-049269F1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8119A64A-7375-4D5B-A956-F9DF6EDC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3736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 · ПРОЈЕКАТ</a:t>
            </a:r>
          </a:p>
        </p:txBody>
      </p:sp>
      <p:sp>
        <p:nvSpPr>
          <p:cNvPr id="9" name="heading-source-06">
            <a:extLst xmlns:a="http://schemas.openxmlformats.org/drawingml/2006/main">
              <a:ext uri="{FF2B5EF4-FFF2-40B4-BE49-F238E27FC236}">
                <a16:creationId xmlns:a16="http://schemas.microsoft.com/office/drawing/2014/main" id="{98957B3B-1815-4974-A901-6F7F85CB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509397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599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Организација пројектног рада</a:t>
            </a:r>
          </a:p>
        </p:txBody>
      </p:sp>
      <p:sp>
        <p:nvSpPr>
          <p:cNvPr id="10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CDBD706B-7BD1-4DB0-BF64-8D9468AB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133772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Редован пројекат развија се у систему SCUTUM и наставља рад претходних генерација.</a:t>
            </a:r>
          </a:p>
        </p:txBody>
      </p:sp>
      <p:sp>
        <p:nvSpPr>
          <p:cNvPr id="11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C80BC619-C6CD-4157-9952-6911EE6D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7544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ТИМ</a:t>
            </a:r>
          </a:p>
        </p:txBody>
      </p:sp>
      <p:sp>
        <p:nvSpPr>
          <p:cNvPr id="12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6A951BA1-47E9-4E01-B301-A079F69B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42147"/>
            <a:ext cx="263663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6–10 студената</a:t>
            </a:r>
          </a:p>
        </p:txBody>
      </p:sp>
      <p:sp>
        <p:nvSpPr>
          <p:cNvPr id="13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E352C8B4-0DB8-46FD-9D04-9F095BB6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88793"/>
            <a:ext cx="481875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Јасне одговорности, заједнички Git </a:t>
            </a:r>
          </a:p>
        </p:txBody>
      </p:sp>
      <p:sp>
        <p:nvSpPr>
          <p:cNvPr id="14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4B12464B-BD22-43B5-A05B-7A994B4E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62054"/>
            <a:ext cx="429279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ток и способност да сваки члан </a:t>
            </a:r>
          </a:p>
        </p:txBody>
      </p:sp>
      <p:sp>
        <p:nvSpPr>
          <p:cNvPr id="15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563693DD-DDEA-43E6-957C-E607DD48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135314"/>
            <a:ext cx="444772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образложи сопствени допринос.</a:t>
            </a:r>
          </a:p>
        </p:txBody>
      </p:sp>
      <p:sp>
        <p:nvSpPr>
          <p:cNvPr id="16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4F884A67-5A3A-4514-B895-65C08607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388816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КВАЛИТЕТ</a:t>
            </a:r>
          </a:p>
        </p:txBody>
      </p:sp>
      <p:sp>
        <p:nvSpPr>
          <p:cNvPr id="17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83BC9ABB-BAF1-4A00-B1D3-D272AE3F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842147"/>
            <a:ext cx="306154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Преглед и тестови</a:t>
            </a:r>
          </a:p>
        </p:txBody>
      </p:sp>
      <p:sp>
        <p:nvSpPr>
          <p:cNvPr id="18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958B7DEE-8228-4378-BE42-FC8E4C3B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388793"/>
            <a:ext cx="412804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Безбедносне и архитектонске </a:t>
            </a:r>
          </a:p>
        </p:txBody>
      </p:sp>
      <p:sp>
        <p:nvSpPr>
          <p:cNvPr id="19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47E1943D-64FD-4A83-9FA5-837CF2CD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762054"/>
            <a:ext cx="488275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одлуке морају бити видљиве у коду, </a:t>
            </a:r>
          </a:p>
        </p:txBody>
      </p:sp>
      <p:sp>
        <p:nvSpPr>
          <p:cNvPr id="20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2171ADF6-49B9-48A2-BF23-7CC4B0A8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135314"/>
            <a:ext cx="383723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тестовима и трагу промене.</a:t>
            </a:r>
          </a:p>
        </p:txBody>
      </p:sp>
      <p:sp>
        <p:nvSpPr>
          <p:cNvPr id="21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5FF30602-F579-4C17-9947-C44852E6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388816"/>
            <a:ext cx="13031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ОДБРАНА</a:t>
            </a:r>
          </a:p>
        </p:txBody>
      </p:sp>
      <p:sp>
        <p:nvSpPr>
          <p:cNvPr id="22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0D063226-19FE-431E-A997-A2797830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842147"/>
            <a:ext cx="3162002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 разумевања</a:t>
            </a:r>
          </a:p>
        </p:txBody>
      </p:sp>
      <p:sp>
        <p:nvSpPr>
          <p:cNvPr id="23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82DC8F92-7529-4B46-9235-B3561A6A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388793"/>
            <a:ext cx="393486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Демонстрација решења није </a:t>
            </a:r>
          </a:p>
        </p:txBody>
      </p:sp>
      <p:sp>
        <p:nvSpPr>
          <p:cNvPr id="24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84B03DDE-8E10-47C2-9164-7CCD8569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762054"/>
            <a:ext cx="347454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довољна без објашњења </a:t>
            </a:r>
          </a:p>
        </p:txBody>
      </p:sp>
      <p:sp>
        <p:nvSpPr>
          <p:cNvPr id="25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3C8E1DC5-49FB-4AE1-9E24-031E975E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135314"/>
            <a:ext cx="360952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механизма, ограничења и </a:t>
            </a:r>
          </a:p>
        </p:txBody>
      </p:sp>
      <p:sp>
        <p:nvSpPr>
          <p:cNvPr id="26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05493180-8A23-440E-9904-436108CE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508575"/>
            <a:ext cx="302389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индивидуалног рада.</a:t>
            </a:r>
          </a:p>
        </p:txBody>
      </p:sp>
      <p:sp>
        <p:nvSpPr>
          <p:cNvPr id="27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580C0F60-4075-47CF-8A40-DFE98C04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643836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ВАЖНО</a:t>
            </a:r>
          </a:p>
        </p:txBody>
      </p:sp>
      <p:sp>
        <p:nvSpPr>
          <p:cNvPr id="28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38CF38CC-EAF7-4795-B31A-202C5C70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049542"/>
            <a:ext cx="156605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Супер пројекат је практични део дипломског рада, непосредно повезан са информационом безбедношћу. Тема и обим се </a:t>
            </a:r>
          </a:p>
        </p:txBody>
      </p:sp>
      <p:sp>
        <p:nvSpPr>
          <p:cNvPr id="29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8CE1389B-C550-4F30-8ADF-1A47509A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422803"/>
            <a:ext cx="30432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утврђују пре почетка.</a:t>
            </a:r>
          </a:p>
        </p:txBody>
      </p:sp>
      <p:sp>
        <p:nvSpPr>
          <p:cNvPr id="30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F2F661F4-CB07-45F4-8034-0C9918AE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1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175490D1-2438-4864-8AA6-D8D1E63B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811569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845AC9-498B-4447-B49F-B907A9AA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A16DB-84A7-45CD-9C50-CF5F8872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2632323" cy="2723852"/>
          </a:xfrm>
          <a:prstGeom xmlns:a="http://schemas.openxmlformats.org/drawingml/2006/main" prst="roundRect">
            <a:avLst>
              <a:gd name="adj" fmla="val 579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15283-1883-43D7-87D2-7B8D0121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223" y="3112591"/>
            <a:ext cx="2729061" cy="2723852"/>
          </a:xfrm>
          <a:prstGeom xmlns:a="http://schemas.openxmlformats.org/drawingml/2006/main" prst="roundRect">
            <a:avLst>
              <a:gd name="adj" fmla="val 559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2FDA7-967D-4366-8FE4-75E1AFE4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984" y="3112591"/>
            <a:ext cx="2632472" cy="2723852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8897E-D651-49B2-B186-0E6D7827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6156" y="3112591"/>
            <a:ext cx="2632472" cy="2723852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76A70-1CE8-41B5-B6C0-B939B9C3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6328" y="3112591"/>
            <a:ext cx="2632472" cy="2723852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1AC7E-89B7-4D83-B1D3-2F42795B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141244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BF0F5"/>
          </a:solidFill>
          <a:ln xmlns:a="http://schemas.openxmlformats.org/drawingml/2006/main" w="0">
            <a:noFill/>
          </a:ln>
        </p:spPr>
      </p:sp>
      <p:sp>
        <p:nvSpPr>
          <p:cNvPr id="8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B2F59E0F-4E06-442D-BC64-9DFBFBD5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141244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BCAAB-1034-4EC9-B631-488A3CFB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e130feab34e6d"/>
          <a:stretch xmlns:a="http://schemas.openxmlformats.org/drawingml/2006/main"/>
        </p:blipFill>
        <p:spPr>
          <a:xfrm xmlns:a="http://schemas.openxmlformats.org/drawingml/2006/main">
            <a:off x="4042023" y="4379268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7a479fb294a41"/>
          <a:stretch xmlns:a="http://schemas.openxmlformats.org/drawingml/2006/main"/>
        </p:blipFill>
        <p:spPr>
          <a:xfrm xmlns:a="http://schemas.openxmlformats.org/drawingml/2006/main">
            <a:off x="7418784" y="4379268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161f8bb4146ee"/>
          <a:stretch xmlns:a="http://schemas.openxmlformats.org/drawingml/2006/main"/>
        </p:blipFill>
        <p:spPr>
          <a:xfrm xmlns:a="http://schemas.openxmlformats.org/drawingml/2006/main">
            <a:off x="10698956" y="4379268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0232df2284e7a"/>
          <a:stretch xmlns:a="http://schemas.openxmlformats.org/drawingml/2006/main"/>
        </p:blipFill>
        <p:spPr>
          <a:xfrm xmlns:a="http://schemas.openxmlformats.org/drawingml/2006/main">
            <a:off x="13979128" y="4379268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FA79C246-9669-4F09-ABC9-79F8D720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6233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 · РЕДОВАН ПРОЈЕКАТ</a:t>
            </a:r>
          </a:p>
        </p:txBody>
      </p:sp>
      <p:sp>
        <p:nvSpPr>
          <p:cNvPr id="15" name="heading-source-14">
            <a:extLst xmlns:a="http://schemas.openxmlformats.org/drawingml/2006/main">
              <a:ext uri="{FF2B5EF4-FFF2-40B4-BE49-F238E27FC236}">
                <a16:creationId xmlns:a16="http://schemas.microsoft.com/office/drawing/2014/main" id="{E144D4FF-31BA-44F5-A8F3-EFE8A2EA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761032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Захтеви редовног пројекта</a:t>
            </a:r>
          </a:p>
        </p:txBody>
      </p:sp>
      <p:sp>
        <p:nvSpPr>
          <p:cNvPr id="16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C3DE5C64-CBA8-4599-A8FF-8CBA10D1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93805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Тим развија део заједничког система SCUTUM и оставља решење које наредна генерација може да настави.</a:t>
            </a:r>
          </a:p>
        </p:txBody>
      </p:sp>
      <p:sp>
        <p:nvSpPr>
          <p:cNvPr id="17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37CBE131-7B4C-4CB8-9709-88728FB2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8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77FD83A2-3108-48F5-997D-F2C4C12D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132948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Backlog</a:t>
            </a:r>
          </a:p>
        </p:txBody>
      </p:sp>
      <p:sp>
        <p:nvSpPr>
          <p:cNvPr id="19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BE0EB9F9-966A-4C2A-89D5-BB07BCD8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156582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проверљив </a:t>
            </a:r>
          </a:p>
        </p:txBody>
      </p:sp>
      <p:sp>
        <p:nvSpPr>
          <p:cNvPr id="20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D61D43FD-B5AE-40A5-97E9-EA9CEE18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20258"/>
            <a:ext cx="174902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безбедносни </a:t>
            </a:r>
          </a:p>
        </p:txBody>
      </p:sp>
      <p:sp>
        <p:nvSpPr>
          <p:cNvPr id="21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1D211701-A8CD-46E9-8E96-84BB62EB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40238"/>
            <a:ext cx="105340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захтев</a:t>
            </a:r>
          </a:p>
        </p:txBody>
      </p:sp>
      <p:sp>
        <p:nvSpPr>
          <p:cNvPr id="22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D2A0CC11-F134-41DC-9ECF-C01F5AFE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448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3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BE15DAB1-1D8D-4237-A401-2A6433F4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448" y="4108847"/>
            <a:ext cx="251951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Имплементација</a:t>
            </a:r>
          </a:p>
        </p:txBody>
      </p:sp>
      <p:sp>
        <p:nvSpPr>
          <p:cNvPr id="24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4D1DC588-EEE9-4F66-8D40-8E7D5BAA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448" y="4600277"/>
            <a:ext cx="224953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мала, прегледива </a:t>
            </a:r>
          </a:p>
        </p:txBody>
      </p:sp>
      <p:sp>
        <p:nvSpPr>
          <p:cNvPr id="25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58CD5352-E565-477E-8B9D-80077047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448" y="4920258"/>
            <a:ext cx="127560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промена</a:t>
            </a:r>
          </a:p>
        </p:txBody>
      </p:sp>
      <p:sp>
        <p:nvSpPr>
          <p:cNvPr id="26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E6E35022-8126-4090-ACA4-577D4354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209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7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52F35919-94D4-489A-BFB8-1C8C005C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209" y="4108847"/>
            <a:ext cx="124152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Review</a:t>
            </a:r>
          </a:p>
        </p:txBody>
      </p:sp>
      <p:sp>
        <p:nvSpPr>
          <p:cNvPr id="28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E49DC8C5-6C92-4F5D-BCD2-47386C3F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209" y="4600277"/>
            <a:ext cx="234300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објашњена одлука </a:t>
            </a:r>
          </a:p>
        </p:txBody>
      </p:sp>
      <p:sp>
        <p:nvSpPr>
          <p:cNvPr id="29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88F1E983-2A5A-449C-9F9C-5F3654E5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209" y="4920258"/>
            <a:ext cx="11730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 ризик</a:t>
            </a:r>
          </a:p>
        </p:txBody>
      </p:sp>
      <p:sp>
        <p:nvSpPr>
          <p:cNvPr id="30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252ACECE-6AFB-4A47-81DD-27CEE85F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2381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31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49A07CB0-1EBB-4DF1-887A-61971E54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2381" y="4108847"/>
            <a:ext cx="89564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</a:t>
            </a:r>
          </a:p>
        </p:txBody>
      </p:sp>
      <p:sp>
        <p:nvSpPr>
          <p:cNvPr id="32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39C72241-40DA-44D7-A623-60737E67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2381" y="4600277"/>
            <a:ext cx="145241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успешан и </a:t>
            </a:r>
          </a:p>
        </p:txBody>
      </p:sp>
      <p:sp>
        <p:nvSpPr>
          <p:cNvPr id="33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6A212D9B-2AE3-4A34-8EC2-5866014D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2381" y="4920258"/>
            <a:ext cx="212050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негативан исход</a:t>
            </a:r>
          </a:p>
        </p:txBody>
      </p:sp>
      <p:sp>
        <p:nvSpPr>
          <p:cNvPr id="34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21948AE4-44BF-46B9-8FC3-5FBC0BF2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2553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35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413627EA-70D6-455A-B948-7A76FAEF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2553" y="4108847"/>
            <a:ext cx="146848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Одбрана</a:t>
            </a:r>
          </a:p>
        </p:txBody>
      </p:sp>
      <p:sp>
        <p:nvSpPr>
          <p:cNvPr id="36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3133527A-BF6D-45C4-A803-14B599C3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2553" y="4600277"/>
            <a:ext cx="190678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индивидуално </a:t>
            </a:r>
          </a:p>
        </p:txBody>
      </p:sp>
      <p:sp>
        <p:nvSpPr>
          <p:cNvPr id="37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01825D61-1F7D-490D-9E00-6FF7485D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2553" y="4920258"/>
            <a:ext cx="167312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разумевање</a:t>
            </a:r>
          </a:p>
        </p:txBody>
      </p:sp>
      <p:sp>
        <p:nvSpPr>
          <p:cNvPr id="38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E482467D-8F94-42D9-9B83-BB548CDF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31744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ОБАВЕЗНО</a:t>
            </a:r>
          </a:p>
        </p:txBody>
      </p:sp>
      <p:sp>
        <p:nvSpPr>
          <p:cNvPr id="39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9FBF4A51-BEE0-49C7-82B5-83519A6F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737449"/>
            <a:ext cx="1411724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Сваки члан мора да покаже сопствени допринос и да објасни зашто је изабрана контрола примерена ризику.</a:t>
            </a:r>
          </a:p>
        </p:txBody>
      </p:sp>
      <p:sp>
        <p:nvSpPr>
          <p:cNvPr id="40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A568DE4F-6323-4373-96AE-C820B408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41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53151CA3-8424-4C4F-8A63-9D8B5BEA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371863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D3D230-6748-4AE1-B889-DDC92A1B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08348-5418-4875-A416-83BBAC1F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5156150" cy="2662684"/>
          </a:xfrm>
          <a:prstGeom xmlns:a="http://schemas.openxmlformats.org/drawingml/2006/main" prst="roundRect">
            <a:avLst>
              <a:gd name="adj" fmla="val 572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50C90-273F-49F6-9A7C-7048D2AE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3112591"/>
            <a:ext cx="5156299" cy="2662684"/>
          </a:xfrm>
          <a:prstGeom xmlns:a="http://schemas.openxmlformats.org/drawingml/2006/main" prst="roundRect">
            <a:avLst>
              <a:gd name="adj" fmla="val 572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6CAC3-D2ED-4DCC-BDB7-CCFC8325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650" y="3112591"/>
            <a:ext cx="5156150" cy="2662684"/>
          </a:xfrm>
          <a:prstGeom xmlns:a="http://schemas.openxmlformats.org/drawingml/2006/main" prst="roundRect">
            <a:avLst>
              <a:gd name="adj" fmla="val 572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20527-DFC7-40BB-9F85-DBFB0DC7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683D3858-1505-4A14-8323-3269F660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3109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 · СУПЕР ПРОЈЕКАТ</a:t>
            </a:r>
          </a:p>
        </p:txBody>
      </p:sp>
      <p:sp>
        <p:nvSpPr>
          <p:cNvPr id="7" name="heading-source-15">
            <a:extLst xmlns:a="http://schemas.openxmlformats.org/drawingml/2006/main">
              <a:ext uri="{FF2B5EF4-FFF2-40B4-BE49-F238E27FC236}">
                <a16:creationId xmlns:a16="http://schemas.microsoft.com/office/drawing/2014/main" id="{15F7E3E4-E73F-4B8D-A48D-438A2476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439980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Супер пројекат</a:t>
            </a:r>
          </a:p>
        </p:txBody>
      </p:sp>
      <p:sp>
        <p:nvSpPr>
          <p:cNvPr id="8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42F5646B-53CB-41EC-97B0-1636C637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495201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Супер пројекат представља практични део дипломског рада непосредно повезан са информационом безбедношћу.</a:t>
            </a:r>
          </a:p>
        </p:txBody>
      </p:sp>
      <p:sp>
        <p:nvSpPr>
          <p:cNvPr id="9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FDEFB0D6-E353-4716-8E65-8322C7FF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8916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ОБИМ</a:t>
            </a:r>
          </a:p>
        </p:txBody>
      </p:sp>
      <p:sp>
        <p:nvSpPr>
          <p:cNvPr id="10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ECD06F31-3399-4B7B-8AC9-AD249DE3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42147"/>
            <a:ext cx="231442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 60 бодова</a:t>
            </a:r>
          </a:p>
        </p:txBody>
      </p:sp>
      <p:sp>
        <p:nvSpPr>
          <p:cNvPr id="11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C386CD4A-31A0-4D33-B918-6C741F8B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88793"/>
            <a:ext cx="494332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Пројекат замењује редован пројекат </a:t>
            </a:r>
          </a:p>
        </p:txBody>
      </p:sp>
      <p:sp>
        <p:nvSpPr>
          <p:cNvPr id="12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E424DBD5-47F6-4F99-8CBD-D7447403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62054"/>
            <a:ext cx="291658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 ослобађа студента </a:t>
            </a:r>
          </a:p>
        </p:txBody>
      </p:sp>
      <p:sp>
        <p:nvSpPr>
          <p:cNvPr id="13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C1BA73B9-CE22-48E7-928E-4E662042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135314"/>
            <a:ext cx="313134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елиминационог теста.</a:t>
            </a:r>
          </a:p>
        </p:txBody>
      </p:sp>
      <p:sp>
        <p:nvSpPr>
          <p:cNvPr id="14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DC63263F-7791-4E76-9B3C-16CC8197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388816"/>
            <a:ext cx="15774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КАПАЦИТЕТ</a:t>
            </a:r>
          </a:p>
        </p:txBody>
      </p:sp>
      <p:sp>
        <p:nvSpPr>
          <p:cNvPr id="15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C77F74A7-13E4-4D25-A974-FB1A824F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842147"/>
            <a:ext cx="2755702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 12 студената</a:t>
            </a:r>
          </a:p>
        </p:txBody>
      </p:sp>
      <p:sp>
        <p:nvSpPr>
          <p:cNvPr id="16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D45926A2-4643-4153-9503-C176A195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388793"/>
            <a:ext cx="477262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Број места је ограничен, па се тема </a:t>
            </a:r>
          </a:p>
        </p:txBody>
      </p:sp>
      <p:sp>
        <p:nvSpPr>
          <p:cNvPr id="17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07F88159-825E-40BB-89A0-AABB9FCE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762054"/>
            <a:ext cx="448835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 очекивани резултат договарају </a:t>
            </a:r>
          </a:p>
        </p:txBody>
      </p:sp>
      <p:sp>
        <p:nvSpPr>
          <p:cNvPr id="18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67F0EDAB-FFD6-43D3-B6E4-400830DD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135314"/>
            <a:ext cx="260106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 почетка рада.</a:t>
            </a:r>
          </a:p>
        </p:txBody>
      </p:sp>
      <p:sp>
        <p:nvSpPr>
          <p:cNvPr id="19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B4A416D8-8BAB-4BDB-883A-0C41F12E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388816"/>
            <a:ext cx="13031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ОДБРАНА</a:t>
            </a:r>
          </a:p>
        </p:txBody>
      </p:sp>
      <p:sp>
        <p:nvSpPr>
          <p:cNvPr id="20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9EFB80C0-0E4D-4C58-AF65-BE298B35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842147"/>
            <a:ext cx="3191917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Усмени је обавезан</a:t>
            </a:r>
          </a:p>
        </p:txBody>
      </p:sp>
      <p:sp>
        <p:nvSpPr>
          <p:cNvPr id="21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395249C1-3BB3-4728-9023-02BC21F6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388793"/>
            <a:ext cx="481176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Студент повезује дипломски рад са </a:t>
            </a:r>
          </a:p>
        </p:txBody>
      </p:sp>
      <p:sp>
        <p:nvSpPr>
          <p:cNvPr id="22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8B4A0CA1-AEFD-458B-8485-B00F144B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762054"/>
            <a:ext cx="478482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концептима предмета и образлаже </a:t>
            </a:r>
          </a:p>
        </p:txBody>
      </p:sp>
      <p:sp>
        <p:nvSpPr>
          <p:cNvPr id="23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70365AD3-EE73-46C4-B8F6-7873CE36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135314"/>
            <a:ext cx="299070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безбедносне одлуке.</a:t>
            </a:r>
          </a:p>
        </p:txBody>
      </p:sp>
      <p:sp>
        <p:nvSpPr>
          <p:cNvPr id="24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71E75EE5-739A-49DB-B41D-352D2ED9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5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7016D54E-DFA2-4D65-ACB0-B3B619DB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071671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BF0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F6589-AEF3-4122-AF74-D466DA6D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CEDA"/>
          </a:solidFill>
          <a:ln xmlns:a="http://schemas.openxmlformats.org/drawingml/2006/main" w="0">
            <a:noFill/>
          </a:ln>
        </p:spPr>
      </p:sp>
      <p:sp>
        <p:nvSpPr>
          <p:cNvPr id="6" name="text-deo3">
            <a:extLst xmlns:a="http://schemas.openxmlformats.org/drawingml/2006/main">
              <a:ext uri="{FF2B5EF4-FFF2-40B4-BE49-F238E27FC236}">
                <a16:creationId xmlns:a16="http://schemas.microsoft.com/office/drawing/2014/main" id="{4ED75BC4-B868-404D-AA33-595574DC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7" name="text-deo3">
            <a:extLst xmlns:a="http://schemas.openxmlformats.org/drawingml/2006/main">
              <a:ext uri="{FF2B5EF4-FFF2-40B4-BE49-F238E27FC236}">
                <a16:creationId xmlns:a16="http://schemas.microsoft.com/office/drawing/2014/main" id="{360EB01A-8013-485B-9FD4-AD63E74D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17488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ТРЕЋИ ДЕО</a:t>
            </a:r>
          </a:p>
        </p:txBody>
      </p:sp>
      <p:sp>
        <p:nvSpPr>
          <p:cNvPr id="8" name="heading-deo3">
            <a:extLst xmlns:a="http://schemas.openxmlformats.org/drawingml/2006/main">
              <a:ext uri="{FF2B5EF4-FFF2-40B4-BE49-F238E27FC236}">
                <a16:creationId xmlns:a16="http://schemas.microsoft.com/office/drawing/2014/main" id="{3FCF5816-F60C-44C0-A2C7-3F19EC0D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823213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050"/>
          </a:bodyPr>
          <a:lstStyle xmlns:a="http://schemas.openxmlformats.org/drawingml/2006/main"/>
          <a:p xmlns:a="http://schemas.openxmlformats.org/drawingml/2006/main">
            <a:pPr algn="l">
              <a:buNone/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Напредак и вежбе</a:t>
            </a:r>
          </a:p>
        </p:txBody>
      </p:sp>
      <p:sp>
        <p:nvSpPr>
          <p:cNvPr id="9" name="text-deo3">
            <a:extLst xmlns:a="http://schemas.openxmlformats.org/drawingml/2006/main">
              <a:ext uri="{FF2B5EF4-FFF2-40B4-BE49-F238E27FC236}">
                <a16:creationId xmlns:a16="http://schemas.microsoft.com/office/drawing/2014/main" id="{039D49CC-D3C3-47DE-999D-2AE2034C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831309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Контролне тачке повезују имплементацију, тестове и доказе са </a:t>
            </a:r>
          </a:p>
        </p:txBody>
      </p:sp>
      <p:sp>
        <p:nvSpPr>
          <p:cNvPr id="10" name="text-deo3">
            <a:extLst xmlns:a="http://schemas.openxmlformats.org/drawingml/2006/main">
              <a:ext uri="{FF2B5EF4-FFF2-40B4-BE49-F238E27FC236}">
                <a16:creationId xmlns:a16="http://schemas.microsoft.com/office/drawing/2014/main" id="{F5164C12-64BE-40FF-8433-8FE7AB43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447794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редоследом рачунарских вежби.</a:t>
            </a:r>
          </a:p>
        </p:txBody>
      </p:sp>
      <p:sp>
        <p:nvSpPr>
          <p:cNvPr id="15" name="text-deo3">
            <a:extLst xmlns:a="http://schemas.openxmlformats.org/drawingml/2006/main">
              <a:ext uri="{FF2B5EF4-FFF2-40B4-BE49-F238E27FC236}">
                <a16:creationId xmlns:a16="http://schemas.microsoft.com/office/drawing/2014/main" id="{D6A17F0D-F473-4399-AA46-002DA7CE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6" name="text-deo3">
            <a:extLst xmlns:a="http://schemas.openxmlformats.org/drawingml/2006/main">
              <a:ext uri="{FF2B5EF4-FFF2-40B4-BE49-F238E27FC236}">
                <a16:creationId xmlns:a16="http://schemas.microsoft.com/office/drawing/2014/main" id="{72F84AF1-E93B-48AD-985D-865057C6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  <p:sp>
        <p:nvSpPr>
          <p:cNvPr id="17" name="checkpoint-update">
            <a:extLst xmlns:a="http://schemas.openxmlformats.org/drawingml/2006/main">
              <a:ext uri="{FF2B5EF4-FFF2-40B4-BE49-F238E27FC236}">
                <a16:creationId xmlns:a16="http://schemas.microsoft.com/office/drawing/2014/main" id="{A98C4C8D-F3E0-4A63-82FB-B6B053DA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31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  <a:lvl1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1pPr>
            <a:lvl2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2pPr>
            <a:lvl3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3pPr>
            <a:lvl4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4pPr>
            <a:lvl5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5pPr>
            <a:lvl6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6pPr>
            <a:lvl7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7pPr>
            <a:lvl8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8pPr>
            <a:lvl9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КТ1 · 4. вежба</a:t>
            </a:r>
          </a:p>
        </p:txBody>
      </p:sp>
      <p:sp>
        <p:nvSpPr>
          <p:cNvPr id="18" name="checkpoint-update">
            <a:extLst xmlns:a="http://schemas.openxmlformats.org/drawingml/2006/main">
              <a:ext uri="{FF2B5EF4-FFF2-40B4-BE49-F238E27FC236}">
                <a16:creationId xmlns:a16="http://schemas.microsoft.com/office/drawing/2014/main" id="{86BBE719-34F7-4F0B-A3E4-3FF49C2B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531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  <a:lvl1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1pPr>
            <a:lvl2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2pPr>
            <a:lvl3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3pPr>
            <a:lvl4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4pPr>
            <a:lvl5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5pPr>
            <a:lvl6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6pPr>
            <a:lvl7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7pPr>
            <a:lvl8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8pPr>
            <a:lvl9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КТ2 · 8. вежба</a:t>
            </a:r>
          </a:p>
        </p:txBody>
      </p:sp>
    </p:spTree>
    <p:extLst>
      <p:ext uri="{BB962C8B-B14F-4D97-AF65-F5344CB8AC3E}">
        <p14:creationId xmlns:p14="http://schemas.microsoft.com/office/powerpoint/2010/main" val="1419743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14E232-BC4B-4E9B-AD4C-5B54000B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787B6-E5C8-4C3B-BA9C-24ACF57F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58496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FBF1E6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8EA462C5-7594-4BF9-84CC-A1C951AC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8520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E81B9-388C-4DCE-A030-47C83341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FBF26B-18B1-42CC-A266-662A9BF7AB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fce3e59314918"/>
          <a:stretch xmlns:a="http://schemas.openxmlformats.org/drawingml/2006/main"/>
        </p:blipFill>
        <p:spPr>
          <a:xfrm xmlns:a="http://schemas.openxmlformats.org/drawingml/2006/main">
            <a:off x="4886325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0D21B7-BAEA-4037-BB9F-C6CC578F27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13bb2dc7e49c5"/>
          <a:stretch xmlns:a="http://schemas.openxmlformats.org/drawingml/2006/main"/>
        </p:blipFill>
        <p:spPr>
          <a:xfrm xmlns:a="http://schemas.openxmlformats.org/drawingml/2006/main">
            <a:off x="9010650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3DB419-8D58-4BCB-B677-697C550425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2c7bf14124d69"/>
          <a:stretch xmlns:a="http://schemas.openxmlformats.org/drawingml/2006/main"/>
        </p:blipFill>
        <p:spPr>
          <a:xfrm xmlns:a="http://schemas.openxmlformats.org/drawingml/2006/main">
            <a:off x="13134975" y="4219277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2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A85E7FBD-3ABB-492E-901B-23F47E9B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46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 · КОНТРОЛНЕ ТАЧКЕ</a:t>
            </a:r>
          </a:p>
        </p:txBody>
      </p:sp>
      <p:sp>
        <p:nvSpPr>
          <p:cNvPr id="13" name="heading-source-07">
            <a:extLst xmlns:a="http://schemas.openxmlformats.org/drawingml/2006/main">
              <a:ext uri="{FF2B5EF4-FFF2-40B4-BE49-F238E27FC236}">
                <a16:creationId xmlns:a16="http://schemas.microsoft.com/office/drawing/2014/main" id="{B6AD0799-D1F8-49BC-8D56-6118B048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7323237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Контролне тачке пројекта</a:t>
            </a:r>
          </a:p>
        </p:txBody>
      </p:sp>
      <p:sp>
        <p:nvSpPr>
          <p:cNvPr id="14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DF889845-2536-4D89-9E5C-1BCFECD3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80604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Две контролне тачке одржавају се у терминима 4. и 8. рачунарске вежбе.</a:t>
            </a:r>
          </a:p>
        </p:txBody>
      </p:sp>
      <p:sp>
        <p:nvSpPr>
          <p:cNvPr id="31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265AD0C1-50C8-4066-98AF-4357604F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11763"/>
            <a:ext cx="25375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ДО 5 БОДОВА МАЊЕ</a:t>
            </a:r>
          </a:p>
        </p:txBody>
      </p:sp>
      <p:sp>
        <p:nvSpPr>
          <p:cNvPr id="32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E159E6EF-859E-4A5E-B3C6-509B1637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17469"/>
            <a:ext cx="481920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ако контролна тачка није испуњена</a:t>
            </a:r>
          </a:p>
        </p:txBody>
      </p:sp>
      <p:sp>
        <p:nvSpPr>
          <p:cNvPr id="33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D9D71528-25CC-4EC5-B313-264FEFDF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790730"/>
            <a:ext cx="1457667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Испуњена контролна тачка не носи умањење. Циљ је да тим рано уочи кашњење и покаже проверљив напредак.</a:t>
            </a:r>
          </a:p>
        </p:txBody>
      </p:sp>
      <p:sp>
        <p:nvSpPr>
          <p:cNvPr id="34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668E82D1-4EA1-4652-8E37-2C396661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5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0E1592EE-6146-42E2-9B7F-481638F6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18</a:t>
            </a:r>
          </a:p>
        </p:txBody>
      </p:sp>
      <p:sp>
        <p:nvSpPr>
          <p:cNvPr id="47" name="checkpoint-update">
            <a:extLst xmlns:a="http://schemas.openxmlformats.org/drawingml/2006/main">
              <a:ext uri="{FF2B5EF4-FFF2-40B4-BE49-F238E27FC236}">
                <a16:creationId xmlns:a16="http://schemas.microsoft.com/office/drawing/2014/main" id="{C86336B1-5C4A-47C3-818D-6809DB8D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  <a:lvl1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1pPr>
            <a:lvl2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2pPr>
            <a:lvl3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3pPr>
            <a:lvl4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4pPr>
            <a:lvl5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5pPr>
            <a:lvl6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6pPr>
            <a:lvl7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7pPr>
            <a:lvl8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8pPr>
            <a:lvl9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КТ1 · 4. ВЕЖБА</a:t>
            </a:r>
          </a:p>
        </p:txBody>
      </p:sp>
      <p:sp>
        <p:nvSpPr>
          <p:cNvPr id="48" name="checkpoint-update">
            <a:extLst xmlns:a="http://schemas.openxmlformats.org/drawingml/2006/main">
              <a:ext uri="{FF2B5EF4-FFF2-40B4-BE49-F238E27FC236}">
                <a16:creationId xmlns:a16="http://schemas.microsoft.com/office/drawing/2014/main" id="{D4024DFA-7E37-46F4-A5A6-5EF6189D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9550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  <a:lvl1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lvl1pPr>
            <a:lvl2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lvl2pPr>
            <a:lvl3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lvl3pPr>
            <a:lvl4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lvl4pPr>
            <a:lvl5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lvl5pPr>
            <a:lvl6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lvl6pPr>
            <a:lvl7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lvl7pPr>
            <a:lvl8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lvl8pPr>
            <a:lvl9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Основна имплементација</a:t>
            </a:r>
          </a:p>
        </p:txBody>
      </p:sp>
      <p:sp>
        <p:nvSpPr>
          <p:cNvPr id="49" name="checkpoint-update">
            <a:extLst xmlns:a="http://schemas.openxmlformats.org/drawingml/2006/main">
              <a:ext uri="{FF2B5EF4-FFF2-40B4-BE49-F238E27FC236}">
                <a16:creationId xmlns:a16="http://schemas.microsoft.com/office/drawing/2014/main" id="{C32FE950-3861-4260-9E82-2C736445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148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  <a:lvl1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1pPr>
            <a:lvl2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2pPr>
            <a:lvl3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3pPr>
            <a:lvl4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4pPr>
            <a:lvl5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5pPr>
            <a:lvl6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6pPr>
            <a:lvl7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7pPr>
            <a:lvl8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8pPr>
            <a:lvl9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Обухват и безбедносни модел свих целина</a:t>
            </a:r>
          </a:p>
          <a:p xmlns:a="http://schemas.openxmlformats.org/drawingml/2006/main">
            <a: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Први функционални ток и негативни тест</a:t>
            </a:r>
          </a:p>
        </p:txBody>
      </p:sp>
      <p:sp>
        <p:nvSpPr>
          <p:cNvPr id="50" name="checkpoint-update">
            <a:extLst xmlns:a="http://schemas.openxmlformats.org/drawingml/2006/main">
              <a:ext uri="{FF2B5EF4-FFF2-40B4-BE49-F238E27FC236}">
                <a16:creationId xmlns:a16="http://schemas.microsoft.com/office/drawing/2014/main" id="{9235142C-1F2E-4428-9EFE-94696C3C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  <a:lvl1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1pPr>
            <a:lvl2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2pPr>
            <a:lvl3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3pPr>
            <a:lvl4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4pPr>
            <a:lvl5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5pPr>
            <a:lvl6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6pPr>
            <a:lvl7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7pPr>
            <a:lvl8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8pPr>
            <a:lvl9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КТ2 · 8. ВЕЖБА</a:t>
            </a:r>
          </a:p>
        </p:txBody>
      </p:sp>
      <p:sp>
        <p:nvSpPr>
          <p:cNvPr id="51" name="checkpoint-update">
            <a:extLst xmlns:a="http://schemas.openxmlformats.org/drawingml/2006/main">
              <a:ext uri="{FF2B5EF4-FFF2-40B4-BE49-F238E27FC236}">
                <a16:creationId xmlns:a16="http://schemas.microsoft.com/office/drawing/2014/main" id="{6D84464F-D473-4039-944D-0F12FCB9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19550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  <a:lvl1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lvl1pPr>
            <a:lvl2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lvl2pPr>
            <a:lvl3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lvl3pPr>
            <a:lvl4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lvl4pPr>
            <a:lvl5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lvl5pPr>
            <a:lvl6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lvl6pPr>
            <a:lvl7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lvl7pPr>
            <a:lvl8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lvl8pPr>
            <a:lvl9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Завршна демонстрација</a:t>
            </a:r>
          </a:p>
        </p:txBody>
      </p:sp>
      <p:sp>
        <p:nvSpPr>
          <p:cNvPr id="52" name="checkpoint-update">
            <a:extLst xmlns:a="http://schemas.openxmlformats.org/drawingml/2006/main">
              <a:ext uri="{FF2B5EF4-FFF2-40B4-BE49-F238E27FC236}">
                <a16:creationId xmlns:a16="http://schemas.microsoft.com/office/drawing/2014/main" id="{9ACF9E05-B7DD-43A2-855A-E06C4324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148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  <a:lvl1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1pPr>
            <a:lvl2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2pPr>
            <a:lvl3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3pPr>
            <a:lvl4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4pPr>
            <a:lvl5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5pPr>
            <a:lvl6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6pPr>
            <a:lvl7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7pPr>
            <a:lvl8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8pPr>
            <a:lvl9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Све додељене целине, тестови и интеграција</a:t>
            </a:r>
          </a:p>
          <a:p xmlns:a="http://schemas.openxmlformats.org/drawingml/2006/main">
            <a: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Поновљив demo и ажурна документација</a:t>
            </a:r>
          </a:p>
        </p:txBody>
      </p:sp>
    </p:spTree>
    <p:extLst>
      <p:ext uri="{BB962C8B-B14F-4D97-AF65-F5344CB8AC3E}">
        <p14:creationId xmlns:p14="http://schemas.microsoft.com/office/powerpoint/2010/main" val="4661931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258E0-7742-4044-A43F-42E25B57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DF52D-C536-474A-A39D-07D2E713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3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05D5B3E5-F67F-42C9-B45B-311BEEC9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46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 · КОНТРОЛНЕ ТАЧКЕ</a:t>
            </a:r>
          </a:p>
        </p:txBody>
      </p:sp>
      <p:sp>
        <p:nvSpPr>
          <p:cNvPr id="4" name="heading-source-16">
            <a:extLst xmlns:a="http://schemas.openxmlformats.org/drawingml/2006/main">
              <a:ext uri="{FF2B5EF4-FFF2-40B4-BE49-F238E27FC236}">
                <a16:creationId xmlns:a16="http://schemas.microsoft.com/office/drawing/2014/main" id="{F49DFBBF-04B7-4ABC-B709-D1627A47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7863483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641"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Садржај контролних тачака</a:t>
            </a:r>
          </a:p>
        </p:txBody>
      </p:sp>
      <p:sp>
        <p:nvSpPr>
          <p:cNvPr id="5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995B1F69-AD46-40CD-A9E9-70D5A7CD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59262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Свака контролна тачка утврђује конкретан обим имплементације, тестова и доказа који тим представља.</a:t>
            </a:r>
          </a:p>
        </p:txBody>
      </p:sp>
      <p:sp>
        <p:nvSpPr>
          <p:cNvPr id="6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E723B12E-CB21-421F-B42A-9D16A725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7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44A75AA1-449F-4D34-859B-3C0D4DD0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19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346C0-D398-418C-AF08-9692F39871BB}"/>
              </a:ext>
            </a:extLst>
          </p:cNvPr>
          <p:cNvGraphicFramePr/>
          <p:nvPr/>
        </p:nvGraphicFramePr>
        <p:xfrm>
          <a:off xmlns:a="http://schemas.openxmlformats.org/drawingml/2006/main" x="1219200" y="3112591"/>
          <a:ext xmlns:a="http://schemas.openxmlformats.org/drawingml/2006/main" cx="15849600" cy="2177058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99642"/>
                <a:gridCol w="9498211"/>
                <a:gridCol w="4432697"/>
              </a:tblGrid>
              <a:tr h="7256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Тачка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Очекивани обим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Када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BF0F5"/>
                    </a:solidFill>
                  </a:tcPr>
                </a:tc>
              </a:tr>
              <a:tr h="1238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КТ1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Основна имплементација, безбедносни модел и први ток са негативним тестом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Термин 4. вежбе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1238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КТ2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Све целине у одобреном обиму, интеграција, тестови и поновљив demo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Термин 8. вежбе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17" name="checkpoint-update">
            <a:extLst xmlns:a="http://schemas.openxmlformats.org/drawingml/2006/main">
              <a:ext uri="{FF2B5EF4-FFF2-40B4-BE49-F238E27FC236}">
                <a16:creationId xmlns:a16="http://schemas.microsoft.com/office/drawing/2014/main" id="{1CBD6B89-505A-45A7-8691-C607FC36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953250"/>
            <a:ext cx="1584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  <a:lvl1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1pPr>
            <a:lvl2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2pPr>
            <a:lvl3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3pPr>
            <a:lvl4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4pPr>
            <a:lvl5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5pPr>
            <a:lvl6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6pPr>
            <a:lvl7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7pPr>
            <a:lvl8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8pPr>
            <a:lvl9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Контролне тачке и термини одбране пројекта су одвојене обавезе.</a:t>
            </a:r>
          </a:p>
        </p:txBody>
      </p:sp>
    </p:spTree>
    <p:extLst>
      <p:ext uri="{BB962C8B-B14F-4D97-AF65-F5344CB8AC3E}">
        <p14:creationId xmlns:p14="http://schemas.microsoft.com/office/powerpoint/2010/main" val="14073386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579A3B-F44E-4F9D-88C2-0C086D1A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D6364-6F69-4E90-A6CC-B17D8962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7772400" cy="880021"/>
          </a:xfrm>
          <a:prstGeom xmlns:a="http://schemas.openxmlformats.org/drawingml/2006/main" prst="roundRect">
            <a:avLst>
              <a:gd name="adj" fmla="val 12988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033C7-39A4-4B94-979D-E147CF0D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12591"/>
            <a:ext cx="7772400" cy="880021"/>
          </a:xfrm>
          <a:prstGeom xmlns:a="http://schemas.openxmlformats.org/drawingml/2006/main" prst="roundRect">
            <a:avLst>
              <a:gd name="adj" fmla="val 12988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BCF5C-A6F0-4063-A5EA-833B24CA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45012"/>
            <a:ext cx="7772400" cy="880021"/>
          </a:xfrm>
          <a:prstGeom xmlns:a="http://schemas.openxmlformats.org/drawingml/2006/main" prst="roundRect">
            <a:avLst>
              <a:gd name="adj" fmla="val 12988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07AC9-90CC-4A5B-BAB9-5A039C31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45012"/>
            <a:ext cx="7772400" cy="880021"/>
          </a:xfrm>
          <a:prstGeom xmlns:a="http://schemas.openxmlformats.org/drawingml/2006/main" prst="roundRect">
            <a:avLst>
              <a:gd name="adj" fmla="val 12988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33A22-05BD-4711-A713-F5251EF6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77433"/>
            <a:ext cx="7772400" cy="880021"/>
          </a:xfrm>
          <a:prstGeom xmlns:a="http://schemas.openxmlformats.org/drawingml/2006/main" prst="roundRect">
            <a:avLst>
              <a:gd name="adj" fmla="val 12988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91E72C-0047-4939-8BB1-5F07F2AE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77433"/>
            <a:ext cx="7772400" cy="880021"/>
          </a:xfrm>
          <a:prstGeom xmlns:a="http://schemas.openxmlformats.org/drawingml/2006/main" prst="roundRect">
            <a:avLst>
              <a:gd name="adj" fmla="val 12988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C37B3-0F35-4D32-B8BA-E24D5966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09854"/>
            <a:ext cx="7772400" cy="880021"/>
          </a:xfrm>
          <a:prstGeom xmlns:a="http://schemas.openxmlformats.org/drawingml/2006/main" prst="roundRect">
            <a:avLst>
              <a:gd name="adj" fmla="val 12988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CDB0E-C524-463F-888C-C15983A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209854"/>
            <a:ext cx="7772400" cy="880021"/>
          </a:xfrm>
          <a:prstGeom xmlns:a="http://schemas.openxmlformats.org/drawingml/2006/main" prst="roundRect">
            <a:avLst>
              <a:gd name="adj" fmla="val 12988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12940-38B3-44A4-9871-142022FD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394674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BF0F5"/>
          </a:solidFill>
          <a:ln xmlns:a="http://schemas.openxmlformats.org/drawingml/2006/main" w="0">
            <a:noFill/>
          </a:ln>
        </p:spPr>
      </p:sp>
      <p:sp>
        <p:nvSpPr>
          <p:cNvPr id="11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F75DAB47-700F-45DB-916B-8EA237FC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394674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EBF50-6BBE-4B39-ACA3-05E09819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13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8F5A06EC-3AB3-41DE-B030-147A5496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 · ВЕЖБЕ</a:t>
            </a:r>
          </a:p>
        </p:txBody>
      </p:sp>
      <p:sp>
        <p:nvSpPr>
          <p:cNvPr id="14" name="heading-source-09">
            <a:extLst xmlns:a="http://schemas.openxmlformats.org/drawingml/2006/main">
              <a:ext uri="{FF2B5EF4-FFF2-40B4-BE49-F238E27FC236}">
                <a16:creationId xmlns:a16="http://schemas.microsoft.com/office/drawing/2014/main" id="{5A1EA66B-C895-4904-ABEB-BBA381AB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7093148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Теме рачунарских вежби</a:t>
            </a:r>
          </a:p>
        </p:txBody>
      </p:sp>
      <p:sp>
        <p:nvSpPr>
          <p:cNvPr id="15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3DC3715D-2F2F-48DA-A5E9-7561DF6D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522482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Осам вежби обухвата контролу приступа, оперативну безбедност, процену ризика и проверу ефективности контрола.</a:t>
            </a:r>
          </a:p>
        </p:txBody>
      </p:sp>
      <p:sp>
        <p:nvSpPr>
          <p:cNvPr id="16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414820CE-CA91-45C2-BA7E-9E302C45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22141"/>
            <a:ext cx="75441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Mono"/>
                <a:ea typeface="IBM Plex Mono"/>
                <a:cs typeface="IBM Plex Mono"/>
              </a:defRPr>
            </a:pPr>
            <a:r>
              <a:rPr sz="27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7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E31C8F20-0DB3-4D30-88D5-ECA53EB1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375422"/>
            <a:ext cx="455756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Идентитет, аутентикација и RBAC</a:t>
            </a:r>
          </a:p>
        </p:txBody>
      </p:sp>
      <p:sp>
        <p:nvSpPr>
          <p:cNvPr id="18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4147E0D5-F47C-4DD3-88F3-2773DA30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322141"/>
            <a:ext cx="75441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Mono"/>
                <a:ea typeface="IBM Plex Mono"/>
                <a:cs typeface="IBM Plex Mono"/>
              </a:defRPr>
            </a:pPr>
            <a:r>
              <a:rPr sz="27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9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7AA0331C-2F8A-43F9-9571-9939120E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375422"/>
            <a:ext cx="599167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Ауторизација над ресурсом и класификација</a:t>
            </a:r>
          </a:p>
        </p:txBody>
      </p:sp>
      <p:sp>
        <p:nvSpPr>
          <p:cNvPr id="20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831BD5A4-E3BC-406A-AC27-E64BB692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54562"/>
            <a:ext cx="75441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Mono"/>
                <a:ea typeface="IBM Plex Mono"/>
                <a:cs typeface="IBM Plex Mono"/>
              </a:defRPr>
            </a:pPr>
            <a:r>
              <a:rPr sz="27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1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2FBB1498-6FE8-421E-87C0-25E047D0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407843"/>
            <a:ext cx="525050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Политике, конфигурација и видљивост</a:t>
            </a:r>
          </a:p>
        </p:txBody>
      </p:sp>
      <p:sp>
        <p:nvSpPr>
          <p:cNvPr id="22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2FF6FD4E-4BD2-4901-AC72-4F710299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354562"/>
            <a:ext cx="75441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Mono"/>
                <a:ea typeface="IBM Plex Mono"/>
                <a:cs typeface="IBM Plex Mono"/>
              </a:defRPr>
            </a:pPr>
            <a:r>
              <a:rPr sz="27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3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FE4600E0-6049-4EE4-A0E3-F106DC0C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407843"/>
            <a:ext cx="615032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Имовина, границе поверења и threat modeling</a:t>
            </a:r>
          </a:p>
        </p:txBody>
      </p:sp>
      <p:sp>
        <p:nvSpPr>
          <p:cNvPr id="24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86ECA72C-5102-4879-A69F-C6AAF28A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86983"/>
            <a:ext cx="75441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Mono"/>
                <a:ea typeface="IBM Plex Mono"/>
                <a:cs typeface="IBM Plex Mono"/>
              </a:defRPr>
            </a:pPr>
            <a:r>
              <a:rPr sz="27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25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8BB74474-9D51-4755-8AE2-678043D4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440263"/>
            <a:ext cx="387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MFA, сесије, сервиси и тајне</a:t>
            </a:r>
          </a:p>
        </p:txBody>
      </p:sp>
      <p:sp>
        <p:nvSpPr>
          <p:cNvPr id="26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000AEEC2-E5DA-4471-91C4-15F53D66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386983"/>
            <a:ext cx="75441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Mono"/>
                <a:ea typeface="IBM Plex Mono"/>
                <a:cs typeface="IBM Plex Mono"/>
              </a:defRPr>
            </a:pPr>
            <a:r>
              <a:rPr sz="27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  <p:sp>
        <p:nvSpPr>
          <p:cNvPr id="27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5F7FED0E-8731-4841-9930-B93EDBEA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440263"/>
            <a:ext cx="464864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Детекција, инцидент и рањивости</a:t>
            </a:r>
          </a:p>
        </p:txBody>
      </p:sp>
      <p:sp>
        <p:nvSpPr>
          <p:cNvPr id="28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6E291F95-FF1E-452F-914C-6CEFDE6C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6419404"/>
            <a:ext cx="75441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Mono"/>
                <a:ea typeface="IBM Plex Mono"/>
                <a:cs typeface="IBM Plex Mono"/>
              </a:defRPr>
            </a:pPr>
            <a:r>
              <a:rPr sz="27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  <p:sp>
        <p:nvSpPr>
          <p:cNvPr id="29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1AA0157B-64B9-40A1-BE22-635E9CB6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6472684"/>
            <a:ext cx="491147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Атрибути, ризик и преглед приступа</a:t>
            </a:r>
          </a:p>
        </p:txBody>
      </p:sp>
      <p:sp>
        <p:nvSpPr>
          <p:cNvPr id="30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08170300-A876-4E87-B49D-F8040224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419404"/>
            <a:ext cx="75441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Mono"/>
                <a:ea typeface="IBM Plex Mono"/>
                <a:cs typeface="IBM Plex Mono"/>
              </a:defRPr>
            </a:pPr>
            <a:r>
              <a:rPr sz="27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  <p:sp>
        <p:nvSpPr>
          <p:cNvPr id="31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E2B3565E-9374-42AF-BFC7-4612EE2A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72684"/>
            <a:ext cx="46306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Корелација, ефективност и учење</a:t>
            </a:r>
          </a:p>
        </p:txBody>
      </p:sp>
      <p:sp>
        <p:nvSpPr>
          <p:cNvPr id="32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26AEF88A-3E62-4330-A48A-01C11C37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585174"/>
            <a:ext cx="13031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ДОДАТНО</a:t>
            </a:r>
          </a:p>
        </p:txBody>
      </p:sp>
      <p:sp>
        <p:nvSpPr>
          <p:cNvPr id="33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EF8068FB-29F9-4918-862D-01A4A7C4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990880"/>
            <a:ext cx="760868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Agile/Scrum, Git и тимски рад за потребе израде пројекта.</a:t>
            </a:r>
          </a:p>
        </p:txBody>
      </p:sp>
      <p:sp>
        <p:nvSpPr>
          <p:cNvPr id="34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152FDCA6-15D8-4D40-A928-FD1B1CF4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5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32F676A8-505E-4640-B592-318677C2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11687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EBF0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64DFD-AD43-4D3F-BA3A-E3EB5E05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8657"/>
            <a:ext cx="1580108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3CED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D2F9A-B188-42C2-BB80-59F4D10A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208" y="6158657"/>
            <a:ext cx="1306116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3CED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81256-5BBE-45AB-A8C1-A150BD8E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624" y="6158657"/>
            <a:ext cx="1646039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3CED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5675B-C893-40E4-A408-CD404E0F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5963" y="6158657"/>
            <a:ext cx="1187351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3CE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38CCB-F2BC-41D7-9E85-34552E61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CEDA"/>
          </a:solidFill>
          <a:ln xmlns:a="http://schemas.openxmlformats.org/drawingml/2006/main" w="0">
            <a:noFill/>
          </a:ln>
        </p:spPr>
      </p:sp>
      <p:sp>
        <p:nvSpPr>
          <p:cNvPr id="6" name="text-deo4">
            <a:extLst xmlns:a="http://schemas.openxmlformats.org/drawingml/2006/main">
              <a:ext uri="{FF2B5EF4-FFF2-40B4-BE49-F238E27FC236}">
                <a16:creationId xmlns:a16="http://schemas.microsoft.com/office/drawing/2014/main" id="{C71E5A7F-8C1B-49E2-BC87-F6E40B8F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7" name="text-deo4">
            <a:extLst xmlns:a="http://schemas.openxmlformats.org/drawingml/2006/main">
              <a:ext uri="{FF2B5EF4-FFF2-40B4-BE49-F238E27FC236}">
                <a16:creationId xmlns:a16="http://schemas.microsoft.com/office/drawing/2014/main" id="{41EA3F90-4DF4-4BD9-B537-E78C2283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20612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ЧЕТВРТИ ДЕО</a:t>
            </a:r>
          </a:p>
        </p:txBody>
      </p:sp>
      <p:sp>
        <p:nvSpPr>
          <p:cNvPr id="8" name="heading-deo4">
            <a:extLst xmlns:a="http://schemas.openxmlformats.org/drawingml/2006/main">
              <a:ext uri="{FF2B5EF4-FFF2-40B4-BE49-F238E27FC236}">
                <a16:creationId xmlns:a16="http://schemas.microsoft.com/office/drawing/2014/main" id="{3EE91DBE-2104-4B78-9EEC-F414F0D6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5936307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Рад и докази</a:t>
            </a:r>
          </a:p>
        </p:txBody>
      </p:sp>
      <p:sp>
        <p:nvSpPr>
          <p:cNvPr id="9" name="text-deo4">
            <a:extLst xmlns:a="http://schemas.openxmlformats.org/drawingml/2006/main">
              <a:ext uri="{FF2B5EF4-FFF2-40B4-BE49-F238E27FC236}">
                <a16:creationId xmlns:a16="http://schemas.microsoft.com/office/drawing/2014/main" id="{B1D3BC8A-D13C-42F5-B942-F3473C64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905291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Практикум, исходи предмета, правила рада и припрема тима за прву </a:t>
            </a:r>
          </a:p>
        </p:txBody>
      </p:sp>
      <p:sp>
        <p:nvSpPr>
          <p:cNvPr id="10" name="text-deo4">
            <a:extLst xmlns:a="http://schemas.openxmlformats.org/drawingml/2006/main">
              <a:ext uri="{FF2B5EF4-FFF2-40B4-BE49-F238E27FC236}">
                <a16:creationId xmlns:a16="http://schemas.microsoft.com/office/drawing/2014/main" id="{CE398295-5736-46B1-AC62-DAEAFD5A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100310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тему.</a:t>
            </a:r>
          </a:p>
        </p:txBody>
      </p:sp>
      <p:sp>
        <p:nvSpPr>
          <p:cNvPr id="11" name="text-deo4">
            <a:extLst xmlns:a="http://schemas.openxmlformats.org/drawingml/2006/main">
              <a:ext uri="{FF2B5EF4-FFF2-40B4-BE49-F238E27FC236}">
                <a16:creationId xmlns:a16="http://schemas.microsoft.com/office/drawing/2014/main" id="{6D2D4D4B-1DAD-4FA2-A87F-C7508229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244382"/>
            <a:ext cx="152295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Практикум</a:t>
            </a:r>
          </a:p>
        </p:txBody>
      </p:sp>
      <p:sp>
        <p:nvSpPr>
          <p:cNvPr id="12" name="text-deo4">
            <a:extLst xmlns:a="http://schemas.openxmlformats.org/drawingml/2006/main">
              <a:ext uri="{FF2B5EF4-FFF2-40B4-BE49-F238E27FC236}">
                <a16:creationId xmlns:a16="http://schemas.microsoft.com/office/drawing/2014/main" id="{9255EC00-B818-49BC-8F80-9F316D6B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5233" y="6244382"/>
            <a:ext cx="124896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Обавезе</a:t>
            </a:r>
          </a:p>
        </p:txBody>
      </p:sp>
      <p:sp>
        <p:nvSpPr>
          <p:cNvPr id="13" name="text-deo4">
            <a:extLst xmlns:a="http://schemas.openxmlformats.org/drawingml/2006/main">
              <a:ext uri="{FF2B5EF4-FFF2-40B4-BE49-F238E27FC236}">
                <a16:creationId xmlns:a16="http://schemas.microsoft.com/office/drawing/2014/main" id="{C8861E03-5DFE-46BC-A123-159C56D6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649" y="6244382"/>
            <a:ext cx="158888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Материјали</a:t>
            </a:r>
          </a:p>
        </p:txBody>
      </p:sp>
      <p:sp>
        <p:nvSpPr>
          <p:cNvPr id="14" name="text-deo4">
            <a:extLst xmlns:a="http://schemas.openxmlformats.org/drawingml/2006/main">
              <a:ext uri="{FF2B5EF4-FFF2-40B4-BE49-F238E27FC236}">
                <a16:creationId xmlns:a16="http://schemas.microsoft.com/office/drawing/2014/main" id="{B0A2E047-3274-4E6A-AB45-9F0410CE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988" y="6244382"/>
            <a:ext cx="113020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Докази</a:t>
            </a:r>
          </a:p>
        </p:txBody>
      </p:sp>
      <p:sp>
        <p:nvSpPr>
          <p:cNvPr id="15" name="text-deo4">
            <a:extLst xmlns:a="http://schemas.openxmlformats.org/drawingml/2006/main">
              <a:ext uri="{FF2B5EF4-FFF2-40B4-BE49-F238E27FC236}">
                <a16:creationId xmlns:a16="http://schemas.microsoft.com/office/drawing/2014/main" id="{63674070-A7C5-4CF1-B7DC-0D338C33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6" name="text-deo4">
            <a:extLst xmlns:a="http://schemas.openxmlformats.org/drawingml/2006/main">
              <a:ext uri="{FF2B5EF4-FFF2-40B4-BE49-F238E27FC236}">
                <a16:creationId xmlns:a16="http://schemas.microsoft.com/office/drawing/2014/main" id="{4AA1DAC3-0B3E-4A6D-AD29-239DCD23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41346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114850-7E36-4771-AFFD-107BDEA7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BC287-55EA-4830-B138-B2A40797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7CC50-67BA-424F-8DCD-63FCE29F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8D27B-3D17-4216-A223-9138ABF1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D253D-AAE9-445B-A32F-3E8CA673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38621-1602-4CCD-83E9-576ADD16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58496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EBF0F5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0D7D2C2D-0234-4DA4-8160-099A0CF8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22BF7-A161-48A6-A823-90A44BF7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11eb73fed47e8"/>
          <a:stretch xmlns:a="http://schemas.openxmlformats.org/drawingml/2006/main"/>
        </p:blipFill>
        <p:spPr>
          <a:xfrm xmlns:a="http://schemas.openxmlformats.org/drawingml/2006/main">
            <a:off x="4886325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124ed8ac643f5"/>
          <a:stretch xmlns:a="http://schemas.openxmlformats.org/drawingml/2006/main"/>
        </p:blipFill>
        <p:spPr>
          <a:xfrm xmlns:a="http://schemas.openxmlformats.org/drawingml/2006/main">
            <a:off x="9010650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38b48fcc04d1c"/>
          <a:stretch xmlns:a="http://schemas.openxmlformats.org/drawingml/2006/main"/>
        </p:blipFill>
        <p:spPr>
          <a:xfrm xmlns:a="http://schemas.openxmlformats.org/drawingml/2006/main">
            <a:off x="13134975" y="4219277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2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DB20EC74-C912-4D40-85E9-B6D3595A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5299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 · ПРАКТИКУМ</a:t>
            </a:r>
          </a:p>
        </p:txBody>
      </p:sp>
      <p:sp>
        <p:nvSpPr>
          <p:cNvPr id="13" name="heading-source-12">
            <a:extLst xmlns:a="http://schemas.openxmlformats.org/drawingml/2006/main">
              <a:ext uri="{FF2B5EF4-FFF2-40B4-BE49-F238E27FC236}">
                <a16:creationId xmlns:a16="http://schemas.microsoft.com/office/drawing/2014/main" id="{923F3E51-4E8A-40AB-B4C0-3A0C6FE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82885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Рад са практикумом</a:t>
            </a:r>
          </a:p>
        </p:txBody>
      </p:sp>
      <p:sp>
        <p:nvSpPr>
          <p:cNvPr id="14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AB5DE663-6730-43D2-8959-00BCDBE5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220762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Практикум служи за разумевање принципа и њихову примену на додељену пројектну целину.</a:t>
            </a:r>
          </a:p>
        </p:txBody>
      </p:sp>
      <p:sp>
        <p:nvSpPr>
          <p:cNvPr id="15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71DED5B8-CBDD-461B-9FED-F5F670EA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6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B5E9BEE4-7485-4EB9-B9E9-67D02748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172387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 вежбе</a:t>
            </a:r>
          </a:p>
        </p:txBody>
      </p:sp>
      <p:sp>
        <p:nvSpPr>
          <p:cNvPr id="17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9756C321-51A3-4BE8-A785-DBFAE4BE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198015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анализа теме и </a:t>
            </a:r>
          </a:p>
        </p:txBody>
      </p:sp>
      <p:sp>
        <p:nvSpPr>
          <p:cNvPr id="18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7822C4CC-D359-4D75-99B6-F386615E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20258"/>
            <a:ext cx="1826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претпоставки</a:t>
            </a:r>
          </a:p>
        </p:txBody>
      </p:sp>
      <p:sp>
        <p:nvSpPr>
          <p:cNvPr id="19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B827B1B1-0D02-4908-BC37-50333729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0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130980DD-6514-426E-B931-C589B788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8847"/>
            <a:ext cx="200531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Током вежбе</a:t>
            </a:r>
          </a:p>
        </p:txBody>
      </p:sp>
      <p:sp>
        <p:nvSpPr>
          <p:cNvPr id="21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E3C4B270-5D6C-41D0-84BD-CB0BFF9C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00277"/>
            <a:ext cx="250775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повезивање појма и </a:t>
            </a:r>
          </a:p>
        </p:txBody>
      </p:sp>
      <p:sp>
        <p:nvSpPr>
          <p:cNvPr id="22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5E133454-18C0-4880-BA06-2E2AA77A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20258"/>
            <a:ext cx="150524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последице</a:t>
            </a:r>
          </a:p>
        </p:txBody>
      </p:sp>
      <p:sp>
        <p:nvSpPr>
          <p:cNvPr id="23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1A100BC7-0CB7-4188-A004-1D2C1608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4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C9AA8B11-DD56-4B0D-9585-485EFA20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108847"/>
            <a:ext cx="201007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После вежбе</a:t>
            </a:r>
          </a:p>
        </p:txBody>
      </p:sp>
      <p:sp>
        <p:nvSpPr>
          <p:cNvPr id="25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51F61942-045C-43A3-9525-A3F36627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600277"/>
            <a:ext cx="27034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примена принципа на </a:t>
            </a:r>
          </a:p>
        </p:txBody>
      </p:sp>
      <p:sp>
        <p:nvSpPr>
          <p:cNvPr id="26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CB7FAF8F-1302-4961-9B35-E3BB8BB2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920258"/>
            <a:ext cx="126623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пројекат</a:t>
            </a:r>
          </a:p>
        </p:txBody>
      </p:sp>
      <p:sp>
        <p:nvSpPr>
          <p:cNvPr id="27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8FC0AEE6-1D51-4F74-9FDB-769D2CD2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8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5EB129C2-D455-4C58-AFF8-62ECF043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108847"/>
            <a:ext cx="215309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Пред одбрану</a:t>
            </a:r>
          </a:p>
        </p:txBody>
      </p:sp>
      <p:sp>
        <p:nvSpPr>
          <p:cNvPr id="29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079D4CF8-82D6-4956-BA5E-522DD81D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600277"/>
            <a:ext cx="314950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приказ контроле и доказа</a:t>
            </a:r>
          </a:p>
        </p:txBody>
      </p:sp>
      <p:sp>
        <p:nvSpPr>
          <p:cNvPr id="30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7BECA1CE-BD66-4557-AD06-D7B4B6B9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11763"/>
            <a:ext cx="43206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Добар одговор има четири дела</a:t>
            </a:r>
          </a:p>
        </p:txBody>
      </p:sp>
      <p:sp>
        <p:nvSpPr>
          <p:cNvPr id="31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20ADA936-2E8A-4B0D-AB14-2AFB9D75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17469"/>
            <a:ext cx="1527765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Проблем који решавамо, изабрана контрола, њено ограничење, тест, ревизиони траг или демонстрација која доказује </a:t>
            </a:r>
          </a:p>
        </p:txBody>
      </p:sp>
      <p:sp>
        <p:nvSpPr>
          <p:cNvPr id="32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4B2B291A-71ED-419C-A85B-01B3C598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790730"/>
            <a:ext cx="174054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понашање.</a:t>
            </a:r>
          </a:p>
        </p:txBody>
      </p:sp>
      <p:sp>
        <p:nvSpPr>
          <p:cNvPr id="33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C7AFE708-8D7D-41B4-8B6C-F564166F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4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18A8A6DD-3477-4194-8595-37F5D7C6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643229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675A48-DA1D-4D09-AC2D-24DD2EB1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C44DB-B7D7-4458-83D1-678CD977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5156150" cy="2662684"/>
          </a:xfrm>
          <a:prstGeom xmlns:a="http://schemas.openxmlformats.org/drawingml/2006/main" prst="roundRect">
            <a:avLst>
              <a:gd name="adj" fmla="val 572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13C80-EEFC-4014-B5AF-5C819DDA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3112591"/>
            <a:ext cx="5156299" cy="2662684"/>
          </a:xfrm>
          <a:prstGeom xmlns:a="http://schemas.openxmlformats.org/drawingml/2006/main" prst="roundRect">
            <a:avLst>
              <a:gd name="adj" fmla="val 572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1EB9F-B764-4320-AB25-347F3B67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650" y="3112591"/>
            <a:ext cx="5156150" cy="2662684"/>
          </a:xfrm>
          <a:prstGeom xmlns:a="http://schemas.openxmlformats.org/drawingml/2006/main" prst="roundRect">
            <a:avLst>
              <a:gd name="adj" fmla="val 572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3786D-725F-4FBE-B20F-5EC53A9A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8462CC55-B363-4099-B9D6-C9CC94E8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46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 · ИСХОДИ ПРЕДМЕТА</a:t>
            </a:r>
          </a:p>
        </p:txBody>
      </p:sp>
      <p:sp>
        <p:nvSpPr>
          <p:cNvPr id="7" name="heading-source-13">
            <a:extLst xmlns:a="http://schemas.openxmlformats.org/drawingml/2006/main">
              <a:ext uri="{FF2B5EF4-FFF2-40B4-BE49-F238E27FC236}">
                <a16:creationId xmlns:a16="http://schemas.microsoft.com/office/drawing/2014/main" id="{F74103BA-4A3A-4572-A055-D832F89C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05390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Исходи предмета</a:t>
            </a:r>
          </a:p>
        </p:txBody>
      </p:sp>
      <p:sp>
        <p:nvSpPr>
          <p:cNvPr id="8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FF0E2C42-B6CB-4734-BD67-582B11C6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79056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Студент повезује безбедносни проблем са одговарајућом контролом и проверљивим доказом њеног рада.</a:t>
            </a:r>
          </a:p>
        </p:txBody>
      </p:sp>
      <p:sp>
        <p:nvSpPr>
          <p:cNvPr id="9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715F9FB9-8D58-4106-8CA8-0EFD369E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13031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АНАЛИЗА</a:t>
            </a:r>
          </a:p>
        </p:txBody>
      </p:sp>
      <p:sp>
        <p:nvSpPr>
          <p:cNvPr id="10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88024F12-94B3-47D1-88EC-DD3F0713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42147"/>
            <a:ext cx="4015532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Имовина и претпоставке</a:t>
            </a:r>
          </a:p>
        </p:txBody>
      </p:sp>
      <p:sp>
        <p:nvSpPr>
          <p:cNvPr id="11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8ED36BD0-94EB-44FA-B13F-840701E1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88793"/>
            <a:ext cx="464879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Препознаје шта систем штити, где </a:t>
            </a:r>
          </a:p>
        </p:txBody>
      </p:sp>
      <p:sp>
        <p:nvSpPr>
          <p:cNvPr id="12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5A924139-1487-43D4-9CFB-5D046097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62054"/>
            <a:ext cx="349463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се мења поверење и која </a:t>
            </a:r>
          </a:p>
        </p:txBody>
      </p:sp>
      <p:sp>
        <p:nvSpPr>
          <p:cNvPr id="13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3A0C1A8C-C85D-414A-A2D7-BC7A4807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135314"/>
            <a:ext cx="481771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претпоставка може бити погрешна.</a:t>
            </a:r>
          </a:p>
        </p:txBody>
      </p:sp>
      <p:sp>
        <p:nvSpPr>
          <p:cNvPr id="14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C22E1DC5-F414-4FA8-9C82-F788E095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388816"/>
            <a:ext cx="11659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ОДЛУКА</a:t>
            </a:r>
          </a:p>
        </p:txBody>
      </p:sp>
      <p:sp>
        <p:nvSpPr>
          <p:cNvPr id="15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D9A027A7-3AD3-4D13-ADCE-36C6803E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842147"/>
            <a:ext cx="333241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Правило и контрола</a:t>
            </a:r>
          </a:p>
        </p:txBody>
      </p:sp>
      <p:sp>
        <p:nvSpPr>
          <p:cNvPr id="16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EDCEAED7-E329-4577-8DAE-7304707F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388793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Формулише јасну безбедносну </a:t>
            </a:r>
          </a:p>
        </p:txBody>
      </p:sp>
      <p:sp>
        <p:nvSpPr>
          <p:cNvPr id="17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3B783DEA-1A4B-424D-BF41-C0D0FDD6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762054"/>
            <a:ext cx="493454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одлуку и примењује је на серверској </a:t>
            </a:r>
          </a:p>
        </p:txBody>
      </p:sp>
      <p:sp>
        <p:nvSpPr>
          <p:cNvPr id="18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6F7EC736-19ED-4133-BA44-6113B341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135314"/>
            <a:ext cx="254511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граници система.</a:t>
            </a:r>
          </a:p>
        </p:txBody>
      </p:sp>
      <p:sp>
        <p:nvSpPr>
          <p:cNvPr id="19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97E09914-AA81-4DA2-BF9B-BC2641FB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388816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ДОКАЗ</a:t>
            </a:r>
          </a:p>
        </p:txBody>
      </p:sp>
      <p:sp>
        <p:nvSpPr>
          <p:cNvPr id="20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33385495-C3D0-4817-AFF7-BCE36FD7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842147"/>
            <a:ext cx="360580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и ревизиони траг</a:t>
            </a:r>
          </a:p>
        </p:txBody>
      </p:sp>
      <p:sp>
        <p:nvSpPr>
          <p:cNvPr id="21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727DF0BB-1AF8-4A90-9179-0B2618A7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388793"/>
            <a:ext cx="424666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Показује и дозвољен и одбијен </a:t>
            </a:r>
          </a:p>
        </p:txBody>
      </p:sp>
      <p:sp>
        <p:nvSpPr>
          <p:cNvPr id="22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062ECD6E-9BA2-43CE-9E45-0A679DB7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762054"/>
            <a:ext cx="341620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исход, па уме да објасни </a:t>
            </a:r>
          </a:p>
        </p:txBody>
      </p:sp>
      <p:sp>
        <p:nvSpPr>
          <p:cNvPr id="23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8889D165-F1A1-4010-9F55-B49E3EB0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135314"/>
            <a:ext cx="318730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ограничење контроле.</a:t>
            </a:r>
          </a:p>
        </p:txBody>
      </p:sp>
      <p:sp>
        <p:nvSpPr>
          <p:cNvPr id="24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A9113B22-D3EC-4CC0-8DBD-84858CFF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5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C3052B4F-94D6-47D4-820B-6F0B6883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77482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CDEDAF-C469-4395-9A33-48A87247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86F72-D908-413D-9D6C-E4EDCD97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5156150" cy="3401616"/>
          </a:xfrm>
          <a:prstGeom xmlns:a="http://schemas.openxmlformats.org/drawingml/2006/main" prst="roundRect">
            <a:avLst>
              <a:gd name="adj" fmla="val 448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ED0B0-8ECC-4BA4-AE70-EB5F3847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3112591"/>
            <a:ext cx="5156299" cy="3401616"/>
          </a:xfrm>
          <a:prstGeom xmlns:a="http://schemas.openxmlformats.org/drawingml/2006/main" prst="roundRect">
            <a:avLst>
              <a:gd name="adj" fmla="val 448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51CDB-8E91-4073-910A-EF5BDF6E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650" y="3112591"/>
            <a:ext cx="5156150" cy="3401616"/>
          </a:xfrm>
          <a:prstGeom xmlns:a="http://schemas.openxmlformats.org/drawingml/2006/main" prst="roundRect">
            <a:avLst>
              <a:gd name="adj" fmla="val 448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C9B53-9982-4C61-97B9-4A308658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19007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FBF1E6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24C384D6-406B-4D93-B386-5E84D258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19007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8520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B589C-02FA-4642-98CE-ABFEAE8E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A8122123-8F7C-430C-B084-FEE74D64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2175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 · ОБАВЕЗЕ</a:t>
            </a:r>
          </a:p>
        </p:txBody>
      </p:sp>
      <p:sp>
        <p:nvSpPr>
          <p:cNvPr id="9" name="heading-source-10">
            <a:extLst xmlns:a="http://schemas.openxmlformats.org/drawingml/2006/main">
              <a:ext uri="{FF2B5EF4-FFF2-40B4-BE49-F238E27FC236}">
                <a16:creationId xmlns:a16="http://schemas.microsoft.com/office/drawing/2014/main" id="{B3F2C8EE-DE4C-4496-9DB6-CABC0C39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2630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324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Обавезе студената и правила безбедног рада</a:t>
            </a:r>
          </a:p>
        </p:txBody>
      </p:sp>
      <p:sp>
        <p:nvSpPr>
          <p:cNvPr id="10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C98E8A6B-4095-4945-BC63-BC479480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420073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Правила присуства, академског интегритета и контролисаног тестирања примењују се током целог семестра.</a:t>
            </a:r>
          </a:p>
        </p:txBody>
      </p:sp>
      <p:sp>
        <p:nvSpPr>
          <p:cNvPr id="11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17E7B274-B288-4B3E-9E3E-D6D11EFF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15774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ПРИСУСТВО</a:t>
            </a:r>
          </a:p>
        </p:txBody>
      </p:sp>
      <p:sp>
        <p:nvSpPr>
          <p:cNvPr id="12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8A7BBBCC-F170-4641-9DFA-C6D5948D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42147"/>
            <a:ext cx="387801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Највише 2 неоправдана </a:t>
            </a:r>
          </a:p>
        </p:txBody>
      </p:sp>
      <p:sp>
        <p:nvSpPr>
          <p:cNvPr id="13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A85B1443-1115-4C94-8616-2D08C7FC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07818"/>
            <a:ext cx="186124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изостанка</a:t>
            </a:r>
          </a:p>
        </p:txBody>
      </p:sp>
      <p:sp>
        <p:nvSpPr>
          <p:cNvPr id="14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D0A4711F-7C92-432E-A81A-489A81E5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54463"/>
            <a:ext cx="397698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Са више од два неоправдана </a:t>
            </a:r>
          </a:p>
        </p:txBody>
      </p:sp>
      <p:sp>
        <p:nvSpPr>
          <p:cNvPr id="15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8FF026E5-6B9A-4C0A-9E07-C98AC781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127724"/>
            <a:ext cx="446424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изостанка студент губи право на </a:t>
            </a:r>
          </a:p>
        </p:txBody>
      </p:sp>
      <p:sp>
        <p:nvSpPr>
          <p:cNvPr id="16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401AB074-A630-4212-9D3B-F1966ED7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500985"/>
            <a:ext cx="277683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полагање пројекта.</a:t>
            </a:r>
          </a:p>
        </p:txBody>
      </p:sp>
      <p:sp>
        <p:nvSpPr>
          <p:cNvPr id="17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71F91BFC-4CB6-4607-A750-73EB05BB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388816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ИНТЕГРИТЕТ</a:t>
            </a:r>
          </a:p>
        </p:txBody>
      </p:sp>
      <p:sp>
        <p:nvSpPr>
          <p:cNvPr id="18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974881C6-9055-460F-81F6-5B243032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842147"/>
            <a:ext cx="337110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0 бодова за плагијат</a:t>
            </a:r>
          </a:p>
        </p:txBody>
      </p:sp>
      <p:sp>
        <p:nvSpPr>
          <p:cNvPr id="19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BAEDCDC5-C766-4431-915E-49CEE197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388793"/>
            <a:ext cx="436483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Исто важи за преузимање туђег </a:t>
            </a:r>
          </a:p>
        </p:txBody>
      </p:sp>
      <p:sp>
        <p:nvSpPr>
          <p:cNvPr id="20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EC7E0B59-09A1-4129-A840-D05D880E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762054"/>
            <a:ext cx="440397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решења и лажно представљање </a:t>
            </a:r>
          </a:p>
        </p:txBody>
      </p:sp>
      <p:sp>
        <p:nvSpPr>
          <p:cNvPr id="21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0366AAA9-32CD-48C5-88B1-CCB564FD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135314"/>
            <a:ext cx="377457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индивидуалног доприноса.</a:t>
            </a:r>
          </a:p>
        </p:txBody>
      </p:sp>
      <p:sp>
        <p:nvSpPr>
          <p:cNvPr id="22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EB87DED4-C619-43BD-A2FF-03643F37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388816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БЕЗБЕДНО ОКРУЖЕЊЕ</a:t>
            </a:r>
          </a:p>
        </p:txBody>
      </p:sp>
      <p:sp>
        <p:nvSpPr>
          <p:cNvPr id="23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2D725B3E-225A-4A5F-8309-A09637D4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842147"/>
            <a:ext cx="37604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Само сопствени тестни </a:t>
            </a:r>
          </a:p>
        </p:txBody>
      </p:sp>
      <p:sp>
        <p:nvSpPr>
          <p:cNvPr id="24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C569C375-F88B-421D-9C0B-35CD7022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207818"/>
            <a:ext cx="1561207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системи</a:t>
            </a:r>
          </a:p>
        </p:txBody>
      </p:sp>
      <p:sp>
        <p:nvSpPr>
          <p:cNvPr id="25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B6C686C2-3991-46EB-8B63-3CAAEA6D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754463"/>
            <a:ext cx="371028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Негативни и злоупотребни </a:t>
            </a:r>
          </a:p>
        </p:txBody>
      </p:sp>
      <p:sp>
        <p:nvSpPr>
          <p:cNvPr id="26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B22C393B-962E-4EDF-83CA-C17964D4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127724"/>
            <a:ext cx="474940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сценарији изводе се дефанзивно и </a:t>
            </a:r>
          </a:p>
        </p:txBody>
      </p:sp>
      <p:sp>
        <p:nvSpPr>
          <p:cNvPr id="27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59FA0E30-801F-4EA4-8A02-4972115E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500985"/>
            <a:ext cx="393308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искључиво у контролисаном </a:t>
            </a:r>
          </a:p>
        </p:txBody>
      </p:sp>
      <p:sp>
        <p:nvSpPr>
          <p:cNvPr id="28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A4524A46-2DAC-4159-9A7A-2FF931E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874246"/>
            <a:ext cx="169440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окружењу.</a:t>
            </a:r>
          </a:p>
        </p:txBody>
      </p:sp>
      <p:sp>
        <p:nvSpPr>
          <p:cNvPr id="29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DB34B070-B210-454E-B990-D324CAA6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009507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ЗВАНИЧНИ КАНАЛИ</a:t>
            </a:r>
          </a:p>
        </p:txBody>
      </p:sp>
      <p:sp>
        <p:nvSpPr>
          <p:cNvPr id="30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E438382A-DDAC-4D03-B556-562E23C6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415213"/>
            <a:ext cx="1245378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Организациона обавештења, термини и измене објављују се путем званичних канала предмета.</a:t>
            </a:r>
          </a:p>
        </p:txBody>
      </p:sp>
      <p:sp>
        <p:nvSpPr>
          <p:cNvPr id="31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6911182D-DE1D-4FCF-A2BC-63362246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2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E35A7967-F8A0-478E-ABBB-81C81256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81185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AB416-891D-4AAB-AA8F-B84A8E83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6C0D7-2B4B-424A-8EB2-53E3F869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7829550" cy="2289423"/>
          </a:xfrm>
          <a:prstGeom xmlns:a="http://schemas.openxmlformats.org/drawingml/2006/main" prst="roundRect">
            <a:avLst>
              <a:gd name="adj" fmla="val 665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9CE1C-9235-4D45-9085-99EF6F50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12591"/>
            <a:ext cx="7829550" cy="2289423"/>
          </a:xfrm>
          <a:prstGeom xmlns:a="http://schemas.openxmlformats.org/drawingml/2006/main" prst="roundRect">
            <a:avLst>
              <a:gd name="adj" fmla="val 665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DC5B8-D98C-4B62-9BEC-1E56F99C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5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97E6EC68-AC53-4EE9-9B98-B831C0CB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 · МАТЕРИЈАЛИ</a:t>
            </a:r>
          </a:p>
        </p:txBody>
      </p:sp>
      <p:sp>
        <p:nvSpPr>
          <p:cNvPr id="6" name="heading-source-19">
            <a:extLst xmlns:a="http://schemas.openxmlformats.org/drawingml/2006/main">
              <a:ext uri="{FF2B5EF4-FFF2-40B4-BE49-F238E27FC236}">
                <a16:creationId xmlns:a16="http://schemas.microsoft.com/office/drawing/2014/main" id="{1A492406-3AA6-4F02-AE5B-728CA563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99926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Канали и материјали</a:t>
            </a:r>
          </a:p>
        </p:txBody>
      </p:sp>
      <p:sp>
        <p:nvSpPr>
          <p:cNvPr id="7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8DA00577-2F1E-4A0D-B7B1-2E3FF7C7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408062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Термини, измене и организациона обавештења важе након објављивања путем званичних канала предмета.</a:t>
            </a:r>
          </a:p>
        </p:txBody>
      </p:sp>
      <p:sp>
        <p:nvSpPr>
          <p:cNvPr id="8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B64DC8E1-283A-4B77-9E67-A1F2D5C5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МАТЕРИЈАЛИ</a:t>
            </a:r>
          </a:p>
        </p:txBody>
      </p:sp>
      <p:sp>
        <p:nvSpPr>
          <p:cNvPr id="9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1D47D4C5-0D55-4047-BF20-8C5DBB71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42147"/>
            <a:ext cx="42938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Практикум и презентације</a:t>
            </a:r>
          </a:p>
        </p:txBody>
      </p:sp>
      <p:sp>
        <p:nvSpPr>
          <p:cNvPr id="10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8B8C1A6E-0E22-4B7D-8FE7-78D860C6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88793"/>
            <a:ext cx="73928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Јединствени материјали за рачунарске вежбе доступни </a:t>
            </a:r>
          </a:p>
        </p:txBody>
      </p:sp>
      <p:sp>
        <p:nvSpPr>
          <p:cNvPr id="11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5A07A63C-3399-4B7E-86A5-B734F878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62054"/>
            <a:ext cx="534709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  <a:hlinkClick xmlns:r="http://schemas.openxmlformats.org/officeDocument/2006/relationships" r:id="R20f6ada01afb44de"/>
              </a:rPr>
              <a:t>су на ftn-nastavni-portal.vercel.app/#oib.</a:t>
            </a:r>
          </a:p>
        </p:txBody>
      </p:sp>
      <p:sp>
        <p:nvSpPr>
          <p:cNvPr id="12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8C7AB924-B18E-4F1C-B602-5AE05DB3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388816"/>
            <a:ext cx="19889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ОРГАНИЗАЦИЈА</a:t>
            </a:r>
          </a:p>
        </p:txBody>
      </p:sp>
      <p:sp>
        <p:nvSpPr>
          <p:cNvPr id="13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181C4455-F332-45B9-BB87-00DC1CD5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842147"/>
            <a:ext cx="369912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Званична обавештења</a:t>
            </a:r>
          </a:p>
        </p:txBody>
      </p:sp>
      <p:sp>
        <p:nvSpPr>
          <p:cNvPr id="14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35DF4386-1517-4020-97D1-031B5F3C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388793"/>
            <a:ext cx="6302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Тачан датум одбране, сатница, термини теста и </a:t>
            </a:r>
          </a:p>
        </p:txBody>
      </p:sp>
      <p:sp>
        <p:nvSpPr>
          <p:cNvPr id="15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A1653C45-4EA6-4274-8F99-F3BAD9F9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762054"/>
            <a:ext cx="719286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евентуалне измене објављују се званичним каналима.</a:t>
            </a:r>
          </a:p>
        </p:txBody>
      </p:sp>
      <p:sp>
        <p:nvSpPr>
          <p:cNvPr id="16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2F27DF58-B734-4B7B-A766-500E500B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7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85EED126-988D-46FB-A943-D4D9CA94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52125663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2DA41C-4050-4BE1-AB54-2D5F36C6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07266-2A05-4911-A183-30605129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DDEFC-56D2-4C6A-AC0D-05BD9452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95C87-F192-400D-84A0-9F96281F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DEBEB-07D5-4637-B1C2-590EBB68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75326-D688-4383-8C47-9785C617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BF0F5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2CE19F19-6AFD-49D4-93DA-25D6BE12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31F1C-99DA-46DB-B0C0-E28B750E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188b24d7946c4"/>
          <a:stretch xmlns:a="http://schemas.openxmlformats.org/drawingml/2006/main"/>
        </p:blipFill>
        <p:spPr>
          <a:xfrm xmlns:a="http://schemas.openxmlformats.org/drawingml/2006/main">
            <a:off x="4886325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e71edfcb145f8"/>
          <a:stretch xmlns:a="http://schemas.openxmlformats.org/drawingml/2006/main"/>
        </p:blipFill>
        <p:spPr>
          <a:xfrm xmlns:a="http://schemas.openxmlformats.org/drawingml/2006/main">
            <a:off x="9010650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10c3c2a184a16"/>
          <a:stretch xmlns:a="http://schemas.openxmlformats.org/drawingml/2006/main"/>
        </p:blipFill>
        <p:spPr>
          <a:xfrm xmlns:a="http://schemas.openxmlformats.org/drawingml/2006/main">
            <a:off x="13134975" y="4219277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2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67241497-9F59-423B-9C30-6C6E8370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6233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 · ПОЧЕТАК СЕМЕСТРА</a:t>
            </a:r>
          </a:p>
        </p:txBody>
      </p:sp>
      <p:sp>
        <p:nvSpPr>
          <p:cNvPr id="13" name="heading-source-20">
            <a:extLst xmlns:a="http://schemas.openxmlformats.org/drawingml/2006/main">
              <a:ext uri="{FF2B5EF4-FFF2-40B4-BE49-F238E27FC236}">
                <a16:creationId xmlns:a16="http://schemas.microsoft.com/office/drawing/2014/main" id="{F0E4AED9-7C9C-4720-971E-A6D2C817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1133088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547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Организација рада на почетку семестра</a:t>
            </a:r>
          </a:p>
        </p:txBody>
      </p:sp>
      <p:sp>
        <p:nvSpPr>
          <p:cNvPr id="14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A76C9A1C-18FE-4903-B5A8-BC7AA8CB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450717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Тим на почетку семестра дефинише одговорности, репозиторијум, границу пројектне целине и почетни backlog.</a:t>
            </a:r>
          </a:p>
        </p:txBody>
      </p:sp>
      <p:sp>
        <p:nvSpPr>
          <p:cNvPr id="15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83AE5C92-6D51-4619-8E8C-F187A3C7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6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9C2B7B0E-3B18-4635-8860-5179D85A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838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Тим</a:t>
            </a:r>
          </a:p>
        </p:txBody>
      </p:sp>
      <p:sp>
        <p:nvSpPr>
          <p:cNvPr id="17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C7ADF75D-4789-4EC0-A36C-896609F0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266938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улоге и одговорности</a:t>
            </a:r>
          </a:p>
        </p:txBody>
      </p:sp>
      <p:sp>
        <p:nvSpPr>
          <p:cNvPr id="18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031DCE3D-0F35-404C-868C-46084876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9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3D0B6150-6BFE-4719-921E-A1C89CA1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8847"/>
            <a:ext cx="226769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Репозиторијум</a:t>
            </a:r>
          </a:p>
        </p:txBody>
      </p:sp>
      <p:sp>
        <p:nvSpPr>
          <p:cNvPr id="20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4B233F0F-C11C-46C7-9DCB-3B147597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00277"/>
            <a:ext cx="2969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README и договорен Git </a:t>
            </a:r>
          </a:p>
        </p:txBody>
      </p:sp>
      <p:sp>
        <p:nvSpPr>
          <p:cNvPr id="21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F4C8C29E-32B7-4DEC-A08E-7C2E264E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20258"/>
            <a:ext cx="70157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ток</a:t>
            </a:r>
          </a:p>
        </p:txBody>
      </p:sp>
      <p:sp>
        <p:nvSpPr>
          <p:cNvPr id="22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F3A6CDCB-9B9F-43B4-B0AF-427B624A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3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A34850AA-F5D6-484C-AAC2-6B266599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108847"/>
            <a:ext cx="266536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Пројектна целина</a:t>
            </a:r>
          </a:p>
        </p:txBody>
      </p:sp>
      <p:sp>
        <p:nvSpPr>
          <p:cNvPr id="24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949F7437-5D74-4F32-906D-7C6E0D8E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600277"/>
            <a:ext cx="240223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јасна граница рада</a:t>
            </a:r>
          </a:p>
        </p:txBody>
      </p:sp>
      <p:sp>
        <p:nvSpPr>
          <p:cNvPr id="25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3BDDB182-2EAE-4FF4-AE28-CE0F666C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6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90EC0AEB-C70B-4D23-95EF-4BF16637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108847"/>
            <a:ext cx="203701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Први backlog</a:t>
            </a:r>
          </a:p>
        </p:txBody>
      </p:sp>
      <p:sp>
        <p:nvSpPr>
          <p:cNvPr id="27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C91D19B8-9394-48AA-B3EE-DC42EF67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600277"/>
            <a:ext cx="316021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проверљиви безбедносни </a:t>
            </a:r>
          </a:p>
        </p:txBody>
      </p:sp>
      <p:sp>
        <p:nvSpPr>
          <p:cNvPr id="28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9AE90AD9-C920-4EB9-B90D-992C7859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920258"/>
            <a:ext cx="118794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захтеви</a:t>
            </a:r>
          </a:p>
        </p:txBody>
      </p:sp>
      <p:sp>
        <p:nvSpPr>
          <p:cNvPr id="29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03346E75-4376-421C-BDBA-0502E257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11763"/>
            <a:ext cx="19889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Следећа тема</a:t>
            </a:r>
          </a:p>
        </p:txBody>
      </p:sp>
      <p:sp>
        <p:nvSpPr>
          <p:cNvPr id="30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85E9E98A-FAEF-4A61-AC8D-3CE0004E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17469"/>
            <a:ext cx="1307812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Идентитет, аутентикација и RBAC: прва серверска одлука о томе ко сме да изврши конкретну радњу.</a:t>
            </a:r>
          </a:p>
        </p:txBody>
      </p:sp>
      <p:sp>
        <p:nvSpPr>
          <p:cNvPr id="31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DD3C7A2A-9462-4B7B-9494-5755ED79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2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BF8EA50C-8A93-445C-9777-20924F4B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625996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885C9D-D057-4DBE-B767-F74BAE5E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255AF-6366-4394-BC77-40FD4B71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5156150" cy="2289423"/>
          </a:xfrm>
          <a:prstGeom xmlns:a="http://schemas.openxmlformats.org/drawingml/2006/main" prst="roundRect">
            <a:avLst>
              <a:gd name="adj" fmla="val 665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B0DA3-BC7B-459A-B922-AB615ACD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3112591"/>
            <a:ext cx="5156299" cy="2289423"/>
          </a:xfrm>
          <a:prstGeom xmlns:a="http://schemas.openxmlformats.org/drawingml/2006/main" prst="roundRect">
            <a:avLst>
              <a:gd name="adj" fmla="val 665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1C525-56A9-40A1-A40C-B3D2E8FF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650" y="3112591"/>
            <a:ext cx="5156150" cy="2289423"/>
          </a:xfrm>
          <a:prstGeom xmlns:a="http://schemas.openxmlformats.org/drawingml/2006/main" prst="roundRect">
            <a:avLst>
              <a:gd name="adj" fmla="val 665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9D73B-5B7A-451F-98FA-29B0AF6E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06814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BF0F5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1CB7424B-85A3-4F19-AC47-16BCB49F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06814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AD6B6-B4CD-4C06-AE18-E0842464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primer">
            <a:extLst xmlns:a="http://schemas.openxmlformats.org/drawingml/2006/main">
              <a:ext uri="{FF2B5EF4-FFF2-40B4-BE49-F238E27FC236}">
                <a16:creationId xmlns:a16="http://schemas.microsoft.com/office/drawing/2014/main" id="{C52C5195-AD9A-406C-AB60-545C6118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4092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 · ИЛУСТРАТИВНИ ПРИМЕР</a:t>
            </a:r>
          </a:p>
        </p:txBody>
      </p:sp>
      <p:sp>
        <p:nvSpPr>
          <p:cNvPr id="9" name="heading-primer">
            <a:extLst xmlns:a="http://schemas.openxmlformats.org/drawingml/2006/main">
              <a:ext uri="{FF2B5EF4-FFF2-40B4-BE49-F238E27FC236}">
                <a16:creationId xmlns:a16="http://schemas.microsoft.com/office/drawing/2014/main" id="{215B3997-C0C8-409D-B6C8-7AE7CA16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513713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839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Пример безбедносног захтева</a:t>
            </a:r>
          </a:p>
        </p:txBody>
      </p:sp>
      <p:sp>
        <p:nvSpPr>
          <p:cNvPr id="10" name="text-primer">
            <a:extLst xmlns:a="http://schemas.openxmlformats.org/drawingml/2006/main">
              <a:ext uri="{FF2B5EF4-FFF2-40B4-BE49-F238E27FC236}">
                <a16:creationId xmlns:a16="http://schemas.microsoft.com/office/drawing/2014/main" id="{4D7C6788-8F20-4D80-9139-F6B2632D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14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Илустративни пример показује како се општи радни модел претвара у проверљив пројектни задатак.</a:t>
            </a:r>
          </a:p>
        </p:txBody>
      </p:sp>
      <p:sp>
        <p:nvSpPr>
          <p:cNvPr id="11" name="text-primer">
            <a:extLst xmlns:a="http://schemas.openxmlformats.org/drawingml/2006/main">
              <a:ext uri="{FF2B5EF4-FFF2-40B4-BE49-F238E27FC236}">
                <a16:creationId xmlns:a16="http://schemas.microsoft.com/office/drawing/2014/main" id="{9ACC9D08-F951-4F5F-B675-98079F70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13031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ИМОВИНА</a:t>
            </a:r>
          </a:p>
        </p:txBody>
      </p:sp>
      <p:sp>
        <p:nvSpPr>
          <p:cNvPr id="12" name="text-primer">
            <a:extLst xmlns:a="http://schemas.openxmlformats.org/drawingml/2006/main">
              <a:ext uri="{FF2B5EF4-FFF2-40B4-BE49-F238E27FC236}">
                <a16:creationId xmlns:a16="http://schemas.microsoft.com/office/drawing/2014/main" id="{C0760778-7432-46C5-AA4A-46E78033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42147"/>
            <a:ext cx="190291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Извештаји</a:t>
            </a:r>
          </a:p>
        </p:txBody>
      </p:sp>
      <p:sp>
        <p:nvSpPr>
          <p:cNvPr id="13" name="text-primer">
            <a:extLst xmlns:a="http://schemas.openxmlformats.org/drawingml/2006/main">
              <a:ext uri="{FF2B5EF4-FFF2-40B4-BE49-F238E27FC236}">
                <a16:creationId xmlns:a16="http://schemas.microsoft.com/office/drawing/2014/main" id="{A42213EA-49A0-4825-810A-809B4B37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88793"/>
            <a:ext cx="43792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Извештаји једне организационе </a:t>
            </a:r>
          </a:p>
        </p:txBody>
      </p:sp>
      <p:sp>
        <p:nvSpPr>
          <p:cNvPr id="14" name="text-primer">
            <a:extLst xmlns:a="http://schemas.openxmlformats.org/drawingml/2006/main">
              <a:ext uri="{FF2B5EF4-FFF2-40B4-BE49-F238E27FC236}">
                <a16:creationId xmlns:a16="http://schemas.microsoft.com/office/drawing/2014/main" id="{E70DE380-D853-42E1-8221-DEC92CCE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62054"/>
            <a:ext cx="133275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целине.</a:t>
            </a:r>
          </a:p>
        </p:txBody>
      </p:sp>
      <p:sp>
        <p:nvSpPr>
          <p:cNvPr id="15" name="text-primer">
            <a:extLst xmlns:a="http://schemas.openxmlformats.org/drawingml/2006/main">
              <a:ext uri="{FF2B5EF4-FFF2-40B4-BE49-F238E27FC236}">
                <a16:creationId xmlns:a16="http://schemas.microsoft.com/office/drawing/2014/main" id="{99AF154D-91CA-41DB-B014-BA6B5C41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388816"/>
            <a:ext cx="11659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ПРЕТЊА</a:t>
            </a:r>
          </a:p>
        </p:txBody>
      </p:sp>
      <p:sp>
        <p:nvSpPr>
          <p:cNvPr id="16" name="text-primer">
            <a:extLst xmlns:a="http://schemas.openxmlformats.org/drawingml/2006/main">
              <a:ext uri="{FF2B5EF4-FFF2-40B4-BE49-F238E27FC236}">
                <a16:creationId xmlns:a16="http://schemas.microsoft.com/office/drawing/2014/main" id="{1FC2E4C5-CB90-4659-9091-34C64506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842147"/>
            <a:ext cx="31352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Неовлашћен извоз</a:t>
            </a:r>
          </a:p>
        </p:txBody>
      </p:sp>
      <p:sp>
        <p:nvSpPr>
          <p:cNvPr id="17" name="text-primer">
            <a:extLst xmlns:a="http://schemas.openxmlformats.org/drawingml/2006/main">
              <a:ext uri="{FF2B5EF4-FFF2-40B4-BE49-F238E27FC236}">
                <a16:creationId xmlns:a16="http://schemas.microsoft.com/office/drawing/2014/main" id="{4AF3B4B1-00C8-4600-9327-0A05FAF8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388793"/>
            <a:ext cx="415141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Корисник покушава да извезе </a:t>
            </a:r>
          </a:p>
        </p:txBody>
      </p:sp>
      <p:sp>
        <p:nvSpPr>
          <p:cNvPr id="18" name="text-primer">
            <a:extLst xmlns:a="http://schemas.openxmlformats.org/drawingml/2006/main">
              <a:ext uri="{FF2B5EF4-FFF2-40B4-BE49-F238E27FC236}">
                <a16:creationId xmlns:a16="http://schemas.microsoft.com/office/drawing/2014/main" id="{A2F8C365-9D0D-4CFD-9B55-8B50FC7D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762054"/>
            <a:ext cx="33161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податке другог домена.</a:t>
            </a:r>
          </a:p>
        </p:txBody>
      </p:sp>
      <p:sp>
        <p:nvSpPr>
          <p:cNvPr id="19" name="text-primer">
            <a:extLst xmlns:a="http://schemas.openxmlformats.org/drawingml/2006/main">
              <a:ext uri="{FF2B5EF4-FFF2-40B4-BE49-F238E27FC236}">
                <a16:creationId xmlns:a16="http://schemas.microsoft.com/office/drawing/2014/main" id="{1E07EB95-56D3-4DD5-A377-B0DDDEEF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388816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КОНТРОЛА</a:t>
            </a:r>
          </a:p>
        </p:txBody>
      </p:sp>
      <p:sp>
        <p:nvSpPr>
          <p:cNvPr id="20" name="text-primer">
            <a:extLst xmlns:a="http://schemas.openxmlformats.org/drawingml/2006/main">
              <a:ext uri="{FF2B5EF4-FFF2-40B4-BE49-F238E27FC236}">
                <a16:creationId xmlns:a16="http://schemas.microsoft.com/office/drawing/2014/main" id="{4947FF8C-1C26-446F-B822-9F0F84F6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842147"/>
            <a:ext cx="3042642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Серверска одлука</a:t>
            </a:r>
          </a:p>
        </p:txBody>
      </p:sp>
      <p:sp>
        <p:nvSpPr>
          <p:cNvPr id="21" name="text-primer">
            <a:extLst xmlns:a="http://schemas.openxmlformats.org/drawingml/2006/main">
              <a:ext uri="{FF2B5EF4-FFF2-40B4-BE49-F238E27FC236}">
                <a16:creationId xmlns:a16="http://schemas.microsoft.com/office/drawing/2014/main" id="{0D77C339-9D1E-4203-BEB9-5074E15E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388793"/>
            <a:ext cx="438879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Провера дозволе report.export и </a:t>
            </a:r>
          </a:p>
        </p:txBody>
      </p:sp>
      <p:sp>
        <p:nvSpPr>
          <p:cNvPr id="22" name="text-primer">
            <a:extLst xmlns:a="http://schemas.openxmlformats.org/drawingml/2006/main">
              <a:ext uri="{FF2B5EF4-FFF2-40B4-BE49-F238E27FC236}">
                <a16:creationId xmlns:a16="http://schemas.microsoft.com/office/drawing/2014/main" id="{6A9FF53E-5A10-4505-B0CC-5E45BDEC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762054"/>
            <a:ext cx="231278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опсега ресурса.</a:t>
            </a:r>
          </a:p>
        </p:txBody>
      </p:sp>
      <p:sp>
        <p:nvSpPr>
          <p:cNvPr id="23" name="text-primer">
            <a:extLst xmlns:a="http://schemas.openxmlformats.org/drawingml/2006/main">
              <a:ext uri="{FF2B5EF4-FFF2-40B4-BE49-F238E27FC236}">
                <a16:creationId xmlns:a16="http://schemas.microsoft.com/office/drawing/2014/main" id="{2390093B-419E-4ED9-AD5F-170F18BF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97314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Доказ</a:t>
            </a:r>
          </a:p>
        </p:txBody>
      </p:sp>
      <p:sp>
        <p:nvSpPr>
          <p:cNvPr id="24" name="text-primer">
            <a:extLst xmlns:a="http://schemas.openxmlformats.org/drawingml/2006/main">
              <a:ext uri="{FF2B5EF4-FFF2-40B4-BE49-F238E27FC236}">
                <a16:creationId xmlns:a16="http://schemas.microsoft.com/office/drawing/2014/main" id="{0F8615ED-CDD7-4BE5-B631-69280EFA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03020"/>
            <a:ext cx="1046232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Allow тест у додељеном домену, deny тест ван њега и ревизиони запис о исходу.</a:t>
            </a:r>
          </a:p>
        </p:txBody>
      </p:sp>
      <p:sp>
        <p:nvSpPr>
          <p:cNvPr id="25" name="text-primer">
            <a:extLst xmlns:a="http://schemas.openxmlformats.org/drawingml/2006/main">
              <a:ext uri="{FF2B5EF4-FFF2-40B4-BE49-F238E27FC236}">
                <a16:creationId xmlns:a16="http://schemas.microsoft.com/office/drawing/2014/main" id="{9F2C5EDC-1267-40A8-9272-8BCDDBFB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6" name="text-primer">
            <a:extLst xmlns:a="http://schemas.openxmlformats.org/drawingml/2006/main">
              <a:ext uri="{FF2B5EF4-FFF2-40B4-BE49-F238E27FC236}">
                <a16:creationId xmlns:a16="http://schemas.microsoft.com/office/drawing/2014/main" id="{4EC0F0F5-FA8C-4CEC-A95B-A1F0D187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9014497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A5CA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7D060-E96C-4DA4-89A6-F26F51D8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8F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CD5D7-A34E-4666-9B88-D9D54755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BA"/>
          </a:solidFill>
          <a:ln xmlns:a="http://schemas.openxmlformats.org/drawingml/2006/main" w="0">
            <a:noFill/>
          </a:ln>
        </p:spPr>
      </p:sp>
      <p:sp>
        <p:nvSpPr>
          <p:cNvPr id="3" name="text-rezime">
            <a:extLst xmlns:a="http://schemas.openxmlformats.org/drawingml/2006/main">
              <a:ext uri="{FF2B5EF4-FFF2-40B4-BE49-F238E27FC236}">
                <a16:creationId xmlns:a16="http://schemas.microsoft.com/office/drawing/2014/main" id="{85F66835-EBF4-4FE6-899B-B8D35A8E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12802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DCE8F4"/>
                </a:solidFill>
                <a:latin typeface="IBM Plex Mono"/>
                <a:ea typeface="IBM Plex Mono"/>
                <a:cs typeface="IBM Plex Mono"/>
              </a:rPr>
              <a:t>РЕЗИМЕ</a:t>
            </a:r>
          </a:p>
        </p:txBody>
      </p:sp>
      <p:sp>
        <p:nvSpPr>
          <p:cNvPr id="4" name="heading-rezime">
            <a:extLst xmlns:a="http://schemas.openxmlformats.org/drawingml/2006/main">
              <a:ext uri="{FF2B5EF4-FFF2-40B4-BE49-F238E27FC236}">
                <a16:creationId xmlns:a16="http://schemas.microsoft.com/office/drawing/2014/main" id="{6F85549C-2DE8-40C1-B2E0-2B99041B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7148959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F6F7F5"/>
                </a:solidFill>
                <a:latin typeface="IBM Plex Sans"/>
                <a:ea typeface="IBM Plex Sans"/>
                <a:cs typeface="IBM Plex Sans"/>
              </a:rPr>
              <a:t>Захтев, контрола и доказ</a:t>
            </a:r>
          </a:p>
        </p:txBody>
      </p:sp>
      <p:sp>
        <p:nvSpPr>
          <p:cNvPr id="5" name="text-rezime">
            <a:extLst xmlns:a="http://schemas.openxmlformats.org/drawingml/2006/main">
              <a:ext uri="{FF2B5EF4-FFF2-40B4-BE49-F238E27FC236}">
                <a16:creationId xmlns:a16="http://schemas.microsoft.com/office/drawing/2014/main" id="{B878A883-E73F-49D6-B049-149AF8D8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3580"/>
            <a:ext cx="1600587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>
                <a:latin typeface="IBM Plex Sans"/>
                <a:ea typeface="IBM Plex Sans"/>
                <a:cs typeface="IBM Plex Sans"/>
              </a:defRPr>
            </a:pPr>
            <a:r>
              <a:rPr sz="3000" b="0">
                <a:solidFill>
                  <a:srgbClr val="F6F7F5"/>
                </a:solidFill>
                <a:latin typeface="IBM Plex Sans"/>
                <a:ea typeface="IBM Plex Sans"/>
                <a:cs typeface="IBM Plex Sans"/>
              </a:rPr>
              <a:t>Провера напретка тима обухвата исправну имплементацију и објашњење безбедносне </a:t>
            </a:r>
          </a:p>
        </p:txBody>
      </p:sp>
      <p:sp>
        <p:nvSpPr>
          <p:cNvPr id="6" name="text-rezime">
            <a:extLst xmlns:a="http://schemas.openxmlformats.org/drawingml/2006/main">
              <a:ext uri="{FF2B5EF4-FFF2-40B4-BE49-F238E27FC236}">
                <a16:creationId xmlns:a16="http://schemas.microsoft.com/office/drawing/2014/main" id="{B39BEF2B-0AFC-4A71-A6BB-1C86CA67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86980"/>
            <a:ext cx="170691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>
                <a:latin typeface="IBM Plex Sans"/>
                <a:ea typeface="IBM Plex Sans"/>
                <a:cs typeface="IBM Plex Sans"/>
              </a:defRPr>
            </a:pPr>
            <a:r>
              <a:rPr sz="3000" b="0">
                <a:solidFill>
                  <a:srgbClr val="F6F7F5"/>
                </a:solidFill>
                <a:latin typeface="IBM Plex Sans"/>
                <a:ea typeface="IBM Plex Sans"/>
                <a:cs typeface="IBM Plex Sans"/>
              </a:rPr>
              <a:t>одлуке.</a:t>
            </a:r>
          </a:p>
        </p:txBody>
      </p:sp>
      <p:sp>
        <p:nvSpPr>
          <p:cNvPr id="7" name="text-rezime">
            <a:extLst xmlns:a="http://schemas.openxmlformats.org/drawingml/2006/main">
              <a:ext uri="{FF2B5EF4-FFF2-40B4-BE49-F238E27FC236}">
                <a16:creationId xmlns:a16="http://schemas.microsoft.com/office/drawing/2014/main" id="{C8CC5CF7-A11E-4D29-8C45-AD07235E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15655"/>
            <a:ext cx="1580792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DCE8F4"/>
                </a:solidFill>
                <a:latin typeface="IBM Plex Sans"/>
                <a:ea typeface="IBM Plex Sans"/>
                <a:cs typeface="IBM Plex Sans"/>
              </a:rPr>
              <a:t>Начин полагања одређује обавезе. Пројектни рад оставља проверљив индивидуални допринос. Контролне </a:t>
            </a:r>
          </a:p>
        </p:txBody>
      </p:sp>
      <p:sp>
        <p:nvSpPr>
          <p:cNvPr id="8" name="text-rezime">
            <a:extLst xmlns:a="http://schemas.openxmlformats.org/drawingml/2006/main">
              <a:ext uri="{FF2B5EF4-FFF2-40B4-BE49-F238E27FC236}">
                <a16:creationId xmlns:a16="http://schemas.microsoft.com/office/drawing/2014/main" id="{F38ED1D8-6D41-493E-8827-609C37AE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2346"/>
            <a:ext cx="495180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DCE8F4"/>
                </a:solidFill>
                <a:latin typeface="IBM Plex Sans"/>
                <a:ea typeface="IBM Plex Sans"/>
                <a:cs typeface="IBM Plex Sans"/>
              </a:rPr>
              <a:t>тачке повезују рад са доказима.</a:t>
            </a:r>
          </a:p>
        </p:txBody>
      </p:sp>
      <p:sp>
        <p:nvSpPr>
          <p:cNvPr id="9" name="text-rezime">
            <a:extLst xmlns:a="http://schemas.openxmlformats.org/drawingml/2006/main">
              <a:ext uri="{FF2B5EF4-FFF2-40B4-BE49-F238E27FC236}">
                <a16:creationId xmlns:a16="http://schemas.microsoft.com/office/drawing/2014/main" id="{6BA6F509-0666-43A8-90A6-AD99EC9B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3836"/>
            <a:ext cx="725254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F6F7F5"/>
                </a:solidFill>
                <a:latin typeface="IBM Plex Sans"/>
                <a:ea typeface="IBM Plex Sans"/>
                <a:cs typeface="IBM Plex Sans"/>
              </a:rPr>
              <a:t>Следећа тема: идентитет, аутентикација и RBAC</a:t>
            </a:r>
          </a:p>
        </p:txBody>
      </p:sp>
      <p:sp>
        <p:nvSpPr>
          <p:cNvPr id="10" name="text-rezime">
            <a:extLst xmlns:a="http://schemas.openxmlformats.org/drawingml/2006/main">
              <a:ext uri="{FF2B5EF4-FFF2-40B4-BE49-F238E27FC236}">
                <a16:creationId xmlns:a16="http://schemas.microsoft.com/office/drawing/2014/main" id="{179C962B-1E01-42BD-924F-FC27C41E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DCE8F4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1" name="text-rezime">
            <a:extLst xmlns:a="http://schemas.openxmlformats.org/drawingml/2006/main">
              <a:ext uri="{FF2B5EF4-FFF2-40B4-BE49-F238E27FC236}">
                <a16:creationId xmlns:a16="http://schemas.microsoft.com/office/drawing/2014/main" id="{9F4AD59F-8390-418B-96B2-E29269A6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DCE8F4"/>
                </a:solidFill>
                <a:latin typeface="IBM Plex Mono"/>
                <a:ea typeface="IBM Plex Mono"/>
                <a:cs typeface="IBM Plex Mono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636874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2026-10-09T19:43:03.0540000Z</dcterms:created>
  <dcterms:modified xsi:type="dcterms:W3CDTF">2026-10-09T19:43:03.0540000Z</dcterms:modified>
</coreProperties>
</file>