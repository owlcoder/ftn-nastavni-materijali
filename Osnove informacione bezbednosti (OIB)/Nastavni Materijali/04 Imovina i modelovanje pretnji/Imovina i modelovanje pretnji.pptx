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a6c70c98b74bcd" /><Relationship Type="http://schemas.openxmlformats.org/officeDocument/2006/relationships/extended-properties" Target="/docProps/app.xml" Id="Rddd7e077618d4a4e" /><Relationship Type="http://schemas.openxmlformats.org/officeDocument/2006/relationships/officeDocument" Target="/ppt/presentation.xml" Id="R605e2ea4f89c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b948bae5347de"/>
  </p:sldMasterIdLst>
  <p:notesMasterIdLst>
    <p:notesMasterId xmlns:r="http://schemas.openxmlformats.org/officeDocument/2006/relationships" r:id="R9a91560a2de743fb"/>
  </p:notesMasterIdLst>
  <p:sldIdLst>
    <p:sldId xmlns:r="http://schemas.openxmlformats.org/officeDocument/2006/relationships" id="256" r:id="Reeb2fe2f06c64541"/>
    <p:sldId xmlns:r="http://schemas.openxmlformats.org/officeDocument/2006/relationships" id="257" r:id="Rda951452ecd9486f"/>
    <p:sldId xmlns:r="http://schemas.openxmlformats.org/officeDocument/2006/relationships" id="258" r:id="R9b34e3e477d74593"/>
    <p:sldId xmlns:r="http://schemas.openxmlformats.org/officeDocument/2006/relationships" id="259" r:id="R5f552f157b934160"/>
    <p:sldId xmlns:r="http://schemas.openxmlformats.org/officeDocument/2006/relationships" id="260" r:id="Rb4cc6cbbad7b4dc3"/>
    <p:sldId xmlns:r="http://schemas.openxmlformats.org/officeDocument/2006/relationships" id="261" r:id="Reec08ec1c25644d9"/>
    <p:sldId xmlns:r="http://schemas.openxmlformats.org/officeDocument/2006/relationships" id="262" r:id="Re69f8da2d3a64c37"/>
    <p:sldId xmlns:r="http://schemas.openxmlformats.org/officeDocument/2006/relationships" id="263" r:id="R236d9c925b794f0d"/>
    <p:sldId xmlns:r="http://schemas.openxmlformats.org/officeDocument/2006/relationships" id="264" r:id="R51199af160e94bb8"/>
    <p:sldId xmlns:r="http://schemas.openxmlformats.org/officeDocument/2006/relationships" id="265" r:id="Rb147975fdbd0441b"/>
    <p:sldId xmlns:r="http://schemas.openxmlformats.org/officeDocument/2006/relationships" id="266" r:id="Rc14d71dfc3e74192"/>
    <p:sldId xmlns:r="http://schemas.openxmlformats.org/officeDocument/2006/relationships" id="267" r:id="R6b008028900c4528"/>
    <p:sldId xmlns:r="http://schemas.openxmlformats.org/officeDocument/2006/relationships" id="268" r:id="Rd309611a4d12498c"/>
    <p:sldId xmlns:r="http://schemas.openxmlformats.org/officeDocument/2006/relationships" id="269" r:id="Rae1a6e84faf74898"/>
    <p:sldId xmlns:r="http://schemas.openxmlformats.org/officeDocument/2006/relationships" id="270" r:id="Raf39befbd0934f99"/>
    <p:sldId xmlns:r="http://schemas.openxmlformats.org/officeDocument/2006/relationships" id="271" r:id="Rb9550a65ce1f436c"/>
    <p:sldId xmlns:r="http://schemas.openxmlformats.org/officeDocument/2006/relationships" id="272" r:id="Rb36860a2a73b472c"/>
    <p:sldId xmlns:r="http://schemas.openxmlformats.org/officeDocument/2006/relationships" id="273" r:id="R34e721428dbd48ab"/>
    <p:sldId xmlns:r="http://schemas.openxmlformats.org/officeDocument/2006/relationships" id="274" r:id="R76cc9717c1d64e0d"/>
    <p:sldId xmlns:r="http://schemas.openxmlformats.org/officeDocument/2006/relationships" id="275" r:id="Rb37d04d21aaf4a8a"/>
    <p:sldId xmlns:r="http://schemas.openxmlformats.org/officeDocument/2006/relationships" id="276" r:id="Rb2636e9c6a6c4be0"/>
    <p:sldId xmlns:r="http://schemas.openxmlformats.org/officeDocument/2006/relationships" id="277" r:id="R97b2f94e4cf745c5"/>
    <p:sldId xmlns:r="http://schemas.openxmlformats.org/officeDocument/2006/relationships" id="278" r:id="R5c5a3d736e7946b2"/>
    <p:sldId xmlns:r="http://schemas.openxmlformats.org/officeDocument/2006/relationships" id="279" r:id="R3458f276aad6403d"/>
    <p:sldId xmlns:r="http://schemas.openxmlformats.org/officeDocument/2006/relationships" id="280" r:id="Re541d9756b8846c0"/>
    <p:sldId xmlns:r="http://schemas.openxmlformats.org/officeDocument/2006/relationships" id="281" r:id="R17d2d24300fc4dd7"/>
    <p:sldId xmlns:r="http://schemas.openxmlformats.org/officeDocument/2006/relationships" id="282" r:id="R8bcc0742a21f4644"/>
    <p:sldId xmlns:r="http://schemas.openxmlformats.org/officeDocument/2006/relationships" id="283" r:id="Re0ef21c2781f440e"/>
    <p:sldId xmlns:r="http://schemas.openxmlformats.org/officeDocument/2006/relationships" id="284" r:id="R90ec89e281b449c7"/>
    <p:sldId xmlns:r="http://schemas.openxmlformats.org/officeDocument/2006/relationships" id="285" r:id="Raf98ed95828a4f9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338c070a14278" /><Relationship Type="http://schemas.openxmlformats.org/officeDocument/2006/relationships/slideMaster" Target="/ppt/slideMasters/slideMaster1.xml" Id="R401b948bae5347de" /><Relationship Type="http://schemas.openxmlformats.org/officeDocument/2006/relationships/notesMaster" Target="/ppt/notesMasters/notesMaster1.xml" Id="R9a91560a2de743fb" /><Relationship Type="http://schemas.openxmlformats.org/officeDocument/2006/relationships/presProps" Target="/ppt/presProps.xml" Id="R705065b5e4234c6e" /><Relationship Type="http://schemas.openxmlformats.org/officeDocument/2006/relationships/tableStyles" Target="/ppt/tableStyles.xml" Id="R21a7da38802f4e52" /><Relationship Type="http://schemas.openxmlformats.org/officeDocument/2006/relationships/slide" Target="/ppt/slides/slide1.xml" Id="Reeb2fe2f06c64541" /><Relationship Type="http://schemas.openxmlformats.org/officeDocument/2006/relationships/slide" Target="/ppt/slides/slide2.xml" Id="Rda951452ecd9486f" /><Relationship Type="http://schemas.openxmlformats.org/officeDocument/2006/relationships/slide" Target="/ppt/slides/slide3.xml" Id="R9b34e3e477d74593" /><Relationship Type="http://schemas.openxmlformats.org/officeDocument/2006/relationships/slide" Target="/ppt/slides/slide4.xml" Id="R5f552f157b934160" /><Relationship Type="http://schemas.openxmlformats.org/officeDocument/2006/relationships/slide" Target="/ppt/slides/slide5.xml" Id="Rb4cc6cbbad7b4dc3" /><Relationship Type="http://schemas.openxmlformats.org/officeDocument/2006/relationships/slide" Target="/ppt/slides/slide6.xml" Id="Reec08ec1c25644d9" /><Relationship Type="http://schemas.openxmlformats.org/officeDocument/2006/relationships/slide" Target="/ppt/slides/slide7.xml" Id="Re69f8da2d3a64c37" /><Relationship Type="http://schemas.openxmlformats.org/officeDocument/2006/relationships/slide" Target="/ppt/slides/slide8.xml" Id="R236d9c925b794f0d" /><Relationship Type="http://schemas.openxmlformats.org/officeDocument/2006/relationships/slide" Target="/ppt/slides/slide9.xml" Id="R51199af160e94bb8" /><Relationship Type="http://schemas.openxmlformats.org/officeDocument/2006/relationships/slide" Target="/ppt/slides/slide10.xml" Id="Rb147975fdbd0441b" /><Relationship Type="http://schemas.openxmlformats.org/officeDocument/2006/relationships/slide" Target="/ppt/slides/slide11.xml" Id="Rc14d71dfc3e74192" /><Relationship Type="http://schemas.openxmlformats.org/officeDocument/2006/relationships/slide" Target="/ppt/slides/slide12.xml" Id="R6b008028900c4528" /><Relationship Type="http://schemas.openxmlformats.org/officeDocument/2006/relationships/slide" Target="/ppt/slides/slide13.xml" Id="Rd309611a4d12498c" /><Relationship Type="http://schemas.openxmlformats.org/officeDocument/2006/relationships/slide" Target="/ppt/slides/slide14.xml" Id="Rae1a6e84faf74898" /><Relationship Type="http://schemas.openxmlformats.org/officeDocument/2006/relationships/slide" Target="/ppt/slides/slide15.xml" Id="Raf39befbd0934f99" /><Relationship Type="http://schemas.openxmlformats.org/officeDocument/2006/relationships/slide" Target="/ppt/slides/slide16.xml" Id="Rb9550a65ce1f436c" /><Relationship Type="http://schemas.openxmlformats.org/officeDocument/2006/relationships/slide" Target="/ppt/slides/slide17.xml" Id="Rb36860a2a73b472c" /><Relationship Type="http://schemas.openxmlformats.org/officeDocument/2006/relationships/slide" Target="/ppt/slides/slide18.xml" Id="R34e721428dbd48ab" /><Relationship Type="http://schemas.openxmlformats.org/officeDocument/2006/relationships/slide" Target="/ppt/slides/slide19.xml" Id="R76cc9717c1d64e0d" /><Relationship Type="http://schemas.openxmlformats.org/officeDocument/2006/relationships/slide" Target="/ppt/slides/slide20.xml" Id="Rb37d04d21aaf4a8a" /><Relationship Type="http://schemas.openxmlformats.org/officeDocument/2006/relationships/slide" Target="/ppt/slides/slide21.xml" Id="Rb2636e9c6a6c4be0" /><Relationship Type="http://schemas.openxmlformats.org/officeDocument/2006/relationships/slide" Target="/ppt/slides/slide22.xml" Id="R97b2f94e4cf745c5" /><Relationship Type="http://schemas.openxmlformats.org/officeDocument/2006/relationships/slide" Target="/ppt/slides/slide23.xml" Id="R5c5a3d736e7946b2" /><Relationship Type="http://schemas.openxmlformats.org/officeDocument/2006/relationships/slide" Target="/ppt/slides/slide24.xml" Id="R3458f276aad6403d" /><Relationship Type="http://schemas.openxmlformats.org/officeDocument/2006/relationships/slide" Target="/ppt/slides/slide25.xml" Id="Re541d9756b8846c0" /><Relationship Type="http://schemas.openxmlformats.org/officeDocument/2006/relationships/slide" Target="/ppt/slides/slide26.xml" Id="R17d2d24300fc4dd7" /><Relationship Type="http://schemas.openxmlformats.org/officeDocument/2006/relationships/slide" Target="/ppt/slides/slide27.xml" Id="R8bcc0742a21f4644" /><Relationship Type="http://schemas.openxmlformats.org/officeDocument/2006/relationships/slide" Target="/ppt/slides/slide28.xml" Id="Re0ef21c2781f440e" /><Relationship Type="http://schemas.openxmlformats.org/officeDocument/2006/relationships/slide" Target="/ppt/slides/slide29.xml" Id="R90ec89e281b449c7" /><Relationship Type="http://schemas.openxmlformats.org/officeDocument/2006/relationships/slide" Target="/ppt/slides/slide30.xml" Id="Raf98ed95828a4f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d3a63014e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b07aa5b61746e1" /><Relationship Type="http://schemas.openxmlformats.org/officeDocument/2006/relationships/notesMaster" Target="/ppt/notesMasters/notesMaster1.xml" Id="Rbcda244f9b574a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3a5b6780744306" /><Relationship Type="http://schemas.openxmlformats.org/officeDocument/2006/relationships/notesMaster" Target="/ppt/notesMasters/notesMaster1.xml" Id="R9c7be4ffaba642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0d8fc3bfd4dde" /><Relationship Type="http://schemas.openxmlformats.org/officeDocument/2006/relationships/notesMaster" Target="/ppt/notesMasters/notesMaster1.xml" Id="Rabb01b52c62642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2261ee14b4a1a" /><Relationship Type="http://schemas.openxmlformats.org/officeDocument/2006/relationships/notesMaster" Target="/ppt/notesMasters/notesMaster1.xml" Id="R341619e20f96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5e7b380134c0e" /><Relationship Type="http://schemas.openxmlformats.org/officeDocument/2006/relationships/notesMaster" Target="/ppt/notesMasters/notesMaster1.xml" Id="Rccf81eef0cc64e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57483e0c1446db" /><Relationship Type="http://schemas.openxmlformats.org/officeDocument/2006/relationships/notesMaster" Target="/ppt/notesMasters/notesMaster1.xml" Id="R6e105c8272e14f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5fa2fe8d9492a" /><Relationship Type="http://schemas.openxmlformats.org/officeDocument/2006/relationships/notesMaster" Target="/ppt/notesMasters/notesMaster1.xml" Id="R305e922c79f847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56508cbb7448b8" /><Relationship Type="http://schemas.openxmlformats.org/officeDocument/2006/relationships/notesMaster" Target="/ppt/notesMasters/notesMaster1.xml" Id="Rf3d1ea8f16b44f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fa649d2cb2400c" /><Relationship Type="http://schemas.openxmlformats.org/officeDocument/2006/relationships/notesMaster" Target="/ppt/notesMasters/notesMaster1.xml" Id="R45c6b0763bb348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ee992e3d8344a6" /><Relationship Type="http://schemas.openxmlformats.org/officeDocument/2006/relationships/notesMaster" Target="/ppt/notesMasters/notesMaster1.xml" Id="Rcaf3e1a5832b4f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8bdfd97deb4efa" /><Relationship Type="http://schemas.openxmlformats.org/officeDocument/2006/relationships/notesMaster" Target="/ppt/notesMasters/notesMaster1.xml" Id="R861fb874e1134b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82e3a075e54458" /><Relationship Type="http://schemas.openxmlformats.org/officeDocument/2006/relationships/notesMaster" Target="/ppt/notesMasters/notesMaster1.xml" Id="R70fa623bc18f4a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a23d9c06f94907" /><Relationship Type="http://schemas.openxmlformats.org/officeDocument/2006/relationships/notesMaster" Target="/ppt/notesMasters/notesMaster1.xml" Id="R8ae5cf58757448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93d445b07248b3" /><Relationship Type="http://schemas.openxmlformats.org/officeDocument/2006/relationships/notesMaster" Target="/ppt/notesMasters/notesMaster1.xml" Id="R73b8ab6aa1a049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a483cbd1d84225" /><Relationship Type="http://schemas.openxmlformats.org/officeDocument/2006/relationships/notesMaster" Target="/ppt/notesMasters/notesMaster1.xml" Id="R19e96b52e77742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e16e4b55164f0b" /><Relationship Type="http://schemas.openxmlformats.org/officeDocument/2006/relationships/notesMaster" Target="/ppt/notesMasters/notesMaster1.xml" Id="Ra7b9805cefd940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85b41c8a784467" /><Relationship Type="http://schemas.openxmlformats.org/officeDocument/2006/relationships/notesMaster" Target="/ppt/notesMasters/notesMaster1.xml" Id="R50608b2bcc9b44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1e7696cf7e4427" /><Relationship Type="http://schemas.openxmlformats.org/officeDocument/2006/relationships/notesMaster" Target="/ppt/notesMasters/notesMaster1.xml" Id="R5aa2131381fd4e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a08cd4b9454f45" /><Relationship Type="http://schemas.openxmlformats.org/officeDocument/2006/relationships/notesMaster" Target="/ppt/notesMasters/notesMaster1.xml" Id="R80c2537af4f140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5c1f8a2d7d43d3" /><Relationship Type="http://schemas.openxmlformats.org/officeDocument/2006/relationships/notesMaster" Target="/ppt/notesMasters/notesMaster1.xml" Id="R99efeb9e0d8045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6dda5fc0b34fb4" /><Relationship Type="http://schemas.openxmlformats.org/officeDocument/2006/relationships/notesMaster" Target="/ppt/notesMasters/notesMaster1.xml" Id="R71a36571409849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ffd12add324fa5" /><Relationship Type="http://schemas.openxmlformats.org/officeDocument/2006/relationships/notesMaster" Target="/ppt/notesMasters/notesMaster1.xml" Id="R37627cb1f59848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ce94f894554b3a" /><Relationship Type="http://schemas.openxmlformats.org/officeDocument/2006/relationships/notesMaster" Target="/ppt/notesMasters/notesMaster1.xml" Id="Rb08ea3b2d2924f2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48259bb3d0438f" /><Relationship Type="http://schemas.openxmlformats.org/officeDocument/2006/relationships/notesMaster" Target="/ppt/notesMasters/notesMaster1.xml" Id="Ra35b7daabef349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63191fadfd48f8" /><Relationship Type="http://schemas.openxmlformats.org/officeDocument/2006/relationships/notesMaster" Target="/ppt/notesMasters/notesMaster1.xml" Id="R80af72f9464844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7fd1f00c024e53" /><Relationship Type="http://schemas.openxmlformats.org/officeDocument/2006/relationships/notesMaster" Target="/ppt/notesMasters/notesMaster1.xml" Id="Re19e2942f72548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4a3b8d83a54144" /><Relationship Type="http://schemas.openxmlformats.org/officeDocument/2006/relationships/notesMaster" Target="/ppt/notesMasters/notesMaster1.xml" Id="R3609522942fc43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72a1cd6e5d4efa" /><Relationship Type="http://schemas.openxmlformats.org/officeDocument/2006/relationships/notesMaster" Target="/ppt/notesMasters/notesMaster1.xml" Id="R60c6e9987b2e45c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45ea19bf5147cc" /><Relationship Type="http://schemas.openxmlformats.org/officeDocument/2006/relationships/notesMaster" Target="/ppt/notesMasters/notesMaster1.xml" Id="Ra7d68e92c20f421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2f90879286482f" /><Relationship Type="http://schemas.openxmlformats.org/officeDocument/2006/relationships/notesMaster" Target="/ppt/notesMasters/notesMaster1.xml" Id="R2387da73b16746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Академска 2026/27.&lt;br&gt;Исходни слајд 1 — садржај: ОСНОВЕ ИНФОРМАЦИОНЕ БЕЗБЕДНОСТИ&lt;br&gt;Имовина, границе поверења и threat modeling&lt;br&gt;Идентификација имовине, токова података и граница поверења&lt;br&gt;Факултет техничких наука · Универзитет у Новом Саду&lt;br&gt;Академска 2026/27.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Презентација је организована у четири тематске целине. Опсези слајдова су наведени у садржају.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2 — садржај: Основе информационе безбедности&lt;br&gt;2&lt;br&gt;Имовина и границе поверења&lt;br&gt;Анализа претњи полази од вредне имовине, токова података, граница поверења и последица могућег нарушавања.&lt;br&gt;ПРЕДМЕТ АНАЛИЗЕ&lt;br&gt;Ризик који се анализира&lt;br&gt;Безбедносна одлука полази од вредне имовине, тока података и граница поверења. На тој основи тим идентификује релевантну претњу и бира контролу примерену конкретном ризику.&lt;br&gt;ЗНАЧАЈ&lt;br&gt;Значај за безбедност система&lt;br&gt;Моделовање претњи повезује техничку структуру система са пословним последицама и омогућава рану проверу безбедносних претпоставки.&lt;br&gt;КРИТЕРИЈУМ ПРОВЕРЕ&lt;br&gt;Проверљив резултат&lt;br&gt;Одлука је јасна, примењује се на серверу и оставља поновљив доказ успешног и одбијеног исхода.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Разумети вредност податка пре него што се изабере контрола.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3 — садржај: Основе информационе безбедности&lt;br&gt;3&lt;br&gt;Основни појмови&lt;br&gt;Имовина, ток података, граница поверења и претња одређују обим анализе и избор контроле.&lt;br&gt;01&lt;br&gt;Имовина&lt;br&gt;вредан податак или сервис&lt;br&gt;02&lt;br&gt;Ток података&lt;br&gt;кретање информације&lt;br&gt;03&lt;br&gt;Граница поверења&lt;br&gt;промена претпоставки&lt;br&gt;04&lt;br&gt;Претња и контрола&lt;br&gt;ризик и одговор&lt;br&gt;ЗАКЉУЧАК&lt;br&gt;Претња добија смисао тек када се веже за конкретну имовину, ток и последицу.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4 — садржај: Основе информационе безбедности&lt;br&gt;4&lt;br&gt;Имовина&lt;br&gt;вредан податак или сервис&lt;br&gt;01&lt;br&gt;Имовина има власника, значај за пословање и животни циклус.&lt;br&gt;Питање: који улаз покреће ову одлуку?&lt;br&gt;02&lt;br&gt;Утицај на пословање је оцена имовине, а не особина појединачне претње.&lt;br&gt;Питање: која граница мора бити видљива?&lt;br&gt;03&lt;br&gt;Инвентар је користан тек када се оцена имовине користи у процени ризика.&lt;br&gt;Питање: који доказ остаје после исхода?&lt;br&gt;ПИТАЊЕ ЗА АНАЛИЗУ&lt;br&gt;Која имовина у вашој целини има највећи пословни утицај и ко је њен власник?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5 — садржај: Основе информационе безбедности&lt;br&gt;5&lt;br&gt;Ток података&lt;br&gt;кретање информације&lt;br&gt;01&lt;br&gt;Ток података показује одакле информација долази, куда иде и ко је успут обрађује.&lt;br&gt;Питање: који улаз покреће ову одлуку?&lt;br&gt;02&lt;br&gt;Сваки ток је везан за имовину коју преноси, па наслеђује њен значај.&lt;br&gt;Питање: која граница мора бити видљива?&lt;br&gt;03&lt;br&gt;Дијаграм тока се ажурира када се промени интеграција, извоз или место чувања.&lt;br&gt;Питање: који доказ остаје после исхода?&lt;br&gt;ПИТАЊЕ ЗА АНАЛИЗУ&lt;br&gt;Који ток осетљивог податка у вашем систему има највише учесника?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Додати илустративни инвентар. Повезивање имовине, токова и претпоставки: https://cheatsheetseries.owasp.org/cheatsheets/Threat_Modeling_Cheat_Sheet.html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Уцртати места на којима се мењају претпоставке о идентитету и подацима.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6 — садржај: Основе информационе безбедности&lt;br&gt;6&lt;br&gt;Граница поверења&lt;br&gt;промена претпоставки&lt;br&gt;01&lt;br&gt;Граница поверења је место где престаје да важи претпоставка о пореклу и исправности податка.&lt;br&gt;Питање: који улаз покреће ову одлуку?&lt;br&gt;02&lt;br&gt;Ток који прелази границу поверења носи већи ризик и тражи експлицитну проверу.&lt;br&gt;Питање: која граница мора бити видљива?&lt;br&gt;03&lt;br&gt;За сваку границу се бележи која претпоставка више не важи и која је контрола замењује.&lt;br&gt;Питање: који доказ остаје после исхода?&lt;br&gt;ПИТАЊЕ ЗА АНАЛИЗУ&lt;br&gt;Који ток осетљивог податка прелази границу поверења и на ком месту се претпоставка мења?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8 — садржај: Основе информационе безбедности&lt;br&gt;8&lt;br&gt;Имовина, рањивост и претња&lt;br&gt;Поређење приказује функцију сваког елемента и ограничење његове самосталне примене.&lt;br&gt;Појам&lt;br&gt;Значење&lt;br&gt;Питање за анализу&lt;br&gt;Имовина&lt;br&gt;Оно чија вредност захтева заштиту.&lt;br&gt;Шта губимо ако је угрожена?&lt;br&gt;Рањивост&lt;br&gt;Слабост коју је могуће искористити.&lt;br&gt;Где систем нема довољну заштиту?&lt;br&gt;Претња&lt;br&gt;Могући узрок нежељеног исхода.&lt;br&gt;Ко или шта може активирати слабост?&lt;br&gt;Ризик&lt;br&gt;Комбинација вероватноће и последице.&lt;br&gt;Шта прво треба умањити?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DFD обухвата актере, процесе, складишта, токове и границе поверења. Извор: https://cheatsheetseries.owasp.org/cheatsheets/Threat_Modeling_Cheat_Sheet.html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10 — садржај: Основе информационе безбедности&lt;br&gt;10&lt;br&gt;Читање архитектонске скице кроз безбедност&lt;br&gt;Процес приказује улазе, место одлуке и доказ који остаје после исхода.&lt;br&gt;КОНТЕКСТ&lt;br&gt;Читање архитектонске скице кроз безбедност&lt;br&gt;Архитектонска скица добија безбедносну вредност када се преко компоненти уцртају подаци, идентитети и границе поверења. Није потребно цртати сваку класу. Довољно је показати делове кроз које пролази вредна информација и одлуке које мењају њен статус.&lt;br&gt;01&lt;br&gt;Означити улазе које контролише корисник или спољашњи сервис.&lt;br&gt;02&lt;br&gt;Означити место где се идентитет или дозвола поново проверавају.&lt;br&gt;03&lt;br&gt;Означити складишта, кључеве и интеграције које мењају последицу инцидента.&lt;br&gt;04&lt;br&gt;Уз сваку границу записати једну реалну претпоставку која може бити погрешна.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9 — садржај: Основе информационе безбедности&lt;br&gt;9&lt;br&gt;Модел threat модела&lt;br&gt;Претња добија смисао тек када се веже за конкретну имовину, ток и последицу.&lt;br&gt;01&lt;br&gt;Имовина&lt;br&gt;шта штитимо&lt;br&gt;02&lt;br&gt;Ток и граница&lt;br&gt;где се мења поверење&lt;br&gt;03&lt;br&gt;Сценарио&lt;br&gt;шта може поћи по злу&lt;br&gt;04&lt;br&gt;Контрола и доказ&lt;br&gt;како умањујемо ризик&lt;br&gt;ЕЛЕМЕНТИ АНАЛИЗЕ&lt;br&gt;Анализа сваког корака обухвата покретача, место одлуке и траг који остаје после исхода.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 конкретног сценарија до провере која умањује ризик.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7 — садржај: Основе информационе безбедности&lt;br&gt;7&lt;br&gt;Претња и контрола&lt;br&gt;ризик и одговор&lt;br&gt;01&lt;br&gt;Претња је конкретан сценарио: ко, преко ког тока, шта може да наруши.&lt;br&gt;Питање: који улаз покреће ову одлуку?&lt;br&gt;02&lt;br&gt;Ризик је производ вероватноће и утицаја, праг из политике одређује шта се мора третирати.&lt;br&gt;Питање: која граница мора бити видљива?&lt;br&gt;03&lt;br&gt;Преостали ризик се бележи заједно са контролом и њеним ограничењима.&lt;br&gt;Питање: који доказ остаје после исхода?&lt;br&gt;ПИТАЊЕ ЗА АНАЛИЗУ&lt;br&gt;Који сценарио у вашем моделу прелази праг третмана и која контрола на њега одговара?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Парафраза четири питања у OWASP Threat Modeling Cheat Sheet. Извор: https://cheatsheetseries.owasp.org/cheatsheets/Threat_Modeling_Cheat_Sheet.html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11 — садржај: Основе информационе безбедности&lt;br&gt;11&lt;br&gt;Модел пре контроле&lt;br&gt;Наведена правила остају видљива у имплементацији, тестовима и ревизији.&lt;br&gt;01&lt;br&gt;Имовина има власника, значај и животни циклус.&lt;br&gt;Јасно правило&lt;br&gt;02&lt;br&gt;Интеграција спољне компоненте не представља основ за доделу поверења.&lt;br&gt;Проверљива примена&lt;br&gt;03&lt;br&gt;Претња постаје корисна када води до захтева, контроле и начина провере.&lt;br&gt;Видљив доказ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12 — садржај: Основе информационе безбедности&lt;br&gt;12&lt;br&gt;Примена у развоју&lt;br&gt;Тим примењује тему кроз серверске провере, тестове и ревизионе записе током развоја.&lt;br&gt;РАЗВОЈНИ КОНТЕКСТ&lt;br&gt;Примена принципа у коду&lt;br&gt;Архитектурни цртеж постаје радни алат када уз сваку важну границу наведе податке, актере и претпоставке. Тим затим бира мали број реалних мисусе сценарија и проверава их тестом или прегледом дизајна.&lt;br&gt;01&lt;br&gt;Дефинисана одлука и њена граница.&lt;br&gt;02&lt;br&gt;Серверска имплементација провере.&lt;br&gt;03&lt;br&gt;Позитиван и негативан доказ.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13 — садржај: Основе информационе безбедности&lt;br&gt;13&lt;br&gt;Случај: извоз из интерног система&lt;br&gt;Случај повезује опште правило са конкретним контекстом, серверском провером и очекиваним исходом.&lt;br&gt;СЦЕНАРИО&lt;br&gt;Пример: извоз из интерног система&lt;br&gt;Интерни сервис припрема извоз осетљивих података за други систем. Тим га доживљава као безбедан јер је сервис „унутра“, али сам прелазак података у други систем мења претпоставке. Потребно је знати који податак путује, ко прима податак, шта може поћи по злу и како систем спречава или бар открива нежељен исход.&lt;br&gt;01&lt;br&gt;Имовина обухвата базу података, налоге, кључеве, сервисне идентитете, конфигурацију и пословне записе.&lt;br&gt;02&lt;br&gt;Граница поверења може бити API позив, ред порука, административни интерфејс или извоз у датотеку.&lt;br&gt;03&lt;br&gt;Модел претњи обухвата ограничен број реалних сценарија, одговарајуће контроле и начине њихове провере.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Додата илустративна скица разрађује изворни сценарио извоза. Модел треба да веже претњу за податак, границу и проверу. https://cheatsheetseries.owasp.org/cheatsheets/Threat_Modeling_Cheat_Sheet.html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Одлука се доказује кодом, тестом и записом, а модел прати промене система.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14 — садржај: Основе информационе безбедности&lt;br&gt;14&lt;br&gt;Прелазак границе поверења повећава ризик&lt;br&gt;Калкулатор множи вероватноћу и утицај, а ток који прелази границу поверења добија већи фактор.&lt;br&gt;1&lt;br&gt;2&lt;br&gt;3&lt;br&gt;4&lt;br&gt;5&lt;br&gt;6&lt;br&gt;7&lt;br&gt;8&lt;br&gt;9&lt;br&gt;10&lt;br&gt;11&lt;br&gt;12&lt;br&gt;13&lt;br&gt;public ThreatAssessment Assess(ThreatScenario scenario)&lt;br&gt;{&lt;br&gt;    var score = Score(scenario),&lt;br&gt;    return new ThreatAssessment(&lt;br&gt;        scenario, score, score &gt;= policy.TreatmentThreshold),&lt;br&gt;}&lt;br&gt; &lt;br&gt;private int Score(ThreatScenario scenario)&lt;br&gt;{&lt;br&gt;    var exposure = scenario.Flow.CrossesTrustBoundary&lt;br&gt;        ? policy.TrustBoundaryMultiplier : 1,&lt;br&gt;    return scenario.Likelihood * scenario.Flow.Asset.BusinessImpact * exposure,&lt;br&gt;}&lt;br&gt;ТУМАЧЕЊЕ&lt;br&gt;Ризик је производ вероватноће и утицаја на имовину, прелазак границе поверења га увећава.&lt;br&gt;БЕЗБЕДНОСНА ГРАНИЦА&lt;br&gt;Праг третмана долази из политике, па се одлука може тестирати и образложити.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15 — садржај: Основе информационе безбедности&lt;br&gt;15&lt;br&gt;Тест доказује утицај границе поверења&lt;br&gt;Исти сценарио добија двоструко већи резултат када ток прелази границу поверења.&lt;br&gt;1&lt;br&gt;2&lt;br&gt;3&lt;br&gt;4&lt;br&gt;5&lt;br&gt;6&lt;br&gt;7&lt;br&gt;8&lt;br&gt;[Test]&lt;br&gt;public void Assess_WhenFlowCrossesTrustBoundary_DoublesTheScore()&lt;br&gt;{&lt;br&gt;    var assessment = _calculator.Assess(&lt;br&gt;        Scenarios.Create(3, 5, crossesTrustBoundary: true)),&lt;br&gt; &lt;br&gt;    Assert.That(assessment.RiskScore, Is.EqualTo(30)),&lt;br&gt;}&lt;br&gt;ДОКАЗ&lt;br&gt;Вероватноћа 3 и утицај 5 дају 15, а уз прелазак границе поверења 30.&lt;br&gt;ОЧЕКИВАНИ ИСХОД&lt;br&gt;Тест мења једну чињеницу и очекује тачно одређен резултат ризика.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16 — садржај: Основе информационе безбедности&lt;br&gt;16&lt;br&gt;Садржај безбедносног записа&lt;br&gt;Запис садржи контекст потребан за реконструкцију одлуке, без тајни и непотребних личних података.&lt;br&gt;1&lt;br&gt;2&lt;br&gt;3&lt;br&gt;4&lt;br&gt;5&lt;br&gt;6&lt;br&gt;7&lt;br&gt;8&lt;br&gt;{&lt;br&gt;  "asset": "payment-ledger",&lt;br&gt;  "trustBoundary": "public-api",&lt;br&gt;  "threat": "forged-command",&lt;br&gt;  "control": "signature-validation",&lt;br&gt;  "test": "reject-invalid-signature",&lt;br&gt;  "residualRisk": "stolen-valid-key"&lt;br&gt;}&lt;br&gt;ДОВОЉНО&lt;br&gt;Актер, радња, циљ, исход и разлог&lt;br&gt;Временска ознака и correlation ID повезују траг са остатком тока.&lt;br&gt;НЕ ПРИПАДА У ДОКАЗ&lt;br&gt;Лозинка, токен, тајна и сувишан садржај&lt;br&gt;Траг не сме да постане нови извор цурења или збирка непотребних података.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17 — садржај: Основе информационе безбедности&lt;br&gt;17&lt;br&gt;Честе грешке у имплементацији&lt;br&gt;Грешке настају када контекст, место одлуке или доказ остану нејасни.&lt;br&gt;01&lt;br&gt;Инвентар који постоји само ради евиденције, без власништва и значаја.&lt;br&gt;Нема јасног власника одлуке.&lt;br&gt;02&lt;br&gt;Општи каталог претњи који није повезан са стварним системом.&lt;br&gt;Не постоји негативан сценарио.&lt;br&gt;03&lt;br&gt;Контрола изабрана пре разумевања ризика који треба да смањи.&lt;br&gt;Доказ не показује стварни исход.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18 — садржај: Основе информационе безбедности&lt;br&gt;18&lt;br&gt;Одржавање модела претњи&lt;br&gt;Модел се ажурира када се промене имовина, ток података, граница поверења или претпоставке система.&lt;br&gt;ОБРАЗЛОЖЕЊЕ&lt;br&gt;Одржавање модела претњи&lt;br&gt;Модел претњи ажурира се када систем добије нови улаз, интеграцију, начин чувања података или привилеговану радњу. Значајна архитектонска промена захтева поновну проверу постојећих претпоставки.&lt;br&gt;01&lt;br&gt;Дијаграм се ажурира када ток података или граница поверења стварно промени понашање система.&lt;br&gt;02&lt;br&gt;За одабрани сценарио постоји веза до контроле, теста или прегледа који га проверава.&lt;br&gt;03&lt;br&gt;Преостали ризик бележи се јасно, заједно са прихваћеним ограничењима контроле.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19 — садржај: Основе информационе безбедности&lt;br&gt;19&lt;br&gt;Примена на пројекат&lt;br&gt;Анализа једног сценарија обухвата одлуку, имплементацију, тест одбијања и доказ.&lt;br&gt;01&lt;br&gt;Избор сценарија&lt;br&gt;једна стварна радња&lt;br&gt;02&lt;br&gt;Дефинисање правила&lt;br&gt;улази и граница&lt;br&gt;03&lt;br&gt;Тест одбијања&lt;br&gt;једна чињеница недостаје&lt;br&gt;04&lt;br&gt;Ревизиони запис&lt;br&gt;исход и разлог&lt;br&gt;ПРИМЕНА НА ПРОЈЕКАТ&lt;br&gt;Пројектна примена теме „Имовина, границе поверења и threat modeling“ обухвата једну серверску одлуку, тест одбијања и доказ који други члан тима може да понови.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&lt;br&gt;Исходни слајд 20 — садржај: Основе информационе безбедности&lt;br&gt;20&lt;br&gt;Провера разумевања&lt;br&gt;Разумевање теме подразумева објашњење одлуке и доказа независно од конкретног технолошког оквира.&lt;br&gt;01&lt;br&gt;Имовина&lt;br&gt;вредан податак или сервис&lt;br&gt;02&lt;br&gt;Ток података&lt;br&gt;кретање информације&lt;br&gt;03&lt;br&gt;Граница поверења&lt;br&gt;промена претпоставки&lt;br&gt;04&lt;br&gt;Претња и контрола&lt;br&gt;ризик и одговор&lt;br&gt;ПИТАЊЕ ЗА ПРОВЕРУ&lt;br&gt;Који ток осетљивог податка прелази границу поверења и на ком месту се претпоставка мења?&lt;br&gt;Пројектна примена: применити исти модел на једну реалну границу у сопственом пројекту.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Резиме постојећих појмова. Метод, скала и множилац ризика припадају одабраној политици, нису универзална мерења ризика.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2a67b591445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2fd2c03cfd49aa" /><Relationship Type="http://schemas.openxmlformats.org/officeDocument/2006/relationships/slideLayout" Target="/ppt/slideLayouts/slideLayout1.xml" Id="R76487f77ad9943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487f77ad9943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cb7e52efa46af" /><Relationship Type="http://schemas.openxmlformats.org/officeDocument/2006/relationships/image" Target="/ppt/media/image.png" Id="R062fb1f8aa41478b" /><Relationship Type="http://schemas.openxmlformats.org/officeDocument/2006/relationships/notesSlide" Target="/ppt/notesSlides/notesSlide1.xml" Id="R0e3e6b1c2a9842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cc988e9904e1e" /><Relationship Type="http://schemas.openxmlformats.org/officeDocument/2006/relationships/notesSlide" Target="/ppt/notesSlides/notesSlide2.xml" Id="R16fedf730655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b62f31514410e" /><Relationship Type="http://schemas.openxmlformats.org/officeDocument/2006/relationships/image" Target="/ppt/media/image2.png" Id="R7e4b460021314366" /><Relationship Type="http://schemas.openxmlformats.org/officeDocument/2006/relationships/notesSlide" Target="/ppt/notesSlides/notesSlide3.xml" Id="Re4256edab96842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bee6682eb4ff3" /><Relationship Type="http://schemas.openxmlformats.org/officeDocument/2006/relationships/notesSlide" Target="/ppt/notesSlides/notesSlide4.xml" Id="R3bd481790a5e48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c48e0dcc548ff" /><Relationship Type="http://schemas.openxmlformats.org/officeDocument/2006/relationships/image" Target="/ppt/media/image3.png" Id="Rb757535a48c8401b" /><Relationship Type="http://schemas.openxmlformats.org/officeDocument/2006/relationships/image" Target="/ppt/media/image4.png" Id="Rab0e837fc1f54abd" /><Relationship Type="http://schemas.openxmlformats.org/officeDocument/2006/relationships/image" Target="/ppt/media/image5.png" Id="Re27843caa5834f30" /><Relationship Type="http://schemas.openxmlformats.org/officeDocument/2006/relationships/notesSlide" Target="/ppt/notesSlides/notesSlide5.xml" Id="R0666bbbb9591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b4058ca954e8d" /><Relationship Type="http://schemas.openxmlformats.org/officeDocument/2006/relationships/notesSlide" Target="/ppt/notesSlides/notesSlide6.xml" Id="Rfd2ad168d8bf46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488f5498040ce" /><Relationship Type="http://schemas.openxmlformats.org/officeDocument/2006/relationships/notesSlide" Target="/ppt/notesSlides/notesSlide7.xml" Id="Rca878dbe384141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23715581b46b1" /><Relationship Type="http://schemas.openxmlformats.org/officeDocument/2006/relationships/notesSlide" Target="/ppt/notesSlides/notesSlide8.xml" Id="Rd98f8e12b16e42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7e5e33c0c4145" /><Relationship Type="http://schemas.openxmlformats.org/officeDocument/2006/relationships/notesSlide" Target="/ppt/notesSlides/notesSlide9.xml" Id="Rcc356f012c624e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cdff7210046fc" /><Relationship Type="http://schemas.openxmlformats.org/officeDocument/2006/relationships/notesSlide" Target="/ppt/notesSlides/notesSlide10.xml" Id="Rc72ab6bbcec748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11f26ee6b4498" /><Relationship Type="http://schemas.openxmlformats.org/officeDocument/2006/relationships/notesSlide" Target="/ppt/notesSlides/notesSlide11.xml" Id="Rc2763514471c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f58ce68cc4d8c" /><Relationship Type="http://schemas.openxmlformats.org/officeDocument/2006/relationships/image" Target="/ppt/media/image6.png" Id="R41f596c11c4a4fd5" /><Relationship Type="http://schemas.openxmlformats.org/officeDocument/2006/relationships/notesSlide" Target="/ppt/notesSlides/notesSlide12.xml" Id="Re5a8a9414f4541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cae65f13745dc" /><Relationship Type="http://schemas.openxmlformats.org/officeDocument/2006/relationships/notesSlide" Target="/ppt/notesSlides/notesSlide13.xml" Id="R452921cecd444e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8869f99ac4ba0" /><Relationship Type="http://schemas.openxmlformats.org/officeDocument/2006/relationships/image" Target="/ppt/media/image7.png" Id="R5f8b64d8153a47a7" /><Relationship Type="http://schemas.openxmlformats.org/officeDocument/2006/relationships/image" Target="/ppt/media/image8.png" Id="Re04cff44c466465b" /><Relationship Type="http://schemas.openxmlformats.org/officeDocument/2006/relationships/image" Target="/ppt/media/image9.png" Id="R2272f8ca57334b7f" /><Relationship Type="http://schemas.openxmlformats.org/officeDocument/2006/relationships/notesSlide" Target="/ppt/notesSlides/notesSlide14.xml" Id="R54a89278f26246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948e1f2c54ab4" /><Relationship Type="http://schemas.openxmlformats.org/officeDocument/2006/relationships/notesSlide" Target="/ppt/notesSlides/notesSlide15.xml" Id="R756a6cf46ab948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67353de85473b" /><Relationship Type="http://schemas.openxmlformats.org/officeDocument/2006/relationships/notesSlide" Target="/ppt/notesSlides/notesSlide16.xml" Id="R1b554c13577b4b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ca8ac7da44b94" /><Relationship Type="http://schemas.openxmlformats.org/officeDocument/2006/relationships/notesSlide" Target="/ppt/notesSlides/notesSlide17.xml" Id="R50deef032d664f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ff6d8d9a94428" /><Relationship Type="http://schemas.openxmlformats.org/officeDocument/2006/relationships/notesSlide" Target="/ppt/notesSlides/notesSlide18.xml" Id="R5efd97f010e348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8f9b037e2424a" /><Relationship Type="http://schemas.openxmlformats.org/officeDocument/2006/relationships/notesSlide" Target="/ppt/notesSlides/notesSlide19.xml" Id="R13d347a39df546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09f89c62c4f0e" /><Relationship Type="http://schemas.openxmlformats.org/officeDocument/2006/relationships/notesSlide" Target="/ppt/notesSlides/notesSlide20.xml" Id="R4f097ba5a61a44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ea54c14554cb8" /><Relationship Type="http://schemas.openxmlformats.org/officeDocument/2006/relationships/image" Target="/ppt/media/image10.png" Id="Rca971ae4f29949de" /><Relationship Type="http://schemas.openxmlformats.org/officeDocument/2006/relationships/notesSlide" Target="/ppt/notesSlides/notesSlide21.xml" Id="Rb8ea2255f76442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213f895f74330" /><Relationship Type="http://schemas.openxmlformats.org/officeDocument/2006/relationships/notesSlide" Target="/ppt/notesSlides/notesSlide22.xml" Id="Rcbe15889808944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b1813cf134bc8" /><Relationship Type="http://schemas.openxmlformats.org/officeDocument/2006/relationships/notesSlide" Target="/ppt/notesSlides/notesSlide23.xml" Id="R9544fa7ffefc463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56638cada4fdf" /><Relationship Type="http://schemas.openxmlformats.org/officeDocument/2006/relationships/notesSlide" Target="/ppt/notesSlides/notesSlide24.xml" Id="Re17d25aa1fd5415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510be1c564b9a" /><Relationship Type="http://schemas.openxmlformats.org/officeDocument/2006/relationships/notesSlide" Target="/ppt/notesSlides/notesSlide25.xml" Id="Re2196e2b4f4741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b77038e4040a7" /><Relationship Type="http://schemas.openxmlformats.org/officeDocument/2006/relationships/notesSlide" Target="/ppt/notesSlides/notesSlide26.xml" Id="R154b980b48b9463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42f94119b4d1c" /><Relationship Type="http://schemas.openxmlformats.org/officeDocument/2006/relationships/notesSlide" Target="/ppt/notesSlides/notesSlide27.xml" Id="R449aab1f0e1a431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301ec2e06405a" /><Relationship Type="http://schemas.openxmlformats.org/officeDocument/2006/relationships/image" Target="/ppt/media/image11.png" Id="R695540049f104f59" /><Relationship Type="http://schemas.openxmlformats.org/officeDocument/2006/relationships/image" Target="/ppt/media/image12.png" Id="Re7c1bd0cc498481c" /><Relationship Type="http://schemas.openxmlformats.org/officeDocument/2006/relationships/image" Target="/ppt/media/image13.png" Id="Re8627f0692814929" /><Relationship Type="http://schemas.openxmlformats.org/officeDocument/2006/relationships/notesSlide" Target="/ppt/notesSlides/notesSlide28.xml" Id="Ra187cf4fa66747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c3ce0affa41a3" /><Relationship Type="http://schemas.openxmlformats.org/officeDocument/2006/relationships/notesSlide" Target="/ppt/notesSlides/notesSlide29.xml" Id="Rcddea6befdb54c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7d8b0794f443a" /><Relationship Type="http://schemas.openxmlformats.org/officeDocument/2006/relationships/notesSlide" Target="/ppt/notesSlides/notesSlide30.xml" Id="Ra649b2ca003f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1F4A0-D358-44B7-8194-866B2646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60234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fb1f8aa41478b"/>
          <a:stretch xmlns:a="http://schemas.openxmlformats.org/drawingml/2006/main"/>
        </p:blipFill>
        <p:spPr>
          <a:xfrm xmlns:a="http://schemas.openxmlformats.org/drawingml/2006/main">
            <a:off x="11525250" y="1809750"/>
            <a:ext cx="5810250" cy="5334000"/>
          </a:xfrm>
          <a:prstGeom xmlns:a="http://schemas.openxmlformats.org/drawingml/2006/main" prst="rect">
            <a:avLst/>
          </a:prstGeom>
        </p:spPr>
      </p:pic>
      <p:sp>
        <p:nvSpPr>
          <p:cNvPr id="3" name="text-cover">
            <a:extLst xmlns:a="http://schemas.openxmlformats.org/drawingml/2006/main">
              <a:ext uri="{FF2B5EF4-FFF2-40B4-BE49-F238E27FC236}">
                <a16:creationId xmlns:a16="http://schemas.microsoft.com/office/drawing/2014/main" id="{A4213559-F528-4059-99BD-9F30B524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5341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</p:txBody>
      </p:sp>
      <p:sp>
        <p:nvSpPr>
          <p:cNvPr id="4" name="text-cover">
            <a:extLst xmlns:a="http://schemas.openxmlformats.org/drawingml/2006/main">
              <a:ext uri="{FF2B5EF4-FFF2-40B4-BE49-F238E27FC236}">
                <a16:creationId xmlns:a16="http://schemas.microsoft.com/office/drawing/2014/main" id="{692C502F-4554-4494-ABED-D0EEA41C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39180"/>
            <a:ext cx="51854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ОСНОВЕ ИНФОРМАЦИОНЕ БЕЗБЕДНОСТИ</a:t>
            </a:r>
          </a:p>
        </p:txBody>
      </p:sp>
      <p:sp>
        <p:nvSpPr>
          <p:cNvPr id="5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AB1637A9-FDAB-4E57-98F0-4307C07A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1561"/>
            <a:ext cx="7803059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32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Имовина, границе </a:t>
            </a:r>
          </a:p>
        </p:txBody>
      </p:sp>
      <p:sp>
        <p:nvSpPr>
          <p:cNvPr id="6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92B8E45C-D06A-4AED-BD0D-7AE938F0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1616"/>
            <a:ext cx="7708702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89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поверења и threat </a:t>
            </a:r>
          </a:p>
        </p:txBody>
      </p:sp>
      <p:sp>
        <p:nvSpPr>
          <p:cNvPr id="7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188BD05A-71AB-4BFD-9C7C-73D1351A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1672"/>
            <a:ext cx="3968353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modeling</a:t>
            </a:r>
          </a:p>
        </p:txBody>
      </p:sp>
      <p:sp>
        <p:nvSpPr>
          <p:cNvPr id="8" name="text-cover">
            <a:extLst xmlns:a="http://schemas.openxmlformats.org/drawingml/2006/main">
              <a:ext uri="{FF2B5EF4-FFF2-40B4-BE49-F238E27FC236}">
                <a16:creationId xmlns:a16="http://schemas.microsoft.com/office/drawing/2014/main" id="{77269612-BDCD-4AC1-A3D5-C3C44AAF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252"/>
            <a:ext cx="809133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Идентификација имовине, токова података и граница </a:t>
            </a:r>
          </a:p>
        </p:txBody>
      </p:sp>
      <p:sp>
        <p:nvSpPr>
          <p:cNvPr id="9" name="text-cover">
            <a:extLst xmlns:a="http://schemas.openxmlformats.org/drawingml/2006/main">
              <a:ext uri="{FF2B5EF4-FFF2-40B4-BE49-F238E27FC236}">
                <a16:creationId xmlns:a16="http://schemas.microsoft.com/office/drawing/2014/main" id="{72EE3435-F5E2-48BA-A25A-C998E92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8943"/>
            <a:ext cx="178623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поверења</a:t>
            </a:r>
          </a:p>
        </p:txBody>
      </p:sp>
      <p:sp>
        <p:nvSpPr>
          <p:cNvPr id="10" name="text-cover">
            <a:extLst xmlns:a="http://schemas.openxmlformats.org/drawingml/2006/main">
              <a:ext uri="{FF2B5EF4-FFF2-40B4-BE49-F238E27FC236}">
                <a16:creationId xmlns:a16="http://schemas.microsoft.com/office/drawing/2014/main" id="{349FB21C-38F3-4D96-99A0-C1E8F6EA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07884"/>
            <a:ext cx="7461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11" name="text-cover">
            <a:extLst xmlns:a="http://schemas.openxmlformats.org/drawingml/2006/main">
              <a:ext uri="{FF2B5EF4-FFF2-40B4-BE49-F238E27FC236}">
                <a16:creationId xmlns:a16="http://schemas.microsoft.com/office/drawing/2014/main" id="{7716DB0F-936A-439F-96C0-A9E76419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47820"/>
            <a:ext cx="13543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725637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052A84-AFAF-475D-923F-CA55DC6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99BD1-8F92-4068-BE12-AF701638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0F73A-2661-498D-8723-BDE84BA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9535-C8F9-492E-AA34-B6E32C33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B0CDB-33D4-4473-83FB-6A384D9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34530"/>
            <a:ext cx="3819525" cy="2723852"/>
          </a:xfrm>
          <a:prstGeom xmlns:a="http://schemas.openxmlformats.org/drawingml/2006/main" prst="roundRect">
            <a:avLst>
              <a:gd name="adj" fmla="val 559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34030-A2E8-4482-B4F0-2F495393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318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D580F44-BF88-4970-9FC9-960B2A97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318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F9F11-8B61-4FE9-B287-38DBF05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82D4EEC-1B23-4A08-88D9-4A14F928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4364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ПРЕГЛЕД</a:t>
            </a:r>
          </a:p>
        </p:txBody>
      </p:sp>
      <p:sp>
        <p:nvSpPr>
          <p:cNvPr id="10" name="heading-sadrzaj">
            <a:extLst xmlns:a="http://schemas.openxmlformats.org/drawingml/2006/main">
              <a:ext uri="{FF2B5EF4-FFF2-40B4-BE49-F238E27FC236}">
                <a16:creationId xmlns:a16="http://schemas.microsoft.com/office/drawing/2014/main" id="{EBA1602C-2E1D-48AD-89B0-A9E0D1F2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646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1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17CD5525-D1E7-4AD7-BD98-01016EE2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CB88532-87A8-40F6-B1F8-0328200A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0786"/>
            <a:ext cx="26800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и токови</a:t>
            </a:r>
          </a:p>
        </p:txBody>
      </p:sp>
      <p:sp>
        <p:nvSpPr>
          <p:cNvPr id="1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470EA3A-2AB7-4BED-96AA-2905BA2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22216"/>
            <a:ext cx="35952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Власништво, утицај, инвентар </a:t>
            </a:r>
          </a:p>
        </p:txBody>
      </p:sp>
      <p:sp>
        <p:nvSpPr>
          <p:cNvPr id="1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D33ADF3-0382-4E32-8E08-1F10ED0A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42197"/>
            <a:ext cx="22287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токови (04–08).</a:t>
            </a:r>
          </a:p>
        </p:txBody>
      </p:sp>
      <p:sp>
        <p:nvSpPr>
          <p:cNvPr id="1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B6FE296-EF02-48CD-9F71-80B17034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B932F80-2D5B-4CCB-AB9E-946730F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30786"/>
            <a:ext cx="27689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Границе поверења</a:t>
            </a:r>
          </a:p>
        </p:txBody>
      </p:sp>
      <p:sp>
        <p:nvSpPr>
          <p:cNvPr id="1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0ACA5B3-4837-41FC-96BA-2D64E64B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2216"/>
            <a:ext cx="27042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Архитектонска скица, </a:t>
            </a:r>
          </a:p>
        </p:txBody>
      </p:sp>
      <p:sp>
        <p:nvSpPr>
          <p:cNvPr id="1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D0E6892-0BEC-4CA3-ACAF-F62BCBB2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2197"/>
            <a:ext cx="32733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претпоставке и модел (09–</a:t>
            </a:r>
          </a:p>
        </p:txBody>
      </p:sp>
      <p:sp>
        <p:nvSpPr>
          <p:cNvPr id="1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5752D36-6C23-431A-B1EF-7B1EEF7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62177"/>
            <a:ext cx="75604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14).</a:t>
            </a:r>
          </a:p>
        </p:txBody>
      </p:sp>
      <p:sp>
        <p:nvSpPr>
          <p:cNvPr id="2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BDB97732-2FE1-4E4F-ABA5-889EED60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E92F0BA-5AB7-47C5-9210-C33E1CBB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30786"/>
            <a:ext cx="28406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Претње и контроле</a:t>
            </a:r>
          </a:p>
        </p:txBody>
      </p:sp>
      <p:sp>
        <p:nvSpPr>
          <p:cNvPr id="2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C8DEAF2-97A4-45DB-B0C9-C32BCD6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22216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Сценарио, ризик, захтев и </a:t>
            </a:r>
          </a:p>
        </p:txBody>
      </p:sp>
      <p:sp>
        <p:nvSpPr>
          <p:cNvPr id="2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2AE1F97-4D1A-499D-B3D6-2E6E22BB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2197"/>
            <a:ext cx="336649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серверска провера (15–21).</a:t>
            </a:r>
          </a:p>
        </p:txBody>
      </p:sp>
      <p:sp>
        <p:nvSpPr>
          <p:cNvPr id="2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831AAA86-B040-42D2-BB55-FF197E5B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BCDB3AB-125F-46F9-AFE0-85165944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30786"/>
            <a:ext cx="2953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и одржавање</a:t>
            </a:r>
          </a:p>
        </p:txBody>
      </p:sp>
      <p:sp>
        <p:nvSpPr>
          <p:cNvPr id="2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96A0C53C-DA87-4ABB-9FD9-4A8161D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922216"/>
            <a:ext cx="35468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Код, тест, запис и ажурирање </a:t>
            </a:r>
          </a:p>
        </p:txBody>
      </p:sp>
      <p:sp>
        <p:nvSpPr>
          <p:cNvPr id="2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5445DC3-57C4-4DA5-A443-2AA2DC7B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242197"/>
            <a:ext cx="209520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модела (22–30).</a:t>
            </a:r>
          </a:p>
        </p:txBody>
      </p:sp>
      <p:sp>
        <p:nvSpPr>
          <p:cNvPr id="2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3A6DC91-31B9-45D9-8A04-C02A3A2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53683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2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0C31371-F1AF-4786-9B7A-CC3A4F2D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59388"/>
            <a:ext cx="7102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штитимо и зашто је модел претњи потребан (03).</a:t>
            </a:r>
          </a:p>
        </p:txBody>
      </p:sp>
      <p:sp>
        <p:nvSpPr>
          <p:cNvPr id="3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A0D74CBE-3F5F-44A5-96F3-F6F1604E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50EB904A-6383-4ECA-B5AB-D9AF8074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9442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D3EA1-1A3E-4BC0-93FE-8018A20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A697-5386-4A89-9756-56FB9A4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b460021314366"/>
          <a:stretch xmlns:a="http://schemas.openxmlformats.org/drawingml/2006/main"/>
        </p:blipFill>
        <p:spPr>
          <a:xfrm xmlns:a="http://schemas.openxmlformats.org/drawingml/2006/main">
            <a:off x="1223953" y="3112591"/>
            <a:ext cx="4562495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FC7A5AB-1905-4B16-BDA7-7693FAE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4044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УВОД · ИМОВИНА И ПОСЛЕДИЦА</a:t>
            </a:r>
          </a:p>
        </p:txBody>
      </p:sp>
      <p:sp>
        <p:nvSpPr>
          <p:cNvPr id="5" name="heading-source-02">
            <a:extLst xmlns:a="http://schemas.openxmlformats.org/drawingml/2006/main">
              <a:ext uri="{FF2B5EF4-FFF2-40B4-BE49-F238E27FC236}">
                <a16:creationId xmlns:a16="http://schemas.microsoft.com/office/drawing/2014/main" id="{5475F47E-83C5-4A34-8AEB-DFE93A82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37976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и границе поверења</a:t>
            </a:r>
          </a:p>
        </p:txBody>
      </p:sp>
      <p:sp>
        <p:nvSpPr>
          <p:cNvPr id="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8671C49-FDC4-4422-8E3E-AC9A97F2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49938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претњи полази од вредне имовине, токова података, граница поверења и последица могућег нарушавања.</a:t>
            </a:r>
          </a:p>
        </p:txBody>
      </p:sp>
      <p:sp>
        <p:nvSpPr>
          <p:cNvPr id="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6778DE7-8731-4FFB-AF39-8051F2B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2591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ПРЕДМЕТ АНАЛИЗЕ</a:t>
            </a:r>
          </a:p>
        </p:txBody>
      </p:sp>
      <p:sp>
        <p:nvSpPr>
          <p:cNvPr id="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8F7A0CA-8F25-42AA-A55D-244BC8F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8297"/>
            <a:ext cx="35297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 који се анализира</a:t>
            </a:r>
          </a:p>
        </p:txBody>
      </p:sp>
      <p:sp>
        <p:nvSpPr>
          <p:cNvPr id="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723651A-1749-4CE6-A2EE-36250DD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58233"/>
            <a:ext cx="1098470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Безбедносна одлука полази од вредне имовине, тока података и граница поверења. На тој основи </a:t>
            </a:r>
          </a:p>
        </p:txBody>
      </p:sp>
      <p:sp>
        <p:nvSpPr>
          <p:cNvPr id="1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C558533-94A2-4219-9057-0EFEB09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78213"/>
            <a:ext cx="972606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идентификује релевантну претњу и бира контролу примерену конкретном ризику.</a:t>
            </a:r>
          </a:p>
        </p:txBody>
      </p:sp>
      <p:sp>
        <p:nvSpPr>
          <p:cNvPr id="1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2419398-5B5E-4B2F-818D-832C5086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26794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ЗНАЧАЈ</a:t>
            </a:r>
          </a:p>
        </p:txBody>
      </p:sp>
      <p:sp>
        <p:nvSpPr>
          <p:cNvPr id="1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1102A37-882A-4F00-ACA7-8CDEFEFE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32499"/>
            <a:ext cx="42035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Значај за безбедност система</a:t>
            </a:r>
          </a:p>
        </p:txBody>
      </p:sp>
      <p:sp>
        <p:nvSpPr>
          <p:cNvPr id="1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77FECCE-1925-4A13-A848-0DE16F81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2435"/>
            <a:ext cx="98799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Моделовање претњи повезује техничку структуру система са пословним последицама и </a:t>
            </a:r>
          </a:p>
        </p:txBody>
      </p:sp>
      <p:sp>
        <p:nvSpPr>
          <p:cNvPr id="1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DC28172-58E8-4215-93CC-4DC8B74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92416"/>
            <a:ext cx="61510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омогућава рану проверу безбедносних претпоставки.</a:t>
            </a:r>
          </a:p>
        </p:txBody>
      </p:sp>
      <p:sp>
        <p:nvSpPr>
          <p:cNvPr id="1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DFB416A2-602F-4FAF-8B3C-02B5FC0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540996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КРИТЕРИЈУМ ПРОВЕРЕ</a:t>
            </a:r>
          </a:p>
        </p:txBody>
      </p:sp>
      <p:sp>
        <p:nvSpPr>
          <p:cNvPr id="1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B9AD254D-6456-40EB-88F7-26537A6E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946702"/>
            <a:ext cx="304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Проверљив резултат</a:t>
            </a:r>
          </a:p>
        </p:txBody>
      </p:sp>
      <p:sp>
        <p:nvSpPr>
          <p:cNvPr id="1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2BD6D0D-01BB-41D5-897F-2BC75EE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386638"/>
            <a:ext cx="110076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  <p:sp>
        <p:nvSpPr>
          <p:cNvPr id="1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7218069-AC03-4A52-A10A-52589BC1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85EEE0C-6322-42CE-9597-1834996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7596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C66EC-72CB-4B0A-A7E8-DDE91E7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72026"/>
            <a:ext cx="128736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20171-211A-41D5-92CE-BC470D77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463" y="5972026"/>
            <a:ext cx="215607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4F3F5-1887-48BB-B0EA-27A35175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836" y="5972026"/>
            <a:ext cx="214595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57946-9705-4F9F-9D6C-E1A2413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089" y="5972026"/>
            <a:ext cx="141595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6C44B-555C-42FF-922F-D80B2CB8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4C1"/>
          </a:solidFill>
          <a:ln xmlns:a="http://schemas.openxmlformats.org/drawingml/2006/main" w="0">
            <a:noFill/>
          </a:ln>
        </p:spPr>
      </p:sp>
      <p:sp>
        <p:nvSpPr>
          <p:cNvPr id="6" name="text-deo1">
            <a:extLst xmlns:a="http://schemas.openxmlformats.org/drawingml/2006/main">
              <a:ext uri="{FF2B5EF4-FFF2-40B4-BE49-F238E27FC236}">
                <a16:creationId xmlns:a16="http://schemas.microsoft.com/office/drawing/2014/main" id="{B9327750-1925-41F8-980B-CF4762E4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text-deo1">
            <a:extLst xmlns:a="http://schemas.openxmlformats.org/drawingml/2006/main">
              <a:ext uri="{FF2B5EF4-FFF2-40B4-BE49-F238E27FC236}">
                <a16:creationId xmlns:a16="http://schemas.microsoft.com/office/drawing/2014/main" id="{479B8D07-D5DE-41FE-8904-8B5917E2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8595"/>
            <a:ext cx="1592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8" name="heading-deo1">
            <a:extLst xmlns:a="http://schemas.openxmlformats.org/drawingml/2006/main">
              <a:ext uri="{FF2B5EF4-FFF2-40B4-BE49-F238E27FC236}">
                <a16:creationId xmlns:a16="http://schemas.microsoft.com/office/drawing/2014/main" id="{EAD7E8FC-BAA7-4770-9AC1-E93F41DE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8051006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72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и токови</a:t>
            </a:r>
          </a:p>
        </p:txBody>
      </p:sp>
      <p:sp>
        <p:nvSpPr>
          <p:cNvPr id="9" name="text-deo1">
            <a:extLst xmlns:a="http://schemas.openxmlformats.org/drawingml/2006/main">
              <a:ext uri="{FF2B5EF4-FFF2-40B4-BE49-F238E27FC236}">
                <a16:creationId xmlns:a16="http://schemas.microsoft.com/office/drawing/2014/main" id="{7B59FCA7-92EF-4D7F-A0C4-900E6600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1590"/>
            <a:ext cx="82656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Разумети вредност податка пре него што се изабере контрола.</a:t>
            </a:r>
          </a:p>
        </p:txBody>
      </p:sp>
      <p:sp>
        <p:nvSpPr>
          <p:cNvPr id="10" name="text-deo1">
            <a:extLst xmlns:a="http://schemas.openxmlformats.org/drawingml/2006/main">
              <a:ext uri="{FF2B5EF4-FFF2-40B4-BE49-F238E27FC236}">
                <a16:creationId xmlns:a16="http://schemas.microsoft.com/office/drawing/2014/main" id="{9D8B0BAB-A88D-4777-9F3E-A0701D2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057751"/>
            <a:ext cx="12302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</a:t>
            </a:r>
          </a:p>
        </p:txBody>
      </p:sp>
      <p:sp>
        <p:nvSpPr>
          <p:cNvPr id="11" name="text-deo1">
            <a:extLst xmlns:a="http://schemas.openxmlformats.org/drawingml/2006/main">
              <a:ext uri="{FF2B5EF4-FFF2-40B4-BE49-F238E27FC236}">
                <a16:creationId xmlns:a16="http://schemas.microsoft.com/office/drawing/2014/main" id="{A642C763-7ACA-4FAD-B22D-4CDAD292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488" y="6057751"/>
            <a:ext cx="209892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пословни утицај</a:t>
            </a:r>
          </a:p>
        </p:txBody>
      </p:sp>
      <p:sp>
        <p:nvSpPr>
          <p:cNvPr id="12" name="text-deo1">
            <a:extLst xmlns:a="http://schemas.openxmlformats.org/drawingml/2006/main">
              <a:ext uri="{FF2B5EF4-FFF2-40B4-BE49-F238E27FC236}">
                <a16:creationId xmlns:a16="http://schemas.microsoft.com/office/drawing/2014/main" id="{E631F03D-A874-460A-8B6B-B5BFF1CD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861" y="6057751"/>
            <a:ext cx="20888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животни циклус</a:t>
            </a:r>
          </a:p>
        </p:txBody>
      </p:sp>
      <p:sp>
        <p:nvSpPr>
          <p:cNvPr id="13" name="text-deo1">
            <a:extLst xmlns:a="http://schemas.openxmlformats.org/drawingml/2006/main">
              <a:ext uri="{FF2B5EF4-FFF2-40B4-BE49-F238E27FC236}">
                <a16:creationId xmlns:a16="http://schemas.microsoft.com/office/drawing/2014/main" id="{EE2D776C-6A49-496B-9777-9018E92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3114" y="6057751"/>
            <a:ext cx="13588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инвентар</a:t>
            </a:r>
          </a:p>
        </p:txBody>
      </p:sp>
      <p:sp>
        <p:nvSpPr>
          <p:cNvPr id="14" name="text-deo1">
            <a:extLst xmlns:a="http://schemas.openxmlformats.org/drawingml/2006/main">
              <a:ext uri="{FF2B5EF4-FFF2-40B4-BE49-F238E27FC236}">
                <a16:creationId xmlns:a16="http://schemas.microsoft.com/office/drawing/2014/main" id="{53CAA54F-B22B-431F-8FEE-3BFEA993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5" name="text-deo1">
            <a:extLst xmlns:a="http://schemas.openxmlformats.org/drawingml/2006/main">
              <a:ext uri="{FF2B5EF4-FFF2-40B4-BE49-F238E27FC236}">
                <a16:creationId xmlns:a16="http://schemas.microsoft.com/office/drawing/2014/main" id="{26B13EA7-1AA5-4F88-A0CC-8A307A25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7026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C0637-942C-4096-B6D4-A8EAF8BB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E5685-4495-4C95-8171-ED1FEC21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D1FBB-4A71-401C-83CC-6628CFBB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FFD42-A3A7-4224-B211-44423037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0BA66-EBF2-4AD5-90B2-B815C6D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EFCC3-3F33-49EC-AA26-EE4E27A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3E1CB91-A9D5-46B3-9E56-DD42AF00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AF7EB-2F0F-4E70-B5C9-1382FD8E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7535a48c8401b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e837fc1f54abd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843caa5834f30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234E7B6-AD7C-4EC0-9E0A-AF8AC04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ОСНОВНИ ПОЈМОВИ</a:t>
            </a:r>
          </a:p>
        </p:txBody>
      </p:sp>
      <p:sp>
        <p:nvSpPr>
          <p:cNvPr id="13" name="heading-source-03">
            <a:extLst xmlns:a="http://schemas.openxmlformats.org/drawingml/2006/main">
              <a:ext uri="{FF2B5EF4-FFF2-40B4-BE49-F238E27FC236}">
                <a16:creationId xmlns:a16="http://schemas.microsoft.com/office/drawing/2014/main" id="{C97C8A14-B1D5-4293-8AFA-66C7B96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9400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Основни појмови</a:t>
            </a:r>
          </a:p>
        </p:txBody>
      </p:sp>
      <p:sp>
        <p:nvSpPr>
          <p:cNvPr id="1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F3924B8-E96A-4236-BD31-054C835D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22452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Имовина, ток података, граница поверења и претња одређују обим анализе и избор контроле.</a:t>
            </a:r>
          </a:p>
        </p:txBody>
      </p:sp>
      <p:sp>
        <p:nvSpPr>
          <p:cNvPr id="1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0DC51B9-B258-40B7-A7D2-2B4E1643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2B78AFE-F24B-448D-BC83-43605F63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00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</a:t>
            </a:r>
          </a:p>
        </p:txBody>
      </p:sp>
      <p:sp>
        <p:nvSpPr>
          <p:cNvPr id="1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55147CBE-551C-4955-8D86-E10904C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4930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вредан податак или </a:t>
            </a:r>
          </a:p>
        </p:txBody>
      </p:sp>
      <p:sp>
        <p:nvSpPr>
          <p:cNvPr id="1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1C163E2-4B6C-422F-8516-E6DFA6D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20258"/>
            <a:ext cx="109165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сервис</a:t>
            </a:r>
          </a:p>
        </p:txBody>
      </p:sp>
      <p:sp>
        <p:nvSpPr>
          <p:cNvPr id="1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3F3B60F-5363-49E6-870D-4BE2DF92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C6B7768-DF78-4765-845A-C0FC2DCF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20450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података</a:t>
            </a:r>
          </a:p>
        </p:txBody>
      </p:sp>
      <p:sp>
        <p:nvSpPr>
          <p:cNvPr id="2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EC49EDC-B5AC-4C96-920D-4D17029B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7571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кретање информације</a:t>
            </a:r>
          </a:p>
        </p:txBody>
      </p:sp>
      <p:sp>
        <p:nvSpPr>
          <p:cNvPr id="2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2DCC811-3F45-44CD-A7D2-C2FF85A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58233D4-8B1E-479B-ABA2-4B945C9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7701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поверења</a:t>
            </a:r>
          </a:p>
        </p:txBody>
      </p:sp>
      <p:sp>
        <p:nvSpPr>
          <p:cNvPr id="2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72C15CD-1DB5-45DF-A6E3-E7216470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8132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претпоставки</a:t>
            </a:r>
          </a:p>
        </p:txBody>
      </p:sp>
      <p:sp>
        <p:nvSpPr>
          <p:cNvPr id="2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C4052F33-B786-41F2-A68A-2009ED70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E3BD8738-9EF9-4604-95EA-A06BE9B0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8411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Претња и контрола</a:t>
            </a:r>
          </a:p>
        </p:txBody>
      </p:sp>
      <p:sp>
        <p:nvSpPr>
          <p:cNvPr id="2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05175C0-49E0-46A0-B7EF-F6A653E4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1023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ризик и одговор</a:t>
            </a:r>
          </a:p>
        </p:txBody>
      </p:sp>
      <p:sp>
        <p:nvSpPr>
          <p:cNvPr id="2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95A04900-3444-42E6-B45F-B6875533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2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05872F2A-9982-4969-AFB7-8AA8CB60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04594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Претња добија смисао тек када се веже за конкретну имовину, ток и последицу.</a:t>
            </a:r>
          </a:p>
        </p:txBody>
      </p:sp>
      <p:sp>
        <p:nvSpPr>
          <p:cNvPr id="3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47C52F7-8C9C-483B-95C5-4100A1C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1EEF027-9790-450C-BA30-E55EBB6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630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9DCAA-A5AB-4ED3-8111-8B91F11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E22FA-4375-410A-A850-FFA23CA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58247-AFC8-4D32-9523-8F09FE2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591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60A5B-A493-42D3-A338-3A35DA0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924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085C-63F1-449C-8143-E36FF4F4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6C46862E-06EB-468F-9642-5392176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AF6F3-4588-450A-9998-97729107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AF6D631-73C7-42B1-918F-01B1A9E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ИМОВИНА</a:t>
            </a:r>
          </a:p>
        </p:txBody>
      </p:sp>
      <p:sp>
        <p:nvSpPr>
          <p:cNvPr id="9" name="heading-source-04">
            <a:extLst xmlns:a="http://schemas.openxmlformats.org/drawingml/2006/main">
              <a:ext uri="{FF2B5EF4-FFF2-40B4-BE49-F238E27FC236}">
                <a16:creationId xmlns:a16="http://schemas.microsoft.com/office/drawing/2014/main" id="{DD972BDF-31CD-47F9-B1C0-AE1E598D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75599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</a:t>
            </a:r>
          </a:p>
        </p:txBody>
      </p:sp>
      <p:sp>
        <p:nvSpPr>
          <p:cNvPr id="1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0D05924-C004-47C1-B883-D5AA52A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7876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вредан податак или сервис</a:t>
            </a:r>
          </a:p>
        </p:txBody>
      </p:sp>
      <p:sp>
        <p:nvSpPr>
          <p:cNvPr id="1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AD64412-F11B-4C82-A9F8-777EB6C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9C87F6A-CAC0-4BA7-9CA9-7EB11A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804535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има власника, значај за пословање и животни циклус.</a:t>
            </a:r>
          </a:p>
        </p:txBody>
      </p:sp>
      <p:sp>
        <p:nvSpPr>
          <p:cNvPr id="1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DBE2897-20A8-4E21-B19F-C8EE9782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638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C94BA6B3-060C-4658-A230-F0EBDBA2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94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3ED4BC0-5255-4E89-B166-6A0A77A7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6418"/>
            <a:ext cx="926723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Утицај на пословање је оцена имовине, а не особина појединачне претње.</a:t>
            </a:r>
          </a:p>
        </p:txBody>
      </p:sp>
      <p:sp>
        <p:nvSpPr>
          <p:cNvPr id="1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23381686-9567-4733-9C20-4D1E06B8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9713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15D8070-E8F7-4018-86EB-618101C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926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EFC7891-3796-4F51-9572-EEFFA8BB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9744"/>
            <a:ext cx="953988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Инвентар је користан тек када се оцена имовине користи у процени ризика.</a:t>
            </a:r>
          </a:p>
        </p:txBody>
      </p:sp>
      <p:sp>
        <p:nvSpPr>
          <p:cNvPr id="1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DF922CA2-8026-4886-B54A-45A343CA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83039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9B8A01AE-52B8-486E-8869-E01B500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8320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CD01261-8DEF-4403-ABA2-DD93E4F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04025"/>
            <a:ext cx="103545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Која имовина у вашој целини има највећи пословни утицај и ко је њен власник?</a:t>
            </a:r>
          </a:p>
        </p:txBody>
      </p:sp>
      <p:sp>
        <p:nvSpPr>
          <p:cNvPr id="2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77FA60E1-CECD-4306-85AF-9031CEEF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408EF855-90E0-4271-9986-5C6A403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9012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91B4C-2486-495D-992E-314F2AB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671FD-EC5D-4B50-8DDF-432B504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1A56C-0E03-4FAB-A8F2-7A01E6B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591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3D69A-7B8B-4AC9-8F39-9927DCD1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924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AF739-DE2D-48AE-B1BF-20E56818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DDB81CB-E743-45EE-836A-5B78312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8C270-C3BD-4D0F-B42A-CFA9501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C9BCB24A-A35E-4BC0-87E4-36CFACE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9985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ТОК ПОДАТАКА</a:t>
            </a:r>
          </a:p>
        </p:txBody>
      </p:sp>
      <p:sp>
        <p:nvSpPr>
          <p:cNvPr id="9" name="heading-source-05">
            <a:extLst xmlns:a="http://schemas.openxmlformats.org/drawingml/2006/main">
              <a:ext uri="{FF2B5EF4-FFF2-40B4-BE49-F238E27FC236}">
                <a16:creationId xmlns:a16="http://schemas.microsoft.com/office/drawing/2014/main" id="{A6CEADF4-DC11-4AD5-9D84-B0426853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387593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података</a:t>
            </a:r>
          </a:p>
        </p:txBody>
      </p:sp>
      <p:sp>
        <p:nvSpPr>
          <p:cNvPr id="1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D75F449-958C-4E8C-A16E-81E2ED7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1596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кретање информације</a:t>
            </a:r>
          </a:p>
        </p:txBody>
      </p:sp>
      <p:sp>
        <p:nvSpPr>
          <p:cNvPr id="1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FE0A74A-D38A-4A1D-8A7F-3F0F569D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A88DDDA-38CA-4412-9F7B-C4A4965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104263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података показује одакле информација долази, куда иде и ко је успут обрађује.</a:t>
            </a:r>
          </a:p>
        </p:txBody>
      </p:sp>
      <p:sp>
        <p:nvSpPr>
          <p:cNvPr id="1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5E97466-378C-4481-A6E9-F21CDB76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638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7FCA2D93-17B3-406F-AB3C-0C227F5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94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16BD7BE-3936-4F4E-A9BB-35055C9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6418"/>
            <a:ext cx="86786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Сваки ток је везан за имовину коју преноси, па наслеђује њен значај.</a:t>
            </a:r>
          </a:p>
        </p:txBody>
      </p:sp>
      <p:sp>
        <p:nvSpPr>
          <p:cNvPr id="1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FE8BECC-5247-4E22-AD7F-F772C1EC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9713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85C1254-1125-4197-950B-28CC4D23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926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3531D01-1224-40DE-8A7D-BA87688C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9744"/>
            <a:ext cx="1021630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Дијаграм тока се ажурира када се промени интеграција, извоз или место чувања.</a:t>
            </a:r>
          </a:p>
        </p:txBody>
      </p:sp>
      <p:sp>
        <p:nvSpPr>
          <p:cNvPr id="1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6E7CC7F-98D3-4AD5-B4EB-A180E3EC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83039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D547DB1-F3F6-4807-A954-0ED44623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8320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204E7B26-5B40-4D54-BA0F-A045D72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04025"/>
            <a:ext cx="8992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ток осетљивог податка у вашем систему има највише учесника?</a:t>
            </a:r>
          </a:p>
        </p:txBody>
      </p:sp>
      <p:sp>
        <p:nvSpPr>
          <p:cNvPr id="2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D43C159-97E7-400D-BD63-797C5CF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E96387F-005B-47FA-85BA-9A7085D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1143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BF709-8DD0-4B28-9642-230BAA91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F4B08-8103-47F2-973F-7BC035AB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7924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C4D5A99-ABBC-47DC-A583-3AC2587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7924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5BC49-2D99-4B89-87E4-27C37D1E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text-inventar">
            <a:extLst xmlns:a="http://schemas.openxmlformats.org/drawingml/2006/main">
              <a:ext uri="{FF2B5EF4-FFF2-40B4-BE49-F238E27FC236}">
                <a16:creationId xmlns:a16="http://schemas.microsoft.com/office/drawing/2014/main" id="{A5C89C2D-A925-4E3C-BA1A-7F308FEC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 · ИЛУСТРАТИВНИ ПРИМЕР</a:t>
            </a:r>
          </a:p>
        </p:txBody>
      </p:sp>
      <p:sp>
        <p:nvSpPr>
          <p:cNvPr id="6" name="heading-inventar">
            <a:extLst xmlns:a="http://schemas.openxmlformats.org/drawingml/2006/main">
              <a:ext uri="{FF2B5EF4-FFF2-40B4-BE49-F238E27FC236}">
                <a16:creationId xmlns:a16="http://schemas.microsoft.com/office/drawing/2014/main" id="{420E2340-1A11-4115-9D3C-8D6E482B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6415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8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Инвентар који води до одлуке</a:t>
            </a:r>
          </a:p>
        </p:txBody>
      </p:sp>
      <p:sp>
        <p:nvSpPr>
          <p:cNvPr id="7" name="text-inventar">
            <a:extLst xmlns:a="http://schemas.openxmlformats.org/drawingml/2006/main">
              <a:ext uri="{FF2B5EF4-FFF2-40B4-BE49-F238E27FC236}">
                <a16:creationId xmlns:a16="http://schemas.microsoft.com/office/drawing/2014/main" id="{B7FB4DA1-1FCB-4919-B80A-8157FAA4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49344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Мали запис је користан када повезује власника, вредност и стварни ток.</a:t>
            </a:r>
          </a:p>
        </p:txBody>
      </p:sp>
      <p:sp>
        <p:nvSpPr>
          <p:cNvPr id="8" name="text-inventar">
            <a:extLst xmlns:a="http://schemas.openxmlformats.org/drawingml/2006/main">
              <a:ext uri="{FF2B5EF4-FFF2-40B4-BE49-F238E27FC236}">
                <a16:creationId xmlns:a16="http://schemas.microsoft.com/office/drawing/2014/main" id="{1C0C0111-5C7B-454B-A184-14F14B62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69745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Илустративни пример</a:t>
            </a:r>
          </a:p>
        </p:txBody>
      </p:sp>
      <p:sp>
        <p:nvSpPr>
          <p:cNvPr id="9" name="text-inventar">
            <a:extLst xmlns:a="http://schemas.openxmlformats.org/drawingml/2006/main">
              <a:ext uri="{FF2B5EF4-FFF2-40B4-BE49-F238E27FC236}">
                <a16:creationId xmlns:a16="http://schemas.microsoft.com/office/drawing/2014/main" id="{D711AA96-0EE3-4CE2-981B-E8E5B11E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175450"/>
            <a:ext cx="1235883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Утицај припада имовини. Конкретна претња објашњава како та вредност може бити нарушена.</a:t>
            </a:r>
          </a:p>
        </p:txBody>
      </p:sp>
      <p:sp>
        <p:nvSpPr>
          <p:cNvPr id="10" name="text-inventar">
            <a:extLst xmlns:a="http://schemas.openxmlformats.org/drawingml/2006/main">
              <a:ext uri="{FF2B5EF4-FFF2-40B4-BE49-F238E27FC236}">
                <a16:creationId xmlns:a16="http://schemas.microsoft.com/office/drawing/2014/main" id="{18B6DFB0-D6F0-4D66-9E11-398B24A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1" name="text-inventar">
            <a:extLst xmlns:a="http://schemas.openxmlformats.org/drawingml/2006/main">
              <a:ext uri="{FF2B5EF4-FFF2-40B4-BE49-F238E27FC236}">
                <a16:creationId xmlns:a16="http://schemas.microsoft.com/office/drawing/2014/main" id="{ABD8F995-EF92-402A-A535-3403C708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316185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32548"/>
                <a:gridCol w="5382369"/>
                <a:gridCol w="6015633"/>
              </a:tblGrid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Имовина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5EC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Власник и вредност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5EC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Ток и животни циклус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5ECE7"/>
                    </a:solidFill>
                  </a:tcPr>
                </a:tc>
              </a:tr>
              <a:tr h="104566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Пословни записи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Пословни тим, поверљивост и исправност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Креирање → API → база → извоз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Сервисни идентитет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Власник интеграције, дозвољене радње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Издавање → употреба → опозив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Кључ потписа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Одговорни тим, веродостојност поруке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Чување → ротација → уништавање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514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D6961-7E1D-456E-9A18-1E1A9C0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83462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0E146-FA84-4B12-8A16-4912120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728" y="6158657"/>
            <a:ext cx="1756172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776B0-8E84-4AC5-A353-99F8743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158657"/>
            <a:ext cx="158100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6620B-1D94-4453-9F03-58B9067F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501" y="6158657"/>
            <a:ext cx="247129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09F9C-945F-4AA5-A5B4-9D71BF92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4C1"/>
          </a:solidFill>
          <a:ln xmlns:a="http://schemas.openxmlformats.org/drawingml/2006/main" w="0">
            <a:noFill/>
          </a:ln>
        </p:spPr>
      </p:sp>
      <p:sp>
        <p:nvSpPr>
          <p:cNvPr id="6" name="text-deo2">
            <a:extLst xmlns:a="http://schemas.openxmlformats.org/drawingml/2006/main">
              <a:ext uri="{FF2B5EF4-FFF2-40B4-BE49-F238E27FC236}">
                <a16:creationId xmlns:a16="http://schemas.microsoft.com/office/drawing/2014/main" id="{8CA41EB4-3111-4445-99D2-DB5E62A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7" name="text-deo2">
            <a:extLst xmlns:a="http://schemas.openxmlformats.org/drawingml/2006/main">
              <a:ext uri="{FF2B5EF4-FFF2-40B4-BE49-F238E27FC236}">
                <a16:creationId xmlns:a16="http://schemas.microsoft.com/office/drawing/2014/main" id="{4FC2D1CE-0E1D-4106-8430-97582306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8" name="heading-deo2">
            <a:extLst xmlns:a="http://schemas.openxmlformats.org/drawingml/2006/main">
              <a:ext uri="{FF2B5EF4-FFF2-40B4-BE49-F238E27FC236}">
                <a16:creationId xmlns:a16="http://schemas.microsoft.com/office/drawing/2014/main" id="{979742F8-AB6B-4008-AEF4-F9656C16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355509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19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Границе поверења</a:t>
            </a:r>
          </a:p>
        </p:txBody>
      </p:sp>
      <p:sp>
        <p:nvSpPr>
          <p:cNvPr id="9" name="text-deo2">
            <a:extLst xmlns:a="http://schemas.openxmlformats.org/drawingml/2006/main">
              <a:ext uri="{FF2B5EF4-FFF2-40B4-BE49-F238E27FC236}">
                <a16:creationId xmlns:a16="http://schemas.microsoft.com/office/drawing/2014/main" id="{ECA2B179-A17E-4140-98CB-C83CBBC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41310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Уцртати места на којима се мењају претпоставке о идентитету и </a:t>
            </a:r>
          </a:p>
        </p:txBody>
      </p:sp>
      <p:sp>
        <p:nvSpPr>
          <p:cNvPr id="10" name="text-deo2">
            <a:extLst xmlns:a="http://schemas.openxmlformats.org/drawingml/2006/main">
              <a:ext uri="{FF2B5EF4-FFF2-40B4-BE49-F238E27FC236}">
                <a16:creationId xmlns:a16="http://schemas.microsoft.com/office/drawing/2014/main" id="{000F5CFA-6301-4DB4-B124-2BAA832C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6636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подацима.</a:t>
            </a:r>
          </a:p>
        </p:txBody>
      </p:sp>
      <p:sp>
        <p:nvSpPr>
          <p:cNvPr id="11" name="text-deo2">
            <a:extLst xmlns:a="http://schemas.openxmlformats.org/drawingml/2006/main">
              <a:ext uri="{FF2B5EF4-FFF2-40B4-BE49-F238E27FC236}">
                <a16:creationId xmlns:a16="http://schemas.microsoft.com/office/drawing/2014/main" id="{B383C147-B2B5-41BA-97AB-276F1AC2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7774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DFD</a:t>
            </a:r>
          </a:p>
        </p:txBody>
      </p:sp>
      <p:sp>
        <p:nvSpPr>
          <p:cNvPr id="12" name="text-deo2">
            <a:extLst xmlns:a="http://schemas.openxmlformats.org/drawingml/2006/main">
              <a:ext uri="{FF2B5EF4-FFF2-40B4-BE49-F238E27FC236}">
                <a16:creationId xmlns:a16="http://schemas.microsoft.com/office/drawing/2014/main" id="{6A2D3B62-BAD9-4E2A-AA4C-0191200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753" y="6244382"/>
            <a:ext cx="169902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спољни улаз</a:t>
            </a:r>
          </a:p>
        </p:txBody>
      </p:sp>
      <p:sp>
        <p:nvSpPr>
          <p:cNvPr id="13" name="text-deo2">
            <a:extLst xmlns:a="http://schemas.openxmlformats.org/drawingml/2006/main">
              <a:ext uri="{FF2B5EF4-FFF2-40B4-BE49-F238E27FC236}">
                <a16:creationId xmlns:a16="http://schemas.microsoft.com/office/drawing/2014/main" id="{87C22AD9-87A3-4363-8170-F0CD60A7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6244382"/>
            <a:ext cx="152385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складиште</a:t>
            </a:r>
          </a:p>
        </p:txBody>
      </p:sp>
      <p:sp>
        <p:nvSpPr>
          <p:cNvPr id="14" name="text-deo2">
            <a:extLst xmlns:a="http://schemas.openxmlformats.org/drawingml/2006/main">
              <a:ext uri="{FF2B5EF4-FFF2-40B4-BE49-F238E27FC236}">
                <a16:creationId xmlns:a16="http://schemas.microsoft.com/office/drawing/2014/main" id="{537ED62D-0870-4E36-9271-3DBBC082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526" y="6244382"/>
            <a:ext cx="24141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провера</a:t>
            </a:r>
          </a:p>
        </p:txBody>
      </p:sp>
      <p:sp>
        <p:nvSpPr>
          <p:cNvPr id="15" name="text-deo2">
            <a:extLst xmlns:a="http://schemas.openxmlformats.org/drawingml/2006/main">
              <a:ext uri="{FF2B5EF4-FFF2-40B4-BE49-F238E27FC236}">
                <a16:creationId xmlns:a16="http://schemas.microsoft.com/office/drawing/2014/main" id="{2D193EE1-3259-4AC4-BC56-0C93991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2">
            <a:extLst xmlns:a="http://schemas.openxmlformats.org/drawingml/2006/main">
              <a:ext uri="{FF2B5EF4-FFF2-40B4-BE49-F238E27FC236}">
                <a16:creationId xmlns:a16="http://schemas.microsoft.com/office/drawing/2014/main" id="{676DD8B2-D73E-495F-85D5-835972D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7009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54800-3E08-44AB-A60F-D41755DC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E114E-483D-4B03-8C22-E0D061A5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3D31A-F36D-4B1A-ACD0-5B7D607D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591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94A54-CDD3-4ABF-A7A9-F213CC4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924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2C9E7-208E-4E63-AFE9-12C4779F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7FA087B7-291D-44E9-91F8-2217D861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51EEF-6D6D-42CC-AE34-E96363F6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54A42DD-8075-4130-9451-AD1B671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ПРОМЕНА ПРЕТПОСТАВКИ</a:t>
            </a:r>
          </a:p>
        </p:txBody>
      </p:sp>
      <p:sp>
        <p:nvSpPr>
          <p:cNvPr id="9" name="heading-source-06">
            <a:extLst xmlns:a="http://schemas.openxmlformats.org/drawingml/2006/main">
              <a:ext uri="{FF2B5EF4-FFF2-40B4-BE49-F238E27FC236}">
                <a16:creationId xmlns:a16="http://schemas.microsoft.com/office/drawing/2014/main" id="{0C42EF4E-7F89-4FFF-A5A2-E557DBE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39174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поверења</a:t>
            </a:r>
          </a:p>
        </p:txBody>
      </p:sp>
      <p:sp>
        <p:nvSpPr>
          <p:cNvPr id="1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A6E2E6A-E1E0-4E6D-961D-C7D12E6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2249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претпоставки</a:t>
            </a:r>
          </a:p>
        </p:txBody>
      </p:sp>
      <p:sp>
        <p:nvSpPr>
          <p:cNvPr id="1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E9F91601-1D7C-4BED-9575-6BA430C3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7ABACD1-7542-42A2-B9FA-3580DC82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1207889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поверења је место где престаје да важи претпоставка о пореклу и исправности податка.</a:t>
            </a:r>
          </a:p>
        </p:txBody>
      </p:sp>
      <p:sp>
        <p:nvSpPr>
          <p:cNvPr id="1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2276258-F3DF-4892-AA4B-95862296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638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769F8025-CE89-4E34-B425-27A9691D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94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F973A9B-5921-490E-907D-E163016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6418"/>
            <a:ext cx="1046470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који прелази границу поверења носи већи ризик и тражи експлицитну проверу.</a:t>
            </a:r>
          </a:p>
        </p:txBody>
      </p:sp>
      <p:sp>
        <p:nvSpPr>
          <p:cNvPr id="1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9D38161E-F616-43AC-A945-308A6F2C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9713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FC73760-FC6F-4E71-8336-99413F1D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926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66D5AE5-927E-4D24-A1E5-31FB493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9744"/>
            <a:ext cx="111446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 сваку границу се бележи која претпоставка више не важи и која је контрола замењује.</a:t>
            </a:r>
          </a:p>
        </p:txBody>
      </p:sp>
      <p:sp>
        <p:nvSpPr>
          <p:cNvPr id="1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AE0BB4D7-A9A1-40DB-BE03-DB5205A4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83039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95C7D5F-DD17-48C6-AD26-FFDFBE65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8320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98581E0-BFD0-402B-9712-87262888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04025"/>
            <a:ext cx="122598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  <p:sp>
        <p:nvSpPr>
          <p:cNvPr id="2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9A02F7A5-1387-454A-BEC0-80849334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3248AC0-61F3-4C45-BAE2-789A94D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90596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FA7B6-A002-44E7-ABCB-729EA7FA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16C80-CBAA-4952-B22E-B439D9B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32CA9873-2CE0-4425-8DB6-39A8C049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РАЗЛИКОВАЊЕ ПОЈМОВА</a:t>
            </a:r>
          </a:p>
        </p:txBody>
      </p:sp>
      <p:sp>
        <p:nvSpPr>
          <p:cNvPr id="4" name="heading-source-08">
            <a:extLst xmlns:a="http://schemas.openxmlformats.org/drawingml/2006/main">
              <a:ext uri="{FF2B5EF4-FFF2-40B4-BE49-F238E27FC236}">
                <a16:creationId xmlns:a16="http://schemas.microsoft.com/office/drawing/2014/main" id="{466CFF49-9218-49B3-BF2E-4A1B655D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30029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94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Имовина, рањивост и претња</a:t>
            </a:r>
          </a:p>
        </p:txBody>
      </p:sp>
      <p:sp>
        <p:nvSpPr>
          <p:cNvPr id="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4D2EE1DA-6B83-48E0-9EB0-52813F74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8755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0E209F1F-30D8-4F74-825B-7B414CA9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7EF50889-A361-444D-8740-F40D8BA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351427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40931"/>
                <a:gridCol w="6015484"/>
                <a:gridCol w="6174135"/>
              </a:tblGrid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Појам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5EC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Значење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5EC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Питање за анализу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5ECE7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Имовина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Оно чија вредност захтева заштиту.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Шта губимо ако је угрожена?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Рањивост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Слабост коју је могуће искористити.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Где систем нема довољну заштиту?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Претња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Могући узрок нежељеног исхода.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 или шта може активирати слабост?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Ризик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Комбинација вероватноће и последице.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Шта прво треба умањити?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3150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B18D9-2151-4BF9-85C1-0CBE9F30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7CFF3-D220-498B-A1FC-D60855F7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596c11c4a4fd5"/>
          <a:stretch xmlns:a="http://schemas.openxmlformats.org/drawingml/2006/main"/>
        </p:blipFill>
        <p:spPr>
          <a:xfrm xmlns:a="http://schemas.openxmlformats.org/drawingml/2006/main">
            <a:off x="1219200" y="3619500"/>
            <a:ext cx="158496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text-dfd">
            <a:extLst xmlns:a="http://schemas.openxmlformats.org/drawingml/2006/main">
              <a:ext uri="{FF2B5EF4-FFF2-40B4-BE49-F238E27FC236}">
                <a16:creationId xmlns:a16="http://schemas.microsoft.com/office/drawing/2014/main" id="{4F1687C8-7888-44B2-9FDF-645702F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255" y="4962525"/>
            <a:ext cx="169366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Корисник</a:t>
            </a:r>
          </a:p>
        </p:txBody>
      </p:sp>
      <p:sp>
        <p:nvSpPr>
          <p:cNvPr id="5" name="text-dfd">
            <a:extLst xmlns:a="http://schemas.openxmlformats.org/drawingml/2006/main">
              <a:ext uri="{FF2B5EF4-FFF2-40B4-BE49-F238E27FC236}">
                <a16:creationId xmlns:a16="http://schemas.microsoft.com/office/drawing/2014/main" id="{6A4D4FC6-F26A-4AFB-AC36-ACDAD9E9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854" y="4962525"/>
            <a:ext cx="839093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API</a:t>
            </a:r>
          </a:p>
        </p:txBody>
      </p:sp>
      <p:sp>
        <p:nvSpPr>
          <p:cNvPr id="6" name="text-dfd">
            <a:extLst xmlns:a="http://schemas.openxmlformats.org/drawingml/2006/main">
              <a:ext uri="{FF2B5EF4-FFF2-40B4-BE49-F238E27FC236}">
                <a16:creationId xmlns:a16="http://schemas.microsoft.com/office/drawing/2014/main" id="{61FAF0BD-5301-4012-8FCB-624A2E66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5057775"/>
            <a:ext cx="1914376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Складиште</a:t>
            </a:r>
          </a:p>
        </p:txBody>
      </p:sp>
      <p:sp>
        <p:nvSpPr>
          <p:cNvPr id="7" name="text-dfd">
            <a:extLst xmlns:a="http://schemas.openxmlformats.org/drawingml/2006/main">
              <a:ext uri="{FF2B5EF4-FFF2-40B4-BE49-F238E27FC236}">
                <a16:creationId xmlns:a16="http://schemas.microsoft.com/office/drawing/2014/main" id="{15A0490A-A834-46A3-9A4D-AC1450FB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739" y="4962525"/>
            <a:ext cx="1762274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Прималац</a:t>
            </a:r>
          </a:p>
        </p:txBody>
      </p:sp>
      <p:sp>
        <p:nvSpPr>
          <p:cNvPr id="8" name="text-dfd">
            <a:extLst xmlns:a="http://schemas.openxmlformats.org/drawingml/2006/main">
              <a:ext uri="{FF2B5EF4-FFF2-40B4-BE49-F238E27FC236}">
                <a16:creationId xmlns:a16="http://schemas.microsoft.com/office/drawing/2014/main" id="{8B931830-5182-4B09-8C1C-CFCE1AA9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944" y="4000500"/>
            <a:ext cx="33383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2C7A4B"/>
                </a:solidFill>
                <a:latin typeface="IBM Plex Sans"/>
                <a:ea typeface="IBM Plex Sans"/>
                <a:cs typeface="IBM Plex Sans"/>
              </a:rPr>
              <a:t>Граница поверења сервиса</a:t>
            </a:r>
          </a:p>
        </p:txBody>
      </p:sp>
      <p:sp>
        <p:nvSpPr>
          <p:cNvPr id="9" name="text-dfd">
            <a:extLst xmlns:a="http://schemas.openxmlformats.org/drawingml/2006/main">
              <a:ext uri="{FF2B5EF4-FFF2-40B4-BE49-F238E27FC236}">
                <a16:creationId xmlns:a16="http://schemas.microsoft.com/office/drawing/2014/main" id="{DA10BF50-E558-480A-988E-8BE79FE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122" y="4381500"/>
            <a:ext cx="105340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захтев</a:t>
            </a:r>
          </a:p>
        </p:txBody>
      </p:sp>
      <p:sp>
        <p:nvSpPr>
          <p:cNvPr id="10" name="text-dfd">
            <a:extLst xmlns:a="http://schemas.openxmlformats.org/drawingml/2006/main">
              <a:ext uri="{FF2B5EF4-FFF2-40B4-BE49-F238E27FC236}">
                <a16:creationId xmlns:a16="http://schemas.microsoft.com/office/drawing/2014/main" id="{AA7F96EF-E638-4A86-B303-61806B8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085" y="5715000"/>
            <a:ext cx="8374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упис</a:t>
            </a:r>
          </a:p>
        </p:txBody>
      </p:sp>
      <p:sp>
        <p:nvSpPr>
          <p:cNvPr id="11" name="text-dfd">
            <a:extLst xmlns:a="http://schemas.openxmlformats.org/drawingml/2006/main">
              <a:ext uri="{FF2B5EF4-FFF2-40B4-BE49-F238E27FC236}">
                <a16:creationId xmlns:a16="http://schemas.microsoft.com/office/drawing/2014/main" id="{A552D4C5-1E54-4587-A59C-FB4DCC21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182" y="4381500"/>
            <a:ext cx="9603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извоз</a:t>
            </a:r>
          </a:p>
        </p:txBody>
      </p:sp>
      <p:sp>
        <p:nvSpPr>
          <p:cNvPr id="12" name="text-dfd">
            <a:extLst xmlns:a="http://schemas.openxmlformats.org/drawingml/2006/main">
              <a:ext uri="{FF2B5EF4-FFF2-40B4-BE49-F238E27FC236}">
                <a16:creationId xmlns:a16="http://schemas.microsoft.com/office/drawing/2014/main" id="{741A4363-A7DE-4DFD-B3CC-FCA4A7B5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АРХИТЕКТОНСКА СКИЦА</a:t>
            </a:r>
          </a:p>
        </p:txBody>
      </p:sp>
      <p:sp>
        <p:nvSpPr>
          <p:cNvPr id="13" name="heading-dfd">
            <a:extLst xmlns:a="http://schemas.openxmlformats.org/drawingml/2006/main">
              <a:ext uri="{FF2B5EF4-FFF2-40B4-BE49-F238E27FC236}">
                <a16:creationId xmlns:a16="http://schemas.microsoft.com/office/drawing/2014/main" id="{E0B093F1-DD0D-4D83-8B11-CA0D720B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53216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47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Шта показује једноставан DFD</a:t>
            </a:r>
          </a:p>
        </p:txBody>
      </p:sp>
      <p:sp>
        <p:nvSpPr>
          <p:cNvPr id="14" name="text-dfd">
            <a:extLst xmlns:a="http://schemas.openxmlformats.org/drawingml/2006/main">
              <a:ext uri="{FF2B5EF4-FFF2-40B4-BE49-F238E27FC236}">
                <a16:creationId xmlns:a16="http://schemas.microsoft.com/office/drawing/2014/main" id="{16DE8AC9-B4A2-48F6-9D09-73540C1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89005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Компоненте, податак и граница чине основу разговора о претњама.</a:t>
            </a:r>
          </a:p>
        </p:txBody>
      </p:sp>
      <p:sp>
        <p:nvSpPr>
          <p:cNvPr id="15" name="text-dfd">
            <a:extLst xmlns:a="http://schemas.openxmlformats.org/drawingml/2006/main">
              <a:ext uri="{FF2B5EF4-FFF2-40B4-BE49-F238E27FC236}">
                <a16:creationId xmlns:a16="http://schemas.microsoft.com/office/drawing/2014/main" id="{472568B9-A9FB-4056-8E76-30D0E48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581900"/>
            <a:ext cx="1236583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Илустративни пример · стрелице показују податак и смер, испрекидана линија промену претпоставки.</a:t>
            </a:r>
          </a:p>
        </p:txBody>
      </p:sp>
      <p:sp>
        <p:nvSpPr>
          <p:cNvPr id="16" name="text-dfd">
            <a:extLst xmlns:a="http://schemas.openxmlformats.org/drawingml/2006/main">
              <a:ext uri="{FF2B5EF4-FFF2-40B4-BE49-F238E27FC236}">
                <a16:creationId xmlns:a16="http://schemas.microsoft.com/office/drawing/2014/main" id="{C0DBBE65-BF68-4B55-82F5-1772FBC7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dfd">
            <a:extLst xmlns:a="http://schemas.openxmlformats.org/drawingml/2006/main">
              <a:ext uri="{FF2B5EF4-FFF2-40B4-BE49-F238E27FC236}">
                <a16:creationId xmlns:a16="http://schemas.microsoft.com/office/drawing/2014/main" id="{8CFBBA64-C244-499A-B702-BF26CE2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86737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31B8AA-D249-4B8B-8CE3-5FD2C4F7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CD12-4B53-42E7-AD54-6AC0BC01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12591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0E908-2E3A-4FD3-801C-3EE53215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72558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F9220-0654-4352-9DDA-9D67A124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32524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AAF1A-D426-4F94-BDFA-216267C3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592491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0AFDB-A81A-4B51-9578-17155C3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E4BAEE0-DB89-4272-94FF-17407F8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ЧИТАЊЕ АРХИТЕКТУРЕ</a:t>
            </a:r>
          </a:p>
        </p:txBody>
      </p:sp>
      <p:sp>
        <p:nvSpPr>
          <p:cNvPr id="8" name="heading-source-10">
            <a:extLst xmlns:a="http://schemas.openxmlformats.org/drawingml/2006/main">
              <a:ext uri="{FF2B5EF4-FFF2-40B4-BE49-F238E27FC236}">
                <a16:creationId xmlns:a16="http://schemas.microsoft.com/office/drawing/2014/main" id="{DFFDC470-27AE-44D6-A697-F1AABB8A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84803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366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Читање архитектонске скице кроз безбедност</a:t>
            </a:r>
          </a:p>
        </p:txBody>
      </p:sp>
      <p:sp>
        <p:nvSpPr>
          <p:cNvPr id="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E10FCE7-C8CB-4863-BAD6-FDA993BC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3664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1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2D15295-F42D-458A-8EC2-D627853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КОНТЕКСТ</a:t>
            </a:r>
          </a:p>
        </p:txBody>
      </p:sp>
      <p:sp>
        <p:nvSpPr>
          <p:cNvPr id="1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52F4BE9-C9AF-4526-8F1A-623949E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3547"/>
            <a:ext cx="722560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Читање архитектонске скице кроз безбедност</a:t>
            </a:r>
          </a:p>
        </p:txBody>
      </p:sp>
      <p:sp>
        <p:nvSpPr>
          <p:cNvPr id="1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B5D22E1-B021-4A73-AD0D-6AEE5E84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1687"/>
            <a:ext cx="729748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Архитектонска скица добија безбедносну вредност када се </a:t>
            </a:r>
          </a:p>
        </p:txBody>
      </p:sp>
      <p:sp>
        <p:nvSpPr>
          <p:cNvPr id="1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91363C9-5F03-43A3-A2E9-165E098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8308"/>
            <a:ext cx="701709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преко компоненти уцртају подаци, идентитети и границе </a:t>
            </a:r>
          </a:p>
        </p:txBody>
      </p:sp>
      <p:sp>
        <p:nvSpPr>
          <p:cNvPr id="1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D8C4EEE-F5EC-439C-860C-7DE24042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4929"/>
            <a:ext cx="705400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поверења. Није потребно цртати сваку класу. Довољно је </a:t>
            </a:r>
          </a:p>
        </p:txBody>
      </p:sp>
      <p:sp>
        <p:nvSpPr>
          <p:cNvPr id="1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779D278-629C-4307-B943-C7CCEF54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1549"/>
            <a:ext cx="71647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показати делове кроз које пролази вредна информација и </a:t>
            </a:r>
          </a:p>
        </p:txBody>
      </p:sp>
      <p:sp>
        <p:nvSpPr>
          <p:cNvPr id="1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5B6BB07-0835-458E-A59B-EC63472B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98170"/>
            <a:ext cx="398219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одлуке које мењају њен статус.</a:t>
            </a:r>
          </a:p>
        </p:txBody>
      </p:sp>
      <p:sp>
        <p:nvSpPr>
          <p:cNvPr id="1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8CDAE10-2945-4F59-B781-1579E096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2D1FBAC-C9FC-411E-A912-96A83EA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03091"/>
            <a:ext cx="602188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Означити улазе које контролише корисник или </a:t>
            </a:r>
          </a:p>
        </p:txBody>
      </p:sp>
      <p:sp>
        <p:nvSpPr>
          <p:cNvPr id="1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263D331-DBD9-4F0F-B759-A77C5E1A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49712"/>
            <a:ext cx="263291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спољашњи сервис.</a:t>
            </a:r>
          </a:p>
        </p:txBody>
      </p:sp>
      <p:sp>
        <p:nvSpPr>
          <p:cNvPr id="2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E8A082A-2E8E-44B2-8D52-583FFD66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7258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583E8D36-0800-46A4-9824-2F219840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63058"/>
            <a:ext cx="67984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Означити место где се идентитет или дозвола поново </a:t>
            </a:r>
          </a:p>
        </p:txBody>
      </p:sp>
      <p:sp>
        <p:nvSpPr>
          <p:cNvPr id="2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414B37D-B5DD-4BCF-9A6F-2595FED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09679"/>
            <a:ext cx="189517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проверавају.</a:t>
            </a:r>
          </a:p>
        </p:txBody>
      </p:sp>
      <p:sp>
        <p:nvSpPr>
          <p:cNvPr id="2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047DE21-27F3-4350-9D49-42CD2F9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3254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3283287-D784-441E-A404-01EC7EBA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623024"/>
            <a:ext cx="632266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Означити складишта, кључеве и интеграције које </a:t>
            </a:r>
          </a:p>
        </p:txBody>
      </p:sp>
      <p:sp>
        <p:nvSpPr>
          <p:cNvPr id="2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66850B4-DF98-48D3-9ED0-A2F2E5F1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969645"/>
            <a:ext cx="399365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мењају последицу инцидента.</a:t>
            </a:r>
          </a:p>
        </p:txBody>
      </p:sp>
      <p:sp>
        <p:nvSpPr>
          <p:cNvPr id="2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61ABFEB-D90F-49E3-84BE-7301059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7925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D776053-5D57-454D-B72A-A707179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782991"/>
            <a:ext cx="684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Уз сваку границу записати једну реалну претпоставку </a:t>
            </a:r>
          </a:p>
        </p:txBody>
      </p:sp>
      <p:sp>
        <p:nvSpPr>
          <p:cNvPr id="2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A45FC94-C288-4C92-A61D-2009046B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129611"/>
            <a:ext cx="347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која може бити погрешна.</a:t>
            </a:r>
          </a:p>
        </p:txBody>
      </p:sp>
      <p:sp>
        <p:nvSpPr>
          <p:cNvPr id="2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FC50DA2B-ADE3-4F04-B9EC-E3B4BE57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08AEFAC-24B2-41AA-8E12-D46A8B66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8025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216E8A-C2B0-4AEF-B803-1D9D7452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8471-FFD0-4C17-9E0E-74FEC82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660DA-C569-416C-BC48-11B5CAA3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DF003-6D0E-4CA9-8D95-CD7C8EBB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3B5C0-1F01-4507-98A6-BD04B5E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8C732-063D-4B6E-8932-1F473E84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1F3DB597-7B88-4898-A8AA-DFDF4D74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7C2B-1917-428F-A3B6-88A561E6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b64d8153a47a7"/>
          <a:stretch xmlns:a="http://schemas.openxmlformats.org/drawingml/2006/main"/>
        </p:blipFill>
        <p:spPr>
          <a:xfrm xmlns:a="http://schemas.openxmlformats.org/drawingml/2006/main">
            <a:off x="4886325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cff44c466465b"/>
          <a:stretch xmlns:a="http://schemas.openxmlformats.org/drawingml/2006/main"/>
        </p:blipFill>
        <p:spPr>
          <a:xfrm xmlns:a="http://schemas.openxmlformats.org/drawingml/2006/main">
            <a:off x="9010650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2f8ca57334b7f"/>
          <a:stretch xmlns:a="http://schemas.openxmlformats.org/drawingml/2006/main"/>
        </p:blipFill>
        <p:spPr>
          <a:xfrm xmlns:a="http://schemas.openxmlformats.org/drawingml/2006/main">
            <a:off x="13134975" y="405928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502049D-F37D-493E-844E-9F9B615A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 · ПОСТУПАК</a:t>
            </a:r>
          </a:p>
        </p:txBody>
      </p:sp>
      <p:sp>
        <p:nvSpPr>
          <p:cNvPr id="13" name="heading-source-09">
            <a:extLst xmlns:a="http://schemas.openxmlformats.org/drawingml/2006/main">
              <a:ext uri="{FF2B5EF4-FFF2-40B4-BE49-F238E27FC236}">
                <a16:creationId xmlns:a16="http://schemas.microsoft.com/office/drawing/2014/main" id="{FB0E6992-313E-4182-8877-9D34BA9E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59809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83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Поступак моделовања претњи</a:t>
            </a:r>
          </a:p>
        </p:txBody>
      </p:sp>
      <p:sp>
        <p:nvSpPr>
          <p:cNvPr id="1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42EA7D3-3F97-47A7-9E18-6AA8B54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4594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Претња добија смисао тек када се веже за конкретну имовину, ток и последицу.</a:t>
            </a:r>
          </a:p>
        </p:txBody>
      </p:sp>
      <p:sp>
        <p:nvSpPr>
          <p:cNvPr id="1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ACA4049-9D8A-411B-AB05-4F200F18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ED60F024-FCF4-44AB-B7EE-B1D5DD4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00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</a:t>
            </a:r>
          </a:p>
        </p:txBody>
      </p:sp>
      <p:sp>
        <p:nvSpPr>
          <p:cNvPr id="1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19572AA-BEAC-4CA9-8B93-939EF41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17604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штитимо</a:t>
            </a:r>
          </a:p>
        </p:txBody>
      </p:sp>
      <p:sp>
        <p:nvSpPr>
          <p:cNvPr id="1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6B0D674D-1D7B-4791-8AAB-34EFE644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E9C974F-20FA-4DC6-9956-ECFA71A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21349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и граница</a:t>
            </a:r>
          </a:p>
        </p:txBody>
      </p:sp>
      <p:sp>
        <p:nvSpPr>
          <p:cNvPr id="2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350038E-B4F4-4350-B473-DCA8DE8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7805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где се мења поверење</a:t>
            </a:r>
          </a:p>
        </p:txBody>
      </p:sp>
      <p:sp>
        <p:nvSpPr>
          <p:cNvPr id="2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E1E14AD-0DC8-4571-AF85-13058FE9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AF79C11-9435-4148-BF62-3CCAE99A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6100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Сценарио</a:t>
            </a:r>
          </a:p>
        </p:txBody>
      </p:sp>
      <p:sp>
        <p:nvSpPr>
          <p:cNvPr id="2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B7F8188-38D0-4BDC-A148-5345973C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68843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може поћи по злу</a:t>
            </a:r>
          </a:p>
        </p:txBody>
      </p:sp>
      <p:sp>
        <p:nvSpPr>
          <p:cNvPr id="2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2BDCB605-EC77-4DDE-84FA-7182F44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3CE52AE-708B-4C91-852A-D96B80DA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6229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и доказ</a:t>
            </a:r>
          </a:p>
        </p:txBody>
      </p:sp>
      <p:sp>
        <p:nvSpPr>
          <p:cNvPr id="2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26B8ED6-6C21-4B3E-BAE5-F5C119C3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75213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умањујемо ризик</a:t>
            </a:r>
          </a:p>
        </p:txBody>
      </p:sp>
      <p:sp>
        <p:nvSpPr>
          <p:cNvPr id="2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A6659EF-B014-4B9F-BE9B-2BD5FEF6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53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ЕЛЕМЕНТИ АНАЛИЗЕ</a:t>
            </a:r>
          </a:p>
        </p:txBody>
      </p:sp>
      <p:sp>
        <p:nvSpPr>
          <p:cNvPr id="2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3DF0F48D-B37A-4E55-8E56-F2CD12B7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161722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  <p:sp>
        <p:nvSpPr>
          <p:cNvPr id="2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C7EA1775-E719-423D-9CDD-083FD8E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26147D8-5EAD-4DBA-B48A-9CD893F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21876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6A2A1-609D-452A-A270-5CA47317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72026"/>
            <a:ext cx="101098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5F4F9-B4D8-4BCA-B867-D0DF2080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089" y="5972026"/>
            <a:ext cx="142934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45FFA-E28E-49D1-9406-A06FA75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735" y="5972026"/>
            <a:ext cx="104179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A898F-A0F1-46DE-8930-5E59C8C6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5832" y="5972026"/>
            <a:ext cx="140344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BDAF8-200A-4558-BAA9-A6C41E8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3581" y="5972026"/>
            <a:ext cx="222155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4675C-BA97-4BD5-A806-DFC6DCF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4C1"/>
          </a:solidFill>
          <a:ln xmlns:a="http://schemas.openxmlformats.org/drawingml/2006/main" w="0">
            <a:noFill/>
          </a:ln>
        </p:spPr>
      </p:sp>
      <p:sp>
        <p:nvSpPr>
          <p:cNvPr id="7" name="text-deo3">
            <a:extLst xmlns:a="http://schemas.openxmlformats.org/drawingml/2006/main">
              <a:ext uri="{FF2B5EF4-FFF2-40B4-BE49-F238E27FC236}">
                <a16:creationId xmlns:a16="http://schemas.microsoft.com/office/drawing/2014/main" id="{1F78C32E-6BB2-49D6-B468-4C61488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8" name="text-deo3">
            <a:extLst xmlns:a="http://schemas.openxmlformats.org/drawingml/2006/main">
              <a:ext uri="{FF2B5EF4-FFF2-40B4-BE49-F238E27FC236}">
                <a16:creationId xmlns:a16="http://schemas.microsoft.com/office/drawing/2014/main" id="{284A1161-C97E-4A7C-946C-59CED4BF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8595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9" name="heading-deo3">
            <a:extLst xmlns:a="http://schemas.openxmlformats.org/drawingml/2006/main">
              <a:ext uri="{FF2B5EF4-FFF2-40B4-BE49-F238E27FC236}">
                <a16:creationId xmlns:a16="http://schemas.microsoft.com/office/drawing/2014/main" id="{9754385E-0ACC-4030-933F-1367C69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0975"/>
            <a:ext cx="8582471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37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Претње и контроле</a:t>
            </a:r>
          </a:p>
        </p:txBody>
      </p:sp>
      <p:sp>
        <p:nvSpPr>
          <p:cNvPr id="10" name="text-deo3">
            <a:extLst xmlns:a="http://schemas.openxmlformats.org/drawingml/2006/main">
              <a:ext uri="{FF2B5EF4-FFF2-40B4-BE49-F238E27FC236}">
                <a16:creationId xmlns:a16="http://schemas.microsoft.com/office/drawing/2014/main" id="{05B3A998-CCB2-4FCF-9AA3-962B5C12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1590"/>
            <a:ext cx="75372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 конкретног сценарија до провере која умањује ризик.</a:t>
            </a:r>
          </a:p>
        </p:txBody>
      </p:sp>
      <p:sp>
        <p:nvSpPr>
          <p:cNvPr id="11" name="text-deo3">
            <a:extLst xmlns:a="http://schemas.openxmlformats.org/drawingml/2006/main">
              <a:ext uri="{FF2B5EF4-FFF2-40B4-BE49-F238E27FC236}">
                <a16:creationId xmlns:a16="http://schemas.microsoft.com/office/drawing/2014/main" id="{7A208C40-A4C5-46C6-A57F-BC05CC6C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057751"/>
            <a:ext cx="9538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актер</a:t>
            </a:r>
          </a:p>
        </p:txBody>
      </p:sp>
      <p:sp>
        <p:nvSpPr>
          <p:cNvPr id="12" name="text-deo3">
            <a:extLst xmlns:a="http://schemas.openxmlformats.org/drawingml/2006/main">
              <a:ext uri="{FF2B5EF4-FFF2-40B4-BE49-F238E27FC236}">
                <a16:creationId xmlns:a16="http://schemas.microsoft.com/office/drawing/2014/main" id="{71574D8B-F3CC-44C4-8E46-CF6D12B7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114" y="6057751"/>
            <a:ext cx="13721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сценарио</a:t>
            </a:r>
          </a:p>
        </p:txBody>
      </p:sp>
      <p:sp>
        <p:nvSpPr>
          <p:cNvPr id="13" name="text-deo3">
            <a:extLst xmlns:a="http://schemas.openxmlformats.org/drawingml/2006/main">
              <a:ext uri="{FF2B5EF4-FFF2-40B4-BE49-F238E27FC236}">
                <a16:creationId xmlns:a16="http://schemas.microsoft.com/office/drawing/2014/main" id="{326D86D6-39A7-489F-903E-DFACAEF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60" y="6057751"/>
            <a:ext cx="98464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</a:t>
            </a:r>
          </a:p>
        </p:txBody>
      </p:sp>
      <p:sp>
        <p:nvSpPr>
          <p:cNvPr id="14" name="text-deo3">
            <a:extLst xmlns:a="http://schemas.openxmlformats.org/drawingml/2006/main">
              <a:ext uri="{FF2B5EF4-FFF2-40B4-BE49-F238E27FC236}">
                <a16:creationId xmlns:a16="http://schemas.microsoft.com/office/drawing/2014/main" id="{28E1DE8F-06AB-4DD8-88CE-4ED6A64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57" y="6057751"/>
            <a:ext cx="13462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5" name="text-deo3">
            <a:extLst xmlns:a="http://schemas.openxmlformats.org/drawingml/2006/main">
              <a:ext uri="{FF2B5EF4-FFF2-40B4-BE49-F238E27FC236}">
                <a16:creationId xmlns:a16="http://schemas.microsoft.com/office/drawing/2014/main" id="{C4F46867-5323-4794-BB2B-895E1A40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3606" y="6057751"/>
            <a:ext cx="21644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преостали ризик</a:t>
            </a:r>
          </a:p>
        </p:txBody>
      </p:sp>
      <p:sp>
        <p:nvSpPr>
          <p:cNvPr id="16" name="text-deo3">
            <a:extLst xmlns:a="http://schemas.openxmlformats.org/drawingml/2006/main">
              <a:ext uri="{FF2B5EF4-FFF2-40B4-BE49-F238E27FC236}">
                <a16:creationId xmlns:a16="http://schemas.microsoft.com/office/drawing/2014/main" id="{B236CA7C-381D-49B4-882F-E0B18651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deo3">
            <a:extLst xmlns:a="http://schemas.openxmlformats.org/drawingml/2006/main">
              <a:ext uri="{FF2B5EF4-FFF2-40B4-BE49-F238E27FC236}">
                <a16:creationId xmlns:a16="http://schemas.microsoft.com/office/drawing/2014/main" id="{CE314A49-60A9-4698-B3B7-396C0323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86912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180FA-4707-447E-AA47-204CBD1D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0A5BA-DB21-49D8-85BF-415D7CAD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CA33F-80B1-455E-87BA-1FC72B6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591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58413-B67D-443C-9849-8E9B020C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924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3606E-E68D-4713-B7FB-F6F3358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FBF1E6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5DDCCD1-417F-4BAC-BC34-5F58436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07820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A8520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97B0D-D4A0-4E89-909B-B3378E8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A0D4094-6369-4D9F-949F-EBEE308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ПРЕТЊА И КОНТРОЛА</a:t>
            </a:r>
          </a:p>
        </p:txBody>
      </p:sp>
      <p:sp>
        <p:nvSpPr>
          <p:cNvPr id="9" name="heading-source-07">
            <a:extLst xmlns:a="http://schemas.openxmlformats.org/drawingml/2006/main">
              <a:ext uri="{FF2B5EF4-FFF2-40B4-BE49-F238E27FC236}">
                <a16:creationId xmlns:a16="http://schemas.microsoft.com/office/drawing/2014/main" id="{362B1614-91D8-4A45-881A-7836A9D7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53432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Претња и контрола</a:t>
            </a:r>
          </a:p>
        </p:txBody>
      </p:sp>
      <p:sp>
        <p:nvSpPr>
          <p:cNvPr id="1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8D88BD13-F991-4185-A67E-82C537F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23955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ризик и одговор</a:t>
            </a:r>
          </a:p>
        </p:txBody>
      </p:sp>
      <p:sp>
        <p:nvSpPr>
          <p:cNvPr id="1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B3B5449-3AEF-4D11-B7FF-103B462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7D51CF63-7AD6-4A35-9A1E-350889DA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90872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Претња је конкретан сценарио: ко, преко ког тока, шта може да наруши.</a:t>
            </a:r>
          </a:p>
        </p:txBody>
      </p:sp>
      <p:sp>
        <p:nvSpPr>
          <p:cNvPr id="1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F5D0392A-F3AC-40D6-A562-C9134D00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6387"/>
            <a:ext cx="45562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одлуку?</a:t>
            </a:r>
          </a:p>
        </p:txBody>
      </p:sp>
      <p:sp>
        <p:nvSpPr>
          <p:cNvPr id="1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97A72F55-8C15-4F2D-B1C7-9E26A96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94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0F5E767-A03F-4F8B-B23F-8E49E67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6418"/>
            <a:ext cx="1330895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 овом моделу ризик је производ вероватноће и утицаја, праг из политике одређује шта се мора третирати.</a:t>
            </a:r>
          </a:p>
        </p:txBody>
      </p:sp>
      <p:sp>
        <p:nvSpPr>
          <p:cNvPr id="16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4C62AD84-5AEB-414A-BFBA-0472938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9713"/>
            <a:ext cx="49497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видљива?</a:t>
            </a:r>
          </a:p>
        </p:txBody>
      </p:sp>
      <p:sp>
        <p:nvSpPr>
          <p:cNvPr id="17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98CF044-E007-422C-BF35-97D62B7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926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90DE898D-6680-43F1-B554-44843402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9744"/>
            <a:ext cx="938941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Преостали ризик се бележи заједно са контролом и њеним ограничењима.</a:t>
            </a:r>
          </a:p>
        </p:txBody>
      </p:sp>
      <p:sp>
        <p:nvSpPr>
          <p:cNvPr id="19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50A6AE4F-8061-46BA-A929-23F1A40D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83039"/>
            <a:ext cx="47193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исхода?</a:t>
            </a:r>
          </a:p>
        </p:txBody>
      </p:sp>
      <p:sp>
        <p:nvSpPr>
          <p:cNvPr id="2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0120895F-322B-4772-903A-FB17CA0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798320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2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5916CEFA-4DD5-44B9-80D9-11AB33C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04025"/>
            <a:ext cx="116091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сценарио у вашем моделу прелази праг третмана и која контрола на њега одговара?</a:t>
            </a:r>
          </a:p>
        </p:txBody>
      </p:sp>
      <p:sp>
        <p:nvSpPr>
          <p:cNvPr id="2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44D25FA-A238-4528-BF7F-0B22AD83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57132898-3976-45AA-B3E3-9A063B33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12224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5C42C-9823-4F83-8758-0E1D5671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E74CC-B51F-475A-B1DD-9A1C69C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3FB55-437C-4B5C-953C-12A071B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25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053F7-DA62-4409-9B62-26FE6B52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3252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6C253-FD8D-47FC-930F-637FD329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924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6D313-FCC6-4A20-8BAC-84E7A4F5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3874F05C-0DCF-4FEC-9C75-2AB3847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ПРАКТИЧАН ПОСТУПАК</a:t>
            </a:r>
          </a:p>
        </p:txBody>
      </p:sp>
      <p:sp>
        <p:nvSpPr>
          <p:cNvPr id="8" name="heading-cetiri-pitanja">
            <a:extLst xmlns:a="http://schemas.openxmlformats.org/drawingml/2006/main">
              <a:ext uri="{FF2B5EF4-FFF2-40B4-BE49-F238E27FC236}">
                <a16:creationId xmlns:a16="http://schemas.microsoft.com/office/drawing/2014/main" id="{641598E0-DF9B-4CFC-A629-08E9B00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80586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3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Четири питања за радни модел</a:t>
            </a:r>
          </a:p>
        </p:txBody>
      </p:sp>
      <p:sp>
        <p:nvSpPr>
          <p:cNvPr id="9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1A27CF17-64EA-4742-AD22-DBC4C294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88354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OWASP организује моделовање као поновљив циклус ових питања.</a:t>
            </a:r>
          </a:p>
        </p:txBody>
      </p:sp>
      <p:sp>
        <p:nvSpPr>
          <p:cNvPr id="10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5686C7CD-16F8-49FA-95EA-44040193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1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4EA638B0-29B8-49A0-860C-FE58CBB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255716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 чему радимо?</a:t>
            </a:r>
          </a:p>
        </p:txBody>
      </p:sp>
      <p:sp>
        <p:nvSpPr>
          <p:cNvPr id="12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7EAAF865-AFE9-4EDB-AE3D-C635B85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43027"/>
            <a:ext cx="50425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Скица система, имовина, токови и границе.</a:t>
            </a:r>
          </a:p>
        </p:txBody>
      </p:sp>
      <p:sp>
        <p:nvSpPr>
          <p:cNvPr id="13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FB4B2116-1698-4978-899D-63E5047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258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4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E308034E-C8B4-4B7C-80B3-2C6042F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63058"/>
            <a:ext cx="3349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Шта може поћи по злу?</a:t>
            </a:r>
          </a:p>
        </p:txBody>
      </p:sp>
      <p:sp>
        <p:nvSpPr>
          <p:cNvPr id="15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0D94B08B-DD44-4B3C-99C7-3FE14596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02994"/>
            <a:ext cx="538787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Конкретан актер, улаз и нежељена последица.</a:t>
            </a:r>
          </a:p>
        </p:txBody>
      </p:sp>
      <p:sp>
        <p:nvSpPr>
          <p:cNvPr id="16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671601CF-AFFB-4AFB-8C9E-16E4219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3254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7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566A48D1-2E90-46CA-B848-C97A75B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23024"/>
            <a:ext cx="31444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Шта ћемо предузети?</a:t>
            </a:r>
          </a:p>
        </p:txBody>
      </p:sp>
      <p:sp>
        <p:nvSpPr>
          <p:cNvPr id="18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CDBD1B21-39A1-4473-9770-19728F8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62960"/>
            <a:ext cx="53322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Контрола која одговара одабраном сценарију.</a:t>
            </a:r>
          </a:p>
        </p:txBody>
      </p:sp>
      <p:sp>
        <p:nvSpPr>
          <p:cNvPr id="19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C7A41CD6-19AD-4C4C-AFBD-323D145E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925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0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84B911C9-9179-43BD-9009-04F65D6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782991"/>
            <a:ext cx="27228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Да ли је довољно?</a:t>
            </a:r>
          </a:p>
        </p:txBody>
      </p:sp>
      <p:sp>
        <p:nvSpPr>
          <p:cNvPr id="21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C0D92B02-276F-4480-8257-B038DC53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222927"/>
            <a:ext cx="599330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Провера контроле и јасно записан преостали ризик.</a:t>
            </a:r>
          </a:p>
        </p:txBody>
      </p:sp>
      <p:sp>
        <p:nvSpPr>
          <p:cNvPr id="22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77D0501B-31CC-42F0-9CD3-2953740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cetiri-pitanja">
            <a:extLst xmlns:a="http://schemas.openxmlformats.org/drawingml/2006/main">
              <a:ext uri="{FF2B5EF4-FFF2-40B4-BE49-F238E27FC236}">
                <a16:creationId xmlns:a16="http://schemas.microsoft.com/office/drawing/2014/main" id="{E0A7DD91-D26F-4CD1-A161-F734884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697958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E837E-EB1B-4BDC-A539-635DBE7A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94CE7-D5A6-4F4C-A93B-500F21BA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482B-3DF0-4BD1-A0B5-5FB01653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591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8B8BF-06E6-47AE-8043-5BCB0F05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924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6B1A8-5EA5-41BB-B92E-99EF0667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CC88BED0-8277-43BD-8DD7-57621C2A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3109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ПРАВИЛА МОДЕЛА</a:t>
            </a:r>
          </a:p>
        </p:txBody>
      </p:sp>
      <p:sp>
        <p:nvSpPr>
          <p:cNvPr id="7" name="heading-source-11">
            <a:extLst xmlns:a="http://schemas.openxmlformats.org/drawingml/2006/main">
              <a:ext uri="{FF2B5EF4-FFF2-40B4-BE49-F238E27FC236}">
                <a16:creationId xmlns:a16="http://schemas.microsoft.com/office/drawing/2014/main" id="{AB811904-3902-4C41-B075-8363C2E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839718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Модел пре контроле</a:t>
            </a:r>
          </a:p>
        </p:txBody>
      </p:sp>
      <p:sp>
        <p:nvSpPr>
          <p:cNvPr id="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7F44F6C8-D824-4474-9B4A-ABBBA3C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9548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6DA0A1C-6A66-4E9A-8AD5-118F4D42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8437B9F6-E9DA-4C19-9DAC-99F50A7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633085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има власника, значај и животни циклус.</a:t>
            </a:r>
          </a:p>
        </p:txBody>
      </p:sp>
      <p:sp>
        <p:nvSpPr>
          <p:cNvPr id="1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0B14CE43-91BE-497F-8362-4D76A50C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6387"/>
            <a:ext cx="19177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Јасно правило</a:t>
            </a:r>
          </a:p>
        </p:txBody>
      </p:sp>
      <p:sp>
        <p:nvSpPr>
          <p:cNvPr id="1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6C07FAF9-AC69-47FC-8858-F65E7065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94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CF2845C-C5EA-4AA9-8508-8501D3C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6418"/>
            <a:ext cx="951190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Интеграција спољне компоненте не представља основ за доделу поверења.</a:t>
            </a:r>
          </a:p>
        </p:txBody>
      </p:sp>
      <p:sp>
        <p:nvSpPr>
          <p:cNvPr id="1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FC66715-2470-466A-8D92-3AB90A4D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9713"/>
            <a:ext cx="270718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Проверљива примена</a:t>
            </a:r>
          </a:p>
        </p:txBody>
      </p:sp>
      <p:sp>
        <p:nvSpPr>
          <p:cNvPr id="1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9DF64F99-9916-43DA-993E-B9D219EF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926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3BB5DB8-0F92-4AA3-935C-CDB2512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9744"/>
            <a:ext cx="941486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Претња постаје корисна када води до захтева, контроле и начина провере.</a:t>
            </a:r>
          </a:p>
        </p:txBody>
      </p:sp>
      <p:sp>
        <p:nvSpPr>
          <p:cNvPr id="1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32D8738-B9C1-4B5A-B2DA-8A8E70E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83039"/>
            <a:ext cx="18889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Видљив доказ</a:t>
            </a:r>
          </a:p>
        </p:txBody>
      </p:sp>
      <p:sp>
        <p:nvSpPr>
          <p:cNvPr id="1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084EAB75-35B3-49F0-B0CB-F973F14F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CA0833C6-39D4-4DCB-8393-E63D6D48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28740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25D8-0FC0-450D-808F-9073D50B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3D5C-091E-4312-8F7D-116F60B4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12591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43C41-E457-4A79-B0CC-12F341E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89797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9DC99-C102-4F49-9CB4-A92AE58E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67002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BDB9C-9544-4A94-A678-3163FA36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DA0CB05E-6E35-4BF6-8447-8FBBDBE5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7796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ПРИМЕНА У РАЗВОЈУ</a:t>
            </a:r>
          </a:p>
        </p:txBody>
      </p:sp>
      <p:sp>
        <p:nvSpPr>
          <p:cNvPr id="7" name="heading-source-12">
            <a:extLst xmlns:a="http://schemas.openxmlformats.org/drawingml/2006/main">
              <a:ext uri="{FF2B5EF4-FFF2-40B4-BE49-F238E27FC236}">
                <a16:creationId xmlns:a16="http://schemas.microsoft.com/office/drawing/2014/main" id="{0CD6B995-6DAB-41C8-9B3B-2384A66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30051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у развоју</a:t>
            </a:r>
          </a:p>
        </p:txBody>
      </p:sp>
      <p:sp>
        <p:nvSpPr>
          <p:cNvPr id="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26CB50D-86F6-47D9-A54B-04665ED4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5795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6D00C658-60B3-43A3-9330-D746A943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РАЗВОЈНИ КОНТЕКСТ</a:t>
            </a:r>
          </a:p>
        </p:txBody>
      </p:sp>
      <p:sp>
        <p:nvSpPr>
          <p:cNvPr id="1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C5AC067-F2C4-4902-8489-2F4EB1B3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3547"/>
            <a:ext cx="41947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принципа у коду</a:t>
            </a:r>
          </a:p>
        </p:txBody>
      </p:sp>
      <p:sp>
        <p:nvSpPr>
          <p:cNvPr id="1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A09B5440-8F9B-4609-BA2B-2E7063C1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1687"/>
            <a:ext cx="744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Архитектурни цртеж постаје радни алат када уз сваку важну </a:t>
            </a:r>
          </a:p>
        </p:txBody>
      </p:sp>
      <p:sp>
        <p:nvSpPr>
          <p:cNvPr id="1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090B262-CBD0-4F1A-BB31-E68748B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8308"/>
            <a:ext cx="727963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границу наведе податке, актере и претпоставке. Тим затим </a:t>
            </a:r>
          </a:p>
        </p:txBody>
      </p:sp>
      <p:sp>
        <p:nvSpPr>
          <p:cNvPr id="1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2FAF142-8E99-489A-80C3-1D04F4A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4929"/>
            <a:ext cx="772447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бира мали број реалних сценарија злоупотребе и проверава их </a:t>
            </a:r>
          </a:p>
        </p:txBody>
      </p:sp>
      <p:sp>
        <p:nvSpPr>
          <p:cNvPr id="1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96036A14-5700-4C8D-9E2A-D7BCF0B9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1549"/>
            <a:ext cx="396165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тестом или прегледом дизајна.</a:t>
            </a:r>
          </a:p>
        </p:txBody>
      </p:sp>
      <p:sp>
        <p:nvSpPr>
          <p:cNvPr id="1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DFA8B0E-B56D-4966-8FBA-71171C8F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D8EDCE4-B1F7-4E55-843B-32CBA8E1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03091"/>
            <a:ext cx="481429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Дефинисана одлука и њена граница.</a:t>
            </a:r>
          </a:p>
        </p:txBody>
      </p:sp>
      <p:sp>
        <p:nvSpPr>
          <p:cNvPr id="1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8C60287-C626-40E7-A837-2162B03B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89822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F3D8769C-5588-473C-9EDB-C17C5C61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80297"/>
            <a:ext cx="480580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Серверска имплементација провере.</a:t>
            </a:r>
          </a:p>
        </p:txBody>
      </p:sp>
      <p:sp>
        <p:nvSpPr>
          <p:cNvPr id="1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2549565-9705-46FA-A4D6-A5A619C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6702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9713E66B-114E-433E-BDF7-CBDFABA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257502"/>
            <a:ext cx="396775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Позитиван и негативан доказ.</a:t>
            </a:r>
          </a:p>
        </p:txBody>
      </p:sp>
      <p:sp>
        <p:nvSpPr>
          <p:cNvPr id="2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06A2CCD-4D46-4835-8731-5F2B849B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175F8B7-EF2D-48A5-ABC2-2FAAD224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427072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086C1-4181-4F66-B9B1-B45FA73C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0A3A4-5A42-4A59-8D0D-5E623AF7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4290B8C-5231-40C8-8056-5F535183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98A0C-334A-4E14-A953-D4BF951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10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76A9C-AF22-43F6-AD68-537C8C7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6310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0096D-4664-4F37-81BC-3604BF4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73516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7C437-C97D-4469-9704-51BEC969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BE8C9EB6-B345-4C08-B872-1B0A1540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СЛУЧАЈ</a:t>
            </a:r>
          </a:p>
        </p:txBody>
      </p:sp>
      <p:sp>
        <p:nvSpPr>
          <p:cNvPr id="9" name="heading-source-13">
            <a:extLst xmlns:a="http://schemas.openxmlformats.org/drawingml/2006/main">
              <a:ext uri="{FF2B5EF4-FFF2-40B4-BE49-F238E27FC236}">
                <a16:creationId xmlns:a16="http://schemas.microsoft.com/office/drawing/2014/main" id="{F8CE5C22-8790-41EA-B775-7E9DD66E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59435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8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Случај: извоз из интерног система</a:t>
            </a:r>
          </a:p>
        </p:txBody>
      </p:sp>
      <p:sp>
        <p:nvSpPr>
          <p:cNvPr id="1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E012C8E4-91C8-4FC7-9D9A-D15C2AC5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6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1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2BF655C-34F9-4CD9-AF5E-A4787A2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0309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СЦЕНАРИО</a:t>
            </a:r>
          </a:p>
        </p:txBody>
      </p:sp>
      <p:sp>
        <p:nvSpPr>
          <p:cNvPr id="1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9A81D6A1-C3F9-4A75-934D-9886E432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08797"/>
            <a:ext cx="149991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Интерни сервис припрема извоз осетљивих података за други систем. Тим га доживљава као безбедан јер је сервис </a:t>
            </a:r>
          </a:p>
        </p:txBody>
      </p:sp>
      <p:sp>
        <p:nvSpPr>
          <p:cNvPr id="13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5FD9494D-C0E4-440C-A5CA-EC78B83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2058"/>
            <a:ext cx="1560120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„унутра“, али сам прелазак података у други систем мења претпоставке. Потребно је знати који податак путује, ко прима </a:t>
            </a:r>
          </a:p>
        </p:txBody>
      </p:sp>
      <p:sp>
        <p:nvSpPr>
          <p:cNvPr id="14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06F331BB-5F89-4618-9ACB-15C3B868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5319"/>
            <a:ext cx="114683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податак, шта може поћи по злу и како систем спречава или бар открива нежељен исход.</a:t>
            </a:r>
          </a:p>
        </p:txBody>
      </p:sp>
      <p:sp>
        <p:nvSpPr>
          <p:cNvPr id="15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D3642674-EE8E-44FE-9BB3-2713F995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1913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A294A582-1B91-4562-8017-A215BF38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09605"/>
            <a:ext cx="1342042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 обухвата базу података, налоге, кључеве, сервисне идентитете, конфигурацију и пословне записе.</a:t>
            </a:r>
          </a:p>
        </p:txBody>
      </p:sp>
      <p:sp>
        <p:nvSpPr>
          <p:cNvPr id="17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4E7D62D3-A6CE-43BA-AEE1-9555C802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9633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8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29430B6E-6F86-45F9-9352-E335BA3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6810"/>
            <a:ext cx="129057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поверења може бити API позив, ред порука, административни интерфејс или извоз у датотеку.</a:t>
            </a:r>
          </a:p>
        </p:txBody>
      </p:sp>
      <p:sp>
        <p:nvSpPr>
          <p:cNvPr id="19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ADDDC6CB-672C-4ECB-915F-ADB9EDE0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7354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11E0BCC7-92EF-4D02-A3D8-AAA8762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364016"/>
            <a:ext cx="1358428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Модел претњи обухвата ограничен број реалних сценарија, одговарајуће контроле и начине њихове провере.</a:t>
            </a:r>
          </a:p>
        </p:txBody>
      </p:sp>
      <p:sp>
        <p:nvSpPr>
          <p:cNvPr id="21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39124F9E-A405-440D-955A-491B7726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2" name="text-source-13">
            <a:extLst xmlns:a="http://schemas.openxmlformats.org/drawingml/2006/main">
              <a:ext uri="{FF2B5EF4-FFF2-40B4-BE49-F238E27FC236}">
                <a16:creationId xmlns:a16="http://schemas.microsoft.com/office/drawing/2014/main" id="{638805A8-6801-45F1-B2F0-02215900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090711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1A82E-2A63-4973-BCC8-23FB8FE2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C1669-2262-4289-B0DB-3D626E7E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05625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D64A099-98E1-4D42-8BC1-D5C7763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05625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CF57C-B8C9-4FDE-B95B-2C40DB6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71ae4f29949de"/>
          <a:stretch xmlns:a="http://schemas.openxmlformats.org/drawingml/2006/main"/>
        </p:blipFill>
        <p:spPr>
          <a:xfrm xmlns:a="http://schemas.openxmlformats.org/drawingml/2006/main">
            <a:off x="1219200" y="3619500"/>
            <a:ext cx="1584960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96C24BB2-1FB2-40FF-918D-5A417F6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882" y="4676775"/>
            <a:ext cx="256713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Осетљиви скуп</a:t>
            </a:r>
          </a:p>
        </p:txBody>
      </p:sp>
      <p:sp>
        <p:nvSpPr>
          <p:cNvPr id="7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AC8822B7-28BB-4DE4-BCFF-FF57A388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273" y="4676775"/>
            <a:ext cx="269810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 извоза</a:t>
            </a:r>
          </a:p>
        </p:txBody>
      </p:sp>
      <p:sp>
        <p:nvSpPr>
          <p:cNvPr id="8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02A4DCD7-5717-4E8A-A8DD-9CEC3CA7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6994" y="4676775"/>
            <a:ext cx="23479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Други систем</a:t>
            </a:r>
          </a:p>
        </p:txBody>
      </p:sp>
      <p:sp>
        <p:nvSpPr>
          <p:cNvPr id="9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8822DBF4-F4D2-4B5C-B8D3-06877365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477" y="6000750"/>
            <a:ext cx="28132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промена претпоставки</a:t>
            </a:r>
          </a:p>
        </p:txBody>
      </p:sp>
      <p:sp>
        <p:nvSpPr>
          <p:cNvPr id="10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EB8862BC-058E-4BE0-B894-65F2D9F2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 · СЦЕНАРИО И КОНТРОЛА</a:t>
            </a:r>
          </a:p>
        </p:txBody>
      </p:sp>
      <p:sp>
        <p:nvSpPr>
          <p:cNvPr id="11" name="heading-izvoz-granica">
            <a:extLst xmlns:a="http://schemas.openxmlformats.org/drawingml/2006/main">
              <a:ext uri="{FF2B5EF4-FFF2-40B4-BE49-F238E27FC236}">
                <a16:creationId xmlns:a16="http://schemas.microsoft.com/office/drawing/2014/main" id="{135C26A4-A2EC-489B-898D-CA0F21B2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37302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6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„Унутра” није довољна претпоставка</a:t>
            </a:r>
          </a:p>
        </p:txBody>
      </p:sp>
      <p:sp>
        <p:nvSpPr>
          <p:cNvPr id="12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A53CFDA4-1962-4B23-8E31-F17D6E8D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817617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остаје на сервису који предаје податак преко границе.</a:t>
            </a:r>
          </a:p>
        </p:txBody>
      </p:sp>
      <p:sp>
        <p:nvSpPr>
          <p:cNvPr id="13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649F5D45-C5F2-4E70-BBC9-DB61424A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96125"/>
            <a:ext cx="3223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Илустративни сценарио</a:t>
            </a:r>
          </a:p>
        </p:txBody>
      </p:sp>
      <p:sp>
        <p:nvSpPr>
          <p:cNvPr id="14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A2D5B59E-0C1F-4CED-AB1B-F85FE859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01830"/>
            <a:ext cx="155803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Погрешан прималац или преширок скуп нарушава поверљивост. Контрола проверава примаоца и обим, а тест покушава </a:t>
            </a:r>
          </a:p>
        </p:txBody>
      </p:sp>
      <p:sp>
        <p:nvSpPr>
          <p:cNvPr id="15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3F0B0F9A-1520-423E-B430-08D9E560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75091"/>
            <a:ext cx="29142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недозвољени извоз.</a:t>
            </a:r>
          </a:p>
        </p:txBody>
      </p:sp>
      <p:sp>
        <p:nvSpPr>
          <p:cNvPr id="16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C5AA63A5-8C6B-4D5F-A3AA-5C2EFCFC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7" name="text-izvoz-granica">
            <a:extLst xmlns:a="http://schemas.openxmlformats.org/drawingml/2006/main">
              <a:ext uri="{FF2B5EF4-FFF2-40B4-BE49-F238E27FC236}">
                <a16:creationId xmlns:a16="http://schemas.microsoft.com/office/drawing/2014/main" id="{1F7F4DDD-85F8-41E1-AA33-3171E29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40898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5EC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AAE58-F6CB-49C9-8FF0-F18BDFB6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40955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D0676-ECB3-4884-94F1-BDCFA882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651" y="6158657"/>
            <a:ext cx="854422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381A6-2425-4959-B114-41ACDCE3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373" y="6158657"/>
            <a:ext cx="223584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B3F33-CF8E-486E-85A7-F360F87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518" y="6158657"/>
            <a:ext cx="164961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3C4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1AC34-4423-46D9-8DD7-CFFC5AEC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C4C1"/>
          </a:solidFill>
          <a:ln xmlns:a="http://schemas.openxmlformats.org/drawingml/2006/main" w="0">
            <a:noFill/>
          </a:ln>
        </p:spPr>
      </p:sp>
      <p:sp>
        <p:nvSpPr>
          <p:cNvPr id="6" name="text-deo4">
            <a:extLst xmlns:a="http://schemas.openxmlformats.org/drawingml/2006/main">
              <a:ext uri="{FF2B5EF4-FFF2-40B4-BE49-F238E27FC236}">
                <a16:creationId xmlns:a16="http://schemas.microsoft.com/office/drawing/2014/main" id="{2BDB9823-B786-417E-BE55-8EC0EE68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7" name="text-deo4">
            <a:extLst xmlns:a="http://schemas.openxmlformats.org/drawingml/2006/main">
              <a:ext uri="{FF2B5EF4-FFF2-40B4-BE49-F238E27FC236}">
                <a16:creationId xmlns:a16="http://schemas.microsoft.com/office/drawing/2014/main" id="{41773FBB-0D42-4DF1-8BB8-8527E280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8" name="heading-deo4">
            <a:extLst xmlns:a="http://schemas.openxmlformats.org/drawingml/2006/main">
              <a:ext uri="{FF2B5EF4-FFF2-40B4-BE49-F238E27FC236}">
                <a16:creationId xmlns:a16="http://schemas.microsoft.com/office/drawing/2014/main" id="{10844A95-9767-4250-94A7-92CFCB0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971062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607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и одржавање</a:t>
            </a:r>
          </a:p>
        </p:txBody>
      </p:sp>
      <p:sp>
        <p:nvSpPr>
          <p:cNvPr id="9" name="text-deo4">
            <a:extLst xmlns:a="http://schemas.openxmlformats.org/drawingml/2006/main">
              <a:ext uri="{FF2B5EF4-FFF2-40B4-BE49-F238E27FC236}">
                <a16:creationId xmlns:a16="http://schemas.microsoft.com/office/drawing/2014/main" id="{BEB1B1B2-DC54-4AB3-8E5A-2FE5F971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994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се доказује кодом, тестом и записом, а модел прати промене </a:t>
            </a:r>
          </a:p>
        </p:txBody>
      </p:sp>
      <p:sp>
        <p:nvSpPr>
          <p:cNvPr id="10" name="text-deo4">
            <a:extLst xmlns:a="http://schemas.openxmlformats.org/drawingml/2006/main">
              <a:ext uri="{FF2B5EF4-FFF2-40B4-BE49-F238E27FC236}">
                <a16:creationId xmlns:a16="http://schemas.microsoft.com/office/drawing/2014/main" id="{5350B020-87FB-451B-A3F1-331EE68A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14385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система.</a:t>
            </a:r>
          </a:p>
        </p:txBody>
      </p:sp>
      <p:sp>
        <p:nvSpPr>
          <p:cNvPr id="11" name="text-deo4">
            <a:extLst xmlns:a="http://schemas.openxmlformats.org/drawingml/2006/main">
              <a:ext uri="{FF2B5EF4-FFF2-40B4-BE49-F238E27FC236}">
                <a16:creationId xmlns:a16="http://schemas.microsoft.com/office/drawing/2014/main" id="{4B7CA2BA-A8C0-429E-AE45-A908A88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3524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</a:t>
            </a:r>
          </a:p>
        </p:txBody>
      </p:sp>
      <p:sp>
        <p:nvSpPr>
          <p:cNvPr id="12" name="text-deo4">
            <a:extLst xmlns:a="http://schemas.openxmlformats.org/drawingml/2006/main">
              <a:ext uri="{FF2B5EF4-FFF2-40B4-BE49-F238E27FC236}">
                <a16:creationId xmlns:a16="http://schemas.microsoft.com/office/drawing/2014/main" id="{257B89B3-DF1E-4ECA-A621-47B380F9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76" y="6244382"/>
            <a:ext cx="7972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</a:t>
            </a:r>
          </a:p>
        </p:txBody>
      </p:sp>
      <p:sp>
        <p:nvSpPr>
          <p:cNvPr id="13" name="text-deo4">
            <a:extLst xmlns:a="http://schemas.openxmlformats.org/drawingml/2006/main">
              <a:ext uri="{FF2B5EF4-FFF2-40B4-BE49-F238E27FC236}">
                <a16:creationId xmlns:a16="http://schemas.microsoft.com/office/drawing/2014/main" id="{85E168EE-E92C-4533-9E12-363109F4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398" y="6244382"/>
            <a:ext cx="21786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запис</a:t>
            </a:r>
          </a:p>
        </p:txBody>
      </p:sp>
      <p:sp>
        <p:nvSpPr>
          <p:cNvPr id="14" name="text-deo4">
            <a:extLst xmlns:a="http://schemas.openxmlformats.org/drawingml/2006/main">
              <a:ext uri="{FF2B5EF4-FFF2-40B4-BE49-F238E27FC236}">
                <a16:creationId xmlns:a16="http://schemas.microsoft.com/office/drawing/2014/main" id="{5C30E4A1-4359-44E1-AC40-980E07D8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3543" y="6244382"/>
            <a:ext cx="159246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ажурирање</a:t>
            </a:r>
          </a:p>
        </p:txBody>
      </p:sp>
      <p:sp>
        <p:nvSpPr>
          <p:cNvPr id="15" name="text-deo4">
            <a:extLst xmlns:a="http://schemas.openxmlformats.org/drawingml/2006/main">
              <a:ext uri="{FF2B5EF4-FFF2-40B4-BE49-F238E27FC236}">
                <a16:creationId xmlns:a16="http://schemas.microsoft.com/office/drawing/2014/main" id="{12AD6A23-0771-4448-8F26-97BCEFF2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4">
            <a:extLst xmlns:a="http://schemas.openxmlformats.org/drawingml/2006/main">
              <a:ext uri="{FF2B5EF4-FFF2-40B4-BE49-F238E27FC236}">
                <a16:creationId xmlns:a16="http://schemas.microsoft.com/office/drawing/2014/main" id="{E7ACC11E-2626-408C-9C2A-E18D433E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419858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67228F-92C3-47AC-BD6F-1E051187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DAF6F-D092-434B-9B16-7A6B2BD8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8001000" cy="6235898"/>
          </a:xfrm>
          <a:prstGeom xmlns:a="http://schemas.openxmlformats.org/drawingml/2006/main" prst="roundRect">
            <a:avLst>
              <a:gd name="adj" fmla="val 244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5FF1A-15E1-4D64-A4F1-67D44988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4530"/>
            <a:ext cx="7543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3110A46-8CD7-4146-90C1-D7225C7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4530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74CB6-91F5-459B-B41D-43B610BE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60094"/>
            <a:ext cx="75438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E03F025-2C7D-4783-8874-F2EFF608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60094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CC898-F997-4AA9-9825-0D524682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04F337D-7290-4C90-BF2D-B799A944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ПРОЦЕНА ИЗ ПРИМЕРА</a:t>
            </a:r>
          </a:p>
        </p:txBody>
      </p:sp>
      <p:sp>
        <p:nvSpPr>
          <p:cNvPr id="9" name="heading-source-14">
            <a:extLst xmlns:a="http://schemas.openxmlformats.org/drawingml/2006/main">
              <a:ext uri="{FF2B5EF4-FFF2-40B4-BE49-F238E27FC236}">
                <a16:creationId xmlns:a16="http://schemas.microsoft.com/office/drawing/2014/main" id="{6016F390-61D1-4BD6-9A03-82A0899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49724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6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Прелазак границе поверења повећава ризик</a:t>
            </a:r>
          </a:p>
        </p:txBody>
      </p:sp>
      <p:sp>
        <p:nvSpPr>
          <p:cNvPr id="1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0A34D3B-910E-4BCA-BF30-04F2420F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изворни пример</a:t>
            </a:r>
          </a:p>
        </p:txBody>
      </p:sp>
      <p:sp>
        <p:nvSpPr>
          <p:cNvPr id="1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10D2FA2-B0A2-457A-90E7-9AEBAEBF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1756C42-C4C0-4C6B-9396-7A4B349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4594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ThreatAssessment Assess(</a:t>
            </a:r>
          </a:p>
        </p:txBody>
      </p:sp>
      <p:sp>
        <p:nvSpPr>
          <p:cNvPr id="1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EA8C1284-C754-4CE4-BEB2-01AFE678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44933A1-77CA-4C11-A6BA-7936F74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41834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ThreatScenario scenario)</a:t>
            </a:r>
          </a:p>
        </p:txBody>
      </p:sp>
      <p:sp>
        <p:nvSpPr>
          <p:cNvPr id="1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5373015-1AFF-4B87-8873-2A51119F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5AB930E-7C39-49F6-B862-CBA1EBAA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1D33A7C-A5B6-4AE7-8BD3-6EF0CAC0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1FE596A-8B87-4B1D-81D1-71468759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4732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score = Score(scenario);</a:t>
            </a:r>
          </a:p>
        </p:txBody>
      </p:sp>
      <p:sp>
        <p:nvSpPr>
          <p:cNvPr id="1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2936DA4-1E38-4B5A-85E0-8F1FBA73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572C987-7AE0-40FE-A23B-9F9277B6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47322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ThreatAssessment(</a:t>
            </a:r>
          </a:p>
        </p:txBody>
      </p:sp>
      <p:sp>
        <p:nvSpPr>
          <p:cNvPr id="2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A40B2BC-484D-4BD0-AA2F-290EA2E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28A9292-2845-4F57-AFB0-F40328E4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scenario, score,</a:t>
            </a:r>
          </a:p>
        </p:txBody>
      </p:sp>
      <p:sp>
        <p:nvSpPr>
          <p:cNvPr id="2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5C6B0F1-E57F-4B3C-9C5E-B40424B4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506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92761B1-5FB7-40C5-8D03-9CAC3B3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50619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score &gt;= policy.TreatmentThreshold);</a:t>
            </a:r>
          </a:p>
        </p:txBody>
      </p:sp>
      <p:sp>
        <p:nvSpPr>
          <p:cNvPr id="2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30ECCE1-CAAB-458E-B295-D85B82C3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10D98CFB-B51C-4388-B4F4-65FC1E50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05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4100883-0A18-4553-A3A0-4897764A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905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DF578B9E-ACF5-4430-ABFA-8354704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90580"/>
            <a:ext cx="6103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private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int Score(ThreatScenario scenario)</a:t>
            </a:r>
          </a:p>
        </p:txBody>
      </p:sp>
      <p:sp>
        <p:nvSpPr>
          <p:cNvPr id="2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B7532BC-6747-414D-AB2A-1A113CE4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1056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3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2E4136E-2645-43C5-A76A-406B6A2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05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3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0366125-AF03-4C78-8B0C-B70B5E8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3054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3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31BC8D4-5CB1-4E3D-9C42-A40C2915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30541"/>
            <a:ext cx="28119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exposure =</a:t>
            </a:r>
          </a:p>
        </p:txBody>
      </p:sp>
      <p:sp>
        <p:nvSpPr>
          <p:cNvPr id="3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C201F8B7-EFB9-4F0D-BB5B-5823023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505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3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CC53C3C-1C10-4997-98BB-6977AC77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50521"/>
            <a:ext cx="6103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scenario.Flow.CrossesTrustBoundary</a:t>
            </a:r>
          </a:p>
        </p:txBody>
      </p:sp>
      <p:sp>
        <p:nvSpPr>
          <p:cNvPr id="3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835A8864-FDFD-4955-BB94-618D90CC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87050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3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78288A6-B0AF-426C-8BDD-2557B6CA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870502"/>
            <a:ext cx="651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? policy.TrustBoundaryMultiplier : 1;</a:t>
            </a:r>
          </a:p>
        </p:txBody>
      </p:sp>
      <p:sp>
        <p:nvSpPr>
          <p:cNvPr id="3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CB5847C-BDD0-4F3C-BA48-33E1DF88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190482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3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8A6A8E7-9938-4BCB-B22A-CD0254D7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7190482"/>
            <a:ext cx="44578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return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scenario.Likelihood</a:t>
            </a:r>
          </a:p>
        </p:txBody>
      </p:sp>
      <p:sp>
        <p:nvSpPr>
          <p:cNvPr id="3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ADD76BC-1961-469A-BF25-6E0F5735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510463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4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2B97289-0DF2-4DFA-A07F-8B618B7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7510463"/>
            <a:ext cx="6378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* scenario.Flow.Asset.BusinessImpact</a:t>
            </a:r>
          </a:p>
        </p:txBody>
      </p:sp>
      <p:sp>
        <p:nvSpPr>
          <p:cNvPr id="4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744C691E-B7C1-465A-92BC-D0B8A4CD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7830443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4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91DADF5-0D42-43D5-BC92-922D6D4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7830443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* exposure;</a:t>
            </a:r>
          </a:p>
        </p:txBody>
      </p:sp>
      <p:sp>
        <p:nvSpPr>
          <p:cNvPr id="4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A41E8660-CFDE-4575-BBD2-B68A81C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8150423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44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302E7338-8316-4572-8132-84286F50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8150423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45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511D04E9-9396-4925-B5F3-6CA567CA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5030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46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A935BA7-915E-4899-BBDF-4191705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30736"/>
            <a:ext cx="65950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 овом примеру ризик је производ вероватноће и </a:t>
            </a:r>
          </a:p>
        </p:txBody>
      </p:sp>
      <p:sp>
        <p:nvSpPr>
          <p:cNvPr id="47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FAA68F3-BEFE-4392-BADD-A8FD728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03997"/>
            <a:ext cx="68277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утицаја на имовину, прелазак границе поверења га </a:t>
            </a:r>
          </a:p>
        </p:txBody>
      </p:sp>
      <p:sp>
        <p:nvSpPr>
          <p:cNvPr id="48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3C1938B-26D4-4211-A386-5085CE99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77258"/>
            <a:ext cx="14277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увећава.</a:t>
            </a:r>
          </a:p>
        </p:txBody>
      </p:sp>
      <p:sp>
        <p:nvSpPr>
          <p:cNvPr id="49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91A0C76C-900D-4EBE-B406-E7E595D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50594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БЕЗБЕДНОСНА ГРАНИЦА</a:t>
            </a:r>
          </a:p>
        </p:txBody>
      </p:sp>
      <p:sp>
        <p:nvSpPr>
          <p:cNvPr id="50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F4C3AD0D-AEA6-4DBF-B56E-C57CB32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56299"/>
            <a:ext cx="718750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Праг третмана долази из политике, па се одлука може </a:t>
            </a:r>
          </a:p>
        </p:txBody>
      </p:sp>
      <p:sp>
        <p:nvSpPr>
          <p:cNvPr id="51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66DFA725-6304-42E8-8AAC-907E8F3A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9560"/>
            <a:ext cx="36308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тестирати и образложити.</a:t>
            </a:r>
          </a:p>
        </p:txBody>
      </p:sp>
      <p:sp>
        <p:nvSpPr>
          <p:cNvPr id="52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2FF3D13E-1477-4632-BC24-354C35AD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53" name="text-source-14">
            <a:extLst xmlns:a="http://schemas.openxmlformats.org/drawingml/2006/main">
              <a:ext uri="{FF2B5EF4-FFF2-40B4-BE49-F238E27FC236}">
                <a16:creationId xmlns:a16="http://schemas.microsoft.com/office/drawing/2014/main" id="{B10C15CE-0A15-46AF-B9CC-FB6CA254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17755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0ACFD-589C-4E59-976F-CD5D8D9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2EDAF-D88E-40E2-BDF9-1410721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0287000" cy="3356074"/>
          </a:xfrm>
          <a:prstGeom xmlns:a="http://schemas.openxmlformats.org/drawingml/2006/main" prst="roundRect">
            <a:avLst>
              <a:gd name="adj" fmla="val 45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82943-ECE4-4822-847A-59EB3069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112591"/>
            <a:ext cx="52578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4FEB0CD-8F81-467E-84A6-5D2871B5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112591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FEA6A-CF96-4714-B04D-1A02807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64894"/>
            <a:ext cx="52578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54A8FC7-33E8-44EB-8B1B-C79AB266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64894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22DEF-BBBC-4BDC-A8F3-9C961750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C5B39C5-FA42-4C37-B099-AE11EC1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НЕГАТИВАН ДОКАЗ</a:t>
            </a:r>
          </a:p>
        </p:txBody>
      </p:sp>
      <p:sp>
        <p:nvSpPr>
          <p:cNvPr id="9" name="heading-source-15">
            <a:extLst xmlns:a="http://schemas.openxmlformats.org/drawingml/2006/main">
              <a:ext uri="{FF2B5EF4-FFF2-40B4-BE49-F238E27FC236}">
                <a16:creationId xmlns:a16="http://schemas.microsoft.com/office/drawing/2014/main" id="{EB4E4E29-E4FB-4500-8217-1328AEE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9312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59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доказује утицај границе поверења</a:t>
            </a:r>
          </a:p>
        </p:txBody>
      </p:sp>
      <p:sp>
        <p:nvSpPr>
          <p:cNvPr id="1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97E77849-39B6-40F6-BB8D-7076E40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660856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 овом тестном примеру множилац политике је 2.</a:t>
            </a:r>
          </a:p>
        </p:txBody>
      </p:sp>
      <p:sp>
        <p:nvSpPr>
          <p:cNvPr id="1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2DD757A4-6B2F-4A2E-8E33-1A3783EB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12616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изворни пример</a:t>
            </a:r>
          </a:p>
        </p:txBody>
      </p:sp>
      <p:sp>
        <p:nvSpPr>
          <p:cNvPr id="1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3112025-7059-415E-AAE2-DE85B6BF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ED349F8E-2D7B-42B3-8BF2-C26A5C0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08797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1061EFF-B146-4DCE-9772-7DC755F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A133DBB-CCC9-4FDA-BD7C-B4D6E88B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8777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void</a:t>
            </a:r>
          </a:p>
        </p:txBody>
      </p:sp>
      <p:sp>
        <p:nvSpPr>
          <p:cNvPr id="1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039C902-6023-493B-BB63-25B258C3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87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0DCAECB2-5330-47F6-BE98-6BEBAF04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758"/>
            <a:ext cx="8161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Assess_WhenFlowCrossesTrustBoundary_DoublesTheScore()</a:t>
            </a:r>
          </a:p>
        </p:txBody>
      </p:sp>
      <p:sp>
        <p:nvSpPr>
          <p:cNvPr id="1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5BC2D251-55A4-46F5-AB5C-FE9A2E00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8EAE108-6701-4FDC-AFDE-26033BDB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2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4BF0765C-4486-474A-9412-BC1D718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64A4B0DE-CA42-4F3F-BB14-6D6EF53A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88719"/>
            <a:ext cx="58294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assessment = _calculator.Assess(</a:t>
            </a:r>
          </a:p>
        </p:txBody>
      </p:sp>
      <p:sp>
        <p:nvSpPr>
          <p:cNvPr id="2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1158B5B0-F30E-4EE6-B1C9-DE2DE1C5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086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0BCAF31-3464-4C12-97AE-6E4B6C82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8699"/>
            <a:ext cx="857264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Scenarios.Create(3, 5, crossesTrustBoundary: </a:t>
            </a: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));</a:t>
            </a:r>
          </a:p>
        </p:txBody>
      </p:sp>
      <p:sp>
        <p:nvSpPr>
          <p:cNvPr id="2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2EB67B97-05FF-4CB9-8F67-89D2D365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286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313551A9-4757-4BD7-AABF-40E6E1AE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28680"/>
            <a:ext cx="7749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Assert.That(assessment.RiskScore, Is.EqualTo(30));</a:t>
            </a:r>
          </a:p>
        </p:txBody>
      </p:sp>
      <p:sp>
        <p:nvSpPr>
          <p:cNvPr id="26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CD844252-DE3D-4DF8-AF18-4092C98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7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11F6FB2-B430-4F6C-9CC9-27515A9B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8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B2B2AF02-0934-4E65-80E8-56E5CF5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03091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29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3D39766-0F18-4BF2-AD95-641C50C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708797"/>
            <a:ext cx="50486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Вероватноћа 3 и утицај 5 дају 15, а уз </a:t>
            </a:r>
          </a:p>
        </p:txBody>
      </p:sp>
      <p:sp>
        <p:nvSpPr>
          <p:cNvPr id="30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DCFF30BA-D113-4820-983E-9CEA2B0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082058"/>
            <a:ext cx="43887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прелазак границе поверења 30.</a:t>
            </a:r>
          </a:p>
        </p:txBody>
      </p:sp>
      <p:sp>
        <p:nvSpPr>
          <p:cNvPr id="31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36B040A7-9B3E-488C-B069-5DA7642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55394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ОЧЕКИВАНИ ИСХОД</a:t>
            </a:r>
          </a:p>
        </p:txBody>
      </p:sp>
      <p:sp>
        <p:nvSpPr>
          <p:cNvPr id="32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A70DFF8-9EA0-42B8-B572-98F40B99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461099"/>
            <a:ext cx="492189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мења једну чињеницу и очекује </a:t>
            </a:r>
          </a:p>
        </p:txBody>
      </p:sp>
      <p:sp>
        <p:nvSpPr>
          <p:cNvPr id="33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ABA9B23D-BB69-460F-B56A-39DDC2E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34360"/>
            <a:ext cx="436587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тачно одређен резултат ризика.</a:t>
            </a:r>
          </a:p>
        </p:txBody>
      </p:sp>
      <p:sp>
        <p:nvSpPr>
          <p:cNvPr id="34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7E9FEE3D-46B4-4943-AF38-D3D3089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5" name="text-source-15">
            <a:extLst xmlns:a="http://schemas.openxmlformats.org/drawingml/2006/main">
              <a:ext uri="{FF2B5EF4-FFF2-40B4-BE49-F238E27FC236}">
                <a16:creationId xmlns:a16="http://schemas.microsoft.com/office/drawing/2014/main" id="{D92B14CA-75DB-44CC-A5C8-3D0CFE3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944978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AF44E7-C2F6-4B5A-A855-10780B5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B02FF-D35E-4738-8766-091F7B68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8001000" cy="3356074"/>
          </a:xfrm>
          <a:prstGeom xmlns:a="http://schemas.openxmlformats.org/drawingml/2006/main" prst="roundRect">
            <a:avLst>
              <a:gd name="adj" fmla="val 45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54F50-B8BF-4368-88DD-FD17409B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2591"/>
            <a:ext cx="7543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261DAB3-C556-44D5-8BC1-BBFD08C4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2591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9A2C0-BEF3-472E-8BF3-C2032215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155"/>
            <a:ext cx="7543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6C985772-D628-4C54-B0DD-E96EB95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155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61D6E-00DA-449F-8EEE-2B3C2DA2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8779EACC-EB0B-4C90-8EA3-612709C1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ЗАПИС</a:t>
            </a:r>
          </a:p>
        </p:txBody>
      </p:sp>
      <p:sp>
        <p:nvSpPr>
          <p:cNvPr id="9" name="heading-source-16">
            <a:extLst xmlns:a="http://schemas.openxmlformats.org/drawingml/2006/main">
              <a:ext uri="{FF2B5EF4-FFF2-40B4-BE49-F238E27FC236}">
                <a16:creationId xmlns:a16="http://schemas.microsoft.com/office/drawing/2014/main" id="{80BFE10A-F63D-42A0-AF7D-2D867669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4168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4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безбедносног записа</a:t>
            </a:r>
          </a:p>
        </p:txBody>
      </p:sp>
      <p:sp>
        <p:nvSpPr>
          <p:cNvPr id="1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39EF642C-0D06-4B8C-AC82-DDD954A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837351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Контекст одлуке се чува без тајни и сувишних личних података.</a:t>
            </a:r>
          </a:p>
        </p:txBody>
      </p:sp>
      <p:sp>
        <p:nvSpPr>
          <p:cNvPr id="1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0B04BB51-89AF-4F84-9AA8-2DA2C3B5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12616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JSON · илустративни запис</a:t>
            </a:r>
          </a:p>
        </p:txBody>
      </p:sp>
      <p:sp>
        <p:nvSpPr>
          <p:cNvPr id="1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5C52684A-4BDD-446F-A070-BC102B98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1F2E79A-3E9C-4EA3-B8FA-E0F982CB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68B12DC-72E1-4F95-8314-E0B382AF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88EFC668-C977-4D4E-B1DB-8FB8A497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8777"/>
            <a:ext cx="41838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"asset"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"payment-ledger"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1B7D002-0E0E-41D1-A2C5-754D4635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87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77986E9-8320-40EA-A5CD-1D0B894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758"/>
            <a:ext cx="47324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"trustBoundary"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"public-api"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91BBB20E-4AAE-43E2-8A1C-C032BC34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2B8A3B7-367A-4D65-BC89-D66A243C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8738"/>
            <a:ext cx="43209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"threat"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"forged-command"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1790CDB3-8C0D-4406-9358-3AB6A921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7611CF9D-FA24-472A-A81A-C35B5F0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88719"/>
            <a:ext cx="52811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"control"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"signature-validation"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B5E7B09C-7652-43A8-8C3E-CC33472B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086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37D63B2-1105-459E-8639-DFBC538F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8699"/>
            <a:ext cx="54182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"test"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"reject-invalid-signature"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A2075EB-CCEF-48CD-BC2F-9107069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286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7F7E852-0381-45C3-8085-D4E85AD9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28680"/>
            <a:ext cx="52810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"residualRisk"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"stolen-valid-key"</a:t>
            </a:r>
          </a:p>
        </p:txBody>
      </p:sp>
      <p:sp>
        <p:nvSpPr>
          <p:cNvPr id="2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EE468AB-DFB7-46A5-A44B-9E66597B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59F055BA-FEE7-4CE7-AE18-1C3478B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8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AFEA42CF-D234-490A-A322-0469BD4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03091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ДОВОЉНО</a:t>
            </a:r>
          </a:p>
        </p:txBody>
      </p:sp>
      <p:sp>
        <p:nvSpPr>
          <p:cNvPr id="29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29021C51-4199-4948-B7A9-7F4870B9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08797"/>
            <a:ext cx="47059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Актер, радња, циљ, исход и разлог</a:t>
            </a:r>
          </a:p>
        </p:txBody>
      </p:sp>
      <p:sp>
        <p:nvSpPr>
          <p:cNvPr id="30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971173D-7302-4796-B645-D6490C22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82058"/>
            <a:ext cx="66536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Временска ознака и correlation ID повезују траг са </a:t>
            </a:r>
          </a:p>
        </p:txBody>
      </p:sp>
      <p:sp>
        <p:nvSpPr>
          <p:cNvPr id="31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5EACCB7-7173-4218-A671-CBC9EEF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55319"/>
            <a:ext cx="21842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остатком тока.</a:t>
            </a:r>
          </a:p>
        </p:txBody>
      </p:sp>
      <p:sp>
        <p:nvSpPr>
          <p:cNvPr id="32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C987E01E-C270-4732-AB5C-1722071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8655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НЕ ПРИПАДА У ДОКАЗ</a:t>
            </a:r>
          </a:p>
        </p:txBody>
      </p:sp>
      <p:sp>
        <p:nvSpPr>
          <p:cNvPr id="33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6189CE87-6F35-40D7-BBB6-2B4879E8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4360"/>
            <a:ext cx="54603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Лозинка, токен, тајна и сувишан садржај</a:t>
            </a:r>
          </a:p>
        </p:txBody>
      </p:sp>
      <p:sp>
        <p:nvSpPr>
          <p:cNvPr id="34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EB4408D1-F796-4753-9D69-8C220785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207621"/>
            <a:ext cx="71982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не сме да постане нови извор цурења или збирка </a:t>
            </a:r>
          </a:p>
        </p:txBody>
      </p:sp>
      <p:sp>
        <p:nvSpPr>
          <p:cNvPr id="35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491F1308-F1D2-4AE4-9D53-3621FB7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80882"/>
            <a:ext cx="325740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непотребних података.</a:t>
            </a:r>
          </a:p>
        </p:txBody>
      </p:sp>
      <p:sp>
        <p:nvSpPr>
          <p:cNvPr id="36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1A0185B9-3C1C-45EA-AEA3-42569DF4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7" name="text-source-16">
            <a:extLst xmlns:a="http://schemas.openxmlformats.org/drawingml/2006/main">
              <a:ext uri="{FF2B5EF4-FFF2-40B4-BE49-F238E27FC236}">
                <a16:creationId xmlns:a16="http://schemas.microsoft.com/office/drawing/2014/main" id="{7A08EF96-EB36-429B-B49B-21B9E71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877550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D180A-72C7-4553-A4AA-61C71D8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47C8D-1FBE-4D29-BAF9-91A5172D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F7550-FD40-4E91-9328-FD16DC2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591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A35CF-9496-4A2B-BF74-689F8F05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9244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5E271-723D-4E38-B17B-322E3D3F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C124E8C7-1A23-43C4-A2FE-DB1C9170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9985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ЧЕСТЕ ГРЕШКЕ</a:t>
            </a:r>
          </a:p>
        </p:txBody>
      </p:sp>
      <p:sp>
        <p:nvSpPr>
          <p:cNvPr id="7" name="heading-source-17">
            <a:extLst xmlns:a="http://schemas.openxmlformats.org/drawingml/2006/main">
              <a:ext uri="{FF2B5EF4-FFF2-40B4-BE49-F238E27FC236}">
                <a16:creationId xmlns:a16="http://schemas.microsoft.com/office/drawing/2014/main" id="{1057F63A-3A41-4A6E-B8D0-9A5288E9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01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3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Честе грешке у имплементацији</a:t>
            </a:r>
          </a:p>
        </p:txBody>
      </p:sp>
      <p:sp>
        <p:nvSpPr>
          <p:cNvPr id="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625073C0-39DB-426E-B6EC-1DAB2AF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2021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4CCED7D-5860-41D6-B14A-94E1D986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25A6004-2EFD-491B-9364-71ECA9E8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3091"/>
            <a:ext cx="9048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Инвентар који постоји само ради евиденције, без власништва и значаја.</a:t>
            </a:r>
          </a:p>
        </p:txBody>
      </p:sp>
      <p:sp>
        <p:nvSpPr>
          <p:cNvPr id="1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F762F31-01CE-4164-AA75-DB3921D6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6387"/>
            <a:ext cx="355461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Нема јасног власника одлуке.</a:t>
            </a:r>
          </a:p>
        </p:txBody>
      </p:sp>
      <p:sp>
        <p:nvSpPr>
          <p:cNvPr id="1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E2D0054-B490-44D2-B140-67D4BA6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594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C1BAF54-E390-4438-9B03-D1AAC1E9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6418"/>
            <a:ext cx="80886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Општи каталог претњи који није повезан са стварним системом.</a:t>
            </a:r>
          </a:p>
        </p:txBody>
      </p:sp>
      <p:sp>
        <p:nvSpPr>
          <p:cNvPr id="1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268A7604-8BF1-4AF5-9561-531C5D79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49713"/>
            <a:ext cx="378157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Не постоји негативан сценарио.</a:t>
            </a:r>
          </a:p>
        </p:txBody>
      </p:sp>
      <p:sp>
        <p:nvSpPr>
          <p:cNvPr id="1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EEC5B71-4A77-4075-A17B-47F37613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7926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D72FB9F8-4FF6-42BD-9152-9738B97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9744"/>
            <a:ext cx="822840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изабрана пре разумевања ризика који треба да смањи.</a:t>
            </a:r>
          </a:p>
        </p:txBody>
      </p:sp>
      <p:sp>
        <p:nvSpPr>
          <p:cNvPr id="1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A9DFFC66-261B-4CC9-A473-E4390B8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83039"/>
            <a:ext cx="39461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Доказ не показује стварни исход.</a:t>
            </a:r>
          </a:p>
        </p:txBody>
      </p:sp>
      <p:sp>
        <p:nvSpPr>
          <p:cNvPr id="1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79A8892-CBEC-4343-8178-A5611C5A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F34C4627-3B23-4E03-B8F6-4DD7F69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054626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66445-22AF-4EDD-913C-F3E867FE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8AD3C-5ADA-47AF-AD20-28BE154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12591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B3A58-6722-4671-BA3D-6DA9E19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72558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25AE8-E75B-4385-8860-9D7227F1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32524"/>
            <a:ext cx="786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068F3-B62A-4D3F-9453-28D9B616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2975981-FA88-4B62-890F-93076E90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5299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ОДРЖАВАЊЕ</a:t>
            </a:r>
          </a:p>
        </p:txBody>
      </p:sp>
      <p:sp>
        <p:nvSpPr>
          <p:cNvPr id="7" name="heading-source-18">
            <a:extLst xmlns:a="http://schemas.openxmlformats.org/drawingml/2006/main">
              <a:ext uri="{FF2B5EF4-FFF2-40B4-BE49-F238E27FC236}">
                <a16:creationId xmlns:a16="http://schemas.microsoft.com/office/drawing/2014/main" id="{BE7F1B21-CEC2-4B5E-ADC4-80C887DF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79213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Одржавање модела претњи</a:t>
            </a:r>
          </a:p>
        </p:txBody>
      </p:sp>
      <p:sp>
        <p:nvSpPr>
          <p:cNvPr id="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3CAF4A5-9F0C-4A3E-8EE9-D7CE9DD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69456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Модел се ажурира када се промене имовина, ток података, граница поверења или претпоставке система.</a:t>
            </a:r>
          </a:p>
        </p:txBody>
      </p:sp>
      <p:sp>
        <p:nvSpPr>
          <p:cNvPr id="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CCD95CA-8CE7-4B77-8536-6ADADBA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ОБРАЗЛОЖЕЊЕ</a:t>
            </a:r>
          </a:p>
        </p:txBody>
      </p:sp>
      <p:sp>
        <p:nvSpPr>
          <p:cNvPr id="1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00AA686-B82D-4FD1-B91B-4AE403FB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3547"/>
            <a:ext cx="450160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Одржавање модела претњи</a:t>
            </a:r>
          </a:p>
        </p:txBody>
      </p:sp>
      <p:sp>
        <p:nvSpPr>
          <p:cNvPr id="1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8027CE2A-2CF6-4AE1-A4DD-BD9D5BE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1687"/>
            <a:ext cx="702290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Модел претњи ажурира се када систем добије нови улаз, </a:t>
            </a:r>
          </a:p>
        </p:txBody>
      </p:sp>
      <p:sp>
        <p:nvSpPr>
          <p:cNvPr id="1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3B82E5AD-9072-4D4B-852E-9E74A3EE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8308"/>
            <a:ext cx="781928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интеграцију, начин чувања података или привилеговану радњу. </a:t>
            </a:r>
          </a:p>
        </p:txBody>
      </p:sp>
      <p:sp>
        <p:nvSpPr>
          <p:cNvPr id="1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1F88066-54E1-46D4-AEFD-F095A31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4929"/>
            <a:ext cx="722858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Значајна архитектонска промена захтева поновну проверу </a:t>
            </a:r>
          </a:p>
        </p:txBody>
      </p:sp>
      <p:sp>
        <p:nvSpPr>
          <p:cNvPr id="1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39E0B62-7A2A-4F2D-A6CD-958D9C4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1549"/>
            <a:ext cx="33443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постојећих претпоставки.</a:t>
            </a:r>
          </a:p>
        </p:txBody>
      </p:sp>
      <p:sp>
        <p:nvSpPr>
          <p:cNvPr id="1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8BDD1820-7532-41D4-AEE2-6E7394D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261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B1D3E705-D5E0-4D8A-B696-831A3405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03091"/>
            <a:ext cx="673253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Дијаграм се ажурира када ток података или граница </a:t>
            </a:r>
          </a:p>
        </p:txBody>
      </p:sp>
      <p:sp>
        <p:nvSpPr>
          <p:cNvPr id="1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C5DCD10-25D3-4670-A89F-9816935A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49712"/>
            <a:ext cx="611668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поверења стварно промени понашање система.</a:t>
            </a:r>
          </a:p>
        </p:txBody>
      </p:sp>
      <p:sp>
        <p:nvSpPr>
          <p:cNvPr id="1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3F56919-CB0B-4CAB-A1EB-D8E77D6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7258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F0205BD-AD8E-4EC9-9806-A9C2FEB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63058"/>
            <a:ext cx="691976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 одабрани сценарио постоји веза до контроле, теста </a:t>
            </a:r>
          </a:p>
        </p:txBody>
      </p:sp>
      <p:sp>
        <p:nvSpPr>
          <p:cNvPr id="2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2D0C6F52-DE80-46E9-BA6D-00626B79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09679"/>
            <a:ext cx="42392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или прегледа који га проверава.</a:t>
            </a:r>
          </a:p>
        </p:txBody>
      </p:sp>
      <p:sp>
        <p:nvSpPr>
          <p:cNvPr id="2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43DE882-3B17-46DE-B6BE-6AE35503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32549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45A67AED-8082-449B-B2F5-C07071A2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623024"/>
            <a:ext cx="576530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Преостали ризик бележи се јасно, заједно са </a:t>
            </a:r>
          </a:p>
        </p:txBody>
      </p:sp>
      <p:sp>
        <p:nvSpPr>
          <p:cNvPr id="2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89658301-3116-41CE-B450-D093AF0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969645"/>
            <a:ext cx="506789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прихваћеним ограничењима контроле.</a:t>
            </a:r>
          </a:p>
        </p:txBody>
      </p:sp>
      <p:sp>
        <p:nvSpPr>
          <p:cNvPr id="2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C9BDEA3-4151-47E9-8A2A-B85A88D1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CC87A93-E16F-43A4-9538-86302C34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926890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DF05C-FB6C-4EB8-BF4C-03D6D6BD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E6AB2-6CA4-4D06-AFB5-6D0800EB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54EC4-8221-4944-96D6-77D35A54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823C5-6300-410F-B848-F0F47F5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FCE85-436D-44E0-A8FF-6921A321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DDECB-0A92-4153-8F91-E70C3BB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5B73D2E-25DA-4D1C-BF1A-888321D1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A6922-1247-4A99-8C2F-F839E09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540049f104f59"/>
          <a:stretch xmlns:a="http://schemas.openxmlformats.org/drawingml/2006/main"/>
        </p:blipFill>
        <p:spPr>
          <a:xfrm xmlns:a="http://schemas.openxmlformats.org/drawingml/2006/main">
            <a:off x="4886325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1bd0cc498481c"/>
          <a:stretch xmlns:a="http://schemas.openxmlformats.org/drawingml/2006/main"/>
        </p:blipFill>
        <p:spPr>
          <a:xfrm xmlns:a="http://schemas.openxmlformats.org/drawingml/2006/main">
            <a:off x="9010650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27f0692814929"/>
          <a:stretch xmlns:a="http://schemas.openxmlformats.org/drawingml/2006/main"/>
        </p:blipFill>
        <p:spPr>
          <a:xfrm xmlns:a="http://schemas.openxmlformats.org/drawingml/2006/main">
            <a:off x="13134975" y="405928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058B0C1-1136-4947-8865-7C2C008E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ПРИМЕНА НА ПРОЈЕКАТ</a:t>
            </a:r>
          </a:p>
        </p:txBody>
      </p:sp>
      <p:sp>
        <p:nvSpPr>
          <p:cNvPr id="13" name="heading-source-19">
            <a:extLst xmlns:a="http://schemas.openxmlformats.org/drawingml/2006/main">
              <a:ext uri="{FF2B5EF4-FFF2-40B4-BE49-F238E27FC236}">
                <a16:creationId xmlns:a16="http://schemas.microsoft.com/office/drawing/2014/main" id="{1C451AAB-E4AF-4866-B4F6-20A1372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718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1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FC91F10-2B49-4A13-A7C7-007D59D0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942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1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62C844B-80D0-4762-85BA-64DAA0C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9CC190D4-BC13-4436-8C67-A4D50649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25029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Избор сценарија</a:t>
            </a:r>
          </a:p>
        </p:txBody>
      </p:sp>
      <p:sp>
        <p:nvSpPr>
          <p:cNvPr id="1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1AC5D20-7DCA-495F-8724-9D9AAA61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5964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стварна радња</a:t>
            </a:r>
          </a:p>
        </p:txBody>
      </p:sp>
      <p:sp>
        <p:nvSpPr>
          <p:cNvPr id="1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B04162F-FBA1-420F-A28F-91204466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C20D1F9D-BC05-4E16-9768-88508F23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32088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Дефинисање правила</a:t>
            </a:r>
          </a:p>
        </p:txBody>
      </p:sp>
      <p:sp>
        <p:nvSpPr>
          <p:cNvPr id="2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6D0B8053-40F9-4FB8-BDCD-451C7C6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0780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улази и граница</a:t>
            </a:r>
          </a:p>
        </p:txBody>
      </p:sp>
      <p:sp>
        <p:nvSpPr>
          <p:cNvPr id="2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DC741B5-C8A8-4E19-8115-071A7E04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31D78D84-CB86-4CFC-9150-ECBDE145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1898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одбијања</a:t>
            </a:r>
          </a:p>
        </p:txBody>
      </p:sp>
      <p:sp>
        <p:nvSpPr>
          <p:cNvPr id="2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9E1F088-18F1-4756-BF6E-B426CB3F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177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чињеница недостаје</a:t>
            </a:r>
          </a:p>
        </p:txBody>
      </p:sp>
      <p:sp>
        <p:nvSpPr>
          <p:cNvPr id="2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9B218BE-3113-409D-A14C-2669B5C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6B45D40-DE70-4CDA-A8F5-54BB9A0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5509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запис</a:t>
            </a:r>
          </a:p>
        </p:txBody>
      </p:sp>
      <p:sp>
        <p:nvSpPr>
          <p:cNvPr id="2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88AB4CB-D0A4-4A7D-969B-FD8D49A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19347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 и разлог</a:t>
            </a:r>
          </a:p>
        </p:txBody>
      </p:sp>
      <p:sp>
        <p:nvSpPr>
          <p:cNvPr id="2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69F4B5A-856F-424F-AD12-C71E871B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ПРИМЕНА НА ПРОЈЕКАТ</a:t>
            </a:r>
          </a:p>
        </p:txBody>
      </p:sp>
      <p:sp>
        <p:nvSpPr>
          <p:cNvPr id="2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71D1F534-AE98-4AA1-A085-E786DAA8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44358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примена теме „Имовина, границе поверења и threat modeling“ обухвата једну серверску одлуку, тест </a:t>
            </a:r>
          </a:p>
        </p:txBody>
      </p:sp>
      <p:sp>
        <p:nvSpPr>
          <p:cNvPr id="2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A0303140-3D34-4D9B-8933-2CF81A2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0749"/>
            <a:ext cx="73873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одбијања и доказ који други члан тима може да понови.</a:t>
            </a:r>
          </a:p>
        </p:txBody>
      </p:sp>
      <p:sp>
        <p:nvSpPr>
          <p:cNvPr id="3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25EB2D4A-6E8E-470F-9F82-D8938D1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D228D4C-5C2E-4F68-B227-C4C57600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885815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14DC67-00A3-41E4-8A2E-9CE413E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4FF48-295B-47C1-AAB2-98CEDEE7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95A0B-609F-4189-A3FA-A2134AD1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08397-E9EF-466B-BFB0-173ADEFE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46827-6F23-42E0-8A62-EAA25A9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945B6-2551-4AC9-ADF8-E850E25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9E40A73-1F81-4ADD-BC96-EA6D88F1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2C7A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FF254-52E0-40B8-A36C-CC4BAA6A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A2C005F-C1C3-4DBB-8BF2-50E5442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9357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 · ПРОВЕРА РАЗУМЕВАЊА</a:t>
            </a:r>
          </a:p>
        </p:txBody>
      </p:sp>
      <p:sp>
        <p:nvSpPr>
          <p:cNvPr id="10" name="heading-source-20">
            <a:extLst xmlns:a="http://schemas.openxmlformats.org/drawingml/2006/main">
              <a:ext uri="{FF2B5EF4-FFF2-40B4-BE49-F238E27FC236}">
                <a16:creationId xmlns:a16="http://schemas.microsoft.com/office/drawing/2014/main" id="{8F5CAD75-1646-4E6C-9983-6121EE1F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12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 разумевања</a:t>
            </a:r>
          </a:p>
        </p:txBody>
      </p:sp>
      <p:sp>
        <p:nvSpPr>
          <p:cNvPr id="1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222D0326-3208-4B8D-A84C-0BAA6BD2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761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1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6A66D57-2B06-4E09-80D2-75A43EED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1F70C3F-4446-4AED-BEC9-68864E7B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001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Имовина</a:t>
            </a:r>
          </a:p>
        </p:txBody>
      </p:sp>
      <p:sp>
        <p:nvSpPr>
          <p:cNvPr id="1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7F9EED34-2030-46C9-8F74-0362FC87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329550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вредан податак или сервис</a:t>
            </a:r>
          </a:p>
        </p:txBody>
      </p:sp>
      <p:sp>
        <p:nvSpPr>
          <p:cNvPr id="1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AD18232-3436-42B9-8CE1-88A66713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F8D63AC0-2075-41D0-BEA3-8089B271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08847"/>
            <a:ext cx="204504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података</a:t>
            </a:r>
          </a:p>
        </p:txBody>
      </p:sp>
      <p:sp>
        <p:nvSpPr>
          <p:cNvPr id="1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035FB30-4272-43EA-A944-1EAF745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00277"/>
            <a:ext cx="27571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кретање информације</a:t>
            </a:r>
          </a:p>
        </p:txBody>
      </p:sp>
      <p:sp>
        <p:nvSpPr>
          <p:cNvPr id="1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4001745-4B39-4D46-9D6E-D80F7B68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DD5D439-80E2-49E6-9D4F-7C6BCDE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08847"/>
            <a:ext cx="27701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Граница поверења</a:t>
            </a:r>
          </a:p>
        </p:txBody>
      </p:sp>
      <p:sp>
        <p:nvSpPr>
          <p:cNvPr id="2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052C717-0DF4-4CBD-BD16-DFFFDA1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600277"/>
            <a:ext cx="28132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промена претпоставки</a:t>
            </a:r>
          </a:p>
        </p:txBody>
      </p:sp>
      <p:sp>
        <p:nvSpPr>
          <p:cNvPr id="2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218B89E5-DD5A-4CA9-A647-669F3153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B74B059-8BD6-4E30-96DC-84215CF5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08847"/>
            <a:ext cx="284112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Претња и контрола</a:t>
            </a:r>
          </a:p>
        </p:txBody>
      </p:sp>
      <p:sp>
        <p:nvSpPr>
          <p:cNvPr id="2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435563A-9A52-46B2-8AF1-423D8EF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600277"/>
            <a:ext cx="21023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ризик и одговор</a:t>
            </a:r>
          </a:p>
        </p:txBody>
      </p:sp>
      <p:sp>
        <p:nvSpPr>
          <p:cNvPr id="2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53B076A-E5FA-4A18-A94F-890218CA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2C7A4B"/>
                </a:solidFill>
                <a:latin typeface="IBM Plex Mono"/>
                <a:ea typeface="IBM Plex Mono"/>
                <a:cs typeface="IBM Plex Mono"/>
              </a:rPr>
              <a:t>ПИТАЊЕ ЗА ПРОВЕРУ</a:t>
            </a:r>
          </a:p>
        </p:txBody>
      </p:sp>
      <p:sp>
        <p:nvSpPr>
          <p:cNvPr id="2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343CB4C-A444-41AE-9A5B-BD40469A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22598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  <p:sp>
        <p:nvSpPr>
          <p:cNvPr id="2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2A35F10-C4A5-46A4-9C91-C6EBC19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0749"/>
            <a:ext cx="118739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  <p:sp>
        <p:nvSpPr>
          <p:cNvPr id="2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F53A44C2-E4E7-432B-99E7-D51D2A52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CC49CA29-CC1C-4782-8A50-81D26C85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461747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2C7A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BCDE0-41D5-4EAF-95C3-A308FCBE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C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76310-2A52-4AFF-A66F-C3DC9BB7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773"/>
          </a:solidFill>
          <a:ln xmlns:a="http://schemas.openxmlformats.org/drawingml/2006/main" w="0">
            <a:noFill/>
          </a:ln>
        </p:spPr>
      </p:sp>
      <p:sp>
        <p:nvSpPr>
          <p:cNvPr id="3" name="text-rezime">
            <a:extLst xmlns:a="http://schemas.openxmlformats.org/drawingml/2006/main">
              <a:ext uri="{FF2B5EF4-FFF2-40B4-BE49-F238E27FC236}">
                <a16:creationId xmlns:a16="http://schemas.microsoft.com/office/drawing/2014/main" id="{46452484-1ED0-45A7-9A74-BC8186C6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2802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E1ECE6"/>
                </a:solidFill>
                <a:latin typeface="IBM Plex Mono"/>
                <a:ea typeface="IBM Plex Mono"/>
                <a:cs typeface="IBM Plex Mono"/>
              </a:rPr>
              <a:t>РЕЗИМЕ</a:t>
            </a:r>
          </a:p>
        </p:txBody>
      </p:sp>
      <p:sp>
        <p:nvSpPr>
          <p:cNvPr id="4" name="heading-rezime">
            <a:extLst xmlns:a="http://schemas.openxmlformats.org/drawingml/2006/main">
              <a:ext uri="{FF2B5EF4-FFF2-40B4-BE49-F238E27FC236}">
                <a16:creationId xmlns:a16="http://schemas.microsoft.com/office/drawing/2014/main" id="{EE07D135-7E18-4800-965A-7BBFFECF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151899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60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Модел претњи повезује вредност и доказ</a:t>
            </a:r>
          </a:p>
        </p:txBody>
      </p:sp>
      <p:sp>
        <p:nvSpPr>
          <p:cNvPr id="5" name="text-rezime">
            <a:extLst xmlns:a="http://schemas.openxmlformats.org/drawingml/2006/main">
              <a:ext uri="{FF2B5EF4-FFF2-40B4-BE49-F238E27FC236}">
                <a16:creationId xmlns:a16="http://schemas.microsoft.com/office/drawing/2014/main" id="{AFE46F51-DB0F-40CD-BD7E-A7D870EC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3580"/>
            <a:ext cx="1196607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Имовина → ток → граница → сценарио → контрола → провера</a:t>
            </a:r>
          </a:p>
        </p:txBody>
      </p:sp>
      <p:sp>
        <p:nvSpPr>
          <p:cNvPr id="6" name="text-rezime">
            <a:extLst xmlns:a="http://schemas.openxmlformats.org/drawingml/2006/main">
              <a:ext uri="{FF2B5EF4-FFF2-40B4-BE49-F238E27FC236}">
                <a16:creationId xmlns:a16="http://schemas.microsoft.com/office/drawing/2014/main" id="{67A2C395-A3DA-4D82-9A28-5E1B3344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4180"/>
            <a:ext cx="1351984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0">
                <a:solidFill>
                  <a:srgbClr val="E1ECE6"/>
                </a:solidFill>
                <a:latin typeface="IBM Plex Sans"/>
                <a:ea typeface="IBM Plex Sans"/>
                <a:cs typeface="IBM Plex Sans"/>
              </a:rPr>
              <a:t>Најкориснији модел је довољно конкретан да промени захтев, серверску </a:t>
            </a:r>
          </a:p>
        </p:txBody>
      </p:sp>
      <p:sp>
        <p:nvSpPr>
          <p:cNvPr id="7" name="text-rezime">
            <a:extLst xmlns:a="http://schemas.openxmlformats.org/drawingml/2006/main">
              <a:ext uri="{FF2B5EF4-FFF2-40B4-BE49-F238E27FC236}">
                <a16:creationId xmlns:a16="http://schemas.microsoft.com/office/drawing/2014/main" id="{6551CCA2-A1FE-45A6-980B-18712B4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77580"/>
            <a:ext cx="353035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Sans"/>
                <a:ea typeface="IBM Plex Sans"/>
                <a:cs typeface="IBM Plex Sans"/>
              </a:defRPr>
            </a:pPr>
            <a:r>
              <a:rPr sz="3000" b="0">
                <a:solidFill>
                  <a:srgbClr val="E1ECE6"/>
                </a:solidFill>
                <a:latin typeface="IBM Plex Sans"/>
                <a:ea typeface="IBM Plex Sans"/>
                <a:cs typeface="IBM Plex Sans"/>
              </a:rPr>
              <a:t>проверу или тест.</a:t>
            </a:r>
          </a:p>
        </p:txBody>
      </p:sp>
      <p:sp>
        <p:nvSpPr>
          <p:cNvPr id="8" name="text-rezime">
            <a:extLst xmlns:a="http://schemas.openxmlformats.org/drawingml/2006/main">
              <a:ext uri="{FF2B5EF4-FFF2-40B4-BE49-F238E27FC236}">
                <a16:creationId xmlns:a16="http://schemas.microsoft.com/office/drawing/2014/main" id="{61F66EBF-5EFC-4CBE-9CC0-2881113A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8655"/>
            <a:ext cx="113654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E1ECE6"/>
                </a:solidFill>
                <a:latin typeface="IBM Plex Sans"/>
                <a:ea typeface="IBM Plex Sans"/>
                <a:cs typeface="IBM Plex Sans"/>
              </a:rPr>
              <a:t>После промене система поново проверити претпоставке и преостали ризик.</a:t>
            </a:r>
          </a:p>
        </p:txBody>
      </p:sp>
      <p:sp>
        <p:nvSpPr>
          <p:cNvPr id="9" name="text-rezime">
            <a:extLst xmlns:a="http://schemas.openxmlformats.org/drawingml/2006/main">
              <a:ext uri="{FF2B5EF4-FFF2-40B4-BE49-F238E27FC236}">
                <a16:creationId xmlns:a16="http://schemas.microsoft.com/office/drawing/2014/main" id="{9FFCC4F7-71AF-41F9-8C65-0842751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E1ECE6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0" name="text-rezime">
            <a:extLst xmlns:a="http://schemas.openxmlformats.org/drawingml/2006/main">
              <a:ext uri="{FF2B5EF4-FFF2-40B4-BE49-F238E27FC236}">
                <a16:creationId xmlns:a16="http://schemas.microsoft.com/office/drawing/2014/main" id="{1C57B62C-3809-4E02-B7DE-82BE819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E1ECE6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28737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2026-10-09T17:43:56.9480000Z</dcterms:created>
  <dcterms:modified xsi:type="dcterms:W3CDTF">2026-10-09T17:43:56.9480000Z</dcterms:modified>
</coreProperties>
</file>