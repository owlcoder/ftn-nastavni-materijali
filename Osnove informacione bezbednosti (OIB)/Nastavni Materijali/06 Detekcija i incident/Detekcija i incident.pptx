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74ee5b6064526" /><Relationship Type="http://schemas.openxmlformats.org/officeDocument/2006/relationships/extended-properties" Target="/docProps/app.xml" Id="R0b6c7a74705042b8" /><Relationship Type="http://schemas.openxmlformats.org/officeDocument/2006/relationships/officeDocument" Target="/ppt/presentation.xml" Id="R209943e30be84a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0a17784de54098"/>
  </p:sldMasterIdLst>
  <p:notesMasterIdLst>
    <p:notesMasterId xmlns:r="http://schemas.openxmlformats.org/officeDocument/2006/relationships" r:id="R19c8b86bf1b2432a"/>
  </p:notesMasterIdLst>
  <p:sldIdLst>
    <p:sldId xmlns:r="http://schemas.openxmlformats.org/officeDocument/2006/relationships" id="256" r:id="R02e1c2f0e23b4284"/>
    <p:sldId xmlns:r="http://schemas.openxmlformats.org/officeDocument/2006/relationships" id="257" r:id="R5f7ab46b3613414d"/>
    <p:sldId xmlns:r="http://schemas.openxmlformats.org/officeDocument/2006/relationships" id="258" r:id="Rff3aa699f6734ba3"/>
    <p:sldId xmlns:r="http://schemas.openxmlformats.org/officeDocument/2006/relationships" id="259" r:id="R6118fba610834476"/>
    <p:sldId xmlns:r="http://schemas.openxmlformats.org/officeDocument/2006/relationships" id="260" r:id="Rde5157b1c3234184"/>
    <p:sldId xmlns:r="http://schemas.openxmlformats.org/officeDocument/2006/relationships" id="261" r:id="R1300cd9a0aab492b"/>
    <p:sldId xmlns:r="http://schemas.openxmlformats.org/officeDocument/2006/relationships" id="262" r:id="R984c2df8d9e24199"/>
    <p:sldId xmlns:r="http://schemas.openxmlformats.org/officeDocument/2006/relationships" id="263" r:id="R9a0d93781bbf488d"/>
    <p:sldId xmlns:r="http://schemas.openxmlformats.org/officeDocument/2006/relationships" id="264" r:id="Ra49ff951280a42bf"/>
    <p:sldId xmlns:r="http://schemas.openxmlformats.org/officeDocument/2006/relationships" id="265" r:id="R731736d893d74a0c"/>
    <p:sldId xmlns:r="http://schemas.openxmlformats.org/officeDocument/2006/relationships" id="266" r:id="Rbe9ede5514c448cb"/>
    <p:sldId xmlns:r="http://schemas.openxmlformats.org/officeDocument/2006/relationships" id="267" r:id="R519bfd84c0884673"/>
    <p:sldId xmlns:r="http://schemas.openxmlformats.org/officeDocument/2006/relationships" id="268" r:id="R1e1b86ee8df54f15"/>
    <p:sldId xmlns:r="http://schemas.openxmlformats.org/officeDocument/2006/relationships" id="269" r:id="R00834081288949ce"/>
    <p:sldId xmlns:r="http://schemas.openxmlformats.org/officeDocument/2006/relationships" id="270" r:id="R888d5cefffe94091"/>
    <p:sldId xmlns:r="http://schemas.openxmlformats.org/officeDocument/2006/relationships" id="271" r:id="R4e36fcecdad84ac9"/>
    <p:sldId xmlns:r="http://schemas.openxmlformats.org/officeDocument/2006/relationships" id="272" r:id="Rba7fce9cbd464291"/>
    <p:sldId xmlns:r="http://schemas.openxmlformats.org/officeDocument/2006/relationships" id="273" r:id="R34beddad906a4263"/>
    <p:sldId xmlns:r="http://schemas.openxmlformats.org/officeDocument/2006/relationships" id="274" r:id="R39c2ee20d5454a86"/>
    <p:sldId xmlns:r="http://schemas.openxmlformats.org/officeDocument/2006/relationships" id="275" r:id="R174e9ad7b0614c71"/>
    <p:sldId xmlns:r="http://schemas.openxmlformats.org/officeDocument/2006/relationships" id="276" r:id="Rf99d62de8bf3460a"/>
    <p:sldId xmlns:r="http://schemas.openxmlformats.org/officeDocument/2006/relationships" id="277" r:id="Ra38e23db1ed44bd5"/>
    <p:sldId xmlns:r="http://schemas.openxmlformats.org/officeDocument/2006/relationships" id="278" r:id="Rcb0ddb3ab8f64729"/>
    <p:sldId xmlns:r="http://schemas.openxmlformats.org/officeDocument/2006/relationships" id="279" r:id="R0a3655bd0e5c4cb5"/>
    <p:sldId xmlns:r="http://schemas.openxmlformats.org/officeDocument/2006/relationships" id="280" r:id="Rb2e8501ca9ae47af"/>
    <p:sldId xmlns:r="http://schemas.openxmlformats.org/officeDocument/2006/relationships" id="281" r:id="R46a619bd00714c2e"/>
    <p:sldId xmlns:r="http://schemas.openxmlformats.org/officeDocument/2006/relationships" id="282" r:id="R34960df8e9b04dd5"/>
    <p:sldId xmlns:r="http://schemas.openxmlformats.org/officeDocument/2006/relationships" id="283" r:id="R9e48cdebf7364ae6"/>
    <p:sldId xmlns:r="http://schemas.openxmlformats.org/officeDocument/2006/relationships" id="284" r:id="Rd42dcb86a2ae4be9"/>
    <p:sldId xmlns:r="http://schemas.openxmlformats.org/officeDocument/2006/relationships" id="285" r:id="Rcdc0220b6d23471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bfbab53bf74676" /><Relationship Type="http://schemas.openxmlformats.org/officeDocument/2006/relationships/slideMaster" Target="/ppt/slideMasters/slideMaster1.xml" Id="R910a17784de54098" /><Relationship Type="http://schemas.openxmlformats.org/officeDocument/2006/relationships/notesMaster" Target="/ppt/notesMasters/notesMaster1.xml" Id="R19c8b86bf1b2432a" /><Relationship Type="http://schemas.openxmlformats.org/officeDocument/2006/relationships/presProps" Target="/ppt/presProps.xml" Id="R07f5d3d9b7ce4adc" /><Relationship Type="http://schemas.openxmlformats.org/officeDocument/2006/relationships/tableStyles" Target="/ppt/tableStyles.xml" Id="R356470bb3a634a34" /><Relationship Type="http://schemas.openxmlformats.org/officeDocument/2006/relationships/slide" Target="/ppt/slides/slide1.xml" Id="R02e1c2f0e23b4284" /><Relationship Type="http://schemas.openxmlformats.org/officeDocument/2006/relationships/slide" Target="/ppt/slides/slide2.xml" Id="R5f7ab46b3613414d" /><Relationship Type="http://schemas.openxmlformats.org/officeDocument/2006/relationships/slide" Target="/ppt/slides/slide3.xml" Id="Rff3aa699f6734ba3" /><Relationship Type="http://schemas.openxmlformats.org/officeDocument/2006/relationships/slide" Target="/ppt/slides/slide4.xml" Id="R6118fba610834476" /><Relationship Type="http://schemas.openxmlformats.org/officeDocument/2006/relationships/slide" Target="/ppt/slides/slide5.xml" Id="Rde5157b1c3234184" /><Relationship Type="http://schemas.openxmlformats.org/officeDocument/2006/relationships/slide" Target="/ppt/slides/slide6.xml" Id="R1300cd9a0aab492b" /><Relationship Type="http://schemas.openxmlformats.org/officeDocument/2006/relationships/slide" Target="/ppt/slides/slide7.xml" Id="R984c2df8d9e24199" /><Relationship Type="http://schemas.openxmlformats.org/officeDocument/2006/relationships/slide" Target="/ppt/slides/slide8.xml" Id="R9a0d93781bbf488d" /><Relationship Type="http://schemas.openxmlformats.org/officeDocument/2006/relationships/slide" Target="/ppt/slides/slide9.xml" Id="Ra49ff951280a42bf" /><Relationship Type="http://schemas.openxmlformats.org/officeDocument/2006/relationships/slide" Target="/ppt/slides/slide10.xml" Id="R731736d893d74a0c" /><Relationship Type="http://schemas.openxmlformats.org/officeDocument/2006/relationships/slide" Target="/ppt/slides/slide11.xml" Id="Rbe9ede5514c448cb" /><Relationship Type="http://schemas.openxmlformats.org/officeDocument/2006/relationships/slide" Target="/ppt/slides/slide12.xml" Id="R519bfd84c0884673" /><Relationship Type="http://schemas.openxmlformats.org/officeDocument/2006/relationships/slide" Target="/ppt/slides/slide13.xml" Id="R1e1b86ee8df54f15" /><Relationship Type="http://schemas.openxmlformats.org/officeDocument/2006/relationships/slide" Target="/ppt/slides/slide14.xml" Id="R00834081288949ce" /><Relationship Type="http://schemas.openxmlformats.org/officeDocument/2006/relationships/slide" Target="/ppt/slides/slide15.xml" Id="R888d5cefffe94091" /><Relationship Type="http://schemas.openxmlformats.org/officeDocument/2006/relationships/slide" Target="/ppt/slides/slide16.xml" Id="R4e36fcecdad84ac9" /><Relationship Type="http://schemas.openxmlformats.org/officeDocument/2006/relationships/slide" Target="/ppt/slides/slide17.xml" Id="Rba7fce9cbd464291" /><Relationship Type="http://schemas.openxmlformats.org/officeDocument/2006/relationships/slide" Target="/ppt/slides/slide18.xml" Id="R34beddad906a4263" /><Relationship Type="http://schemas.openxmlformats.org/officeDocument/2006/relationships/slide" Target="/ppt/slides/slide19.xml" Id="R39c2ee20d5454a86" /><Relationship Type="http://schemas.openxmlformats.org/officeDocument/2006/relationships/slide" Target="/ppt/slides/slide20.xml" Id="R174e9ad7b0614c71" /><Relationship Type="http://schemas.openxmlformats.org/officeDocument/2006/relationships/slide" Target="/ppt/slides/slide21.xml" Id="Rf99d62de8bf3460a" /><Relationship Type="http://schemas.openxmlformats.org/officeDocument/2006/relationships/slide" Target="/ppt/slides/slide22.xml" Id="Ra38e23db1ed44bd5" /><Relationship Type="http://schemas.openxmlformats.org/officeDocument/2006/relationships/slide" Target="/ppt/slides/slide23.xml" Id="Rcb0ddb3ab8f64729" /><Relationship Type="http://schemas.openxmlformats.org/officeDocument/2006/relationships/slide" Target="/ppt/slides/slide24.xml" Id="R0a3655bd0e5c4cb5" /><Relationship Type="http://schemas.openxmlformats.org/officeDocument/2006/relationships/slide" Target="/ppt/slides/slide25.xml" Id="Rb2e8501ca9ae47af" /><Relationship Type="http://schemas.openxmlformats.org/officeDocument/2006/relationships/slide" Target="/ppt/slides/slide26.xml" Id="R46a619bd00714c2e" /><Relationship Type="http://schemas.openxmlformats.org/officeDocument/2006/relationships/slide" Target="/ppt/slides/slide27.xml" Id="R34960df8e9b04dd5" /><Relationship Type="http://schemas.openxmlformats.org/officeDocument/2006/relationships/slide" Target="/ppt/slides/slide28.xml" Id="R9e48cdebf7364ae6" /><Relationship Type="http://schemas.openxmlformats.org/officeDocument/2006/relationships/slide" Target="/ppt/slides/slide29.xml" Id="Rd42dcb86a2ae4be9" /><Relationship Type="http://schemas.openxmlformats.org/officeDocument/2006/relationships/slide" Target="/ppt/slides/slide30.xml" Id="Rcdc0220b6d23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6c2dfa254d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7cdd521a68444b" /><Relationship Type="http://schemas.openxmlformats.org/officeDocument/2006/relationships/notesMaster" Target="/ppt/notesMasters/notesMaster1.xml" Id="R09e1af79eef54b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12a0bc0ee74db2" /><Relationship Type="http://schemas.openxmlformats.org/officeDocument/2006/relationships/notesMaster" Target="/ppt/notesMasters/notesMaster1.xml" Id="Ra310a038cb014e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772ce104d84483" /><Relationship Type="http://schemas.openxmlformats.org/officeDocument/2006/relationships/notesMaster" Target="/ppt/notesMasters/notesMaster1.xml" Id="R9b4e1defc52a44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ab379601ef468f" /><Relationship Type="http://schemas.openxmlformats.org/officeDocument/2006/relationships/notesMaster" Target="/ppt/notesMasters/notesMaster1.xml" Id="R3d73b929a514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97b425002422f" /><Relationship Type="http://schemas.openxmlformats.org/officeDocument/2006/relationships/notesMaster" Target="/ppt/notesMasters/notesMaster1.xml" Id="Racec118d513a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21dc1b11bd446d" /><Relationship Type="http://schemas.openxmlformats.org/officeDocument/2006/relationships/notesMaster" Target="/ppt/notesMasters/notesMaster1.xml" Id="R1f0b6168857046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242bb0346343ac" /><Relationship Type="http://schemas.openxmlformats.org/officeDocument/2006/relationships/notesMaster" Target="/ppt/notesMasters/notesMaster1.xml" Id="Ra463d616214048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7544ccbeac4b94" /><Relationship Type="http://schemas.openxmlformats.org/officeDocument/2006/relationships/notesMaster" Target="/ppt/notesMasters/notesMaster1.xml" Id="Reef795d9d5f545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f41094a24e4bf0" /><Relationship Type="http://schemas.openxmlformats.org/officeDocument/2006/relationships/notesMaster" Target="/ppt/notesMasters/notesMaster1.xml" Id="R116c5de3bbac4e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81e848875d487d" /><Relationship Type="http://schemas.openxmlformats.org/officeDocument/2006/relationships/notesMaster" Target="/ppt/notesMasters/notesMaster1.xml" Id="R7469eb5e6d314a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10466ae18d4ba6" /><Relationship Type="http://schemas.openxmlformats.org/officeDocument/2006/relationships/notesMaster" Target="/ppt/notesMasters/notesMaster1.xml" Id="R56eb23fb384841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617346d6134954" /><Relationship Type="http://schemas.openxmlformats.org/officeDocument/2006/relationships/notesMaster" Target="/ppt/notesMasters/notesMaster1.xml" Id="R003cd6ef228a4d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dfbda5164641c7" /><Relationship Type="http://schemas.openxmlformats.org/officeDocument/2006/relationships/notesMaster" Target="/ppt/notesMasters/notesMaster1.xml" Id="R47201b55891b48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1cd437863f4d4b" /><Relationship Type="http://schemas.openxmlformats.org/officeDocument/2006/relationships/notesMaster" Target="/ppt/notesMasters/notesMaster1.xml" Id="Rd43957de9c7b4d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258706746c481f" /><Relationship Type="http://schemas.openxmlformats.org/officeDocument/2006/relationships/notesMaster" Target="/ppt/notesMasters/notesMaster1.xml" Id="Rd3d99c4151eb4a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6495db21144c14" /><Relationship Type="http://schemas.openxmlformats.org/officeDocument/2006/relationships/notesMaster" Target="/ppt/notesMasters/notesMaster1.xml" Id="R8ec87690dfcb47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9a8b3df15d4e39" /><Relationship Type="http://schemas.openxmlformats.org/officeDocument/2006/relationships/notesMaster" Target="/ppt/notesMasters/notesMaster1.xml" Id="Ra6d5da383d4f4d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92db04887b4153" /><Relationship Type="http://schemas.openxmlformats.org/officeDocument/2006/relationships/notesMaster" Target="/ppt/notesMasters/notesMaster1.xml" Id="R868953ce34ed4b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f81f8cc51f442f" /><Relationship Type="http://schemas.openxmlformats.org/officeDocument/2006/relationships/notesMaster" Target="/ppt/notesMasters/notesMaster1.xml" Id="Rf66b2bb53c7c40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2f35e07e564764" /><Relationship Type="http://schemas.openxmlformats.org/officeDocument/2006/relationships/notesMaster" Target="/ppt/notesMasters/notesMaster1.xml" Id="R1837e342dd024e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cd84f6bbf64a0b" /><Relationship Type="http://schemas.openxmlformats.org/officeDocument/2006/relationships/notesMaster" Target="/ppt/notesMasters/notesMaster1.xml" Id="R7ad98c468cad4c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683162d6b7419e" /><Relationship Type="http://schemas.openxmlformats.org/officeDocument/2006/relationships/notesMaster" Target="/ppt/notesMasters/notesMaster1.xml" Id="R4f67d1f281704c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bee415d71a4a69" /><Relationship Type="http://schemas.openxmlformats.org/officeDocument/2006/relationships/notesMaster" Target="/ppt/notesMasters/notesMaster1.xml" Id="R7519d5ef2053456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b84702ea04e463e" /><Relationship Type="http://schemas.openxmlformats.org/officeDocument/2006/relationships/notesMaster" Target="/ppt/notesMasters/notesMaster1.xml" Id="R5a4aff13503143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736991bbc840c5" /><Relationship Type="http://schemas.openxmlformats.org/officeDocument/2006/relationships/notesMaster" Target="/ppt/notesMasters/notesMaster1.xml" Id="Ra21d16b361154e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14977f9f5554b6f" /><Relationship Type="http://schemas.openxmlformats.org/officeDocument/2006/relationships/notesMaster" Target="/ppt/notesMasters/notesMaster1.xml" Id="R6a8e96aa75454d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91d4861efa4c9b" /><Relationship Type="http://schemas.openxmlformats.org/officeDocument/2006/relationships/notesMaster" Target="/ppt/notesMasters/notesMaster1.xml" Id="R28964af7eefc42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adb6ee7a6c43f4" /><Relationship Type="http://schemas.openxmlformats.org/officeDocument/2006/relationships/notesMaster" Target="/ppt/notesMasters/notesMaster1.xml" Id="R5801f64f39f749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9b277780d2d48ab" /><Relationship Type="http://schemas.openxmlformats.org/officeDocument/2006/relationships/notesMaster" Target="/ppt/notesMasters/notesMaster1.xml" Id="R53a2d95be60b4f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9c56c29edd145e1" /><Relationship Type="http://schemas.openxmlformats.org/officeDocument/2006/relationships/notesMaster" Target="/ppt/notesMasters/notesMaster1.xml" Id="Rfe4efb46b8d642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Академска 2026/27.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Презентација је организована у четири тематске целине. Опсези слајдова су наведени у садржају.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Детектор препознаје образац, а сигнал задржава контекст потребан за процену.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OWASP Logging Cheat Sheet. https://cheatsheetseries.owasp.org/cheatsheets/Logging_Cheat_Sheet.html Прозор и праг су параметри овог примера. Сигнал је улаз за triage, а не доказ напада.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Правило броји неуспеле пријаве по субјекту и адреси унутар временског прозора.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Тест потврђује да два неуспела покушаја не производе сигнал када је праг три.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Процена контекста одређује да ли отварамо инцидент и ко преузима реакцију.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800-61 Rev. 3, April 2025. https://csrc.nist.gov/pubs/sp/800/61/r3/final Оба исхода чувају образложење. Процена користи договорене критеријуме и податке о имовини.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800-61 Rev. 3, April 2025. https://csrc.nist.gov/pubs/sp/800/61/r3/final Поновљени сигнал допуњује постојећи случај. Запис повезује време, актера, одлуку и проверљив исход.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Налаз добија приоритет тек када знамо компоненту, изложеност и последицу.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800-61 Rev. 3, April 2025. https://csrc.nist.gov/pubs/sp/800/61/r3/final Исти налаз не захтева исту реакцију у сваком систему. Затварање чува доказ смањене изложености и познат преостали ризик.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Запис садржи контекст потребан за реконструкцију одлуке, без тајни и непотребних личних података.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Постинцидентни преглед претвара искуство у акцију, тест и следећу проверу.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800-61 Rev. 3, April 2025. https://csrc.nist.gov/pubs/sp/800/61/r3/final Акција се проверава у сценарију који је изазвао проблем. Резултат улази у следећу процену ризика.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Питање за проверу: ПИТАЊЕ ЗА ПРОВЕРУ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4f835c0c946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ed2f9f5c143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df2149d2e42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a12afb5a640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833c429d84d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cd03010464f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4E741E-2594-42E7-8FDD-8DC7F1479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9D22BA-0308-4744-9A77-6474DB956B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6E57C4-810D-48E4-B75D-53233E5CA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FAD074-DF07-4E33-8A43-88C3580D5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D3111C-A37D-4574-841B-6487C2AAEC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937499-84A0-4507-8376-DFA7A9184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FC9148-0D41-49F5-A316-D88531E436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2CF3B1-742E-48DB-87AC-2690EC65E1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6F5F4C-B990-4471-B2E2-9C893A21FD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2EBA7E-174F-4D57-AC77-6A0860C01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dd9c828e544ff5" /><Relationship Type="http://schemas.openxmlformats.org/officeDocument/2006/relationships/slideLayout" Target="/ppt/slideLayouts/slideLayout1.xml" Id="Rb79bb7e3c1f1436e" /><Relationship Type="http://schemas.openxmlformats.org/officeDocument/2006/relationships/slideLayout" Target="/ppt/slideLayouts/slideLayout2.xml" Id="Rcce311f6c60346b1" /><Relationship Type="http://schemas.openxmlformats.org/officeDocument/2006/relationships/slideLayout" Target="/ppt/slideLayouts/slideLayout3.xml" Id="R95566583ddc64277" /><Relationship Type="http://schemas.openxmlformats.org/officeDocument/2006/relationships/slideLayout" Target="/ppt/slideLayouts/slideLayout4.xml" Id="Rcaa3cb34dd154c12" /><Relationship Type="http://schemas.openxmlformats.org/officeDocument/2006/relationships/slideLayout" Target="/ppt/slideLayouts/slideLayout5.xml" Id="Rf270396ae8fe41bb" /><Relationship Type="http://schemas.openxmlformats.org/officeDocument/2006/relationships/slideLayout" Target="/ppt/slideLayouts/slideLayout6.xml" Id="Rf474beb85cb94b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bb7e3c1f1436e"/>
    <p:sldLayoutId xmlns:r="http://schemas.openxmlformats.org/officeDocument/2006/relationships" id="2147483650" r:id="Rcce311f6c60346b1"/>
    <p:sldLayoutId xmlns:r="http://schemas.openxmlformats.org/officeDocument/2006/relationships" id="2147483651" r:id="R95566583ddc64277"/>
    <p:sldLayoutId xmlns:r="http://schemas.openxmlformats.org/officeDocument/2006/relationships" id="2147483652" r:id="Rcaa3cb34dd154c12"/>
    <p:sldLayoutId xmlns:r="http://schemas.openxmlformats.org/officeDocument/2006/relationships" id="2147483653" r:id="Rf270396ae8fe41bb"/>
    <p:sldLayoutId xmlns:r="http://schemas.openxmlformats.org/officeDocument/2006/relationships" id="2147483654" r:id="Rf474beb85cb94b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5bf94657f4715" /><Relationship Type="http://schemas.openxmlformats.org/officeDocument/2006/relationships/image" Target="/ppt/media/image.png" Id="R5bb008e4f5b046e2" /><Relationship Type="http://schemas.openxmlformats.org/officeDocument/2006/relationships/notesSlide" Target="/ppt/notesSlides/notesSlide1.xml" Id="R1ee6b101a90d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c8652a8844f0f" /><Relationship Type="http://schemas.openxmlformats.org/officeDocument/2006/relationships/notesSlide" Target="/ppt/notesSlides/notesSlide2.xml" Id="R3a83d991cb77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8fbd7ade5453f" /><Relationship Type="http://schemas.openxmlformats.org/officeDocument/2006/relationships/notesSlide" Target="/ppt/notesSlides/notesSlide3.xml" Id="R824552891fcd49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001bef2b348b4" /><Relationship Type="http://schemas.openxmlformats.org/officeDocument/2006/relationships/image" Target="/ppt/media/image2.png" Id="Re7a42d13feee47d1" /><Relationship Type="http://schemas.openxmlformats.org/officeDocument/2006/relationships/image" Target="/ppt/media/image3.png" Id="R1786abbf19ee4e92" /><Relationship Type="http://schemas.openxmlformats.org/officeDocument/2006/relationships/image" Target="/ppt/media/image4.png" Id="Rb672fa0a5e9947d1" /><Relationship Type="http://schemas.openxmlformats.org/officeDocument/2006/relationships/notesSlide" Target="/ppt/notesSlides/notesSlide4.xml" Id="R5cdf4d2771f64f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d7648ea2a4cfc" /><Relationship Type="http://schemas.openxmlformats.org/officeDocument/2006/relationships/notesSlide" Target="/ppt/notesSlides/notesSlide5.xml" Id="Rd772dc89206348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f08a122194a74" /><Relationship Type="http://schemas.openxmlformats.org/officeDocument/2006/relationships/notesSlide" Target="/ppt/notesSlides/notesSlide6.xml" Id="Rdc7d9480bb03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9fa3129904097" /><Relationship Type="http://schemas.openxmlformats.org/officeDocument/2006/relationships/notesSlide" Target="/ppt/notesSlides/notesSlide7.xml" Id="R8214bfb884f645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9fbad2c524fff" /><Relationship Type="http://schemas.openxmlformats.org/officeDocument/2006/relationships/image" Target="/ppt/media/image5.png" Id="R8de7e555cd704e9e" /><Relationship Type="http://schemas.openxmlformats.org/officeDocument/2006/relationships/notesSlide" Target="/ppt/notesSlides/notesSlide8.xml" Id="R2e557509dfa144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2d0f8f9f341f5" /><Relationship Type="http://schemas.openxmlformats.org/officeDocument/2006/relationships/notesSlide" Target="/ppt/notesSlides/notesSlide9.xml" Id="R91b24959ddd946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90931746a40b8" /><Relationship Type="http://schemas.openxmlformats.org/officeDocument/2006/relationships/notesSlide" Target="/ppt/notesSlides/notesSlide10.xml" Id="R3b6a1299284244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df96fdef44292" /><Relationship Type="http://schemas.openxmlformats.org/officeDocument/2006/relationships/notesSlide" Target="/ppt/notesSlides/notesSlide11.xml" Id="Re228d22f2d704f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7740b8b7344a62" /><Relationship Type="http://schemas.openxmlformats.org/officeDocument/2006/relationships/notesSlide" Target="/ppt/notesSlides/notesSlide12.xml" Id="R672682bcedfd4c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7130c3340439d" /><Relationship Type="http://schemas.openxmlformats.org/officeDocument/2006/relationships/notesSlide" Target="/ppt/notesSlides/notesSlide13.xml" Id="R8b03adb01c9f4d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9bb7d5bfb425e" /><Relationship Type="http://schemas.openxmlformats.org/officeDocument/2006/relationships/image" Target="/ppt/media/image6.png" Id="Rd7b354a052c5422d" /><Relationship Type="http://schemas.openxmlformats.org/officeDocument/2006/relationships/notesSlide" Target="/ppt/notesSlides/notesSlide14.xml" Id="Rc355e74ab6684f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2f68d1a264c14" /><Relationship Type="http://schemas.openxmlformats.org/officeDocument/2006/relationships/notesSlide" Target="/ppt/notesSlides/notesSlide15.xml" Id="R33717e42938342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250552ff54cdf" /><Relationship Type="http://schemas.openxmlformats.org/officeDocument/2006/relationships/notesSlide" Target="/ppt/notesSlides/notesSlide16.xml" Id="Rfd661e147bd945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849f6a9f44a75" /><Relationship Type="http://schemas.openxmlformats.org/officeDocument/2006/relationships/image" Target="/ppt/media/image7.png" Id="Rbc7fb353b92d42b4" /><Relationship Type="http://schemas.openxmlformats.org/officeDocument/2006/relationships/notesSlide" Target="/ppt/notesSlides/notesSlide17.xml" Id="R5ff13499b17e4a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04019c73844a2" /><Relationship Type="http://schemas.openxmlformats.org/officeDocument/2006/relationships/notesSlide" Target="/ppt/notesSlides/notesSlide18.xml" Id="Radee491dcaf24e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a90b79aa34bb1" /><Relationship Type="http://schemas.openxmlformats.org/officeDocument/2006/relationships/notesSlide" Target="/ppt/notesSlides/notesSlide19.xml" Id="R386686936ea541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844fb5b3948f8" /><Relationship Type="http://schemas.openxmlformats.org/officeDocument/2006/relationships/image" Target="/ppt/media/image8.png" Id="Rbf002c544a64487f" /><Relationship Type="http://schemas.openxmlformats.org/officeDocument/2006/relationships/notesSlide" Target="/ppt/notesSlides/notesSlide20.xml" Id="Rf89264587fe141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eb2ef47f948ee" /><Relationship Type="http://schemas.openxmlformats.org/officeDocument/2006/relationships/notesSlide" Target="/ppt/notesSlides/notesSlide21.xml" Id="R6a35c34d950b4c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cd9230c254edd" /><Relationship Type="http://schemas.openxmlformats.org/officeDocument/2006/relationships/notesSlide" Target="/ppt/notesSlides/notesSlide22.xml" Id="Re440c3714d1943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7d77bc6c24152" /><Relationship Type="http://schemas.openxmlformats.org/officeDocument/2006/relationships/notesSlide" Target="/ppt/notesSlides/notesSlide23.xml" Id="R4fab21fa7e4542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0a17bbd274409" /><Relationship Type="http://schemas.openxmlformats.org/officeDocument/2006/relationships/notesSlide" Target="/ppt/notesSlides/notesSlide24.xml" Id="Rd9139cd471c64b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ea2eb1eef4e65" /><Relationship Type="http://schemas.openxmlformats.org/officeDocument/2006/relationships/notesSlide" Target="/ppt/notesSlides/notesSlide25.xml" Id="Rd18b5b97ad8545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e083e37994c9b" /><Relationship Type="http://schemas.openxmlformats.org/officeDocument/2006/relationships/notesSlide" Target="/ppt/notesSlides/notesSlide26.xml" Id="Re485e86f023547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5abf51adc4484" /><Relationship Type="http://schemas.openxmlformats.org/officeDocument/2006/relationships/image" Target="/ppt/media/image9.png" Id="R18535cb957c447a1" /><Relationship Type="http://schemas.openxmlformats.org/officeDocument/2006/relationships/image" Target="/ppt/media/image10.png" Id="R83125583daf3420a" /><Relationship Type="http://schemas.openxmlformats.org/officeDocument/2006/relationships/image" Target="/ppt/media/image11.png" Id="Ra5e8e7cbf1b64583" /><Relationship Type="http://schemas.openxmlformats.org/officeDocument/2006/relationships/notesSlide" Target="/ppt/notesSlides/notesSlide27.xml" Id="Re7aca4058e534d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7cb68c89f4d28" /><Relationship Type="http://schemas.openxmlformats.org/officeDocument/2006/relationships/image" Target="/ppt/media/image12.png" Id="Rcea50fc4d81e4f4a" /><Relationship Type="http://schemas.openxmlformats.org/officeDocument/2006/relationships/image" Target="/ppt/media/image13.png" Id="Re028d9f325784907" /><Relationship Type="http://schemas.openxmlformats.org/officeDocument/2006/relationships/image" Target="/ppt/media/image14.png" Id="R045ce845eb104133" /><Relationship Type="http://schemas.openxmlformats.org/officeDocument/2006/relationships/notesSlide" Target="/ppt/notesSlides/notesSlide28.xml" Id="R2ed29d968d8343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884f9178b4fd3" /><Relationship Type="http://schemas.openxmlformats.org/officeDocument/2006/relationships/image" Target="/ppt/media/image15.png" Id="R8980c18f94f3498e" /><Relationship Type="http://schemas.openxmlformats.org/officeDocument/2006/relationships/notesSlide" Target="/ppt/notesSlides/notesSlide29.xml" Id="R5fbc544842d142c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ed4cf35f04dca" /><Relationship Type="http://schemas.openxmlformats.org/officeDocument/2006/relationships/notesSlide" Target="/ppt/notesSlides/notesSlide30.xml" Id="Rdd302c1a7c254d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DB695-8DD9-4380-85CE-EE387E7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60234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2993-DBC9-4A67-86F5-2861A87E4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008e4f5b046e2"/>
          <a:stretch xmlns:a="http://schemas.openxmlformats.org/drawingml/2006/main"/>
        </p:blipFill>
        <p:spPr>
          <a:xfrm xmlns:a="http://schemas.openxmlformats.org/drawingml/2006/main">
            <a:off x="11049000" y="1466850"/>
            <a:ext cx="6019800" cy="6019800"/>
          </a:xfrm>
          <a:prstGeom xmlns:a="http://schemas.openxmlformats.org/drawingml/2006/main" prst="rect">
            <a:avLst/>
          </a:prstGeom>
        </p:spPr>
      </p:pic>
      <p:sp>
        <p:nvSpPr>
          <p:cNvPr id="3" name="text-cover">
            <a:extLst xmlns:a="http://schemas.openxmlformats.org/drawingml/2006/main">
              <a:ext uri="{FF2B5EF4-FFF2-40B4-BE49-F238E27FC236}">
                <a16:creationId xmlns:a16="http://schemas.microsoft.com/office/drawing/2014/main" id="{1946DCB5-C93E-4BF5-A0F4-6DAFBD10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5341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</p:txBody>
      </p:sp>
      <p:sp>
        <p:nvSpPr>
          <p:cNvPr id="4" name="text-cover">
            <a:extLst xmlns:a="http://schemas.openxmlformats.org/drawingml/2006/main">
              <a:ext uri="{FF2B5EF4-FFF2-40B4-BE49-F238E27FC236}">
                <a16:creationId xmlns:a16="http://schemas.microsoft.com/office/drawing/2014/main" id="{22F0C1EA-43F3-4B2C-AB2F-18ED8BB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39180"/>
            <a:ext cx="51854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ОСНОВЕ ИНФОРМАЦИОНЕ БЕЗБЕДНОСТИ</a:t>
            </a:r>
          </a:p>
        </p:txBody>
      </p:sp>
      <p:sp>
        <p:nvSpPr>
          <p:cNvPr id="5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A90AA2A3-438C-45C2-AFE7-010AB700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21086"/>
            <a:ext cx="9253686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687"/>
          </a:bodyPr>
          <a:lstStyle xmlns:a="http://schemas.openxmlformats.org/drawingml/2006/main">
            <a:defPPr algn="l">
              <a:defRPr sz="66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6600">
                <a:latin typeface="IBM Plex Sans"/>
                <a:ea typeface="IBM Plex Sans"/>
                <a:cs typeface="IBM Plex Sans"/>
              </a:defRPr>
            </a:pPr>
            <a:r>
              <a:rPr sz="66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Детекција, инцидент и </a:t>
            </a:r>
          </a:p>
        </p:txBody>
      </p:sp>
      <p:sp>
        <p:nvSpPr>
          <p:cNvPr id="6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196B065C-988A-4E4E-BB16-1F438DA4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01107"/>
            <a:ext cx="4670078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66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6600">
                <a:latin typeface="IBM Plex Sans"/>
                <a:ea typeface="IBM Plex Sans"/>
                <a:cs typeface="IBM Plex Sans"/>
              </a:defRPr>
            </a:pPr>
            <a:r>
              <a:rPr sz="66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рањивости</a:t>
            </a:r>
          </a:p>
        </p:txBody>
      </p:sp>
      <p:sp>
        <p:nvSpPr>
          <p:cNvPr id="7" name="text-cover">
            <a:extLst xmlns:a="http://schemas.openxmlformats.org/drawingml/2006/main">
              <a:ext uri="{FF2B5EF4-FFF2-40B4-BE49-F238E27FC236}">
                <a16:creationId xmlns:a16="http://schemas.microsoft.com/office/drawing/2014/main" id="{2D07533A-AE55-4AFE-AB65-61B95AAD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62127"/>
            <a:ext cx="863471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Детекција догађаја, поступање у инциденту и управљање </a:t>
            </a:r>
          </a:p>
        </p:txBody>
      </p:sp>
      <p:sp>
        <p:nvSpPr>
          <p:cNvPr id="8" name="text-cover">
            <a:extLst xmlns:a="http://schemas.openxmlformats.org/drawingml/2006/main">
              <a:ext uri="{FF2B5EF4-FFF2-40B4-BE49-F238E27FC236}">
                <a16:creationId xmlns:a16="http://schemas.microsoft.com/office/drawing/2014/main" id="{A8AD8292-602F-4B7D-B877-B84B8EA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8818"/>
            <a:ext cx="230862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рањивостима</a:t>
            </a:r>
          </a:p>
        </p:txBody>
      </p:sp>
      <p:sp>
        <p:nvSpPr>
          <p:cNvPr id="9" name="text-cover">
            <a:extLst xmlns:a="http://schemas.openxmlformats.org/drawingml/2006/main">
              <a:ext uri="{FF2B5EF4-FFF2-40B4-BE49-F238E27FC236}">
                <a16:creationId xmlns:a16="http://schemas.microsoft.com/office/drawing/2014/main" id="{C1B84B59-3084-457C-B961-B49D57B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07884"/>
            <a:ext cx="7461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10" name="text-cover">
            <a:extLst xmlns:a="http://schemas.openxmlformats.org/drawingml/2006/main">
              <a:ext uri="{FF2B5EF4-FFF2-40B4-BE49-F238E27FC236}">
                <a16:creationId xmlns:a16="http://schemas.microsoft.com/office/drawing/2014/main" id="{DD1E6E16-ED8A-417B-83C2-9ECC364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47820"/>
            <a:ext cx="13543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366236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CF7FEF-5168-4BBE-B5C8-76C2CFE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A0999-87F6-4255-A78D-DB3EA08A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321B4-F7AE-42D6-B2F1-1E7414E6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347EF-7FDE-4A9E-B6FB-7891344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19D91-46B2-49E5-8FD5-521EB0A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2D873-58D8-442B-9AF2-21C80B5E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81402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80FBDD8-2461-4B58-8EBB-D64B9B6C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81402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67AAD-82A7-483F-B215-F3C4C52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CA50153-AADE-4F8F-AF0F-1A3692A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4364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ПРЕГЛЕД</a:t>
            </a:r>
          </a:p>
        </p:txBody>
      </p:sp>
      <p:sp>
        <p:nvSpPr>
          <p:cNvPr id="10" name="heading-sadrzaj">
            <a:extLst xmlns:a="http://schemas.openxmlformats.org/drawingml/2006/main">
              <a:ext uri="{FF2B5EF4-FFF2-40B4-BE49-F238E27FC236}">
                <a16:creationId xmlns:a16="http://schemas.microsoft.com/office/drawing/2014/main" id="{FF9447D1-486A-4CE1-AE68-63BA240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646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1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E1C25B4-4E3D-4133-B27C-C6D7A48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4E5718AC-46A1-4C82-BB54-189958F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44205"/>
            <a:ext cx="16789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Детекција</a:t>
            </a:r>
          </a:p>
        </p:txBody>
      </p:sp>
      <p:sp>
        <p:nvSpPr>
          <p:cNvPr id="1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B7A69F0-5042-4DA5-BAFB-8E6E786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35636"/>
            <a:ext cx="34100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Сигнал, временски прозор и </a:t>
            </a:r>
          </a:p>
        </p:txBody>
      </p:sp>
      <p:sp>
        <p:nvSpPr>
          <p:cNvPr id="1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369968B-FBE7-490C-A384-24F04C4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55616"/>
            <a:ext cx="15170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прага.</a:t>
            </a:r>
          </a:p>
        </p:txBody>
      </p:sp>
      <p:sp>
        <p:nvSpPr>
          <p:cNvPr id="1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996CC08-765B-4BCC-B42A-CC6F5EA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05–11</a:t>
            </a:r>
          </a:p>
        </p:txBody>
      </p:sp>
      <p:sp>
        <p:nvSpPr>
          <p:cNvPr id="1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772C4BA-5130-4E5E-A8E8-87C8989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19B25DC0-3A83-496C-B4CC-32E1F80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44205"/>
            <a:ext cx="25549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 и реакција</a:t>
            </a:r>
          </a:p>
        </p:txBody>
      </p:sp>
      <p:sp>
        <p:nvSpPr>
          <p:cNvPr id="1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F2B4F23-759F-488F-AB62-96CD8F22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5636"/>
            <a:ext cx="25190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Контекст, власник и </a:t>
            </a:r>
          </a:p>
        </p:txBody>
      </p:sp>
      <p:sp>
        <p:nvSpPr>
          <p:cNvPr id="1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2EBD68E-3CAE-4A8A-82B7-40BF4804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5616"/>
            <a:ext cx="233585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временска линија.</a:t>
            </a:r>
          </a:p>
        </p:txBody>
      </p:sp>
      <p:sp>
        <p:nvSpPr>
          <p:cNvPr id="2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1A08490-AE51-42FA-9531-77664CF4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12–17</a:t>
            </a:r>
          </a:p>
        </p:txBody>
      </p:sp>
      <p:sp>
        <p:nvSpPr>
          <p:cNvPr id="2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E3D1423-92A9-409E-BCFA-064FD93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83962EC-A200-4640-84B4-8C638F9F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44205"/>
            <a:ext cx="17816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Рањивости</a:t>
            </a:r>
          </a:p>
        </p:txBody>
      </p:sp>
      <p:sp>
        <p:nvSpPr>
          <p:cNvPr id="2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AEB42C7-38FF-4ED0-97E8-19A55C04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35636"/>
            <a:ext cx="308848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Изложеност, приоритет и </a:t>
            </a:r>
          </a:p>
        </p:txBody>
      </p:sp>
      <p:sp>
        <p:nvSpPr>
          <p:cNvPr id="2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2268A1F-348E-4AEF-8B0D-5E4D7E27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455616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доказ корекције.</a:t>
            </a:r>
          </a:p>
        </p:txBody>
      </p:sp>
      <p:sp>
        <p:nvSpPr>
          <p:cNvPr id="2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CAC66FE-6A6F-458E-8C2B-87C48CA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18–21</a:t>
            </a:r>
          </a:p>
        </p:txBody>
      </p:sp>
      <p:sp>
        <p:nvSpPr>
          <p:cNvPr id="2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61824C1-8E34-480C-8D12-3284AEE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D523EE9-4FFF-4DEB-8FE2-3E9605A8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44205"/>
            <a:ext cx="117321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</a:t>
            </a:r>
          </a:p>
        </p:txBody>
      </p:sp>
      <p:sp>
        <p:nvSpPr>
          <p:cNvPr id="2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F5CEFA1-2736-48A5-86C5-9501FA2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35636"/>
            <a:ext cx="328180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Постинцидентни преглед и </a:t>
            </a:r>
          </a:p>
        </p:txBody>
      </p:sp>
      <p:sp>
        <p:nvSpPr>
          <p:cNvPr id="2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E40B4E2-F261-4C12-B54D-5CA9071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55616"/>
            <a:ext cx="134421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примена.</a:t>
            </a:r>
          </a:p>
        </p:txBody>
      </p:sp>
      <p:sp>
        <p:nvSpPr>
          <p:cNvPr id="3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030D9AD-2AB9-4C29-8FCC-FA1B8933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22–30</a:t>
            </a:r>
          </a:p>
        </p:txBody>
      </p:sp>
      <p:sp>
        <p:nvSpPr>
          <p:cNvPr id="3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BC180D6-9D83-4061-AE5A-B0E7AE5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171902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3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C93DC20-5E02-49B4-B98E-B93CAD78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77608"/>
            <a:ext cx="57359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Догађај, значај и основни појмови (03–04).</a:t>
            </a:r>
          </a:p>
        </p:txBody>
      </p:sp>
      <p:sp>
        <p:nvSpPr>
          <p:cNvPr id="3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8BE678DB-9A1E-4FD1-BF82-9EF5AE14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5E2C6E1-F33F-4BEA-87A2-9911A31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709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32FFF-88AE-4862-BD7F-7F818EA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5F4BE-5211-4DC1-869E-41C9C63D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69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E8B6E-0489-41B2-A229-E08964A7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2591"/>
            <a:ext cx="769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052D8-D42B-45E4-A73C-15EA2454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1511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5ABEEBA5-F076-46FC-B5E0-F15DB7D6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1511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B9C81-A877-4DD3-8B14-395A5E9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0CE20FA-77B3-4249-A3AE-5BE874CA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67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8" name="heading-source-02">
            <a:extLst xmlns:a="http://schemas.openxmlformats.org/drawingml/2006/main">
              <a:ext uri="{FF2B5EF4-FFF2-40B4-BE49-F238E27FC236}">
                <a16:creationId xmlns:a16="http://schemas.microsoft.com/office/drawing/2014/main" id="{0827E82E-4414-4BFD-99C0-C8958812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05004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834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 безбедносног сигнала до инцидента</a:t>
            </a:r>
          </a:p>
        </p:txBody>
      </p:sp>
      <p:sp>
        <p:nvSpPr>
          <p:cNvPr id="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219EC417-8EFB-4D96-949B-F6CACB2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67271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ставља сигнал у контекст, процењује утицај и тек затим одређује потребан ниво реакције.</a:t>
            </a:r>
          </a:p>
        </p:txBody>
      </p:sp>
      <p:sp>
        <p:nvSpPr>
          <p:cNvPr id="1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594610C-A874-4142-96C6-45DFD8B5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9766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ПРЕДМЕТ АНАЛИЗЕ</a:t>
            </a:r>
          </a:p>
        </p:txBody>
      </p:sp>
      <p:sp>
        <p:nvSpPr>
          <p:cNvPr id="1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38FB868D-DA01-4504-9F75-988E9AC5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2147"/>
            <a:ext cx="444028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 који се анализира</a:t>
            </a:r>
          </a:p>
        </p:txBody>
      </p:sp>
      <p:sp>
        <p:nvSpPr>
          <p:cNvPr id="1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5149E89-ABA3-4803-A5A4-FF07D17B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3533"/>
            <a:ext cx="74019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Безбедносни догађај није аутоматски инцидент. Систем </a:t>
            </a:r>
          </a:p>
        </p:txBody>
      </p:sp>
      <p:sp>
        <p:nvSpPr>
          <p:cNvPr id="1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63AC3DA-7B96-431E-B96B-F6CED008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26794"/>
            <a:ext cx="77849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најпре препознаје сигнал, затим га ставља у контекст и тек </a:t>
            </a:r>
          </a:p>
        </p:txBody>
      </p:sp>
      <p:sp>
        <p:nvSpPr>
          <p:cNvPr id="1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3413A2A-A01B-4CB4-9D28-F14DD54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055"/>
            <a:ext cx="6877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онда одређује да ли је потребна реакција. Такав ток </a:t>
            </a:r>
          </a:p>
        </p:txBody>
      </p:sp>
      <p:sp>
        <p:nvSpPr>
          <p:cNvPr id="1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A171C06-0529-43A1-958B-FF0EFC8E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3316"/>
            <a:ext cx="63900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спречава и игнорисање проблема и непотребно </a:t>
            </a:r>
          </a:p>
        </p:txBody>
      </p:sp>
      <p:sp>
        <p:nvSpPr>
          <p:cNvPr id="1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4489719-D55E-4265-B87C-4DFDA86B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6577"/>
            <a:ext cx="49504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алармирање због сваког одступања.</a:t>
            </a:r>
          </a:p>
        </p:txBody>
      </p:sp>
      <p:sp>
        <p:nvSpPr>
          <p:cNvPr id="1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CE28801-A445-4492-B46C-6E73FE0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6976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ЗНАЧАЈ</a:t>
            </a:r>
          </a:p>
        </p:txBody>
      </p:sp>
      <p:sp>
        <p:nvSpPr>
          <p:cNvPr id="1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CD7992C-6BAB-4DF9-B71C-76B668E6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2147"/>
            <a:ext cx="530646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Значај за безбедност система</a:t>
            </a:r>
          </a:p>
        </p:txBody>
      </p:sp>
      <p:sp>
        <p:nvSpPr>
          <p:cNvPr id="1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BC1DC7A-3520-40FF-BBA3-08E7B2E6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53533"/>
            <a:ext cx="74309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Управљање инцидентом даје структуру тренутку када је </a:t>
            </a:r>
          </a:p>
        </p:txBody>
      </p:sp>
      <p:sp>
        <p:nvSpPr>
          <p:cNvPr id="2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77539F73-1D8C-46EC-B591-39AC861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26794"/>
            <a:ext cx="71221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најлакше изгубити контекст. Рањивост постаје решив </a:t>
            </a:r>
          </a:p>
        </p:txBody>
      </p:sp>
      <p:sp>
        <p:nvSpPr>
          <p:cNvPr id="2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4D5884E-31A1-4382-BC6A-5F6437F5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00055"/>
            <a:ext cx="71483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проблем када је повезана са имовином, приоритетом, </a:t>
            </a:r>
          </a:p>
        </p:txBody>
      </p:sp>
      <p:sp>
        <p:nvSpPr>
          <p:cNvPr id="2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845F38A-0547-4B1A-BDE2-D3D28D84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73316"/>
            <a:ext cx="6511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власником и доказом да је корекција проверена.</a:t>
            </a:r>
          </a:p>
        </p:txBody>
      </p:sp>
      <p:sp>
        <p:nvSpPr>
          <p:cNvPr id="2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8627AD5-C365-4252-B914-720196D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05613"/>
            <a:ext cx="5692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КРИТЕРИЈУМ ПРОВЕРЕ · Проверљив резултат</a:t>
            </a:r>
          </a:p>
        </p:txBody>
      </p:sp>
      <p:sp>
        <p:nvSpPr>
          <p:cNvPr id="2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B70966F-FD5D-48E8-A177-33D5D1ED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11318"/>
            <a:ext cx="127850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  <p:sp>
        <p:nvSpPr>
          <p:cNvPr id="2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0EB7F02-4315-4112-BE53-3743931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00AB1D55-4168-41A8-9DE3-19DDD006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5754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BE1AD-651D-4F05-976B-19C3D23C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B7363-CF21-461E-9F24-556F4914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8330E-6ADE-45C3-A563-F39D28DF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C640B-8C06-4B92-863A-45EAB3A5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7C392-0B47-4E3B-BA07-7B907AC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3F9FC-73E2-4CFC-9FE0-D867D654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CB3792E-326C-4D2A-A451-C348F69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AAB9E-8738-45C1-AA49-BD5942A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D8305-F74B-47FB-81AD-0DB5C4F7CF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42d13feee47d1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FB3A0-6A1D-4226-B2EF-830497AF4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6abbf19ee4e92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488E1-C1AD-4745-B8AF-17440857A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2fa0a5e9947d1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366A10B-3071-4402-9BB5-D79CAA6B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67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13" name="heading-source-03">
            <a:extLst xmlns:a="http://schemas.openxmlformats.org/drawingml/2006/main">
              <a:ext uri="{FF2B5EF4-FFF2-40B4-BE49-F238E27FC236}">
                <a16:creationId xmlns:a16="http://schemas.microsoft.com/office/drawing/2014/main" id="{8A4FB14B-F62B-4C27-800A-2CE13AD5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9400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Основни појмови</a:t>
            </a:r>
          </a:p>
        </p:txBody>
      </p:sp>
      <p:sp>
        <p:nvSpPr>
          <p:cNvPr id="1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A8D088B-A192-488C-98B8-7A0E3BE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0046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Сигнал, triage, инцидент и учење представљају различите фазе поступања у безбедносном догађају.</a:t>
            </a:r>
          </a:p>
        </p:txBody>
      </p:sp>
      <p:sp>
        <p:nvSpPr>
          <p:cNvPr id="1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D85CEF3-2C1A-4B3F-B3C2-D8EBF79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CCC1C08-C0CF-437C-8EBC-8839FCE1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26355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</a:t>
            </a:r>
          </a:p>
        </p:txBody>
      </p:sp>
      <p:sp>
        <p:nvSpPr>
          <p:cNvPr id="1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ACF9AE5D-BE5E-4B54-8ED7-B4EA255D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3191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уочено одступање</a:t>
            </a:r>
          </a:p>
        </p:txBody>
      </p:sp>
      <p:sp>
        <p:nvSpPr>
          <p:cNvPr id="1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2FCD683-6930-4CF4-873E-E45C374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D0B07B3-8CCC-4553-AE79-4A7623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11054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</a:t>
            </a:r>
          </a:p>
        </p:txBody>
      </p:sp>
      <p:sp>
        <p:nvSpPr>
          <p:cNvPr id="2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D3099A71-B3A0-4543-956A-5AA15A7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56445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контекста и </a:t>
            </a:r>
          </a:p>
        </p:txBody>
      </p:sp>
      <p:sp>
        <p:nvSpPr>
          <p:cNvPr id="2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C926D8D-7ECB-45FE-BCE3-4C8B4C2C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0258"/>
            <a:ext cx="11394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утицаја</a:t>
            </a:r>
          </a:p>
        </p:txBody>
      </p:sp>
      <p:sp>
        <p:nvSpPr>
          <p:cNvPr id="2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53E97EE-FEDA-44C2-A916-948DF81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4BF4FFE-6829-4266-9055-7B19337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6329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Инцидент</a:t>
            </a:r>
          </a:p>
        </p:txBody>
      </p:sp>
      <p:sp>
        <p:nvSpPr>
          <p:cNvPr id="2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A64AD28-7BC7-4E0F-81C6-10451AB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897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координисана реакција</a:t>
            </a:r>
          </a:p>
        </p:txBody>
      </p:sp>
      <p:sp>
        <p:nvSpPr>
          <p:cNvPr id="2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D252D7E-0963-417F-BE5A-5316C08F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9F8C762-D026-4BB2-9696-A3F6CC54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117321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</a:t>
            </a:r>
          </a:p>
        </p:txBody>
      </p:sp>
      <p:sp>
        <p:nvSpPr>
          <p:cNvPr id="2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C6FF1ED-93AA-41EF-A091-F8508E5C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89738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корекција и превенција</a:t>
            </a:r>
          </a:p>
        </p:txBody>
      </p:sp>
      <p:sp>
        <p:nvSpPr>
          <p:cNvPr id="2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FD44E11-B11F-4C6D-B8B1-C02A7F8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2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16CA3E2-43F4-4537-92B4-D5F8C24F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48834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Значајни сигнали пролазе процену контекста и утицаја пре отварања инцидента. Исход анализе остаје доступан за </a:t>
            </a:r>
          </a:p>
        </p:txBody>
      </p:sp>
      <p:sp>
        <p:nvSpPr>
          <p:cNvPr id="3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D3A561B1-86BE-41A8-AF27-90486398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24235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наредне одлуке.</a:t>
            </a:r>
          </a:p>
        </p:txBody>
      </p:sp>
      <p:sp>
        <p:nvSpPr>
          <p:cNvPr id="3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A03C7F92-A036-4E9E-A559-7340D49E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B51634C-624A-4E8C-858B-4D32D7A7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9310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4F080-5370-4FC5-AE3A-27AC83A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912614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42AD8-8E2B-4D56-A0DF-0E9326B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714" y="6158657"/>
            <a:ext cx="242068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64B91-CA89-41E1-89EA-82B66B14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704" y="6158657"/>
            <a:ext cx="1680270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5154-8AE9-4526-862C-8C24B09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7C7"/>
          </a:solidFill>
          <a:ln xmlns:a="http://schemas.openxmlformats.org/drawingml/2006/main" w="0">
            <a:noFill/>
          </a:ln>
        </p:spPr>
      </p:sp>
      <p:sp>
        <p:nvSpPr>
          <p:cNvPr id="5" name="text-deo1">
            <a:extLst xmlns:a="http://schemas.openxmlformats.org/drawingml/2006/main">
              <a:ext uri="{FF2B5EF4-FFF2-40B4-BE49-F238E27FC236}">
                <a16:creationId xmlns:a16="http://schemas.microsoft.com/office/drawing/2014/main" id="{A95AB69B-449B-4073-A4B2-DAEC2F99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text-deo1">
            <a:extLst xmlns:a="http://schemas.openxmlformats.org/drawingml/2006/main">
              <a:ext uri="{FF2B5EF4-FFF2-40B4-BE49-F238E27FC236}">
                <a16:creationId xmlns:a16="http://schemas.microsoft.com/office/drawing/2014/main" id="{471E6846-7942-45D5-B808-282001AD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592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7" name="heading-deo1">
            <a:extLst xmlns:a="http://schemas.openxmlformats.org/drawingml/2006/main">
              <a:ext uri="{FF2B5EF4-FFF2-40B4-BE49-F238E27FC236}">
                <a16:creationId xmlns:a16="http://schemas.microsoft.com/office/drawing/2014/main" id="{A34E9BF1-6225-442B-BBDD-A2E09AE2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4751784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2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Детекција</a:t>
            </a:r>
          </a:p>
        </p:txBody>
      </p:sp>
      <p:sp>
        <p:nvSpPr>
          <p:cNvPr id="8" name="text-deo1">
            <a:extLst xmlns:a="http://schemas.openxmlformats.org/drawingml/2006/main">
              <a:ext uri="{FF2B5EF4-FFF2-40B4-BE49-F238E27FC236}">
                <a16:creationId xmlns:a16="http://schemas.microsoft.com/office/drawing/2014/main" id="{D8DB0D99-6499-4FBF-A2E2-003DE14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3298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Детектор препознаје образац, а сигнал задржава контекст потребан за </a:t>
            </a:r>
          </a:p>
        </p:txBody>
      </p:sp>
      <p:sp>
        <p:nvSpPr>
          <p:cNvPr id="9" name="text-deo1">
            <a:extLst xmlns:a="http://schemas.openxmlformats.org/drawingml/2006/main">
              <a:ext uri="{FF2B5EF4-FFF2-40B4-BE49-F238E27FC236}">
                <a16:creationId xmlns:a16="http://schemas.microsoft.com/office/drawing/2014/main" id="{763B2B2F-DD11-4823-9D8C-8E151F6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4687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процену.</a:t>
            </a:r>
          </a:p>
        </p:txBody>
      </p:sp>
      <p:sp>
        <p:nvSpPr>
          <p:cNvPr id="10" name="text-deo1">
            <a:extLst xmlns:a="http://schemas.openxmlformats.org/drawingml/2006/main">
              <a:ext uri="{FF2B5EF4-FFF2-40B4-BE49-F238E27FC236}">
                <a16:creationId xmlns:a16="http://schemas.microsoft.com/office/drawing/2014/main" id="{6604C0E3-9151-4680-812B-175397B6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8554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Праг</a:t>
            </a:r>
          </a:p>
        </p:txBody>
      </p:sp>
      <p:sp>
        <p:nvSpPr>
          <p:cNvPr id="11" name="text-deo1">
            <a:extLst xmlns:a="http://schemas.openxmlformats.org/drawingml/2006/main">
              <a:ext uri="{FF2B5EF4-FFF2-40B4-BE49-F238E27FC236}">
                <a16:creationId xmlns:a16="http://schemas.microsoft.com/office/drawing/2014/main" id="{4A64FCC6-1B2C-4D7E-9714-193AEC4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739" y="6244382"/>
            <a:ext cx="2363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Временски прозор</a:t>
            </a:r>
          </a:p>
        </p:txBody>
      </p:sp>
      <p:sp>
        <p:nvSpPr>
          <p:cNvPr id="12" name="text-deo1">
            <a:extLst xmlns:a="http://schemas.openxmlformats.org/drawingml/2006/main">
              <a:ext uri="{FF2B5EF4-FFF2-40B4-BE49-F238E27FC236}">
                <a16:creationId xmlns:a16="http://schemas.microsoft.com/office/drawing/2014/main" id="{FA10D4A9-E2AD-4A2A-911C-B03C0DB9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729" y="6244382"/>
            <a:ext cx="1623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теста</a:t>
            </a:r>
          </a:p>
        </p:txBody>
      </p:sp>
      <p:sp>
        <p:nvSpPr>
          <p:cNvPr id="13" name="text-deo1">
            <a:extLst xmlns:a="http://schemas.openxmlformats.org/drawingml/2006/main">
              <a:ext uri="{FF2B5EF4-FFF2-40B4-BE49-F238E27FC236}">
                <a16:creationId xmlns:a16="http://schemas.microsoft.com/office/drawing/2014/main" id="{3E9CAE38-26CE-4C83-B355-60421B7C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4" name="text-deo1">
            <a:extLst xmlns:a="http://schemas.openxmlformats.org/drawingml/2006/main">
              <a:ext uri="{FF2B5EF4-FFF2-40B4-BE49-F238E27FC236}">
                <a16:creationId xmlns:a16="http://schemas.microsoft.com/office/drawing/2014/main" id="{1C5E422A-6C40-4FDA-B972-4332C4CA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2528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47C3D-8F32-4FD1-A23E-7A90CA7D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280EA-2D00-4F80-B740-927F5B80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02A8D-990B-425D-B63D-887E5464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89E7D-D40A-460D-A924-1ACF453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97D6A-D98C-4052-9908-319852F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6654292-0BC4-4A96-9B45-97812D62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13D0-2EAC-442F-9825-AC1D9DF6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9580081-405A-4D70-82CD-41456043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ДЕТЕКЦИЈА</a:t>
            </a:r>
          </a:p>
        </p:txBody>
      </p:sp>
      <p:sp>
        <p:nvSpPr>
          <p:cNvPr id="9" name="heading-source-04">
            <a:extLst xmlns:a="http://schemas.openxmlformats.org/drawingml/2006/main">
              <a:ext uri="{FF2B5EF4-FFF2-40B4-BE49-F238E27FC236}">
                <a16:creationId xmlns:a16="http://schemas.microsoft.com/office/drawing/2014/main" id="{AA0E7FF9-A14E-421F-A5DB-7F74CCAB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25861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</a:t>
            </a:r>
          </a:p>
        </p:txBody>
      </p:sp>
      <p:sp>
        <p:nvSpPr>
          <p:cNvPr id="1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080980A-43D8-4C18-972B-B6102B4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26485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уочено одступање</a:t>
            </a:r>
          </a:p>
        </p:txBody>
      </p:sp>
      <p:sp>
        <p:nvSpPr>
          <p:cNvPr id="1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2EBDE278-FE80-4741-B1E8-F42F2EF2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C9C6148-9AF1-4D3E-A6C0-1EA36AD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06519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 настаје када догађаји пређу праг унутар одређеног временског прозора.</a:t>
            </a:r>
          </a:p>
        </p:txBody>
      </p:sp>
      <p:sp>
        <p:nvSpPr>
          <p:cNvPr id="1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7D7897A-A236-4453-B793-76B4A026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BA18834F-326E-4B13-8ACC-8365648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D3E2503-1EF1-4573-A32C-3F5067E9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17534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 приказаном правилу један неуспео покушај није сигнал, а успешне пријаве се не броје.</a:t>
            </a:r>
          </a:p>
        </p:txBody>
      </p:sp>
      <p:sp>
        <p:nvSpPr>
          <p:cNvPr id="1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AC472B1-C338-4675-A21C-8C121BDE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0692AC9-42AD-49D4-9E75-70566E2A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375283C-E691-4F84-8AC3-5780D45C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106450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 носи контекст: назив правила, субјекта, изворну адресу и број покушаја.</a:t>
            </a:r>
          </a:p>
        </p:txBody>
      </p:sp>
      <p:sp>
        <p:nvSpPr>
          <p:cNvPr id="1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0C027E1-3641-40F2-B365-416D31A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6DAE3F01-FD90-4576-B98D-21DF3C2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24659493-306A-4681-AC57-675378B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122042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праг и који временски прозор раздвајају уобичајену грешку од сигнала у вашем систему?</a:t>
            </a:r>
          </a:p>
        </p:txBody>
      </p:sp>
      <p:sp>
        <p:nvSpPr>
          <p:cNvPr id="2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7BBB736-4916-4844-AD35-52FCB0EE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3E4AF32-9893-4952-B78D-2886CB5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9832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F9C8C-21B9-4AE6-ABBC-F53BFD7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F4FA5-0B92-41EE-B045-4FFCC078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C877F747-3B90-4630-BD3A-1F51ACE4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ДЕТЕКЦИЈА</a:t>
            </a:r>
          </a:p>
        </p:txBody>
      </p:sp>
      <p:sp>
        <p:nvSpPr>
          <p:cNvPr id="4" name="heading-source-08">
            <a:extLst xmlns:a="http://schemas.openxmlformats.org/drawingml/2006/main">
              <a:ext uri="{FF2B5EF4-FFF2-40B4-BE49-F238E27FC236}">
                <a16:creationId xmlns:a16="http://schemas.microsoft.com/office/drawing/2014/main" id="{9151A056-3179-4DB2-8449-964CB370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95458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Сигнал, alert и инцидент</a:t>
            </a:r>
          </a:p>
        </p:txBody>
      </p:sp>
      <p:sp>
        <p:nvSpPr>
          <p:cNvPr id="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98E58090-07F6-4B67-9D6A-ED4A63A9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8755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61F141A5-EF7D-46EB-B543-5AE4DF41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44C2E564-11EE-42E4-B470-CE4FF76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8B318-8082-4C68-9503-3B38E7443B1D}"/>
              </a:ext>
            </a:extLst>
          </p:cNvPr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420752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57638"/>
                <a:gridCol w="5224016"/>
                <a:gridCol w="6648896"/>
              </a:tblGrid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Стање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FE5E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Шта представља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FE5E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Потребна реакција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FE5EA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Сигнал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Сиров догађај или одступање.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Сачувати контекст и проверити правило.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Alert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Сигнал који је прешао дефинисан праг.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Triage и процена приоритета.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Инцидент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Потврђен или вероватан безбедносни утицај.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Координисана реакција и следљив ток.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Налаз рањивости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Потенцијална изложеност коју треба проценити.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Власник, рок и доказ корекције.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03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0CFC5-542F-4770-BA58-F00276D5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7E55B-6551-4F25-8E61-A6D2D86A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5594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0C4EE71-9385-46DE-8999-B7C8C6B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5594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9DACB-B894-483D-ADA6-A13B1BB8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4F87A-7EF8-4C32-A041-192A56E17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7e555cd704e9e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text-prozor">
            <a:extLst xmlns:a="http://schemas.openxmlformats.org/drawingml/2006/main">
              <a:ext uri="{FF2B5EF4-FFF2-40B4-BE49-F238E27FC236}">
                <a16:creationId xmlns:a16="http://schemas.microsoft.com/office/drawing/2014/main" id="{2DF471F8-3B2F-4DB7-A33C-2B95C2E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prozor">
            <a:extLst xmlns:a="http://schemas.openxmlformats.org/drawingml/2006/main">
              <a:ext uri="{FF2B5EF4-FFF2-40B4-BE49-F238E27FC236}">
                <a16:creationId xmlns:a16="http://schemas.microsoft.com/office/drawing/2014/main" id="{719681B6-274C-40C0-AD5C-4CBFF372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79264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Праг у временском прозору</a:t>
            </a:r>
          </a:p>
        </p:txBody>
      </p:sp>
      <p:sp>
        <p:nvSpPr>
          <p:cNvPr id="8" name="text-prozor">
            <a:extLst xmlns:a="http://schemas.openxmlformats.org/drawingml/2006/main">
              <a:ext uri="{FF2B5EF4-FFF2-40B4-BE49-F238E27FC236}">
                <a16:creationId xmlns:a16="http://schemas.microsoft.com/office/drawing/2014/main" id="{B3EB41DF-4BF3-48C1-8B7C-4B83CAF6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74881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Илустративно правило за исти субјект и изворну адресу.</a:t>
            </a:r>
          </a:p>
        </p:txBody>
      </p:sp>
      <p:sp>
        <p:nvSpPr>
          <p:cNvPr id="9" name="text-prozor">
            <a:extLst xmlns:a="http://schemas.openxmlformats.org/drawingml/2006/main">
              <a:ext uri="{FF2B5EF4-FFF2-40B4-BE49-F238E27FC236}">
                <a16:creationId xmlns:a16="http://schemas.microsoft.com/office/drawing/2014/main" id="{6F1422FA-0AE6-43C2-ACB0-258E40A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29275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Изван прозора</a:t>
            </a:r>
          </a:p>
        </p:txBody>
      </p:sp>
      <p:sp>
        <p:nvSpPr>
          <p:cNvPr id="10" name="text-prozor">
            <a:extLst xmlns:a="http://schemas.openxmlformats.org/drawingml/2006/main">
              <a:ext uri="{FF2B5EF4-FFF2-40B4-BE49-F238E27FC236}">
                <a16:creationId xmlns:a16="http://schemas.microsoft.com/office/drawing/2014/main" id="{F2A21A60-2A81-4385-A357-E35BAEF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607" y="6002536"/>
            <a:ext cx="17290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броји се</a:t>
            </a:r>
          </a:p>
        </p:txBody>
      </p:sp>
      <p:sp>
        <p:nvSpPr>
          <p:cNvPr id="11" name="text-prozor">
            <a:extLst xmlns:a="http://schemas.openxmlformats.org/drawingml/2006/main">
              <a:ext uri="{FF2B5EF4-FFF2-40B4-BE49-F238E27FC236}">
                <a16:creationId xmlns:a16="http://schemas.microsoft.com/office/drawing/2014/main" id="{162833CD-18EA-4DD1-9DE6-996499F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679" y="4010025"/>
            <a:ext cx="29664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Последњих 5 минута</a:t>
            </a:r>
          </a:p>
        </p:txBody>
      </p:sp>
      <p:sp>
        <p:nvSpPr>
          <p:cNvPr id="12" name="text-prozor">
            <a:extLst xmlns:a="http://schemas.openxmlformats.org/drawingml/2006/main">
              <a:ext uri="{FF2B5EF4-FFF2-40B4-BE49-F238E27FC236}">
                <a16:creationId xmlns:a16="http://schemas.microsoft.com/office/drawing/2014/main" id="{913669BE-51B1-4ACE-A36E-3F9979D3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8" y="6391275"/>
            <a:ext cx="42922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Неуспелих пријава у прозору: 3</a:t>
            </a:r>
          </a:p>
        </p:txBody>
      </p:sp>
      <p:sp>
        <p:nvSpPr>
          <p:cNvPr id="13" name="text-prozor">
            <a:extLst xmlns:a="http://schemas.openxmlformats.org/drawingml/2006/main">
              <a:ext uri="{FF2B5EF4-FFF2-40B4-BE49-F238E27FC236}">
                <a16:creationId xmlns:a16="http://schemas.microsoft.com/office/drawing/2014/main" id="{871C0BB7-1035-41AF-9761-AEED512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110" y="5534025"/>
            <a:ext cx="24534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Успешна пријава</a:t>
            </a:r>
          </a:p>
        </p:txBody>
      </p:sp>
      <p:sp>
        <p:nvSpPr>
          <p:cNvPr id="14" name="text-prozor">
            <a:extLst xmlns:a="http://schemas.openxmlformats.org/drawingml/2006/main">
              <a:ext uri="{FF2B5EF4-FFF2-40B4-BE49-F238E27FC236}">
                <a16:creationId xmlns:a16="http://schemas.microsoft.com/office/drawing/2014/main" id="{B16A552F-1570-4070-8071-825C6A4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357" y="5907286"/>
            <a:ext cx="17290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броји се</a:t>
            </a:r>
          </a:p>
        </p:txBody>
      </p:sp>
      <p:sp>
        <p:nvSpPr>
          <p:cNvPr id="15" name="text-prozor">
            <a:extLst xmlns:a="http://schemas.openxmlformats.org/drawingml/2006/main">
              <a:ext uri="{FF2B5EF4-FFF2-40B4-BE49-F238E27FC236}">
                <a16:creationId xmlns:a16="http://schemas.microsoft.com/office/drawing/2014/main" id="{70664F20-D2CB-4316-BE65-693C950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995" y="3676650"/>
            <a:ext cx="143991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rPr>
              <a:t>Праг 3 је</a:t>
            </a:r>
          </a:p>
        </p:txBody>
      </p:sp>
      <p:sp>
        <p:nvSpPr>
          <p:cNvPr id="16" name="text-prozor">
            <a:extLst xmlns:a="http://schemas.openxmlformats.org/drawingml/2006/main">
              <a:ext uri="{FF2B5EF4-FFF2-40B4-BE49-F238E27FC236}">
                <a16:creationId xmlns:a16="http://schemas.microsoft.com/office/drawing/2014/main" id="{2904BB9B-98B4-4DA0-AD7A-26B9B8A1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437" y="4049911"/>
            <a:ext cx="16031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2276F"/>
                </a:solidFill>
                <a:latin typeface="IBM Plex Sans"/>
                <a:ea typeface="IBM Plex Sans"/>
                <a:cs typeface="IBM Plex Sans"/>
              </a:rPr>
              <a:t>достигнут</a:t>
            </a:r>
          </a:p>
        </p:txBody>
      </p:sp>
      <p:sp>
        <p:nvSpPr>
          <p:cNvPr id="17" name="text-prozor">
            <a:extLst xmlns:a="http://schemas.openxmlformats.org/drawingml/2006/main">
              <a:ext uri="{FF2B5EF4-FFF2-40B4-BE49-F238E27FC236}">
                <a16:creationId xmlns:a16="http://schemas.microsoft.com/office/drawing/2014/main" id="{808B351F-92C6-4945-A991-B6E84769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0834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8" name="text-prozor">
            <a:extLst xmlns:a="http://schemas.openxmlformats.org/drawingml/2006/main">
              <a:ext uri="{FF2B5EF4-FFF2-40B4-BE49-F238E27FC236}">
                <a16:creationId xmlns:a16="http://schemas.microsoft.com/office/drawing/2014/main" id="{5723A59C-BB27-44C5-B8DD-B8F9CA42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04522"/>
            <a:ext cx="958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Прозор и праг су параметри овог примера. Сигнал је улаз за triage, а не доказ напада.</a:t>
            </a:r>
          </a:p>
        </p:txBody>
      </p:sp>
      <p:sp>
        <p:nvSpPr>
          <p:cNvPr id="19" name="text-prozor">
            <a:extLst xmlns:a="http://schemas.openxmlformats.org/drawingml/2006/main">
              <a:ext uri="{FF2B5EF4-FFF2-40B4-BE49-F238E27FC236}">
                <a16:creationId xmlns:a16="http://schemas.microsoft.com/office/drawing/2014/main" id="{CE646F21-158B-4C1F-BCB7-3D2126E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0" name="text-prozor">
            <a:extLst xmlns:a="http://schemas.openxmlformats.org/drawingml/2006/main">
              <a:ext uri="{FF2B5EF4-FFF2-40B4-BE49-F238E27FC236}">
                <a16:creationId xmlns:a16="http://schemas.microsoft.com/office/drawing/2014/main" id="{A49E30E9-4BCB-443A-A862-7D04CCBA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9608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DD760A-76DD-4D0D-9680-202B2579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4C43A-0E64-4873-9299-C75D3E4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049000" cy="5595938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EC18D-00B3-4A56-8355-1C746F2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76D00-E64C-4E82-B3EC-1F3E5F7E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76402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5C708-A6AC-408C-96FC-6DF3EB94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8627D4B-91CC-419A-BF0D-24B172F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ДЕТЕКЦИЈА</a:t>
            </a:r>
          </a:p>
        </p:txBody>
      </p:sp>
      <p:sp>
        <p:nvSpPr>
          <p:cNvPr id="7" name="heading-source-14">
            <a:extLst xmlns:a="http://schemas.openxmlformats.org/drawingml/2006/main">
              <a:ext uri="{FF2B5EF4-FFF2-40B4-BE49-F238E27FC236}">
                <a16:creationId xmlns:a16="http://schemas.microsoft.com/office/drawing/2014/main" id="{5A4D7E0C-2936-4D07-B616-4A28CB9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19631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271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детекције додаје контекст сигналу</a:t>
            </a:r>
          </a:p>
        </p:txBody>
      </p:sp>
      <p:sp>
        <p:nvSpPr>
          <p:cNvPr id="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FE32DC5-4BEF-4DEF-83F5-894BF60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6E53285-D3BA-4B14-B0D9-1D65987E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6CBF2BD-8BE1-4279-A27D-F4B0DE6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IReadOnlyList&lt;SecuritySignal&gt; Detect(</a:t>
            </a:r>
          </a:p>
        </p:txBody>
      </p:sp>
      <p:sp>
        <p:nvSpPr>
          <p:cNvPr id="1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7F74837-64E8-45AC-AACA-01C4E59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943DEB0-8EED-4726-BE12-D0A4BC76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6789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IReadOnlyCollection&lt;LoginAttempt&gt; attempts,</a:t>
            </a:r>
          </a:p>
        </p:txBody>
      </p:sp>
      <p:sp>
        <p:nvSpPr>
          <p:cNvPr id="1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3B6CE0C-6713-4C75-B2E8-35A21938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F8DC9A1-0197-4C1E-8612-D4532B4D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3497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DateTimeOffset now)</a:t>
            </a:r>
          </a:p>
        </p:txBody>
      </p:sp>
      <p:sp>
        <p:nvSpPr>
          <p:cNvPr id="1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8FFCE22-B244-4948-BE98-1D415EC1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FDB192D-6D7F-4CB8-A514-BE832F87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607C922-C4BF-492A-9475-3A25D069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127D756-CEC6-4A4E-9022-DF5DDB2C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29491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attempts</a:t>
            </a:r>
          </a:p>
        </p:txBody>
      </p:sp>
      <p:sp>
        <p:nvSpPr>
          <p:cNvPr id="1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442E2D5-C17B-461F-B77F-CD62475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6A6EC3C-B63E-4DCE-B684-C39FEBC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.Where(attempt =&gt; !attempt.Succeeded</a:t>
            </a:r>
          </a:p>
        </p:txBody>
      </p:sp>
      <p:sp>
        <p:nvSpPr>
          <p:cNvPr id="2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5FFF5D9-F5DD-4E1C-BA33-5302A25E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750E6D4-49B3-4ECE-8875-E398AC55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&amp;&amp; IsInsideWindow(attempt, now))</a:t>
            </a:r>
          </a:p>
        </p:txBody>
      </p:sp>
      <p:sp>
        <p:nvSpPr>
          <p:cNvPr id="2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73B7694-E5D5-4D17-B897-3A17D505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6DA86AE-D081-465D-99B9-56F1430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4046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.GroupBy(attempt =&gt;</a:t>
            </a:r>
          </a:p>
        </p:txBody>
      </p:sp>
      <p:sp>
        <p:nvSpPr>
          <p:cNvPr id="2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A4A5E31-E163-4EED-8643-04759C4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1A9EA75-E542-4F98-9960-755B676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720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(attempt.SubjectId, attempt.SourceIp))</a:t>
            </a:r>
          </a:p>
        </p:txBody>
      </p:sp>
      <p:sp>
        <p:nvSpPr>
          <p:cNvPr id="2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AB9666F-FF58-4621-BBF3-629EFD48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901171F-8C5E-4896-8E0D-5C0201EF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7475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.Where(group =&gt; group.Count() &gt;= _threshold)</a:t>
            </a:r>
          </a:p>
        </p:txBody>
      </p:sp>
      <p:sp>
        <p:nvSpPr>
          <p:cNvPr id="2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E76AE9A-4DD7-4454-88EE-DFB596D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3054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3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8679EFE-D282-45CE-BCFF-77D3E209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30541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.Select(group =&gt; </a:t>
            </a: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SecuritySignal(</a:t>
            </a:r>
          </a:p>
        </p:txBody>
      </p:sp>
      <p:sp>
        <p:nvSpPr>
          <p:cNvPr id="3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DA18B11-05D3-4B56-8E94-D03EEE31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505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F444EBE-113D-4274-86EB-9CD535D5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50521"/>
            <a:ext cx="55550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Name, group.Key.SubjectId,</a:t>
            </a:r>
          </a:p>
        </p:txBody>
      </p:sp>
      <p:sp>
        <p:nvSpPr>
          <p:cNvPr id="3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B701E7D-B845-499F-8E45-6A4DFF10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87050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2A4F32D-9444-48F3-BA3A-7F52CF9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870502"/>
            <a:ext cx="6789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group.Key.SourceIp, group.Count()))</a:t>
            </a:r>
          </a:p>
        </p:txBody>
      </p:sp>
      <p:sp>
        <p:nvSpPr>
          <p:cNvPr id="3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A278D63-50C5-47FA-9E3F-990C14F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19048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83C145B-FC4C-4EF7-8BA2-5C8B1520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7190482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.ToArray();</a:t>
            </a:r>
          </a:p>
        </p:txBody>
      </p:sp>
      <p:sp>
        <p:nvSpPr>
          <p:cNvPr id="3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6043FBA-4EF7-48CD-AFBB-14B521F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510463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3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7B09622-3CC4-4434-A42A-7EE6B8B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7510463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69E7874-4443-44C0-8E36-1FCAF7D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434530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4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FA4B0BE-B775-45E3-9FB6-7A86987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849761"/>
            <a:ext cx="43194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Праг и временски прозор спречавају </a:t>
            </a:r>
          </a:p>
        </p:txBody>
      </p:sp>
      <p:sp>
        <p:nvSpPr>
          <p:cNvPr id="4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C32C299-7FBA-4753-A8FD-2DEC590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169741"/>
            <a:ext cx="410601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да свака неуспела пријава постане </a:t>
            </a:r>
          </a:p>
        </p:txBody>
      </p:sp>
      <p:sp>
        <p:nvSpPr>
          <p:cNvPr id="4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BFFE1B7-5B91-489C-AB52-2FC6F976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489722"/>
            <a:ext cx="11419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сигнал.</a:t>
            </a:r>
          </a:p>
        </p:txBody>
      </p:sp>
      <p:sp>
        <p:nvSpPr>
          <p:cNvPr id="4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A9AB949-7B1B-4B43-AB66-A31289D9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076402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БЕЗБЕДНОСНА ГРАНИЦА</a:t>
            </a:r>
          </a:p>
        </p:txBody>
      </p:sp>
      <p:sp>
        <p:nvSpPr>
          <p:cNvPr id="4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667EC9E-CB33-4E6F-B9DF-630FDD9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491633"/>
            <a:ext cx="41744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Сигнал носи субјекта, адресу и број </a:t>
            </a:r>
          </a:p>
        </p:txBody>
      </p:sp>
      <p:sp>
        <p:nvSpPr>
          <p:cNvPr id="4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8DFB7D0-54F7-4E10-A371-89828DC8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811613"/>
            <a:ext cx="401925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покушаја, па се може проверити и </a:t>
            </a:r>
          </a:p>
        </p:txBody>
      </p:sp>
      <p:sp>
        <p:nvSpPr>
          <p:cNvPr id="4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732C88E-EC06-4932-AC98-FEEF9CD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5131594"/>
            <a:ext cx="14686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објаснити.</a:t>
            </a:r>
          </a:p>
        </p:txBody>
      </p:sp>
      <p:sp>
        <p:nvSpPr>
          <p:cNvPr id="4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4668718-092B-4B93-A731-193F68B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DD119B2-D770-4FB2-A1AB-FCD6885E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3481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A9E75A-EC59-4393-8568-EDE6F2CD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7DFDE-90F5-45CC-BD32-1053DD2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049000" cy="3676055"/>
          </a:xfrm>
          <a:prstGeom xmlns:a="http://schemas.openxmlformats.org/drawingml/2006/main" prst="roundRect">
            <a:avLst>
              <a:gd name="adj" fmla="val 414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CA645-ED87-4671-BD88-AB2AF87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4530"/>
            <a:ext cx="28575" cy="1055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E7E2C-6D50-470A-BB3F-8B204EF6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756422"/>
            <a:ext cx="28575" cy="1055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CA127-BD08-41EB-A32D-77A6C2A1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96969EE0-9300-48E3-A91B-93524DF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ДЕТЕКЦИЈА</a:t>
            </a:r>
          </a:p>
        </p:txBody>
      </p:sp>
      <p:sp>
        <p:nvSpPr>
          <p:cNvPr id="7" name="heading-source-15">
            <a:extLst xmlns:a="http://schemas.openxmlformats.org/drawingml/2006/main">
              <a:ext uri="{FF2B5EF4-FFF2-40B4-BE49-F238E27FC236}">
                <a16:creationId xmlns:a16="http://schemas.microsoft.com/office/drawing/2014/main" id="{AC676EA6-3AED-45B4-BB3F-701B5F5D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42444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Испод прага нема сигнала</a:t>
            </a:r>
          </a:p>
        </p:txBody>
      </p:sp>
      <p:sp>
        <p:nvSpPr>
          <p:cNvPr id="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87691C7-0EDF-468D-A8C5-45F76197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3A37538-6170-4FF4-98A0-EC215459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2D54466A-0F32-44F1-A6B5-76129BC4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B5D3400-EAD0-439E-8417-45F8611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AC4F002-CFE8-4AB8-A879-7F47EC2D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void</a:t>
            </a:r>
          </a:p>
        </p:txBody>
      </p:sp>
      <p:sp>
        <p:nvSpPr>
          <p:cNvPr id="1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BF9FFFC-4584-4203-9BD6-741A0717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C7EAE29-E8C0-4E6D-84AC-B3B03D5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8023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Detect_WhenFailuresAreBelowThreshold_RaisesNothing()</a:t>
            </a:r>
          </a:p>
        </p:txBody>
      </p:sp>
      <p:sp>
        <p:nvSpPr>
          <p:cNvPr id="1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21A08B9-E0C9-4ADE-8FC4-BA62971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A5320F2-4CB4-481D-B8CC-E940EBAB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8B2F1090-0FBB-41E5-A50E-BE237F3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B4E2042-F089-4724-BCBA-BD200A78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45950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signals = _rule.Detect(</a:t>
            </a:r>
          </a:p>
        </p:txBody>
      </p:sp>
      <p:sp>
        <p:nvSpPr>
          <p:cNvPr id="1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826691ED-0C06-4159-A096-4730E717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78F1EC2-31BF-4AB3-98E9-501FA26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3909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Attempts.Failures(</a:t>
            </a:r>
          </a:p>
        </p:txBody>
      </p:sp>
      <p:sp>
        <p:nvSpPr>
          <p:cNvPr id="2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8CB3919-601F-4B05-A33E-70F9477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483F433-F917-446F-91DE-B3A9990B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70641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"ana"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"203.0.113.10"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 2, Now), Now);</a:t>
            </a:r>
          </a:p>
        </p:txBody>
      </p:sp>
      <p:sp>
        <p:nvSpPr>
          <p:cNvPr id="2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925DB29A-4372-4F65-9835-3F74B47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9F99BC5-2778-4B95-A953-C8253E7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Assert.That(signals, Is.Empty);</a:t>
            </a:r>
          </a:p>
        </p:txBody>
      </p:sp>
      <p:sp>
        <p:nvSpPr>
          <p:cNvPr id="2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02B0F43-F529-4D96-B906-E47C641D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3CA9B94A-8613-4B9C-9608-A178642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DF6C041-6BEB-4567-B74F-E37E4766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43453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2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11769DFF-D451-4FC1-9D6E-2B316E0C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849761"/>
            <a:ext cx="406643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Негативан сценарио проверава да </a:t>
            </a:r>
          </a:p>
        </p:txBody>
      </p:sp>
      <p:sp>
        <p:nvSpPr>
          <p:cNvPr id="2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821555A9-94EC-4922-8219-EECF861A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169741"/>
            <a:ext cx="43786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не подиже узбуну пре прага.</a:t>
            </a:r>
          </a:p>
        </p:txBody>
      </p:sp>
      <p:sp>
        <p:nvSpPr>
          <p:cNvPr id="3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3A565F88-B228-4C78-BDE4-6609329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756422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ОЧЕКИВАНИ ИСХОД</a:t>
            </a:r>
          </a:p>
        </p:txBody>
      </p:sp>
      <p:sp>
        <p:nvSpPr>
          <p:cNvPr id="3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FE47FB5F-813E-4F25-A6D5-26FBF52F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171652"/>
            <a:ext cx="46154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мења само број покушаја и очекује </a:t>
            </a:r>
          </a:p>
        </p:txBody>
      </p:sp>
      <p:sp>
        <p:nvSpPr>
          <p:cNvPr id="3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113DCFDD-60E2-4169-B783-39EC5269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491633"/>
            <a:ext cx="27240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празну листу сигнала.</a:t>
            </a:r>
          </a:p>
        </p:txBody>
      </p:sp>
      <p:sp>
        <p:nvSpPr>
          <p:cNvPr id="3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75D64E2-BD28-498A-8C53-742D2183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28265590-6BA5-4D99-A8CA-185C9112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757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660CD-8849-408B-8211-48CA6EAD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DAD63-955C-48B8-A543-551B584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80D85-40C1-4F91-B447-6A150BC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706BD-5BEA-4BBA-8A93-40F5CE3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0CE7E-8ADA-4DF1-8587-E7ED36E1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BC871EE-758C-4A19-9FE8-93FA6E86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 · ДЕТЕКЦИЈА</a:t>
            </a:r>
          </a:p>
        </p:txBody>
      </p:sp>
      <p:sp>
        <p:nvSpPr>
          <p:cNvPr id="7" name="heading-source-11">
            <a:extLst xmlns:a="http://schemas.openxmlformats.org/drawingml/2006/main">
              <a:ext uri="{FF2B5EF4-FFF2-40B4-BE49-F238E27FC236}">
                <a16:creationId xmlns:a16="http://schemas.microsoft.com/office/drawing/2014/main" id="{C6116A8D-6E7E-46A4-8383-D353C65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6323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 тражи контекст</a:t>
            </a:r>
          </a:p>
        </p:txBody>
      </p:sp>
      <p:sp>
        <p:nvSpPr>
          <p:cNvPr id="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D185619-86E6-4EB4-A779-F70F8B7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9548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BA53DBA3-3557-4C1A-BA80-0052049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FDF68A4-3FBB-4396-AD48-C580ABC6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98769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Праг детекције треба да има смисао и разлог, не само произвољну бројку.</a:t>
            </a:r>
          </a:p>
        </p:txBody>
      </p:sp>
      <p:sp>
        <p:nvSpPr>
          <p:cNvPr id="1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86584B28-A1BD-413A-85E2-45879FF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19177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Јасно правило</a:t>
            </a:r>
          </a:p>
        </p:txBody>
      </p:sp>
      <p:sp>
        <p:nvSpPr>
          <p:cNvPr id="1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B4BB27E-4A09-4F73-9F65-937A978A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4EBD5E0-DE0C-4A72-81B0-43752942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10976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Затварање упозорења чува образложење, јер је то знање за следећи сличан случај.</a:t>
            </a:r>
          </a:p>
        </p:txBody>
      </p:sp>
      <p:sp>
        <p:nvSpPr>
          <p:cNvPr id="1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EFF8CE9-B558-445E-91B6-CA61343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270718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Проверљива примена</a:t>
            </a:r>
          </a:p>
        </p:txBody>
      </p:sp>
      <p:sp>
        <p:nvSpPr>
          <p:cNvPr id="1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E883E5E-3CB1-425E-9634-32A05F67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71D20864-E82A-4A7D-AD46-AAE8571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11406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Рањивост се сматра решеном након провере да је ризик смањен на прихватљив ниво.</a:t>
            </a:r>
          </a:p>
        </p:txBody>
      </p:sp>
      <p:sp>
        <p:nvSpPr>
          <p:cNvPr id="1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833EAC1C-A91F-4638-865B-5AAA213A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18889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Видљив доказ</a:t>
            </a:r>
          </a:p>
        </p:txBody>
      </p:sp>
      <p:sp>
        <p:nvSpPr>
          <p:cNvPr id="1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4CADF1DC-D6C5-4F9D-82E0-9FB6826B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6F444CE-A9A4-42F6-ADFF-1C088AD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84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7657A-C453-4272-8146-7F7F873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09001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20C5B-7776-4AAE-94C1-241D334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117" y="6158657"/>
            <a:ext cx="130968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412DB-3041-4D04-A7E0-1ECF16E6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105" y="6158657"/>
            <a:ext cx="173265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1345E-F2E3-40BA-9B30-885AFCB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7C7"/>
          </a:solidFill>
          <a:ln xmlns:a="http://schemas.openxmlformats.org/drawingml/2006/main" w="0">
            <a:noFill/>
          </a:ln>
        </p:spPr>
      </p:sp>
      <p:sp>
        <p:nvSpPr>
          <p:cNvPr id="5" name="text-deo2">
            <a:extLst xmlns:a="http://schemas.openxmlformats.org/drawingml/2006/main">
              <a:ext uri="{FF2B5EF4-FFF2-40B4-BE49-F238E27FC236}">
                <a16:creationId xmlns:a16="http://schemas.microsoft.com/office/drawing/2014/main" id="{7B125DC5-F440-4E73-8969-53F6234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6" name="text-deo2">
            <a:extLst xmlns:a="http://schemas.openxmlformats.org/drawingml/2006/main">
              <a:ext uri="{FF2B5EF4-FFF2-40B4-BE49-F238E27FC236}">
                <a16:creationId xmlns:a16="http://schemas.microsoft.com/office/drawing/2014/main" id="{F1C55051-13BF-414F-AB53-0E44F60C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7" name="heading-deo2">
            <a:extLst xmlns:a="http://schemas.openxmlformats.org/drawingml/2006/main">
              <a:ext uri="{FF2B5EF4-FFF2-40B4-BE49-F238E27FC236}">
                <a16:creationId xmlns:a16="http://schemas.microsoft.com/office/drawing/2014/main" id="{716F24BE-0C99-49C2-B44C-F19D664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7603182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02"/>
          </a:bodyPr>
          <a:lstStyle xmlns:a="http://schemas.openxmlformats.org/drawingml/2006/main">
            <a:defPPr algn="l">
              <a:defRPr sz="72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 и реакција</a:t>
            </a:r>
          </a:p>
        </p:txBody>
      </p:sp>
      <p:sp>
        <p:nvSpPr>
          <p:cNvPr id="8" name="text-deo2">
            <a:extLst xmlns:a="http://schemas.openxmlformats.org/drawingml/2006/main">
              <a:ext uri="{FF2B5EF4-FFF2-40B4-BE49-F238E27FC236}">
                <a16:creationId xmlns:a16="http://schemas.microsoft.com/office/drawing/2014/main" id="{ABE3E960-4F8A-4DD9-BB66-3CE8B26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0435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Процена контекста одређује да ли отварамо инцидент и ко преузима </a:t>
            </a:r>
          </a:p>
        </p:txBody>
      </p:sp>
      <p:sp>
        <p:nvSpPr>
          <p:cNvPr id="9" name="text-deo2">
            <a:extLst xmlns:a="http://schemas.openxmlformats.org/drawingml/2006/main">
              <a:ext uri="{FF2B5EF4-FFF2-40B4-BE49-F238E27FC236}">
                <a16:creationId xmlns:a16="http://schemas.microsoft.com/office/drawing/2014/main" id="{F3C57C51-820B-49B3-8995-44C87F88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5223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реакцију.</a:t>
            </a:r>
          </a:p>
        </p:txBody>
      </p:sp>
      <p:sp>
        <p:nvSpPr>
          <p:cNvPr id="10" name="text-deo2">
            <a:extLst xmlns:a="http://schemas.openxmlformats.org/drawingml/2006/main">
              <a:ext uri="{FF2B5EF4-FFF2-40B4-BE49-F238E27FC236}">
                <a16:creationId xmlns:a16="http://schemas.microsoft.com/office/drawing/2014/main" id="{07791C30-E7D6-40F5-84E9-C72A7DB5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03286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Утицај</a:t>
            </a:r>
          </a:p>
        </p:txBody>
      </p:sp>
      <p:sp>
        <p:nvSpPr>
          <p:cNvPr id="11" name="text-deo2">
            <a:extLst xmlns:a="http://schemas.openxmlformats.org/drawingml/2006/main">
              <a:ext uri="{FF2B5EF4-FFF2-40B4-BE49-F238E27FC236}">
                <a16:creationId xmlns:a16="http://schemas.microsoft.com/office/drawing/2014/main" id="{972AF18B-66A6-4D3A-89E6-82BFBE9F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142" y="6244382"/>
            <a:ext cx="12525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</a:t>
            </a:r>
          </a:p>
        </p:txBody>
      </p:sp>
      <p:sp>
        <p:nvSpPr>
          <p:cNvPr id="12" name="text-deo2">
            <a:extLst xmlns:a="http://schemas.openxmlformats.org/drawingml/2006/main">
              <a:ext uri="{FF2B5EF4-FFF2-40B4-BE49-F238E27FC236}">
                <a16:creationId xmlns:a16="http://schemas.microsoft.com/office/drawing/2014/main" id="{79B9DA93-11C0-4C19-A85A-63CCFD6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130" y="6244382"/>
            <a:ext cx="16755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Хронологија</a:t>
            </a:r>
          </a:p>
        </p:txBody>
      </p:sp>
      <p:sp>
        <p:nvSpPr>
          <p:cNvPr id="13" name="text-deo2">
            <a:extLst xmlns:a="http://schemas.openxmlformats.org/drawingml/2006/main">
              <a:ext uri="{FF2B5EF4-FFF2-40B4-BE49-F238E27FC236}">
                <a16:creationId xmlns:a16="http://schemas.microsoft.com/office/drawing/2014/main" id="{9475DFF0-2217-4901-A6AE-4E312EFA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4" name="text-deo2">
            <a:extLst xmlns:a="http://schemas.openxmlformats.org/drawingml/2006/main">
              <a:ext uri="{FF2B5EF4-FFF2-40B4-BE49-F238E27FC236}">
                <a16:creationId xmlns:a16="http://schemas.microsoft.com/office/drawing/2014/main" id="{E24B67FC-A50F-41AB-AFCA-6FC71E78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299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EAB4C-3869-417F-9BB8-858386C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2787D-5213-4958-8F5F-4DF7E1E5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C41C2-2586-4EB7-849C-6ECB3BFB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AB5EB-254E-4D1F-91EB-9824ECD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48008-DDA5-4F8E-8BC7-8052443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45885FC-1FAF-4F96-919B-01A395AC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747D5-56C3-41B7-B4CB-C8AF57B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4BC87AE-996B-4D7B-8164-F4DE6904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 · TRIAGE И РЕАКЦИЈА</a:t>
            </a:r>
          </a:p>
        </p:txBody>
      </p:sp>
      <p:sp>
        <p:nvSpPr>
          <p:cNvPr id="9" name="heading-source-05">
            <a:extLst xmlns:a="http://schemas.openxmlformats.org/drawingml/2006/main">
              <a:ext uri="{FF2B5EF4-FFF2-40B4-BE49-F238E27FC236}">
                <a16:creationId xmlns:a16="http://schemas.microsoft.com/office/drawing/2014/main" id="{5E551EE5-15FA-4CDF-86F7-534ED47A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91973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</a:t>
            </a:r>
          </a:p>
        </p:txBody>
      </p:sp>
      <p:sp>
        <p:nvSpPr>
          <p:cNvPr id="1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7E011DF8-2A49-4802-B753-75361D04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9268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контекста и утицаја</a:t>
            </a:r>
          </a:p>
        </p:txBody>
      </p:sp>
      <p:sp>
        <p:nvSpPr>
          <p:cNvPr id="1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DF3F725-57DB-4104-B6DB-C67E7A09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1C0F0E8-DA84-4B36-B261-66B4786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04474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 додаје сигналу контекст: коју имовину погађа и колики је могући утицај.</a:t>
            </a:r>
          </a:p>
        </p:txBody>
      </p:sp>
      <p:sp>
        <p:nvSpPr>
          <p:cNvPr id="1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367B33A-6570-4A8A-92A3-CCB67AF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C7ADAD8-20E9-41D8-B36F-7B238549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85FE2A3-7B9B-452F-81B8-7833654C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98281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Озбиљност се одређује правилом, а не утиском особе која је на дужности.</a:t>
            </a:r>
          </a:p>
        </p:txBody>
      </p:sp>
      <p:sp>
        <p:nvSpPr>
          <p:cNvPr id="1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24D5039-94AD-44D3-956D-57CCFA0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B083E99-4DE9-45CC-898F-A101E85D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9A6E668-5F62-44E2-AF94-84130F6B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101457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 се образлаже, укључујући и разлог због ког је упозорење затворено.</a:t>
            </a:r>
          </a:p>
        </p:txBody>
      </p:sp>
      <p:sp>
        <p:nvSpPr>
          <p:cNvPr id="1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CA1C3C10-5004-4A79-BF10-DC7CD326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1A3CCFC-D065-4476-ADC9-72A9E86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4FC7ABD-4A0E-4F71-B430-9B0C60A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747206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податак о имовини мења озбиљност истог сигнала?</a:t>
            </a:r>
          </a:p>
        </p:txBody>
      </p:sp>
      <p:sp>
        <p:nvSpPr>
          <p:cNvPr id="2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EA60D94-0E66-45CE-9BEC-FF90EA1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E47FB30-D6DF-47E4-B46B-53F3E963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90152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48FBF-6BC7-4D0F-AA9A-9997231F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37986-5D26-4D51-BBE3-645F7ED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43694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81CE688-DAF9-49C7-9F71-B8088622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43694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CD3BF-8B55-46AA-B3CF-E4C611E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B48B9-2D4E-44F8-A652-2CB4DE783C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354a052c5422d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9EEDA8EC-E75B-471E-9E03-1062B996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triage-odluka">
            <a:extLst xmlns:a="http://schemas.openxmlformats.org/drawingml/2006/main">
              <a:ext uri="{FF2B5EF4-FFF2-40B4-BE49-F238E27FC236}">
                <a16:creationId xmlns:a16="http://schemas.microsoft.com/office/drawing/2014/main" id="{7EE6DFF7-D0DE-42E1-BDC9-C632537F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03761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719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 после triage процене</a:t>
            </a:r>
          </a:p>
        </p:txBody>
      </p:sp>
      <p:sp>
        <p:nvSpPr>
          <p:cNvPr id="8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878F4368-9878-41E8-8868-91552022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89186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Истоветан сигнал може имати различит приоритет у различитом контексту.</a:t>
            </a:r>
          </a:p>
        </p:txBody>
      </p:sp>
      <p:sp>
        <p:nvSpPr>
          <p:cNvPr id="9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5DE33A27-A0A1-4BE3-B320-839F011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111" y="4724400"/>
            <a:ext cx="1488579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Сигнал</a:t>
            </a:r>
          </a:p>
        </p:txBody>
      </p:sp>
      <p:sp>
        <p:nvSpPr>
          <p:cNvPr id="10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A7420F3F-C0E1-4770-BE3E-9D10B2AC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613" y="4581525"/>
            <a:ext cx="10761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</a:t>
            </a:r>
          </a:p>
        </p:txBody>
      </p:sp>
      <p:sp>
        <p:nvSpPr>
          <p:cNvPr id="11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641461C8-FDD9-42BA-8912-2DEA22E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30" y="4954786"/>
            <a:ext cx="37729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· контекст · утицај</a:t>
            </a:r>
          </a:p>
        </p:txBody>
      </p:sp>
      <p:sp>
        <p:nvSpPr>
          <p:cNvPr id="12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C88021DD-51C4-4622-97DF-425161EC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7324" y="3571875"/>
            <a:ext cx="15935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Инцидент</a:t>
            </a:r>
          </a:p>
        </p:txBody>
      </p:sp>
      <p:sp>
        <p:nvSpPr>
          <p:cNvPr id="13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A9BFA0A0-1F8D-4F0E-91F3-80474DAC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869" y="3945136"/>
            <a:ext cx="34465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власник и план реакције</a:t>
            </a:r>
          </a:p>
        </p:txBody>
      </p:sp>
      <p:sp>
        <p:nvSpPr>
          <p:cNvPr id="14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0FDC3BF2-A961-4082-B3D4-BBC9CB3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184" y="5915025"/>
            <a:ext cx="35519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Контролисано затварање</a:t>
            </a:r>
          </a:p>
        </p:txBody>
      </p:sp>
      <p:sp>
        <p:nvSpPr>
          <p:cNvPr id="15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ABD17140-2F03-497E-BBE7-9C05E937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8931" y="6288286"/>
            <a:ext cx="30302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образложење одлуке</a:t>
            </a:r>
          </a:p>
        </p:txBody>
      </p:sp>
      <p:sp>
        <p:nvSpPr>
          <p:cNvPr id="16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285EB8CA-DCEE-404D-964C-EC888AA4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8934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7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5EA042B3-01F6-460E-94FF-6B64630B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85522"/>
            <a:ext cx="108741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Оба исхода чувају образложење. Процена користи договорене критеријуме и податке о имовини.</a:t>
            </a:r>
          </a:p>
        </p:txBody>
      </p:sp>
      <p:sp>
        <p:nvSpPr>
          <p:cNvPr id="18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ACF2C3F2-61D5-4443-AE55-29BA5070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triage-odluka">
            <a:extLst xmlns:a="http://schemas.openxmlformats.org/drawingml/2006/main">
              <a:ext uri="{FF2B5EF4-FFF2-40B4-BE49-F238E27FC236}">
                <a16:creationId xmlns:a16="http://schemas.microsoft.com/office/drawing/2014/main" id="{05B3454E-81DA-485A-B0A3-BA8CB96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820622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94A93-9942-4A93-8B87-521EF8D9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A028E-4244-4716-B5EF-B1C4DA8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715E7-22CE-45BB-8CEB-EB46E77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3B2A5-2632-4E4D-9F09-55A6C194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1FA2E-19F5-4DCE-8494-BF1002F2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8F608F2-8A1E-44FA-BBB3-7EECA7D3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AF960-8BAA-4CC8-AA26-7A15A9C2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ABDBDE24-B712-4432-9828-6FB23457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 · TRIAGE И РЕАКЦИЈА</a:t>
            </a:r>
          </a:p>
        </p:txBody>
      </p:sp>
      <p:sp>
        <p:nvSpPr>
          <p:cNvPr id="9" name="heading-source-06">
            <a:extLst xmlns:a="http://schemas.openxmlformats.org/drawingml/2006/main">
              <a:ext uri="{FF2B5EF4-FFF2-40B4-BE49-F238E27FC236}">
                <a16:creationId xmlns:a16="http://schemas.microsoft.com/office/drawing/2014/main" id="{4A72AFD0-8426-4FA8-86AA-C999F57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303118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Инцидент</a:t>
            </a:r>
          </a:p>
        </p:txBody>
      </p:sp>
      <p:sp>
        <p:nvSpPr>
          <p:cNvPr id="1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A30A660-EA3B-4E5A-87C2-2F9F6A23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3228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координисана реакција</a:t>
            </a:r>
          </a:p>
        </p:txBody>
      </p:sp>
      <p:sp>
        <p:nvSpPr>
          <p:cNvPr id="1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FE32874-CE16-4981-8462-20FBEBCF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B27EA33-85D7-44AE-928F-2AA5F840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00713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Инцидент настаје из сигнала који је прошао triage и има власника реакције.</a:t>
            </a:r>
          </a:p>
        </p:txBody>
      </p:sp>
      <p:sp>
        <p:nvSpPr>
          <p:cNvPr id="1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6DF47A3-71FB-4E55-BD87-8892BFD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AEFCD1F-997F-45FF-B908-AC67D5C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F93B642-F20F-4418-81F2-F9C27C57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06416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Поновљени сигнал се придружује постојећем инциденту уместо да отвара нови.</a:t>
            </a:r>
          </a:p>
        </p:txBody>
      </p:sp>
      <p:sp>
        <p:nvSpPr>
          <p:cNvPr id="1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6D7C181-C68F-4269-9F11-4688E436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7A36E8C2-31E4-4019-973D-FCA324AD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8F08EAE-4F73-4875-96E3-5FEA795A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94873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Временска линија инцидента чува сигнале, одлуке и предузете радње.</a:t>
            </a:r>
          </a:p>
        </p:txBody>
      </p:sp>
      <p:sp>
        <p:nvSpPr>
          <p:cNvPr id="1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9D7856A-E926-46DF-9342-33963F1A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0A314B3-CD6D-4437-94C0-7AB94073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6A972B7-24CF-4711-9507-B5D06E5A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102858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у вашој целини преузима инцидент и по ком запису се види шта је урађено?</a:t>
            </a:r>
          </a:p>
        </p:txBody>
      </p:sp>
      <p:sp>
        <p:nvSpPr>
          <p:cNvPr id="2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B153349-6E48-4137-9953-FB4E3BE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0745D1D-7266-4FAC-ABD2-2ED552EE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278500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A86BF-9ADE-46AE-B35A-2F1E9C2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D32D1-9578-4828-9BCC-661C094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2C203-3025-437B-ABF7-9E17ACD0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9638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22C11-DCF6-463F-A1CC-52378C9C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8668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D4559-088B-4A26-A19E-6F84E564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24ADB17-AB58-43E0-A682-4B823A34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 · ПРИМЕР</a:t>
            </a:r>
          </a:p>
        </p:txBody>
      </p:sp>
      <p:sp>
        <p:nvSpPr>
          <p:cNvPr id="7" name="heading-source-13">
            <a:extLst xmlns:a="http://schemas.openxmlformats.org/drawingml/2006/main">
              <a:ext uri="{FF2B5EF4-FFF2-40B4-BE49-F238E27FC236}">
                <a16:creationId xmlns:a16="http://schemas.microsoft.com/office/drawing/2014/main" id="{A6C9BC94-D8D6-425E-B2C3-03238D1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96689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22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Случај: више неуспелих пријава</a:t>
            </a:r>
          </a:p>
        </p:txBody>
      </p:sp>
      <p:sp>
        <p:nvSpPr>
          <p:cNvPr id="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A1E5F2C-9656-4E94-9CA6-8171C3B2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6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E95A12D-EBEE-45F7-9EDC-1E59F80E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СЦЕНАРИО</a:t>
            </a:r>
          </a:p>
        </p:txBody>
      </p:sp>
      <p:sp>
        <p:nvSpPr>
          <p:cNvPr id="1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509D1BB3-6E8F-42EA-8CCD-CAEC1969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5901779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више неуспелих пријава</a:t>
            </a:r>
          </a:p>
        </p:txBody>
      </p:sp>
      <p:sp>
        <p:nvSpPr>
          <p:cNvPr id="1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7F61382B-4602-435A-B291-6FEE72C6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633650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Низ неуспелих пријава може значити погрешно </a:t>
            </a:r>
          </a:p>
        </p:txBody>
      </p:sp>
      <p:sp>
        <p:nvSpPr>
          <p:cNvPr id="1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D0E8456-7F7A-4289-9E5B-A2653D70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718274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запамћену лозинку, проблем интеграције или покушај </a:t>
            </a:r>
          </a:p>
        </p:txBody>
      </p:sp>
      <p:sp>
        <p:nvSpPr>
          <p:cNvPr id="1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9EB75684-F038-4455-8452-5E00D30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70592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злоупотребе. Сам број неуспеха зато није довољан за </a:t>
            </a:r>
          </a:p>
        </p:txBody>
      </p:sp>
      <p:sp>
        <p:nvSpPr>
          <p:cNvPr id="1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FCCF91A-5369-4680-B320-1007C785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684267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закључак. Triage додаје контекст: да ли су покушаји </a:t>
            </a:r>
          </a:p>
        </p:txBody>
      </p:sp>
      <p:sp>
        <p:nvSpPr>
          <p:cNvPr id="1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C10637F0-1BFB-499B-ADEC-D32A6EE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69443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дошли са истог извора, да ли се односе на осетљиве </a:t>
            </a:r>
          </a:p>
        </p:txBody>
      </p:sp>
      <p:sp>
        <p:nvSpPr>
          <p:cNvPr id="1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A2AACCD7-AB2C-4291-B54C-6187BCE1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62663"/>
            <a:ext cx="71897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налоге и да ли се образац наставља након упозорења.</a:t>
            </a:r>
          </a:p>
        </p:txBody>
      </p:sp>
      <p:sp>
        <p:nvSpPr>
          <p:cNvPr id="1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242D4DA-42C9-4482-BBCE-BD1D1BA8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D85B3453-33AE-4143-911B-8A93561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66994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Детекција треба да опише образац који је вредан </a:t>
            </a:r>
          </a:p>
        </p:txBody>
      </p:sp>
      <p:sp>
        <p:nvSpPr>
          <p:cNvPr id="1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9F2F14B-7E18-4020-A493-40BCB327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352"/>
            <a:ext cx="699581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пажње, а не да сваку грешку прогласи инцидентом.</a:t>
            </a:r>
          </a:p>
        </p:txBody>
      </p:sp>
      <p:sp>
        <p:nvSpPr>
          <p:cNvPr id="2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D062B77-493B-4941-B604-9878FB8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298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3162C8C-5FE2-425D-A290-10A7A4D4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0138"/>
            <a:ext cx="72800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 чува одлуку и образложење, укључујући разлог </a:t>
            </a:r>
          </a:p>
        </p:txBody>
      </p:sp>
      <p:sp>
        <p:nvSpPr>
          <p:cNvPr id="2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2355D5A-846B-441C-A698-7F1DC66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3399"/>
            <a:ext cx="45895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због ког је упозорење затворено.</a:t>
            </a:r>
          </a:p>
        </p:txBody>
      </p:sp>
      <p:sp>
        <p:nvSpPr>
          <p:cNvPr id="2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72C91E5D-BE2F-480B-9940-27AB57B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003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387F5C0-D464-45CB-82C4-22942E1F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77185"/>
            <a:ext cx="71619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Затварање рањивости тражи доказ да је изложеност </a:t>
            </a:r>
          </a:p>
        </p:txBody>
      </p:sp>
      <p:sp>
        <p:nvSpPr>
          <p:cNvPr id="2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E720BB1-A787-4972-BC5A-7529576A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50446"/>
            <a:ext cx="74545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уклоњена или прихваћена уз видљив преостали ризик.</a:t>
            </a:r>
          </a:p>
        </p:txBody>
      </p:sp>
      <p:sp>
        <p:nvSpPr>
          <p:cNvPr id="2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4E87A18-F589-4FD1-BBC2-E9B16A86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12E2FF8D-0CE8-430B-9324-0FAD00C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05083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E3EE0-6784-45DF-A7FF-378F81E6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382D8-874B-40A4-9974-244EA7F6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6069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7B850FF7-E579-42DF-A751-4008566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6069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D5DDC-7E23-4168-BBDB-29E9360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A1E04-14C9-4F56-A31E-EA6D8ED08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fb353b92d42b4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BF4AFB50-1AE6-48BB-AC88-14D6DF5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incident-linija">
            <a:extLst xmlns:a="http://schemas.openxmlformats.org/drawingml/2006/main">
              <a:ext uri="{FF2B5EF4-FFF2-40B4-BE49-F238E27FC236}">
                <a16:creationId xmlns:a16="http://schemas.microsoft.com/office/drawing/2014/main" id="{94879951-E945-480F-8909-A18C1AB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28779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761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Временска линија инцидента</a:t>
            </a:r>
          </a:p>
        </p:txBody>
      </p:sp>
      <p:sp>
        <p:nvSpPr>
          <p:cNvPr id="8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DE0AC423-0EE2-4298-A6D6-78721FC3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7942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Илустративан ток једног случаја, са одлукама које се могу реконструисати.</a:t>
            </a:r>
          </a:p>
        </p:txBody>
      </p:sp>
      <p:sp>
        <p:nvSpPr>
          <p:cNvPr id="9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71248E88-D229-4EF4-B4F0-FCB1A19E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703" y="3676650"/>
            <a:ext cx="10609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09:12</a:t>
            </a:r>
          </a:p>
        </p:txBody>
      </p:sp>
      <p:sp>
        <p:nvSpPr>
          <p:cNvPr id="10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2A625CBF-8F38-4497-BF50-61176FE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947" y="4049911"/>
            <a:ext cx="19106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Први сигнал</a:t>
            </a:r>
          </a:p>
        </p:txBody>
      </p:sp>
      <p:sp>
        <p:nvSpPr>
          <p:cNvPr id="11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13AA54CC-594F-46AC-AA3C-7DCA911A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953" y="5153025"/>
            <a:ext cx="10609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09:15</a:t>
            </a:r>
          </a:p>
        </p:txBody>
      </p:sp>
      <p:sp>
        <p:nvSpPr>
          <p:cNvPr id="12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42973794-D80E-4DFA-BC36-D79BF25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00" y="5526286"/>
            <a:ext cx="239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 и власник</a:t>
            </a:r>
          </a:p>
        </p:txBody>
      </p:sp>
      <p:sp>
        <p:nvSpPr>
          <p:cNvPr id="13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EFBBA0C6-3920-4CE5-983D-8C258BAC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453" y="3676650"/>
            <a:ext cx="10609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09:19</a:t>
            </a:r>
          </a:p>
        </p:txBody>
      </p:sp>
      <p:sp>
        <p:nvSpPr>
          <p:cNvPr id="14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09DA82F9-5ACA-40CB-89DF-EBFA4220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999" y="4049911"/>
            <a:ext cx="35620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Други сигнал, исти случај</a:t>
            </a:r>
          </a:p>
        </p:txBody>
      </p:sp>
      <p:sp>
        <p:nvSpPr>
          <p:cNvPr id="15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F02BF768-DFD5-44DE-9F74-3693D4C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0828" y="5153025"/>
            <a:ext cx="10609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09:24</a:t>
            </a:r>
          </a:p>
        </p:txBody>
      </p:sp>
      <p:sp>
        <p:nvSpPr>
          <p:cNvPr id="16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10F296F2-C124-42F6-8795-1C217F8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9047" y="5526286"/>
            <a:ext cx="336470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Предузета мера и доказ</a:t>
            </a:r>
          </a:p>
        </p:txBody>
      </p:sp>
      <p:sp>
        <p:nvSpPr>
          <p:cNvPr id="17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F0EBF88D-8806-4862-BB48-7865C4D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1130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8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CC2B3BC3-FDD7-41BB-8903-B2FA371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09272"/>
            <a:ext cx="1162898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Поновљени сигнал допуњује постојећи случај. Запис повезује време, актера, одлуку и проверљив исход.</a:t>
            </a:r>
          </a:p>
        </p:txBody>
      </p:sp>
      <p:sp>
        <p:nvSpPr>
          <p:cNvPr id="19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EB493AA8-0C11-402B-8AB2-0AFA1FE6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0" name="text-incident-linija">
            <a:extLst xmlns:a="http://schemas.openxmlformats.org/drawingml/2006/main">
              <a:ext uri="{FF2B5EF4-FFF2-40B4-BE49-F238E27FC236}">
                <a16:creationId xmlns:a16="http://schemas.microsoft.com/office/drawing/2014/main" id="{33623895-2481-46B1-B71C-76F9F653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306930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3E539-DA80-49F7-AAF5-2966B39E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367284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17595-514C-4F93-B264-0B839505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384" y="6158657"/>
            <a:ext cx="155599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04258-174F-4015-94A5-EEB4C75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682" y="6158657"/>
            <a:ext cx="150837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2BD02-1CA0-4119-B631-1339CA47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355" y="6158657"/>
            <a:ext cx="132680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AB473-807B-4695-A03D-A92385D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7C7"/>
          </a:solidFill>
          <a:ln xmlns:a="http://schemas.openxmlformats.org/drawingml/2006/main" w="0">
            <a:noFill/>
          </a:ln>
        </p:spPr>
      </p:sp>
      <p:sp>
        <p:nvSpPr>
          <p:cNvPr id="6" name="text-deo3">
            <a:extLst xmlns:a="http://schemas.openxmlformats.org/drawingml/2006/main">
              <a:ext uri="{FF2B5EF4-FFF2-40B4-BE49-F238E27FC236}">
                <a16:creationId xmlns:a16="http://schemas.microsoft.com/office/drawing/2014/main" id="{A6E2ABAF-2347-4639-9B51-99277CAD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7" name="text-deo3">
            <a:extLst xmlns:a="http://schemas.openxmlformats.org/drawingml/2006/main">
              <a:ext uri="{FF2B5EF4-FFF2-40B4-BE49-F238E27FC236}">
                <a16:creationId xmlns:a16="http://schemas.microsoft.com/office/drawing/2014/main" id="{E85F5902-2CD5-483B-8168-956D6FA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8" name="heading-deo3">
            <a:extLst xmlns:a="http://schemas.openxmlformats.org/drawingml/2006/main">
              <a:ext uri="{FF2B5EF4-FFF2-40B4-BE49-F238E27FC236}">
                <a16:creationId xmlns:a16="http://schemas.microsoft.com/office/drawing/2014/main" id="{CCC0A15A-695B-4966-BD66-68E6C6D5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510376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72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Рањивости</a:t>
            </a:r>
          </a:p>
        </p:txBody>
      </p:sp>
      <p:sp>
        <p:nvSpPr>
          <p:cNvPr id="9" name="text-deo3">
            <a:extLst xmlns:a="http://schemas.openxmlformats.org/drawingml/2006/main">
              <a:ext uri="{FF2B5EF4-FFF2-40B4-BE49-F238E27FC236}">
                <a16:creationId xmlns:a16="http://schemas.microsoft.com/office/drawing/2014/main" id="{63BE748D-5B4A-4526-962B-6F24EA04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7570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Налаз добија приоритет тек када знамо компоненту, изложеност и </a:t>
            </a:r>
          </a:p>
        </p:txBody>
      </p:sp>
      <p:sp>
        <p:nvSpPr>
          <p:cNvPr id="10" name="text-deo3">
            <a:extLst xmlns:a="http://schemas.openxmlformats.org/drawingml/2006/main">
              <a:ext uri="{FF2B5EF4-FFF2-40B4-BE49-F238E27FC236}">
                <a16:creationId xmlns:a16="http://schemas.microsoft.com/office/drawing/2014/main" id="{5D3EF1AF-ACF4-4052-ABC6-2CCE616A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7567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последицу.</a:t>
            </a:r>
          </a:p>
        </p:txBody>
      </p:sp>
      <p:sp>
        <p:nvSpPr>
          <p:cNvPr id="11" name="text-deo3">
            <a:extLst xmlns:a="http://schemas.openxmlformats.org/drawingml/2006/main">
              <a:ext uri="{FF2B5EF4-FFF2-40B4-BE49-F238E27FC236}">
                <a16:creationId xmlns:a16="http://schemas.microsoft.com/office/drawing/2014/main" id="{93DBBC07-A609-46EC-BB80-120378A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31013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</a:t>
            </a:r>
          </a:p>
        </p:txBody>
      </p:sp>
      <p:sp>
        <p:nvSpPr>
          <p:cNvPr id="12" name="text-deo3">
            <a:extLst xmlns:a="http://schemas.openxmlformats.org/drawingml/2006/main">
              <a:ext uri="{FF2B5EF4-FFF2-40B4-BE49-F238E27FC236}">
                <a16:creationId xmlns:a16="http://schemas.microsoft.com/office/drawing/2014/main" id="{7853258D-BCAA-4B24-BB29-7BCADBF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409" y="6244382"/>
            <a:ext cx="14988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Приоритет</a:t>
            </a:r>
          </a:p>
        </p:txBody>
      </p:sp>
      <p:sp>
        <p:nvSpPr>
          <p:cNvPr id="13" name="text-deo3">
            <a:extLst xmlns:a="http://schemas.openxmlformats.org/drawingml/2006/main">
              <a:ext uri="{FF2B5EF4-FFF2-40B4-BE49-F238E27FC236}">
                <a16:creationId xmlns:a16="http://schemas.microsoft.com/office/drawing/2014/main" id="{21CFA11F-2C80-426B-A49F-C44E75A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707" y="6244382"/>
            <a:ext cx="145122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Корекција</a:t>
            </a:r>
          </a:p>
        </p:txBody>
      </p:sp>
      <p:sp>
        <p:nvSpPr>
          <p:cNvPr id="14" name="text-deo3">
            <a:extLst xmlns:a="http://schemas.openxmlformats.org/drawingml/2006/main">
              <a:ext uri="{FF2B5EF4-FFF2-40B4-BE49-F238E27FC236}">
                <a16:creationId xmlns:a16="http://schemas.microsoft.com/office/drawing/2014/main" id="{F09809DF-6F8E-462B-8046-E7F5FBB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5380" y="6244382"/>
            <a:ext cx="12696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</a:t>
            </a:r>
          </a:p>
        </p:txBody>
      </p:sp>
      <p:sp>
        <p:nvSpPr>
          <p:cNvPr id="15" name="text-deo3">
            <a:extLst xmlns:a="http://schemas.openxmlformats.org/drawingml/2006/main">
              <a:ext uri="{FF2B5EF4-FFF2-40B4-BE49-F238E27FC236}">
                <a16:creationId xmlns:a16="http://schemas.microsoft.com/office/drawing/2014/main" id="{342AB598-E822-43D1-91D2-4EAF7BA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3">
            <a:extLst xmlns:a="http://schemas.openxmlformats.org/drawingml/2006/main">
              <a:ext uri="{FF2B5EF4-FFF2-40B4-BE49-F238E27FC236}">
                <a16:creationId xmlns:a16="http://schemas.microsoft.com/office/drawing/2014/main" id="{5FF942E0-4F56-4635-906A-96A480DE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04153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F8428-94C8-4E09-ACCF-4349F6A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EF5F0-CDC2-4F01-A7D2-D12B64EB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099BA-D9B2-41FE-94AE-9C407CF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9638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3F104-2DAF-434B-84BF-368CC660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8668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62E4-4DE6-4007-A4E9-29B9EA6C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523732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9543B-9835-495C-89EA-C69E07F5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4B66BE2-49C0-46B4-A490-85455C57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 · РАЊИВОСТИ</a:t>
            </a:r>
          </a:p>
        </p:txBody>
      </p:sp>
      <p:sp>
        <p:nvSpPr>
          <p:cNvPr id="8" name="heading-source-10">
            <a:extLst xmlns:a="http://schemas.openxmlformats.org/drawingml/2006/main">
              <a:ext uri="{FF2B5EF4-FFF2-40B4-BE49-F238E27FC236}">
                <a16:creationId xmlns:a16="http://schemas.microsoft.com/office/drawing/2014/main" id="{C6ED23D9-54C6-4C79-BE68-DF20375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82597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управљања рањивошћу</a:t>
            </a:r>
          </a:p>
        </p:txBody>
      </p:sp>
      <p:sp>
        <p:nvSpPr>
          <p:cNvPr id="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6E217C1-3F88-44F3-81DA-61C8469D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3664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1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613F48F-A630-47F5-A7CA-35009BAF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КОНТЕКСТ</a:t>
            </a:r>
          </a:p>
        </p:txBody>
      </p:sp>
      <p:sp>
        <p:nvSpPr>
          <p:cNvPr id="1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6EC4F11-3C32-4F7C-B267-A36D2B0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4964162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управљања рањивошћу</a:t>
            </a:r>
          </a:p>
        </p:txBody>
      </p:sp>
      <p:sp>
        <p:nvSpPr>
          <p:cNvPr id="1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CCCB8EE-D92F-4E25-B306-55562F2B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73860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Налаз постаје користан тек када се повеже са стварном </a:t>
            </a:r>
          </a:p>
        </p:txBody>
      </p:sp>
      <p:sp>
        <p:nvSpPr>
          <p:cNvPr id="1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3A01699-F21C-4D9B-BC93-1C8CDA75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6538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имовином и њеном изложеношћу. Исти технички </a:t>
            </a:r>
          </a:p>
        </p:txBody>
      </p:sp>
      <p:sp>
        <p:nvSpPr>
          <p:cNvPr id="1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70B8562-FE5B-44E4-A550-29AAD11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74403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проблем нема исти приоритет на изолованом развојном </a:t>
            </a:r>
          </a:p>
        </p:txBody>
      </p:sp>
      <p:sp>
        <p:nvSpPr>
          <p:cNvPr id="1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D670049-5B2E-4030-A4EC-08F31610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67234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рачунару и на јавно доступној услузи која обрађује </a:t>
            </a:r>
          </a:p>
        </p:txBody>
      </p:sp>
      <p:sp>
        <p:nvSpPr>
          <p:cNvPr id="1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4278913-3712-46AC-8910-C4E2BA6A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27022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осетљиве податке.</a:t>
            </a:r>
          </a:p>
        </p:txBody>
      </p:sp>
      <p:sp>
        <p:nvSpPr>
          <p:cNvPr id="1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2DF643E-274A-4B9F-9CA1-420F125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A12CC6A-061A-470C-B7C4-1DB8431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75016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Потврдити да се налаз односи на стварну компоненту и </a:t>
            </a:r>
          </a:p>
        </p:txBody>
      </p:sp>
      <p:sp>
        <p:nvSpPr>
          <p:cNvPr id="1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ED972E0-8813-4D41-BAD1-46CA9D5E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352"/>
            <a:ext cx="247635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активну верзију.</a:t>
            </a:r>
          </a:p>
        </p:txBody>
      </p:sp>
      <p:sp>
        <p:nvSpPr>
          <p:cNvPr id="2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0D63870-F6F0-4806-BAB8-CFFF082D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298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A6F97B9-9B7C-4B7A-A880-6F1148D4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0138"/>
            <a:ext cx="73905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Проценити утицај у контексту доступности, података и </a:t>
            </a:r>
          </a:p>
        </p:txBody>
      </p:sp>
      <p:sp>
        <p:nvSpPr>
          <p:cNvPr id="2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CF39FC1-9860-46E2-8D6D-62459551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3399"/>
            <a:ext cx="28161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поверења.</a:t>
            </a:r>
          </a:p>
        </p:txBody>
      </p:sp>
      <p:sp>
        <p:nvSpPr>
          <p:cNvPr id="2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D9F289C-A509-4935-A1FD-D4D3675E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003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8B1EDFF-31E3-44D3-8532-80D06435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77185"/>
            <a:ext cx="68907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Одредити корекцију, компензациону контролу или </a:t>
            </a:r>
          </a:p>
        </p:txBody>
      </p:sp>
      <p:sp>
        <p:nvSpPr>
          <p:cNvPr id="2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D4AD34B-619B-422B-8F64-421754FE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50446"/>
            <a:ext cx="47208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образложено прихватање ризика.</a:t>
            </a:r>
          </a:p>
        </p:txBody>
      </p:sp>
      <p:sp>
        <p:nvSpPr>
          <p:cNvPr id="2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52E2F43-DB13-4013-8D96-1950E7C3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57082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3BBDC6A-3E5B-429E-8F6A-7CE09AC7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14232"/>
            <a:ext cx="61303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Затворити налаз тек када постоји доказ да је </a:t>
            </a:r>
          </a:p>
        </p:txBody>
      </p:sp>
      <p:sp>
        <p:nvSpPr>
          <p:cNvPr id="2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6C30004-ACF9-4F40-9B32-7F34A422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087493"/>
            <a:ext cx="46080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изложеност проверено смањена.</a:t>
            </a:r>
          </a:p>
        </p:txBody>
      </p:sp>
      <p:sp>
        <p:nvSpPr>
          <p:cNvPr id="2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B08D4D9-58AD-4CD8-B820-32EFEBB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E551BFD-C989-4A70-9924-5A4A55C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484695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7A121-5799-45FA-B1C1-D13C6C37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46D70-AA22-4204-A2B2-729E8A84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4644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669DE33-CAF2-402F-93C5-F24C090B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4644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0A72C-B650-4B30-9C94-D94A5876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72456-A2B8-41A8-9825-AEB592CCF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02c544a64487f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557498E8-F87A-4A24-A7F4-80486DAF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ranjivost-kontekst">
            <a:extLst xmlns:a="http://schemas.openxmlformats.org/drawingml/2006/main">
              <a:ext uri="{FF2B5EF4-FFF2-40B4-BE49-F238E27FC236}">
                <a16:creationId xmlns:a16="http://schemas.microsoft.com/office/drawing/2014/main" id="{196962F0-0CD6-4FA5-97C9-E33892E4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3189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Приоритет рањивости</a:t>
            </a:r>
          </a:p>
        </p:txBody>
      </p:sp>
      <p:sp>
        <p:nvSpPr>
          <p:cNvPr id="8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7772AA20-DD27-43BF-9ABF-7A54A1C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1624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Техничка озбиљност се тумачи за стварну имовину и њено окружење.</a:t>
            </a:r>
          </a:p>
        </p:txBody>
      </p:sp>
      <p:sp>
        <p:nvSpPr>
          <p:cNvPr id="9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0D9F5334-C8A9-42BC-B524-0F1D215D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845" y="4410075"/>
            <a:ext cx="25896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Технички налаз</a:t>
            </a:r>
          </a:p>
        </p:txBody>
      </p:sp>
      <p:sp>
        <p:nvSpPr>
          <p:cNvPr id="10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047C337C-20C2-404C-AC33-59A06544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87" y="4836765"/>
            <a:ext cx="348912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рањива компонента и </a:t>
            </a:r>
          </a:p>
        </p:txBody>
      </p:sp>
      <p:sp>
        <p:nvSpPr>
          <p:cNvPr id="11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B56CC4A5-A24D-47A4-8A5D-2B36956F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870" y="5263455"/>
            <a:ext cx="142741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верзија</a:t>
            </a:r>
          </a:p>
        </p:txBody>
      </p:sp>
      <p:sp>
        <p:nvSpPr>
          <p:cNvPr id="12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FEACE896-12E8-4EEE-B3A2-5108124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055" y="4410075"/>
            <a:ext cx="362054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Контекст изложености</a:t>
            </a:r>
          </a:p>
        </p:txBody>
      </p:sp>
      <p:sp>
        <p:nvSpPr>
          <p:cNvPr id="13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E55C7484-5D89-4791-BBBA-6AA28B3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102" y="4836765"/>
            <a:ext cx="363244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јавна услуга, осетљиви </a:t>
            </a:r>
          </a:p>
        </p:txBody>
      </p:sp>
      <p:sp>
        <p:nvSpPr>
          <p:cNvPr id="14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B618D6CD-9A7A-4FDC-A905-104BA5FC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140" y="5263455"/>
            <a:ext cx="13945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подаци</a:t>
            </a:r>
          </a:p>
        </p:txBody>
      </p:sp>
      <p:sp>
        <p:nvSpPr>
          <p:cNvPr id="15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E3891FD0-8F5D-4626-A8AE-0A649CB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021" y="4410075"/>
            <a:ext cx="292611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Приоритет и мера</a:t>
            </a:r>
          </a:p>
        </p:txBody>
      </p:sp>
      <p:sp>
        <p:nvSpPr>
          <p:cNvPr id="16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DFA0EA28-9035-467A-9692-FC5109F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7059" y="4836765"/>
            <a:ext cx="35580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власник, рок, поновна </a:t>
            </a:r>
          </a:p>
        </p:txBody>
      </p:sp>
      <p:sp>
        <p:nvSpPr>
          <p:cNvPr id="17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4080FE36-06A2-49D2-A3A3-8A1BB27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5071" y="5263455"/>
            <a:ext cx="154200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</a:t>
            </a:r>
          </a:p>
        </p:txBody>
      </p:sp>
      <p:sp>
        <p:nvSpPr>
          <p:cNvPr id="18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AD6D242D-453A-4CCA-AD60-9B76D0F3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9884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9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997111B7-E3B4-42DC-B9AD-5AE6F9E9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95022"/>
            <a:ext cx="1411456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налаз не захтева исту реакцију у сваком систему. Затварање чува доказ смањене изложености и познат преостали ризик.</a:t>
            </a:r>
          </a:p>
        </p:txBody>
      </p:sp>
      <p:sp>
        <p:nvSpPr>
          <p:cNvPr id="20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246A5D5A-61DF-4C3D-BB00-33585109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1" name="text-ranjivost-kontekst">
            <a:extLst xmlns:a="http://schemas.openxmlformats.org/drawingml/2006/main">
              <a:ext uri="{FF2B5EF4-FFF2-40B4-BE49-F238E27FC236}">
                <a16:creationId xmlns:a16="http://schemas.microsoft.com/office/drawing/2014/main" id="{3B9588C3-2514-4D20-9D09-D91CAC50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622279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8C3FA8-F4E7-4366-AC73-B50DE6DC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F5468-904C-46F6-B1D5-CC11EFAE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0287000" cy="3356074"/>
          </a:xfrm>
          <a:prstGeom xmlns:a="http://schemas.openxmlformats.org/drawingml/2006/main" prst="roundRect">
            <a:avLst>
              <a:gd name="adj" fmla="val 45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5674A-AED5-478E-8F4E-B95900AB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34530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3A8F2-9F03-437C-BDA3-73A3E4CD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076402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70DDC-E57F-42C2-91CA-2AB4BF4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D24B19E3-DFB4-456B-985F-40F709F8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ДОКАЗ И РЕВИЗИЈА</a:t>
            </a:r>
          </a:p>
        </p:txBody>
      </p:sp>
      <p:sp>
        <p:nvSpPr>
          <p:cNvPr id="7" name="heading-source-16">
            <a:extLst xmlns:a="http://schemas.openxmlformats.org/drawingml/2006/main">
              <a:ext uri="{FF2B5EF4-FFF2-40B4-BE49-F238E27FC236}">
                <a16:creationId xmlns:a16="http://schemas.microsoft.com/office/drawing/2014/main" id="{B36D5979-7264-4D22-A549-ACB6F2B3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13941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824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Запис о сигналу и инциденту</a:t>
            </a:r>
          </a:p>
        </p:txBody>
      </p:sp>
      <p:sp>
        <p:nvSpPr>
          <p:cNvPr id="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B249737D-4BC9-410C-95FA-ED43B50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909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JSON · илустративни пример</a:t>
            </a:r>
          </a:p>
        </p:txBody>
      </p:sp>
      <p:sp>
        <p:nvSpPr>
          <p:cNvPr id="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3EEA5462-4841-4B55-ABCC-A16E2473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910DC83-D9A6-4BAF-9574-3194756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9F8AFFD-6E9A-4BDF-964F-13CAE53C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C2AB055-19A1-4789-8557-DEC56C7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50067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"signal"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"login_failure_spike"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10B02BA1-F72E-4DA0-AD0C-98775C6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88FCE884-7977-455E-955D-B3A6CC0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39095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"asset"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"admin-portal"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99C04F2-A8F7-415A-BD6E-A355FA42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500FFEE-1C15-4C9A-867F-6316CB2A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32236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"severity"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"high"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A5FA946-6F44-4A81-88EE-95F73959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140A241C-55E9-4EA9-AB45-4C47DF43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44581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"owner"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"security-on-call"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2CB23C9-7E01-4FBE-9D0D-2530E22F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43BFCA9-6B92-44A3-BC9B-BD440116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41837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"status"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"investigating"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7F20F9DE-A773-4B95-9E68-5C1720C9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2064650-902F-4D53-92B3-4D9787F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48695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"correlationId"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"inc-2026-041"</a:t>
            </a:r>
          </a:p>
        </p:txBody>
      </p:sp>
      <p:sp>
        <p:nvSpPr>
          <p:cNvPr id="2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C3A97F9-FE06-4B46-8658-06BDCC0F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9E92DC9-E3F8-4BBF-8159-19C1D82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DE0A518F-E478-437D-BF35-73923E86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2434530"/>
            <a:ext cx="3360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Повезан ревизиони траг</a:t>
            </a:r>
          </a:p>
        </p:txBody>
      </p:sp>
      <p:sp>
        <p:nvSpPr>
          <p:cNvPr id="2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4CF3FE1-106B-46DE-8B98-348DBDBF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2849761"/>
            <a:ext cx="40826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Актер, радња, циљ, исход и разлог</a:t>
            </a:r>
          </a:p>
        </p:txBody>
      </p:sp>
      <p:sp>
        <p:nvSpPr>
          <p:cNvPr id="2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A491471-672B-45E2-8AB4-7F20F006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169741"/>
            <a:ext cx="49451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Временска ознака и correlation ID повезују </a:t>
            </a:r>
          </a:p>
        </p:txBody>
      </p:sp>
      <p:sp>
        <p:nvSpPr>
          <p:cNvPr id="2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818F6D6-12F5-4602-B821-FF002EE1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489722"/>
            <a:ext cx="27281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са остатком тока.</a:t>
            </a:r>
          </a:p>
        </p:txBody>
      </p:sp>
      <p:sp>
        <p:nvSpPr>
          <p:cNvPr id="2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453C48B4-9623-4C67-82B2-0FFFF89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076402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НЕ ПРИПАДА У ДОКАЗ</a:t>
            </a:r>
          </a:p>
        </p:txBody>
      </p:sp>
      <p:sp>
        <p:nvSpPr>
          <p:cNvPr id="3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18B4445-6D24-40E5-A428-447FD8CB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491633"/>
            <a:ext cx="46937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Лозинка, token, тајна и сувишан садржај</a:t>
            </a:r>
          </a:p>
        </p:txBody>
      </p:sp>
      <p:sp>
        <p:nvSpPr>
          <p:cNvPr id="3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6A3BDFD-3DB0-4E31-B037-BABF60F7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811613"/>
            <a:ext cx="495701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не сме да постане нови извор цурења </a:t>
            </a:r>
          </a:p>
        </p:txBody>
      </p:sp>
      <p:sp>
        <p:nvSpPr>
          <p:cNvPr id="3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291E0B5-448E-4463-B619-8D496EE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5131594"/>
            <a:ext cx="410304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или збирка непотребних података.</a:t>
            </a:r>
          </a:p>
        </p:txBody>
      </p:sp>
      <p:sp>
        <p:nvSpPr>
          <p:cNvPr id="3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B35E9B57-046E-4DCB-87F0-34DA66D4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8A7F5ED-FB6C-4AF0-81BC-1AC2F2C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018996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FE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EAE54-93FE-4323-AAC4-19A0E6B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52920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93720-B7BF-43E3-ABE7-71A72535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309" y="6158657"/>
            <a:ext cx="2065734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11C09-5679-48B7-83CB-9897E2EA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343" y="6158657"/>
            <a:ext cx="86528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92A29-D005-49EF-BC99-517F83B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930" y="6158657"/>
            <a:ext cx="136668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6B7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1650C-9702-4F09-9907-B861BD2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B7C7"/>
          </a:solidFill>
          <a:ln xmlns:a="http://schemas.openxmlformats.org/drawingml/2006/main" w="0">
            <a:noFill/>
          </a:ln>
        </p:spPr>
      </p:sp>
      <p:sp>
        <p:nvSpPr>
          <p:cNvPr id="6" name="text-deo4">
            <a:extLst xmlns:a="http://schemas.openxmlformats.org/drawingml/2006/main">
              <a:ext uri="{FF2B5EF4-FFF2-40B4-BE49-F238E27FC236}">
                <a16:creationId xmlns:a16="http://schemas.microsoft.com/office/drawing/2014/main" id="{6FBFEEC8-D7F2-4E7E-9BEF-29233EE8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7" name="text-deo4">
            <a:extLst xmlns:a="http://schemas.openxmlformats.org/drawingml/2006/main">
              <a:ext uri="{FF2B5EF4-FFF2-40B4-BE49-F238E27FC236}">
                <a16:creationId xmlns:a16="http://schemas.microsoft.com/office/drawing/2014/main" id="{7CCEA81D-4024-4263-8203-E93DE85E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8" name="heading-deo4">
            <a:extLst xmlns:a="http://schemas.openxmlformats.org/drawingml/2006/main">
              <a:ext uri="{FF2B5EF4-FFF2-40B4-BE49-F238E27FC236}">
                <a16:creationId xmlns:a16="http://schemas.microsoft.com/office/drawing/2014/main" id="{D86C4EBB-86CB-446F-B615-F7C7293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7583686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86"/>
          </a:bodyPr>
          <a:lstStyle xmlns:a="http://schemas.openxmlformats.org/drawingml/2006/main">
            <a:defPPr algn="l">
              <a:defRPr sz="72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 и провера</a:t>
            </a:r>
          </a:p>
        </p:txBody>
      </p:sp>
      <p:sp>
        <p:nvSpPr>
          <p:cNvPr id="9" name="text-deo4">
            <a:extLst xmlns:a="http://schemas.openxmlformats.org/drawingml/2006/main">
              <a:ext uri="{FF2B5EF4-FFF2-40B4-BE49-F238E27FC236}">
                <a16:creationId xmlns:a16="http://schemas.microsoft.com/office/drawing/2014/main" id="{D9FA3B2F-4168-454D-AA95-28D1F81E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9991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Постинцидентни преглед претвара искуство у акцију, тест и следећу </a:t>
            </a:r>
          </a:p>
        </p:txBody>
      </p:sp>
      <p:sp>
        <p:nvSpPr>
          <p:cNvPr id="10" name="text-deo4">
            <a:extLst xmlns:a="http://schemas.openxmlformats.org/drawingml/2006/main">
              <a:ext uri="{FF2B5EF4-FFF2-40B4-BE49-F238E27FC236}">
                <a16:creationId xmlns:a16="http://schemas.microsoft.com/office/drawing/2014/main" id="{0360C9EC-2242-4188-8599-FBF09D5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45405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проверу.</a:t>
            </a:r>
          </a:p>
        </p:txBody>
      </p:sp>
      <p:sp>
        <p:nvSpPr>
          <p:cNvPr id="11" name="text-deo4">
            <a:extLst xmlns:a="http://schemas.openxmlformats.org/drawingml/2006/main">
              <a:ext uri="{FF2B5EF4-FFF2-40B4-BE49-F238E27FC236}">
                <a16:creationId xmlns:a16="http://schemas.microsoft.com/office/drawing/2014/main" id="{7C35CC46-0CD1-4477-8120-9B75C7D8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4720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Чињенице</a:t>
            </a:r>
          </a:p>
        </p:txBody>
      </p:sp>
      <p:sp>
        <p:nvSpPr>
          <p:cNvPr id="12" name="text-deo4">
            <a:extLst xmlns:a="http://schemas.openxmlformats.org/drawingml/2006/main">
              <a:ext uri="{FF2B5EF4-FFF2-40B4-BE49-F238E27FC236}">
                <a16:creationId xmlns:a16="http://schemas.microsoft.com/office/drawing/2014/main" id="{24166178-9A85-4416-99C3-A4CE7C6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334" y="6244382"/>
            <a:ext cx="200858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 акције</a:t>
            </a:r>
          </a:p>
        </p:txBody>
      </p:sp>
      <p:sp>
        <p:nvSpPr>
          <p:cNvPr id="13" name="text-deo4">
            <a:extLst xmlns:a="http://schemas.openxmlformats.org/drawingml/2006/main">
              <a:ext uri="{FF2B5EF4-FFF2-40B4-BE49-F238E27FC236}">
                <a16:creationId xmlns:a16="http://schemas.microsoft.com/office/drawing/2014/main" id="{BCA1026C-6017-4A47-97A5-80AE9E11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368" y="6244382"/>
            <a:ext cx="8081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</a:t>
            </a:r>
          </a:p>
        </p:txBody>
      </p:sp>
      <p:sp>
        <p:nvSpPr>
          <p:cNvPr id="14" name="text-deo4">
            <a:extLst xmlns:a="http://schemas.openxmlformats.org/drawingml/2006/main">
              <a:ext uri="{FF2B5EF4-FFF2-40B4-BE49-F238E27FC236}">
                <a16:creationId xmlns:a16="http://schemas.microsoft.com/office/drawing/2014/main" id="{5AAB1E69-40B3-417A-8A12-DA79634C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955" y="6244382"/>
            <a:ext cx="1309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</a:t>
            </a:r>
          </a:p>
        </p:txBody>
      </p:sp>
      <p:sp>
        <p:nvSpPr>
          <p:cNvPr id="15" name="text-deo4">
            <a:extLst xmlns:a="http://schemas.openxmlformats.org/drawingml/2006/main">
              <a:ext uri="{FF2B5EF4-FFF2-40B4-BE49-F238E27FC236}">
                <a16:creationId xmlns:a16="http://schemas.microsoft.com/office/drawing/2014/main" id="{54136F73-4216-40E2-A81E-CAC310C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4">
            <a:extLst xmlns:a="http://schemas.openxmlformats.org/drawingml/2006/main">
              <a:ext uri="{FF2B5EF4-FFF2-40B4-BE49-F238E27FC236}">
                <a16:creationId xmlns:a16="http://schemas.microsoft.com/office/drawing/2014/main" id="{0493DE6B-4109-4D21-967D-CBCE8E2B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052877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C5CCA-FAD5-409F-AB02-E695F59E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4C8D2-B20E-47FF-88C7-DEDD894D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25BA9-EC04-40FF-A0B1-0DFC15A1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D66E8-A1B3-4198-98A4-A6B9450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0A586-CF53-4EE2-9DC3-82551909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0FA73DC-9B58-4976-8FA7-BFCEF92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F02F3-972E-4D09-A95E-3BF47DCD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AC637434-EA6B-4E6E-B413-9E029655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УЧЕЊЕ</a:t>
            </a:r>
          </a:p>
        </p:txBody>
      </p:sp>
      <p:sp>
        <p:nvSpPr>
          <p:cNvPr id="9" name="heading-source-07">
            <a:extLst xmlns:a="http://schemas.openxmlformats.org/drawingml/2006/main">
              <a:ext uri="{FF2B5EF4-FFF2-40B4-BE49-F238E27FC236}">
                <a16:creationId xmlns:a16="http://schemas.microsoft.com/office/drawing/2014/main" id="{F0498FC6-18F9-40F8-86D6-EF184D82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0743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</a:t>
            </a:r>
          </a:p>
        </p:txBody>
      </p:sp>
      <p:sp>
        <p:nvSpPr>
          <p:cNvPr id="1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275DBE92-B5F7-472B-87D8-D1FCE617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3230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корекција и превенција</a:t>
            </a:r>
          </a:p>
        </p:txBody>
      </p:sp>
      <p:sp>
        <p:nvSpPr>
          <p:cNvPr id="1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F7D3EB37-E19C-4D7A-91CB-4F4DF205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05CC2D39-3C4B-4619-BDB1-6B3429E5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13738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Постинцидентна анализа одваја чињенице од претпоставки насталих под притиском.</a:t>
            </a:r>
          </a:p>
        </p:txBody>
      </p:sp>
      <p:sp>
        <p:nvSpPr>
          <p:cNvPr id="1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8FE9E259-324B-4D95-AB69-A37C915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4CDDCD0-F349-4917-B109-5EFB26E3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21A232D-0364-454D-A51D-712E7DB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78468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Корективна акција има власника и проверљив завршетак.</a:t>
            </a:r>
          </a:p>
        </p:txBody>
      </p:sp>
      <p:sp>
        <p:nvSpPr>
          <p:cNvPr id="16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2D71D98D-B3AB-4FE9-847E-3710309F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2A230214-36BA-4EF2-8CB2-8ECB02A9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F559661-8455-4EF3-B8B4-1B85111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83327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Сценарио инцидента постаје тест, да се исто знање не изгуби.</a:t>
            </a:r>
          </a:p>
        </p:txBody>
      </p:sp>
      <p:sp>
        <p:nvSpPr>
          <p:cNvPr id="19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A8147B5C-A51B-444B-B358-47C20C07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E23AD65-388C-4390-A42A-909880E4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764CF032-7903-4EF5-A5EB-E0B6FBE8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93298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тест бисте додали после инцидента да се исти пропуст не понови?</a:t>
            </a:r>
          </a:p>
        </p:txBody>
      </p:sp>
      <p:sp>
        <p:nvSpPr>
          <p:cNvPr id="2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CC97D8CA-67F7-4A22-A884-CDEAD24F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F67FC7A4-E918-4FDF-85B5-017C68A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265567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07EE0-14A1-4ABB-A957-D54306DF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6075C-98EB-4497-9B41-EEB47BD8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24F9A-C82D-4F4D-8227-2B7F338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9638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7D417-A50B-4197-8CD3-3A4076DE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8668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31170-0005-4587-AD5B-99DB554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C2395686-801D-4ADC-819B-5EC3CF8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УЧЕЊЕ</a:t>
            </a:r>
          </a:p>
        </p:txBody>
      </p:sp>
      <p:sp>
        <p:nvSpPr>
          <p:cNvPr id="7" name="heading-source-18">
            <a:extLst xmlns:a="http://schemas.openxmlformats.org/drawingml/2006/main">
              <a:ext uri="{FF2B5EF4-FFF2-40B4-BE49-F238E27FC236}">
                <a16:creationId xmlns:a16="http://schemas.microsoft.com/office/drawing/2014/main" id="{FA99733B-13AA-48ED-83C8-5F02DCF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22233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Постинцидентна анализа</a:t>
            </a:r>
          </a:p>
        </p:txBody>
      </p:sp>
      <p:sp>
        <p:nvSpPr>
          <p:cNvPr id="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0B84BF7-7273-4C76-97E4-76EA467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007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повезује узрок, реакцију, пропуст контроле и конкретну корективну меру.</a:t>
            </a:r>
          </a:p>
        </p:txBody>
      </p:sp>
      <p:sp>
        <p:nvSpPr>
          <p:cNvPr id="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D751DEE-6EF9-4478-9E27-6673D11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ОБРАЗЛОЖЕЊЕ</a:t>
            </a:r>
          </a:p>
        </p:txBody>
      </p:sp>
      <p:sp>
        <p:nvSpPr>
          <p:cNvPr id="1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2892EB4A-DE91-4D72-9F7E-0B8AD8AB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399797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 након догађаја</a:t>
            </a:r>
          </a:p>
        </p:txBody>
      </p:sp>
      <p:sp>
        <p:nvSpPr>
          <p:cNvPr id="1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C41F0F33-B086-45B5-AE31-FE32686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71133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Добар пост-инцидент преглед није потрага за особом </a:t>
            </a:r>
          </a:p>
        </p:txBody>
      </p:sp>
      <p:sp>
        <p:nvSpPr>
          <p:cNvPr id="1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0E141F1-EB17-42F8-9BCD-4E9F833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6689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која је погрешила. Његов циљ је да пронађе где су </a:t>
            </a:r>
          </a:p>
        </p:txBody>
      </p:sp>
      <p:sp>
        <p:nvSpPr>
          <p:cNvPr id="1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762EC9BF-DD3C-4576-9EF8-5C2F2FD2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60175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недостајали сигнал, заштитна провера, јасна </a:t>
            </a:r>
          </a:p>
        </p:txBody>
      </p:sp>
      <p:sp>
        <p:nvSpPr>
          <p:cNvPr id="1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8ADFE54-FFAD-4669-9ADD-DB22A1A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73726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 или припрема за опоравак. Резултат треба </a:t>
            </a:r>
          </a:p>
        </p:txBody>
      </p:sp>
      <p:sp>
        <p:nvSpPr>
          <p:cNvPr id="1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B4B339BC-4B04-4812-A331-F7B1FFA5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6674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да мења систем или процес на начин који се може </a:t>
            </a:r>
          </a:p>
        </p:txBody>
      </p:sp>
      <p:sp>
        <p:nvSpPr>
          <p:cNvPr id="1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1DCA789-17FA-4889-9712-342F140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62663"/>
            <a:ext cx="17618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проверити.</a:t>
            </a:r>
          </a:p>
        </p:txBody>
      </p:sp>
      <p:sp>
        <p:nvSpPr>
          <p:cNvPr id="1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C41AC550-C50E-441F-B650-D122734D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69E2141-FAE5-44B0-A9F0-3BC264BC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64000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Хронологија одваја чињенице од претпоставки </a:t>
            </a:r>
          </a:p>
        </p:txBody>
      </p:sp>
      <p:sp>
        <p:nvSpPr>
          <p:cNvPr id="1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28DD75B3-7BDF-4684-927C-D587704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352"/>
            <a:ext cx="35727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насталих под притиском.</a:t>
            </a:r>
          </a:p>
        </p:txBody>
      </p:sp>
      <p:sp>
        <p:nvSpPr>
          <p:cNvPr id="2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904AFA2-3CFB-4208-8365-3505D869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298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3119C911-BA8C-429C-BF3F-06D62419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0138"/>
            <a:ext cx="72558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Акције након инцидента имају власника и проверљив </a:t>
            </a:r>
          </a:p>
        </p:txBody>
      </p:sp>
      <p:sp>
        <p:nvSpPr>
          <p:cNvPr id="2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0FDB46F-F30F-489C-A4BD-93E7EB3B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3399"/>
            <a:ext cx="17982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завршетак.</a:t>
            </a:r>
          </a:p>
        </p:txBody>
      </p:sp>
      <p:sp>
        <p:nvSpPr>
          <p:cNvPr id="2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3D359CB5-A9A2-497C-A80E-6359A4A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003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159438B-E561-47F7-AAF8-8AAB0962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77185"/>
            <a:ext cx="68789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Нови сценарио се додаје у тестове или оперативне </a:t>
            </a:r>
          </a:p>
        </p:txBody>
      </p:sp>
      <p:sp>
        <p:nvSpPr>
          <p:cNvPr id="2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CB2B52F-42F7-4C84-88BD-0BE3E17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50446"/>
            <a:ext cx="58001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вежбе, како се исто знање не би изгубило.</a:t>
            </a:r>
          </a:p>
        </p:txBody>
      </p:sp>
      <p:sp>
        <p:nvSpPr>
          <p:cNvPr id="2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5CCA981-E56B-4931-8717-D74754CA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750F21C-E5A3-49F5-8327-A0066FC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011040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18CED-9856-4187-BE85-DD53586F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F1C3C-32C8-4D69-B758-13D087A0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2E92D-93D6-4FD8-A8A4-6A7E0ACA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4037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054CB-DC01-4727-B496-DDD6D78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15483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C6D9C-063B-40F5-B812-E87F215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82E0B75F-3923-498E-85FD-404293C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РАЗВОЈ</a:t>
            </a:r>
          </a:p>
        </p:txBody>
      </p:sp>
      <p:sp>
        <p:nvSpPr>
          <p:cNvPr id="7" name="heading-source-12">
            <a:extLst xmlns:a="http://schemas.openxmlformats.org/drawingml/2006/main">
              <a:ext uri="{FF2B5EF4-FFF2-40B4-BE49-F238E27FC236}">
                <a16:creationId xmlns:a16="http://schemas.microsoft.com/office/drawing/2014/main" id="{E8CEAB3F-2433-40BF-B12B-2CA1CE6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30051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у развоју</a:t>
            </a:r>
          </a:p>
        </p:txBody>
      </p:sp>
      <p:sp>
        <p:nvSpPr>
          <p:cNvPr id="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DD521EC-EE78-4012-AD8F-8C58383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5795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85F890CE-A100-418B-97FE-7D64593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РАЗВОЈНИ КОНТЕКСТ</a:t>
            </a:r>
          </a:p>
        </p:txBody>
      </p:sp>
      <p:sp>
        <p:nvSpPr>
          <p:cNvPr id="1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4E677A9-BA45-48B4-A9F0-391D846F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467618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принципа у коду</a:t>
            </a:r>
          </a:p>
        </p:txBody>
      </p:sp>
      <p:sp>
        <p:nvSpPr>
          <p:cNvPr id="1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6793663-F1A0-42F6-B1ED-0C83B96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62384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бира мали број сигнала који су разумљиви </a:t>
            </a:r>
          </a:p>
        </p:txBody>
      </p:sp>
      <p:sp>
        <p:nvSpPr>
          <p:cNvPr id="1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75EC94A-9169-41BD-931B-9CE08393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754707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оператеру. За сваки описује нормално понашање, разлог </a:t>
            </a:r>
          </a:p>
        </p:txBody>
      </p:sp>
      <p:sp>
        <p:nvSpPr>
          <p:cNvPr id="1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3C1DFF1-CD74-496C-9A0C-DB067D1F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75796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активирања, одговорну особу и безбедан начин провере. </a:t>
            </a:r>
          </a:p>
        </p:txBody>
      </p:sp>
      <p:sp>
        <p:nvSpPr>
          <p:cNvPr id="1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6FDCBF69-FDFA-4CE5-AA20-8B1DAEB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76016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Тако се детекција дизајнира као производна могућност, а </a:t>
            </a:r>
          </a:p>
        </p:txBody>
      </p:sp>
      <p:sp>
        <p:nvSpPr>
          <p:cNvPr id="1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3D09F1C-9F1D-4EFA-8E68-B98FD68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29697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као споредни лог.</a:t>
            </a:r>
          </a:p>
        </p:txBody>
      </p:sp>
      <p:sp>
        <p:nvSpPr>
          <p:cNvPr id="1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E811FC3-8BFE-4DA1-B52A-D1A12D63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003081E-0322-4F0D-82EC-C878012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50902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Дефинисана одлука и њена граница.</a:t>
            </a:r>
          </a:p>
        </p:txBody>
      </p:sp>
      <p:sp>
        <p:nvSpPr>
          <p:cNvPr id="1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89BAFA36-EB0E-4363-ABC0-333360EA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738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06B3975-D35F-480C-9A09-290365CE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4537"/>
            <a:ext cx="50926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имплементација провере.</a:t>
            </a:r>
          </a:p>
        </p:txBody>
      </p:sp>
      <p:sp>
        <p:nvSpPr>
          <p:cNvPr id="2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3864B65-3748-4982-B9B0-B630FA8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4883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9E7FEFD-41B1-42D7-ABFF-EE6832FB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05983"/>
            <a:ext cx="41981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Позитиван и негативан доказ.</a:t>
            </a:r>
          </a:p>
        </p:txBody>
      </p:sp>
      <p:sp>
        <p:nvSpPr>
          <p:cNvPr id="2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F288E1D-7662-4AB2-921F-2AAB48F7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F2B0225-7378-47B4-909B-34AE973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9119078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2405D-2661-42AA-BC09-53B5078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46CD-0FE0-431E-AE0C-D36AF79B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49D8D-FB60-4B8F-AFB7-D0011BD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C27CF-2FEB-4445-BD38-09D31C6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2F146-D104-4181-822D-B3D4AB0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9011A9F7-9F92-431F-897F-2E5BFCB7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ПРОПУСТИ</a:t>
            </a:r>
          </a:p>
        </p:txBody>
      </p:sp>
      <p:sp>
        <p:nvSpPr>
          <p:cNvPr id="7" name="heading-source-17">
            <a:extLst xmlns:a="http://schemas.openxmlformats.org/drawingml/2006/main">
              <a:ext uri="{FF2B5EF4-FFF2-40B4-BE49-F238E27FC236}">
                <a16:creationId xmlns:a16="http://schemas.microsoft.com/office/drawing/2014/main" id="{89865A36-F40C-4023-A042-62350B8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01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34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Честе грешке у имплементацији</a:t>
            </a:r>
          </a:p>
        </p:txBody>
      </p:sp>
      <p:sp>
        <p:nvSpPr>
          <p:cNvPr id="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3BC6D117-F471-46F9-A376-0344BB63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2021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CCC7C5F-291F-4FD0-9F99-4F4FA36F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B389CCB-4B8A-4EFF-8963-8686EB1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60732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Упозорење без власника и правила за triage.</a:t>
            </a:r>
          </a:p>
        </p:txBody>
      </p:sp>
      <p:sp>
        <p:nvSpPr>
          <p:cNvPr id="1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EBD6C8C7-1D51-423B-885A-EEB184F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355461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Нема јасног власника одлуке.</a:t>
            </a:r>
          </a:p>
        </p:txBody>
      </p:sp>
      <p:sp>
        <p:nvSpPr>
          <p:cNvPr id="1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8FA10AA-934E-4051-BA8E-28253197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956113C9-5ECA-4B9B-A470-F0A59A2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73352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Аутоматско затварање без доказа о решавању узрока.</a:t>
            </a:r>
          </a:p>
        </p:txBody>
      </p:sp>
      <p:sp>
        <p:nvSpPr>
          <p:cNvPr id="1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2A38A89-E6B7-4380-A9EA-4B61C73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378157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Не постоји негативан сценарио.</a:t>
            </a:r>
          </a:p>
        </p:txBody>
      </p:sp>
      <p:sp>
        <p:nvSpPr>
          <p:cNvPr id="1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28519D3C-D81D-44A2-9CED-442E22D5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B25687D-3A5A-470F-8BB6-5E10A0B6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91288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Скенирање зависности без одлуке како се налаз процењује и прати.</a:t>
            </a:r>
          </a:p>
        </p:txBody>
      </p:sp>
      <p:sp>
        <p:nvSpPr>
          <p:cNvPr id="1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5D3E690-BD2F-4060-9993-17A5F7F9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39461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Доказ не показује стварни исход.</a:t>
            </a:r>
          </a:p>
        </p:txBody>
      </p:sp>
      <p:sp>
        <p:nvSpPr>
          <p:cNvPr id="1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B92D8CD-7F4D-48F1-8F9F-8998A43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447CA59A-3E38-41FE-818D-4056720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81942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839E7-C191-43FB-91ED-798A3E18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29531-2E4B-482A-B7AB-28068E1A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15194-05E8-4AB5-B1E7-F99105BB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287AA-1F17-4816-BEED-4B4A9C2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80450-A4D5-4CAF-B9BC-BAD5336F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3055F-7948-40C7-A66E-56C6D6B8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62F3B3D-D0E7-4BAE-8E70-3EB01CDB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AB4B2-011C-48FB-AA62-E4598AEA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EF9EB-F4B9-4290-9C98-9D0876A0A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35cb957c447a1"/>
          <a:stretch xmlns:a="http://schemas.openxmlformats.org/drawingml/2006/main"/>
        </p:blipFill>
        <p:spPr>
          <a:xfrm xmlns:a="http://schemas.openxmlformats.org/drawingml/2006/main">
            <a:off x="4886325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7BA24-4ADF-4E08-B469-A0676333B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25583daf3420a"/>
          <a:stretch xmlns:a="http://schemas.openxmlformats.org/drawingml/2006/main"/>
        </p:blipFill>
        <p:spPr>
          <a:xfrm xmlns:a="http://schemas.openxmlformats.org/drawingml/2006/main">
            <a:off x="9010650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BD9E3-C744-4F34-A6D8-DDA1880A9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8e7cbf1b64583"/>
          <a:stretch xmlns:a="http://schemas.openxmlformats.org/drawingml/2006/main"/>
        </p:blipFill>
        <p:spPr>
          <a:xfrm xmlns:a="http://schemas.openxmlformats.org/drawingml/2006/main">
            <a:off x="13134975" y="405928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4659037-605C-4757-971C-A3B5F830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ПРОЈЕКТНА ПРИМЕНА</a:t>
            </a:r>
          </a:p>
        </p:txBody>
      </p:sp>
      <p:sp>
        <p:nvSpPr>
          <p:cNvPr id="13" name="heading-source-19">
            <a:extLst xmlns:a="http://schemas.openxmlformats.org/drawingml/2006/main">
              <a:ext uri="{FF2B5EF4-FFF2-40B4-BE49-F238E27FC236}">
                <a16:creationId xmlns:a16="http://schemas.microsoft.com/office/drawing/2014/main" id="{65544124-02E9-40DC-B5D5-0EDB6DD5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718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1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E1BD22A-BC0A-4338-8084-34B8F54A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942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1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91CC2D2-1285-4C34-A1E7-68FE5C6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B0C80FA-A81D-4AEB-BDA0-92A09C8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25029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Избор сценарија</a:t>
            </a:r>
          </a:p>
        </p:txBody>
      </p:sp>
      <p:sp>
        <p:nvSpPr>
          <p:cNvPr id="1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C087B47-9660-42B0-BF95-CAA1039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5964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стварна радња</a:t>
            </a:r>
          </a:p>
        </p:txBody>
      </p:sp>
      <p:sp>
        <p:nvSpPr>
          <p:cNvPr id="1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7D1BBDA-B6A5-48E8-8604-D1A0FF2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498FA0B-91FE-46B7-AEC4-DDC95EC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32088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Дефинисање правила</a:t>
            </a:r>
          </a:p>
        </p:txBody>
      </p:sp>
      <p:sp>
        <p:nvSpPr>
          <p:cNvPr id="2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D26981C-21DE-42AB-B883-FC94277E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0780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улази и граница</a:t>
            </a:r>
          </a:p>
        </p:txBody>
      </p:sp>
      <p:sp>
        <p:nvSpPr>
          <p:cNvPr id="2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CDB6ABA-3EB7-4A20-BC28-4DDC4C3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D62A5E7-E945-4DA6-981A-57347D52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1898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одбијања</a:t>
            </a:r>
          </a:p>
        </p:txBody>
      </p:sp>
      <p:sp>
        <p:nvSpPr>
          <p:cNvPr id="2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9820E57-4498-489E-BCD4-9F9829E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177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чињеница недостаје</a:t>
            </a:r>
          </a:p>
        </p:txBody>
      </p:sp>
      <p:sp>
        <p:nvSpPr>
          <p:cNvPr id="2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4868762D-1B99-4C21-A9AF-FBB52F2D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5C2A33D-61DC-475F-B805-DA07EA7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5509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запис</a:t>
            </a:r>
          </a:p>
        </p:txBody>
      </p:sp>
      <p:sp>
        <p:nvSpPr>
          <p:cNvPr id="2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285E36F-BDF0-4AD4-A15E-5C2DD38A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19347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 и разлог</a:t>
            </a:r>
          </a:p>
        </p:txBody>
      </p:sp>
      <p:sp>
        <p:nvSpPr>
          <p:cNvPr id="2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8903C7E-EE1A-4B5B-8D98-B1429B86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ПРИМЕНА НА ПРОЈЕКАТ</a:t>
            </a:r>
          </a:p>
        </p:txBody>
      </p:sp>
      <p:sp>
        <p:nvSpPr>
          <p:cNvPr id="2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5542630-AB5D-4290-916A-B34AFEB5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51911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примена теме „Детекција, инцидент и рањивости“ обухвата једну серверску одлуку, тест одбијања и доказ </a:t>
            </a:r>
          </a:p>
        </p:txBody>
      </p:sp>
      <p:sp>
        <p:nvSpPr>
          <p:cNvPr id="2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2EF0996-0470-4E0D-ACDF-9AE681C1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0749"/>
            <a:ext cx="51248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други члан тима може да понови.</a:t>
            </a:r>
          </a:p>
        </p:txBody>
      </p:sp>
      <p:sp>
        <p:nvSpPr>
          <p:cNvPr id="3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6CE0EA7-B65D-4BEB-9ABD-F20D1AFF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B6187593-DEFA-49C0-9833-CFCD165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451406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228CD7-C34A-4A6B-866A-29D8E57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19C8-02A0-46E2-AE3B-3D31C74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5852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A395D-EBD2-4FAC-82D5-721CDAA7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85852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69E72-B3B1-4D60-B139-6C63191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85852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ADB06-AC47-4AC2-92C3-B2501BA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485852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22F58-77B5-421D-B3BD-824D86A7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452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DD403F2-EA4A-49E3-84C4-6C16C8E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452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FDA53-47BE-4897-B45A-8E32B7C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6B7A4-492D-48A1-9CF9-BE94CE066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0fc4d81e4f4a"/>
          <a:stretch xmlns:a="http://schemas.openxmlformats.org/drawingml/2006/main"/>
        </p:blipFill>
        <p:spPr>
          <a:xfrm xmlns:a="http://schemas.openxmlformats.org/drawingml/2006/main">
            <a:off x="4886325" y="459253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41064-8ECF-443A-B7EF-CB2BCE8CA2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8d9f325784907"/>
          <a:stretch xmlns:a="http://schemas.openxmlformats.org/drawingml/2006/main"/>
        </p:blipFill>
        <p:spPr>
          <a:xfrm xmlns:a="http://schemas.openxmlformats.org/drawingml/2006/main">
            <a:off x="9010650" y="459253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FFACC-C7A2-4E25-BB9E-18C4B047F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ce845eb104133"/>
          <a:stretch xmlns:a="http://schemas.openxmlformats.org/drawingml/2006/main"/>
        </p:blipFill>
        <p:spPr>
          <a:xfrm xmlns:a="http://schemas.openxmlformats.org/drawingml/2006/main">
            <a:off x="13134975" y="4592538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D5F1C241-3659-4675-839F-8B983AAE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3109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 · МОДЕЛ РЕАКЦИЈЕ</a:t>
            </a:r>
          </a:p>
        </p:txBody>
      </p:sp>
      <p:sp>
        <p:nvSpPr>
          <p:cNvPr id="13" name="heading-source-09">
            <a:extLst xmlns:a="http://schemas.openxmlformats.org/drawingml/2006/main">
              <a:ext uri="{FF2B5EF4-FFF2-40B4-BE49-F238E27FC236}">
                <a16:creationId xmlns:a16="http://schemas.microsoft.com/office/drawing/2014/main" id="{AB5EB1C8-C814-473F-ADAC-31D2AC2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23652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21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Модел одговора на безбедносни догађај</a:t>
            </a:r>
          </a:p>
        </p:txBody>
      </p:sp>
      <p:sp>
        <p:nvSpPr>
          <p:cNvPr id="1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A708991-89B7-4D23-B959-A20A293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60091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Значајни сигнали пролазе процену контекста и утицаја пре отварања инцидента. Исход анализе остаје доступан за наредне </a:t>
            </a:r>
          </a:p>
        </p:txBody>
      </p:sp>
      <p:sp>
        <p:nvSpPr>
          <p:cNvPr id="1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CA62D4E-58F7-4EB0-9101-320805D7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7316"/>
            <a:ext cx="12977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одлуке.</a:t>
            </a:r>
          </a:p>
        </p:txBody>
      </p:sp>
      <p:sp>
        <p:nvSpPr>
          <p:cNvPr id="1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227AF63-9558-4BAE-B011-D064010A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8112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DA715E1C-5842-49D6-B7E3-7A668BDF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82108"/>
            <a:ext cx="13460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</a:t>
            </a:r>
          </a:p>
        </p:txBody>
      </p:sp>
      <p:sp>
        <p:nvSpPr>
          <p:cNvPr id="1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9B558ED-ACAE-4E6F-B188-56FD0EE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73538"/>
            <a:ext cx="231353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сигнал из система</a:t>
            </a:r>
          </a:p>
        </p:txBody>
      </p:sp>
      <p:sp>
        <p:nvSpPr>
          <p:cNvPr id="1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795E569-CACA-4479-B96F-3BDED77E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12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9165B7E-D903-4F1D-881D-81C0CFD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82108"/>
            <a:ext cx="11054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Triage</a:t>
            </a:r>
          </a:p>
        </p:txBody>
      </p:sp>
      <p:sp>
        <p:nvSpPr>
          <p:cNvPr id="2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DD75318-6756-4DB5-BFC8-0858A519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3538"/>
            <a:ext cx="26744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контекст и приоритет</a:t>
            </a:r>
          </a:p>
        </p:txBody>
      </p:sp>
      <p:sp>
        <p:nvSpPr>
          <p:cNvPr id="2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012EA8C-F7E4-442A-9A94-182D4D5F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8112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EEBD070-B315-4248-A0F7-4AEB186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82108"/>
            <a:ext cx="15109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Реакција</a:t>
            </a:r>
          </a:p>
        </p:txBody>
      </p:sp>
      <p:sp>
        <p:nvSpPr>
          <p:cNvPr id="2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17414E8B-4D58-4A56-A5AE-7B120AAE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973538"/>
            <a:ext cx="18396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инцидент или </a:t>
            </a:r>
          </a:p>
        </p:txBody>
      </p:sp>
      <p:sp>
        <p:nvSpPr>
          <p:cNvPr id="2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C10DE62C-EDB5-4162-BFF3-117B6E00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293519"/>
            <a:ext cx="30698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контролисано затварање</a:t>
            </a:r>
          </a:p>
        </p:txBody>
      </p:sp>
      <p:sp>
        <p:nvSpPr>
          <p:cNvPr id="2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2C24D4B-E224-4362-BABA-B5DC8B4D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78112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33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210EA2D-0FCA-418C-BDE0-716A308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482108"/>
            <a:ext cx="195411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Побољшање</a:t>
            </a:r>
          </a:p>
        </p:txBody>
      </p:sp>
      <p:sp>
        <p:nvSpPr>
          <p:cNvPr id="2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0F70EBE9-E5A9-4775-9214-A2581BE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973538"/>
            <a:ext cx="30896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 доказ и мањи ризик</a:t>
            </a:r>
          </a:p>
        </p:txBody>
      </p:sp>
      <p:sp>
        <p:nvSpPr>
          <p:cNvPr id="2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C7C4280-1ECC-4595-9BA8-2FD24ACB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85024"/>
            <a:ext cx="253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ЕЛЕМЕНТИ АНАЛИЗЕ</a:t>
            </a:r>
          </a:p>
        </p:txBody>
      </p:sp>
      <p:sp>
        <p:nvSpPr>
          <p:cNvPr id="3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5B16165-3AC7-4087-8C28-761BB06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116172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  <p:sp>
        <p:nvSpPr>
          <p:cNvPr id="3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F60043E-213C-4DB1-9629-7C40D6FF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0253DDF-784C-499F-9465-203B3355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808090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E11AA-8543-4B98-889F-1A396C5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81248-FB14-4496-9100-E4589AD1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5594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FE5EA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DEDC2CA-27CD-41F6-A831-7C3C189B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5594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227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750C5-749D-497F-9685-D158AB41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FB697-D7EA-4EE7-BC7B-E2D2BF4D7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0c18f94f3498e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E8E0BBE2-4E8C-4C4F-BBDC-9CCA9908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ucenje-dokaz">
            <a:extLst xmlns:a="http://schemas.openxmlformats.org/drawingml/2006/main">
              <a:ext uri="{FF2B5EF4-FFF2-40B4-BE49-F238E27FC236}">
                <a16:creationId xmlns:a16="http://schemas.microsoft.com/office/drawing/2014/main" id="{2EB7BBFD-38BF-47CE-B59D-2C7D1145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833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32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Завршетак корективне акције</a:t>
            </a:r>
          </a:p>
        </p:txBody>
      </p:sp>
      <p:sp>
        <p:nvSpPr>
          <p:cNvPr id="8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A88ED55D-52EF-4FB4-A29E-92E183FB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80023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Затварање задатка и доказ побољшања су повезани кораци.</a:t>
            </a:r>
          </a:p>
        </p:txBody>
      </p:sp>
      <p:sp>
        <p:nvSpPr>
          <p:cNvPr id="9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28D10E61-7B18-4CB7-9630-992C6E1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25" y="4391025"/>
            <a:ext cx="117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Узрок</a:t>
            </a:r>
          </a:p>
        </p:txBody>
      </p:sp>
      <p:sp>
        <p:nvSpPr>
          <p:cNvPr id="10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5928E40F-4F9A-4A04-BCB3-68B75FF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4817715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чињенице и </a:t>
            </a:r>
          </a:p>
        </p:txBody>
      </p:sp>
      <p:sp>
        <p:nvSpPr>
          <p:cNvPr id="11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FCEECB9B-FB95-4B4D-A829-79DE5C2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031" y="5244405"/>
            <a:ext cx="15192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</a:t>
            </a:r>
          </a:p>
        </p:txBody>
      </p:sp>
      <p:sp>
        <p:nvSpPr>
          <p:cNvPr id="12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1B0A91E0-075B-468E-8C76-021E7B3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896" y="4391025"/>
            <a:ext cx="13070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Акција</a:t>
            </a:r>
          </a:p>
        </p:txBody>
      </p:sp>
      <p:sp>
        <p:nvSpPr>
          <p:cNvPr id="13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8915AD0B-8A69-409E-B133-DCFFE98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258" y="4817715"/>
            <a:ext cx="236413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 и рок</a:t>
            </a:r>
          </a:p>
        </p:txBody>
      </p:sp>
      <p:sp>
        <p:nvSpPr>
          <p:cNvPr id="14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42A740EA-2C1F-44BB-AF5D-476F1CF8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378" y="4391025"/>
            <a:ext cx="12135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15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B7EF69B3-3C5A-49AC-8835-2CF4694B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492" y="4817715"/>
            <a:ext cx="25253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или вежба</a:t>
            </a:r>
          </a:p>
        </p:txBody>
      </p:sp>
      <p:sp>
        <p:nvSpPr>
          <p:cNvPr id="16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DC41E101-29D3-4F61-97D4-A1BB1C69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4254" y="4391025"/>
            <a:ext cx="23315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Нова провера</a:t>
            </a:r>
          </a:p>
        </p:txBody>
      </p:sp>
      <p:sp>
        <p:nvSpPr>
          <p:cNvPr id="17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57132971-81BB-4BE9-9826-64BA01C5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7319" y="4817715"/>
            <a:ext cx="186541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потврђено </a:t>
            </a:r>
          </a:p>
        </p:txBody>
      </p:sp>
      <p:sp>
        <p:nvSpPr>
          <p:cNvPr id="18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5327A815-EF1F-4878-93DC-5E03525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8257" y="5244405"/>
            <a:ext cx="210353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4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побољшање</a:t>
            </a:r>
          </a:p>
        </p:txBody>
      </p:sp>
      <p:sp>
        <p:nvSpPr>
          <p:cNvPr id="19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792BD377-884E-493F-916F-A52895B9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0834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2276F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20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9D1F3598-D585-4254-B78F-7FB8BE0A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04522"/>
            <a:ext cx="111436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Акција се проверава у сценарију који је изазвао проблем. Резултат улази у следећу процену ризика.</a:t>
            </a:r>
          </a:p>
        </p:txBody>
      </p:sp>
      <p:sp>
        <p:nvSpPr>
          <p:cNvPr id="21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C62B1853-A2BB-4B81-BCFE-D7D84CC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2" name="text-ucenje-dokaz">
            <a:extLst xmlns:a="http://schemas.openxmlformats.org/drawingml/2006/main">
              <a:ext uri="{FF2B5EF4-FFF2-40B4-BE49-F238E27FC236}">
                <a16:creationId xmlns:a16="http://schemas.microsoft.com/office/drawing/2014/main" id="{6DB4C6C7-2FAC-44F7-93CD-DD9623A2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071064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A227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E3AB7-5311-4E33-9051-121083B3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21975-98CC-4C80-90D2-619168AE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7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00107-51C6-4DF3-BB4B-14D6BC7B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12591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7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67F42-5BFD-4ED5-A029-B9EF841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4948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7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F72A-C68D-4B77-8596-65D1FCA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84948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78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710EE-854D-477F-8A47-BADA969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78F"/>
          </a:solidFill>
          <a:ln xmlns:a="http://schemas.openxmlformats.org/drawingml/2006/main" w="0">
            <a:noFill/>
          </a:ln>
        </p:spPr>
      </p:sp>
      <p:sp>
        <p:nvSpPr>
          <p:cNvPr id="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94593A0-DA39-4F83-B858-698EC12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F2E1EB"/>
                </a:solidFill>
                <a:latin typeface="IBM Plex Mono"/>
                <a:ea typeface="IBM Plex Mono"/>
                <a:cs typeface="IBM Plex Mono"/>
              </a:rPr>
              <a:t>РЕЗИМЕ И ПРОВЕРА</a:t>
            </a:r>
          </a:p>
        </p:txBody>
      </p:sp>
      <p:sp>
        <p:nvSpPr>
          <p:cNvPr id="8" name="heading-source-20">
            <a:extLst xmlns:a="http://schemas.openxmlformats.org/drawingml/2006/main">
              <a:ext uri="{FF2B5EF4-FFF2-40B4-BE49-F238E27FC236}">
                <a16:creationId xmlns:a16="http://schemas.microsoft.com/office/drawing/2014/main" id="{737C571B-7ABB-48DF-9620-7AFBF468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12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45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Провера разумевања</a:t>
            </a:r>
          </a:p>
        </p:txBody>
      </p:sp>
      <p:sp>
        <p:nvSpPr>
          <p:cNvPr id="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E20EA68-1C33-4B13-A9BB-0DAA802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761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1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DA50ACC-9113-4536-8639-676FF9C8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41191"/>
            <a:ext cx="1526679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Сигнал</a:t>
            </a:r>
          </a:p>
        </p:txBody>
      </p:sp>
      <p:sp>
        <p:nvSpPr>
          <p:cNvPr id="1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E32C3DF4-8DB6-461C-B460-8F0F6A1E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16412"/>
            <a:ext cx="26485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уочено одступање</a:t>
            </a:r>
          </a:p>
        </p:txBody>
      </p:sp>
      <p:sp>
        <p:nvSpPr>
          <p:cNvPr id="1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BE021B0B-D061-4A29-8839-F095B215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41191"/>
            <a:ext cx="132338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Triage</a:t>
            </a:r>
          </a:p>
        </p:txBody>
      </p:sp>
      <p:sp>
        <p:nvSpPr>
          <p:cNvPr id="1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28FB7750-820F-4A84-8155-1BF97B4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16412"/>
            <a:ext cx="39268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провера контекста и утицаја</a:t>
            </a:r>
          </a:p>
        </p:txBody>
      </p:sp>
      <p:sp>
        <p:nvSpPr>
          <p:cNvPr id="1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A149004-1E19-4CEA-99D8-E429F13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3548"/>
            <a:ext cx="2001589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Инцидент</a:t>
            </a:r>
          </a:p>
        </p:txBody>
      </p:sp>
      <p:sp>
        <p:nvSpPr>
          <p:cNvPr id="1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FEB19E8E-7079-441F-BA17-94B184D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8769"/>
            <a:ext cx="33228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координисана реакција</a:t>
            </a:r>
          </a:p>
        </p:txBody>
      </p:sp>
      <p:sp>
        <p:nvSpPr>
          <p:cNvPr id="1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ADD5017-F5F4-4990-8122-D34F878B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3548"/>
            <a:ext cx="1410444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Учење</a:t>
            </a:r>
          </a:p>
        </p:txBody>
      </p:sp>
      <p:sp>
        <p:nvSpPr>
          <p:cNvPr id="1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2B89375-4C6A-4874-88DE-6E7ACADE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88769"/>
            <a:ext cx="33230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1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корекција и превенција</a:t>
            </a:r>
          </a:p>
        </p:txBody>
      </p:sp>
      <p:sp>
        <p:nvSpPr>
          <p:cNvPr id="1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38804C8-1769-4299-99C3-6B17DE93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66830"/>
            <a:ext cx="1611183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Који догађај би у вашем систему био користан сигнал, али не и довољан доказ инцидента? Који </a:t>
            </a:r>
          </a:p>
        </p:txBody>
      </p:sp>
      <p:sp>
        <p:nvSpPr>
          <p:cNvPr id="1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BD69074-0378-410F-BFFA-5DC08CB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46800"/>
            <a:ext cx="367054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27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контекст недостаје?</a:t>
            </a:r>
          </a:p>
        </p:txBody>
      </p:sp>
      <p:sp>
        <p:nvSpPr>
          <p:cNvPr id="2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F89E8D7B-5062-40E6-BADF-B54D5298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22046"/>
            <a:ext cx="1022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  <p:sp>
        <p:nvSpPr>
          <p:cNvPr id="2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64842F16-F81D-4C4E-A0D0-91E8238E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F2E1EB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24E9E3CF-836E-4650-BD26-5C25FB3E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F2E1EB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09092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2026-10-09T20:41:47.9380000Z</dcterms:created>
  <dcterms:modified xsi:type="dcterms:W3CDTF">2026-10-09T20:41:47.9380000Z</dcterms:modified>
</coreProperties>
</file>