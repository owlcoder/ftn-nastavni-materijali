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3555c53674113" /><Relationship Type="http://schemas.openxmlformats.org/officeDocument/2006/relationships/extended-properties" Target="/docProps/app.xml" Id="R353ffd9c6a1d48d9" /><Relationship Type="http://schemas.openxmlformats.org/officeDocument/2006/relationships/officeDocument" Target="/ppt/presentation.xml" Id="R1f60bdbccc2b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3da859a9954de7"/>
  </p:sldMasterIdLst>
  <p:notesMasterIdLst>
    <p:notesMasterId xmlns:r="http://schemas.openxmlformats.org/officeDocument/2006/relationships" r:id="R533f75d0f2fd4cf2"/>
  </p:notesMasterIdLst>
  <p:sldIdLst>
    <p:sldId xmlns:r="http://schemas.openxmlformats.org/officeDocument/2006/relationships" id="256" r:id="R39696eb5e9ed419c"/>
    <p:sldId xmlns:r="http://schemas.openxmlformats.org/officeDocument/2006/relationships" id="257" r:id="R0726d0a3ffef4817"/>
    <p:sldId xmlns:r="http://schemas.openxmlformats.org/officeDocument/2006/relationships" id="258" r:id="R0fccc439c8da45a8"/>
    <p:sldId xmlns:r="http://schemas.openxmlformats.org/officeDocument/2006/relationships" id="259" r:id="R00666ad3f9454b29"/>
    <p:sldId xmlns:r="http://schemas.openxmlformats.org/officeDocument/2006/relationships" id="260" r:id="Rb6013c6b2c1540d6"/>
    <p:sldId xmlns:r="http://schemas.openxmlformats.org/officeDocument/2006/relationships" id="261" r:id="R3b4a0ff38b6c4bcd"/>
    <p:sldId xmlns:r="http://schemas.openxmlformats.org/officeDocument/2006/relationships" id="262" r:id="Rd2fbffd06b664284"/>
    <p:sldId xmlns:r="http://schemas.openxmlformats.org/officeDocument/2006/relationships" id="263" r:id="Rb9c39639e4f54f35"/>
    <p:sldId xmlns:r="http://schemas.openxmlformats.org/officeDocument/2006/relationships" id="264" r:id="R25657cdc30aa4724"/>
    <p:sldId xmlns:r="http://schemas.openxmlformats.org/officeDocument/2006/relationships" id="265" r:id="Rd51cf6a8c17148d8"/>
    <p:sldId xmlns:r="http://schemas.openxmlformats.org/officeDocument/2006/relationships" id="266" r:id="R5f3289ca2e8c47c3"/>
    <p:sldId xmlns:r="http://schemas.openxmlformats.org/officeDocument/2006/relationships" id="267" r:id="R04da4cae47d946d6"/>
    <p:sldId xmlns:r="http://schemas.openxmlformats.org/officeDocument/2006/relationships" id="268" r:id="R6c4e702d89ad4fdc"/>
    <p:sldId xmlns:r="http://schemas.openxmlformats.org/officeDocument/2006/relationships" id="269" r:id="R2b985d3dca1a4804"/>
    <p:sldId xmlns:r="http://schemas.openxmlformats.org/officeDocument/2006/relationships" id="270" r:id="Ra32151883d764fe9"/>
    <p:sldId xmlns:r="http://schemas.openxmlformats.org/officeDocument/2006/relationships" id="271" r:id="Rab82d01d17dc4c7b"/>
    <p:sldId xmlns:r="http://schemas.openxmlformats.org/officeDocument/2006/relationships" id="272" r:id="R9f33768f7ed447a4"/>
    <p:sldId xmlns:r="http://schemas.openxmlformats.org/officeDocument/2006/relationships" id="273" r:id="Rb8b5a3efb474487a"/>
    <p:sldId xmlns:r="http://schemas.openxmlformats.org/officeDocument/2006/relationships" id="274" r:id="R2186fb6b07e84170"/>
    <p:sldId xmlns:r="http://schemas.openxmlformats.org/officeDocument/2006/relationships" id="275" r:id="Rbe5b65524ce34dfd"/>
    <p:sldId xmlns:r="http://schemas.openxmlformats.org/officeDocument/2006/relationships" id="276" r:id="R58139a81dd294a75"/>
    <p:sldId xmlns:r="http://schemas.openxmlformats.org/officeDocument/2006/relationships" id="277" r:id="R863a1ff3b4944ba4"/>
    <p:sldId xmlns:r="http://schemas.openxmlformats.org/officeDocument/2006/relationships" id="278" r:id="R1a6d63943b5248e4"/>
    <p:sldId xmlns:r="http://schemas.openxmlformats.org/officeDocument/2006/relationships" id="279" r:id="Rac328fc6bcf847bc"/>
    <p:sldId xmlns:r="http://schemas.openxmlformats.org/officeDocument/2006/relationships" id="280" r:id="Rba537bbc66ed4866"/>
    <p:sldId xmlns:r="http://schemas.openxmlformats.org/officeDocument/2006/relationships" id="281" r:id="Re5f93739078643c8"/>
    <p:sldId xmlns:r="http://schemas.openxmlformats.org/officeDocument/2006/relationships" id="282" r:id="R2afeeab3ea2042e6"/>
    <p:sldId xmlns:r="http://schemas.openxmlformats.org/officeDocument/2006/relationships" id="283" r:id="R0abb6f9ea0a34806"/>
    <p:sldId xmlns:r="http://schemas.openxmlformats.org/officeDocument/2006/relationships" id="284" r:id="Rbee316c2501644f0"/>
    <p:sldId xmlns:r="http://schemas.openxmlformats.org/officeDocument/2006/relationships" id="285" r:id="R770acf0b7229442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cdbd77aee47cf" /><Relationship Type="http://schemas.openxmlformats.org/officeDocument/2006/relationships/slideMaster" Target="/ppt/slideMasters/slideMaster1.xml" Id="Raa3da859a9954de7" /><Relationship Type="http://schemas.openxmlformats.org/officeDocument/2006/relationships/notesMaster" Target="/ppt/notesMasters/notesMaster1.xml" Id="R533f75d0f2fd4cf2" /><Relationship Type="http://schemas.openxmlformats.org/officeDocument/2006/relationships/presProps" Target="/ppt/presProps.xml" Id="Rcae9f037060146f2" /><Relationship Type="http://schemas.openxmlformats.org/officeDocument/2006/relationships/tableStyles" Target="/ppt/tableStyles.xml" Id="R1e4b0449ef354acc" /><Relationship Type="http://schemas.openxmlformats.org/officeDocument/2006/relationships/slide" Target="/ppt/slides/slide1.xml" Id="R39696eb5e9ed419c" /><Relationship Type="http://schemas.openxmlformats.org/officeDocument/2006/relationships/slide" Target="/ppt/slides/slide2.xml" Id="R0726d0a3ffef4817" /><Relationship Type="http://schemas.openxmlformats.org/officeDocument/2006/relationships/slide" Target="/ppt/slides/slide3.xml" Id="R0fccc439c8da45a8" /><Relationship Type="http://schemas.openxmlformats.org/officeDocument/2006/relationships/slide" Target="/ppt/slides/slide4.xml" Id="R00666ad3f9454b29" /><Relationship Type="http://schemas.openxmlformats.org/officeDocument/2006/relationships/slide" Target="/ppt/slides/slide5.xml" Id="Rb6013c6b2c1540d6" /><Relationship Type="http://schemas.openxmlformats.org/officeDocument/2006/relationships/slide" Target="/ppt/slides/slide6.xml" Id="R3b4a0ff38b6c4bcd" /><Relationship Type="http://schemas.openxmlformats.org/officeDocument/2006/relationships/slide" Target="/ppt/slides/slide7.xml" Id="Rd2fbffd06b664284" /><Relationship Type="http://schemas.openxmlformats.org/officeDocument/2006/relationships/slide" Target="/ppt/slides/slide8.xml" Id="Rb9c39639e4f54f35" /><Relationship Type="http://schemas.openxmlformats.org/officeDocument/2006/relationships/slide" Target="/ppt/slides/slide9.xml" Id="R25657cdc30aa4724" /><Relationship Type="http://schemas.openxmlformats.org/officeDocument/2006/relationships/slide" Target="/ppt/slides/slide10.xml" Id="Rd51cf6a8c17148d8" /><Relationship Type="http://schemas.openxmlformats.org/officeDocument/2006/relationships/slide" Target="/ppt/slides/slide11.xml" Id="R5f3289ca2e8c47c3" /><Relationship Type="http://schemas.openxmlformats.org/officeDocument/2006/relationships/slide" Target="/ppt/slides/slide12.xml" Id="R04da4cae47d946d6" /><Relationship Type="http://schemas.openxmlformats.org/officeDocument/2006/relationships/slide" Target="/ppt/slides/slide13.xml" Id="R6c4e702d89ad4fdc" /><Relationship Type="http://schemas.openxmlformats.org/officeDocument/2006/relationships/slide" Target="/ppt/slides/slide14.xml" Id="R2b985d3dca1a4804" /><Relationship Type="http://schemas.openxmlformats.org/officeDocument/2006/relationships/slide" Target="/ppt/slides/slide15.xml" Id="Ra32151883d764fe9" /><Relationship Type="http://schemas.openxmlformats.org/officeDocument/2006/relationships/slide" Target="/ppt/slides/slide16.xml" Id="Rab82d01d17dc4c7b" /><Relationship Type="http://schemas.openxmlformats.org/officeDocument/2006/relationships/slide" Target="/ppt/slides/slide17.xml" Id="R9f33768f7ed447a4" /><Relationship Type="http://schemas.openxmlformats.org/officeDocument/2006/relationships/slide" Target="/ppt/slides/slide18.xml" Id="Rb8b5a3efb474487a" /><Relationship Type="http://schemas.openxmlformats.org/officeDocument/2006/relationships/slide" Target="/ppt/slides/slide19.xml" Id="R2186fb6b07e84170" /><Relationship Type="http://schemas.openxmlformats.org/officeDocument/2006/relationships/slide" Target="/ppt/slides/slide20.xml" Id="Rbe5b65524ce34dfd" /><Relationship Type="http://schemas.openxmlformats.org/officeDocument/2006/relationships/slide" Target="/ppt/slides/slide21.xml" Id="R58139a81dd294a75" /><Relationship Type="http://schemas.openxmlformats.org/officeDocument/2006/relationships/slide" Target="/ppt/slides/slide22.xml" Id="R863a1ff3b4944ba4" /><Relationship Type="http://schemas.openxmlformats.org/officeDocument/2006/relationships/slide" Target="/ppt/slides/slide23.xml" Id="R1a6d63943b5248e4" /><Relationship Type="http://schemas.openxmlformats.org/officeDocument/2006/relationships/slide" Target="/ppt/slides/slide24.xml" Id="Rac328fc6bcf847bc" /><Relationship Type="http://schemas.openxmlformats.org/officeDocument/2006/relationships/slide" Target="/ppt/slides/slide25.xml" Id="Rba537bbc66ed4866" /><Relationship Type="http://schemas.openxmlformats.org/officeDocument/2006/relationships/slide" Target="/ppt/slides/slide26.xml" Id="Re5f93739078643c8" /><Relationship Type="http://schemas.openxmlformats.org/officeDocument/2006/relationships/slide" Target="/ppt/slides/slide27.xml" Id="R2afeeab3ea2042e6" /><Relationship Type="http://schemas.openxmlformats.org/officeDocument/2006/relationships/slide" Target="/ppt/slides/slide28.xml" Id="R0abb6f9ea0a34806" /><Relationship Type="http://schemas.openxmlformats.org/officeDocument/2006/relationships/slide" Target="/ppt/slides/slide29.xml" Id="Rbee316c2501644f0" /><Relationship Type="http://schemas.openxmlformats.org/officeDocument/2006/relationships/slide" Target="/ppt/slides/slide30.xml" Id="R770acf0b7229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885273024c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6e171931849e0" /><Relationship Type="http://schemas.openxmlformats.org/officeDocument/2006/relationships/notesMaster" Target="/ppt/notesMasters/notesMaster1.xml" Id="R8fa4ceb2693346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255d1f8f2843e7" /><Relationship Type="http://schemas.openxmlformats.org/officeDocument/2006/relationships/notesMaster" Target="/ppt/notesMasters/notesMaster1.xml" Id="R1ee9470cc7ac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b936e4255947c6" /><Relationship Type="http://schemas.openxmlformats.org/officeDocument/2006/relationships/notesMaster" Target="/ppt/notesMasters/notesMaster1.xml" Id="Rc77997558f374c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fa94ab08fa4064" /><Relationship Type="http://schemas.openxmlformats.org/officeDocument/2006/relationships/notesMaster" Target="/ppt/notesMasters/notesMaster1.xml" Id="R20559b81b739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254f441d9d451d" /><Relationship Type="http://schemas.openxmlformats.org/officeDocument/2006/relationships/notesMaster" Target="/ppt/notesMasters/notesMaster1.xml" Id="Rfe874da2e5df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d3826e1d104638" /><Relationship Type="http://schemas.openxmlformats.org/officeDocument/2006/relationships/notesMaster" Target="/ppt/notesMasters/notesMaster1.xml" Id="R1de756a851dd41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5d1c55f5a4aa7" /><Relationship Type="http://schemas.openxmlformats.org/officeDocument/2006/relationships/notesMaster" Target="/ppt/notesMasters/notesMaster1.xml" Id="R9a930298ea7f49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b0f6ddcc04d5a" /><Relationship Type="http://schemas.openxmlformats.org/officeDocument/2006/relationships/notesMaster" Target="/ppt/notesMasters/notesMaster1.xml" Id="R93d98179a7394c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02b0ad7f4b4603" /><Relationship Type="http://schemas.openxmlformats.org/officeDocument/2006/relationships/notesMaster" Target="/ppt/notesMasters/notesMaster1.xml" Id="R2f5da04dd0ae41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ef0903556a46a2" /><Relationship Type="http://schemas.openxmlformats.org/officeDocument/2006/relationships/notesMaster" Target="/ppt/notesMasters/notesMaster1.xml" Id="R0258f5ca54b047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f43740e63e4557" /><Relationship Type="http://schemas.openxmlformats.org/officeDocument/2006/relationships/notesMaster" Target="/ppt/notesMasters/notesMaster1.xml" Id="R8f0bcbc25fe748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5975a67b194f50" /><Relationship Type="http://schemas.openxmlformats.org/officeDocument/2006/relationships/notesMaster" Target="/ppt/notesMasters/notesMaster1.xml" Id="R97356c4e4b4649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9aa9f55c354012" /><Relationship Type="http://schemas.openxmlformats.org/officeDocument/2006/relationships/notesMaster" Target="/ppt/notesMasters/notesMaster1.xml" Id="R919b5f07576140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595314a1114c0d" /><Relationship Type="http://schemas.openxmlformats.org/officeDocument/2006/relationships/notesMaster" Target="/ppt/notesMasters/notesMaster1.xml" Id="Rcee1025867f147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b0cfbc17c842a9" /><Relationship Type="http://schemas.openxmlformats.org/officeDocument/2006/relationships/notesMaster" Target="/ppt/notesMasters/notesMaster1.xml" Id="R07b4ab10996a48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52e78618de4a9d" /><Relationship Type="http://schemas.openxmlformats.org/officeDocument/2006/relationships/notesMaster" Target="/ppt/notesMasters/notesMaster1.xml" Id="R34616ecb898c48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cd1b8c617e4b33" /><Relationship Type="http://schemas.openxmlformats.org/officeDocument/2006/relationships/notesMaster" Target="/ppt/notesMasters/notesMaster1.xml" Id="R65fd2162cc0140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6e958962324ed4" /><Relationship Type="http://schemas.openxmlformats.org/officeDocument/2006/relationships/notesMaster" Target="/ppt/notesMasters/notesMaster1.xml" Id="Rf57624ee478b4a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f9ddfcf3bb4765" /><Relationship Type="http://schemas.openxmlformats.org/officeDocument/2006/relationships/notesMaster" Target="/ppt/notesMasters/notesMaster1.xml" Id="Rf90e48716dde43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e6b3fc21ad4602" /><Relationship Type="http://schemas.openxmlformats.org/officeDocument/2006/relationships/notesMaster" Target="/ppt/notesMasters/notesMaster1.xml" Id="R7bfc44c58b0043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eaec4154444fd5" /><Relationship Type="http://schemas.openxmlformats.org/officeDocument/2006/relationships/notesMaster" Target="/ppt/notesMasters/notesMaster1.xml" Id="R9328914b43a641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9400b1c67948a3" /><Relationship Type="http://schemas.openxmlformats.org/officeDocument/2006/relationships/notesMaster" Target="/ppt/notesMasters/notesMaster1.xml" Id="R70ae298db49348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edacd742c2b4116" /><Relationship Type="http://schemas.openxmlformats.org/officeDocument/2006/relationships/notesMaster" Target="/ppt/notesMasters/notesMaster1.xml" Id="Ra994955acfcb4d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7cad71e422474e" /><Relationship Type="http://schemas.openxmlformats.org/officeDocument/2006/relationships/notesMaster" Target="/ppt/notesMasters/notesMaster1.xml" Id="Rea22c80678f248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dee0cd870d426b" /><Relationship Type="http://schemas.openxmlformats.org/officeDocument/2006/relationships/notesMaster" Target="/ppt/notesMasters/notesMaster1.xml" Id="R7a834c508f754b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97ec88546f4b70" /><Relationship Type="http://schemas.openxmlformats.org/officeDocument/2006/relationships/notesMaster" Target="/ppt/notesMasters/notesMaster1.xml" Id="R6f0eba2ae3644ea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a3d020a2164b1c" /><Relationship Type="http://schemas.openxmlformats.org/officeDocument/2006/relationships/notesMaster" Target="/ppt/notesMasters/notesMaster1.xml" Id="R9363f68fe0b747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fb214fb6e0406b" /><Relationship Type="http://schemas.openxmlformats.org/officeDocument/2006/relationships/notesMaster" Target="/ppt/notesMasters/notesMaster1.xml" Id="Rffa5641e391c4d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d4e7a3643a4325" /><Relationship Type="http://schemas.openxmlformats.org/officeDocument/2006/relationships/notesMaster" Target="/ppt/notesMasters/notesMaster1.xml" Id="R3a244d0050414b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181baee26b4f87" /><Relationship Type="http://schemas.openxmlformats.org/officeDocument/2006/relationships/notesMaster" Target="/ppt/notesMasters/notesMaster1.xml" Id="Rbf5310c0791c47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Трагови добијају значење када их повежемо са актером, ресурсом и током.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OWASP Logging Cheat Sheet. https://cheatsheetseries.owasp.org/cheatsheets/Logging_Cheat_Sheet.html Идентификатор интеракције треба сачувати када систем већ зна да догађаји припадају истом току.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Корелација групише догађаје по идентификатору тока и бележи њихове типове.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OWASP Logging Cheat Sheet. https://cheatsheetseries.owasp.org/cheatsheets/Logging_Cheat_Sheet.html Приказани код броји догађаје и сакупља јединствене типове. За закључак о нападу потребна је додатна анализа.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Ефективност се мери за одређени сценарио и познат опсег примене.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800-55 Vol. 1, December 2024. https://csrc.nist.gov/pubs/sp/800/55/v1/final Формула и бројеви су илустративни и преузимају меру из наставног примера. Не представљају универзалну дефиницију ефективности свих безбедносних контрола.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Тест показује да контрола која никада није била на проби не добија оцену да ради.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Повезани догађаји усмеравају процену, а последице одговора одређују потребне провере.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Корелација сама не даје овлашћење за сваку радњу. Приказани наставни модел задржава људску потврду за велики утицај.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Доказ мења процену ризика, а процена усмерава следећу измену контроле.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SP 800-61 Rev. 3, April 2025. https://csrc.nist.gov/pubs/sp/800/61/r3/final NIST SP 800-55 Vol. 1, December 2024. https://csrc.nist.gov/pubs/sp/800/55/v1/final Нови резултат допуњује знање о ризику. Прихваћено ограничење остаје видљиво и има рок за следећи преглед.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Питање за проверу: ПИТАЊЕ ЗА ПРОВЕРУ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61a02fdec44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dd46f027e4575" /><Relationship Type="http://schemas.openxmlformats.org/officeDocument/2006/relationships/slideLayout" Target="/ppt/slideLayouts/slideLayout1.xml" Id="R3c14a191311c4e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4a191311c4e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ef41505504bf6" /><Relationship Type="http://schemas.openxmlformats.org/officeDocument/2006/relationships/image" Target="/ppt/media/image.png" Id="R5ebe385372664a67" /><Relationship Type="http://schemas.openxmlformats.org/officeDocument/2006/relationships/notesSlide" Target="/ppt/notesSlides/notesSlide1.xml" Id="Rcf9c5b345293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a6a8213fe4bbe" /><Relationship Type="http://schemas.openxmlformats.org/officeDocument/2006/relationships/notesSlide" Target="/ppt/notesSlides/notesSlide2.xml" Id="Rd4496450285c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5b3cc881f45ea" /><Relationship Type="http://schemas.openxmlformats.org/officeDocument/2006/relationships/notesSlide" Target="/ppt/notesSlides/notesSlide3.xml" Id="R151ff99aa41b45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97e60cf7c407b" /><Relationship Type="http://schemas.openxmlformats.org/officeDocument/2006/relationships/image" Target="/ppt/media/image2.png" Id="Red71a95252af44ec" /><Relationship Type="http://schemas.openxmlformats.org/officeDocument/2006/relationships/image" Target="/ppt/media/image3.png" Id="R13738f10098a46d7" /><Relationship Type="http://schemas.openxmlformats.org/officeDocument/2006/relationships/image" Target="/ppt/media/image4.png" Id="R9311ab104a1c4108" /><Relationship Type="http://schemas.openxmlformats.org/officeDocument/2006/relationships/notesSlide" Target="/ppt/notesSlides/notesSlide4.xml" Id="R5f4acd7eaaf5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e5b5dc7648aa" /><Relationship Type="http://schemas.openxmlformats.org/officeDocument/2006/relationships/notesSlide" Target="/ppt/notesSlides/notesSlide5.xml" Id="R58c590ac98e648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c087828834740" /><Relationship Type="http://schemas.openxmlformats.org/officeDocument/2006/relationships/notesSlide" Target="/ppt/notesSlides/notesSlide6.xml" Id="Rf087a536032645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abdf165c84bd2" /><Relationship Type="http://schemas.openxmlformats.org/officeDocument/2006/relationships/image" Target="/ppt/media/image5.png" Id="R32b93787bbfa41b5" /><Relationship Type="http://schemas.openxmlformats.org/officeDocument/2006/relationships/notesSlide" Target="/ppt/notesSlides/notesSlide7.xml" Id="Ref073ce005d84b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b774784fd40c1" /><Relationship Type="http://schemas.openxmlformats.org/officeDocument/2006/relationships/notesSlide" Target="/ppt/notesSlides/notesSlide8.xml" Id="R475efa9ee91449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4e3f0da942e7" /><Relationship Type="http://schemas.openxmlformats.org/officeDocument/2006/relationships/notesSlide" Target="/ppt/notesSlides/notesSlide9.xml" Id="R7e8b6eec266547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2894f7c874792" /><Relationship Type="http://schemas.openxmlformats.org/officeDocument/2006/relationships/image" Target="/ppt/media/image6.png" Id="R21a92462e8754896" /><Relationship Type="http://schemas.openxmlformats.org/officeDocument/2006/relationships/notesSlide" Target="/ppt/notesSlides/notesSlide10.xml" Id="Ra79cb25637b347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e4f9070ec4995" /><Relationship Type="http://schemas.openxmlformats.org/officeDocument/2006/relationships/notesSlide" Target="/ppt/notesSlides/notesSlide11.xml" Id="R391d6d66c44b4c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9f93929f34e30" /><Relationship Type="http://schemas.openxmlformats.org/officeDocument/2006/relationships/notesSlide" Target="/ppt/notesSlides/notesSlide12.xml" Id="Ra7ff740c148941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d25488aa94b9b" /><Relationship Type="http://schemas.openxmlformats.org/officeDocument/2006/relationships/notesSlide" Target="/ppt/notesSlides/notesSlide13.xml" Id="R1cbd5e97b32049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1d11dcd24cf7" /><Relationship Type="http://schemas.openxmlformats.org/officeDocument/2006/relationships/notesSlide" Target="/ppt/notesSlides/notesSlide14.xml" Id="R253a603c99174d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f02a964df49b3" /><Relationship Type="http://schemas.openxmlformats.org/officeDocument/2006/relationships/notesSlide" Target="/ppt/notesSlides/notesSlide15.xml" Id="R0420e8cf7bee41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8edfe02de4347" /><Relationship Type="http://schemas.openxmlformats.org/officeDocument/2006/relationships/notesSlide" Target="/ppt/notesSlides/notesSlide16.xml" Id="R3ebe8d956fca41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8523e53ab43b0" /><Relationship Type="http://schemas.openxmlformats.org/officeDocument/2006/relationships/notesSlide" Target="/ppt/notesSlides/notesSlide17.xml" Id="Re16f25a3336d45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315948c654a35" /><Relationship Type="http://schemas.openxmlformats.org/officeDocument/2006/relationships/notesSlide" Target="/ppt/notesSlides/notesSlide18.xml" Id="Rebed3c7fd3c04c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6f6a65889435a" /><Relationship Type="http://schemas.openxmlformats.org/officeDocument/2006/relationships/notesSlide" Target="/ppt/notesSlides/notesSlide19.xml" Id="R299f768a081843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2e91d2fb8499a" /><Relationship Type="http://schemas.openxmlformats.org/officeDocument/2006/relationships/notesSlide" Target="/ppt/notesSlides/notesSlide20.xml" Id="R02c9f35b92ef46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85a0cb5344357" /><Relationship Type="http://schemas.openxmlformats.org/officeDocument/2006/relationships/image" Target="/ppt/media/image7.png" Id="Re62b810c7a9a4368" /><Relationship Type="http://schemas.openxmlformats.org/officeDocument/2006/relationships/notesSlide" Target="/ppt/notesSlides/notesSlide21.xml" Id="R54353c0523ca48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20f7672c54342" /><Relationship Type="http://schemas.openxmlformats.org/officeDocument/2006/relationships/notesSlide" Target="/ppt/notesSlides/notesSlide22.xml" Id="Ra9178456e25941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8e0cb92354b97" /><Relationship Type="http://schemas.openxmlformats.org/officeDocument/2006/relationships/notesSlide" Target="/ppt/notesSlides/notesSlide23.xml" Id="R8fddc90f1f5c4d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e403fa6974017" /><Relationship Type="http://schemas.openxmlformats.org/officeDocument/2006/relationships/notesSlide" Target="/ppt/notesSlides/notesSlide24.xml" Id="R29ec581b456f4c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f424b511a4b58" /><Relationship Type="http://schemas.openxmlformats.org/officeDocument/2006/relationships/notesSlide" Target="/ppt/notesSlides/notesSlide25.xml" Id="Re56c63fab0bd4a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2d92eda81460b" /><Relationship Type="http://schemas.openxmlformats.org/officeDocument/2006/relationships/notesSlide" Target="/ppt/notesSlides/notesSlide26.xml" Id="R3642613ae9f14e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7c3da6a904a6c" /><Relationship Type="http://schemas.openxmlformats.org/officeDocument/2006/relationships/image" Target="/ppt/media/image8.png" Id="R17ec53175ba3457a" /><Relationship Type="http://schemas.openxmlformats.org/officeDocument/2006/relationships/image" Target="/ppt/media/image9.png" Id="R18ef2c98bba7400f" /><Relationship Type="http://schemas.openxmlformats.org/officeDocument/2006/relationships/image" Target="/ppt/media/image10.png" Id="R0ea56b94a4e6458b" /><Relationship Type="http://schemas.openxmlformats.org/officeDocument/2006/relationships/notesSlide" Target="/ppt/notesSlides/notesSlide27.xml" Id="Rc5f2b5d9fa1744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c0c005714124" /><Relationship Type="http://schemas.openxmlformats.org/officeDocument/2006/relationships/image" Target="/ppt/media/image11.png" Id="Rdf533b7f44ec41ca" /><Relationship Type="http://schemas.openxmlformats.org/officeDocument/2006/relationships/image" Target="/ppt/media/image12.png" Id="R3357988b224845f6" /><Relationship Type="http://schemas.openxmlformats.org/officeDocument/2006/relationships/image" Target="/ppt/media/image13.png" Id="Rf1560f40136f41c6" /><Relationship Type="http://schemas.openxmlformats.org/officeDocument/2006/relationships/notesSlide" Target="/ppt/notesSlides/notesSlide28.xml" Id="R2e72c8a2ef4543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96c5b7a5c47d5" /><Relationship Type="http://schemas.openxmlformats.org/officeDocument/2006/relationships/image" Target="/ppt/media/image14.png" Id="Rfd59246062394071" /><Relationship Type="http://schemas.openxmlformats.org/officeDocument/2006/relationships/notesSlide" Target="/ppt/notesSlides/notesSlide29.xml" Id="Rc4a1a72d92724e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9c5a8632d4b9a" /><Relationship Type="http://schemas.openxmlformats.org/officeDocument/2006/relationships/notesSlide" Target="/ppt/notesSlides/notesSlide30.xml" Id="R6da0feb1d091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41D03-05A1-4626-A8CB-BE70943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e385372664a67"/>
          <a:stretch xmlns:a="http://schemas.openxmlformats.org/drawingml/2006/main"/>
        </p:blipFill>
        <p:spPr>
          <a:xfrm xmlns:a="http://schemas.openxmlformats.org/drawingml/2006/main">
            <a:off x="11049000" y="1466850"/>
            <a:ext cx="6019800" cy="601980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998EA6C0-3598-47B1-A131-18DF0F5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D0F70291-029F-4B69-8116-666DBA1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0239CBDB-7627-4070-9898-6E09409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1086"/>
            <a:ext cx="860137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889"/>
          </a:bodyPr>
          <a:lstStyle xmlns:a="http://schemas.openxmlformats.org/drawingml/2006/main"/>
          <a:p xmlns:a="http://schemas.openxmlformats.org/drawingml/2006/main">
            <a:pPr algn="l">
              <a:defRPr sz="6600">
                <a:latin typeface="IBM Plex Sans"/>
                <a:ea typeface="IBM Plex Sans"/>
                <a:cs typeface="IBM Plex Sans"/>
              </a:defRPr>
            </a:pPr>
            <a:r>
              <a:rPr sz="66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догађаја,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BAD6E82E-3002-45ED-AA6F-F2EC32C5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1107"/>
            <a:ext cx="9258449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362"/>
          </a:bodyPr>
          <a:lstStyle xmlns:a="http://schemas.openxmlformats.org/drawingml/2006/main"/>
          <a:p xmlns:a="http://schemas.openxmlformats.org/drawingml/2006/main">
            <a:pPr algn="l">
              <a:defRPr sz="6600">
                <a:latin typeface="IBM Plex Sans"/>
                <a:ea typeface="IBM Plex Sans"/>
                <a:cs typeface="IBM Plex Sans"/>
              </a:defRPr>
            </a:pPr>
            <a:r>
              <a:rPr sz="66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ефективност контрола </a:t>
            </a:r>
          </a:p>
        </p:txBody>
      </p:sp>
      <p:sp>
        <p:nvSpPr>
          <p:cNvPr id="7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5411EF01-8379-4CC6-AB2B-3CE692FB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81127"/>
            <a:ext cx="3482727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>
                <a:latin typeface="IBM Plex Sans"/>
                <a:ea typeface="IBM Plex Sans"/>
                <a:cs typeface="IBM Plex Sans"/>
              </a:defRPr>
            </a:pPr>
            <a:r>
              <a:rPr sz="66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учење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AD2E4263-02DA-4294-9328-528E4055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2148"/>
            <a:ext cx="875883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Корелација догађаја, процена контрола и постинцидентна 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7D803B00-3138-4028-A69E-0A886074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8838"/>
            <a:ext cx="151611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</a:t>
            </a:r>
          </a:p>
        </p:txBody>
      </p:sp>
      <p:sp>
        <p:nvSpPr>
          <p:cNvPr id="10" name="text-cover">
            <a:extLst xmlns:a="http://schemas.openxmlformats.org/drawingml/2006/main">
              <a:ext uri="{FF2B5EF4-FFF2-40B4-BE49-F238E27FC236}">
                <a16:creationId xmlns:a16="http://schemas.microsoft.com/office/drawing/2014/main" id="{801246BD-F9D1-4921-9C12-393F3E1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11" name="text-cover">
            <a:extLst xmlns:a="http://schemas.openxmlformats.org/drawingml/2006/main">
              <a:ext uri="{FF2B5EF4-FFF2-40B4-BE49-F238E27FC236}">
                <a16:creationId xmlns:a16="http://schemas.microsoft.com/office/drawing/2014/main" id="{F90F4000-A7EF-4A43-9495-A465DE8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671126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0B8FA5-26CD-4C29-B4B2-8E20BFA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E79C4-17A0-4417-9AE5-DA756419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ECE47-A463-48F9-B8ED-8D3DE81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081DD-5C50-40B0-9EC0-6C07F2C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7F148-F22E-45B2-A543-E805B66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3242072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3B8A2-1E90-477D-A668-F552B767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402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81DAD2F-3F37-4B49-BE8E-45CF777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81402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3FEB7-1E19-4243-A2E3-0A5F475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3A7016A-2F7F-4C6A-8F45-31E6E580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BA89A863-028F-4079-A482-4020AB8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E999713-B64A-440E-9F50-F4695D12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13D26C6-83FD-4204-A098-F180780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44205"/>
            <a:ext cx="15073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Догађаји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E7D8559-8C22-46E1-BE78-3C8D6F9D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35636"/>
            <a:ext cx="33175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Контекст, идентификатор и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1A6DB40-B237-4315-AC86-4494E266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55616"/>
            <a:ext cx="16153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корелација.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953B4F4-FE9F-4004-820C-F3A4AE2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05–10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1E81BD7-43E9-425E-B1AE-2C4C60C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3F230AD-EBE1-4F9C-A9B5-86FC5F5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44205"/>
            <a:ext cx="15756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Контроле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C17D4E1-D29B-4F6D-9C8F-36C6B44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5636"/>
            <a:ext cx="35781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Сценарио, мера и свеж доказ.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957416A-0C71-43A0-BBC1-31B51BD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0416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11–16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04CF241-7D60-4781-932C-6FAE1B69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F025BC2-1359-49B2-9083-FDE8E9C9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44205"/>
            <a:ext cx="14263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Одговор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E48DF04-14CB-4A3A-A29A-E57B68B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35636"/>
            <a:ext cx="332690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Последице радње и људска 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3577495-B6BA-4A0E-9806-1E89139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55616"/>
            <a:ext cx="11593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одлука.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9C006FA-4F3F-432B-B96C-808E5669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17–21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D7038BB-1A7B-4593-910F-D43632C3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39330"/>
            <a:ext cx="102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Mono"/>
                <a:ea typeface="IBM Plex Mono"/>
                <a:cs typeface="IBM Plex Mono"/>
              </a:defRPr>
            </a:pPr>
            <a:r>
              <a:rPr sz="45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132AE36-79F9-40E5-8FAB-0D88C591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44205"/>
            <a:ext cx="117321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409FC17-F886-4188-AB2A-853F7A24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35636"/>
            <a:ext cx="345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Повратна спрега и пројектна 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EAE9F73-DB96-4BD9-A5A8-E6F8AA5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55616"/>
            <a:ext cx="13044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провера.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BE34C0F-CA8F-4B33-A49B-945D948A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080397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22–30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9D715F9-4E59-44CF-A9F0-B53C9A6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171902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3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335D1E4-8569-46DD-B63F-7304F65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77608"/>
            <a:ext cx="60556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Предмет анализе и основни појмови (03–04).</a:t>
            </a:r>
          </a:p>
        </p:txBody>
      </p:sp>
      <p:sp>
        <p:nvSpPr>
          <p:cNvPr id="3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9E75D06-0890-4F34-B1C0-AD92F06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08BF9E1-3B39-452C-9A68-FADBB1EE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1900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9D276-9BD5-40F0-92AB-335F8D9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F67D6-B998-482A-A0EE-4087BD1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69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0D5DD-F59D-4522-995E-E0D954C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2591"/>
            <a:ext cx="769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8F846-24CE-446C-A2CE-D3F22C0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1852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421822F-E757-4556-8D75-E6818E8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41852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337F8-70A2-46F3-97FB-55B91AED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5BCD4C1-A2CC-4F59-9230-3998071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8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FC369EDC-7BF2-4113-8719-D23022D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18073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и ефективност контрола</a:t>
            </a:r>
          </a:p>
        </p:txBody>
      </p:sp>
      <p:sp>
        <p:nvSpPr>
          <p:cNvPr id="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FFDF6FA-9A48-40E2-9D5C-32FBC05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8409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Догађаји добијају значење кроз заједнички контекст, а контрола се процењује на основу актуелног и проверљивог доказа.</a:t>
            </a:r>
          </a:p>
        </p:txBody>
      </p:sp>
      <p:sp>
        <p:nvSpPr>
          <p:cNvPr id="1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5986D1B-A7B7-4FB3-B0C6-1D72367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9766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ПРЕДМЕТ АНАЛИЗЕ</a:t>
            </a:r>
          </a:p>
        </p:txBody>
      </p:sp>
      <p:sp>
        <p:nvSpPr>
          <p:cNvPr id="1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71CB778-5EF0-4CA8-AEE4-E4FC4DCD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2147"/>
            <a:ext cx="444028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 који се анализира</a:t>
            </a:r>
          </a:p>
        </p:txBody>
      </p:sp>
      <p:sp>
        <p:nvSpPr>
          <p:cNvPr id="1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0DB50445-F2C6-46CD-B78A-6F0A3BD3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3533"/>
            <a:ext cx="70843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Процена безбедности обухвата везу између догађаја, </a:t>
            </a:r>
          </a:p>
        </p:txBody>
      </p:sp>
      <p:sp>
        <p:nvSpPr>
          <p:cNvPr id="1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08959D86-A27B-44D8-9FCA-6D965BC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6794"/>
            <a:ext cx="77515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и доказа. Корелација даје контекст догађајима, а </a:t>
            </a:r>
          </a:p>
        </p:txBody>
      </p:sp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962C899-2D6F-448D-B625-B016A4D8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055"/>
            <a:ext cx="690116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актуелан доказ омогућава процену рада контроле и </a:t>
            </a:r>
          </a:p>
        </p:txBody>
      </p:sp>
      <p:sp>
        <p:nvSpPr>
          <p:cNvPr id="1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748D104C-2BD4-42B6-96B5-188D69E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3316"/>
            <a:ext cx="31881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последица инцидента.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D0F63F5-EB5D-4C7E-AFC5-DB94E651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6976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ЗНАЧАЈ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9637272-E63C-4F2A-A0AE-E4B07AB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2147"/>
            <a:ext cx="530646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Значај за безбедност система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5A8818B-B6B2-4D20-9625-E914A1B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3533"/>
            <a:ext cx="77444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Мерење ефективности спречава лажни осећај сигурности. 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2E6E698-B878-4AE6-8DDF-F5991904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26794"/>
            <a:ext cx="76377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која постоји, али је погрешно подешена, никада </a:t>
            </a:r>
          </a:p>
        </p:txBody>
      </p:sp>
      <p:sp>
        <p:nvSpPr>
          <p:cNvPr id="2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231534C-C2CB-4A9B-8007-EEF93B7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00055"/>
            <a:ext cx="75868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тестирана или без власника, не заслужује исто поверење </a:t>
            </a:r>
          </a:p>
        </p:txBody>
      </p:sp>
      <p:sp>
        <p:nvSpPr>
          <p:cNvPr id="2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1C71AA3-F37E-40CB-855A-67DF7FF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73316"/>
            <a:ext cx="53828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као контрола са проверљивим доказом.</a:t>
            </a:r>
          </a:p>
        </p:txBody>
      </p:sp>
      <p:sp>
        <p:nvSpPr>
          <p:cNvPr id="2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FAEB9AE-2B87-47F1-A835-0E57852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32352"/>
            <a:ext cx="5692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КРИТЕРИЈУМ ПРОВЕРЕ · Проверљив резултат</a:t>
            </a:r>
          </a:p>
        </p:txBody>
      </p:sp>
      <p:sp>
        <p:nvSpPr>
          <p:cNvPr id="2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55AC888-EAE3-4AE4-BBA9-72C0329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38057"/>
            <a:ext cx="127850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  <p:sp>
        <p:nvSpPr>
          <p:cNvPr id="2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7F94CFF-328B-437D-9579-6B5AE64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7F7F89F-A376-4889-AE2F-A6BF84F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3030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42DF2-2720-465F-8EEE-859DAFF8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888C-6A5D-4414-9EF2-BC003EBF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D6211-DEFE-465C-9057-60B039C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2E7A0-0B81-419C-B476-A7EE4DB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CF66F-F98A-4F3C-B396-B0B3A32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FFA44-907C-4F65-B3E4-B26F7EF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7E16F7D8-D5E2-4DA4-A838-F546BB6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CAC79-4351-48F7-AF79-9E1CC33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1a95252af44ec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38f10098a46d7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1ab104a1c4108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E4D6FA5-2EC1-4BA6-B942-3D53CD8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13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C0AF03F8-518B-44AF-9B5F-5F565C3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9400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Основни појмови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113A8D9-EC17-4393-B700-22DD3BA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0291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Догађаји, корелација, контрола и доказ омогућавају процену стварног безбедносног исхода.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1CEB1661-2277-4FF1-855B-675318D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A932595-51A2-4B11-B0F5-8CB4606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73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Догађаји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47FE369-2DDC-44A3-B382-2CB8751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6028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појединачни трагови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DD6E874-458C-44B1-A905-88A2D2FF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4519BFF-6DAF-4194-92EC-0695B05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18354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6C1A991-9421-4847-9404-6EA192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5643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заједнички контекст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18327AA-AD8B-42E3-9E86-C120C8C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471F7BF-807B-4BF6-AE50-DC7E4E5E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2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6297F8ED-1F7A-4C2D-B57C-16CDE09A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0167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смањује одређени ризик</a:t>
            </a:r>
          </a:p>
        </p:txBody>
      </p:sp>
      <p:sp>
        <p:nvSpPr>
          <p:cNvPr id="2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3579E78-AAB6-4446-B2E3-D0F67BA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A5BCFC8-5207-4C4C-A95B-6AB55E3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2456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и учење</a:t>
            </a:r>
          </a:p>
        </p:txBody>
      </p:sp>
      <p:sp>
        <p:nvSpPr>
          <p:cNvPr id="2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9DFED34-D1E8-49E9-9149-A88BA729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3900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мери и побољшава</a:t>
            </a:r>
          </a:p>
        </p:txBody>
      </p:sp>
      <p:sp>
        <p:nvSpPr>
          <p:cNvPr id="2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17B0FC3A-031A-4332-8EB8-EBAA7E52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32718FB-727E-4216-A31E-EB172B4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27693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Безбедност напредује кроз повратну спрегу: доказ мења разумевање ризика, а то мења контролу.</a:t>
            </a:r>
          </a:p>
        </p:txBody>
      </p:sp>
      <p:sp>
        <p:nvSpPr>
          <p:cNvPr id="2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F4673A5-47ED-45FF-AB6A-600D570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6AB34B10-78C3-4C2A-8331-EC61D0B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9963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0412-3C26-496A-BB05-85FA779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09210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5D4BE-CC14-48A7-840F-7E0412F5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201" y="6158657"/>
            <a:ext cx="103539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2C6C1-AD7E-4B4A-AB9F-099372AD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898" y="6158657"/>
            <a:ext cx="113555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43D88-AC7B-41F1-B0FB-F3AD7D1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757" y="6158657"/>
            <a:ext cx="184055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B83A8-788A-4882-89EF-8E696FE9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5"/>
          </a:solidFill>
          <a:ln xmlns:a="http://schemas.openxmlformats.org/drawingml/2006/main" w="0">
            <a:noFill/>
          </a:ln>
        </p:spPr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BAD03C14-1BE0-44F2-BB6D-A7FC256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text-deo1">
            <a:extLst xmlns:a="http://schemas.openxmlformats.org/drawingml/2006/main">
              <a:ext uri="{FF2B5EF4-FFF2-40B4-BE49-F238E27FC236}">
                <a16:creationId xmlns:a16="http://schemas.microsoft.com/office/drawing/2014/main" id="{ED51EB95-990F-473A-BBA9-BE96C275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8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85721F1D-D821-49B5-8D59-1A62800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92939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286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Догађаји и контекст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B49AA94A-B0C0-4443-BFCD-68BD7C3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93251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Трагови добијају значење када их повежемо са актером, ресурсом и 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7DF974BF-EE5F-42C7-BA5B-ABBC2321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1647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током.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F10DB74C-E797-4996-83B1-EBA8851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03495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Време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26EB5659-A1FB-4A39-981A-8F02D97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226" y="6244382"/>
            <a:ext cx="9782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Актер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6CF0BDBE-1C5B-49FA-B427-D23685C0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923" y="6244382"/>
            <a:ext cx="10784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Ресурс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9950302B-4EAC-4C32-8C69-0048431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782" y="6244382"/>
            <a:ext cx="17834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Correlation ID</a:t>
            </a:r>
          </a:p>
        </p:txBody>
      </p:sp>
      <p:sp>
        <p:nvSpPr>
          <p:cNvPr id="15" name="text-deo1">
            <a:extLst xmlns:a="http://schemas.openxmlformats.org/drawingml/2006/main">
              <a:ext uri="{FF2B5EF4-FFF2-40B4-BE49-F238E27FC236}">
                <a16:creationId xmlns:a16="http://schemas.microsoft.com/office/drawing/2014/main" id="{35DFD57D-8AEA-4072-A7C3-538EFA1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1">
            <a:extLst xmlns:a="http://schemas.openxmlformats.org/drawingml/2006/main">
              <a:ext uri="{FF2B5EF4-FFF2-40B4-BE49-F238E27FC236}">
                <a16:creationId xmlns:a16="http://schemas.microsoft.com/office/drawing/2014/main" id="{8A3A66AD-2F6D-4E27-B792-35A8220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265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FF262-BBC0-4C55-8EB6-9952466C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44F16-02D9-4EAA-8632-5F1FE3C8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49D8B-E238-4ED0-A64A-3CB5B000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92FC9-6659-42E7-9EE1-FE8C7F3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CD94E-E8C7-41BD-8735-9A56443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F4DD7A4-2FAD-4AEF-AF9B-4D54E224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39D77-9115-4E85-8DCB-DEEB8F4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5C483D64-A0DC-46DD-B1F3-66AFBC76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ДОГАЂАЈИ</a:t>
            </a:r>
          </a:p>
        </p:txBody>
      </p:sp>
      <p:sp>
        <p:nvSpPr>
          <p:cNvPr id="9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F227BB00-49A3-46A4-A935-6C26155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7619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Догађаји</a:t>
            </a:r>
          </a:p>
        </p:txBody>
      </p:sp>
      <p:sp>
        <p:nvSpPr>
          <p:cNvPr id="1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7BF6469-79E3-4E78-A4CD-2C63BD97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9795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појединачни трагови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1664D25-F1C8-4AA7-8660-666F065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C3CBAABF-0411-43C9-A213-81C06C6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88384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 бележи време, актера, ресурс, тип и идентификатор тока.</a:t>
            </a:r>
          </a:p>
        </p:txBody>
      </p:sp>
      <p:sp>
        <p:nvSpPr>
          <p:cNvPr id="1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4E5D541-3488-410F-B720-D4C12315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EEBF6DF-34A2-4F68-A5C0-6DDF7464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5038F81-BB0F-4CAD-8ADF-E19420B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08239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догађај ретко је довољан за закључак, значење долази из везе са другима.</a:t>
            </a:r>
          </a:p>
        </p:txBody>
      </p:sp>
      <p:sp>
        <p:nvSpPr>
          <p:cNvPr id="1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8CB4E11-0FAB-4ED2-89E4-24F4E6C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9F72CC0-3BCE-438F-A74A-1D82B06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9DC1B7D-F0C5-4C0C-AB18-D4921FC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11155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Приказано правило захтева идентификатор тока за поуздано повезивање догађаја.</a:t>
            </a:r>
          </a:p>
        </p:txBody>
      </p:sp>
      <p:sp>
        <p:nvSpPr>
          <p:cNvPr id="1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BE8F26B5-DB83-4F61-8666-78D8CF52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967BFDF-F91C-4451-8112-3669984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AD16D6A-F789-4D6B-B9B1-93AD498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119799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подаци морају постојати у сваком догађају да би се касније могао повезати са другима?</a:t>
            </a:r>
          </a:p>
        </p:txBody>
      </p:sp>
      <p:sp>
        <p:nvSpPr>
          <p:cNvPr id="2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B45A9538-33B8-4E4E-A49F-433C691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C86A444-2C14-4AF6-9E01-86F2F4A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4911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18546-E390-47BE-897F-59A6FE0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325F5-9B96-42AC-93A3-F64489F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98816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928EAD5-1B0B-424B-ABCF-13FC1EE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98816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BD729-C06A-4105-9511-3DD9CB7A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93787bbfa41b5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2EA52906-D059-459D-8C3F-5C96677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trag-toka">
            <a:extLst xmlns:a="http://schemas.openxmlformats.org/drawingml/2006/main">
              <a:ext uri="{FF2B5EF4-FFF2-40B4-BE49-F238E27FC236}">
                <a16:creationId xmlns:a16="http://schemas.microsoft.com/office/drawing/2014/main" id="{8BE81E78-0A9A-4BCF-96E5-75E6714B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24180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Траг једног корисничког тока</a:t>
            </a:r>
          </a:p>
        </p:txBody>
      </p:sp>
      <p:sp>
        <p:nvSpPr>
          <p:cNvPr id="8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C55E1FF6-B102-43C7-86F6-43B244C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78387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Илустративни низ повезаних догађаја у једној интеракцији.</a:t>
            </a:r>
          </a:p>
        </p:txBody>
      </p:sp>
      <p:sp>
        <p:nvSpPr>
          <p:cNvPr id="9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630C1FF2-1E1F-468F-8078-7AD81667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272" y="4105275"/>
            <a:ext cx="57648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ток · correlationId = flow-42</a:t>
            </a:r>
          </a:p>
        </p:txBody>
      </p:sp>
      <p:sp>
        <p:nvSpPr>
          <p:cNvPr id="10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99C371EA-EBCB-4734-94B7-ECE2082D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519" y="5838825"/>
            <a:ext cx="13382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Пријава</a:t>
            </a:r>
          </a:p>
        </p:txBody>
      </p:sp>
      <p:sp>
        <p:nvSpPr>
          <p:cNvPr id="11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9A24A0B1-D002-4C2B-8E5A-707785A1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39" y="6212086"/>
            <a:ext cx="20672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актер и исход</a:t>
            </a:r>
          </a:p>
        </p:txBody>
      </p:sp>
      <p:sp>
        <p:nvSpPr>
          <p:cNvPr id="12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0DFA0175-0A64-4D72-B6E6-7728C90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908" y="5838825"/>
            <a:ext cx="24403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Приступ ресурсу</a:t>
            </a:r>
          </a:p>
        </p:txBody>
      </p:sp>
      <p:sp>
        <p:nvSpPr>
          <p:cNvPr id="13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8CA4CD74-DECE-44CB-827C-4B80AFF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062" y="6212086"/>
            <a:ext cx="19840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радња и циљ</a:t>
            </a:r>
          </a:p>
        </p:txBody>
      </p:sp>
      <p:sp>
        <p:nvSpPr>
          <p:cNvPr id="14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BF7562C4-CE6E-475D-A621-9BF8E11B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458" y="5838825"/>
            <a:ext cx="24976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контроле</a:t>
            </a:r>
          </a:p>
        </p:txBody>
      </p:sp>
      <p:sp>
        <p:nvSpPr>
          <p:cNvPr id="15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F2FEE637-D5D1-472A-AB56-1B746776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86" y="6212086"/>
            <a:ext cx="21999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 и разлог</a:t>
            </a:r>
          </a:p>
        </p:txBody>
      </p:sp>
      <p:sp>
        <p:nvSpPr>
          <p:cNvPr id="16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4883D240-1A1D-497B-AA43-E90BCBC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512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7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50DC3CE3-EF8C-4195-BBBF-52F41214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47397"/>
            <a:ext cx="1107936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Идентификатор интеракције треба сачувати када систем већ зна да догађаји припадају истом току.</a:t>
            </a:r>
          </a:p>
        </p:txBody>
      </p:sp>
      <p:sp>
        <p:nvSpPr>
          <p:cNvPr id="18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AA831600-027A-4625-8315-19E601C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trag-toka">
            <a:extLst xmlns:a="http://schemas.openxmlformats.org/drawingml/2006/main">
              <a:ext uri="{FF2B5EF4-FFF2-40B4-BE49-F238E27FC236}">
                <a16:creationId xmlns:a16="http://schemas.microsoft.com/office/drawing/2014/main" id="{DF85AF5A-4809-4730-A731-6E446570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2206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A869A-64BD-4BA8-8B8F-7737CF3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035F3-8ADE-44D2-AAF2-E6D168B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F4022-F04F-4F7D-AE04-1D352904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251B8-BFEC-46A7-BB76-40B425EE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9E5E-5415-412B-B35A-8002653C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AA516F8-19A4-415D-AE1B-91DDA8DD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BAE6F-6BCC-4385-8EDE-2A6C393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AB1C4FB-1DCA-43C6-9687-0339230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КОРЕЛАЦИЈА</a:t>
            </a:r>
          </a:p>
        </p:txBody>
      </p:sp>
      <p:sp>
        <p:nvSpPr>
          <p:cNvPr id="9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0D803802-7729-44B0-9CC8-86A2F39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344581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1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FF8CCA9A-17AD-42BD-BB2D-84E378C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9344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заједнички контекст</a:t>
            </a:r>
          </a:p>
        </p:txBody>
      </p:sp>
      <p:sp>
        <p:nvSpPr>
          <p:cNvPr id="1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D9C7A9E-E7ED-4D63-B78A-77D9543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D770A5C7-B6E4-432A-9318-79C83EC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74019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групише догађаје истог тока у један случај.</a:t>
            </a:r>
          </a:p>
        </p:txBody>
      </p:sp>
      <p:sp>
        <p:nvSpPr>
          <p:cNvPr id="1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5C8F0632-2A29-4E40-AC73-0971FC9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1F46444-5C67-4988-8437-549303C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F47726A-8466-4C39-9D40-ED311C4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87351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 чува број догађаја и скуп њихових типова, без дуплирања.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5BF173A-D959-4D97-815D-6794D45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4E1C58F-DF7C-4DA6-813B-7F8211C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83D7217-DBF2-421F-82CD-90C1B49F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07875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корелације се тестира познатим низом догађаја и очекиваним случајем.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24C3CE1-4079-4D00-AE1C-8B8F035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F2AD1B2-AD4B-470A-A859-F863B1F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4AD699A-ADDA-4A54-A6C1-0758523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1041677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низ догађаја у вашем систему заједно значи више него сваки појединачно?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FBBF8645-A831-461C-9D91-73AC2D1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74D5207-013C-4EA7-BC6D-EEA24AD7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0457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1AB36E-214D-417E-9285-B2E3C97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3399-F29B-4D68-A6D8-D430D2AA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811000" cy="4955977"/>
          </a:xfrm>
          <a:prstGeom xmlns:a="http://schemas.openxmlformats.org/drawingml/2006/main" prst="roundRect">
            <a:avLst>
              <a:gd name="adj" fmla="val 307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45FA8-B09E-48AC-A547-58AFE73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4530"/>
            <a:ext cx="28575" cy="169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E7276-74D8-4EFB-8056-D717F44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396383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DD28B-D798-46D2-879F-DA6547A6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1EC1363-9DC6-4559-B227-D088EEBD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 · КОРЕЛАЦИЈА</a:t>
            </a:r>
          </a:p>
        </p:txBody>
      </p:sp>
      <p:sp>
        <p:nvSpPr>
          <p:cNvPr id="7" name="heading-source-14">
            <a:extLst xmlns:a="http://schemas.openxmlformats.org/drawingml/2006/main">
              <a:ext uri="{FF2B5EF4-FFF2-40B4-BE49-F238E27FC236}">
                <a16:creationId xmlns:a16="http://schemas.microsoft.com/office/drawing/2014/main" id="{1109BBF6-913B-401D-A06F-986E7D94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511706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гради причу, не закључак из једног записа</a:t>
            </a:r>
          </a:p>
        </p:txBody>
      </p:sp>
      <p:sp>
        <p:nvSpPr>
          <p:cNvPr id="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05C2145-1E55-4FA3-B8C3-EAE02E2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D0935B4-33BD-4228-9E1A-A9E37A7F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B390832-FA8B-450E-B407-D78562F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69267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IReadOnlyList&lt;CorrelationCase&gt; Correlate(</a:t>
            </a:r>
          </a:p>
        </p:txBody>
      </p:sp>
      <p:sp>
        <p:nvSpPr>
          <p:cNvPr id="1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1E9EDD9-0D9B-4605-A306-82AAA7F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79E1B2B-8AE4-4682-8929-90D2792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5555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IEnumerable&lt;SecurityEvent&gt; events)</a:t>
            </a:r>
          </a:p>
        </p:txBody>
      </p:sp>
      <p:sp>
        <p:nvSpPr>
          <p:cNvPr id="1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865D547-33B6-42E5-86C2-C360767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2FDCAF9-BDFB-4A6F-A2B6-24D47FF2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04D9530-F3A9-4199-856F-6320E2A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18051C7-C026-4C80-A5DD-530B3F4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26748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events</a:t>
            </a:r>
          </a:p>
        </p:txBody>
      </p:sp>
      <p:sp>
        <p:nvSpPr>
          <p:cNvPr id="1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CFE364D-262E-43B6-8A1A-3061924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ABD8932-9DBF-48CC-9118-F3E5066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4869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.GroupBy(securityEvent =&gt;</a:t>
            </a:r>
          </a:p>
        </p:txBody>
      </p:sp>
      <p:sp>
        <p:nvSpPr>
          <p:cNvPr id="1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23C320D-21AA-4CA9-8B0B-77C1DAF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4FA07BD-16E3-4EB9-940C-95AE7CFD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securityEvent.CorrelationId)</a:t>
            </a:r>
          </a:p>
        </p:txBody>
      </p:sp>
      <p:sp>
        <p:nvSpPr>
          <p:cNvPr id="2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446B165-975F-4CC6-AD82-64750EA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5EC7847-BD3D-4B53-82A5-AC20A27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65152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.Select(group =&gt; </a:t>
            </a: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CorrelationCase(</a:t>
            </a:r>
          </a:p>
        </p:txBody>
      </p:sp>
      <p:sp>
        <p:nvSpPr>
          <p:cNvPr id="2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31BF305-F37E-40EE-8DDF-1D8488B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406A840A-5746-497A-809C-AE60F6A4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3360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group.Key,</a:t>
            </a:r>
          </a:p>
        </p:txBody>
      </p:sp>
      <p:sp>
        <p:nvSpPr>
          <p:cNvPr id="2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BEBD49B-B124-4317-A99F-C6A8273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64B7D20-7581-49D5-8E62-59A04BB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3909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group.Count(),</a:t>
            </a:r>
          </a:p>
        </p:txBody>
      </p:sp>
      <p:sp>
        <p:nvSpPr>
          <p:cNvPr id="2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867C148D-C3FE-4547-8C13-CD9CDDC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9564388-A2A3-48EF-B213-E2F6F06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8709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group.Select(securityEvent =&gt; securityEvent.Type)</a:t>
            </a:r>
          </a:p>
        </p:txBody>
      </p:sp>
      <p:sp>
        <p:nvSpPr>
          <p:cNvPr id="2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E606181-915C-46AE-8041-E20CA62E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9E51679-3AFD-4687-BBA0-4795609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8846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    .ToHashSet(StringComparer.OrdinalIgnoreCase)))</a:t>
            </a:r>
          </a:p>
        </p:txBody>
      </p:sp>
      <p:sp>
        <p:nvSpPr>
          <p:cNvPr id="3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ECFD0B4-99D6-4F36-BABB-9E56899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829530DF-EE77-4F33-9551-6E51D78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.ToArray();</a:t>
            </a:r>
          </a:p>
        </p:txBody>
      </p:sp>
      <p:sp>
        <p:nvSpPr>
          <p:cNvPr id="3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9BB4135-6BF1-45BD-81F2-AF6EE8E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7050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112DD7B-D59E-4F44-9698-F922EAD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870502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26F0682-E4D9-4E32-86DF-5D24AD0A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434530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3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04539CC8-E26D-42A1-9E08-2E458FD1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849761"/>
            <a:ext cx="27588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Correlation ID повезује </a:t>
            </a:r>
          </a:p>
        </p:txBody>
      </p:sp>
      <p:sp>
        <p:nvSpPr>
          <p:cNvPr id="3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B29BD49-A118-4B05-9643-D566768F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169741"/>
            <a:ext cx="38369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појединачне догађаје у случај са </a:t>
            </a:r>
          </a:p>
        </p:txBody>
      </p:sp>
      <p:sp>
        <p:nvSpPr>
          <p:cNvPr id="3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E900B07-83D7-42E2-A474-4A26941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489722"/>
            <a:ext cx="30570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бројем догађаја и скупом </a:t>
            </a:r>
          </a:p>
        </p:txBody>
      </p:sp>
      <p:sp>
        <p:nvSpPr>
          <p:cNvPr id="3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9590836-F553-4443-9B0F-BCB213B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809702"/>
            <a:ext cx="115490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типова.</a:t>
            </a:r>
          </a:p>
        </p:txBody>
      </p:sp>
      <p:sp>
        <p:nvSpPr>
          <p:cNvPr id="4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BBFBB7E-FCE8-44DE-93AF-2019DE5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39638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БЕЗБЕДНОСНА ГРАНИЦА</a:t>
            </a:r>
          </a:p>
        </p:txBody>
      </p:sp>
      <p:sp>
        <p:nvSpPr>
          <p:cNvPr id="4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24B2A0F-7A58-43D7-AB55-07BF819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811613"/>
            <a:ext cx="367248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Груписање по идентификатору </a:t>
            </a:r>
          </a:p>
        </p:txBody>
      </p:sp>
      <p:sp>
        <p:nvSpPr>
          <p:cNvPr id="4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1EB50C9-2986-473A-981B-10E48DFD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131594"/>
            <a:ext cx="32852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доказује узрок. Случај је </a:t>
            </a:r>
          </a:p>
        </p:txBody>
      </p:sp>
      <p:sp>
        <p:nvSpPr>
          <p:cNvPr id="4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C9F84DB-962C-4FAA-A59A-F8FB5FC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451574"/>
            <a:ext cx="32197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контекст за даљу процену.</a:t>
            </a:r>
          </a:p>
        </p:txBody>
      </p:sp>
      <p:sp>
        <p:nvSpPr>
          <p:cNvPr id="4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AA88E93-28C1-4B84-9996-03FE8CB5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57A5592-4A2D-4D6E-958A-64105811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7546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ED412-23C5-479F-8613-A08E397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91B3D-ACCE-444A-BC11-E2ED7BE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62744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2494EA0-4AD1-4754-94C8-E165A51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62744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54819-1FFD-4947-97F1-79F3E7E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92462e8754896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ABECCD61-0324-4360-966D-435C3819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korelacija-grupe">
            <a:extLst xmlns:a="http://schemas.openxmlformats.org/drawingml/2006/main">
              <a:ext uri="{FF2B5EF4-FFF2-40B4-BE49-F238E27FC236}">
                <a16:creationId xmlns:a16="http://schemas.microsoft.com/office/drawing/2014/main" id="{C5F23318-58ED-4A89-9C77-D102076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68161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4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Груписање по correlation ID</a:t>
            </a:r>
          </a:p>
        </p:txBody>
      </p:sp>
      <p:sp>
        <p:nvSpPr>
          <p:cNvPr id="8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D9B65949-3CC5-4123-9529-6088E76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5851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Догађаји различитих токова не спајају се само зато што су настали близу.</a:t>
            </a:r>
          </a:p>
        </p:txBody>
      </p:sp>
      <p:sp>
        <p:nvSpPr>
          <p:cNvPr id="9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5212EFBD-E362-4149-8674-26AA5EF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000" y="3838575"/>
            <a:ext cx="21208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 · login_failed</a:t>
            </a:r>
          </a:p>
        </p:txBody>
      </p:sp>
      <p:sp>
        <p:nvSpPr>
          <p:cNvPr id="10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235FF8FA-4C29-4ACB-90E5-034C8FF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503" y="5219700"/>
            <a:ext cx="24517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B · report_viewed</a:t>
            </a:r>
          </a:p>
        </p:txBody>
      </p:sp>
      <p:sp>
        <p:nvSpPr>
          <p:cNvPr id="11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A58A1163-091D-44DA-BE07-FAF3358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048" y="6600825"/>
            <a:ext cx="24885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 · access_denied</a:t>
            </a:r>
          </a:p>
        </p:txBody>
      </p:sp>
      <p:sp>
        <p:nvSpPr>
          <p:cNvPr id="12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5942AEE5-27D1-4693-AC30-A9806FEE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912" y="3838575"/>
            <a:ext cx="152682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 A</a:t>
            </a:r>
          </a:p>
        </p:txBody>
      </p:sp>
      <p:sp>
        <p:nvSpPr>
          <p:cNvPr id="13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1D01FB78-F137-4E26-B667-48979694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012" y="4265265"/>
            <a:ext cx="297462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2 догађаја · 2 типа</a:t>
            </a:r>
          </a:p>
        </p:txBody>
      </p:sp>
      <p:sp>
        <p:nvSpPr>
          <p:cNvPr id="14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AED476E2-19C5-4C5F-B6A5-80358619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3126" y="6172200"/>
            <a:ext cx="153054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 B</a:t>
            </a:r>
          </a:p>
        </p:txBody>
      </p:sp>
      <p:sp>
        <p:nvSpPr>
          <p:cNvPr id="15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DB7E70A2-3B50-4012-A73E-091A1B6C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3830" y="6598890"/>
            <a:ext cx="26491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1 догађај · 1 тип</a:t>
            </a:r>
          </a:p>
        </p:txBody>
      </p:sp>
      <p:sp>
        <p:nvSpPr>
          <p:cNvPr id="16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E9A1E232-F582-401D-93D9-04D781A0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798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7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4992690D-F29B-4191-A688-B04EFE3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176022"/>
            <a:ext cx="1259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Приказани код броји догађаје и сакупља јединствене типове. За закључак о нападу потребна је додатна анализа.</a:t>
            </a:r>
          </a:p>
        </p:txBody>
      </p:sp>
      <p:sp>
        <p:nvSpPr>
          <p:cNvPr id="18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C1032DB2-154E-4D5F-BC8B-1BB1EA1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korelacija-grupe">
            <a:extLst xmlns:a="http://schemas.openxmlformats.org/drawingml/2006/main">
              <a:ext uri="{FF2B5EF4-FFF2-40B4-BE49-F238E27FC236}">
                <a16:creationId xmlns:a16="http://schemas.microsoft.com/office/drawing/2014/main" id="{25A7A593-877D-486A-A2A7-F29E368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2839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958D0-3A8D-4B8F-A0B6-0DC7F769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72026"/>
            <a:ext cx="1047750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01ACE-15E9-4698-B0FB-1BA5348A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972026"/>
            <a:ext cx="181853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DD835-AA14-4C23-A4C1-28B6513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681" y="5972026"/>
            <a:ext cx="88537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14A73-55C5-41FC-81B5-010205BF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359" y="5972026"/>
            <a:ext cx="135865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B885-0C24-44CA-B004-DB0092A6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5"/>
          </a:solidFill>
          <a:ln xmlns:a="http://schemas.openxmlformats.org/drawingml/2006/main" w="0">
            <a:noFill/>
          </a:ln>
        </p:spPr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32A20A8F-4DE9-4A91-9E37-F2532B1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7" name="text-deo2">
            <a:extLst xmlns:a="http://schemas.openxmlformats.org/drawingml/2006/main">
              <a:ext uri="{FF2B5EF4-FFF2-40B4-BE49-F238E27FC236}">
                <a16:creationId xmlns:a16="http://schemas.microsoft.com/office/drawing/2014/main" id="{9483B424-E4E6-44A7-9B6A-0098D66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8595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8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787EE126-A361-4560-B58D-F9B70BD5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7855446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33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и доказ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2563458D-5669-40D3-9AC7-8AA22E38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1590"/>
            <a:ext cx="90552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Ефективност се мери за одређени сценарио и познат опсег примене.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16DB96EE-AC61-4D70-A7CB-9C2E1C8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057751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B00BBBBD-A5E9-41E5-A62C-9FD58CF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057751"/>
            <a:ext cx="176138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Покривеност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B0AC4326-5326-4CA8-87F1-A260BA10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706" y="6057751"/>
            <a:ext cx="828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Циљ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46891C4D-85AC-416F-BD07-E2BF586C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384" y="6057751"/>
            <a:ext cx="130150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Свежина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C8719A41-1A6A-442E-8902-78F606D8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5" name="text-deo2">
            <a:extLst xmlns:a="http://schemas.openxmlformats.org/drawingml/2006/main">
              <a:ext uri="{FF2B5EF4-FFF2-40B4-BE49-F238E27FC236}">
                <a16:creationId xmlns:a16="http://schemas.microsoft.com/office/drawing/2014/main" id="{E400D39A-32E9-4B8F-BBBC-AF89B1B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4287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F1AF6-A7CC-4F80-8C64-6BDE6E64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CD5FD-72AF-41EE-ACA4-8D40CD8D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5A743-948A-48F0-9F2D-3896917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F0224-6035-441F-8900-6EEAF809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E721D-AB47-4A12-90EC-4EAAC82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BFB4637-E8D2-4B49-B1FB-E48755D7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1981C-BBCE-481F-899F-C32D7FB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6126CB2-2839-4FD2-B091-1851D74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КОНТРОЛЕ</a:t>
            </a:r>
          </a:p>
        </p:txBody>
      </p:sp>
      <p:sp>
        <p:nvSpPr>
          <p:cNvPr id="9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83DF19B0-767F-4ADE-BFB1-4199BFB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90884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6295EAD8-3278-477B-87F9-1DA130A0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4623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смањује одређени ризик</a:t>
            </a:r>
          </a:p>
        </p:txBody>
      </p:sp>
      <p:sp>
        <p:nvSpPr>
          <p:cNvPr id="1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E8182C0-1F43-4F85-A09F-FB22146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159EF5B-FA9B-40F3-8867-6F31A80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09643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је везана за конкретан ризик који смањује и за ток на који се примењује.</a:t>
            </a:r>
          </a:p>
        </p:txBody>
      </p:sp>
      <p:sp>
        <p:nvSpPr>
          <p:cNvPr id="1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6A7A6AF-F8B2-46F7-966E-7552773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7B71071-244F-40EB-B8B9-0D63EF55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3C495B3D-3A5E-4C19-A274-82D517B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22327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 наставном примеру ефективност је удео заустављених у односу на све испитане покушаје.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8235E5A-C4E9-4694-8645-F7F639B0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B2FB0DB-03E8-4A78-8117-FB42C5E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D6AFFCA-54CD-4C3E-BFD8-01ACA6A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90246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која никада није била на проби не сматра се ефективном.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8381381-EE4C-49AC-9646-8D7EDFF9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F478BCA-9153-4ADB-869E-3F3D908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E73DDDF-3160-494F-8D47-252912E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990927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Којим бројем бисте показали да ваша контрола заиста зауставља покушаје?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0CF2E72-C741-402E-BD88-D939B5D6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20D3C69-0ACB-4765-A907-F0155E51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28271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583BD-7E47-4B13-B8C9-346C558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1238F-42E8-4EB7-8ADE-C9BE848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611" y="3893641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7738-8CE4-4A32-B6EC-7535C79D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0916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10F76FF-F4CF-4584-9D0F-A5A0CBE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0916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E3F90-3A59-41BA-A4BF-FCA9066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06158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A5053D9-39AB-4B53-B536-6D319BC8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06158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D9E73-DB85-42F6-B731-73F3502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895D707A-E93D-49D2-849C-1170E96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КОНТРОЛЕ</a:t>
            </a:r>
          </a:p>
        </p:txBody>
      </p:sp>
      <p:sp>
        <p:nvSpPr>
          <p:cNvPr id="9" name="heading-mera-opseg">
            <a:extLst xmlns:a="http://schemas.openxmlformats.org/drawingml/2006/main">
              <a:ext uri="{FF2B5EF4-FFF2-40B4-BE49-F238E27FC236}">
                <a16:creationId xmlns:a16="http://schemas.microsoft.com/office/drawing/2014/main" id="{1033B910-D018-436A-A351-6B8C17C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58567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74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Мера ефективности у наставном примеру</a:t>
            </a:r>
          </a:p>
        </p:txBody>
      </p:sp>
      <p:sp>
        <p:nvSpPr>
          <p:cNvPr id="10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5EDF0B07-E017-4FA0-A8D6-1D545AB5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1814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Удео је једна мера, уз коју се бележе сценарио, извор података и ограничења.</a:t>
            </a:r>
          </a:p>
        </p:txBody>
      </p:sp>
      <p:sp>
        <p:nvSpPr>
          <p:cNvPr id="11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AD36B67D-C5FA-44BA-884E-BC7CE322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4554"/>
            <a:ext cx="1306711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4800">
                <a:latin typeface="STIX Two Text"/>
                <a:ea typeface="STIX Two Text"/>
                <a:cs typeface="STIX Two Text"/>
              </a:defRPr>
            </a:pPr>
            <a:r>
              <a:rPr sz="4800" b="0">
                <a:solidFill>
                  <a:srgbClr val="13202D"/>
                </a:solidFill>
                <a:latin typeface="STIX Two Text"/>
                <a:ea typeface="STIX Two Text"/>
                <a:cs typeface="STIX Two Text"/>
              </a:rPr>
              <a:t>E =</a:t>
            </a:r>
          </a:p>
        </p:txBody>
      </p:sp>
      <p:sp>
        <p:nvSpPr>
          <p:cNvPr id="12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0E373C70-A58F-4E9E-9243-3A97027C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859" y="3169741"/>
            <a:ext cx="609540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STIX Two Text"/>
                <a:ea typeface="STIX Two Text"/>
                <a:cs typeface="STIX Two Text"/>
              </a:defRPr>
            </a:pPr>
            <a:r>
              <a:rPr sz="3600" b="0">
                <a:solidFill>
                  <a:srgbClr val="13202D"/>
                </a:solidFill>
                <a:latin typeface="STIX Two Text"/>
                <a:ea typeface="STIX Two Text"/>
                <a:cs typeface="STIX Two Text"/>
              </a:rPr>
              <a:t>број заустављених покушаја</a:t>
            </a:r>
          </a:p>
        </p:txBody>
      </p:sp>
      <p:sp>
        <p:nvSpPr>
          <p:cNvPr id="13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52900F05-BB0D-439E-AFBC-364F942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984" y="4131766"/>
            <a:ext cx="6559004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600">
                <a:latin typeface="STIX Two Text"/>
                <a:ea typeface="STIX Two Text"/>
                <a:cs typeface="STIX Two Text"/>
              </a:defRPr>
            </a:pPr>
            <a:r>
              <a:rPr sz="3600" b="0">
                <a:solidFill>
                  <a:srgbClr val="13202D"/>
                </a:solidFill>
                <a:latin typeface="STIX Two Text"/>
                <a:ea typeface="STIX Two Text"/>
                <a:cs typeface="STIX Two Text"/>
              </a:rPr>
              <a:t>број свих испитаних покушаја</a:t>
            </a:r>
          </a:p>
        </p:txBody>
      </p:sp>
      <p:sp>
        <p:nvSpPr>
          <p:cNvPr id="14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C5943A2F-9A89-4ED8-8F7B-8AB81BAA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211" y="3612654"/>
            <a:ext cx="1978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4200">
                <a:latin typeface="STIX Two Text"/>
                <a:ea typeface="STIX Two Text"/>
                <a:cs typeface="STIX Two Text"/>
              </a:defRPr>
            </a:pPr>
            <a:r>
              <a:rPr sz="4200" b="0">
                <a:solidFill>
                  <a:srgbClr val="13202D"/>
                </a:solidFill>
                <a:latin typeface="STIX Two Text"/>
                <a:ea typeface="STIX Two Text"/>
                <a:cs typeface="STIX Two Text"/>
              </a:rPr>
              <a:t>× 100%</a:t>
            </a:r>
          </a:p>
        </p:txBody>
      </p:sp>
      <p:sp>
        <p:nvSpPr>
          <p:cNvPr id="15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16718EFD-A006-4418-B912-575199E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41416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Илустрација</a:t>
            </a:r>
          </a:p>
        </p:txBody>
      </p:sp>
      <p:sp>
        <p:nvSpPr>
          <p:cNvPr id="16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AFAEA080-FFC3-4BB0-8FAA-A1114CF2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7122"/>
            <a:ext cx="1392391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90 заустављених од 100 испитаних покушаја = 90%. Резултат важи за приказани сценарио и скуп покушаја.</a:t>
            </a:r>
          </a:p>
        </p:txBody>
      </p:sp>
      <p:sp>
        <p:nvSpPr>
          <p:cNvPr id="17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349F4DDF-E406-4873-80B8-EBBBBEF8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96658"/>
            <a:ext cx="198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Без покушаја</a:t>
            </a:r>
          </a:p>
        </p:txBody>
      </p:sp>
      <p:sp>
        <p:nvSpPr>
          <p:cNvPr id="18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D82C2D74-0C33-4448-89CD-7078747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02363"/>
            <a:ext cx="151560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Нема довољно мерења за оцену. Нула у приказаном коду је договорена повратна вредност, а не доказ да је контрола </a:t>
            </a:r>
          </a:p>
        </p:txBody>
      </p:sp>
      <p:sp>
        <p:nvSpPr>
          <p:cNvPr id="19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8A2E7438-0978-492F-A446-0D719D62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75624"/>
            <a:ext cx="10708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лоша.</a:t>
            </a:r>
          </a:p>
        </p:txBody>
      </p:sp>
      <p:sp>
        <p:nvSpPr>
          <p:cNvPr id="20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0B33F256-9F52-47F5-B7AA-8B43A43F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1" name="text-mera-opseg">
            <a:extLst xmlns:a="http://schemas.openxmlformats.org/drawingml/2006/main">
              <a:ext uri="{FF2B5EF4-FFF2-40B4-BE49-F238E27FC236}">
                <a16:creationId xmlns:a16="http://schemas.microsoft.com/office/drawing/2014/main" id="{6F0F12B1-56AE-4F76-9BCC-0DD0BA4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39250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279AFD-A12A-4949-BB53-3B2E9DF7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C4A4E-C44F-4596-87AF-A20473E4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811000" cy="4635996"/>
          </a:xfrm>
          <a:prstGeom xmlns:a="http://schemas.openxmlformats.org/drawingml/2006/main" prst="roundRect">
            <a:avLst>
              <a:gd name="adj" fmla="val 328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5BEAF-078C-4D5D-A87A-95A7B124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4530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B645-A8D1-4CD7-AC5E-FE41A393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402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347DC-6251-45CD-A4C6-BFDD7436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3AF61B1-2CD6-4724-BEEE-252B1FF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КОНТРОЛЕ</a:t>
            </a:r>
          </a:p>
        </p:txBody>
      </p:sp>
      <p:sp>
        <p:nvSpPr>
          <p:cNvPr id="7" name="heading-source-15">
            <a:extLst xmlns:a="http://schemas.openxmlformats.org/drawingml/2006/main">
              <a:ext uri="{FF2B5EF4-FFF2-40B4-BE49-F238E27FC236}">
                <a16:creationId xmlns:a16="http://schemas.microsoft.com/office/drawing/2014/main" id="{7D7763DF-EDDC-48E2-8DD0-1F54A953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67971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без мерења не важи као ефективна</a:t>
            </a:r>
          </a:p>
        </p:txBody>
      </p:sp>
      <p:sp>
        <p:nvSpPr>
          <p:cNvPr id="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4A1E29C-5B81-45C8-B20B-1B0799B3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57CBBFA-FAC0-49E5-8584-BFABD16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0271DD4-62FD-4FCC-9E53-8982224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1362CB9-5C4A-4254-896F-7E0C21C7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F3ECA15F-CE6A-47E0-8ECB-D9230802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void</a:t>
            </a:r>
          </a:p>
        </p:txBody>
      </p:sp>
      <p:sp>
        <p:nvSpPr>
          <p:cNvPr id="1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F024D4D6-1B65-40D7-92D4-401E2CB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A2A7558-56CC-4369-8F01-F2F5F5A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89840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Evaluate_WhenControlWasNeverExercised_DoesNotClaimItWorks()</a:t>
            </a:r>
          </a:p>
        </p:txBody>
      </p:sp>
      <p:sp>
        <p:nvSpPr>
          <p:cNvPr id="1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51A39FE-B64E-43D1-8D37-056BCEC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5B40852D-4AFF-42D1-BE96-1C4E6C5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DB5BDDF-EAF1-4991-B889-3D9A289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885397D-8D43-4715-95C6-D6E89DA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65152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effectiveness = _calculator.Evaluate(</a:t>
            </a:r>
          </a:p>
        </p:txBody>
      </p:sp>
      <p:sp>
        <p:nvSpPr>
          <p:cNvPr id="1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B2971A9-75F0-4FEF-9048-3BDB346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15522E1-0DE7-4628-AA23-DBBE2EF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70639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ControlMeasurement(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"step-up"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 0, 0));</a:t>
            </a:r>
          </a:p>
        </p:txBody>
      </p:sp>
      <p:sp>
        <p:nvSpPr>
          <p:cNvPr id="2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360FF6A-6D18-4376-AD5B-A36C555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DAEF6095-935D-401A-95C6-29CD635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5692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(Assert.EnterMultipleScope())</a:t>
            </a:r>
          </a:p>
        </p:txBody>
      </p:sp>
      <p:sp>
        <p:nvSpPr>
          <p:cNvPr id="2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A53D7CA-A2F3-4BF4-B3FA-92D44EB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E4D33F2-03D6-4CFF-A390-753F4C4D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{</a:t>
            </a:r>
          </a:p>
        </p:txBody>
      </p:sp>
      <p:sp>
        <p:nvSpPr>
          <p:cNvPr id="2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C521155-2844-4394-814F-D947167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F83BFE35-E6C1-46BC-BEA0-7F1E82F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720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Assert.That(effectiveness.Ratio, Is.Zero);</a:t>
            </a:r>
          </a:p>
        </p:txBody>
      </p:sp>
      <p:sp>
        <p:nvSpPr>
          <p:cNvPr id="2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047AD5A-FF4F-4A4C-8F9F-9A4F2C1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C289037-3DE1-458A-A107-81C5536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8161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Assert.That(effectiveness.MeetsTarget, Is.False);</a:t>
            </a:r>
          </a:p>
        </p:txBody>
      </p:sp>
      <p:sp>
        <p:nvSpPr>
          <p:cNvPr id="2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B00849D-2B30-430A-B9F3-19463EDB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7388AF6-FE72-4D17-BFC4-C1E009E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}</a:t>
            </a:r>
          </a:p>
        </p:txBody>
      </p:sp>
      <p:sp>
        <p:nvSpPr>
          <p:cNvPr id="3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6C78585-724C-4D72-9B49-5E464EA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9BB954F-D337-4EFD-8B5F-9FA3C1F5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A87692C-54E8-44EF-A7D8-A7C2CC5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43453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3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65C9628-D3FB-4FB8-8C8F-68915F9F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2849761"/>
            <a:ext cx="34249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 иједног покушаја удео је </a:t>
            </a:r>
          </a:p>
        </p:txBody>
      </p:sp>
      <p:sp>
        <p:nvSpPr>
          <p:cNvPr id="3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EF417EB-5F93-4C12-8098-A7BE9643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169741"/>
            <a:ext cx="30020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нула, а циљ се не сматра </a:t>
            </a:r>
          </a:p>
        </p:txBody>
      </p:sp>
      <p:sp>
        <p:nvSpPr>
          <p:cNvPr id="3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7A8FF86-F082-438D-8035-5EF0374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3489722"/>
            <a:ext cx="16432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испуњеним.</a:t>
            </a:r>
          </a:p>
        </p:txBody>
      </p:sp>
      <p:sp>
        <p:nvSpPr>
          <p:cNvPr id="3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29FBCC1-4FCE-42AF-8AF4-AC7DF4F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076402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ОЧЕКИВАНИ ИСХОД</a:t>
            </a:r>
          </a:p>
        </p:txBody>
      </p:sp>
      <p:sp>
        <p:nvSpPr>
          <p:cNvPr id="3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0AAB8D6-9367-40AC-AF04-3A2A694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491633"/>
            <a:ext cx="36974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не дозвољава да одсуство </a:t>
            </a:r>
          </a:p>
        </p:txBody>
      </p:sp>
      <p:sp>
        <p:nvSpPr>
          <p:cNvPr id="3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AFBA703-DBBC-4FC7-A589-1EEB8B5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4811613"/>
            <a:ext cx="31832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мерења изгледа као успех </a:t>
            </a:r>
          </a:p>
        </p:txBody>
      </p:sp>
      <p:sp>
        <p:nvSpPr>
          <p:cNvPr id="4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7829EC8-2AD1-443D-8451-017DA528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131594"/>
            <a:ext cx="14119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контроле.</a:t>
            </a:r>
          </a:p>
        </p:txBody>
      </p:sp>
      <p:sp>
        <p:nvSpPr>
          <p:cNvPr id="4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C1FD35C-356A-4DBB-8D83-575BFFCF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F9F5558-7039-40B3-B9F7-1CD83A2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74474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677E4-7C04-4DC5-8539-E9B3A55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4689D-80C5-466C-98D8-E1872BE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822AB4F1-6EF0-4B07-B6A4-57A1380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 · КОНТРОЛЕ</a:t>
            </a:r>
          </a:p>
        </p:txBody>
      </p:sp>
      <p:sp>
        <p:nvSpPr>
          <p:cNvPr id="4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D095B495-9977-4979-B050-BC3B85E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84974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0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Доказ, покривеност и ефективност</a:t>
            </a:r>
          </a:p>
        </p:txBody>
      </p:sp>
      <p:sp>
        <p:nvSpPr>
          <p:cNvPr id="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9291BAB9-F152-4BA2-888F-8E499AF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755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971D470-FD16-41B5-AC13-4CE1C481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476D4080-12E7-4094-9A40-CADC4C9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455414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57638"/>
                <a:gridCol w="5224016"/>
                <a:gridCol w="6648896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Питање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CEAE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Слаб одговор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CEAE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Поуздан одговор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CEAE0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Да ли контрола постоји?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Класа или подешавање је присутно.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Контрола има власника, активну конфигурацију и сврху.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Да ли ради?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Једном је ручно проверена.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Постоји поновљив тест или актуелан оперативни доказ.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Шта покрива?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Претпоставља се да важи свуда.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Познати су сценарио, граница и изузеци.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Како знамо да је ослабила?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Проблем се види тек после инцидента.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Метрика, alert или редован преглед откривају одступање.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123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5022F-9671-482F-9A9C-7012FD91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31026-7607-4675-8DF6-CB995B1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0287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4CF78-CD68-446C-A352-05BC4C6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34530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F6EF1-FB7E-419F-B742-B3DC83FD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076402"/>
            <a:ext cx="28575" cy="13751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09C77-1711-4141-9F87-32DFE8EC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11F5E2A-BBFB-4088-989C-71853B2D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ДОКАЗ И РЕВИЗИЈА</a:t>
            </a:r>
          </a:p>
        </p:txBody>
      </p:sp>
      <p:sp>
        <p:nvSpPr>
          <p:cNvPr id="7" name="heading-source-16">
            <a:extLst xmlns:a="http://schemas.openxmlformats.org/drawingml/2006/main">
              <a:ext uri="{FF2B5EF4-FFF2-40B4-BE49-F238E27FC236}">
                <a16:creationId xmlns:a16="http://schemas.microsoft.com/office/drawing/2014/main" id="{51097A50-EB6E-46DD-B2BA-ABCC078A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43694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 о процени контроле</a:t>
            </a:r>
          </a:p>
        </p:txBody>
      </p:sp>
      <p:sp>
        <p:nvSpPr>
          <p:cNvPr id="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94E91D2-5944-493C-8F61-83BE7B4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909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JSON · илустративни пример</a:t>
            </a:r>
          </a:p>
        </p:txBody>
      </p:sp>
      <p:sp>
        <p:nvSpPr>
          <p:cNvPr id="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F015354-ABB7-4942-9F0D-CA624BD8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0E25481-691E-4767-89FB-742873A2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D2618286-ED41-45AE-8239-354F01B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EB83FE3-D8DF-46B2-B8A8-61D8F9AC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52811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"control"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"object-authorization"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FFEA0A41-B201-4C3E-8312-10849EBF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F32C798-9583-44E4-B589-E11CEB3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47324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"risk"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"cross-tenant-access"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546DF86-EAFA-43C9-80EC-7A80923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A5DEC78-D8A0-43FB-8AD6-EB4D631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5953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"lastEvidence"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"2026-09-20"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EB3359B-DEF3-4EEE-A507-D2823060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4BC23F8-4598-4C0E-BA46-ADBC99D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65155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"coveredScenario"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"foreign-record-denied"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ABAC8BD-C0FB-4053-812C-46B8713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2A43917-6D72-43E4-827D-35CA2C8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36351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"status"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"effective"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42C89EAE-7AAF-4BFD-924D-79FFF650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B493B2C-108F-40B6-B64B-401F1894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41838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"nextReview"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"2026-10-20"</a:t>
            </a:r>
          </a:p>
        </p:txBody>
      </p:sp>
      <p:sp>
        <p:nvSpPr>
          <p:cNvPr id="2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9D0966C-7088-4556-82E0-82539306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5928CCD1-54C2-4A75-A763-CFE881D9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331B1BF-DFE8-47C9-8FEE-99998DA8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434530"/>
            <a:ext cx="3360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Повезан ревизиони траг</a:t>
            </a:r>
          </a:p>
        </p:txBody>
      </p:sp>
      <p:sp>
        <p:nvSpPr>
          <p:cNvPr id="2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3ED5647-EEDF-42CE-9B3A-B879A4A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2849761"/>
            <a:ext cx="40826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Актер, радња, циљ, исход и разлог</a:t>
            </a:r>
          </a:p>
        </p:txBody>
      </p:sp>
      <p:sp>
        <p:nvSpPr>
          <p:cNvPr id="2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37879C1-9407-477A-93A5-1D6D6EBF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169741"/>
            <a:ext cx="49451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Временска ознака и correlation ID повезују </a:t>
            </a:r>
          </a:p>
        </p:txBody>
      </p:sp>
      <p:sp>
        <p:nvSpPr>
          <p:cNvPr id="2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B085B1FB-D474-424F-B7C9-2C3F5E0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3489722"/>
            <a:ext cx="27281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са остатком тока.</a:t>
            </a:r>
          </a:p>
        </p:txBody>
      </p:sp>
      <p:sp>
        <p:nvSpPr>
          <p:cNvPr id="2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BA46A9A-E89F-4442-875D-085F735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076402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НЕ ПРИПАДА У ДОКАЗ</a:t>
            </a:r>
          </a:p>
        </p:txBody>
      </p:sp>
      <p:sp>
        <p:nvSpPr>
          <p:cNvPr id="3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E874140-FCAA-465A-AEAD-7F8155D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491633"/>
            <a:ext cx="46937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Лозинка, token, тајна и сувишан садржај</a:t>
            </a:r>
          </a:p>
        </p:txBody>
      </p:sp>
      <p:sp>
        <p:nvSpPr>
          <p:cNvPr id="3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50A5E9F3-B73F-4789-91C7-DABF9ADC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811613"/>
            <a:ext cx="495701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не сме да постане нови извор цурења </a:t>
            </a:r>
          </a:p>
        </p:txBody>
      </p:sp>
      <p:sp>
        <p:nvSpPr>
          <p:cNvPr id="3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87E4B8D-CF5D-4FC2-B310-9A7DF2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5131594"/>
            <a:ext cx="41030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или збирка непотребних података.</a:t>
            </a:r>
          </a:p>
        </p:txBody>
      </p:sp>
      <p:sp>
        <p:nvSpPr>
          <p:cNvPr id="3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F65FAE4-10B9-4537-873E-1AFE347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361A76F-186E-4AB7-898F-B2C183C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5797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ABE1B-FADA-407F-95C7-5759036B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38454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0967A-323F-4C2A-99A6-E63A063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648" y="6158657"/>
            <a:ext cx="158635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DB7A4-41AB-45CB-B16F-3ADF4F99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307" y="6158657"/>
            <a:ext cx="152801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2C0F-C025-42A0-A3B8-61E0A523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625" y="6158657"/>
            <a:ext cx="208329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91E76-4AE8-42D1-BBA6-447506BD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5"/>
          </a:solidFill>
          <a:ln xmlns:a="http://schemas.openxmlformats.org/drawingml/2006/main" w="0">
            <a:noFill/>
          </a:ln>
        </p:spPr>
      </p:sp>
      <p:sp>
        <p:nvSpPr>
          <p:cNvPr id="6" name="text-deo3">
            <a:extLst xmlns:a="http://schemas.openxmlformats.org/drawingml/2006/main">
              <a:ext uri="{FF2B5EF4-FFF2-40B4-BE49-F238E27FC236}">
                <a16:creationId xmlns:a16="http://schemas.microsoft.com/office/drawing/2014/main" id="{09B50EC5-0E2E-45C5-9AAA-01BF265E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B4C19C0B-5188-49B1-890C-6269924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8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BC47144D-D174-49C7-B37C-02417EF0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44168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63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Процена и одговор</a:t>
            </a:r>
          </a:p>
        </p:txBody>
      </p:sp>
      <p:sp>
        <p:nvSpPr>
          <p:cNvPr id="9" name="text-deo3">
            <a:extLst xmlns:a="http://schemas.openxmlformats.org/drawingml/2006/main">
              <a:ext uri="{FF2B5EF4-FFF2-40B4-BE49-F238E27FC236}">
                <a16:creationId xmlns:a16="http://schemas.microsoft.com/office/drawing/2014/main" id="{2BBEB0D3-E6AC-454F-A7D7-54098001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3432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Повезани догађаји усмеравају процену, а последице одговора одређују 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AA97F84E-312B-4464-A580-B691D17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27123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потребне провере.</a:t>
            </a:r>
          </a:p>
        </p:txBody>
      </p:sp>
      <p:sp>
        <p:nvSpPr>
          <p:cNvPr id="11" name="text-deo3">
            <a:extLst xmlns:a="http://schemas.openxmlformats.org/drawingml/2006/main">
              <a:ext uri="{FF2B5EF4-FFF2-40B4-BE49-F238E27FC236}">
                <a16:creationId xmlns:a16="http://schemas.microsoft.com/office/drawing/2014/main" id="{088B2C89-7215-4802-85ED-307BCE4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3273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</a:t>
            </a:r>
          </a:p>
        </p:txBody>
      </p:sp>
      <p:sp>
        <p:nvSpPr>
          <p:cNvPr id="12" name="text-deo3">
            <a:extLst xmlns:a="http://schemas.openxmlformats.org/drawingml/2006/main">
              <a:ext uri="{FF2B5EF4-FFF2-40B4-BE49-F238E27FC236}">
                <a16:creationId xmlns:a16="http://schemas.microsoft.com/office/drawing/2014/main" id="{E52C04FA-9AC9-41EF-BF39-6EA388CF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673" y="6244382"/>
            <a:ext cx="15292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Последица</a:t>
            </a:r>
          </a:p>
        </p:txBody>
      </p:sp>
      <p:sp>
        <p:nvSpPr>
          <p:cNvPr id="13" name="text-deo3">
            <a:extLst xmlns:a="http://schemas.openxmlformats.org/drawingml/2006/main">
              <a:ext uri="{FF2B5EF4-FFF2-40B4-BE49-F238E27FC236}">
                <a16:creationId xmlns:a16="http://schemas.microsoft.com/office/drawing/2014/main" id="{8A1B549F-2099-47C1-99BA-C31E44A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332" y="6244382"/>
            <a:ext cx="14708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Одобрење</a:t>
            </a:r>
          </a:p>
        </p:txBody>
      </p:sp>
      <p:sp>
        <p:nvSpPr>
          <p:cNvPr id="14" name="text-deo3">
            <a:extLst xmlns:a="http://schemas.openxmlformats.org/drawingml/2006/main">
              <a:ext uri="{FF2B5EF4-FFF2-40B4-BE49-F238E27FC236}">
                <a16:creationId xmlns:a16="http://schemas.microsoft.com/office/drawing/2014/main" id="{9344576E-4283-49A5-844F-9358698E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650" y="6244382"/>
            <a:ext cx="20261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траг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6D560289-D005-40B0-B439-ABBECC5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1DB3C018-790B-44AA-B298-24655B70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92765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7A4F8-9D7C-4CF0-95E2-F8DF0AD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F589C-3A75-468B-8BED-5EBF0934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8F89B-1924-4F37-B94A-54D9D915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58C6F-0BEF-4904-9BAA-528ABF3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42A89-BF3F-41B2-9577-A97329C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C2FDEBE5-8DD1-49F3-B389-C086CEEC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ПРОЦЕНА И ОДГОВОР</a:t>
            </a:r>
          </a:p>
        </p:txBody>
      </p:sp>
      <p:sp>
        <p:nvSpPr>
          <p:cNvPr id="7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B989C054-1621-4EDF-A23B-DE40155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559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0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има смисао тек уз доказ</a:t>
            </a:r>
          </a:p>
        </p:txBody>
      </p:sp>
      <p:sp>
        <p:nvSpPr>
          <p:cNvPr id="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14E9B17-B9AF-499B-9278-BEC9D72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9548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0399511-F034-4BB1-B497-5F42D810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1E9DABE-30E2-4758-BBD8-5A9CD36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29531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повезује догађаје по времену, актеру и ресурсу, уз садржај појединачних порука лога.</a:t>
            </a:r>
          </a:p>
        </p:txBody>
      </p:sp>
      <p:sp>
        <p:nvSpPr>
          <p:cNvPr id="1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D265E4F-1913-4F43-BD27-01FABE5E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19177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Јасно правило</a:t>
            </a:r>
          </a:p>
        </p:txBody>
      </p:sp>
      <p:sp>
        <p:nvSpPr>
          <p:cNvPr id="1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CF36D9D4-F8C1-455A-8F7D-2C80F51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2D000D5-4416-4D7B-8CD8-9CA91B2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041752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Одговор са већим последицама захтева људску одлуку и јасан траг одобрења.</a:t>
            </a:r>
          </a:p>
        </p:txBody>
      </p:sp>
      <p:sp>
        <p:nvSpPr>
          <p:cNvPr id="1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9F32B93-1A7D-41F0-8124-C8ACB2E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270718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Проверљива примена</a:t>
            </a:r>
          </a:p>
        </p:txBody>
      </p:sp>
      <p:sp>
        <p:nvSpPr>
          <p:cNvPr id="1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A0F0756-F0C8-4E6C-AA0D-CC5F2B4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CFC2FBDA-DB7D-41C8-82D4-BA5B63F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98402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Постинцидентни преглед испитује системске и процесне узроке догађаја.</a:t>
            </a:r>
          </a:p>
        </p:txBody>
      </p:sp>
      <p:sp>
        <p:nvSpPr>
          <p:cNvPr id="1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E981E0F2-E3A8-4154-9BA8-2FBF35E1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18889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Видљив доказ</a:t>
            </a:r>
          </a:p>
        </p:txBody>
      </p:sp>
      <p:sp>
        <p:nvSpPr>
          <p:cNvPr id="1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933248E-B12A-4B1A-A89C-6ABAF12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4E67F088-97A1-4BFB-8051-0119E45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74448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2955C-3C21-4C71-8A23-3B1DA0A1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C6F2D-BA30-4B62-A34D-7AA0115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FC58F-0FEF-465B-B7F9-F2D19B2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9638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EE364-687D-4155-A5E3-C23DE12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668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172E-C848-4AF1-B337-EB041577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0F2CD4D-D1B0-4319-AC46-0DBB0E9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ПРИМЕР</a:t>
            </a:r>
          </a:p>
        </p:txBody>
      </p:sp>
      <p:sp>
        <p:nvSpPr>
          <p:cNvPr id="7" name="heading-source-13">
            <a:extLst xmlns:a="http://schemas.openxmlformats.org/drawingml/2006/main">
              <a:ext uri="{FF2B5EF4-FFF2-40B4-BE49-F238E27FC236}">
                <a16:creationId xmlns:a16="http://schemas.microsoft.com/office/drawing/2014/main" id="{EEEC239B-557F-4F31-9271-0711E6D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97022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87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Случај: контрола постоји, али нема свеж доказ</a:t>
            </a:r>
          </a:p>
        </p:txBody>
      </p:sp>
      <p:sp>
        <p:nvSpPr>
          <p:cNvPr id="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D6B12DEE-34A3-4C3E-9E72-8C50A91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6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04245FE-32CA-464E-BD46-48B4DEC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СЦЕНАРИО</a:t>
            </a:r>
          </a:p>
        </p:txBody>
      </p:sp>
      <p:sp>
        <p:nvSpPr>
          <p:cNvPr id="1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49C6258-9087-49E4-B5D8-3CB8085E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7331571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контрола постоји, али нема свеж </a:t>
            </a:r>
          </a:p>
        </p:txBody>
      </p:sp>
      <p:sp>
        <p:nvSpPr>
          <p:cNvPr id="1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C60B9AC8-B56C-420B-9696-9944554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6333"/>
            <a:ext cx="131995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E46D7BD-00A2-4704-B688-40E7F23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07719"/>
            <a:ext cx="75430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има правило које ограничава приступ осетљивом </a:t>
            </a:r>
          </a:p>
        </p:txBody>
      </p:sp>
      <p:sp>
        <p:nvSpPr>
          <p:cNvPr id="1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F35869D-D548-432E-AA5F-941463B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0980"/>
            <a:ext cx="65152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ресурсу. Правило је било успешно тестирано пре </a:t>
            </a:r>
          </a:p>
        </p:txBody>
      </p:sp>
      <p:sp>
        <p:nvSpPr>
          <p:cNvPr id="1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4BE6027-1D8C-4FF8-B723-CC17B1C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4241"/>
            <a:ext cx="75713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неколико месеци, али се у међувремену променио модел </a:t>
            </a:r>
          </a:p>
        </p:txBody>
      </p:sp>
      <p:sp>
        <p:nvSpPr>
          <p:cNvPr id="1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39934B9-88A4-42F5-83EE-8315D265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27502"/>
            <a:ext cx="75807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улога и додат је нови улаз у систем. Без новог доказа тим </a:t>
            </a:r>
          </a:p>
        </p:txBody>
      </p:sp>
      <p:sp>
        <p:nvSpPr>
          <p:cNvPr id="1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0E83993-4996-4772-A184-68C4D17C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00763"/>
            <a:ext cx="71595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 да контрола постоји, али не зна да ли још покрива </a:t>
            </a:r>
          </a:p>
        </p:txBody>
      </p:sp>
      <p:sp>
        <p:nvSpPr>
          <p:cNvPr id="1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87447FCD-E177-4669-A1C9-240816D3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4023"/>
            <a:ext cx="69477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стварни ризик. Ефективност зато укључује свежину, </a:t>
            </a:r>
          </a:p>
        </p:txBody>
      </p:sp>
      <p:sp>
        <p:nvSpPr>
          <p:cNvPr id="1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2F5C28C-F1CE-439D-A5E2-644D695A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47284"/>
            <a:ext cx="36092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опсег и резултат провере.</a:t>
            </a:r>
          </a:p>
        </p:txBody>
      </p:sp>
      <p:sp>
        <p:nvSpPr>
          <p:cNvPr id="1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18E99C9-C672-44BF-991D-ABE3592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CCC4096-022E-419C-9479-18A485A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66280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повезује низ догађаја у једну причу о </a:t>
            </a:r>
          </a:p>
        </p:txBody>
      </p:sp>
      <p:sp>
        <p:nvSpPr>
          <p:cNvPr id="2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91EC74E-63D1-4465-9B9D-FCFBF7DF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352"/>
            <a:ext cx="28576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понашању система.</a:t>
            </a:r>
          </a:p>
        </p:txBody>
      </p:sp>
      <p:sp>
        <p:nvSpPr>
          <p:cNvPr id="2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15E8B71F-484A-4F8D-B3A6-1F46F376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298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1FCD5F1-FBE5-46DA-906A-CB62C464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0138"/>
            <a:ext cx="62775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Мера ефективности прати да ли контрола има </a:t>
            </a:r>
          </a:p>
        </p:txBody>
      </p:sp>
      <p:sp>
        <p:nvSpPr>
          <p:cNvPr id="2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983B358-B6B0-43EB-B4D4-0A25B32D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3399"/>
            <a:ext cx="74769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власника, доказ и покривеност релевантног сценарија.</a:t>
            </a:r>
          </a:p>
        </p:txBody>
      </p:sp>
      <p:sp>
        <p:nvSpPr>
          <p:cNvPr id="2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7089767-1527-47AC-925C-43E38AF9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00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7386A434-0756-4EA9-9461-8E15448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77185"/>
            <a:ext cx="70240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Аутоматизован одговор може убрзати реакцију, али </a:t>
            </a:r>
          </a:p>
        </p:txBody>
      </p:sp>
      <p:sp>
        <p:nvSpPr>
          <p:cNvPr id="2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BFB6CD0-6933-4457-B6C2-7E17BC9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50446"/>
            <a:ext cx="66624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радња са великом последицом задржава људску </a:t>
            </a:r>
          </a:p>
        </p:txBody>
      </p:sp>
      <p:sp>
        <p:nvSpPr>
          <p:cNvPr id="2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42C7956-0C18-4055-AA75-0EB9083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3707"/>
            <a:ext cx="37399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потврду и ревизиони траг.</a:t>
            </a:r>
          </a:p>
        </p:txBody>
      </p:sp>
      <p:sp>
        <p:nvSpPr>
          <p:cNvPr id="2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6D437C9-9277-43B0-8672-4CE8794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4848569-0785-4677-B12A-A391656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43110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C08AF-1D39-45AD-9755-5EF1C45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9468-CF68-4089-9ADD-D9DEF2EA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3D733-44B5-472C-8340-C23F42D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9638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D413E-026A-426E-B560-34A56B43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668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3FF09-34F8-4BB7-A32B-676BDFC8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4CA353F-6F7D-4A7B-9A26-D86112B2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 · ЕФЕКТИВНОСТ</a:t>
            </a:r>
          </a:p>
        </p:txBody>
      </p:sp>
      <p:sp>
        <p:nvSpPr>
          <p:cNvPr id="7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DF77253C-21BA-4595-A418-C877BF5C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29014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Процена ефективности контроле</a:t>
            </a:r>
          </a:p>
        </p:txBody>
      </p:sp>
      <p:sp>
        <p:nvSpPr>
          <p:cNvPr id="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3991566-0C30-42F6-AE7C-F9045F2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2247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Процена користи актуелан доказ, покривеност релевантних сценарија и позната ограничења.</a:t>
            </a:r>
          </a:p>
        </p:txBody>
      </p:sp>
      <p:sp>
        <p:nvSpPr>
          <p:cNvPr id="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AF1EF7B-C9E8-4739-8F62-5AEC9D1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ОБРАЗЛОЖЕЊЕ</a:t>
            </a:r>
          </a:p>
        </p:txBody>
      </p:sp>
      <p:sp>
        <p:nvSpPr>
          <p:cNvPr id="1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15FB90F-A7EF-4DCF-B242-C2D7974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476979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ЕФЕКТИВНОСТ КОНТРОЛЕ</a:t>
            </a:r>
          </a:p>
        </p:txBody>
      </p:sp>
      <p:sp>
        <p:nvSpPr>
          <p:cNvPr id="1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2D49D47-EDA1-4294-92CF-3ADD6D63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70476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може бити имплементирана, али погрешно </a:t>
            </a:r>
          </a:p>
        </p:txBody>
      </p:sp>
      <p:sp>
        <p:nvSpPr>
          <p:cNvPr id="1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A8DD480-F2F7-433A-B377-113A663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74019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подешена, заобиђена новим током или застарела после </a:t>
            </a:r>
          </a:p>
        </p:txBody>
      </p:sp>
      <p:sp>
        <p:nvSpPr>
          <p:cNvPr id="1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EB29550-68F1-4854-8525-C272451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73861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промене система. Зато се њена ефективност процењује </a:t>
            </a:r>
          </a:p>
        </p:txBody>
      </p:sp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9013844-A2C2-4340-94BE-9980CE3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6364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кроз доказ: последњи успешан тест, покривени </a:t>
            </a:r>
          </a:p>
        </p:txBody>
      </p:sp>
      <p:sp>
        <p:nvSpPr>
          <p:cNvPr id="1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7945AB4-3903-416B-9774-7D47EF4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757207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сценарио, власника и способност да се проблем примети 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F9C0C0F-9FEE-433E-8821-5B726DE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2663"/>
            <a:ext cx="30548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ако контрола закаже.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81D1C22-A0E2-47F8-BCFD-B9661D7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AB0C63D-3C08-4BEF-85D6-772879B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71022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се освежава када се промени релевантан ток, 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92A6C0DE-6818-427B-BA37-45BF695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352"/>
            <a:ext cx="41153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улога или граница поверења.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53D07DA-0EBE-4CC0-9E72-6ECE8FB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298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B586E3C-1BBD-49CE-9080-52D4D88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0138"/>
            <a:ext cx="696456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Мера ефективности јасно приказује области за које </a:t>
            </a:r>
          </a:p>
        </p:txBody>
      </p:sp>
      <p:sp>
        <p:nvSpPr>
          <p:cNvPr id="2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8ED8DC8-30C9-442C-99E9-8F75DF5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3399"/>
            <a:ext cx="32276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нема довољно доказа.</a:t>
            </a:r>
          </a:p>
        </p:txBody>
      </p:sp>
      <p:sp>
        <p:nvSpPr>
          <p:cNvPr id="2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908FB88-67F7-4083-BF9C-F588BDBF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00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29C1BD9-A9BE-499C-B4E1-C129D72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77185"/>
            <a:ext cx="7165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Квалитетна анализа повезује ризик, контролу, тест и </a:t>
            </a:r>
          </a:p>
        </p:txBody>
      </p:sp>
      <p:sp>
        <p:nvSpPr>
          <p:cNvPr id="2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EC78718-7D2C-4F67-9C8D-F345BD4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50446"/>
            <a:ext cx="58484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преостало ограничење у једну јасну причу.</a:t>
            </a:r>
          </a:p>
        </p:txBody>
      </p:sp>
      <p:sp>
        <p:nvSpPr>
          <p:cNvPr id="2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7D7533C-3E24-46A7-82C3-D5AD6016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BC00CFA-631E-4234-9677-B49FFB6C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32556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985AF-DF62-4FDD-B838-DDEF30FF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11B8B-C085-4018-BD88-862E216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89316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2D1559F-E952-4A17-A00E-820614F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89316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0807-DC3D-4C5F-BDEE-A121D6B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b810c7a9a4368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B2C4A076-2B8F-4A1F-AE41-5357B72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odgovor-granica">
            <a:extLst xmlns:a="http://schemas.openxmlformats.org/drawingml/2006/main">
              <a:ext uri="{FF2B5EF4-FFF2-40B4-BE49-F238E27FC236}">
                <a16:creationId xmlns:a16="http://schemas.microsoft.com/office/drawing/2014/main" id="{E94961A4-EEF8-4453-A274-CC2A54E1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90570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6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аутоматизованог одговора</a:t>
            </a:r>
          </a:p>
        </p:txBody>
      </p:sp>
      <p:sp>
        <p:nvSpPr>
          <p:cNvPr id="8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93FE9110-6BBB-4CC1-9948-04DD534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77655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План реакције одређује које су радње унапред дозвољене.</a:t>
            </a:r>
          </a:p>
        </p:txBody>
      </p:sp>
      <p:sp>
        <p:nvSpPr>
          <p:cNvPr id="9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EC4BF239-30AA-4BF6-8E6E-80887BDE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866" y="4724400"/>
            <a:ext cx="25376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Корелисан случај</a:t>
            </a:r>
          </a:p>
        </p:txBody>
      </p:sp>
      <p:sp>
        <p:nvSpPr>
          <p:cNvPr id="10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304EE106-D60A-42BE-A0DC-50A969C9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299" y="5097661"/>
            <a:ext cx="23808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познат контекст</a:t>
            </a:r>
          </a:p>
        </p:txBody>
      </p:sp>
      <p:sp>
        <p:nvSpPr>
          <p:cNvPr id="11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683DCBC3-02C4-401E-8D22-A4C7E1E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486" y="4724400"/>
            <a:ext cx="282193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Предложена радња</a:t>
            </a:r>
          </a:p>
        </p:txBody>
      </p:sp>
      <p:sp>
        <p:nvSpPr>
          <p:cNvPr id="12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ADBD5A98-BD9E-45B2-BB8C-593372B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379" y="5097661"/>
            <a:ext cx="28202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процена последица</a:t>
            </a:r>
          </a:p>
        </p:txBody>
      </p:sp>
      <p:sp>
        <p:nvSpPr>
          <p:cNvPr id="13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3C6EA79E-2E4F-4B35-B9DE-4A4EA746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391" y="3629025"/>
            <a:ext cx="38647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Ограничена аутоматизација</a:t>
            </a:r>
          </a:p>
        </p:txBody>
      </p:sp>
      <p:sp>
        <p:nvSpPr>
          <p:cNvPr id="14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B1525A87-9695-40C4-9D9A-92A56F84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1227" y="4002286"/>
            <a:ext cx="38229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и ревизиони запис</a:t>
            </a:r>
          </a:p>
        </p:txBody>
      </p:sp>
      <p:sp>
        <p:nvSpPr>
          <p:cNvPr id="15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A46D8E50-D96D-4097-878A-8CF71E68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041" y="5962650"/>
            <a:ext cx="354731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Радња велике последице</a:t>
            </a:r>
          </a:p>
        </p:txBody>
      </p:sp>
      <p:sp>
        <p:nvSpPr>
          <p:cNvPr id="16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1C9CE1F8-1C3E-427B-B692-155710A9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843" y="6335911"/>
            <a:ext cx="376386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људска одлука и одобрење</a:t>
            </a:r>
          </a:p>
        </p:txBody>
      </p:sp>
      <p:sp>
        <p:nvSpPr>
          <p:cNvPr id="17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9D8AB23A-89FF-428F-B350-0E69D235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417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8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919CAD2D-19A2-494A-870D-3278E46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37897"/>
            <a:ext cx="1381660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Корелација сама не даје овлашћење за сваку радњу. Приказани наставни модел задржава људску потврду за велики утицај.</a:t>
            </a:r>
          </a:p>
        </p:txBody>
      </p:sp>
      <p:sp>
        <p:nvSpPr>
          <p:cNvPr id="19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4028BAAE-7C10-47BB-802A-0F96686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odgovor-granica">
            <a:extLst xmlns:a="http://schemas.openxmlformats.org/drawingml/2006/main">
              <a:ext uri="{FF2B5EF4-FFF2-40B4-BE49-F238E27FC236}">
                <a16:creationId xmlns:a16="http://schemas.microsoft.com/office/drawing/2014/main" id="{EA109CA5-DDE8-4AC0-B990-1A1F25B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619326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CEA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97655-DEFF-4BF2-AD8B-26854031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342430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6A245-5AAE-46A7-86E7-FCCA019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30" y="6158657"/>
            <a:ext cx="224909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74B67-7CE5-44B3-9C40-03859DF0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920" y="6158657"/>
            <a:ext cx="136028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66B7D-4A6E-413B-83C6-7FA15B29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509" y="6158657"/>
            <a:ext cx="228629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C0BF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471BD-6F60-4334-BAD4-5CEDC9D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BFB5"/>
          </a:solidFill>
          <a:ln xmlns:a="http://schemas.openxmlformats.org/drawingml/2006/main" w="0">
            <a:noFill/>
          </a:ln>
        </p:spPr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F33512D9-84DA-4543-8C0C-7BCC477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7" name="text-deo4">
            <a:extLst xmlns:a="http://schemas.openxmlformats.org/drawingml/2006/main">
              <a:ext uri="{FF2B5EF4-FFF2-40B4-BE49-F238E27FC236}">
                <a16:creationId xmlns:a16="http://schemas.microsoft.com/office/drawing/2014/main" id="{512A950A-0A84-404C-92DA-4B3792C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8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BFFFD0B0-77E2-45AB-9BE1-7C2C79E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9270057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34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Учење и побољшање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6D119966-0DD5-4FF2-B2F3-EE0464A4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6375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мења процену ризика, а процена усмерава следећу измену 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7F6C3930-1B48-4248-A768-C60E8C2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5900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контроле.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AE207106-154E-4C06-A114-4FE98DB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2852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44F35A20-4E70-4ACF-A774-6F51FD4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555" y="6244382"/>
            <a:ext cx="21919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Преостали ризик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B892138D-7E0B-4B1C-8BDE-FF1CFD8D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945" y="6244382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D81A8843-5DD2-48BB-ACCB-F3DD8A5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534" y="6244382"/>
            <a:ext cx="22291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Поновна провера</a:t>
            </a:r>
          </a:p>
        </p:txBody>
      </p:sp>
      <p:sp>
        <p:nvSpPr>
          <p:cNvPr id="15" name="text-deo4">
            <a:extLst xmlns:a="http://schemas.openxmlformats.org/drawingml/2006/main">
              <a:ext uri="{FF2B5EF4-FFF2-40B4-BE49-F238E27FC236}">
                <a16:creationId xmlns:a16="http://schemas.microsoft.com/office/drawing/2014/main" id="{1BB53CDD-C85C-489D-9C9D-E209CEBB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4">
            <a:extLst xmlns:a="http://schemas.openxmlformats.org/drawingml/2006/main">
              <a:ext uri="{FF2B5EF4-FFF2-40B4-BE49-F238E27FC236}">
                <a16:creationId xmlns:a16="http://schemas.microsoft.com/office/drawing/2014/main" id="{5F87F3D6-D1D9-4063-B7F0-D689B5D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80284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DC1F8-66AB-4B3F-8E6C-C8ECBB2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00B97-59D1-4DAF-844C-A5AE6E6D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BDBA0-24BB-4D6E-9788-3C300AC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2B62A-D0E8-46E7-8697-43920B6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A70B7-4EC7-4F1B-BCE9-9C5A9C47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2142AD3-9208-48B0-B326-D9D9D492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7741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DDAF2-BDA5-4EC6-8404-FEC5864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89C78DE7-6BEE-4691-95AA-997A982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УЧЕЊЕ</a:t>
            </a:r>
          </a:p>
        </p:txBody>
      </p:sp>
      <p:sp>
        <p:nvSpPr>
          <p:cNvPr id="9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9BF479CF-9CBE-47BD-A23D-FEBADDE0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29622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и учење</a:t>
            </a:r>
          </a:p>
        </p:txBody>
      </p:sp>
      <p:sp>
        <p:nvSpPr>
          <p:cNvPr id="1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CA5EB72-59DC-4E21-8AD0-64A1991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7312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мери и побољшава</a:t>
            </a:r>
          </a:p>
        </p:txBody>
      </p:sp>
      <p:sp>
        <p:nvSpPr>
          <p:cNvPr id="1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B3A9B96-5BF6-4E25-9169-2008359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BBF44D1-A0AE-487C-BB0D-636B021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111643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ефективности мора бити свеж, после промене тока оцена се поново утврђује.</a:t>
            </a:r>
          </a:p>
        </p:txBody>
      </p:sp>
      <p:sp>
        <p:nvSpPr>
          <p:cNvPr id="1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28ABC22-3658-40E4-B774-681C3E8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548240B-0E81-4273-A2B1-E996353F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E218EE6-CB02-4F1B-8871-E7BFD33C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1094824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Циљни удео је унапред одређен, па се резултат пореди са прагом, а не са утиском.</a:t>
            </a:r>
          </a:p>
        </p:txBody>
      </p:sp>
      <p:sp>
        <p:nvSpPr>
          <p:cNvPr id="1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EC61D75-D661-4BFD-AB9E-0BB8FC2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489844B5-8C88-4BD7-BAB4-E585E6D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B6AC8E8D-0125-446B-BC5A-640C08FB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113222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 мерења води до корекције контроле или до прихватања преосталог ризика.</a:t>
            </a:r>
          </a:p>
        </p:txBody>
      </p:sp>
      <p:sp>
        <p:nvSpPr>
          <p:cNvPr id="19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3C236AB-7E63-4EC5-A4D0-8D6FF42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753ABAB-09F7-4D13-88D6-C9C67AE4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7824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81AEBF5B-FC24-4427-B69A-47F58D5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83946"/>
            <a:ext cx="121530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ризик контрола ублажава, који доказ чува и који сигнал показује да је престала да ради?</a:t>
            </a:r>
          </a:p>
        </p:txBody>
      </p:sp>
      <p:sp>
        <p:nvSpPr>
          <p:cNvPr id="2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93FFD90-5C05-48A1-8A1A-A0FA55C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1548EC82-1874-4A6F-A4F8-525F295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50848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E543A-5C58-4CD9-842F-46DB30A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45CFE-21E9-40F8-A110-F50A501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9DCF-DC02-4313-AD79-F787B47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4037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22B6-539B-4BF4-898B-6194168B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01084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AA9D4-D099-4F56-99EC-806EDCAD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23813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EF01C-8C0B-499D-98FF-32C3103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67DDDB7-C11A-4296-B054-C336707D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ПОВРАТНА СПРЕГА</a:t>
            </a:r>
          </a:p>
        </p:txBody>
      </p:sp>
      <p:sp>
        <p:nvSpPr>
          <p:cNvPr id="8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4FF88603-34B3-4ABA-9785-E350BA16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1771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3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Безбедносна повратна спрега</a:t>
            </a:r>
          </a:p>
        </p:txBody>
      </p:sp>
      <p:sp>
        <p:nvSpPr>
          <p:cNvPr id="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B40EAF9-232F-4B79-BC6A-DE6359E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3664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D410F4A-17BF-4B9B-9179-C1B09F3C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КОНТЕКСТ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6458ACE-7DC4-4F5D-93DE-B97DB67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5342186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Безбедносна повратна спрега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3A5387B-8BDA-4B9B-B490-17B4D19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73918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Зрео систем не завршава безбедност имплементацијом 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2AEBB54-9FCC-48FA-8880-72F5B810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755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контроле. Догађаји и тестови стварају доказ, доказ мења 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8E96E1B-FCAA-40D2-B24B-CA2C15FB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652060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процену ризика, а процена ризика води ка бољој 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2870785-32A2-4262-A7D6-D03541A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690934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политици или другачијој контроли. Тако се избегава 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BCC0A41-F6CC-4869-B1CB-874BF64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65910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лажни осећај да је једном завршени посао заувек 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77B26CE-33A5-42A5-BB24-CA35C61D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2663"/>
            <a:ext cx="153516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довољан.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9FA42A7-7B78-4EA6-AA66-D8537D1A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E496EEC-A56C-45BB-ADF1-190D966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73510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 или тест открива образац који захтева пажњу.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FA0FCBE-6DDE-4981-982D-9BD524F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738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16144E3-0E56-4C6B-AD8F-87345BF6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4537"/>
            <a:ext cx="72339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 повезује образац са имовином, актером и 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E657E0B-5286-47C6-A788-006E983A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7798"/>
            <a:ext cx="18063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контролом.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11576C7-0952-4937-92ED-F85A1D27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3443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B8D127D-A4C4-4D9C-A9F8-1D25AB4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91584"/>
            <a:ext cx="67051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Тим проверава да ли постојећа контрола покрива 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A9E94BA-ABF6-43E8-8890-80C2E923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4845"/>
            <a:ext cx="27420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стварни сценарио.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CD3D63F-C92A-41F6-9D32-086612B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37148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47C5479-9365-4A7C-8C85-5413313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8631"/>
            <a:ext cx="68347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одлука ствара ажурирану политику, тест или 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94996EE-85C5-4DA6-80C4-573E80F2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01892"/>
            <a:ext cx="33395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оперативну процедуру.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1D6A943-9B64-4403-97B4-FE655CB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6ABB062-5B9B-41B1-96A3-23551148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474807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869F2-81FD-440E-802A-D65A0F3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CF608-1FCC-4662-92FD-825E082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2591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23D28-FE65-482C-9653-6F10285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4037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5EDD-577E-41B6-ADAB-3A021F6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5483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7448B-F5F1-4250-9167-343F66A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FFFF1A60-EF21-4C7B-84F2-4F8B1AF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РАЗВОЈ</a:t>
            </a:r>
          </a:p>
        </p:txBody>
      </p:sp>
      <p:sp>
        <p:nvSpPr>
          <p:cNvPr id="7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87C7FC21-A098-44DA-87D7-7D2A014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0051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у развоју</a:t>
            </a:r>
          </a:p>
        </p:txBody>
      </p:sp>
      <p:sp>
        <p:nvSpPr>
          <p:cNvPr id="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347A4AE-AAD9-499F-B13C-D5BBAC6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5795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D6600C8-A405-4DC3-9546-E6D3359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РАЗВОЈНИ КОНТЕКСТ</a:t>
            </a:r>
          </a:p>
        </p:txBody>
      </p:sp>
      <p:sp>
        <p:nvSpPr>
          <p:cNvPr id="1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AD7D1C60-6875-4F4C-8FD3-A7F5DF5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4972"/>
            <a:ext cx="467618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принципа у коду</a:t>
            </a:r>
          </a:p>
        </p:txBody>
      </p:sp>
      <p:sp>
        <p:nvSpPr>
          <p:cNvPr id="1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EA691FA4-51D7-4FCD-8141-B82DD981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6358"/>
            <a:ext cx="736327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Добра безбедносна анализа показује узрочну везу: коју </a:t>
            </a:r>
          </a:p>
        </p:txBody>
      </p:sp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D624EE4-FE45-49F8-BFC1-F9546C35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9619"/>
            <a:ext cx="67317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имовину штитимо, који сценарио разматрамо, која </a:t>
            </a:r>
          </a:p>
        </p:txBody>
      </p:sp>
      <p:sp>
        <p:nvSpPr>
          <p:cNvPr id="1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D67A273-4E5F-4BCA-8D54-F8DA018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2880"/>
            <a:ext cx="70523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делује и како знамо да њено понашање још 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6A72F32-A6F7-4C56-804C-A53BBBAC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6141"/>
            <a:ext cx="76548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увек одговара намери. Кратак, јасан доказ вреди више од 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C5E57E6-1D21-4A38-A90B-A3A8044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9402"/>
            <a:ext cx="40793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дуге листе функционалности.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E8C5B06-2F07-42CB-9DB9-E350B27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E26FCD17-B456-4916-8AD3-313C697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3091"/>
            <a:ext cx="50902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Дефинисана одлука и њена граница.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883DB8A-6D17-48A3-9B95-40D726E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738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582BE0F9-827A-4C68-9D3B-04836B7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4537"/>
            <a:ext cx="50926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имплементација провере.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479359F-3D8D-4178-91EE-4C62B64C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4883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0D66863-B1FF-40AE-936E-367FBC8C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05983"/>
            <a:ext cx="41981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Позитиван и негативан доказ.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30DEF42-EC1B-40E4-9A06-D0E96259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5E72615-C061-4460-B61C-7FB83BB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514077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621D3-7A4E-4747-A601-182242B6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65BEB-161F-4E11-A2FF-CA3F53E9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CE660-1AB6-48B8-8F1A-7FF1BE21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29B2E-0451-47E4-9544-F95ADE90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8EF71-003E-4DD6-96A4-8F6E4CB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AC92321A-0202-4300-AE99-99D0054C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ПРОПУСТИ</a:t>
            </a:r>
          </a:p>
        </p:txBody>
      </p:sp>
      <p:sp>
        <p:nvSpPr>
          <p:cNvPr id="7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3E1ACA3B-DCAC-4AEB-BD94-A5FC64D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01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Честе грешке у имплементацији</a:t>
            </a:r>
          </a:p>
        </p:txBody>
      </p:sp>
      <p:sp>
        <p:nvSpPr>
          <p:cNvPr id="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C478C4F3-325A-472A-AC40-D94D1EE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2021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84344C6-875C-405E-8CE2-57A727AA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59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68F4F4EC-36EA-408C-9EC7-0A85A43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3091"/>
            <a:ext cx="7313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Закључивање из једног догађаја без ширег контекста.</a:t>
            </a:r>
          </a:p>
        </p:txBody>
      </p:sp>
      <p:sp>
        <p:nvSpPr>
          <p:cNvPr id="1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0CB527C-50C3-4500-B354-842548F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027"/>
            <a:ext cx="35546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Нема јасног власника одлуке.</a:t>
            </a:r>
          </a:p>
        </p:txBody>
      </p:sp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39727315-5C52-4039-95A8-195AEEB7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5908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014ADAF-101C-487A-A9B0-D96E15CC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63058"/>
            <a:ext cx="88570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Аутоматска акција са великом последицом без заштитне провере.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BE124F1-25C1-4A3B-B016-312E9C8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2994"/>
            <a:ext cx="378157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 постоји негативан сценарио.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5268AB5-CFD8-4966-A739-E8CD8F91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5874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C5A2FBE-8A0B-4970-90EB-B0B1FE7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23024"/>
            <a:ext cx="75143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Оцена контроле само по томе да ли је имплементирана.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E526621-DC8C-4B50-A9AA-FD124DA7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2960"/>
            <a:ext cx="3946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Доказ не показује стварни исход.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3ED11CB-8D4D-4803-A90F-42E5EA92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5670E41-E451-42BC-A874-6CEAC5A4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559763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62ADE-40DF-4008-9AB9-1F444FC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E29C-1857-4925-952F-83DCF6F2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42CF3-5B41-476E-A6B5-711C547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8058A-9637-4253-8FF2-42F529C9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53CCF-8DC4-46DB-8B52-CEAD733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55B02-A51E-4F9E-8462-851848B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1D22535-6149-413F-A8E1-CFF8B44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F1313-A446-4A34-8C23-46060DE7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53175ba3457a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f2c98bba7400f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56b94a4e6458b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E24DDC7-488D-4114-B5B3-9494469C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ПРОЈЕКТНА ПРИМЕНА</a:t>
            </a:r>
          </a:p>
        </p:txBody>
      </p:sp>
      <p:sp>
        <p:nvSpPr>
          <p:cNvPr id="13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FAD3ADD1-3C5B-41EB-BF43-F2CE1F5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718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194C840-0C55-43B8-83C1-FD4299C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942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0946D36-2514-4E7A-A079-6BCD485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6B02DF64-1FB0-4A25-95F8-ABE1D9F0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25029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Избор сценарија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6EDBAFD-61C6-43FA-AFF2-E583C46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5964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стварна радња</a:t>
            </a:r>
          </a:p>
        </p:txBody>
      </p:sp>
      <p:sp>
        <p:nvSpPr>
          <p:cNvPr id="1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0233EFA-9D91-40A2-AAC3-478C3E15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9CF08B6-84AB-49C5-A27C-2A5FEF2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32088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Дефинисање правила</a:t>
            </a:r>
          </a:p>
        </p:txBody>
      </p:sp>
      <p:sp>
        <p:nvSpPr>
          <p:cNvPr id="2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BA02508-FF46-4079-99E7-7116345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0780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улази и граница</a:t>
            </a:r>
          </a:p>
        </p:txBody>
      </p:sp>
      <p:sp>
        <p:nvSpPr>
          <p:cNvPr id="2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3DEA138-2CA4-4073-BF84-A460A39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F0D0FA9-9094-4756-94AA-08786563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189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одбијања</a:t>
            </a:r>
          </a:p>
        </p:txBody>
      </p:sp>
      <p:sp>
        <p:nvSpPr>
          <p:cNvPr id="2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C03FAD0-B247-4E40-81C1-54C30C15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177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чињеница недостаје</a:t>
            </a:r>
          </a:p>
        </p:txBody>
      </p:sp>
      <p:sp>
        <p:nvSpPr>
          <p:cNvPr id="2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57C8D08-E360-4B96-B164-43298AF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282F46F-F050-4B4C-B45C-C4224239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5509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2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C1F5F90-18E7-47BE-AA49-28B53B44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19347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 и разлог</a:t>
            </a:r>
          </a:p>
        </p:txBody>
      </p:sp>
      <p:sp>
        <p:nvSpPr>
          <p:cNvPr id="2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0CD1ECA-918C-4E56-BA35-531C874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ПРИМЕНА НА ПРОЈЕКАТ</a:t>
            </a:r>
          </a:p>
        </p:txBody>
      </p:sp>
      <p:sp>
        <p:nvSpPr>
          <p:cNvPr id="2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49548E4-FED8-4B1C-8629-F06F0C1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52733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 теме „Корелација догађаја, ефективност контрола и учење“ обухвата једну серверску одлуку, тест </a:t>
            </a:r>
          </a:p>
        </p:txBody>
      </p:sp>
      <p:sp>
        <p:nvSpPr>
          <p:cNvPr id="2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70CF7DE-F7C4-4863-B1E3-EA02F81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73873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одбијања и доказ који други члан тима може да понови.</a:t>
            </a:r>
          </a:p>
        </p:txBody>
      </p:sp>
      <p:sp>
        <p:nvSpPr>
          <p:cNvPr id="3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9C22AB34-E910-4BAD-9CEB-4EE7C29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AA7FE5C-E261-4858-AFC1-AB8975D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374881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80810-9EC7-4516-BA88-28F3360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55259-5E7F-4074-B8C8-23E80E43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71F6E-76DF-49F3-87A9-A15D498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AE74F-4715-4FEB-9CBC-717ACFFE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5F71-125B-4064-8156-FA8CA58F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96AE5-5564-4B48-BAA6-C4CD2E6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6CCACFA-22EE-4E9C-87D2-041E94F0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FFBD8-70E6-452C-800F-90117029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33b7f44ec41ca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7988b224845f6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60f40136f41c6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0071FC4-1C12-4760-B245-F5FF903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 · МОДЕЛ ПОБОЉШАЊА</a:t>
            </a:r>
          </a:p>
        </p:txBody>
      </p:sp>
      <p:sp>
        <p:nvSpPr>
          <p:cNvPr id="13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73FB8CA9-DD0C-43E2-9365-B8B2141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396558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27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 континуираног унапређивања безбедности</a:t>
            </a:r>
          </a:p>
        </p:txBody>
      </p:sp>
      <p:sp>
        <p:nvSpPr>
          <p:cNvPr id="1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0EB9337-6C21-405D-8024-8B1400F7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7969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Безбедност напредује кроз повратну спрегу. Доказ мења разумевање ризика, а то мења контролу.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8496352-8578-4785-87C3-A54A3D1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6A4ADBA-B05F-421E-86C7-233FBC1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73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Догађаји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F794791-8F2B-4AEF-B7E7-48F29C9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3767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трагови понашања 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82A16F7-35E7-4712-9419-627173C1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121994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система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4D4DB99-E926-4093-9069-3ABE040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3A903A3-AC4F-4DD5-8B6B-203B5E3A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18354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3F929DC-F616-4445-8A76-C6415A91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59898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образац и приоритет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F36F3D1-59AB-44C9-98E2-C93ADAE9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5C40FA9-9AF8-4785-A8C0-4CDB20F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2AF7673-F6C8-40B9-8F4A-EC01EBA2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2243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на ризик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D5D9EC8-9379-4C18-BA3E-99FCCCFE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18B9393-E70C-4814-94FC-B1756D5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2456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и учење</a:t>
            </a:r>
          </a:p>
        </p:txBody>
      </p:sp>
      <p:sp>
        <p:nvSpPr>
          <p:cNvPr id="2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2C7BA4C-D6E5-41F0-8158-45C27F9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37157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и следеће </a:t>
            </a:r>
          </a:p>
        </p:txBody>
      </p:sp>
      <p:sp>
        <p:nvSpPr>
          <p:cNvPr id="2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1719FEE-12CF-4CCE-9BF3-B3775DD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920258"/>
            <a:ext cx="16633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побољшање</a:t>
            </a:r>
          </a:p>
        </p:txBody>
      </p:sp>
      <p:sp>
        <p:nvSpPr>
          <p:cNvPr id="2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44E7767-8DEF-47DA-A1BC-903402A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ЕЛЕМЕНТИ АНАЛИЗЕ</a:t>
            </a:r>
          </a:p>
        </p:txBody>
      </p:sp>
      <p:sp>
        <p:nvSpPr>
          <p:cNvPr id="3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858E6F1-B4B3-4408-8ADD-C965874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16172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  <p:sp>
        <p:nvSpPr>
          <p:cNvPr id="3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05520C3-426A-4048-B6F8-49D768E7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4EF5F5D-7A49-4C85-BFA8-3845A37C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716545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7CCC3-75CE-4611-AB0A-4E0058D1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40A93-B58B-40C0-BDFC-D000B86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532191"/>
            <a:ext cx="15849600" cy="1020961"/>
          </a:xfrm>
          <a:prstGeom xmlns:a="http://schemas.openxmlformats.org/drawingml/2006/main" prst="roundRect">
            <a:avLst>
              <a:gd name="adj" fmla="val 11195"/>
            </a:avLst>
          </a:prstGeom>
          <a:solidFill xmlns:a="http://schemas.openxmlformats.org/drawingml/2006/main">
            <a:srgbClr val="ECEAE0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7D71B55-FDAD-4437-B164-FEAB1EE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532191"/>
            <a:ext cx="114300" cy="1020961"/>
          </a:xfrm>
          <a:custGeom xmlns:a="http://schemas.openxmlformats.org/drawingml/2006/main">
            <a:pathLst>
              <a:path w="114300" h="10209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06661"/>
                </a:lnTo>
                <a:lnTo>
                  <a:pt x="61" y="910401"/>
                </a:lnTo>
                <a:lnTo>
                  <a:pt x="245" y="914137"/>
                </a:lnTo>
                <a:lnTo>
                  <a:pt x="550" y="917864"/>
                </a:lnTo>
                <a:lnTo>
                  <a:pt x="978" y="921580"/>
                </a:lnTo>
                <a:lnTo>
                  <a:pt x="1527" y="925280"/>
                </a:lnTo>
                <a:lnTo>
                  <a:pt x="2196" y="928960"/>
                </a:lnTo>
                <a:lnTo>
                  <a:pt x="2986" y="932616"/>
                </a:lnTo>
                <a:lnTo>
                  <a:pt x="3895" y="936244"/>
                </a:lnTo>
                <a:lnTo>
                  <a:pt x="4922" y="939840"/>
                </a:lnTo>
                <a:lnTo>
                  <a:pt x="6066" y="943401"/>
                </a:lnTo>
                <a:lnTo>
                  <a:pt x="7326" y="946923"/>
                </a:lnTo>
                <a:lnTo>
                  <a:pt x="8701" y="950402"/>
                </a:lnTo>
                <a:lnTo>
                  <a:pt x="10188" y="953833"/>
                </a:lnTo>
                <a:lnTo>
                  <a:pt x="11787" y="957215"/>
                </a:lnTo>
                <a:lnTo>
                  <a:pt x="13496" y="960542"/>
                </a:lnTo>
                <a:lnTo>
                  <a:pt x="15313" y="963811"/>
                </a:lnTo>
                <a:lnTo>
                  <a:pt x="17236" y="967019"/>
                </a:lnTo>
                <a:lnTo>
                  <a:pt x="19263" y="970163"/>
                </a:lnTo>
                <a:lnTo>
                  <a:pt x="21392" y="973238"/>
                </a:lnTo>
                <a:lnTo>
                  <a:pt x="23620" y="976242"/>
                </a:lnTo>
                <a:lnTo>
                  <a:pt x="25945" y="979172"/>
                </a:lnTo>
                <a:lnTo>
                  <a:pt x="28365" y="982024"/>
                </a:lnTo>
                <a:lnTo>
                  <a:pt x="30877" y="984796"/>
                </a:lnTo>
                <a:lnTo>
                  <a:pt x="33478" y="987483"/>
                </a:lnTo>
                <a:lnTo>
                  <a:pt x="36165" y="990084"/>
                </a:lnTo>
                <a:lnTo>
                  <a:pt x="38937" y="992596"/>
                </a:lnTo>
                <a:lnTo>
                  <a:pt x="41789" y="995016"/>
                </a:lnTo>
                <a:lnTo>
                  <a:pt x="44719" y="997341"/>
                </a:lnTo>
                <a:lnTo>
                  <a:pt x="47723" y="999569"/>
                </a:lnTo>
                <a:lnTo>
                  <a:pt x="50798" y="1001698"/>
                </a:lnTo>
                <a:lnTo>
                  <a:pt x="53942" y="1003725"/>
                </a:lnTo>
                <a:lnTo>
                  <a:pt x="57150" y="1005648"/>
                </a:lnTo>
                <a:lnTo>
                  <a:pt x="60419" y="1007465"/>
                </a:lnTo>
                <a:lnTo>
                  <a:pt x="63746" y="1009173"/>
                </a:lnTo>
                <a:lnTo>
                  <a:pt x="67128" y="1010773"/>
                </a:lnTo>
                <a:lnTo>
                  <a:pt x="70559" y="1012260"/>
                </a:lnTo>
                <a:lnTo>
                  <a:pt x="74038" y="1013635"/>
                </a:lnTo>
                <a:lnTo>
                  <a:pt x="77559" y="1014895"/>
                </a:lnTo>
                <a:lnTo>
                  <a:pt x="81120" y="1016039"/>
                </a:lnTo>
                <a:lnTo>
                  <a:pt x="84717" y="1017066"/>
                </a:lnTo>
                <a:lnTo>
                  <a:pt x="88345" y="1017975"/>
                </a:lnTo>
                <a:lnTo>
                  <a:pt x="92001" y="1018765"/>
                </a:lnTo>
                <a:lnTo>
                  <a:pt x="95681" y="1019434"/>
                </a:lnTo>
                <a:lnTo>
                  <a:pt x="99381" y="1019983"/>
                </a:lnTo>
                <a:lnTo>
                  <a:pt x="103097" y="1020411"/>
                </a:lnTo>
                <a:lnTo>
                  <a:pt x="106824" y="1020716"/>
                </a:lnTo>
                <a:lnTo>
                  <a:pt x="110560" y="1020900"/>
                </a:lnTo>
                <a:lnTo>
                  <a:pt x="114300" y="1020961"/>
                </a:lnTo>
                <a:lnTo>
                  <a:pt x="114300" y="1020961"/>
                </a:lnTo>
                <a:lnTo>
                  <a:pt x="112430" y="1020900"/>
                </a:lnTo>
                <a:lnTo>
                  <a:pt x="110562" y="1020716"/>
                </a:lnTo>
                <a:lnTo>
                  <a:pt x="108698" y="1020411"/>
                </a:lnTo>
                <a:lnTo>
                  <a:pt x="106840" y="1019983"/>
                </a:lnTo>
                <a:lnTo>
                  <a:pt x="104991" y="1019434"/>
                </a:lnTo>
                <a:lnTo>
                  <a:pt x="103151" y="1018765"/>
                </a:lnTo>
                <a:lnTo>
                  <a:pt x="101323" y="1017975"/>
                </a:lnTo>
                <a:lnTo>
                  <a:pt x="99508" y="1017066"/>
                </a:lnTo>
                <a:lnTo>
                  <a:pt x="97710" y="1016039"/>
                </a:lnTo>
                <a:lnTo>
                  <a:pt x="95930" y="1014895"/>
                </a:lnTo>
                <a:lnTo>
                  <a:pt x="94169" y="1013635"/>
                </a:lnTo>
                <a:lnTo>
                  <a:pt x="92430" y="1012260"/>
                </a:lnTo>
                <a:lnTo>
                  <a:pt x="90714" y="1010773"/>
                </a:lnTo>
                <a:lnTo>
                  <a:pt x="89023" y="1009173"/>
                </a:lnTo>
                <a:lnTo>
                  <a:pt x="87360" y="1007465"/>
                </a:lnTo>
                <a:lnTo>
                  <a:pt x="85725" y="1005648"/>
                </a:lnTo>
                <a:lnTo>
                  <a:pt x="84121" y="1003725"/>
                </a:lnTo>
                <a:lnTo>
                  <a:pt x="82549" y="1001698"/>
                </a:lnTo>
                <a:lnTo>
                  <a:pt x="81011" y="999569"/>
                </a:lnTo>
                <a:lnTo>
                  <a:pt x="79509" y="997341"/>
                </a:lnTo>
                <a:lnTo>
                  <a:pt x="78044" y="995016"/>
                </a:lnTo>
                <a:lnTo>
                  <a:pt x="76618" y="992596"/>
                </a:lnTo>
                <a:lnTo>
                  <a:pt x="75233" y="990084"/>
                </a:lnTo>
                <a:lnTo>
                  <a:pt x="73889" y="987483"/>
                </a:lnTo>
                <a:lnTo>
                  <a:pt x="72588" y="984796"/>
                </a:lnTo>
                <a:lnTo>
                  <a:pt x="71332" y="982024"/>
                </a:lnTo>
                <a:lnTo>
                  <a:pt x="70122" y="979172"/>
                </a:lnTo>
                <a:lnTo>
                  <a:pt x="68960" y="976242"/>
                </a:lnTo>
                <a:lnTo>
                  <a:pt x="67846" y="973238"/>
                </a:lnTo>
                <a:lnTo>
                  <a:pt x="66782" y="970163"/>
                </a:lnTo>
                <a:lnTo>
                  <a:pt x="65768" y="967019"/>
                </a:lnTo>
                <a:lnTo>
                  <a:pt x="64807" y="963811"/>
                </a:lnTo>
                <a:lnTo>
                  <a:pt x="63898" y="960542"/>
                </a:lnTo>
                <a:lnTo>
                  <a:pt x="63044" y="957215"/>
                </a:lnTo>
                <a:lnTo>
                  <a:pt x="62244" y="953833"/>
                </a:lnTo>
                <a:lnTo>
                  <a:pt x="61500" y="950402"/>
                </a:lnTo>
                <a:lnTo>
                  <a:pt x="60813" y="946923"/>
                </a:lnTo>
                <a:lnTo>
                  <a:pt x="60183" y="943401"/>
                </a:lnTo>
                <a:lnTo>
                  <a:pt x="59611" y="939840"/>
                </a:lnTo>
                <a:lnTo>
                  <a:pt x="59097" y="936244"/>
                </a:lnTo>
                <a:lnTo>
                  <a:pt x="58643" y="932616"/>
                </a:lnTo>
                <a:lnTo>
                  <a:pt x="58248" y="928960"/>
                </a:lnTo>
                <a:lnTo>
                  <a:pt x="57913" y="925280"/>
                </a:lnTo>
                <a:lnTo>
                  <a:pt x="57639" y="921580"/>
                </a:lnTo>
                <a:lnTo>
                  <a:pt x="57425" y="917864"/>
                </a:lnTo>
                <a:lnTo>
                  <a:pt x="57272" y="914137"/>
                </a:lnTo>
                <a:lnTo>
                  <a:pt x="57181" y="910401"/>
                </a:lnTo>
                <a:lnTo>
                  <a:pt x="57150" y="9066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7D5E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1661E-50DD-49B7-974E-B2C0651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9246062394071"/>
          <a:stretch xmlns:a="http://schemas.openxmlformats.org/drawingml/2006/main"/>
        </p:blipFill>
        <p:spPr>
          <a:xfrm xmlns:a="http://schemas.openxmlformats.org/drawingml/2006/main">
            <a:off x="1219200" y="3333750"/>
            <a:ext cx="158496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934ACF71-9257-425F-BC82-46218AC4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ОБЈАШЊЕЊЕ · ИЛУСТРАТИВНИ МОДЕЛ</a:t>
            </a:r>
          </a:p>
        </p:txBody>
      </p:sp>
      <p:sp>
        <p:nvSpPr>
          <p:cNvPr id="7" name="heading-povratna-sprega">
            <a:extLst xmlns:a="http://schemas.openxmlformats.org/drawingml/2006/main">
              <a:ext uri="{FF2B5EF4-FFF2-40B4-BE49-F238E27FC236}">
                <a16:creationId xmlns:a16="http://schemas.microsoft.com/office/drawing/2014/main" id="{7BE4A59D-BC16-48C8-B2AB-E7B3E4E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19400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5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Круг континуираног побољшања</a:t>
            </a:r>
          </a:p>
        </p:txBody>
      </p:sp>
      <p:sp>
        <p:nvSpPr>
          <p:cNvPr id="8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DD852B7F-33DF-46BD-8816-A0BC20F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7558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система враћа процену контроле на проверу стварног сценарија.</a:t>
            </a:r>
          </a:p>
        </p:txBody>
      </p:sp>
      <p:sp>
        <p:nvSpPr>
          <p:cNvPr id="9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FBAA9FFA-C7D8-4681-933C-BF0ED56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677" y="3629025"/>
            <a:ext cx="2419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Догађај или тест</a:t>
            </a:r>
          </a:p>
        </p:txBody>
      </p:sp>
      <p:sp>
        <p:nvSpPr>
          <p:cNvPr id="10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98FDA5E8-7E54-431A-9D7B-810F76F5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048" y="4002286"/>
            <a:ext cx="31492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свеж доказ понашања</a:t>
            </a:r>
          </a:p>
        </p:txBody>
      </p:sp>
      <p:sp>
        <p:nvSpPr>
          <p:cNvPr id="11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E94FB0C4-E159-423B-8A6E-C0EBEF9F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310" y="3629025"/>
            <a:ext cx="143753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Процена</a:t>
            </a:r>
          </a:p>
        </p:txBody>
      </p:sp>
      <p:sp>
        <p:nvSpPr>
          <p:cNvPr id="12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7B88E185-86C9-4FC2-966D-BCB1D358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600" y="4002286"/>
            <a:ext cx="29971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 и покривеност</a:t>
            </a:r>
          </a:p>
        </p:txBody>
      </p:sp>
      <p:sp>
        <p:nvSpPr>
          <p:cNvPr id="13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ECB0B9F5-CD04-42C0-9E6B-F5B8505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832" y="6057900"/>
            <a:ext cx="27006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 контроле</a:t>
            </a:r>
          </a:p>
        </p:txBody>
      </p:sp>
      <p:sp>
        <p:nvSpPr>
          <p:cNvPr id="14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18605E4F-C315-436E-8BF9-DB0EF84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657" y="6431161"/>
            <a:ext cx="37988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 и очекивани исход</a:t>
            </a:r>
          </a:p>
        </p:txBody>
      </p:sp>
      <p:sp>
        <p:nvSpPr>
          <p:cNvPr id="15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D3FC2F28-D529-4942-832C-5834C77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914" y="6057900"/>
            <a:ext cx="25434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Поновна провера</a:t>
            </a:r>
          </a:p>
        </p:txBody>
      </p:sp>
      <p:sp>
        <p:nvSpPr>
          <p:cNvPr id="16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E34B1005-921D-46A7-97E8-9F4AE80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26" y="6431161"/>
            <a:ext cx="32576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резултат и ограничење</a:t>
            </a:r>
          </a:p>
        </p:txBody>
      </p:sp>
      <p:sp>
        <p:nvSpPr>
          <p:cNvPr id="17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814AD8BD-B88F-40D2-98B7-3F162771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84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7D5E0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18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372258FD-4B5D-4898-9BF7-93395CB9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080772"/>
            <a:ext cx="1252135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 резултат допуњује знање о ризику. Прихваћено ограничење остаје видљиво и има рок за следећи преглед.</a:t>
            </a:r>
          </a:p>
        </p:txBody>
      </p:sp>
      <p:sp>
        <p:nvSpPr>
          <p:cNvPr id="19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C7C48C8A-7D1F-4C49-A425-A1DC88E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povratna-sprega">
            <a:extLst xmlns:a="http://schemas.openxmlformats.org/drawingml/2006/main">
              <a:ext uri="{FF2B5EF4-FFF2-40B4-BE49-F238E27FC236}">
                <a16:creationId xmlns:a16="http://schemas.microsoft.com/office/drawing/2014/main" id="{D347FB63-D5B7-48D6-ABAB-8FED99E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5887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7D5E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74DF6-4594-4BF6-9C69-9AAEEFF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9AD75-F7F8-4D35-BFEF-DD453EF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1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36878-04F7-47AE-B5F5-11EBD47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12591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13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BC1E6-BD7C-4DBB-9FE3-7BA1110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4948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1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3A94-2643-4F44-A3C0-F8E9A58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84948"/>
            <a:ext cx="762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1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A3BBD-B5CE-4CB6-B0FD-3787E8C3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138"/>
          </a:solidFill>
          <a:ln xmlns:a="http://schemas.openxmlformats.org/drawingml/2006/main" w="0">
            <a:noFill/>
          </a:ln>
        </p:spPr>
      </p:sp>
      <p:sp>
        <p:nvSpPr>
          <p:cNvPr id="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BF98CA40-E4C8-4FCB-87EF-3C17D945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DE8DB"/>
                </a:solidFill>
                <a:latin typeface="IBM Plex Mono"/>
                <a:ea typeface="IBM Plex Mono"/>
                <a:cs typeface="IBM Plex Mono"/>
              </a:rPr>
              <a:t>РЕЗИМЕ И ПРОВЕРА</a:t>
            </a:r>
          </a:p>
        </p:txBody>
      </p:sp>
      <p:sp>
        <p:nvSpPr>
          <p:cNvPr id="8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91F7AA8E-9912-4233-9DB7-17460F0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12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Провера разумевања</a:t>
            </a:r>
          </a:p>
        </p:txBody>
      </p:sp>
      <p:sp>
        <p:nvSpPr>
          <p:cNvPr id="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17D0C19-E200-4662-B467-DFB57D19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76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1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3A421E0-6A86-4B52-8D2A-AC50648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41191"/>
            <a:ext cx="1840111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Догађаји</a:t>
            </a:r>
          </a:p>
        </p:txBody>
      </p:sp>
      <p:sp>
        <p:nvSpPr>
          <p:cNvPr id="1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B84F983F-EFF4-49EE-8131-8CE07AA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16412"/>
            <a:ext cx="29795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појединачни трагови</a:t>
            </a:r>
          </a:p>
        </p:txBody>
      </p:sp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F62BE7F-0335-4C83-A1B3-8CB16A8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1191"/>
            <a:ext cx="226189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1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75FEEF48-053B-4125-A34B-ECF93A1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16412"/>
            <a:ext cx="29344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заједнички контекст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A6D632F1-5192-44A0-BB4A-4668B10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3548"/>
            <a:ext cx="1928217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9B83C14-F753-45A5-AEE9-1265CE43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8769"/>
            <a:ext cx="34623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смањује одређени ризик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BACD7C5-5813-4AE4-B48B-FF86170E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3548"/>
            <a:ext cx="27891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Доказ и учење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3FE038A-1962-4A18-8C78-846C284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88769"/>
            <a:ext cx="27312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мери и побољшава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D68982A3-6BCB-45E4-B2A8-0169E42A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66830"/>
            <a:ext cx="1586567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latin typeface="IBM Plex Sans"/>
                <a:ea typeface="IBM Plex Sans"/>
                <a:cs typeface="IBM Plex Sans"/>
              </a:defRPr>
            </a:pPr>
            <a:r>
              <a:rPr sz="27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Који ризик контрола ублажава, који доказ чува и који сигнал показује да је престала да ради?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1A2907F0-E460-4F63-AD24-6AA0F172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42075"/>
            <a:ext cx="1022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12205EA4-9528-49AA-A43E-BAEA279A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EDE8DB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12F9398A-31AF-4E3C-AF9E-10D22E9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DE8DB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30790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2026-10-09T17:44:11.6910000Z</dcterms:created>
  <dcterms:modified xsi:type="dcterms:W3CDTF">2026-10-09T17:44:11.6910000Z</dcterms:modified>
</coreProperties>
</file>