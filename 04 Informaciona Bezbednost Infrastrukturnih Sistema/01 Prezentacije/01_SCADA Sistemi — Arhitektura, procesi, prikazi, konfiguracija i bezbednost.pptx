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Ova verzija prezentacije daje opšte teorijske osnove SCADA sistema, nezavisno od konkretne implementacije. Na kraju povezujemo opšte pojmove sa projektom SCADALattice, tako da slušaoci razumeju projekat i bez detaljnog poznavanja njegove specifikacije.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Struktura prati pet celina. Svaka celina najpre daje opšte pojmove iz teorije i prakse SCADA sistema, a peta celina objedinjuje bezbednosne aspekte. Završni deo pokazuje kako se ovi pojmovi preslikavaju na naš projekat.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Ključna reč u nazivu je nadzorno, odnosno supervizorsko upravljanje. SCADA ne zatvara brze regulacione petlje, to rade lokalni kontroleri. SCADA prikuplja podatke, prikazuje ih operateru, obrađuje alarme i izdaje komande višeg nivoa, kao što su promena zadate vrednosti ili uključenje opreme. Karakteristike sa desne strane objašnjavaju zašto su ovi sistemi specifični i sa bezbednosnog stanovišta.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Razvoj SCADA sistema uobičajeno se opisuje kroz četiri generacije. Od izolovanih, centralizovanih sistema prešlo se na umrežene i danas sve češće na rešenja povezana sa oblakom. Tehnološki napredak doneo je interoperabilnost i bolju analitiku, ali i izloženost mrežnim napadima, zbog čega je bezbednost postala centralni zahtev.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SCADA sistemi su osnova kritične infrastrukture. Bez obzira na sektor, zajedničko im je da upravljaju fizičkim procesom, pa se greška ili zloupotreba ne završava gubitkom podataka, već fizičkom posledicom. Zbog toga se bezbednost ovih sistema posmatra drugačije nego bezbednost klasičnih informacionih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Pojmovi SCADA, DCS i PLC često se mešaju. SCADA je orijentisana na nadzor raspodeljenih objekata, DCS na neposredno upravljanje procesom unutar jednog postrojenja, a PLC je uređaj koji izvršava lokalnu upravljačku logiku. U praksi se kombinuju: SCADA nadzire, a PLC na terenu upravlja. Vremenske skale su orijentacione.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Prvi deo: arhitektura. Krećemo od fizičkih komponenti, prelazimo na referentni model mrežnih nivoa i komunikacione protokole, a završavamo softverskom organizacijom platforme.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Lanac komponenti počinje u polju, gde senzori mere, a aktuatori deluju na proces. Kontroleri izvršavaju lokalnu logiku i šalju podatke preko komunikacione infrastrukture ka SCADA serveru, koji ih obrađuje i prosleđuje klijentima. Narandžasto su označene terenske komponente, a plavo nadzorni deo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Purdue model deli industrijsko okruženje na hijerarhijske nivoe, od fizičkog procesa do korporativne mreže. Između informacione i operativne zone postavlja se industrijska DMZ, kroz koju prolazi sav saobraćaj. SCADA i HMI pripadaju nivou 2, a historian nivou 3. Iako savremeni sistemi ne prate model strogo, on ostaje osnovni referentni okvir za segmentaciju.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Svaki podatak prolazi isti put: prikuplja se, proverava se njegov kvalitet, obrađuje se, uključujući i alarme, prikazuje se i arhivira. Za samo prikupljanje koriste se dva osnovna pristupa. Prozivka je jednostavna i predvidiva, dok izveštavanje o promeni štedi propusni opseg, ali zahteva povremenu proveru celovitosti, jer se tišina uređaja inače ne može razlikovati od prekida veze.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Pregled najzastupljenijih protokola pokazuje jasan trend. Modbus, kao jedan od najstarijih, nema nikakvu autentifikaciju: svaki učesnik u mreži može da čita i upisuje registre. Noviji protokoli, posebno OPC UA, bezbednost imaju ugrađenu u specifikaciju. Za energetske protokole bezbednosna proširenja daje serija standarda IEC 62351.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klasičnim informacionim sistemima najvažnija je poverljivost podataka. U operativnoj tehnologiji redosled je obrnut: proces mora neprekidno da radi, a podaci moraju biti tačni, dok je poverljivost na trećem mestu. Iznad svega je bezbednost ljudi i okoline. Iz toga proizlaze arhitekturna rešenja poput redundanse i lokalne autonomije kontrolera, ali i ograničenja, na primer otežano ažuriranje softvera.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Savremene SCADA platforme organizuju se slojevito. Pristup poznat kao Clean Architecture, koji je opisao Robert Martin, stavlja pravila domena u središte i zahteva da sve zavisnosti budu usmerene ka njemu. Za SCADA to znači da se drajveri protokola, baza i korisnički interfejs mogu menjati bez uticaja na logiku tagova, alarma i komandi. Ovaj princip je osnova i našeg projekta.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Komercijalne SCADA platforme podržavaju desetine protokola upravo preko drajvera, odnosno adaptera. Jezgro ne zna da li podatak dolazi iz Modbus uređaja, OPC UA servera, simulatora ili datoteke. Za njega je to tag sa vrednošću, kvalitetom i vremenskom oznakom. U projektu SCADALattice simulatori se priključuju upravo na ovaj način, što omogućava da se kasnije zamene stvarnim izvorima.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Drugi deo: procesi. Ovde objašnjavamo šta se zapravo nadzire i čime se upravlja, kako se proces matematički opisuje i kako SCADA predstavlja i obrađuje procesne podatke.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Industrijski procesi dele se na tri osnovne vrste. Vrsta procesa određuje i način modelovanja: kontinualni procesi, poput punjenja rezervoara, opisuju se jednačinama koje povezuju promenljive kroz vreme, dok se diskretni opisuju stanjima i prelazima. Šaržni procesi kombinuju oba pristupa i za njih postoji poseban standard ISA-88.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Osnova automatskog upravljanja je zatvorena petlja. Senzor meri procesnu veličinu, regulator je poredi sa zadatom vrednošću i na osnovu greške određuje upravljačku veličinu, koju aktuator primenjuje na proces. U SCADA arhitekturi ova petlja se izvršava u kontroleru na terenu, dok SCADA nadzire sve veličine i po potrebi menja zadatu vrednost ili režim 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regulator je najrasprostranjeniji regulator u industriji. Upravljačka veličina je zbir tri člana: proporcionalnog, koji reaguje na trenutnu grešku, integralnog, koji uklanja trajno odstupanje, i diferencijalnog, koji predviđa trend. Za bezbednost je važno da zlonamerna izmena parametara može destabilizovati proces bez ikakve izmene softvera, pa se ovi parametri tretiraju kao kritična konfiguracija.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Rezervoar je klasičan primer kontinualnog procesa. Promena zapremine jednaka je razlici ulaznog i izlaznog protoka. Za računarsku simulaciju jednačina se diskretizuje: u svakom koraku na trenutnu zapreminu dodaje se neto priraštaj. U primeru je neto priraštaj 0,05 kubnih metara po sekundi, pa posle 20 sekundi zapremina raste sa četiri na pet kubnih metara. Ovaj model koristi i naš projekat.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 je imenovana procesna promenljiva i osnovna jedinica podataka u svakom SCADA sistemu. Pored vrednosti, tag nosi metapodatke: tip, jedinicu, opseg, pravo pristupa, izvor, kvalitet i vremensku oznaku. Nazivi tagova obično prate konvenciju ISA-5.1, gde prvo slovo označava merenu veličinu, a naredna funkciju instrumenta. Tako je LT-101 merni pretvarač nivoa u petlji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Vrednost bez kvaliteta i vremenske oznake nije dovoljna za odlučivanje. Industrijski standardi, poput OPC UA, razlikuju dobar, nesiguran i loš kvalitet. Mnoge platforme dodaju i stanje zastarelosti, koje se dodeljuje kada podatak ne stigne na vreme. Bezbednosni aspekt je očigledan: operater koji vidi zastarelu vrednost kao važeću donosi odluke na osnovu netačne slike procesa.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ISA-18.2 definiše životni ciklus alarma kroz dve nezavisne dimenzije: da li je uslov aktivan i da li je alarm potvrđen. Ako se proces vrati u normalu pre potvrde, alarm ostaje vidljiv kao nepotvrđen, kako operater ne bi propustio događaj. Standard predviđa i stanja odlaganja, potiskivanja i isključenja iz upotrebe, koja moraju biti kontrolisana i evidentirana.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Previše alarma jednako je opasno kao i premalo, jer operater u poplavi alarma propušta one važne. Zato se primenjuju tehnike sa leve strane, a kvalitet alarmnog sistema meri se pokazateljima koje predlaže ISA-18.2. Brojevi sa desne strane su orijentacioni ciljevi: oko 150 alarma dnevno po operateru smatra se vrlo verovatno prihvatljivim, a više od deset alarma u deset minuta definiše preplavljivanje.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Komande su najosetljiviji deo SCADA sistema, jer menjaju fizički svet. Zato se kod kritičnih komandi primenjuje postupak odabira pa izvršenja: uređaj najpre potvrđuje da je izabran pravi objekat, a tek zatim prihvata izvršenje. Ovaj postupak koriste protokoli kao što su DNP3 i IEC 61850. Ishod se uvek proverava preko stvarnog stanja i upisuje u revizioni zapis.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Historian je specijalizovano skladište vremenskih serija. Pošto hiljade tagova proizvode podatke svake sekunde, koristi se kompresija: čuvaju se samo tačke iz kojih se signal može rekonstruisati u zadatoj toleranciji. Na grafikonu je od 26 uzoraka sačuvano sedam. Istorija se koristi za trendove, izveštaje i analizu incidenata, zbog čega je njen integritet bezbednosno važan.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Simulacija ima četiri glavne primene. Za informacionu bezbednost posebno je važno to što omogućava analizu napada bez ugrožavanja stvarne infrastrukture. Pored softverskih simulatora, postoje i fizička ispitna postrojenja, kao što je SWaT u Singapuru, čiji su podaci javno dostupni istraživačima. Tim podacima bavi se druga prezentacija.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Treći deo: prikazi. HMI je mesto gde se sav rad sistema svodi na odluke operatera, pa kvalitet prikaza neposredno utiče na bezbednost rada postrojenja.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Cilj HMI-ja je situaciona svest, koju Endsley opisuje kroz tri nivoa: opažanje elemenata okruženja, razumevanje njihovog značenja i projekciju budućeg stanja. Dobar prikaz podržava sva tri nivoa: ne prikazuje samo brojeve, već i kontekst i trend. To je posebno važno u nenormalnim situacijama, kada operater mora brzo da odluči.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ISA-101 preporučuje hijerarhijsku organizaciju prikaza u četiri nivoa. Na vrhu je malo prikaza sa širokim pregledom, a naniže sve više prikaza sa sve više detalja. Operater uočava odstupanje na pregledu i spušta se ka detaljima samo kada je potrebno, što smanjuje opterećenje i ubrzava reakciju.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Tradicionalni HMI ekrani često su tamni i šareni, sa realističnim slikama opreme. Visokoperformantni pristup, koji promoviše ISA-101, koristi neutralnu pozadinu i boju čuva za nenormalna stanja. Vrednosti se prikazuju u kontekstu normalnog opsega, pa operater odmah vidi da li je nešto blizu granice. Upravo ovaj pristup primenjujemo i u našem projektu.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Gotovo svaki SCADA prikaz sastavljen je od četiri tipa elemenata. Procesna šema daje prostorni kontekst, trend vremenski, alarmni panel skreće pažnju na odstupanja, a upravljački panel, u praksi često nazivan faceplate, služi za izdavanje komandi pojedinačnom uređaju uz prikaz njegovog stanja i režima 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Isti indikator prikazan je u četiri stanja kvaliteta. Svako se razlikuje okvirom, tekstom i vrednošću, a ne samo bojom. Zastarela vrednost je prigušena i nosi starost podatka, a nevažeća se ne prikazuje kao broj. Isti princip doslednosti važi za prioritete alarma, koji se razlikuju i oblikom i oznakom.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daje treći nivo situacione svesti, projekciju: na grafikonu se vidi da se nivo približava pragu alarma i pre nego što alarm nastupi. Važno je da trend pošteno prikazuje kvalitet: period u kom podaci nisu stizali označen je kao prekid, a ne iscrtan kao da je vrednost bila stabilna. Grafikon je ilustrativan.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Tipičan radni ekran ima stalnu navigaciju kroz hijerarhiju prikaza, centralni procesni prikaz i panel sa detaljima izabranog elementa. Sažetak aktivnih alarma je uvek vidljiv u zaglavlju, bez obzira na to koji je prikaz otvoren. Pristup komandama ide preko upravljačkog panela uređaja, uz potvrdu namere.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Četvrti deo: konfiguracija. Pokazujemo kako se SCADA sistem konfiguriše, kako se tagovi povezuju sa adresama u uređajima, kako se konfiguracija verzioniše i štiti, i kako se sistem proverava pre puštanja u 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Konfigurisanje SCADA sistema prati prirodan redosled: najpre se opisuju uređaji i veze, zatim baza tagova, pa alarmi i prikazi koji se na tagove oslanjaju, i na kraju korisnici i prava. Poslednji korak je testiranje, najpre na simulaciji, a zatim na lokaciji. Svaka izmena posle puštanja u rad prolazi kroz formalni postupak upravljanja izmenama.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Svaki tag mora biti povezan sa konkretnom adresom u uređaju. U Modbus konvenciji postoje četiri tabele podataka: coil izlazi, diskretni ulazi, ulazni registri i holding registri. Sirova vrednost iz registra pretvara se u inženjerske jedinice linearnim skaliranjem. Primer je ilustrativan, a sirovi opseg 0 do 4095 odgovara dvanaestobitnom analogno-digitalnom pretvaraču.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Savremeni pristup konfiguraciju opisuje deklarativno, u tekstualnom formatu sa definisanom šemom. Tako se ona može verzionisati, pregledati i automatski proveriti, kao i izvorni kod. Primer prikazuje definiciju taga zajedno sa izvorom podataka i alarmnim pravilom. Format je ilustrativan, a važno je načelo da tajne nikada nisu deo ovakve konfiguracije.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Pristup u SCADA sistemima dodeljuje se po ulogama. Posmatrač samo prati, operater upravlja procesom u dozvoljenim granicama, inženjer menja konfiguraciju, a administrator upravlja nalozima. Ključna načela su najmanje privilegije, razdvajanje dužnosti, provera svake operacije na serveru i evidentiranje i uspešnih i odbijenih pokušaja.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 puštanja u rad SCADA sistem prolazi fabričko ispitivanje prihvatljivosti, FAT, obično uz simulirane signale, a zatim terensko ispitivanje, SAT, sa stvarnom opremom. Pored funkcionalnih, sve su važniji bezbednosni testovi. Simulacija je ključna za ponovljivost ispitivanja i za scenarije kvarova i napada, koji se na stvarnom procesu ne smeju izvoditi.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Peti deo: bezbednost. Objedinjujemo bezbednosne aspekte koji su se provlačili kroz prethodne celine i dodajemo pretnje, tehnike napada, mere zaštite, detekciju i postupanje u slučaju incidenta.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Poređenje prati smernice NIST SP 800-82. OT sistemi traju decenijama, teško se ažuriraju i koriste protokole projektovane bez bezbednosnih mehanizama. Čak i uobičajene IT mere, kao što je aktivno skeniranje mreže, mogu izazvati otkaz starijih kontrolera. Zato se svaka mera procenjuje i sa stanovišta uticaja na proces. Vrednosti životnog veka su orijentacione.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Pretpostavka da je industrijska mreža fizički izolovana danas uglavnom ne važi. Napadač može ući preko udaljenog pristupa dobavljača, preko poslovne mreže, prenosivih medija, kompromitovanog softvera isporučioca ili uređaja izloženih na internetu. Posebnu kategoriju čine unutrašnji akteri, koji već imaju pristup i poznaju sistem. Upravo zato je granica IT i OT mreže, odnosno DMZ, ključna tačka kontrole.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Napadač koji se nalazi u industrijskoj mreži može iskoristiti činjenicu da nasleđeni protokoli ne proveravaju ko šalje poruku. Najopasnija kombinacija prikazana je na dijagramu: napadač istovremeno menja komande prema kontroleru i šalje lažne vrednosti prema SCADA serveru, pa operater vidi normalno stanje dok proces odstupa. Upravo tako je delovao Stuxnet. Zaštita se zato ne oslanja samo na mrežu, već i na proveru da li su vrednosti fizički usklađene.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MITRE ATT&amp;CK for ICS je javna baza znanja o ponašanju napadača na industrijske sisteme. Taktike opisuju šta napadač želi da postigne, od početnog pristupa do posledica po proces. Dve taktike postoje samo u industrijskom okruženju: onemogućavanje zaštitnih funkcija, na primer alarma ili sigurnosnih sistema, i narušavanje upravljanja procesom, na primer izmenom parametara ili logike kontrolera. Matrica se koristi za modelovanje pretnji, planiranje detekcije i analizu incidenata.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Serija standarda IEC 62443 uvodi pojmove zone i kanala. Resursi sa sličnim bezbednosnim zahtevima grupišu se u zone, a sva komunikacija između zona ide kroz kontrolisane kanale, na primer preko zaštitnih zidova. Za svaku zonu određuje se ciljni nivo bezbednosti, od zaštite od slučajnih grešaka do zaštite od sofisticiranih napadača sa velikim resursima.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Odbrana u dubinu je osnovna strategija zaštite industrijskih sistema, koju preporučuju i NIST SP 800-82 i IEC 62443. Proces je zaštićen nizom nezavisnih slojeva, od organizacionih mera i fizičke zaštite do segmentacije mreže, ojačavanja uređaja i kontrole pristupa. Ako napadač savlada jedan sloj, sledeći ga usporava i daje priliku da bude otkriven.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Detekcija u OT okruženju ima jednu prednost: saobraćaj i ponašanje procesa su vrlo predvidivi. Pored klasične detekcije po potpisima i detekcije mrežnih anomalija, posebno su vredne metode koje proveravaju fizičku usklađenost. U primeru pumpa ne radi i ulazni protok je nula, a nivo ipak raste, što ukazuje na lažiran podatak ili kvar senzora. Ovakve metode razvijaju se i vrednuju na javnim skupovima podataka, kao što je SWaT, čime se bavi sledeća prezentacija.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OT okruženju zakrpa se ne može primeniti odmah po objavljivanju. Postupak počinje inventarom imovine, nastavlja se praćenjem bezbednosnih upozorenja proizvođača i agencija kao što je američka CISA, a zatim se rizik procenjuje i prema ozbiljnosti ranjivosti i prema posledici po proces. Zakrpa se najpre proverava na ispitnom okruženju. Ako je primena nemoguća, na primer zato što proizvođač više ne podržava uređaj, uvode se kompenzacione mere.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 dobro dokumentovana incidenta pokazuju kako se pretnje opisane u ovom delu ostvaruju u praksi. Stuxnet je istovremeno menjao proces i lažirao prikaz, napad u Ukrajini izveden je preko legitimnih SCADA funkcija ukradenim nalozima, a Triton je ciljao sisteme koji treba da spreče havariju. U sva tri slučaja napadači su koristili mogućnosti samog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Odgovor na incidente prati opšti životni ciklus iz NIST SP 800-61: priprema, detekcija i analiza, obuzdavanje, uklanjanje i oporavak, i aktivnosti posle incidenta, čije se pouke vraćaju u pripremu. Novija revizija ovog dokumenta iz 2025. godine isti postupak usklađuje sa funkcijama NIST CSF 2.0. U OT okruženju postoje posebnosti: prioritet je bezbednost procesa i ljudi, potrebno je imati uvežban ručni režim rada, a tragovi za analizu nalaze se u historianu, revizionim zapisima i logici kontrolera.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Bezbednost SCADA sistema oslanja se na tehničke standarde i na zakonske obaveze. IEC 62443 i NIST SP 800-82 daju tehničke zahteve i smernice, NIST CSF 2.0 opšti okvir upravljanja rizikom, a MITRE ATT&amp;CK for ICS znanje o napadačima. Direktiva NIS2 u Evropskoj uniji i Zakon o informacionoj bezbednosti u Srbiji propisuju obaveze operatera kritične infrastrukture, uključujući mere zaštite i prijavu incidenata. Pre izlaganja preporučuje se provera aktuelne verzije domaćih propisa.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Ova tabela povezuje opšte pojmove iz prezentacije sa projektom. SCADALattice je laboratorijska SCADA platforma: fizički proces i kontrolere zamenjuju simulatori, a sve ostale komponente, od baze tagova i alarma do HMI-ja, historiana i kontrole pristupa, realizovane su prema principima koje smo upravo prikazali.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SCADA sistemi spajaju fizički i informacioni svet, pa se arhitektura, modelovanje procesa, prikazi i konfiguracija moraju posmatrati i kroz prizmu bezbednosti. Peta celina je pokazala da nijedna pojedinačna mera nije dovoljna i da se zaštita gradi u slojevima. Opšti principi prikazani u ovoj prezentaciji direktno su primenjeni u projektu SCADALattice. Sledeća prezentacija bavi se javno dostupnim podacima iz stvarnih ispitnih postrojenja i njihovom primenom u platformi.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Pojmovnik sažima ključne termine korišćene u prezentaciji i služi kao podsetnik tokom diskusije.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Literatura obuhvata standarde za bezbednost operativne tehnologije, HMI, alarme i simbole, kao i osnovne radove iz situacione svesti i regulacije. Hvala na pažnji.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2.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2.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slideLayout" Target="../slideLayouts/slideLayout2.xml"/><Relationship Id="rId10"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2.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slideLayout" Target="../slideLayouts/slideLayout2.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slideLayout" Target="../slideLayouts/slideLayout2.xml"/><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Skica SCADA sistema: HMI ekran sa prikazom rezervoara i trendom, mrežni svič, PLC i proces sa pumpom, rezervoarom, meračem nivoa i ventilom">    </p:cNvPr>
          <p:cNvPicPr>
            <a:picLocks noChangeAspect="1"/>
          </p:cNvPicPr>
          <p:nvPr/>
        </p:nvPicPr>
        <p:blipFill>
          <a:blip r:embed="rId1"/>
          <a:srcRect l="0" r="0" t="0" b="0"/>
          <a:stretch/>
        </p:blipFill>
        <p:spPr>
          <a:xfrm>
            <a:off x="7493000" y="952500"/>
            <a:ext cx="3886200" cy="4445000"/>
          </a:xfrm>
          <a:prstGeom prst="rect">
            <a:avLst/>
          </a:prstGeom>
        </p:spPr>
      </p:pic>
      <p:sp>
        <p:nvSpPr>
          <p:cNvPr id="3" name="Text 0"/>
          <p:cNvSpPr/>
          <p:nvPr/>
        </p:nvSpPr>
        <p:spPr>
          <a:xfrm>
            <a:off x="10033000" y="2768600"/>
            <a:ext cx="1397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SCADA / HMI</a:t>
            </a:r>
            <a:endParaRPr lang="en-US" sz="1200" dirty="0"/>
          </a:p>
        </p:txBody>
      </p:sp>
      <p:sp>
        <p:nvSpPr>
          <p:cNvPr id="4" name="Text 1"/>
          <p:cNvSpPr/>
          <p:nvPr/>
        </p:nvSpPr>
        <p:spPr>
          <a:xfrm>
            <a:off x="10033000" y="3505200"/>
            <a:ext cx="1397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PLC</a:t>
            </a:r>
            <a:endParaRPr lang="en-US" sz="1200" dirty="0"/>
          </a:p>
        </p:txBody>
      </p:sp>
      <p:sp>
        <p:nvSpPr>
          <p:cNvPr id="5" name="Text 2"/>
          <p:cNvSpPr/>
          <p:nvPr/>
        </p:nvSpPr>
        <p:spPr>
          <a:xfrm>
            <a:off x="10668000" y="4381500"/>
            <a:ext cx="762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Proces</a:t>
            </a:r>
            <a:endParaRPr lang="en-US" sz="1200" dirty="0"/>
          </a:p>
        </p:txBody>
      </p:sp>
      <p:sp>
        <p:nvSpPr>
          <p:cNvPr id="6" name="Text 3"/>
          <p:cNvSpPr/>
          <p:nvPr/>
        </p:nvSpPr>
        <p:spPr>
          <a:xfrm>
            <a:off x="812800" y="812800"/>
            <a:ext cx="654050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0A5CA8"/>
                </a:solidFill>
                <a:latin typeface="IBM Plex Mono" pitchFamily="49" charset="0"/>
                <a:ea typeface="IBM Plex Mono" pitchFamily="49" charset="-122"/>
                <a:cs typeface="IBM Plex Mono" pitchFamily="49" charset="-120"/>
              </a:rPr>
              <a:t>MASTER AKADEMSKE STUDIJE</a:t>
            </a:r>
            <a:endParaRPr lang="en-US" sz="1200" dirty="0"/>
          </a:p>
          <a:p>
            <a:pPr algn="l" indent="0" marL="0">
              <a:lnSpc>
                <a:spcPts val="1800"/>
              </a:lnSpc>
              <a:buNone/>
            </a:pPr>
            <a:r>
              <a:rPr lang="en-US" sz="1200" spc="100" kern="0" dirty="0">
                <a:solidFill>
                  <a:srgbClr val="0A5CA8"/>
                </a:solidFill>
                <a:latin typeface="IBM Plex Mono" pitchFamily="49" charset="0"/>
                <a:ea typeface="IBM Plex Mono" pitchFamily="49" charset="-122"/>
                <a:cs typeface="IBM Plex Mono" pitchFamily="49" charset="-120"/>
              </a:rPr>
              <a:t>INFORMACIONA BEZBEDNOST INFRASTRUKTURNIH SISTEMA</a:t>
            </a:r>
            <a:endParaRPr lang="en-US" sz="1200" dirty="0"/>
          </a:p>
        </p:txBody>
      </p:sp>
      <p:sp>
        <p:nvSpPr>
          <p:cNvPr id="7" name="Text 4"/>
          <p:cNvSpPr/>
          <p:nvPr>
            <p:ph type="title"/>
          </p:nvPr>
        </p:nvSpPr>
        <p:spPr>
          <a:xfrm>
            <a:off x="812800" y="1447800"/>
            <a:ext cx="6540500" cy="863600"/>
          </a:xfrm>
          <a:prstGeom prst="rect">
            <a:avLst/>
          </a:prstGeom>
          <a:noFill/>
          <a:ln/>
        </p:spPr>
        <p:txBody>
          <a:bodyPr wrap="square" lIns="0" tIns="0" rIns="0" bIns="0" rtlCol="0" anchor="t">
            <a:normAutofit/>
          </a:bodyPr>
          <a:lstStyle/>
          <a:p>
            <a:pPr algn="l" indent="0" marL="0">
              <a:lnSpc>
                <a:spcPts val="6600"/>
              </a:lnSpc>
              <a:buNone/>
            </a:pPr>
            <a:r>
              <a:rPr lang="en-US" sz="6600" b="1" i="0" spc="-150" kern="0" dirty="0">
                <a:solidFill>
                  <a:srgbClr val="13202D"/>
                </a:solidFill>
                <a:latin typeface="IBM Plex Sans" pitchFamily="34" charset="0"/>
                <a:ea typeface="IBM Plex Sans" pitchFamily="34" charset="-122"/>
                <a:cs typeface="IBM Plex Sans" pitchFamily="34" charset="-120"/>
              </a:rPr>
              <a:t>SCADA sistemi</a:t>
            </a:r>
            <a:endParaRPr lang="en-US" sz="6600" dirty="0"/>
          </a:p>
        </p:txBody>
      </p:sp>
      <p:sp>
        <p:nvSpPr>
          <p:cNvPr id="8" name="Text 5"/>
          <p:cNvSpPr/>
          <p:nvPr/>
        </p:nvSpPr>
        <p:spPr>
          <a:xfrm>
            <a:off x="812800" y="2463800"/>
            <a:ext cx="58864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44505D"/>
                </a:solidFill>
                <a:latin typeface="IBM Plex Sans" pitchFamily="34" charset="0"/>
                <a:ea typeface="IBM Plex Sans" pitchFamily="34" charset="-122"/>
                <a:cs typeface="IBM Plex Sans" pitchFamily="34" charset="-120"/>
              </a:rPr>
              <a:t>Arhitektura, procesi, prikazi, konfiguracija i bezbednost nadzorno-upravljačkih sistema</a:t>
            </a:r>
            <a:endParaRPr lang="en-US" sz="1800" dirty="0"/>
          </a:p>
        </p:txBody>
      </p:sp>
      <p:sp>
        <p:nvSpPr>
          <p:cNvPr id="9" name="Text 6"/>
          <p:cNvSpPr/>
          <p:nvPr/>
        </p:nvSpPr>
        <p:spPr>
          <a:xfrm>
            <a:off x="812800" y="3258741"/>
            <a:ext cx="3332956" cy="401241"/>
          </a:xfrm>
          <a:prstGeom prst="roundRect">
            <a:avLst>
              <a:gd name="adj" fmla="val 50000"/>
            </a:avLst>
          </a:prstGeom>
          <a:solidFill>
            <a:srgbClr val="DCE8F4"/>
          </a:solidFill>
          <a:ln/>
        </p:spPr>
        <p:txBody>
          <a:bodyPr wrap="none" lIns="0" tIns="0" rIns="0" bIns="0" rtlCol="0" anchor="ctr">
            <a:normAutofit/>
          </a:bodyPr>
          <a:lstStyle/>
          <a:p>
            <a:pPr algn="ctr" indent="0" marL="0">
              <a:lnSpc>
                <a:spcPts val="1960"/>
              </a:lnSpc>
              <a:buNone/>
            </a:pPr>
            <a:r>
              <a:rPr lang="en-US" sz="1400" dirty="0">
                <a:solidFill>
                  <a:srgbClr val="0A5CA8"/>
                </a:solidFill>
                <a:latin typeface="IBM Plex Sans" pitchFamily="34" charset="0"/>
                <a:ea typeface="IBM Plex Sans" pitchFamily="34" charset="-122"/>
                <a:cs typeface="IBM Plex Sans" pitchFamily="34" charset="-120"/>
              </a:rPr>
              <a:t>Teorijske osnove i primena u projektu</a:t>
            </a:r>
            <a:endParaRPr lang="en-US" sz="1400" dirty="0"/>
          </a:p>
        </p:txBody>
      </p:sp>
      <p:sp>
        <p:nvSpPr>
          <p:cNvPr id="10" name="Shape 7"/>
          <p:cNvSpPr/>
          <p:nvPr/>
        </p:nvSpPr>
        <p:spPr>
          <a:xfrm>
            <a:off x="812800" y="5376664"/>
            <a:ext cx="6350000" cy="0"/>
          </a:xfrm>
          <a:prstGeom prst="line">
            <a:avLst/>
          </a:prstGeom>
          <a:noFill/>
          <a:ln w="6350">
            <a:solidFill>
              <a:srgbClr val="D3DAE1"/>
            </a:solidFill>
            <a:prstDash val="solid"/>
          </a:ln>
        </p:spPr>
      </p:sp>
      <p:sp>
        <p:nvSpPr>
          <p:cNvPr id="11" name="Text 8"/>
          <p:cNvSpPr/>
          <p:nvPr/>
        </p:nvSpPr>
        <p:spPr>
          <a:xfrm>
            <a:off x="812800" y="5532239"/>
            <a:ext cx="65405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Fakultet tehničkih nauka · Univerzitet u Novom Sadu</a:t>
            </a:r>
            <a:endParaRPr lang="en-US" sz="1400" dirty="0"/>
          </a:p>
        </p:txBody>
      </p:sp>
      <p:sp>
        <p:nvSpPr>
          <p:cNvPr id="12" name="Text 9"/>
          <p:cNvSpPr/>
          <p:nvPr/>
        </p:nvSpPr>
        <p:spPr>
          <a:xfrm>
            <a:off x="812800" y="5831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Novi Sad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PREGLED</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Sadržaj prezentacije</a:t>
            </a:r>
            <a:endParaRPr lang="en-US" sz="3000" dirty="0"/>
          </a:p>
        </p:txBody>
      </p:sp>
      <p:sp>
        <p:nvSpPr>
          <p:cNvPr id="5" name="Shape 3"/>
          <p:cNvSpPr/>
          <p:nvPr/>
        </p:nvSpPr>
        <p:spPr>
          <a:xfrm>
            <a:off x="815975" y="1676995"/>
            <a:ext cx="2005310" cy="2543572"/>
          </a:xfrm>
          <a:prstGeom prst="roundRect">
            <a:avLst>
              <a:gd name="adj" fmla="val 4908"/>
            </a:avLst>
          </a:prstGeom>
          <a:solidFill>
            <a:srgbClr val="FCFCFB"/>
          </a:solidFill>
          <a:ln w="6350">
            <a:solidFill>
              <a:srgbClr val="D3DAE1"/>
            </a:solidFill>
            <a:prstDash val="solid"/>
          </a:ln>
        </p:spPr>
      </p:sp>
      <p:sp>
        <p:nvSpPr>
          <p:cNvPr id="6" name="Shape 4"/>
          <p:cNvSpPr/>
          <p:nvPr/>
        </p:nvSpPr>
        <p:spPr>
          <a:xfrm>
            <a:off x="996950" y="1857970"/>
            <a:ext cx="355600" cy="38100"/>
          </a:xfrm>
          <a:prstGeom prst="roundRect">
            <a:avLst>
              <a:gd name="adj" fmla="val 50000"/>
            </a:avLst>
          </a:prstGeom>
          <a:solidFill>
            <a:srgbClr val="0A5CA8"/>
          </a:solidFill>
          <a:ln/>
        </p:spPr>
      </p:sp>
      <p:sp>
        <p:nvSpPr>
          <p:cNvPr id="7" name="Text 5"/>
          <p:cNvSpPr/>
          <p:nvPr/>
        </p:nvSpPr>
        <p:spPr>
          <a:xfrm>
            <a:off x="99695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01</a:t>
            </a:r>
            <a:endParaRPr lang="en-US" sz="3000" dirty="0"/>
          </a:p>
        </p:txBody>
      </p:sp>
      <p:sp>
        <p:nvSpPr>
          <p:cNvPr id="8" name="Text 6"/>
          <p:cNvSpPr/>
          <p:nvPr/>
        </p:nvSpPr>
        <p:spPr>
          <a:xfrm>
            <a:off x="99695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Arhitektura</a:t>
            </a:r>
            <a:endParaRPr lang="en-US" sz="1400" dirty="0"/>
          </a:p>
        </p:txBody>
      </p:sp>
      <p:sp>
        <p:nvSpPr>
          <p:cNvPr id="9" name="Text 7"/>
          <p:cNvSpPr/>
          <p:nvPr/>
        </p:nvSpPr>
        <p:spPr>
          <a:xfrm>
            <a:off x="99695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Komponente, Purdue model, akvizicija, protokoli i softverska organizacija.</a:t>
            </a:r>
            <a:endParaRPr lang="en-US" sz="1200" dirty="0"/>
          </a:p>
        </p:txBody>
      </p:sp>
      <p:sp>
        <p:nvSpPr>
          <p:cNvPr id="10" name="Text 8"/>
          <p:cNvSpPr/>
          <p:nvPr/>
        </p:nvSpPr>
        <p:spPr>
          <a:xfrm>
            <a:off x="99695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07–14</a:t>
            </a:r>
            <a:endParaRPr lang="en-US" sz="1200" dirty="0"/>
          </a:p>
        </p:txBody>
      </p:sp>
      <p:sp>
        <p:nvSpPr>
          <p:cNvPr id="11" name="Shape 9"/>
          <p:cNvSpPr/>
          <p:nvPr/>
        </p:nvSpPr>
        <p:spPr>
          <a:xfrm>
            <a:off x="2954635" y="1676995"/>
            <a:ext cx="2005409" cy="2543572"/>
          </a:xfrm>
          <a:prstGeom prst="roundRect">
            <a:avLst>
              <a:gd name="adj" fmla="val 4908"/>
            </a:avLst>
          </a:prstGeom>
          <a:solidFill>
            <a:srgbClr val="FCFCFB"/>
          </a:solidFill>
          <a:ln w="6350">
            <a:solidFill>
              <a:srgbClr val="D3DAE1"/>
            </a:solidFill>
            <a:prstDash val="solid"/>
          </a:ln>
        </p:spPr>
      </p:sp>
      <p:sp>
        <p:nvSpPr>
          <p:cNvPr id="12" name="Shape 10"/>
          <p:cNvSpPr/>
          <p:nvPr/>
        </p:nvSpPr>
        <p:spPr>
          <a:xfrm>
            <a:off x="3135610" y="1857970"/>
            <a:ext cx="355600" cy="38100"/>
          </a:xfrm>
          <a:prstGeom prst="roundRect">
            <a:avLst>
              <a:gd name="adj" fmla="val 50000"/>
            </a:avLst>
          </a:prstGeom>
          <a:solidFill>
            <a:srgbClr val="0A5CA8"/>
          </a:solidFill>
          <a:ln/>
        </p:spPr>
      </p:sp>
      <p:sp>
        <p:nvSpPr>
          <p:cNvPr id="13" name="Text 11"/>
          <p:cNvSpPr/>
          <p:nvPr/>
        </p:nvSpPr>
        <p:spPr>
          <a:xfrm>
            <a:off x="3135610" y="1984970"/>
            <a:ext cx="1694259"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02</a:t>
            </a:r>
            <a:endParaRPr lang="en-US" sz="3000" dirty="0"/>
          </a:p>
        </p:txBody>
      </p:sp>
      <p:sp>
        <p:nvSpPr>
          <p:cNvPr id="14" name="Text 12"/>
          <p:cNvSpPr/>
          <p:nvPr/>
        </p:nvSpPr>
        <p:spPr>
          <a:xfrm>
            <a:off x="3135610" y="2492970"/>
            <a:ext cx="16942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Procesi</a:t>
            </a:r>
            <a:endParaRPr lang="en-US" sz="1400" dirty="0"/>
          </a:p>
        </p:txBody>
      </p:sp>
      <p:sp>
        <p:nvSpPr>
          <p:cNvPr id="15" name="Text 13"/>
          <p:cNvSpPr/>
          <p:nvPr/>
        </p:nvSpPr>
        <p:spPr>
          <a:xfrm>
            <a:off x="3135610" y="2795191"/>
            <a:ext cx="16942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Upravljačka petlja, modelovanje, tagovi, alarmi, komande i historian.</a:t>
            </a:r>
            <a:endParaRPr lang="en-US" sz="1200" dirty="0"/>
          </a:p>
        </p:txBody>
      </p:sp>
      <p:sp>
        <p:nvSpPr>
          <p:cNvPr id="16" name="Text 14"/>
          <p:cNvSpPr/>
          <p:nvPr/>
        </p:nvSpPr>
        <p:spPr>
          <a:xfrm>
            <a:off x="3135610" y="3826272"/>
            <a:ext cx="1694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15–26</a:t>
            </a:r>
            <a:endParaRPr lang="en-US" sz="1200" dirty="0"/>
          </a:p>
        </p:txBody>
      </p:sp>
      <p:sp>
        <p:nvSpPr>
          <p:cNvPr id="17" name="Shape 15"/>
          <p:cNvSpPr/>
          <p:nvPr/>
        </p:nvSpPr>
        <p:spPr>
          <a:xfrm>
            <a:off x="5093395" y="1676995"/>
            <a:ext cx="2005310" cy="2543572"/>
          </a:xfrm>
          <a:prstGeom prst="roundRect">
            <a:avLst>
              <a:gd name="adj" fmla="val 4908"/>
            </a:avLst>
          </a:prstGeom>
          <a:solidFill>
            <a:srgbClr val="FCFCFB"/>
          </a:solidFill>
          <a:ln w="6350">
            <a:solidFill>
              <a:srgbClr val="D3DAE1"/>
            </a:solidFill>
            <a:prstDash val="solid"/>
          </a:ln>
        </p:spPr>
      </p:sp>
      <p:sp>
        <p:nvSpPr>
          <p:cNvPr id="18" name="Shape 16"/>
          <p:cNvSpPr/>
          <p:nvPr/>
        </p:nvSpPr>
        <p:spPr>
          <a:xfrm>
            <a:off x="5274370" y="1857970"/>
            <a:ext cx="355600" cy="38100"/>
          </a:xfrm>
          <a:prstGeom prst="roundRect">
            <a:avLst>
              <a:gd name="adj" fmla="val 50000"/>
            </a:avLst>
          </a:prstGeom>
          <a:solidFill>
            <a:srgbClr val="0A5CA8"/>
          </a:solidFill>
          <a:ln/>
        </p:spPr>
      </p:sp>
      <p:sp>
        <p:nvSpPr>
          <p:cNvPr id="19" name="Text 17"/>
          <p:cNvSpPr/>
          <p:nvPr/>
        </p:nvSpPr>
        <p:spPr>
          <a:xfrm>
            <a:off x="527437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03</a:t>
            </a:r>
            <a:endParaRPr lang="en-US" sz="3000" dirty="0"/>
          </a:p>
        </p:txBody>
      </p:sp>
      <p:sp>
        <p:nvSpPr>
          <p:cNvPr id="20" name="Text 18"/>
          <p:cNvSpPr/>
          <p:nvPr/>
        </p:nvSpPr>
        <p:spPr>
          <a:xfrm>
            <a:off x="527437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Prikazi</a:t>
            </a:r>
            <a:endParaRPr lang="en-US" sz="1400" dirty="0"/>
          </a:p>
        </p:txBody>
      </p:sp>
      <p:sp>
        <p:nvSpPr>
          <p:cNvPr id="21" name="Text 19"/>
          <p:cNvSpPr/>
          <p:nvPr/>
        </p:nvSpPr>
        <p:spPr>
          <a:xfrm>
            <a:off x="527437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Uloga HMI-ja, hijerarhija prikaza, trendovi i kodiranje stanja.</a:t>
            </a:r>
            <a:endParaRPr lang="en-US" sz="1200" dirty="0"/>
          </a:p>
        </p:txBody>
      </p:sp>
      <p:sp>
        <p:nvSpPr>
          <p:cNvPr id="22" name="Text 20"/>
          <p:cNvSpPr/>
          <p:nvPr/>
        </p:nvSpPr>
        <p:spPr>
          <a:xfrm>
            <a:off x="527437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27–34</a:t>
            </a:r>
            <a:endParaRPr lang="en-US" sz="1200" dirty="0"/>
          </a:p>
        </p:txBody>
      </p:sp>
      <p:sp>
        <p:nvSpPr>
          <p:cNvPr id="23" name="Shape 21"/>
          <p:cNvSpPr/>
          <p:nvPr/>
        </p:nvSpPr>
        <p:spPr>
          <a:xfrm>
            <a:off x="7232055" y="1676995"/>
            <a:ext cx="2005310" cy="2543572"/>
          </a:xfrm>
          <a:prstGeom prst="roundRect">
            <a:avLst>
              <a:gd name="adj" fmla="val 4908"/>
            </a:avLst>
          </a:prstGeom>
          <a:solidFill>
            <a:srgbClr val="FCFCFB"/>
          </a:solidFill>
          <a:ln w="6350">
            <a:solidFill>
              <a:srgbClr val="D3DAE1"/>
            </a:solidFill>
            <a:prstDash val="solid"/>
          </a:ln>
        </p:spPr>
      </p:sp>
      <p:sp>
        <p:nvSpPr>
          <p:cNvPr id="24" name="Shape 22"/>
          <p:cNvSpPr/>
          <p:nvPr/>
        </p:nvSpPr>
        <p:spPr>
          <a:xfrm>
            <a:off x="7413030" y="1857970"/>
            <a:ext cx="355600" cy="38100"/>
          </a:xfrm>
          <a:prstGeom prst="roundRect">
            <a:avLst>
              <a:gd name="adj" fmla="val 50000"/>
            </a:avLst>
          </a:prstGeom>
          <a:solidFill>
            <a:srgbClr val="0A5CA8"/>
          </a:solidFill>
          <a:ln/>
        </p:spPr>
      </p:sp>
      <p:sp>
        <p:nvSpPr>
          <p:cNvPr id="25" name="Text 23"/>
          <p:cNvSpPr/>
          <p:nvPr/>
        </p:nvSpPr>
        <p:spPr>
          <a:xfrm>
            <a:off x="741303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04</a:t>
            </a:r>
            <a:endParaRPr lang="en-US" sz="3000" dirty="0"/>
          </a:p>
        </p:txBody>
      </p:sp>
      <p:sp>
        <p:nvSpPr>
          <p:cNvPr id="26" name="Text 24"/>
          <p:cNvSpPr/>
          <p:nvPr/>
        </p:nvSpPr>
        <p:spPr>
          <a:xfrm>
            <a:off x="741303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Konfiguracija</a:t>
            </a:r>
            <a:endParaRPr lang="en-US" sz="1400" dirty="0"/>
          </a:p>
        </p:txBody>
      </p:sp>
      <p:sp>
        <p:nvSpPr>
          <p:cNvPr id="27" name="Text 25"/>
          <p:cNvSpPr/>
          <p:nvPr/>
        </p:nvSpPr>
        <p:spPr>
          <a:xfrm>
            <a:off x="741303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Inženjering, adresiranje, konfiguracija kao kod, uloge i testiranje.</a:t>
            </a:r>
            <a:endParaRPr lang="en-US" sz="1200" dirty="0"/>
          </a:p>
        </p:txBody>
      </p:sp>
      <p:sp>
        <p:nvSpPr>
          <p:cNvPr id="28" name="Text 26"/>
          <p:cNvSpPr/>
          <p:nvPr/>
        </p:nvSpPr>
        <p:spPr>
          <a:xfrm>
            <a:off x="741303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35–40</a:t>
            </a:r>
            <a:endParaRPr lang="en-US" sz="1200" dirty="0"/>
          </a:p>
        </p:txBody>
      </p:sp>
      <p:sp>
        <p:nvSpPr>
          <p:cNvPr id="29" name="Shape 27"/>
          <p:cNvSpPr/>
          <p:nvPr/>
        </p:nvSpPr>
        <p:spPr>
          <a:xfrm>
            <a:off x="9370715" y="1676995"/>
            <a:ext cx="2005310" cy="2543572"/>
          </a:xfrm>
          <a:prstGeom prst="roundRect">
            <a:avLst>
              <a:gd name="adj" fmla="val 4908"/>
            </a:avLst>
          </a:prstGeom>
          <a:solidFill>
            <a:srgbClr val="FCFCFB"/>
          </a:solidFill>
          <a:ln w="6350">
            <a:solidFill>
              <a:srgbClr val="D3DAE1"/>
            </a:solidFill>
            <a:prstDash val="solid"/>
          </a:ln>
        </p:spPr>
      </p:sp>
      <p:sp>
        <p:nvSpPr>
          <p:cNvPr id="30" name="Shape 28"/>
          <p:cNvSpPr/>
          <p:nvPr/>
        </p:nvSpPr>
        <p:spPr>
          <a:xfrm>
            <a:off x="9551690" y="1857970"/>
            <a:ext cx="355600" cy="38100"/>
          </a:xfrm>
          <a:prstGeom prst="roundRect">
            <a:avLst>
              <a:gd name="adj" fmla="val 50000"/>
            </a:avLst>
          </a:prstGeom>
          <a:solidFill>
            <a:srgbClr val="E07B1F"/>
          </a:solidFill>
          <a:ln/>
        </p:spPr>
      </p:sp>
      <p:sp>
        <p:nvSpPr>
          <p:cNvPr id="31" name="Text 29"/>
          <p:cNvSpPr/>
          <p:nvPr/>
        </p:nvSpPr>
        <p:spPr>
          <a:xfrm>
            <a:off x="955169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05</a:t>
            </a:r>
            <a:endParaRPr lang="en-US" sz="3000" dirty="0"/>
          </a:p>
        </p:txBody>
      </p:sp>
      <p:sp>
        <p:nvSpPr>
          <p:cNvPr id="32" name="Text 30"/>
          <p:cNvSpPr/>
          <p:nvPr/>
        </p:nvSpPr>
        <p:spPr>
          <a:xfrm>
            <a:off x="955169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Bezbednost</a:t>
            </a:r>
            <a:endParaRPr lang="en-US" sz="1400" dirty="0"/>
          </a:p>
        </p:txBody>
      </p:sp>
      <p:sp>
        <p:nvSpPr>
          <p:cNvPr id="33" name="Text 31"/>
          <p:cNvSpPr/>
          <p:nvPr/>
        </p:nvSpPr>
        <p:spPr>
          <a:xfrm>
            <a:off x="9551690" y="2795191"/>
            <a:ext cx="1694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Pretnje, napadi na protokole, odbrana u dubinu, detekcija i odgovor.</a:t>
            </a:r>
            <a:endParaRPr lang="en-US" sz="1200" dirty="0"/>
          </a:p>
        </p:txBody>
      </p:sp>
      <p:sp>
        <p:nvSpPr>
          <p:cNvPr id="34" name="Text 32"/>
          <p:cNvSpPr/>
          <p:nvPr/>
        </p:nvSpPr>
        <p:spPr>
          <a:xfrm>
            <a:off x="955169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41–52</a:t>
            </a:r>
            <a:endParaRPr lang="en-US" sz="1200" dirty="0"/>
          </a:p>
        </p:txBody>
      </p:sp>
      <p:sp>
        <p:nvSpPr>
          <p:cNvPr id="35" name="Text 33"/>
          <p:cNvSpPr/>
          <p:nvPr/>
        </p:nvSpPr>
        <p:spPr>
          <a:xfrm>
            <a:off x="812800" y="4477742"/>
            <a:ext cx="5207000" cy="416520"/>
          </a:xfrm>
          <a:prstGeom prst="roundRect">
            <a:avLst>
              <a:gd name="adj" fmla="val 18294"/>
            </a:avLst>
          </a:prstGeom>
          <a:solidFill>
            <a:srgbClr val="EBF0F5"/>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Uvod</a:t>
            </a:r>
            <a:r>
              <a:rPr lang="en-US" sz="1200" dirty="0">
                <a:solidFill>
                  <a:srgbClr val="44505D"/>
                </a:solidFill>
                <a:latin typeface="IBM Plex Sans" pitchFamily="34" charset="0"/>
                <a:ea typeface="IBM Plex Sans" pitchFamily="34" charset="-122"/>
                <a:cs typeface="IBM Plex Sans" pitchFamily="34" charset="-120"/>
              </a:rPr>
              <a:t> · pojam, razvoj i primena SCADA sistema (03–06)</a:t>
            </a:r>
            <a:endParaRPr lang="en-US" sz="1200" dirty="0"/>
          </a:p>
        </p:txBody>
      </p:sp>
      <p:sp>
        <p:nvSpPr>
          <p:cNvPr id="36" name="Text 34"/>
          <p:cNvSpPr/>
          <p:nvPr/>
        </p:nvSpPr>
        <p:spPr>
          <a:xfrm>
            <a:off x="6172200" y="4477742"/>
            <a:ext cx="5207000" cy="416520"/>
          </a:xfrm>
          <a:prstGeom prst="roundRect">
            <a:avLst>
              <a:gd name="adj" fmla="val 18294"/>
            </a:avLst>
          </a:prstGeom>
          <a:solidFill>
            <a:srgbClr val="EBF0F5"/>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Završni deo</a:t>
            </a:r>
            <a:r>
              <a:rPr lang="en-US" sz="1200" dirty="0">
                <a:solidFill>
                  <a:srgbClr val="44505D"/>
                </a:solidFill>
                <a:latin typeface="IBM Plex Sans" pitchFamily="34" charset="0"/>
                <a:ea typeface="IBM Plex Sans" pitchFamily="34" charset="-122"/>
                <a:cs typeface="IBM Plex Sans" pitchFamily="34" charset="-120"/>
              </a:rPr>
              <a:t> · veza sa projektom, zaključak i pojmovnik (53–56)</a:t>
            </a:r>
            <a:endParaRPr lang="en-US" sz="1200" dirty="0"/>
          </a:p>
        </p:txBody>
      </p:sp>
      <p:sp>
        <p:nvSpPr>
          <p:cNvPr id="37" name="Shape 35"/>
          <p:cNvSpPr/>
          <p:nvPr/>
        </p:nvSpPr>
        <p:spPr>
          <a:xfrm>
            <a:off x="812800" y="6209705"/>
            <a:ext cx="10566400" cy="0"/>
          </a:xfrm>
          <a:prstGeom prst="line">
            <a:avLst/>
          </a:prstGeom>
          <a:noFill/>
          <a:ln w="6350">
            <a:solidFill>
              <a:srgbClr val="D3DAE1"/>
            </a:solidFill>
            <a:prstDash val="solid"/>
          </a:ln>
        </p:spPr>
      </p:sp>
      <p:sp>
        <p:nvSpPr>
          <p:cNvPr id="38" name="Text 36"/>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9" name="Text 3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UVOD</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Pojam SCADA sistema</a:t>
            </a:r>
            <a:endParaRPr lang="en-US" sz="3000" dirty="0"/>
          </a:p>
        </p:txBody>
      </p:sp>
      <p:sp>
        <p:nvSpPr>
          <p:cNvPr id="5" name="Text 3"/>
          <p:cNvSpPr/>
          <p:nvPr/>
        </p:nvSpPr>
        <p:spPr>
          <a:xfrm>
            <a:off x="812800" y="1673820"/>
            <a:ext cx="5363210" cy="79871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3202D"/>
                </a:solidFill>
                <a:latin typeface="IBM Plex Sans" pitchFamily="34" charset="0"/>
                <a:ea typeface="IBM Plex Sans" pitchFamily="34" charset="-122"/>
                <a:cs typeface="IBM Plex Sans" pitchFamily="34" charset="-120"/>
              </a:rPr>
              <a:t>SCADA</a:t>
            </a:r>
            <a:r>
              <a:rPr lang="en-US" sz="1400" dirty="0">
                <a:solidFill>
                  <a:srgbClr val="44505D"/>
                </a:solidFill>
                <a:latin typeface="IBM Plex Sans" pitchFamily="34" charset="0"/>
                <a:ea typeface="IBM Plex Sans" pitchFamily="34" charset="-122"/>
                <a:cs typeface="IBM Plex Sans" pitchFamily="34" charset="-120"/>
              </a:rPr>
              <a:t> (engl. </a:t>
            </a:r>
            <a:r>
              <a:rPr lang="en-US" sz="1400" i="1" dirty="0">
                <a:solidFill>
                  <a:srgbClr val="44505D"/>
                </a:solidFill>
                <a:latin typeface="IBM Plex Sans" pitchFamily="34" charset="0"/>
                <a:ea typeface="IBM Plex Sans" pitchFamily="34" charset="-122"/>
                <a:cs typeface="IBM Plex Sans" pitchFamily="34" charset="-120"/>
              </a:rPr>
              <a:t>Supervisory Control and Data Acquisition</a:t>
            </a:r>
            <a:r>
              <a:rPr lang="en-US" sz="1400" dirty="0">
                <a:solidFill>
                  <a:srgbClr val="44505D"/>
                </a:solidFill>
                <a:latin typeface="IBM Plex Sans" pitchFamily="34" charset="0"/>
                <a:ea typeface="IBM Plex Sans" pitchFamily="34" charset="-122"/>
                <a:cs typeface="IBM Plex Sans" pitchFamily="34" charset="-120"/>
              </a:rPr>
              <a:t>) jeste klasa sistema za nadzor i upravljanje raspodeljenim fizičkim procesima.</a:t>
            </a:r>
            <a:endParaRPr lang="en-US" sz="1400" dirty="0"/>
          </a:p>
        </p:txBody>
      </p:sp>
      <p:pic>
        <p:nvPicPr>
          <p:cNvPr id="6" name="Image 0" descr="Activity">    </p:cNvPr>
          <p:cNvPicPr>
            <a:picLocks noChangeAspect="1"/>
          </p:cNvPicPr>
          <p:nvPr/>
        </p:nvPicPr>
        <p:blipFill>
          <a:blip r:embed="rId1"/>
          <a:srcRect l="0" r="0" t="0" b="0"/>
          <a:stretch/>
        </p:blipFill>
        <p:spPr>
          <a:xfrm>
            <a:off x="812800" y="2624931"/>
            <a:ext cx="279400" cy="279400"/>
          </a:xfrm>
          <a:prstGeom prst="rect">
            <a:avLst/>
          </a:prstGeom>
        </p:spPr>
      </p:pic>
      <p:sp>
        <p:nvSpPr>
          <p:cNvPr id="7" name="Text 4"/>
          <p:cNvSpPr/>
          <p:nvPr/>
        </p:nvSpPr>
        <p:spPr>
          <a:xfrm>
            <a:off x="1244600" y="2624931"/>
            <a:ext cx="33048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Akvizicija podataka</a:t>
            </a:r>
            <a:endParaRPr lang="en-US" sz="1400" dirty="0"/>
          </a:p>
        </p:txBody>
      </p:sp>
      <p:sp>
        <p:nvSpPr>
          <p:cNvPr id="8" name="Text 5"/>
          <p:cNvSpPr/>
          <p:nvPr/>
        </p:nvSpPr>
        <p:spPr>
          <a:xfrm>
            <a:off x="1244600" y="2899172"/>
            <a:ext cx="38503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Prikupljanje merenja i stanja opreme sa terena.</a:t>
            </a:r>
            <a:endParaRPr lang="en-US" sz="1200" dirty="0"/>
          </a:p>
        </p:txBody>
      </p:sp>
      <p:pic>
        <p:nvPicPr>
          <p:cNvPr id="9" name="Image 1" descr="Chart">    </p:cNvPr>
          <p:cNvPicPr>
            <a:picLocks noChangeAspect="1"/>
          </p:cNvPicPr>
          <p:nvPr/>
        </p:nvPicPr>
        <p:blipFill>
          <a:blip r:embed="rId2"/>
          <a:srcRect l="0" r="0" t="0" b="0"/>
          <a:stretch/>
        </p:blipFill>
        <p:spPr>
          <a:xfrm>
            <a:off x="812800" y="3290292"/>
            <a:ext cx="279400" cy="279400"/>
          </a:xfrm>
          <a:prstGeom prst="rect">
            <a:avLst/>
          </a:prstGeom>
        </p:spPr>
      </p:pic>
      <p:sp>
        <p:nvSpPr>
          <p:cNvPr id="10" name="Text 6"/>
          <p:cNvSpPr/>
          <p:nvPr/>
        </p:nvSpPr>
        <p:spPr>
          <a:xfrm>
            <a:off x="1244600" y="3290292"/>
            <a:ext cx="344255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Nadzor</a:t>
            </a:r>
            <a:endParaRPr lang="en-US" sz="1400" dirty="0"/>
          </a:p>
        </p:txBody>
      </p:sp>
      <p:sp>
        <p:nvSpPr>
          <p:cNvPr id="11" name="Text 7"/>
          <p:cNvSpPr/>
          <p:nvPr/>
        </p:nvSpPr>
        <p:spPr>
          <a:xfrm>
            <a:off x="1244600" y="3564533"/>
            <a:ext cx="40107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Prikaz stanja operateru, alarmi, trendovi i istorija.</a:t>
            </a:r>
            <a:endParaRPr lang="en-US" sz="1200" dirty="0"/>
          </a:p>
        </p:txBody>
      </p:sp>
      <p:pic>
        <p:nvPicPr>
          <p:cNvPr id="12" name="Image 2" descr="Settings">    </p:cNvPr>
          <p:cNvPicPr>
            <a:picLocks noChangeAspect="1"/>
          </p:cNvPicPr>
          <p:nvPr/>
        </p:nvPicPr>
        <p:blipFill>
          <a:blip r:embed="rId3"/>
          <a:srcRect l="-401" r="-401" t="0" b="0"/>
          <a:stretch/>
        </p:blipFill>
        <p:spPr>
          <a:xfrm>
            <a:off x="812800" y="3955653"/>
            <a:ext cx="249634" cy="279400"/>
          </a:xfrm>
          <a:prstGeom prst="rect">
            <a:avLst/>
          </a:prstGeom>
        </p:spPr>
      </p:pic>
      <p:sp>
        <p:nvSpPr>
          <p:cNvPr id="13" name="Text 8"/>
          <p:cNvSpPr/>
          <p:nvPr/>
        </p:nvSpPr>
        <p:spPr>
          <a:xfrm>
            <a:off x="1214834" y="3955653"/>
            <a:ext cx="494911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Nadzorno upravljanje</a:t>
            </a:r>
            <a:endParaRPr lang="en-US" sz="1400" dirty="0"/>
          </a:p>
        </p:txBody>
      </p:sp>
      <p:sp>
        <p:nvSpPr>
          <p:cNvPr id="14" name="Text 9"/>
          <p:cNvSpPr/>
          <p:nvPr/>
        </p:nvSpPr>
        <p:spPr>
          <a:xfrm>
            <a:off x="1214834" y="4229894"/>
            <a:ext cx="49491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Promena zadatih vrednosti i režima, dok brze petlje zatvaraju lokalni kontroleri.</a:t>
            </a:r>
            <a:endParaRPr lang="en-US" sz="1200" dirty="0"/>
          </a:p>
        </p:txBody>
      </p:sp>
      <p:sp>
        <p:nvSpPr>
          <p:cNvPr id="15" name="Text 10"/>
          <p:cNvSpPr/>
          <p:nvPr/>
        </p:nvSpPr>
        <p:spPr>
          <a:xfrm>
            <a:off x="6426200" y="1673820"/>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KARAKTERISTIKE</a:t>
            </a:r>
            <a:endParaRPr lang="en-US" sz="1200" dirty="0"/>
          </a:p>
        </p:txBody>
      </p:sp>
      <p:sp>
        <p:nvSpPr>
          <p:cNvPr id="16" name="Shape 11"/>
          <p:cNvSpPr/>
          <p:nvPr/>
        </p:nvSpPr>
        <p:spPr>
          <a:xfrm>
            <a:off x="6429375" y="1991916"/>
            <a:ext cx="4946650" cy="747911"/>
          </a:xfrm>
          <a:prstGeom prst="roundRect">
            <a:avLst>
              <a:gd name="adj" fmla="val 9764"/>
            </a:avLst>
          </a:prstGeom>
          <a:solidFill>
            <a:srgbClr val="FCFCFB"/>
          </a:solidFill>
          <a:ln w="6350">
            <a:solidFill>
              <a:srgbClr val="D3DAE1"/>
            </a:solidFill>
            <a:prstDash val="solid"/>
          </a:ln>
        </p:spPr>
      </p:sp>
      <p:sp>
        <p:nvSpPr>
          <p:cNvPr id="17" name="Text 12"/>
          <p:cNvSpPr/>
          <p:nvPr/>
        </p:nvSpPr>
        <p:spPr>
          <a:xfrm>
            <a:off x="6584950" y="2122091"/>
            <a:ext cx="47745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Geografska raspodeljenost</a:t>
            </a:r>
            <a:endParaRPr lang="en-US" sz="1400" dirty="0"/>
          </a:p>
        </p:txBody>
      </p:sp>
      <p:sp>
        <p:nvSpPr>
          <p:cNvPr id="18" name="Text 13"/>
          <p:cNvSpPr/>
          <p:nvPr/>
        </p:nvSpPr>
        <p:spPr>
          <a:xfrm>
            <a:off x="6584950" y="2396331"/>
            <a:ext cx="47745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Od jednog postrojenja do mreže koja pokriva region.</a:t>
            </a:r>
            <a:endParaRPr lang="en-US" sz="1200" dirty="0"/>
          </a:p>
        </p:txBody>
      </p:sp>
      <p:sp>
        <p:nvSpPr>
          <p:cNvPr id="19" name="Shape 14"/>
          <p:cNvSpPr/>
          <p:nvPr/>
        </p:nvSpPr>
        <p:spPr>
          <a:xfrm>
            <a:off x="6429375" y="2847777"/>
            <a:ext cx="4946650" cy="747911"/>
          </a:xfrm>
          <a:prstGeom prst="roundRect">
            <a:avLst>
              <a:gd name="adj" fmla="val 9764"/>
            </a:avLst>
          </a:prstGeom>
          <a:solidFill>
            <a:srgbClr val="FCFCFB"/>
          </a:solidFill>
          <a:ln w="6350">
            <a:solidFill>
              <a:srgbClr val="D3DAE1"/>
            </a:solidFill>
            <a:prstDash val="solid"/>
          </a:ln>
        </p:spPr>
      </p:sp>
      <p:sp>
        <p:nvSpPr>
          <p:cNvPr id="20" name="Text 15"/>
          <p:cNvSpPr/>
          <p:nvPr/>
        </p:nvSpPr>
        <p:spPr>
          <a:xfrm>
            <a:off x="6584950" y="2977952"/>
            <a:ext cx="47745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Rad u realnom vremenu</a:t>
            </a:r>
            <a:endParaRPr lang="en-US" sz="1400" dirty="0"/>
          </a:p>
        </p:txBody>
      </p:sp>
      <p:sp>
        <p:nvSpPr>
          <p:cNvPr id="21" name="Text 16"/>
          <p:cNvSpPr/>
          <p:nvPr/>
        </p:nvSpPr>
        <p:spPr>
          <a:xfrm>
            <a:off x="6584950" y="3252192"/>
            <a:ext cx="47745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Podaci i komande sa predvidivim kašnjenjem.</a:t>
            </a:r>
            <a:endParaRPr lang="en-US" sz="1200" dirty="0"/>
          </a:p>
        </p:txBody>
      </p:sp>
      <p:sp>
        <p:nvSpPr>
          <p:cNvPr id="22" name="Shape 17"/>
          <p:cNvSpPr/>
          <p:nvPr/>
        </p:nvSpPr>
        <p:spPr>
          <a:xfrm>
            <a:off x="6429375" y="3703638"/>
            <a:ext cx="4946650" cy="747911"/>
          </a:xfrm>
          <a:prstGeom prst="roundRect">
            <a:avLst>
              <a:gd name="adj" fmla="val 9764"/>
            </a:avLst>
          </a:prstGeom>
          <a:solidFill>
            <a:srgbClr val="FCFCFB"/>
          </a:solidFill>
          <a:ln w="6350">
            <a:solidFill>
              <a:srgbClr val="D3DAE1"/>
            </a:solidFill>
            <a:prstDash val="solid"/>
          </a:ln>
        </p:spPr>
      </p:sp>
      <p:sp>
        <p:nvSpPr>
          <p:cNvPr id="23" name="Text 18"/>
          <p:cNvSpPr/>
          <p:nvPr/>
        </p:nvSpPr>
        <p:spPr>
          <a:xfrm>
            <a:off x="6584950" y="3833812"/>
            <a:ext cx="47745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Dug životni vek</a:t>
            </a:r>
            <a:endParaRPr lang="en-US" sz="1400" dirty="0"/>
          </a:p>
        </p:txBody>
      </p:sp>
      <p:sp>
        <p:nvSpPr>
          <p:cNvPr id="24" name="Text 19"/>
          <p:cNvSpPr/>
          <p:nvPr/>
        </p:nvSpPr>
        <p:spPr>
          <a:xfrm>
            <a:off x="6584950" y="4108053"/>
            <a:ext cx="47745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Oprema radi decenijama, uz nasleđene protokole.</a:t>
            </a:r>
            <a:endParaRPr lang="en-US" sz="1200" dirty="0"/>
          </a:p>
        </p:txBody>
      </p:sp>
      <p:sp>
        <p:nvSpPr>
          <p:cNvPr id="25" name="Shape 20"/>
          <p:cNvSpPr/>
          <p:nvPr/>
        </p:nvSpPr>
        <p:spPr>
          <a:xfrm>
            <a:off x="6429375" y="4559498"/>
            <a:ext cx="4946650" cy="747911"/>
          </a:xfrm>
          <a:prstGeom prst="roundRect">
            <a:avLst>
              <a:gd name="adj" fmla="val 9764"/>
            </a:avLst>
          </a:prstGeom>
          <a:solidFill>
            <a:srgbClr val="FCFCFB"/>
          </a:solidFill>
          <a:ln w="6350">
            <a:solidFill>
              <a:srgbClr val="D3DAE1"/>
            </a:solidFill>
            <a:prstDash val="solid"/>
          </a:ln>
        </p:spPr>
      </p:sp>
      <p:sp>
        <p:nvSpPr>
          <p:cNvPr id="26" name="Text 21"/>
          <p:cNvSpPr/>
          <p:nvPr/>
        </p:nvSpPr>
        <p:spPr>
          <a:xfrm>
            <a:off x="6584950" y="4689673"/>
            <a:ext cx="47745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Heterogenost</a:t>
            </a:r>
            <a:endParaRPr lang="en-US" sz="1400" dirty="0"/>
          </a:p>
        </p:txBody>
      </p:sp>
      <p:sp>
        <p:nvSpPr>
          <p:cNvPr id="27" name="Text 22"/>
          <p:cNvSpPr/>
          <p:nvPr/>
        </p:nvSpPr>
        <p:spPr>
          <a:xfrm>
            <a:off x="6584950" y="4963914"/>
            <a:ext cx="47745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Uređaji i protokoli različitih proizvođača.</a:t>
            </a:r>
            <a:endParaRPr lang="en-US" sz="1200" dirty="0"/>
          </a:p>
        </p:txBody>
      </p:sp>
      <p:sp>
        <p:nvSpPr>
          <p:cNvPr id="28" name="Shape 23"/>
          <p:cNvSpPr/>
          <p:nvPr/>
        </p:nvSpPr>
        <p:spPr>
          <a:xfrm>
            <a:off x="812800" y="6209705"/>
            <a:ext cx="10566400" cy="0"/>
          </a:xfrm>
          <a:prstGeom prst="line">
            <a:avLst/>
          </a:prstGeom>
          <a:noFill/>
          <a:ln w="6350">
            <a:solidFill>
              <a:srgbClr val="D3DAE1"/>
            </a:solidFill>
            <a:prstDash val="solid"/>
          </a:ln>
        </p:spPr>
      </p:sp>
      <p:sp>
        <p:nvSpPr>
          <p:cNvPr id="29" name="Text 24"/>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0"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Shape 1"/>
          <p:cNvSpPr/>
          <p:nvPr/>
        </p:nvSpPr>
        <p:spPr>
          <a:xfrm>
            <a:off x="990600" y="1841500"/>
            <a:ext cx="8001000" cy="25400"/>
          </a:xfrm>
          <a:prstGeom prst="rect">
            <a:avLst/>
          </a:prstGeom>
          <a:solidFill>
            <a:srgbClr val="C3CEDA"/>
          </a:solidFill>
          <a:ln/>
        </p:spPr>
      </p:sp>
      <p:sp>
        <p:nvSpPr>
          <p:cNvPr id="4" name="Text 2"/>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UVOD</a:t>
            </a:r>
            <a:endParaRPr lang="en-US" sz="1200" dirty="0"/>
          </a:p>
        </p:txBody>
      </p:sp>
      <p:sp>
        <p:nvSpPr>
          <p:cNvPr id="5" name="Text 3"/>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Razvoj SCADA sistema kroz generacije</a:t>
            </a:r>
            <a:endParaRPr lang="en-US" sz="3000" dirty="0"/>
          </a:p>
        </p:txBody>
      </p:sp>
      <p:sp>
        <p:nvSpPr>
          <p:cNvPr id="6" name="Text 4"/>
          <p:cNvSpPr/>
          <p:nvPr/>
        </p:nvSpPr>
        <p:spPr>
          <a:xfrm>
            <a:off x="812800"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I</a:t>
            </a:r>
            <a:endParaRPr lang="en-US" sz="1200" dirty="0"/>
          </a:p>
        </p:txBody>
      </p:sp>
      <p:sp>
        <p:nvSpPr>
          <p:cNvPr id="7" name="Shape 5"/>
          <p:cNvSpPr/>
          <p:nvPr/>
        </p:nvSpPr>
        <p:spPr>
          <a:xfrm>
            <a:off x="815975" y="2184995"/>
            <a:ext cx="2520950" cy="1718072"/>
          </a:xfrm>
          <a:prstGeom prst="roundRect">
            <a:avLst>
              <a:gd name="adj" fmla="val 5729"/>
            </a:avLst>
          </a:prstGeom>
          <a:solidFill>
            <a:srgbClr val="FCFCFB"/>
          </a:solidFill>
          <a:ln w="6350">
            <a:solidFill>
              <a:srgbClr val="D3DAE1"/>
            </a:solidFill>
            <a:prstDash val="solid"/>
          </a:ln>
        </p:spPr>
      </p:sp>
      <p:sp>
        <p:nvSpPr>
          <p:cNvPr id="8" name="Text 6"/>
          <p:cNvSpPr/>
          <p:nvPr/>
        </p:nvSpPr>
        <p:spPr>
          <a:xfrm>
            <a:off x="996950" y="2340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1960-e i 1970-e</a:t>
            </a:r>
            <a:endParaRPr lang="en-US" sz="1200" dirty="0"/>
          </a:p>
        </p:txBody>
      </p:sp>
      <p:sp>
        <p:nvSpPr>
          <p:cNvPr id="9" name="Text 7"/>
          <p:cNvSpPr/>
          <p:nvPr/>
        </p:nvSpPr>
        <p:spPr>
          <a:xfrm>
            <a:off x="996950" y="26173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Monolitni</a:t>
            </a:r>
            <a:endParaRPr lang="en-US" sz="1400" dirty="0"/>
          </a:p>
        </p:txBody>
      </p:sp>
      <p:sp>
        <p:nvSpPr>
          <p:cNvPr id="10" name="Text 8"/>
          <p:cNvSpPr/>
          <p:nvPr/>
        </p:nvSpPr>
        <p:spPr>
          <a:xfrm>
            <a:off x="996950" y="289421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Centralni računar, vlasnički protokoli, bez povezivanja sa drugim sistemima.</a:t>
            </a:r>
            <a:endParaRPr lang="en-US" sz="1200" dirty="0"/>
          </a:p>
        </p:txBody>
      </p:sp>
      <p:sp>
        <p:nvSpPr>
          <p:cNvPr id="11" name="Text 9"/>
          <p:cNvSpPr/>
          <p:nvPr/>
        </p:nvSpPr>
        <p:spPr>
          <a:xfrm>
            <a:off x="3492500" y="167382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II</a:t>
            </a:r>
            <a:endParaRPr lang="en-US" sz="1200" dirty="0"/>
          </a:p>
        </p:txBody>
      </p:sp>
      <p:sp>
        <p:nvSpPr>
          <p:cNvPr id="12" name="Shape 10"/>
          <p:cNvSpPr/>
          <p:nvPr/>
        </p:nvSpPr>
        <p:spPr>
          <a:xfrm>
            <a:off x="3495675" y="2184995"/>
            <a:ext cx="2520950" cy="1718072"/>
          </a:xfrm>
          <a:prstGeom prst="roundRect">
            <a:avLst>
              <a:gd name="adj" fmla="val 5729"/>
            </a:avLst>
          </a:prstGeom>
          <a:solidFill>
            <a:srgbClr val="FCFCFB"/>
          </a:solidFill>
          <a:ln w="6350">
            <a:solidFill>
              <a:srgbClr val="D3DAE1"/>
            </a:solidFill>
            <a:prstDash val="solid"/>
          </a:ln>
        </p:spPr>
      </p:sp>
      <p:sp>
        <p:nvSpPr>
          <p:cNvPr id="13" name="Text 11"/>
          <p:cNvSpPr/>
          <p:nvPr/>
        </p:nvSpPr>
        <p:spPr>
          <a:xfrm>
            <a:off x="3676650" y="2340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1980-e</a:t>
            </a:r>
            <a:endParaRPr lang="en-US" sz="1200" dirty="0"/>
          </a:p>
        </p:txBody>
      </p:sp>
      <p:sp>
        <p:nvSpPr>
          <p:cNvPr id="14" name="Text 12"/>
          <p:cNvSpPr/>
          <p:nvPr/>
        </p:nvSpPr>
        <p:spPr>
          <a:xfrm>
            <a:off x="3676650" y="26173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Distribuirani</a:t>
            </a:r>
            <a:endParaRPr lang="en-US" sz="1400" dirty="0"/>
          </a:p>
        </p:txBody>
      </p:sp>
      <p:sp>
        <p:nvSpPr>
          <p:cNvPr id="15" name="Text 13"/>
          <p:cNvSpPr/>
          <p:nvPr/>
        </p:nvSpPr>
        <p:spPr>
          <a:xfrm>
            <a:off x="3676650" y="2894211"/>
            <a:ext cx="222377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Više stanica povezanih lokalnom mrežom, sa raspoređenim funkcijama i i dalje vlasničkim protokolima.</a:t>
            </a:r>
            <a:endParaRPr lang="en-US" sz="1200" dirty="0"/>
          </a:p>
        </p:txBody>
      </p:sp>
      <p:sp>
        <p:nvSpPr>
          <p:cNvPr id="16" name="Text 14"/>
          <p:cNvSpPr/>
          <p:nvPr/>
        </p:nvSpPr>
        <p:spPr>
          <a:xfrm>
            <a:off x="6172200" y="167382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III</a:t>
            </a:r>
            <a:endParaRPr lang="en-US" sz="1200" dirty="0"/>
          </a:p>
        </p:txBody>
      </p:sp>
      <p:sp>
        <p:nvSpPr>
          <p:cNvPr id="17" name="Shape 15"/>
          <p:cNvSpPr/>
          <p:nvPr/>
        </p:nvSpPr>
        <p:spPr>
          <a:xfrm>
            <a:off x="6175375" y="2184995"/>
            <a:ext cx="2520950" cy="1718072"/>
          </a:xfrm>
          <a:prstGeom prst="roundRect">
            <a:avLst>
              <a:gd name="adj" fmla="val 5729"/>
            </a:avLst>
          </a:prstGeom>
          <a:solidFill>
            <a:srgbClr val="FCFCFB"/>
          </a:solidFill>
          <a:ln w="6350">
            <a:solidFill>
              <a:srgbClr val="D3DAE1"/>
            </a:solidFill>
            <a:prstDash val="solid"/>
          </a:ln>
        </p:spPr>
      </p:sp>
      <p:sp>
        <p:nvSpPr>
          <p:cNvPr id="18" name="Text 16"/>
          <p:cNvSpPr/>
          <p:nvPr/>
        </p:nvSpPr>
        <p:spPr>
          <a:xfrm>
            <a:off x="6356350" y="2340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1990-e i 2000-e</a:t>
            </a:r>
            <a:endParaRPr lang="en-US" sz="1200" dirty="0"/>
          </a:p>
        </p:txBody>
      </p:sp>
      <p:sp>
        <p:nvSpPr>
          <p:cNvPr id="19" name="Text 17"/>
          <p:cNvSpPr/>
          <p:nvPr/>
        </p:nvSpPr>
        <p:spPr>
          <a:xfrm>
            <a:off x="6356350" y="26173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Umreženi</a:t>
            </a:r>
            <a:endParaRPr lang="en-US" sz="1400" dirty="0"/>
          </a:p>
        </p:txBody>
      </p:sp>
      <p:sp>
        <p:nvSpPr>
          <p:cNvPr id="20" name="Text 18"/>
          <p:cNvSpPr/>
          <p:nvPr/>
        </p:nvSpPr>
        <p:spPr>
          <a:xfrm>
            <a:off x="6356350" y="2894211"/>
            <a:ext cx="222377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Otvoreni protokoli preko TCP/IP-a, WAN veze i povezivanje sa poslovnim mrežama.</a:t>
            </a:r>
            <a:endParaRPr lang="en-US" sz="1200" dirty="0"/>
          </a:p>
        </p:txBody>
      </p:sp>
      <p:sp>
        <p:nvSpPr>
          <p:cNvPr id="21" name="Text 19"/>
          <p:cNvSpPr/>
          <p:nvPr/>
        </p:nvSpPr>
        <p:spPr>
          <a:xfrm>
            <a:off x="8851900" y="167382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E07B1F"/>
          </a:solidFill>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IV</a:t>
            </a:r>
            <a:endParaRPr lang="en-US" sz="1200" dirty="0"/>
          </a:p>
        </p:txBody>
      </p:sp>
      <p:sp>
        <p:nvSpPr>
          <p:cNvPr id="22" name="Shape 20"/>
          <p:cNvSpPr/>
          <p:nvPr/>
        </p:nvSpPr>
        <p:spPr>
          <a:xfrm>
            <a:off x="8855075" y="2184995"/>
            <a:ext cx="2520950" cy="1718072"/>
          </a:xfrm>
          <a:prstGeom prst="roundRect">
            <a:avLst>
              <a:gd name="adj" fmla="val 5729"/>
            </a:avLst>
          </a:prstGeom>
          <a:solidFill>
            <a:srgbClr val="FCFCFB"/>
          </a:solidFill>
          <a:ln w="6350">
            <a:solidFill>
              <a:srgbClr val="D3DAE1"/>
            </a:solidFill>
            <a:prstDash val="solid"/>
          </a:ln>
        </p:spPr>
      </p:sp>
      <p:sp>
        <p:nvSpPr>
          <p:cNvPr id="23" name="Text 21"/>
          <p:cNvSpPr/>
          <p:nvPr/>
        </p:nvSpPr>
        <p:spPr>
          <a:xfrm>
            <a:off x="9036050" y="2340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2010-e i danas</a:t>
            </a:r>
            <a:endParaRPr lang="en-US" sz="1200" dirty="0"/>
          </a:p>
        </p:txBody>
      </p:sp>
      <p:sp>
        <p:nvSpPr>
          <p:cNvPr id="24" name="Text 22"/>
          <p:cNvSpPr/>
          <p:nvPr/>
        </p:nvSpPr>
        <p:spPr>
          <a:xfrm>
            <a:off x="9036050" y="26173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IIoT i cloud</a:t>
            </a:r>
            <a:endParaRPr lang="en-US" sz="1400" dirty="0"/>
          </a:p>
        </p:txBody>
      </p:sp>
      <p:sp>
        <p:nvSpPr>
          <p:cNvPr id="25" name="Text 23"/>
          <p:cNvSpPr/>
          <p:nvPr/>
        </p:nvSpPr>
        <p:spPr>
          <a:xfrm>
            <a:off x="9036050" y="289421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Industrijski internet stvari, OPC UA i MQTT, analitika u oblaku i web klijenti.</a:t>
            </a:r>
            <a:endParaRPr lang="en-US" sz="1200" dirty="0"/>
          </a:p>
        </p:txBody>
      </p:sp>
      <p:sp>
        <p:nvSpPr>
          <p:cNvPr id="26" name="Shape 24"/>
          <p:cNvSpPr/>
          <p:nvPr/>
        </p:nvSpPr>
        <p:spPr>
          <a:xfrm>
            <a:off x="812800" y="4160242"/>
            <a:ext cx="10566400" cy="508000"/>
          </a:xfrm>
          <a:prstGeom prst="roundRect">
            <a:avLst>
              <a:gd name="adj" fmla="val 15000"/>
            </a:avLst>
          </a:prstGeom>
          <a:solidFill>
            <a:srgbClr val="FBF1E6"/>
          </a:solidFill>
          <a:ln/>
        </p:spPr>
      </p:sp>
      <p:pic>
        <p:nvPicPr>
          <p:cNvPr id="27" name="Image 0" descr="Warning">    </p:cNvPr>
          <p:cNvPicPr>
            <a:picLocks noChangeAspect="1"/>
          </p:cNvPicPr>
          <p:nvPr/>
        </p:nvPicPr>
        <p:blipFill>
          <a:blip r:embed="rId1"/>
          <a:srcRect l="0" r="0" t="0" b="0"/>
          <a:stretch/>
        </p:blipFill>
        <p:spPr>
          <a:xfrm>
            <a:off x="990600" y="4287242"/>
            <a:ext cx="254000" cy="254000"/>
          </a:xfrm>
          <a:prstGeom prst="rect">
            <a:avLst/>
          </a:prstGeom>
        </p:spPr>
      </p:pic>
      <p:sp>
        <p:nvSpPr>
          <p:cNvPr id="28" name="Text 25"/>
          <p:cNvSpPr/>
          <p:nvPr/>
        </p:nvSpPr>
        <p:spPr>
          <a:xfrm>
            <a:off x="1371600" y="430758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Svaka generacija povećala je povezanost, a time i površinu napada: izolacija više nije realna pretpostavka.</a:t>
            </a:r>
            <a:endParaRPr lang="en-US" sz="1200" dirty="0"/>
          </a:p>
        </p:txBody>
      </p:sp>
      <p:sp>
        <p:nvSpPr>
          <p:cNvPr id="29" name="Shape 26"/>
          <p:cNvSpPr/>
          <p:nvPr/>
        </p:nvSpPr>
        <p:spPr>
          <a:xfrm>
            <a:off x="812800" y="6209705"/>
            <a:ext cx="10566400" cy="0"/>
          </a:xfrm>
          <a:prstGeom prst="line">
            <a:avLst/>
          </a:prstGeom>
          <a:noFill/>
          <a:ln w="6350">
            <a:solidFill>
              <a:srgbClr val="D3DAE1"/>
            </a:solidFill>
            <a:prstDash val="solid"/>
          </a:ln>
        </p:spPr>
      </p:sp>
      <p:sp>
        <p:nvSpPr>
          <p:cNvPr id="30" name="Text 27"/>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1"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UVOD</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Primena u infrastrukturnim sistemima</a:t>
            </a:r>
            <a:endParaRPr lang="en-US" sz="3000" dirty="0"/>
          </a:p>
        </p:txBody>
      </p:sp>
      <p:sp>
        <p:nvSpPr>
          <p:cNvPr id="5" name="Shape 3"/>
          <p:cNvSpPr/>
          <p:nvPr/>
        </p:nvSpPr>
        <p:spPr>
          <a:xfrm>
            <a:off x="815975" y="1676995"/>
            <a:ext cx="3414117" cy="1433711"/>
          </a:xfrm>
          <a:prstGeom prst="roundRect">
            <a:avLst>
              <a:gd name="adj" fmla="val 6865"/>
            </a:avLst>
          </a:prstGeom>
          <a:solidFill>
            <a:srgbClr val="FCFCFB"/>
          </a:solidFill>
          <a:ln w="6350">
            <a:solidFill>
              <a:srgbClr val="D3DAE1"/>
            </a:solidFill>
            <a:prstDash val="solid"/>
          </a:ln>
        </p:spPr>
      </p:sp>
      <p:pic>
        <p:nvPicPr>
          <p:cNvPr id="6" name="Image 0" descr="Lightning">    </p:cNvPr>
          <p:cNvPicPr>
            <a:picLocks noChangeAspect="1"/>
          </p:cNvPicPr>
          <p:nvPr/>
        </p:nvPicPr>
        <p:blipFill>
          <a:blip r:embed="rId1"/>
          <a:srcRect l="0" r="0" t="0" b="0"/>
          <a:stretch/>
        </p:blipFill>
        <p:spPr>
          <a:xfrm>
            <a:off x="1022350" y="1857970"/>
            <a:ext cx="279400" cy="279400"/>
          </a:xfrm>
          <a:prstGeom prst="rect">
            <a:avLst/>
          </a:prstGeom>
        </p:spPr>
      </p:pic>
      <p:sp>
        <p:nvSpPr>
          <p:cNvPr id="7" name="Text 4"/>
          <p:cNvSpPr/>
          <p:nvPr/>
        </p:nvSpPr>
        <p:spPr>
          <a:xfrm>
            <a:off x="1022350" y="2213570"/>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Elektroenergetika</a:t>
            </a:r>
            <a:endParaRPr lang="en-US" sz="1400" dirty="0"/>
          </a:p>
        </p:txBody>
      </p:sp>
      <p:sp>
        <p:nvSpPr>
          <p:cNvPr id="8" name="Text 5"/>
          <p:cNvSpPr/>
          <p:nvPr/>
        </p:nvSpPr>
        <p:spPr>
          <a:xfrm>
            <a:off x="1022350" y="2503091"/>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Proizvodnja, prenos i distribucija, uz daljinsko upravljanje trafostanicama.</a:t>
            </a:r>
            <a:endParaRPr lang="en-US" sz="1200" dirty="0"/>
          </a:p>
        </p:txBody>
      </p:sp>
      <p:sp>
        <p:nvSpPr>
          <p:cNvPr id="9" name="Shape 6"/>
          <p:cNvSpPr/>
          <p:nvPr/>
        </p:nvSpPr>
        <p:spPr>
          <a:xfrm>
            <a:off x="4388842" y="1676995"/>
            <a:ext cx="3414216" cy="1433711"/>
          </a:xfrm>
          <a:prstGeom prst="roundRect">
            <a:avLst>
              <a:gd name="adj" fmla="val 6865"/>
            </a:avLst>
          </a:prstGeom>
          <a:solidFill>
            <a:srgbClr val="FCFCFB"/>
          </a:solidFill>
          <a:ln w="6350">
            <a:solidFill>
              <a:srgbClr val="D3DAE1"/>
            </a:solidFill>
            <a:prstDash val="solid"/>
          </a:ln>
        </p:spPr>
      </p:sp>
      <p:pic>
        <p:nvPicPr>
          <p:cNvPr id="10" name="Image 1" descr="Activity">    </p:cNvPr>
          <p:cNvPicPr>
            <a:picLocks noChangeAspect="1"/>
          </p:cNvPicPr>
          <p:nvPr/>
        </p:nvPicPr>
        <p:blipFill>
          <a:blip r:embed="rId2"/>
          <a:srcRect l="0" r="0" t="0" b="0"/>
          <a:stretch/>
        </p:blipFill>
        <p:spPr>
          <a:xfrm>
            <a:off x="4595217" y="1857970"/>
            <a:ext cx="279400" cy="279400"/>
          </a:xfrm>
          <a:prstGeom prst="rect">
            <a:avLst/>
          </a:prstGeom>
        </p:spPr>
      </p:pic>
      <p:sp>
        <p:nvSpPr>
          <p:cNvPr id="11" name="Text 7"/>
          <p:cNvSpPr/>
          <p:nvPr/>
        </p:nvSpPr>
        <p:spPr>
          <a:xfrm>
            <a:off x="4595217" y="2213570"/>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Vodosnabdevanje</a:t>
            </a:r>
            <a:endParaRPr lang="en-US" sz="1400" dirty="0"/>
          </a:p>
        </p:txBody>
      </p:sp>
      <p:sp>
        <p:nvSpPr>
          <p:cNvPr id="12" name="Text 8"/>
          <p:cNvSpPr/>
          <p:nvPr/>
        </p:nvSpPr>
        <p:spPr>
          <a:xfrm>
            <a:off x="4595217" y="250309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Pumpne stanice, rezervoari i prečišćavanje vode i otpadnih voda.</a:t>
            </a:r>
            <a:endParaRPr lang="en-US" sz="1200" dirty="0"/>
          </a:p>
        </p:txBody>
      </p:sp>
      <p:sp>
        <p:nvSpPr>
          <p:cNvPr id="13" name="Shape 9"/>
          <p:cNvSpPr/>
          <p:nvPr/>
        </p:nvSpPr>
        <p:spPr>
          <a:xfrm>
            <a:off x="7961809" y="1676995"/>
            <a:ext cx="3414216" cy="1433711"/>
          </a:xfrm>
          <a:prstGeom prst="roundRect">
            <a:avLst>
              <a:gd name="adj" fmla="val 6865"/>
            </a:avLst>
          </a:prstGeom>
          <a:solidFill>
            <a:srgbClr val="FCFCFB"/>
          </a:solidFill>
          <a:ln w="6350">
            <a:solidFill>
              <a:srgbClr val="D3DAE1"/>
            </a:solidFill>
            <a:prstDash val="solid"/>
          </a:ln>
        </p:spPr>
      </p:sp>
      <p:pic>
        <p:nvPicPr>
          <p:cNvPr id="14" name="Image 2" descr="Wrench">    </p:cNvPr>
          <p:cNvPicPr>
            <a:picLocks noChangeAspect="1"/>
          </p:cNvPicPr>
          <p:nvPr/>
        </p:nvPicPr>
        <p:blipFill>
          <a:blip r:embed="rId3"/>
          <a:srcRect l="0" r="0" t="0" b="0"/>
          <a:stretch/>
        </p:blipFill>
        <p:spPr>
          <a:xfrm>
            <a:off x="8168184" y="1857970"/>
            <a:ext cx="279400" cy="279400"/>
          </a:xfrm>
          <a:prstGeom prst="rect">
            <a:avLst/>
          </a:prstGeom>
        </p:spPr>
      </p:pic>
      <p:sp>
        <p:nvSpPr>
          <p:cNvPr id="15" name="Text 10"/>
          <p:cNvSpPr/>
          <p:nvPr/>
        </p:nvSpPr>
        <p:spPr>
          <a:xfrm>
            <a:off x="8168184" y="2213570"/>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Nafta i gas</a:t>
            </a:r>
            <a:endParaRPr lang="en-US" sz="1400" dirty="0"/>
          </a:p>
        </p:txBody>
      </p:sp>
      <p:sp>
        <p:nvSpPr>
          <p:cNvPr id="16" name="Text 11"/>
          <p:cNvSpPr/>
          <p:nvPr/>
        </p:nvSpPr>
        <p:spPr>
          <a:xfrm>
            <a:off x="8168184" y="250309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Cevovodi i kompresorske stanice na velikim udaljenostima.</a:t>
            </a:r>
            <a:endParaRPr lang="en-US" sz="1200" dirty="0"/>
          </a:p>
        </p:txBody>
      </p:sp>
      <p:sp>
        <p:nvSpPr>
          <p:cNvPr id="17" name="Shape 12"/>
          <p:cNvSpPr/>
          <p:nvPr/>
        </p:nvSpPr>
        <p:spPr>
          <a:xfrm>
            <a:off x="815975" y="3269456"/>
            <a:ext cx="3414117" cy="1433711"/>
          </a:xfrm>
          <a:prstGeom prst="roundRect">
            <a:avLst>
              <a:gd name="adj" fmla="val 6865"/>
            </a:avLst>
          </a:prstGeom>
          <a:solidFill>
            <a:srgbClr val="FCFCFB"/>
          </a:solidFill>
          <a:ln w="6350">
            <a:solidFill>
              <a:srgbClr val="D3DAE1"/>
            </a:solidFill>
            <a:prstDash val="solid"/>
          </a:ln>
        </p:spPr>
      </p:sp>
      <p:pic>
        <p:nvPicPr>
          <p:cNvPr id="18" name="Image 3" descr="Settings">    </p:cNvPr>
          <p:cNvPicPr>
            <a:picLocks noChangeAspect="1"/>
          </p:cNvPicPr>
          <p:nvPr/>
        </p:nvPicPr>
        <p:blipFill>
          <a:blip r:embed="rId4"/>
          <a:srcRect l="0" r="0" t="0" b="0"/>
          <a:stretch/>
        </p:blipFill>
        <p:spPr>
          <a:xfrm>
            <a:off x="1022350" y="3450431"/>
            <a:ext cx="279400" cy="279400"/>
          </a:xfrm>
          <a:prstGeom prst="rect">
            <a:avLst/>
          </a:prstGeom>
        </p:spPr>
      </p:pic>
      <p:sp>
        <p:nvSpPr>
          <p:cNvPr id="19" name="Text 13"/>
          <p:cNvSpPr/>
          <p:nvPr/>
        </p:nvSpPr>
        <p:spPr>
          <a:xfrm>
            <a:off x="1022350" y="3806031"/>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Industrijska proizvodnja</a:t>
            </a:r>
            <a:endParaRPr lang="en-US" sz="1400" dirty="0"/>
          </a:p>
        </p:txBody>
      </p:sp>
      <p:sp>
        <p:nvSpPr>
          <p:cNvPr id="20" name="Text 14"/>
          <p:cNvSpPr/>
          <p:nvPr/>
        </p:nvSpPr>
        <p:spPr>
          <a:xfrm>
            <a:off x="1022350" y="4095552"/>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Proizvodne linije, šaržni procesi i praćenje kvaliteta.</a:t>
            </a:r>
            <a:endParaRPr lang="en-US" sz="1200" dirty="0"/>
          </a:p>
        </p:txBody>
      </p:sp>
      <p:sp>
        <p:nvSpPr>
          <p:cNvPr id="21" name="Shape 15"/>
          <p:cNvSpPr/>
          <p:nvPr/>
        </p:nvSpPr>
        <p:spPr>
          <a:xfrm>
            <a:off x="4388842" y="3269456"/>
            <a:ext cx="3414216" cy="1433711"/>
          </a:xfrm>
          <a:prstGeom prst="roundRect">
            <a:avLst>
              <a:gd name="adj" fmla="val 6865"/>
            </a:avLst>
          </a:prstGeom>
          <a:solidFill>
            <a:srgbClr val="FCFCFB"/>
          </a:solidFill>
          <a:ln w="6350">
            <a:solidFill>
              <a:srgbClr val="D3DAE1"/>
            </a:solidFill>
            <a:prstDash val="solid"/>
          </a:ln>
        </p:spPr>
      </p:sp>
      <p:pic>
        <p:nvPicPr>
          <p:cNvPr id="22" name="Image 4" descr="Globe">    </p:cNvPr>
          <p:cNvPicPr>
            <a:picLocks noChangeAspect="1"/>
          </p:cNvPicPr>
          <p:nvPr/>
        </p:nvPicPr>
        <p:blipFill>
          <a:blip r:embed="rId5"/>
          <a:srcRect l="0" r="0" t="0" b="0"/>
          <a:stretch/>
        </p:blipFill>
        <p:spPr>
          <a:xfrm>
            <a:off x="4595217" y="3450431"/>
            <a:ext cx="279400" cy="279400"/>
          </a:xfrm>
          <a:prstGeom prst="rect">
            <a:avLst/>
          </a:prstGeom>
        </p:spPr>
      </p:pic>
      <p:sp>
        <p:nvSpPr>
          <p:cNvPr id="23" name="Text 16"/>
          <p:cNvSpPr/>
          <p:nvPr/>
        </p:nvSpPr>
        <p:spPr>
          <a:xfrm>
            <a:off x="4595217" y="380603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Saobraćaj</a:t>
            </a:r>
            <a:endParaRPr lang="en-US" sz="1400" dirty="0"/>
          </a:p>
        </p:txBody>
      </p:sp>
      <p:sp>
        <p:nvSpPr>
          <p:cNvPr id="24" name="Text 17"/>
          <p:cNvSpPr/>
          <p:nvPr/>
        </p:nvSpPr>
        <p:spPr>
          <a:xfrm>
            <a:off x="4595217" y="4095552"/>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Tuneli, železnička signalizacija i upravljanje saobraćajem.</a:t>
            </a:r>
            <a:endParaRPr lang="en-US" sz="1200" dirty="0"/>
          </a:p>
        </p:txBody>
      </p:sp>
      <p:sp>
        <p:nvSpPr>
          <p:cNvPr id="25" name="Shape 18"/>
          <p:cNvSpPr/>
          <p:nvPr/>
        </p:nvSpPr>
        <p:spPr>
          <a:xfrm>
            <a:off x="7961809" y="3269456"/>
            <a:ext cx="3414216" cy="1433711"/>
          </a:xfrm>
          <a:prstGeom prst="roundRect">
            <a:avLst>
              <a:gd name="adj" fmla="val 6865"/>
            </a:avLst>
          </a:prstGeom>
          <a:solidFill>
            <a:srgbClr val="FCFCFB"/>
          </a:solidFill>
          <a:ln w="6350">
            <a:solidFill>
              <a:srgbClr val="D3DAE1"/>
            </a:solidFill>
            <a:prstDash val="solid"/>
          </a:ln>
        </p:spPr>
      </p:sp>
      <p:pic>
        <p:nvPicPr>
          <p:cNvPr id="26" name="Image 5" descr="Home">    </p:cNvPr>
          <p:cNvPicPr>
            <a:picLocks noChangeAspect="1"/>
          </p:cNvPicPr>
          <p:nvPr/>
        </p:nvPicPr>
        <p:blipFill>
          <a:blip r:embed="rId6"/>
          <a:srcRect l="0" r="0" t="0" b="0"/>
          <a:stretch/>
        </p:blipFill>
        <p:spPr>
          <a:xfrm>
            <a:off x="8168184" y="3450431"/>
            <a:ext cx="279400" cy="279400"/>
          </a:xfrm>
          <a:prstGeom prst="rect">
            <a:avLst/>
          </a:prstGeom>
        </p:spPr>
      </p:pic>
      <p:sp>
        <p:nvSpPr>
          <p:cNvPr id="27" name="Text 19"/>
          <p:cNvSpPr/>
          <p:nvPr/>
        </p:nvSpPr>
        <p:spPr>
          <a:xfrm>
            <a:off x="8168184" y="380603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Grejanje i HVAC</a:t>
            </a:r>
            <a:endParaRPr lang="en-US" sz="1400" dirty="0"/>
          </a:p>
        </p:txBody>
      </p:sp>
      <p:sp>
        <p:nvSpPr>
          <p:cNvPr id="28" name="Text 20"/>
          <p:cNvSpPr/>
          <p:nvPr/>
        </p:nvSpPr>
        <p:spPr>
          <a:xfrm>
            <a:off x="8168184" y="4095552"/>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Toplane, toplovodna mreža i upravljanje objektima.</a:t>
            </a:r>
            <a:endParaRPr lang="en-US" sz="1200" dirty="0"/>
          </a:p>
        </p:txBody>
      </p:sp>
      <p:sp>
        <p:nvSpPr>
          <p:cNvPr id="29" name="Shape 21"/>
          <p:cNvSpPr/>
          <p:nvPr/>
        </p:nvSpPr>
        <p:spPr>
          <a:xfrm>
            <a:off x="812800" y="4960342"/>
            <a:ext cx="10566400" cy="508000"/>
          </a:xfrm>
          <a:prstGeom prst="roundRect">
            <a:avLst>
              <a:gd name="adj" fmla="val 15000"/>
            </a:avLst>
          </a:prstGeom>
          <a:solidFill>
            <a:srgbClr val="DCE8F4"/>
          </a:solidFill>
          <a:ln/>
        </p:spPr>
      </p:sp>
      <p:pic>
        <p:nvPicPr>
          <p:cNvPr id="30" name="Image 6" descr="Warning">    </p:cNvPr>
          <p:cNvPicPr>
            <a:picLocks noChangeAspect="1"/>
          </p:cNvPicPr>
          <p:nvPr/>
        </p:nvPicPr>
        <p:blipFill>
          <a:blip r:embed="rId7"/>
          <a:srcRect l="0" r="0" t="0" b="0"/>
          <a:stretch/>
        </p:blipFill>
        <p:spPr>
          <a:xfrm>
            <a:off x="990600" y="5087342"/>
            <a:ext cx="254000" cy="254000"/>
          </a:xfrm>
          <a:prstGeom prst="rect">
            <a:avLst/>
          </a:prstGeom>
        </p:spPr>
      </p:pic>
      <p:sp>
        <p:nvSpPr>
          <p:cNvPr id="31" name="Text 22"/>
          <p:cNvSpPr/>
          <p:nvPr/>
        </p:nvSpPr>
        <p:spPr>
          <a:xfrm>
            <a:off x="1371600" y="510768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Zajednička osobina: posledice kvara ili napada su fizičke — prekid usluge, oštećenje opreme, ugrožavanje okoline i ljudi.</a:t>
            </a:r>
            <a:endParaRPr lang="en-US" sz="1200" dirty="0"/>
          </a:p>
        </p:txBody>
      </p:sp>
      <p:sp>
        <p:nvSpPr>
          <p:cNvPr id="32" name="Shape 23"/>
          <p:cNvSpPr/>
          <p:nvPr/>
        </p:nvSpPr>
        <p:spPr>
          <a:xfrm>
            <a:off x="812800" y="6209705"/>
            <a:ext cx="10566400" cy="0"/>
          </a:xfrm>
          <a:prstGeom prst="line">
            <a:avLst/>
          </a:prstGeom>
          <a:noFill/>
          <a:ln w="6350">
            <a:solidFill>
              <a:srgbClr val="D3DAE1"/>
            </a:solidFill>
            <a:prstDash val="solid"/>
          </a:ln>
        </p:spPr>
      </p:sp>
      <p:sp>
        <p:nvSpPr>
          <p:cNvPr id="33" name="Text 24"/>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4"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UVOD</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SCADA, DCS i PLC: razgraničenje</a:t>
            </a:r>
            <a:endParaRPr lang="en-US" sz="3000" dirty="0"/>
          </a:p>
        </p:txBody>
      </p:sp>
      <p:sp>
        <p:nvSpPr>
          <p:cNvPr id="5" name="Shape 3"/>
          <p:cNvSpPr/>
          <p:nvPr/>
        </p:nvSpPr>
        <p:spPr>
          <a:xfrm>
            <a:off x="812800" y="1673820"/>
            <a:ext cx="10566400" cy="2960092"/>
          </a:xfrm>
          <a:prstGeom prst="roundRect">
            <a:avLst>
              <a:gd name="adj" fmla="val 3432"/>
            </a:avLst>
          </a:prstGeom>
          <a:solidFill>
            <a:srgbClr val="FCFCFB"/>
          </a:solidFill>
          <a:ln/>
        </p:spPr>
      </p:sp>
      <p:sp>
        <p:nvSpPr>
          <p:cNvPr id="6" name="Shape 4"/>
          <p:cNvSpPr/>
          <p:nvPr/>
        </p:nvSpPr>
        <p:spPr>
          <a:xfrm>
            <a:off x="812800" y="1673820"/>
            <a:ext cx="10566400" cy="2960092"/>
          </a:xfrm>
          <a:custGeom>
            <a:avLst/>
            <a:gdLst/>
            <a:ahLst/>
            <a:cxnLst/>
            <a:rect l="l" t="t" r="r" b="b"/>
            <a:pathLst>
              <a:path w="10566400" h="2960092">
                <a:moveTo>
                  <a:pt x="10464800" y="0"/>
                </a:moveTo>
                <a:lnTo>
                  <a:pt x="10464800" y="0"/>
                </a:lnTo>
                <a:arcTo hR="101600" wR="101600" stAng="16200000" swAng="5400000"/>
                <a:lnTo>
                  <a:pt x="10566400" y="2858492"/>
                </a:lnTo>
                <a:arcTo hR="101600" wR="101600" stAng="0" swAng="5400000"/>
                <a:lnTo>
                  <a:pt x="101600" y="2960092"/>
                </a:lnTo>
                <a:arcTo hR="101600" wR="101600" stAng="5400000" swAng="5400000"/>
                <a:lnTo>
                  <a:pt x="0" y="2858492"/>
                </a:lnTo>
                <a:arcTo hR="95250" wR="101600" stAng="10800000" swAng="-5400000"/>
                <a:lnTo>
                  <a:pt x="10464800" y="2953742"/>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2960092"/>
          </a:xfrm>
          <a:custGeom>
            <a:avLst/>
            <a:gdLst/>
            <a:ahLst/>
            <a:cxnLst/>
            <a:rect l="l" t="t" r="r" b="b"/>
            <a:pathLst>
              <a:path w="10566400" h="2960092">
                <a:moveTo>
                  <a:pt x="101600" y="2960092"/>
                </a:moveTo>
                <a:lnTo>
                  <a:pt x="101600" y="2960092"/>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858492"/>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2941042"/>
        </p:xfrm>
        <a:graphic>
          <a:graphicData uri="http://schemas.openxmlformats.org/drawingml/2006/table">
            <a:tbl>
              <a:tblPr/>
              <a:tblGrid>
                <a:gridCol w="2320417"/>
                <a:gridCol w="2742311"/>
                <a:gridCol w="2742311"/>
                <a:gridCol w="2742311"/>
              </a:tblGrid>
              <a:tr h="45462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Obeležje</a:t>
                      </a:r>
                      <a:endParaRPr lang="en-US" sz="1200" dirty="0">
                        <a:latin typeface="IBM Plex Sans" charset="0"/>
                        <a:ea typeface="IBM Plex Sans" charset="0"/>
                        <a:cs typeface="IBM Plex Sans" charset="0"/>
                      </a:endParaRPr>
                    </a:p>
                  </a:txBody>
                  <a:tcPr marL="152400" marR="152400" marT="114300" marB="1143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SCADA</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DCS</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PLC</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667941">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Primarna namena</a:t>
                      </a:r>
                      <a:endParaRPr lang="en-US" sz="1200" dirty="0">
                        <a:latin typeface="IBM Plex Sans" charset="0"/>
                        <a:ea typeface="IBM Plex Sans" charset="0"/>
                        <a:cs typeface="IBM Plex Sans" charset="0"/>
                      </a:endParaRPr>
                    </a:p>
                  </a:txBody>
                  <a:tcPr marL="152400" marR="1524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Nadzor i prikupljanje podataka</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Upravljanje procesom u postrojenju</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Lokalno upravljanje mašinom ili celinom</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46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Prostorni obuhvat</a:t>
                      </a:r>
                      <a:endParaRPr lang="en-US" sz="1200" dirty="0">
                        <a:latin typeface="IBM Plex Sans" charset="0"/>
                        <a:ea typeface="IBM Plex Sans" charset="0"/>
                        <a:cs typeface="IBM Plex Sans" charset="0"/>
                      </a:endParaRPr>
                    </a:p>
                  </a:txBody>
                  <a:tcPr marL="152400" marR="1524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Geografski raspodeljen</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Jedno postrojenje</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Jedna mašina ili linija</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46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Način upravljanja</a:t>
                      </a:r>
                      <a:endParaRPr lang="en-US" sz="1200" dirty="0">
                        <a:latin typeface="IBM Plex Sans" charset="0"/>
                        <a:ea typeface="IBM Plex Sans" charset="0"/>
                        <a:cs typeface="IBM Plex Sans" charset="0"/>
                      </a:endParaRPr>
                    </a:p>
                  </a:txBody>
                  <a:tcPr marL="152400" marR="1524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Nadzorno, preko kontrolera</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Neposredno, kontinualno</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Logičko i sekvencijalno</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46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Tipična primena</a:t>
                      </a:r>
                      <a:endParaRPr lang="en-US" sz="1200" dirty="0">
                        <a:latin typeface="IBM Plex Sans" charset="0"/>
                        <a:ea typeface="IBM Plex Sans" charset="0"/>
                        <a:cs typeface="IBM Plex Sans" charset="0"/>
                      </a:endParaRPr>
                    </a:p>
                  </a:txBody>
                  <a:tcPr marL="152400" marR="1524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Elektro mreža, vodovod, cevovodi</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Rafinerije, hemijska industrija</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Proizvodne linije, pakovanje</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46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Vremenska skala</a:t>
                      </a:r>
                      <a:endParaRPr lang="en-US" sz="1200" dirty="0">
                        <a:latin typeface="IBM Plex Sans" charset="0"/>
                        <a:ea typeface="IBM Plex Sans" charset="0"/>
                        <a:cs typeface="IBM Plex Sans" charset="0"/>
                      </a:endParaRPr>
                    </a:p>
                  </a:txBody>
                  <a:tcPr marL="152400" marR="1524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Sekunde</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Delovi sekunde</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Milisekunde (ciklus skeniranja)</a:t>
                      </a:r>
                      <a:endParaRPr lang="en-US" sz="1200" dirty="0">
                        <a:latin typeface="IBM Plex Sans" charset="0"/>
                        <a:ea typeface="IBM Plex Sans" charset="0"/>
                        <a:cs typeface="IBM Plex Sans" charset="0"/>
                      </a:endParaRPr>
                    </a:p>
                  </a:txBody>
                  <a:tcPr marL="152400" marR="1524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Text 6"/>
          <p:cNvSpPr/>
          <p:nvPr/>
        </p:nvSpPr>
        <p:spPr>
          <a:xfrm>
            <a:off x="812800" y="488791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Granice se danas zamagljuju: SCADA koristi PLC-ove kao terenske kontrolere, a DCS preuzima funkcije nadzora šireg područja.</a:t>
            </a:r>
            <a:endParaRPr lang="en-US" sz="1200" dirty="0"/>
          </a:p>
        </p:txBody>
      </p:sp>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0F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A5CA8"/>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DEO PRVI</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Arhitektura</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Od fizičkih komponenti i mrežnih nivoa do softverske organizacije savremene SCADA platforme.</a:t>
            </a:r>
            <a:endParaRPr lang="en-US" sz="1400" dirty="0"/>
          </a:p>
        </p:txBody>
      </p:sp>
      <p:sp>
        <p:nvSpPr>
          <p:cNvPr id="6" name="Text 4"/>
          <p:cNvSpPr/>
          <p:nvPr/>
        </p:nvSpPr>
        <p:spPr>
          <a:xfrm>
            <a:off x="4270375" y="3915966"/>
            <a:ext cx="113863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Komponente</a:t>
            </a:r>
            <a:endParaRPr lang="en-US" sz="1200" dirty="0"/>
          </a:p>
        </p:txBody>
      </p:sp>
      <p:sp>
        <p:nvSpPr>
          <p:cNvPr id="7" name="Text 5"/>
          <p:cNvSpPr/>
          <p:nvPr/>
        </p:nvSpPr>
        <p:spPr>
          <a:xfrm>
            <a:off x="5491559" y="3915966"/>
            <a:ext cx="1220788"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Purdue model</a:t>
            </a:r>
            <a:endParaRPr lang="en-US" sz="1200" dirty="0"/>
          </a:p>
        </p:txBody>
      </p:sp>
      <p:sp>
        <p:nvSpPr>
          <p:cNvPr id="8" name="Text 6"/>
          <p:cNvSpPr/>
          <p:nvPr/>
        </p:nvSpPr>
        <p:spPr>
          <a:xfrm>
            <a:off x="6794897" y="3915966"/>
            <a:ext cx="156755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Akvizicija podataka</a:t>
            </a:r>
            <a:endParaRPr lang="en-US" sz="1200" dirty="0"/>
          </a:p>
        </p:txBody>
      </p:sp>
      <p:sp>
        <p:nvSpPr>
          <p:cNvPr id="9" name="Text 7"/>
          <p:cNvSpPr/>
          <p:nvPr/>
        </p:nvSpPr>
        <p:spPr>
          <a:xfrm>
            <a:off x="8445004" y="3915966"/>
            <a:ext cx="872629"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Protokoli</a:t>
            </a:r>
            <a:endParaRPr lang="en-US" sz="1200" dirty="0"/>
          </a:p>
        </p:txBody>
      </p:sp>
      <p:sp>
        <p:nvSpPr>
          <p:cNvPr id="10" name="Text 8"/>
          <p:cNvSpPr/>
          <p:nvPr/>
        </p:nvSpPr>
        <p:spPr>
          <a:xfrm>
            <a:off x="9400183" y="3915966"/>
            <a:ext cx="104814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Dostupnost</a:t>
            </a:r>
            <a:endParaRPr lang="en-US" sz="1200" dirty="0"/>
          </a:p>
        </p:txBody>
      </p:sp>
      <p:sp>
        <p:nvSpPr>
          <p:cNvPr id="11" name="Text 9"/>
          <p:cNvSpPr/>
          <p:nvPr/>
        </p:nvSpPr>
        <p:spPr>
          <a:xfrm>
            <a:off x="4270375" y="4319786"/>
            <a:ext cx="1774825"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Softverska arhitektura</a:t>
            </a:r>
            <a:endParaRPr lang="en-US" sz="1200" dirty="0"/>
          </a:p>
        </p:txBody>
      </p:sp>
      <p:sp>
        <p:nvSpPr>
          <p:cNvPr id="12" name="Text 10"/>
          <p:cNvSpPr/>
          <p:nvPr/>
        </p:nvSpPr>
        <p:spPr>
          <a:xfrm>
            <a:off x="6127750" y="4319786"/>
            <a:ext cx="112176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Modularnost</a:t>
            </a:r>
            <a:endParaRPr lang="en-US" sz="1200" dirty="0"/>
          </a:p>
        </p:txBody>
      </p:sp>
      <p:sp>
        <p:nvSpPr>
          <p:cNvPr id="13" name="Shape 11"/>
          <p:cNvSpPr/>
          <p:nvPr/>
        </p:nvSpPr>
        <p:spPr>
          <a:xfrm>
            <a:off x="812800" y="6209705"/>
            <a:ext cx="10566400" cy="0"/>
          </a:xfrm>
          <a:prstGeom prst="line">
            <a:avLst/>
          </a:prstGeom>
          <a:noFill/>
          <a:ln w="6350">
            <a:solidFill>
              <a:srgbClr val="C3CEDA"/>
            </a:solidFill>
            <a:prstDash val="solid"/>
          </a:ln>
        </p:spPr>
      </p:sp>
      <p:sp>
        <p:nvSpPr>
          <p:cNvPr id="14" name="Text 12"/>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15"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ARHITEKTURA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Komponente SCADA sistema</a:t>
            </a:r>
            <a:endParaRPr lang="en-US" sz="3000" dirty="0"/>
          </a:p>
        </p:txBody>
      </p:sp>
      <p:sp>
        <p:nvSpPr>
          <p:cNvPr id="5" name="Shape 3"/>
          <p:cNvSpPr/>
          <p:nvPr/>
        </p:nvSpPr>
        <p:spPr>
          <a:xfrm>
            <a:off x="815975" y="1676995"/>
            <a:ext cx="1781770" cy="1563291"/>
          </a:xfrm>
          <a:prstGeom prst="roundRect">
            <a:avLst>
              <a:gd name="adj" fmla="val 6296"/>
            </a:avLst>
          </a:prstGeom>
          <a:solidFill>
            <a:srgbClr val="FBF1E6"/>
          </a:solidFill>
          <a:ln w="6350">
            <a:solidFill>
              <a:srgbClr val="E9B98C"/>
            </a:solidFill>
            <a:prstDash val="solid"/>
          </a:ln>
        </p:spPr>
      </p:sp>
      <p:pic>
        <p:nvPicPr>
          <p:cNvPr id="6" name="Image 0" descr="Activity">    </p:cNvPr>
          <p:cNvPicPr>
            <a:picLocks noChangeAspect="1"/>
          </p:cNvPicPr>
          <p:nvPr/>
        </p:nvPicPr>
        <p:blipFill>
          <a:blip r:embed="rId1"/>
          <a:srcRect l="0" r="0" t="0" b="0"/>
          <a:stretch/>
        </p:blipFill>
        <p:spPr>
          <a:xfrm>
            <a:off x="971550" y="1832570"/>
            <a:ext cx="254000" cy="254000"/>
          </a:xfrm>
          <a:prstGeom prst="rect">
            <a:avLst/>
          </a:prstGeom>
        </p:spPr>
      </p:pic>
      <p:sp>
        <p:nvSpPr>
          <p:cNvPr id="7" name="Text 4"/>
          <p:cNvSpPr/>
          <p:nvPr/>
        </p:nvSpPr>
        <p:spPr>
          <a:xfrm>
            <a:off x="971550" y="2150070"/>
            <a:ext cx="152142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Senzori i aktuatori</a:t>
            </a:r>
            <a:endParaRPr lang="en-US" sz="1400" dirty="0"/>
          </a:p>
        </p:txBody>
      </p:sp>
      <p:sp>
        <p:nvSpPr>
          <p:cNvPr id="8" name="Text 5"/>
          <p:cNvSpPr/>
          <p:nvPr/>
        </p:nvSpPr>
        <p:spPr>
          <a:xfrm>
            <a:off x="971550" y="2658070"/>
            <a:ext cx="15214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Merenje stanja i delovanje na proces.</a:t>
            </a:r>
            <a:endParaRPr lang="en-US" sz="1200" dirty="0"/>
          </a:p>
        </p:txBody>
      </p:sp>
      <p:pic>
        <p:nvPicPr>
          <p:cNvPr id="9" name="Image 1" descr="arrow-right">    </p:cNvPr>
          <p:cNvPicPr>
            <a:picLocks noChangeAspect="1"/>
          </p:cNvPicPr>
          <p:nvPr/>
        </p:nvPicPr>
        <p:blipFill>
          <a:blip r:embed="rId2"/>
          <a:srcRect l="0" r="0" t="0" b="0"/>
          <a:stretch/>
        </p:blipFill>
        <p:spPr>
          <a:xfrm>
            <a:off x="2677120" y="2395141"/>
            <a:ext cx="254000" cy="127000"/>
          </a:xfrm>
          <a:prstGeom prst="rect">
            <a:avLst/>
          </a:prstGeom>
        </p:spPr>
      </p:pic>
      <p:sp>
        <p:nvSpPr>
          <p:cNvPr id="10" name="Shape 6"/>
          <p:cNvSpPr/>
          <p:nvPr/>
        </p:nvSpPr>
        <p:spPr>
          <a:xfrm>
            <a:off x="3010495" y="1676995"/>
            <a:ext cx="1781870" cy="1563291"/>
          </a:xfrm>
          <a:prstGeom prst="roundRect">
            <a:avLst>
              <a:gd name="adj" fmla="val 6296"/>
            </a:avLst>
          </a:prstGeom>
          <a:solidFill>
            <a:srgbClr val="FBF1E6"/>
          </a:solidFill>
          <a:ln w="6350">
            <a:solidFill>
              <a:srgbClr val="E9B98C"/>
            </a:solidFill>
            <a:prstDash val="solid"/>
          </a:ln>
        </p:spPr>
      </p:sp>
      <p:pic>
        <p:nvPicPr>
          <p:cNvPr id="11" name="Image 2" descr="Settings">    </p:cNvPr>
          <p:cNvPicPr>
            <a:picLocks noChangeAspect="1"/>
          </p:cNvPicPr>
          <p:nvPr/>
        </p:nvPicPr>
        <p:blipFill>
          <a:blip r:embed="rId3"/>
          <a:srcRect l="0" r="0" t="0" b="0"/>
          <a:stretch/>
        </p:blipFill>
        <p:spPr>
          <a:xfrm>
            <a:off x="3166070" y="1832570"/>
            <a:ext cx="254000" cy="254000"/>
          </a:xfrm>
          <a:prstGeom prst="rect">
            <a:avLst/>
          </a:prstGeom>
        </p:spPr>
      </p:pic>
      <p:sp>
        <p:nvSpPr>
          <p:cNvPr id="12" name="Text 7"/>
          <p:cNvSpPr/>
          <p:nvPr/>
        </p:nvSpPr>
        <p:spPr>
          <a:xfrm>
            <a:off x="3166070" y="2150070"/>
            <a:ext cx="15215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PLC i RTU</a:t>
            </a:r>
            <a:endParaRPr lang="en-US" sz="1400" dirty="0"/>
          </a:p>
        </p:txBody>
      </p:sp>
      <p:sp>
        <p:nvSpPr>
          <p:cNvPr id="13" name="Text 8"/>
          <p:cNvSpPr/>
          <p:nvPr/>
        </p:nvSpPr>
        <p:spPr>
          <a:xfrm>
            <a:off x="3166070" y="2435820"/>
            <a:ext cx="15215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Lokalna logika i regulacione petlje.</a:t>
            </a:r>
            <a:endParaRPr lang="en-US" sz="1200" dirty="0"/>
          </a:p>
        </p:txBody>
      </p:sp>
      <p:pic>
        <p:nvPicPr>
          <p:cNvPr id="14" name="Image 3" descr="arrow-right">    </p:cNvPr>
          <p:cNvPicPr>
            <a:picLocks noChangeAspect="1"/>
          </p:cNvPicPr>
          <p:nvPr/>
        </p:nvPicPr>
        <p:blipFill>
          <a:blip r:embed="rId4"/>
          <a:srcRect l="0" r="0" t="0" b="0"/>
          <a:stretch/>
        </p:blipFill>
        <p:spPr>
          <a:xfrm>
            <a:off x="4871740" y="2395141"/>
            <a:ext cx="254000" cy="127000"/>
          </a:xfrm>
          <a:prstGeom prst="rect">
            <a:avLst/>
          </a:prstGeom>
        </p:spPr>
      </p:pic>
      <p:sp>
        <p:nvSpPr>
          <p:cNvPr id="15" name="Shape 9"/>
          <p:cNvSpPr/>
          <p:nvPr/>
        </p:nvSpPr>
        <p:spPr>
          <a:xfrm>
            <a:off x="5205115" y="1676995"/>
            <a:ext cx="1781770" cy="1563291"/>
          </a:xfrm>
          <a:prstGeom prst="roundRect">
            <a:avLst>
              <a:gd name="adj" fmla="val 6296"/>
            </a:avLst>
          </a:prstGeom>
          <a:solidFill>
            <a:srgbClr val="FCFCFB"/>
          </a:solidFill>
          <a:ln w="6350">
            <a:solidFill>
              <a:srgbClr val="D3DAE1"/>
            </a:solidFill>
            <a:prstDash val="solid"/>
          </a:ln>
        </p:spPr>
      </p:sp>
      <p:pic>
        <p:nvPicPr>
          <p:cNvPr id="16" name="Image 4" descr="Link">    </p:cNvPr>
          <p:cNvPicPr>
            <a:picLocks noChangeAspect="1"/>
          </p:cNvPicPr>
          <p:nvPr/>
        </p:nvPicPr>
        <p:blipFill>
          <a:blip r:embed="rId5"/>
          <a:srcRect l="0" r="0" t="0" b="0"/>
          <a:stretch/>
        </p:blipFill>
        <p:spPr>
          <a:xfrm>
            <a:off x="5360690" y="1832570"/>
            <a:ext cx="254000" cy="254000"/>
          </a:xfrm>
          <a:prstGeom prst="rect">
            <a:avLst/>
          </a:prstGeom>
        </p:spPr>
      </p:pic>
      <p:sp>
        <p:nvSpPr>
          <p:cNvPr id="17" name="Text 10"/>
          <p:cNvSpPr/>
          <p:nvPr/>
        </p:nvSpPr>
        <p:spPr>
          <a:xfrm>
            <a:off x="5360690" y="2150070"/>
            <a:ext cx="15214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Komunikacija</a:t>
            </a:r>
            <a:endParaRPr lang="en-US" sz="1400" dirty="0"/>
          </a:p>
        </p:txBody>
      </p:sp>
      <p:sp>
        <p:nvSpPr>
          <p:cNvPr id="18" name="Text 11"/>
          <p:cNvSpPr/>
          <p:nvPr/>
        </p:nvSpPr>
        <p:spPr>
          <a:xfrm>
            <a:off x="5360690" y="2435820"/>
            <a:ext cx="15214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Mreže i protokoli za merenja i komande.</a:t>
            </a:r>
            <a:endParaRPr lang="en-US" sz="1200" dirty="0"/>
          </a:p>
        </p:txBody>
      </p:sp>
      <p:pic>
        <p:nvPicPr>
          <p:cNvPr id="19" name="Image 5" descr="arrow-right">    </p:cNvPr>
          <p:cNvPicPr>
            <a:picLocks noChangeAspect="1"/>
          </p:cNvPicPr>
          <p:nvPr/>
        </p:nvPicPr>
        <p:blipFill>
          <a:blip r:embed="rId6"/>
          <a:srcRect l="0" r="0" t="0" b="0"/>
          <a:stretch/>
        </p:blipFill>
        <p:spPr>
          <a:xfrm>
            <a:off x="7066260" y="2395141"/>
            <a:ext cx="254000" cy="127000"/>
          </a:xfrm>
          <a:prstGeom prst="rect">
            <a:avLst/>
          </a:prstGeom>
        </p:spPr>
      </p:pic>
      <p:sp>
        <p:nvSpPr>
          <p:cNvPr id="20" name="Shape 12"/>
          <p:cNvSpPr/>
          <p:nvPr/>
        </p:nvSpPr>
        <p:spPr>
          <a:xfrm>
            <a:off x="7399635" y="1676995"/>
            <a:ext cx="1781870" cy="1563291"/>
          </a:xfrm>
          <a:prstGeom prst="roundRect">
            <a:avLst>
              <a:gd name="adj" fmla="val 6296"/>
            </a:avLst>
          </a:prstGeom>
          <a:solidFill>
            <a:srgbClr val="DCE8F4"/>
          </a:solidFill>
          <a:ln w="6350">
            <a:solidFill>
              <a:srgbClr val="A9C2DC"/>
            </a:solidFill>
            <a:prstDash val="solid"/>
          </a:ln>
        </p:spPr>
      </p:sp>
      <p:pic>
        <p:nvPicPr>
          <p:cNvPr id="21" name="Image 6" descr="Database">    </p:cNvPr>
          <p:cNvPicPr>
            <a:picLocks noChangeAspect="1"/>
          </p:cNvPicPr>
          <p:nvPr/>
        </p:nvPicPr>
        <p:blipFill>
          <a:blip r:embed="rId7"/>
          <a:srcRect l="0" r="0" t="0" b="0"/>
          <a:stretch/>
        </p:blipFill>
        <p:spPr>
          <a:xfrm>
            <a:off x="7555210" y="1832570"/>
            <a:ext cx="254000" cy="254000"/>
          </a:xfrm>
          <a:prstGeom prst="rect">
            <a:avLst/>
          </a:prstGeom>
        </p:spPr>
      </p:pic>
      <p:sp>
        <p:nvSpPr>
          <p:cNvPr id="22" name="Text 13"/>
          <p:cNvSpPr/>
          <p:nvPr/>
        </p:nvSpPr>
        <p:spPr>
          <a:xfrm>
            <a:off x="7555210" y="2150070"/>
            <a:ext cx="15215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SCADA server</a:t>
            </a:r>
            <a:endParaRPr lang="en-US" sz="1400" dirty="0"/>
          </a:p>
        </p:txBody>
      </p:sp>
      <p:sp>
        <p:nvSpPr>
          <p:cNvPr id="23" name="Text 14"/>
          <p:cNvSpPr/>
          <p:nvPr/>
        </p:nvSpPr>
        <p:spPr>
          <a:xfrm>
            <a:off x="7555210" y="2435820"/>
            <a:ext cx="15215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Akvizicija, obrada, alarmi i komande.</a:t>
            </a:r>
            <a:endParaRPr lang="en-US" sz="1200" dirty="0"/>
          </a:p>
        </p:txBody>
      </p:sp>
      <p:pic>
        <p:nvPicPr>
          <p:cNvPr id="24" name="Image 7" descr="arrow-right">    </p:cNvPr>
          <p:cNvPicPr>
            <a:picLocks noChangeAspect="1"/>
          </p:cNvPicPr>
          <p:nvPr/>
        </p:nvPicPr>
        <p:blipFill>
          <a:blip r:embed="rId8"/>
          <a:srcRect l="0" r="0" t="0" b="0"/>
          <a:stretch/>
        </p:blipFill>
        <p:spPr>
          <a:xfrm>
            <a:off x="9260880" y="2395141"/>
            <a:ext cx="254000" cy="127000"/>
          </a:xfrm>
          <a:prstGeom prst="rect">
            <a:avLst/>
          </a:prstGeom>
        </p:spPr>
      </p:pic>
      <p:sp>
        <p:nvSpPr>
          <p:cNvPr id="25" name="Shape 15"/>
          <p:cNvSpPr/>
          <p:nvPr/>
        </p:nvSpPr>
        <p:spPr>
          <a:xfrm>
            <a:off x="9594255" y="1676995"/>
            <a:ext cx="1781770" cy="1563291"/>
          </a:xfrm>
          <a:prstGeom prst="roundRect">
            <a:avLst>
              <a:gd name="adj" fmla="val 6296"/>
            </a:avLst>
          </a:prstGeom>
          <a:solidFill>
            <a:srgbClr val="FCFCFB"/>
          </a:solidFill>
          <a:ln w="6350">
            <a:solidFill>
              <a:srgbClr val="D3DAE1"/>
            </a:solidFill>
            <a:prstDash val="solid"/>
          </a:ln>
        </p:spPr>
      </p:sp>
      <p:pic>
        <p:nvPicPr>
          <p:cNvPr id="26" name="Image 8" descr="Chart">    </p:cNvPr>
          <p:cNvPicPr>
            <a:picLocks noChangeAspect="1"/>
          </p:cNvPicPr>
          <p:nvPr/>
        </p:nvPicPr>
        <p:blipFill>
          <a:blip r:embed="rId9"/>
          <a:srcRect l="0" r="0" t="0" b="0"/>
          <a:stretch/>
        </p:blipFill>
        <p:spPr>
          <a:xfrm>
            <a:off x="9749830" y="1832570"/>
            <a:ext cx="254000" cy="254000"/>
          </a:xfrm>
          <a:prstGeom prst="rect">
            <a:avLst/>
          </a:prstGeom>
        </p:spPr>
      </p:pic>
      <p:sp>
        <p:nvSpPr>
          <p:cNvPr id="27" name="Text 16"/>
          <p:cNvSpPr/>
          <p:nvPr/>
        </p:nvSpPr>
        <p:spPr>
          <a:xfrm>
            <a:off x="9749830" y="2150070"/>
            <a:ext cx="152142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Klijenti</a:t>
            </a:r>
            <a:endParaRPr lang="en-US" sz="1400" dirty="0"/>
          </a:p>
        </p:txBody>
      </p:sp>
      <p:sp>
        <p:nvSpPr>
          <p:cNvPr id="28" name="Text 17"/>
          <p:cNvSpPr/>
          <p:nvPr/>
        </p:nvSpPr>
        <p:spPr>
          <a:xfrm>
            <a:off x="9749830" y="2435820"/>
            <a:ext cx="15214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HMI, historian i inženjerska stanica.</a:t>
            </a:r>
            <a:endParaRPr lang="en-US" sz="1200" dirty="0"/>
          </a:p>
        </p:txBody>
      </p:sp>
      <p:sp>
        <p:nvSpPr>
          <p:cNvPr id="29" name="Shape 18"/>
          <p:cNvSpPr/>
          <p:nvPr/>
        </p:nvSpPr>
        <p:spPr>
          <a:xfrm>
            <a:off x="825500" y="3497461"/>
            <a:ext cx="0" cy="952302"/>
          </a:xfrm>
          <a:prstGeom prst="line">
            <a:avLst/>
          </a:prstGeom>
          <a:noFill/>
          <a:ln w="25400">
            <a:solidFill>
              <a:srgbClr val="E07B1F"/>
            </a:solidFill>
            <a:prstDash val="solid"/>
          </a:ln>
        </p:spPr>
      </p:sp>
      <p:sp>
        <p:nvSpPr>
          <p:cNvPr id="30" name="Text 19"/>
          <p:cNvSpPr/>
          <p:nvPr/>
        </p:nvSpPr>
        <p:spPr>
          <a:xfrm>
            <a:off x="990600" y="3510161"/>
            <a:ext cx="33399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RTU i PLC</a:t>
            </a:r>
            <a:endParaRPr lang="en-US" sz="1400" dirty="0"/>
          </a:p>
        </p:txBody>
      </p:sp>
      <p:sp>
        <p:nvSpPr>
          <p:cNvPr id="31" name="Text 20"/>
          <p:cNvSpPr/>
          <p:nvPr/>
        </p:nvSpPr>
        <p:spPr>
          <a:xfrm>
            <a:off x="990600" y="3797102"/>
            <a:ext cx="333994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RTU je prilagođen udaljenim lokacijama i sporim vezama, a PLC brzom lokalnom upravljanju.</a:t>
            </a:r>
            <a:endParaRPr lang="en-US" sz="1200" dirty="0"/>
          </a:p>
        </p:txBody>
      </p:sp>
      <p:sp>
        <p:nvSpPr>
          <p:cNvPr id="32" name="Shape 21"/>
          <p:cNvSpPr/>
          <p:nvPr/>
        </p:nvSpPr>
        <p:spPr>
          <a:xfrm>
            <a:off x="4398367" y="3497461"/>
            <a:ext cx="0" cy="952302"/>
          </a:xfrm>
          <a:prstGeom prst="line">
            <a:avLst/>
          </a:prstGeom>
          <a:noFill/>
          <a:ln w="25400">
            <a:solidFill>
              <a:srgbClr val="0A5CA8"/>
            </a:solidFill>
            <a:prstDash val="solid"/>
          </a:ln>
        </p:spPr>
      </p:sp>
      <p:sp>
        <p:nvSpPr>
          <p:cNvPr id="33" name="Text 22"/>
          <p:cNvSpPr/>
          <p:nvPr/>
        </p:nvSpPr>
        <p:spPr>
          <a:xfrm>
            <a:off x="4563467" y="3510161"/>
            <a:ext cx="334004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Historian</a:t>
            </a:r>
            <a:endParaRPr lang="en-US" sz="1400" dirty="0"/>
          </a:p>
        </p:txBody>
      </p:sp>
      <p:sp>
        <p:nvSpPr>
          <p:cNvPr id="34" name="Text 23"/>
          <p:cNvSpPr/>
          <p:nvPr/>
        </p:nvSpPr>
        <p:spPr>
          <a:xfrm>
            <a:off x="4563467" y="3797102"/>
            <a:ext cx="33400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Trajno čuva vremenske serije za analizu, izveštaje i istrage incidenata.</a:t>
            </a:r>
            <a:endParaRPr lang="en-US" sz="1200" dirty="0"/>
          </a:p>
        </p:txBody>
      </p:sp>
      <p:sp>
        <p:nvSpPr>
          <p:cNvPr id="35" name="Shape 24"/>
          <p:cNvSpPr/>
          <p:nvPr/>
        </p:nvSpPr>
        <p:spPr>
          <a:xfrm>
            <a:off x="7971334" y="3497461"/>
            <a:ext cx="0" cy="952302"/>
          </a:xfrm>
          <a:prstGeom prst="line">
            <a:avLst/>
          </a:prstGeom>
          <a:noFill/>
          <a:ln w="25400">
            <a:solidFill>
              <a:srgbClr val="0A5CA8"/>
            </a:solidFill>
            <a:prstDash val="solid"/>
          </a:ln>
        </p:spPr>
      </p:sp>
      <p:sp>
        <p:nvSpPr>
          <p:cNvPr id="36" name="Text 25"/>
          <p:cNvSpPr/>
          <p:nvPr/>
        </p:nvSpPr>
        <p:spPr>
          <a:xfrm>
            <a:off x="8136434" y="3510161"/>
            <a:ext cx="334004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Inženjerska stanica</a:t>
            </a:r>
            <a:endParaRPr lang="en-US" sz="1400" dirty="0"/>
          </a:p>
        </p:txBody>
      </p:sp>
      <p:sp>
        <p:nvSpPr>
          <p:cNvPr id="37" name="Text 26"/>
          <p:cNvSpPr/>
          <p:nvPr/>
        </p:nvSpPr>
        <p:spPr>
          <a:xfrm>
            <a:off x="8136434" y="3797102"/>
            <a:ext cx="33400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Konfiguriše i programira sistem, pa je bezbednosno najosetljivija tačka.</a:t>
            </a:r>
            <a:endParaRPr lang="en-US" sz="1200" dirty="0"/>
          </a:p>
        </p:txBody>
      </p:sp>
      <p:sp>
        <p:nvSpPr>
          <p:cNvPr id="38" name="Shape 27"/>
          <p:cNvSpPr/>
          <p:nvPr/>
        </p:nvSpPr>
        <p:spPr>
          <a:xfrm>
            <a:off x="812800" y="6209705"/>
            <a:ext cx="10566400" cy="0"/>
          </a:xfrm>
          <a:prstGeom prst="line">
            <a:avLst/>
          </a:prstGeom>
          <a:noFill/>
          <a:ln w="6350">
            <a:solidFill>
              <a:srgbClr val="D3DAE1"/>
            </a:solidFill>
            <a:prstDash val="solid"/>
          </a:ln>
        </p:spPr>
      </p:sp>
      <p:sp>
        <p:nvSpPr>
          <p:cNvPr id="39" name="Text 2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40"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ARHITEKTURA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Purdue referentni model</a:t>
            </a:r>
            <a:endParaRPr lang="en-US" sz="3000" dirty="0"/>
          </a:p>
        </p:txBody>
      </p:sp>
      <p:sp>
        <p:nvSpPr>
          <p:cNvPr id="5" name="Shape 3"/>
          <p:cNvSpPr/>
          <p:nvPr/>
        </p:nvSpPr>
        <p:spPr>
          <a:xfrm>
            <a:off x="812800" y="1673820"/>
            <a:ext cx="6604000" cy="391120"/>
          </a:xfrm>
          <a:prstGeom prst="roundRect">
            <a:avLst>
              <a:gd name="adj" fmla="val 19483"/>
            </a:avLst>
          </a:prstGeom>
          <a:solidFill>
            <a:srgbClr val="ECEEF0"/>
          </a:solidFill>
          <a:ln/>
        </p:spPr>
      </p:sp>
      <p:sp>
        <p:nvSpPr>
          <p:cNvPr id="6" name="Text 4"/>
          <p:cNvSpPr/>
          <p:nvPr/>
        </p:nvSpPr>
        <p:spPr>
          <a:xfrm>
            <a:off x="965200" y="1762720"/>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05D"/>
                </a:solidFill>
                <a:latin typeface="IBM Plex Mono" pitchFamily="49" charset="0"/>
                <a:ea typeface="IBM Plex Mono" pitchFamily="49" charset="-122"/>
                <a:cs typeface="IBM Plex Mono" pitchFamily="49" charset="-120"/>
              </a:rPr>
              <a:t>Nivo 5</a:t>
            </a:r>
            <a:endParaRPr lang="en-US" sz="1200" dirty="0"/>
          </a:p>
        </p:txBody>
      </p:sp>
      <p:sp>
        <p:nvSpPr>
          <p:cNvPr id="7" name="Text 5"/>
          <p:cNvSpPr/>
          <p:nvPr/>
        </p:nvSpPr>
        <p:spPr>
          <a:xfrm>
            <a:off x="1879600" y="176272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Korporativna mreža</a:t>
            </a:r>
            <a:endParaRPr lang="en-US" sz="1200" dirty="0"/>
          </a:p>
        </p:txBody>
      </p:sp>
      <p:sp>
        <p:nvSpPr>
          <p:cNvPr id="8" name="Text 6"/>
          <p:cNvSpPr/>
          <p:nvPr/>
        </p:nvSpPr>
        <p:spPr>
          <a:xfrm>
            <a:off x="4191000" y="1762720"/>
            <a:ext cx="31656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ERP, e-pošta, pristup internetu</a:t>
            </a:r>
            <a:endParaRPr lang="en-US" sz="1200" dirty="0"/>
          </a:p>
        </p:txBody>
      </p:sp>
      <p:sp>
        <p:nvSpPr>
          <p:cNvPr id="9" name="Shape 7"/>
          <p:cNvSpPr/>
          <p:nvPr/>
        </p:nvSpPr>
        <p:spPr>
          <a:xfrm>
            <a:off x="812800" y="2115741"/>
            <a:ext cx="6604000" cy="391120"/>
          </a:xfrm>
          <a:prstGeom prst="roundRect">
            <a:avLst>
              <a:gd name="adj" fmla="val 19483"/>
            </a:avLst>
          </a:prstGeom>
          <a:solidFill>
            <a:srgbClr val="ECEEF0"/>
          </a:solidFill>
          <a:ln/>
        </p:spPr>
      </p:sp>
      <p:sp>
        <p:nvSpPr>
          <p:cNvPr id="10" name="Text 8"/>
          <p:cNvSpPr/>
          <p:nvPr/>
        </p:nvSpPr>
        <p:spPr>
          <a:xfrm>
            <a:off x="965200" y="220464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05D"/>
                </a:solidFill>
                <a:latin typeface="IBM Plex Mono" pitchFamily="49" charset="0"/>
                <a:ea typeface="IBM Plex Mono" pitchFamily="49" charset="-122"/>
                <a:cs typeface="IBM Plex Mono" pitchFamily="49" charset="-120"/>
              </a:rPr>
              <a:t>Nivo 4</a:t>
            </a:r>
            <a:endParaRPr lang="en-US" sz="1200" dirty="0"/>
          </a:p>
        </p:txBody>
      </p:sp>
      <p:sp>
        <p:nvSpPr>
          <p:cNvPr id="11" name="Text 9"/>
          <p:cNvSpPr/>
          <p:nvPr/>
        </p:nvSpPr>
        <p:spPr>
          <a:xfrm>
            <a:off x="1879600" y="22046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Poslovna logistika</a:t>
            </a:r>
            <a:endParaRPr lang="en-US" sz="1200" dirty="0"/>
          </a:p>
        </p:txBody>
      </p:sp>
      <p:sp>
        <p:nvSpPr>
          <p:cNvPr id="12" name="Text 10"/>
          <p:cNvSpPr/>
          <p:nvPr/>
        </p:nvSpPr>
        <p:spPr>
          <a:xfrm>
            <a:off x="4191000" y="2204641"/>
            <a:ext cx="31656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Planiranje i poslovni sistemi lokacije</a:t>
            </a:r>
            <a:endParaRPr lang="en-US" sz="1200" dirty="0"/>
          </a:p>
        </p:txBody>
      </p:sp>
      <p:sp>
        <p:nvSpPr>
          <p:cNvPr id="13" name="Shape 11"/>
          <p:cNvSpPr/>
          <p:nvPr/>
        </p:nvSpPr>
        <p:spPr>
          <a:xfrm>
            <a:off x="819150" y="2564011"/>
            <a:ext cx="6591300" cy="403820"/>
          </a:xfrm>
          <a:prstGeom prst="roundRect">
            <a:avLst>
              <a:gd name="adj" fmla="val 17297"/>
            </a:avLst>
          </a:prstGeom>
          <a:solidFill>
            <a:srgbClr val="FBF1E6"/>
          </a:solidFill>
          <a:ln w="12700">
            <a:solidFill>
              <a:srgbClr val="E07B1F"/>
            </a:solidFill>
            <a:prstDash val="dash"/>
          </a:ln>
        </p:spPr>
      </p:sp>
      <p:sp>
        <p:nvSpPr>
          <p:cNvPr id="14" name="Text 12"/>
          <p:cNvSpPr/>
          <p:nvPr/>
        </p:nvSpPr>
        <p:spPr>
          <a:xfrm>
            <a:off x="977900" y="265926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DMZ</a:t>
            </a:r>
            <a:endParaRPr lang="en-US" sz="1200" dirty="0"/>
          </a:p>
        </p:txBody>
      </p:sp>
      <p:sp>
        <p:nvSpPr>
          <p:cNvPr id="15" name="Text 13"/>
          <p:cNvSpPr/>
          <p:nvPr/>
        </p:nvSpPr>
        <p:spPr>
          <a:xfrm>
            <a:off x="1892300" y="265926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Industrijska DMZ</a:t>
            </a:r>
            <a:endParaRPr lang="en-US" sz="1200" dirty="0"/>
          </a:p>
        </p:txBody>
      </p:sp>
      <p:sp>
        <p:nvSpPr>
          <p:cNvPr id="16" name="Text 14"/>
          <p:cNvSpPr/>
          <p:nvPr/>
        </p:nvSpPr>
        <p:spPr>
          <a:xfrm>
            <a:off x="4203700" y="2659261"/>
            <a:ext cx="3139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Replika historiana, posrednici, ažuriranja</a:t>
            </a:r>
            <a:endParaRPr lang="en-US" sz="1200" dirty="0"/>
          </a:p>
        </p:txBody>
      </p:sp>
      <p:sp>
        <p:nvSpPr>
          <p:cNvPr id="17" name="Shape 15"/>
          <p:cNvSpPr/>
          <p:nvPr/>
        </p:nvSpPr>
        <p:spPr>
          <a:xfrm>
            <a:off x="812800" y="3024981"/>
            <a:ext cx="6604000" cy="391120"/>
          </a:xfrm>
          <a:prstGeom prst="roundRect">
            <a:avLst>
              <a:gd name="adj" fmla="val 19483"/>
            </a:avLst>
          </a:prstGeom>
          <a:solidFill>
            <a:srgbClr val="DCE8F4"/>
          </a:solidFill>
          <a:ln/>
        </p:spPr>
      </p:sp>
      <p:sp>
        <p:nvSpPr>
          <p:cNvPr id="18" name="Text 16"/>
          <p:cNvSpPr/>
          <p:nvPr/>
        </p:nvSpPr>
        <p:spPr>
          <a:xfrm>
            <a:off x="965200" y="3113881"/>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3</a:t>
            </a:r>
            <a:endParaRPr lang="en-US" sz="1200" dirty="0"/>
          </a:p>
        </p:txBody>
      </p:sp>
      <p:sp>
        <p:nvSpPr>
          <p:cNvPr id="19" name="Text 17"/>
          <p:cNvSpPr/>
          <p:nvPr/>
        </p:nvSpPr>
        <p:spPr>
          <a:xfrm>
            <a:off x="1879600" y="311388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Operacije postrojenja</a:t>
            </a:r>
            <a:endParaRPr lang="en-US" sz="1200" dirty="0"/>
          </a:p>
        </p:txBody>
      </p:sp>
      <p:sp>
        <p:nvSpPr>
          <p:cNvPr id="20" name="Text 18"/>
          <p:cNvSpPr/>
          <p:nvPr/>
        </p:nvSpPr>
        <p:spPr>
          <a:xfrm>
            <a:off x="4191000" y="3113881"/>
            <a:ext cx="31656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Historian, MES, upravljanje proizvodnjom</a:t>
            </a:r>
            <a:endParaRPr lang="en-US" sz="1200" dirty="0"/>
          </a:p>
        </p:txBody>
      </p:sp>
      <p:sp>
        <p:nvSpPr>
          <p:cNvPr id="21" name="Shape 19"/>
          <p:cNvSpPr/>
          <p:nvPr/>
        </p:nvSpPr>
        <p:spPr>
          <a:xfrm>
            <a:off x="812800" y="3466902"/>
            <a:ext cx="6604000" cy="391120"/>
          </a:xfrm>
          <a:prstGeom prst="roundRect">
            <a:avLst>
              <a:gd name="adj" fmla="val 19483"/>
            </a:avLst>
          </a:prstGeom>
          <a:solidFill>
            <a:srgbClr val="DCE8F4"/>
          </a:solidFill>
          <a:ln/>
        </p:spPr>
      </p:sp>
      <p:sp>
        <p:nvSpPr>
          <p:cNvPr id="22" name="Text 20"/>
          <p:cNvSpPr/>
          <p:nvPr/>
        </p:nvSpPr>
        <p:spPr>
          <a:xfrm>
            <a:off x="965200" y="3555802"/>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2</a:t>
            </a:r>
            <a:endParaRPr lang="en-US" sz="1200" dirty="0"/>
          </a:p>
        </p:txBody>
      </p:sp>
      <p:sp>
        <p:nvSpPr>
          <p:cNvPr id="23" name="Text 21"/>
          <p:cNvSpPr/>
          <p:nvPr/>
        </p:nvSpPr>
        <p:spPr>
          <a:xfrm>
            <a:off x="1879600" y="3555802"/>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Nadzor</a:t>
            </a:r>
            <a:endParaRPr lang="en-US" sz="1200" dirty="0"/>
          </a:p>
        </p:txBody>
      </p:sp>
      <p:sp>
        <p:nvSpPr>
          <p:cNvPr id="24" name="Text 22"/>
          <p:cNvSpPr/>
          <p:nvPr/>
        </p:nvSpPr>
        <p:spPr>
          <a:xfrm>
            <a:off x="4191000" y="3555802"/>
            <a:ext cx="31656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SCADA server, HMI, alarmi</a:t>
            </a:r>
            <a:endParaRPr lang="en-US" sz="1200" dirty="0"/>
          </a:p>
        </p:txBody>
      </p:sp>
      <p:sp>
        <p:nvSpPr>
          <p:cNvPr id="25" name="Shape 23"/>
          <p:cNvSpPr/>
          <p:nvPr/>
        </p:nvSpPr>
        <p:spPr>
          <a:xfrm>
            <a:off x="812800" y="3908822"/>
            <a:ext cx="6604000" cy="391120"/>
          </a:xfrm>
          <a:prstGeom prst="roundRect">
            <a:avLst>
              <a:gd name="adj" fmla="val 19483"/>
            </a:avLst>
          </a:prstGeom>
          <a:solidFill>
            <a:srgbClr val="DCE8F4"/>
          </a:solidFill>
          <a:ln/>
        </p:spPr>
      </p:sp>
      <p:sp>
        <p:nvSpPr>
          <p:cNvPr id="26" name="Text 24"/>
          <p:cNvSpPr/>
          <p:nvPr/>
        </p:nvSpPr>
        <p:spPr>
          <a:xfrm>
            <a:off x="965200" y="3997722"/>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1</a:t>
            </a:r>
            <a:endParaRPr lang="en-US" sz="1200" dirty="0"/>
          </a:p>
        </p:txBody>
      </p:sp>
      <p:sp>
        <p:nvSpPr>
          <p:cNvPr id="27" name="Text 25"/>
          <p:cNvSpPr/>
          <p:nvPr/>
        </p:nvSpPr>
        <p:spPr>
          <a:xfrm>
            <a:off x="1879600" y="3997722"/>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Osnovno upravljanje</a:t>
            </a:r>
            <a:endParaRPr lang="en-US" sz="1200" dirty="0"/>
          </a:p>
        </p:txBody>
      </p:sp>
      <p:sp>
        <p:nvSpPr>
          <p:cNvPr id="28" name="Text 26"/>
          <p:cNvSpPr/>
          <p:nvPr/>
        </p:nvSpPr>
        <p:spPr>
          <a:xfrm>
            <a:off x="4191000" y="3997722"/>
            <a:ext cx="31656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PLC, RTU, kontroleri</a:t>
            </a:r>
            <a:endParaRPr lang="en-US" sz="1200" dirty="0"/>
          </a:p>
        </p:txBody>
      </p:sp>
      <p:sp>
        <p:nvSpPr>
          <p:cNvPr id="29" name="Shape 27"/>
          <p:cNvSpPr/>
          <p:nvPr/>
        </p:nvSpPr>
        <p:spPr>
          <a:xfrm>
            <a:off x="812800" y="4350742"/>
            <a:ext cx="6604000" cy="391120"/>
          </a:xfrm>
          <a:prstGeom prst="roundRect">
            <a:avLst>
              <a:gd name="adj" fmla="val 19483"/>
            </a:avLst>
          </a:prstGeom>
          <a:solidFill>
            <a:srgbClr val="DCE8F4"/>
          </a:solidFill>
          <a:ln/>
        </p:spPr>
      </p:sp>
      <p:sp>
        <p:nvSpPr>
          <p:cNvPr id="30" name="Text 28"/>
          <p:cNvSpPr/>
          <p:nvPr/>
        </p:nvSpPr>
        <p:spPr>
          <a:xfrm>
            <a:off x="965200" y="4439642"/>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0</a:t>
            </a:r>
            <a:endParaRPr lang="en-US" sz="1200" dirty="0"/>
          </a:p>
        </p:txBody>
      </p:sp>
      <p:sp>
        <p:nvSpPr>
          <p:cNvPr id="31" name="Text 29"/>
          <p:cNvSpPr/>
          <p:nvPr/>
        </p:nvSpPr>
        <p:spPr>
          <a:xfrm>
            <a:off x="1879600" y="4439642"/>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Fizički proces</a:t>
            </a:r>
            <a:endParaRPr lang="en-US" sz="1200" dirty="0"/>
          </a:p>
        </p:txBody>
      </p:sp>
      <p:sp>
        <p:nvSpPr>
          <p:cNvPr id="32" name="Text 30"/>
          <p:cNvSpPr/>
          <p:nvPr/>
        </p:nvSpPr>
        <p:spPr>
          <a:xfrm>
            <a:off x="4191000" y="4439642"/>
            <a:ext cx="31656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Senzori, aktuatori, oprema</a:t>
            </a:r>
            <a:endParaRPr lang="en-US" sz="1200" dirty="0"/>
          </a:p>
        </p:txBody>
      </p:sp>
      <p:sp>
        <p:nvSpPr>
          <p:cNvPr id="33" name="Text 31"/>
          <p:cNvSpPr/>
          <p:nvPr/>
        </p:nvSpPr>
        <p:spPr>
          <a:xfrm>
            <a:off x="7772400" y="1673820"/>
            <a:ext cx="726579" cy="289520"/>
          </a:xfrm>
          <a:prstGeom prst="roundRect">
            <a:avLst>
              <a:gd name="adj" fmla="val 17546"/>
            </a:avLst>
          </a:prstGeom>
          <a:solidFill>
            <a:srgbClr val="ECEEF0"/>
          </a:solidFill>
          <a:ln/>
        </p:spPr>
        <p:txBody>
          <a:bodyPr wrap="none" lIns="0" tIns="0" rIns="0" bIns="0" rtlCol="0" anchor="ctr">
            <a:normAutofit/>
          </a:bodyPr>
          <a:lstStyle/>
          <a:p>
            <a:pPr algn="ctr"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IT zona</a:t>
            </a:r>
            <a:endParaRPr lang="en-US" sz="1200" dirty="0"/>
          </a:p>
        </p:txBody>
      </p:sp>
      <p:sp>
        <p:nvSpPr>
          <p:cNvPr id="34" name="Text 32"/>
          <p:cNvSpPr/>
          <p:nvPr/>
        </p:nvSpPr>
        <p:spPr>
          <a:xfrm>
            <a:off x="8600579" y="1711920"/>
            <a:ext cx="7809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nivoi 4 i 5</a:t>
            </a:r>
            <a:endParaRPr lang="en-US" sz="1200" dirty="0"/>
          </a:p>
        </p:txBody>
      </p:sp>
      <p:sp>
        <p:nvSpPr>
          <p:cNvPr id="35" name="Text 33"/>
          <p:cNvSpPr/>
          <p:nvPr/>
        </p:nvSpPr>
        <p:spPr>
          <a:xfrm>
            <a:off x="7772400" y="2115741"/>
            <a:ext cx="767854" cy="289520"/>
          </a:xfrm>
          <a:prstGeom prst="roundRect">
            <a:avLst>
              <a:gd name="adj" fmla="val 17546"/>
            </a:avLst>
          </a:prstGeom>
          <a:solidFill>
            <a:srgbClr val="DCE8F4"/>
          </a:solidFill>
          <a:ln/>
        </p:spPr>
        <p:txBody>
          <a:bodyPr wrap="none" lIns="0" tIns="0" rIns="0" bIns="0" rtlCol="0" anchor="ctr">
            <a:normAutofit/>
          </a:bodyPr>
          <a:lstStyle/>
          <a:p>
            <a:pPr algn="ctr"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OT zona</a:t>
            </a:r>
            <a:endParaRPr lang="en-US" sz="1200" dirty="0"/>
          </a:p>
        </p:txBody>
      </p:sp>
      <p:sp>
        <p:nvSpPr>
          <p:cNvPr id="36" name="Text 34"/>
          <p:cNvSpPr/>
          <p:nvPr/>
        </p:nvSpPr>
        <p:spPr>
          <a:xfrm>
            <a:off x="8641854" y="2153841"/>
            <a:ext cx="943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nivoi 0 do 3</a:t>
            </a:r>
            <a:endParaRPr lang="en-US" sz="1200" dirty="0"/>
          </a:p>
        </p:txBody>
      </p:sp>
      <p:sp>
        <p:nvSpPr>
          <p:cNvPr id="37" name="Text 35"/>
          <p:cNvSpPr/>
          <p:nvPr/>
        </p:nvSpPr>
        <p:spPr>
          <a:xfrm>
            <a:off x="7772400" y="2557661"/>
            <a:ext cx="371500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Saobraćaj između IT i OT zone prolazi isključivo kroz DMZ. Neposredna veza nije dozvoljena.</a:t>
            </a:r>
            <a:endParaRPr lang="en-US" sz="1200" dirty="0"/>
          </a:p>
        </p:txBody>
      </p:sp>
      <p:sp>
        <p:nvSpPr>
          <p:cNvPr id="38" name="Text 36"/>
          <p:cNvSpPr/>
          <p:nvPr/>
        </p:nvSpPr>
        <p:spPr>
          <a:xfrm>
            <a:off x="7772400" y="3136702"/>
            <a:ext cx="371500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Model je osnova za segmentaciju mreže prema NIST SP 800-82 i IEC 62443.</a:t>
            </a:r>
            <a:endParaRPr lang="en-US" sz="1200" dirty="0"/>
          </a:p>
        </p:txBody>
      </p:sp>
      <p:sp>
        <p:nvSpPr>
          <p:cNvPr id="39" name="Shape 37"/>
          <p:cNvSpPr/>
          <p:nvPr/>
        </p:nvSpPr>
        <p:spPr>
          <a:xfrm>
            <a:off x="812800" y="6209705"/>
            <a:ext cx="10566400" cy="0"/>
          </a:xfrm>
          <a:prstGeom prst="line">
            <a:avLst/>
          </a:prstGeom>
          <a:noFill/>
          <a:ln w="6350">
            <a:solidFill>
              <a:srgbClr val="D3DAE1"/>
            </a:solidFill>
            <a:prstDash val="solid"/>
          </a:ln>
        </p:spPr>
      </p:sp>
      <p:sp>
        <p:nvSpPr>
          <p:cNvPr id="40" name="Text 3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41" name="Text 3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ARHITEKTURA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Tok podataka i načini akvizicije</a:t>
            </a:r>
            <a:endParaRPr lang="en-US" sz="3000" dirty="0"/>
          </a:p>
        </p:txBody>
      </p:sp>
      <p:sp>
        <p:nvSpPr>
          <p:cNvPr id="5" name="Text 3"/>
          <p:cNvSpPr/>
          <p:nvPr/>
        </p:nvSpPr>
        <p:spPr>
          <a:xfrm>
            <a:off x="815975" y="1676995"/>
            <a:ext cx="1781770" cy="473670"/>
          </a:xfrm>
          <a:prstGeom prst="roundRect">
            <a:avLst>
              <a:gd name="adj" fmla="val 15417"/>
            </a:avLst>
          </a:prstGeom>
          <a:solidFill>
            <a:srgbClr val="FCFCFB"/>
          </a:solidFill>
          <a:ln w="6350">
            <a:solidFill>
              <a:srgbClr val="D3DAE1"/>
            </a:solidFill>
            <a:prstDash val="solid"/>
          </a:ln>
        </p:spPr>
        <p:txBody>
          <a:bodyPr wrap="square" lIns="32587" tIns="108787" rIns="32587" bIns="83387"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Akvizicija</a:t>
            </a:r>
            <a:endParaRPr lang="en-US" sz="1200" dirty="0"/>
          </a:p>
        </p:txBody>
      </p:sp>
      <p:pic>
        <p:nvPicPr>
          <p:cNvPr id="6" name="Image 0" descr="arrow-right">    </p:cNvPr>
          <p:cNvPicPr>
            <a:picLocks noChangeAspect="1"/>
          </p:cNvPicPr>
          <p:nvPr/>
        </p:nvPicPr>
        <p:blipFill>
          <a:blip r:embed="rId1"/>
          <a:srcRect l="0" r="0" t="0" b="0"/>
          <a:stretch/>
        </p:blipFill>
        <p:spPr>
          <a:xfrm>
            <a:off x="2677120" y="1850330"/>
            <a:ext cx="254000" cy="127000"/>
          </a:xfrm>
          <a:prstGeom prst="rect">
            <a:avLst/>
          </a:prstGeom>
        </p:spPr>
      </p:pic>
      <p:sp>
        <p:nvSpPr>
          <p:cNvPr id="7" name="Text 4"/>
          <p:cNvSpPr/>
          <p:nvPr/>
        </p:nvSpPr>
        <p:spPr>
          <a:xfrm>
            <a:off x="3010495" y="1676995"/>
            <a:ext cx="1781870" cy="473670"/>
          </a:xfrm>
          <a:prstGeom prst="roundRect">
            <a:avLst>
              <a:gd name="adj" fmla="val 15417"/>
            </a:avLst>
          </a:prstGeom>
          <a:solidFill>
            <a:srgbClr val="FCFCFB"/>
          </a:solidFill>
          <a:ln w="6350">
            <a:solidFill>
              <a:srgbClr val="D3DAE1"/>
            </a:solidFill>
            <a:prstDash val="solid"/>
          </a:ln>
        </p:spPr>
        <p:txBody>
          <a:bodyPr wrap="square" lIns="32587" tIns="108787" rIns="32587" bIns="83387"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Validacija i kvalitet</a:t>
            </a:r>
            <a:endParaRPr lang="en-US" sz="1200" dirty="0"/>
          </a:p>
        </p:txBody>
      </p:sp>
      <p:pic>
        <p:nvPicPr>
          <p:cNvPr id="8" name="Image 1" descr="arrow-right">    </p:cNvPr>
          <p:cNvPicPr>
            <a:picLocks noChangeAspect="1"/>
          </p:cNvPicPr>
          <p:nvPr/>
        </p:nvPicPr>
        <p:blipFill>
          <a:blip r:embed="rId2"/>
          <a:srcRect l="0" r="0" t="0" b="0"/>
          <a:stretch/>
        </p:blipFill>
        <p:spPr>
          <a:xfrm>
            <a:off x="4871740" y="1850330"/>
            <a:ext cx="254000" cy="127000"/>
          </a:xfrm>
          <a:prstGeom prst="rect">
            <a:avLst/>
          </a:prstGeom>
        </p:spPr>
      </p:pic>
      <p:sp>
        <p:nvSpPr>
          <p:cNvPr id="9" name="Text 5"/>
          <p:cNvSpPr/>
          <p:nvPr/>
        </p:nvSpPr>
        <p:spPr>
          <a:xfrm>
            <a:off x="5205115" y="1676995"/>
            <a:ext cx="1781770" cy="473670"/>
          </a:xfrm>
          <a:prstGeom prst="roundRect">
            <a:avLst>
              <a:gd name="adj" fmla="val 15417"/>
            </a:avLst>
          </a:prstGeom>
          <a:solidFill>
            <a:srgbClr val="DCE8F4"/>
          </a:solidFill>
          <a:ln w="6350">
            <a:solidFill>
              <a:srgbClr val="A9C2DC"/>
            </a:solidFill>
            <a:prstDash val="solid"/>
          </a:ln>
        </p:spPr>
        <p:txBody>
          <a:bodyPr wrap="square" lIns="32587" tIns="108787" rIns="32587" bIns="83387"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Obrada i alarmi</a:t>
            </a:r>
            <a:endParaRPr lang="en-US" sz="1200" dirty="0"/>
          </a:p>
        </p:txBody>
      </p:sp>
      <p:pic>
        <p:nvPicPr>
          <p:cNvPr id="10" name="Image 2" descr="arrow-right">    </p:cNvPr>
          <p:cNvPicPr>
            <a:picLocks noChangeAspect="1"/>
          </p:cNvPicPr>
          <p:nvPr/>
        </p:nvPicPr>
        <p:blipFill>
          <a:blip r:embed="rId3"/>
          <a:srcRect l="0" r="0" t="0" b="0"/>
          <a:stretch/>
        </p:blipFill>
        <p:spPr>
          <a:xfrm>
            <a:off x="7066260" y="1850330"/>
            <a:ext cx="254000" cy="127000"/>
          </a:xfrm>
          <a:prstGeom prst="rect">
            <a:avLst/>
          </a:prstGeom>
        </p:spPr>
      </p:pic>
      <p:sp>
        <p:nvSpPr>
          <p:cNvPr id="11" name="Text 6"/>
          <p:cNvSpPr/>
          <p:nvPr/>
        </p:nvSpPr>
        <p:spPr>
          <a:xfrm>
            <a:off x="7399635" y="1676995"/>
            <a:ext cx="1781870" cy="473670"/>
          </a:xfrm>
          <a:prstGeom prst="roundRect">
            <a:avLst>
              <a:gd name="adj" fmla="val 15417"/>
            </a:avLst>
          </a:prstGeom>
          <a:solidFill>
            <a:srgbClr val="FCFCFB"/>
          </a:solidFill>
          <a:ln w="6350">
            <a:solidFill>
              <a:srgbClr val="D3DAE1"/>
            </a:solidFill>
            <a:prstDash val="solid"/>
          </a:ln>
        </p:spPr>
        <p:txBody>
          <a:bodyPr wrap="square" lIns="32587" tIns="108787" rIns="32587" bIns="83387"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Prikaz</a:t>
            </a:r>
            <a:endParaRPr lang="en-US" sz="1200" dirty="0"/>
          </a:p>
        </p:txBody>
      </p:sp>
      <p:pic>
        <p:nvPicPr>
          <p:cNvPr id="12" name="Image 3" descr="arrow-right">    </p:cNvPr>
          <p:cNvPicPr>
            <a:picLocks noChangeAspect="1"/>
          </p:cNvPicPr>
          <p:nvPr/>
        </p:nvPicPr>
        <p:blipFill>
          <a:blip r:embed="rId4"/>
          <a:srcRect l="0" r="0" t="0" b="0"/>
          <a:stretch/>
        </p:blipFill>
        <p:spPr>
          <a:xfrm>
            <a:off x="9260880" y="1850330"/>
            <a:ext cx="254000" cy="127000"/>
          </a:xfrm>
          <a:prstGeom prst="rect">
            <a:avLst/>
          </a:prstGeom>
        </p:spPr>
      </p:pic>
      <p:sp>
        <p:nvSpPr>
          <p:cNvPr id="13" name="Text 7"/>
          <p:cNvSpPr/>
          <p:nvPr/>
        </p:nvSpPr>
        <p:spPr>
          <a:xfrm>
            <a:off x="9594255" y="1676995"/>
            <a:ext cx="1781770" cy="473670"/>
          </a:xfrm>
          <a:prstGeom prst="roundRect">
            <a:avLst>
              <a:gd name="adj" fmla="val 15417"/>
            </a:avLst>
          </a:prstGeom>
          <a:solidFill>
            <a:srgbClr val="FCFCFB"/>
          </a:solidFill>
          <a:ln w="6350">
            <a:solidFill>
              <a:srgbClr val="D3DAE1"/>
            </a:solidFill>
            <a:prstDash val="solid"/>
          </a:ln>
        </p:spPr>
        <p:txBody>
          <a:bodyPr wrap="square" lIns="32587" tIns="108787" rIns="32587" bIns="83387"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Arhiviranje</a:t>
            </a:r>
            <a:endParaRPr lang="en-US" sz="1200" dirty="0"/>
          </a:p>
        </p:txBody>
      </p:sp>
      <p:sp>
        <p:nvSpPr>
          <p:cNvPr id="14" name="Shape 8"/>
          <p:cNvSpPr/>
          <p:nvPr/>
        </p:nvSpPr>
        <p:spPr>
          <a:xfrm>
            <a:off x="815975" y="2411016"/>
            <a:ext cx="5175250" cy="1697831"/>
          </a:xfrm>
          <a:prstGeom prst="roundRect">
            <a:avLst>
              <a:gd name="adj" fmla="val 5797"/>
            </a:avLst>
          </a:prstGeom>
          <a:solidFill>
            <a:srgbClr val="FCFCFB"/>
          </a:solidFill>
          <a:ln w="6350">
            <a:solidFill>
              <a:srgbClr val="D3DAE1"/>
            </a:solidFill>
            <a:prstDash val="solid"/>
          </a:ln>
        </p:spPr>
      </p:sp>
      <p:pic>
        <p:nvPicPr>
          <p:cNvPr id="15" name="Image 4" descr="Clock">    </p:cNvPr>
          <p:cNvPicPr>
            <a:picLocks noChangeAspect="1"/>
          </p:cNvPicPr>
          <p:nvPr/>
        </p:nvPicPr>
        <p:blipFill>
          <a:blip r:embed="rId5"/>
          <a:srcRect l="0" r="0" t="0" b="0"/>
          <a:stretch/>
        </p:blipFill>
        <p:spPr>
          <a:xfrm>
            <a:off x="1047750" y="2617391"/>
            <a:ext cx="254000" cy="254000"/>
          </a:xfrm>
          <a:prstGeom prst="rect">
            <a:avLst/>
          </a:prstGeom>
        </p:spPr>
      </p:pic>
      <p:sp>
        <p:nvSpPr>
          <p:cNvPr id="16" name="Text 9"/>
          <p:cNvSpPr/>
          <p:nvPr/>
        </p:nvSpPr>
        <p:spPr>
          <a:xfrm>
            <a:off x="1403350" y="2622451"/>
            <a:ext cx="192857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Ciklična prozivka</a:t>
            </a:r>
            <a:endParaRPr lang="en-US" sz="1600" dirty="0"/>
          </a:p>
        </p:txBody>
      </p:sp>
      <p:sp>
        <p:nvSpPr>
          <p:cNvPr id="17" name="Text 10"/>
          <p:cNvSpPr/>
          <p:nvPr/>
        </p:nvSpPr>
        <p:spPr>
          <a:xfrm>
            <a:off x="1047750" y="2960291"/>
            <a:ext cx="48530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Server periodično proziva svaki uređaj (engl. </a:t>
            </a:r>
            <a:r>
              <a:rPr lang="en-US" sz="1200" i="1" dirty="0">
                <a:solidFill>
                  <a:srgbClr val="44505D"/>
                </a:solidFill>
                <a:latin typeface="IBM Plex Sans" pitchFamily="34" charset="0"/>
                <a:ea typeface="IBM Plex Sans" pitchFamily="34" charset="-122"/>
                <a:cs typeface="IBM Plex Sans" pitchFamily="34" charset="-120"/>
              </a:rPr>
              <a:t>polling</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18" name="Text 11"/>
          <p:cNvSpPr/>
          <p:nvPr/>
        </p:nvSpPr>
        <p:spPr>
          <a:xfrm>
            <a:off x="1146556" y="3262511"/>
            <a:ext cx="4746625"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Predvidivo opterećenje mreže</a:t>
            </a:r>
            <a:endParaRPr lang="en-US" sz="1200" dirty="0"/>
          </a:p>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Kašnjenje do jednog ciklusa prozivke</a:t>
            </a:r>
            <a:endParaRPr lang="en-US" sz="1200" dirty="0"/>
          </a:p>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Jednostavna detekcija nedostupnog uređaja</a:t>
            </a:r>
            <a:endParaRPr lang="en-US" sz="1200" dirty="0"/>
          </a:p>
        </p:txBody>
      </p:sp>
      <p:sp>
        <p:nvSpPr>
          <p:cNvPr id="19" name="Shape 12"/>
          <p:cNvSpPr/>
          <p:nvPr/>
        </p:nvSpPr>
        <p:spPr>
          <a:xfrm>
            <a:off x="6200775" y="2411016"/>
            <a:ext cx="5175250" cy="1697831"/>
          </a:xfrm>
          <a:prstGeom prst="roundRect">
            <a:avLst>
              <a:gd name="adj" fmla="val 5797"/>
            </a:avLst>
          </a:prstGeom>
          <a:solidFill>
            <a:srgbClr val="FCFCFB"/>
          </a:solidFill>
          <a:ln w="6350">
            <a:solidFill>
              <a:srgbClr val="D3DAE1"/>
            </a:solidFill>
            <a:prstDash val="solid"/>
          </a:ln>
        </p:spPr>
      </p:sp>
      <p:pic>
        <p:nvPicPr>
          <p:cNvPr id="20" name="Image 5" descr="Lightning">    </p:cNvPr>
          <p:cNvPicPr>
            <a:picLocks noChangeAspect="1"/>
          </p:cNvPicPr>
          <p:nvPr/>
        </p:nvPicPr>
        <p:blipFill>
          <a:blip r:embed="rId6"/>
          <a:srcRect l="0" r="0" t="0" b="0"/>
          <a:stretch/>
        </p:blipFill>
        <p:spPr>
          <a:xfrm>
            <a:off x="6432550" y="2617391"/>
            <a:ext cx="254000" cy="254000"/>
          </a:xfrm>
          <a:prstGeom prst="rect">
            <a:avLst/>
          </a:prstGeom>
        </p:spPr>
      </p:pic>
      <p:sp>
        <p:nvSpPr>
          <p:cNvPr id="21" name="Text 13"/>
          <p:cNvSpPr/>
          <p:nvPr/>
        </p:nvSpPr>
        <p:spPr>
          <a:xfrm>
            <a:off x="6788150" y="2622451"/>
            <a:ext cx="26361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Izveštavanje o promeni</a:t>
            </a:r>
            <a:endParaRPr lang="en-US" sz="1600" dirty="0"/>
          </a:p>
        </p:txBody>
      </p:sp>
      <p:sp>
        <p:nvSpPr>
          <p:cNvPr id="22" name="Text 14"/>
          <p:cNvSpPr/>
          <p:nvPr/>
        </p:nvSpPr>
        <p:spPr>
          <a:xfrm>
            <a:off x="6432550" y="2960291"/>
            <a:ext cx="48530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Uređaj šalje samo značajne promene (engl. </a:t>
            </a:r>
            <a:r>
              <a:rPr lang="en-US" sz="1200" i="1" dirty="0">
                <a:solidFill>
                  <a:srgbClr val="44505D"/>
                </a:solidFill>
                <a:latin typeface="IBM Plex Sans" pitchFamily="34" charset="0"/>
                <a:ea typeface="IBM Plex Sans" pitchFamily="34" charset="-122"/>
                <a:cs typeface="IBM Plex Sans" pitchFamily="34" charset="-120"/>
              </a:rPr>
              <a:t>report by exception</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23" name="Text 15"/>
          <p:cNvSpPr/>
          <p:nvPr/>
        </p:nvSpPr>
        <p:spPr>
          <a:xfrm>
            <a:off x="6531356" y="3262511"/>
            <a:ext cx="4746625"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Manji saobraćaj pri stabilnom procesu</a:t>
            </a:r>
            <a:endParaRPr lang="en-US" sz="1200" dirty="0"/>
          </a:p>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Promena se prijavljuje odmah</a:t>
            </a:r>
            <a:endParaRPr lang="en-US" sz="1200" dirty="0"/>
          </a:p>
          <a:p>
            <a:pPr algn="l" marL="155194" indent="-155194">
              <a:lnSpc>
                <a:spcPts val="1680"/>
              </a:lnSpc>
              <a:buSzPct val="100000"/>
              <a:buChar char="•"/>
            </a:pPr>
            <a:r>
              <a:rPr lang="en-US" sz="1200" dirty="0">
                <a:solidFill>
                  <a:srgbClr val="44505D"/>
                </a:solidFill>
                <a:latin typeface="IBM Plex Sans" pitchFamily="34" charset="0"/>
                <a:ea typeface="IBM Plex Sans" pitchFamily="34" charset="-122"/>
                <a:cs typeface="IBM Plex Sans" pitchFamily="34" charset="-120"/>
              </a:rPr>
              <a:t>Potreban periodični upit integriteta</a:t>
            </a:r>
            <a:endParaRPr lang="en-US" sz="1200" dirty="0"/>
          </a:p>
        </p:txBody>
      </p:sp>
      <p:sp>
        <p:nvSpPr>
          <p:cNvPr id="24" name="Shape 16"/>
          <p:cNvSpPr/>
          <p:nvPr/>
        </p:nvSpPr>
        <p:spPr>
          <a:xfrm>
            <a:off x="812800" y="6209705"/>
            <a:ext cx="10566400" cy="0"/>
          </a:xfrm>
          <a:prstGeom prst="line">
            <a:avLst/>
          </a:prstGeom>
          <a:noFill/>
          <a:ln w="6350">
            <a:solidFill>
              <a:srgbClr val="D3DAE1"/>
            </a:solidFill>
            <a:prstDash val="solid"/>
          </a:ln>
        </p:spPr>
      </p:sp>
      <p:sp>
        <p:nvSpPr>
          <p:cNvPr id="25" name="Text 17"/>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6" name="Text 1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ARHITEKTURA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Industrijski komunikacioni protokoli</a:t>
            </a:r>
            <a:endParaRPr lang="en-US" sz="3000" dirty="0"/>
          </a:p>
        </p:txBody>
      </p:sp>
      <p:sp>
        <p:nvSpPr>
          <p:cNvPr id="5" name="Shape 3"/>
          <p:cNvSpPr/>
          <p:nvPr/>
        </p:nvSpPr>
        <p:spPr>
          <a:xfrm>
            <a:off x="812800" y="1673820"/>
            <a:ext cx="10566400" cy="2792313"/>
          </a:xfrm>
          <a:prstGeom prst="roundRect">
            <a:avLst>
              <a:gd name="adj" fmla="val 3639"/>
            </a:avLst>
          </a:prstGeom>
          <a:solidFill>
            <a:srgbClr val="FCFCFB"/>
          </a:solidFill>
          <a:ln/>
        </p:spPr>
      </p:sp>
      <p:sp>
        <p:nvSpPr>
          <p:cNvPr id="6" name="Shape 4"/>
          <p:cNvSpPr/>
          <p:nvPr/>
        </p:nvSpPr>
        <p:spPr>
          <a:xfrm>
            <a:off x="812800" y="1673820"/>
            <a:ext cx="10566400" cy="2792313"/>
          </a:xfrm>
          <a:custGeom>
            <a:avLst/>
            <a:gdLst/>
            <a:ahLst/>
            <a:cxnLst/>
            <a:rect l="l" t="t" r="r" b="b"/>
            <a:pathLst>
              <a:path w="10566400" h="2792313">
                <a:moveTo>
                  <a:pt x="10464800" y="0"/>
                </a:moveTo>
                <a:lnTo>
                  <a:pt x="10464800" y="0"/>
                </a:lnTo>
                <a:arcTo hR="101600" wR="101600" stAng="16200000" swAng="5400000"/>
                <a:lnTo>
                  <a:pt x="10566400" y="2690713"/>
                </a:lnTo>
                <a:arcTo hR="101600" wR="101600" stAng="0" swAng="5400000"/>
                <a:lnTo>
                  <a:pt x="101600" y="2792313"/>
                </a:lnTo>
                <a:arcTo hR="101600" wR="101600" stAng="5400000" swAng="5400000"/>
                <a:lnTo>
                  <a:pt x="0" y="2690713"/>
                </a:lnTo>
                <a:arcTo hR="95250" wR="101600" stAng="10800000" swAng="-5400000"/>
                <a:lnTo>
                  <a:pt x="10464800" y="2785963"/>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2792313"/>
          </a:xfrm>
          <a:custGeom>
            <a:avLst/>
            <a:gdLst/>
            <a:ahLst/>
            <a:cxnLst/>
            <a:rect l="l" t="t" r="r" b="b"/>
            <a:pathLst>
              <a:path w="10566400" h="2792313">
                <a:moveTo>
                  <a:pt x="101600" y="2792313"/>
                </a:moveTo>
                <a:lnTo>
                  <a:pt x="101600" y="279231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690713"/>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2773263"/>
        </p:xfrm>
        <a:graphic>
          <a:graphicData uri="http://schemas.openxmlformats.org/drawingml/2006/table">
            <a:tbl>
              <a:tblPr/>
              <a:tblGrid>
                <a:gridCol w="2109470"/>
                <a:gridCol w="2636838"/>
                <a:gridCol w="2636838"/>
                <a:gridCol w="3164205"/>
              </a:tblGrid>
              <a:tr h="39618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Protokol</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Tipičan domen</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Model komunikacije</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Bezbednost</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Modbus</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Opšta industrija</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Master–slave, registri</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Bez ugrađene autentifikacije</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DNP3</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Elektroenergetika, vodovod</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Master–outstation, događaji</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Secure Authentication, opciono</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IEC 60870-5-104</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Telekomanda u energetici</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Klijent–server preko TCP/IP</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Dopuna standardom IEC 62351</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IEC 61850</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Automatizacija trafostanica</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Objektni model, MMS, GOOSE</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Dopuna standardom IEC 62351</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OPC UA</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Interoperabilnost, IIoT</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Klijent–server i pub/sub</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Ugrađeno: sertifikati, potpis, šifrovanje</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MQTT</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Telemetrija, IIoT</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Publish/subscribe preko brokera</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TLS i autentifikacija na brokeru</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Text 6"/>
          <p:cNvSpPr/>
          <p:nvPr/>
        </p:nvSpPr>
        <p:spPr>
          <a:xfrm>
            <a:off x="812800" y="472013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Stariji protokoli nastali su kada se mreža smatrala zatvorenom, pa se poverenje podrazumevalo.</a:t>
            </a:r>
            <a:endParaRPr lang="en-US" sz="1200" dirty="0"/>
          </a:p>
        </p:txBody>
      </p:sp>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ARHITEKTURA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Dostupnost kao prvi prioritet</a:t>
            </a:r>
            <a:endParaRPr lang="en-US" sz="3000" dirty="0"/>
          </a:p>
        </p:txBody>
      </p:sp>
      <p:sp>
        <p:nvSpPr>
          <p:cNvPr id="5" name="Text 3"/>
          <p:cNvSpPr/>
          <p:nvPr/>
        </p:nvSpPr>
        <p:spPr>
          <a:xfrm>
            <a:off x="812800" y="1673820"/>
            <a:ext cx="25377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975"/>
                </a:solidFill>
                <a:latin typeface="IBM Plex Mono" pitchFamily="49" charset="0"/>
                <a:ea typeface="IBM Plex Mono" pitchFamily="49" charset="-122"/>
                <a:cs typeface="IBM Plex Mono" pitchFamily="49" charset="-120"/>
              </a:rPr>
              <a:t>IT SISTEMI</a:t>
            </a:r>
            <a:endParaRPr lang="en-US" sz="1200" dirty="0"/>
          </a:p>
        </p:txBody>
      </p:sp>
      <p:sp>
        <p:nvSpPr>
          <p:cNvPr id="6" name="Text 4"/>
          <p:cNvSpPr/>
          <p:nvPr/>
        </p:nvSpPr>
        <p:spPr>
          <a:xfrm>
            <a:off x="812800" y="1950641"/>
            <a:ext cx="2463800" cy="452041"/>
          </a:xfrm>
          <a:prstGeom prst="roundRect">
            <a:avLst>
              <a:gd name="adj" fmla="val 14047"/>
            </a:avLst>
          </a:prstGeom>
          <a:solidFill>
            <a:srgbClr val="ECEEF0"/>
          </a:solidFill>
          <a:ln/>
        </p:spPr>
        <p:txBody>
          <a:bodyPr wrap="square" lIns="108401" tIns="83001" rIns="42107" bIns="57601"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1 · Poverljivost</a:t>
            </a:r>
            <a:endParaRPr lang="en-US" sz="1400" dirty="0"/>
          </a:p>
        </p:txBody>
      </p:sp>
      <p:sp>
        <p:nvSpPr>
          <p:cNvPr id="7" name="Text 5"/>
          <p:cNvSpPr/>
          <p:nvPr/>
        </p:nvSpPr>
        <p:spPr>
          <a:xfrm>
            <a:off x="812800" y="2466181"/>
            <a:ext cx="2463800" cy="452041"/>
          </a:xfrm>
          <a:prstGeom prst="roundRect">
            <a:avLst>
              <a:gd name="adj" fmla="val 14047"/>
            </a:avLst>
          </a:prstGeom>
          <a:solidFill>
            <a:srgbClr val="ECEEF0"/>
          </a:solidFill>
          <a:ln/>
        </p:spPr>
        <p:txBody>
          <a:bodyPr wrap="square" lIns="108401" tIns="83001" rIns="42107" bIns="57601"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2 · Integritet</a:t>
            </a:r>
            <a:endParaRPr lang="en-US" sz="1400" dirty="0"/>
          </a:p>
        </p:txBody>
      </p:sp>
      <p:sp>
        <p:nvSpPr>
          <p:cNvPr id="8" name="Text 6"/>
          <p:cNvSpPr/>
          <p:nvPr/>
        </p:nvSpPr>
        <p:spPr>
          <a:xfrm>
            <a:off x="812800" y="2981722"/>
            <a:ext cx="2463800" cy="452041"/>
          </a:xfrm>
          <a:prstGeom prst="roundRect">
            <a:avLst>
              <a:gd name="adj" fmla="val 14047"/>
            </a:avLst>
          </a:prstGeom>
          <a:solidFill>
            <a:srgbClr val="ECEEF0"/>
          </a:solidFill>
          <a:ln/>
        </p:spPr>
        <p:txBody>
          <a:bodyPr wrap="square" lIns="108401" tIns="83001" rIns="42107" bIns="57601"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3 · Dostupnost</a:t>
            </a:r>
            <a:endParaRPr lang="en-US" sz="1400" dirty="0"/>
          </a:p>
        </p:txBody>
      </p:sp>
      <p:sp>
        <p:nvSpPr>
          <p:cNvPr id="9" name="Text 7"/>
          <p:cNvSpPr/>
          <p:nvPr/>
        </p:nvSpPr>
        <p:spPr>
          <a:xfrm>
            <a:off x="3429000" y="1673820"/>
            <a:ext cx="25377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OT / SCADA</a:t>
            </a:r>
            <a:endParaRPr lang="en-US" sz="1200" dirty="0"/>
          </a:p>
        </p:txBody>
      </p:sp>
      <p:sp>
        <p:nvSpPr>
          <p:cNvPr id="10" name="Text 8"/>
          <p:cNvSpPr/>
          <p:nvPr/>
        </p:nvSpPr>
        <p:spPr>
          <a:xfrm>
            <a:off x="3429000" y="1950641"/>
            <a:ext cx="2463800" cy="452041"/>
          </a:xfrm>
          <a:prstGeom prst="roundRect">
            <a:avLst>
              <a:gd name="adj" fmla="val 14047"/>
            </a:avLst>
          </a:prstGeom>
          <a:solidFill>
            <a:srgbClr val="0A5CA8"/>
          </a:solidFill>
          <a:ln/>
        </p:spPr>
        <p:txBody>
          <a:bodyPr wrap="square" lIns="108401" tIns="83001" rIns="42107" bIns="57601" rtlCol="0" anchor="t">
            <a:normAutofit/>
          </a:bodyPr>
          <a:lstStyle/>
          <a:p>
            <a:pPr algn="l" indent="0" marL="0">
              <a:lnSpc>
                <a:spcPts val="1960"/>
              </a:lnSpc>
              <a:buNone/>
            </a:pPr>
            <a:r>
              <a:rPr lang="en-US" sz="1400" b="1" dirty="0">
                <a:solidFill>
                  <a:srgbClr val="F6F7F5"/>
                </a:solidFill>
                <a:latin typeface="IBM Plex Sans" pitchFamily="34" charset="0"/>
                <a:ea typeface="IBM Plex Sans" pitchFamily="34" charset="-122"/>
                <a:cs typeface="IBM Plex Sans" pitchFamily="34" charset="-120"/>
              </a:rPr>
              <a:t>1 · Dostupnost</a:t>
            </a:r>
            <a:endParaRPr lang="en-US" sz="1400" dirty="0"/>
          </a:p>
        </p:txBody>
      </p:sp>
      <p:sp>
        <p:nvSpPr>
          <p:cNvPr id="11" name="Text 9"/>
          <p:cNvSpPr/>
          <p:nvPr/>
        </p:nvSpPr>
        <p:spPr>
          <a:xfrm>
            <a:off x="3429000" y="2466181"/>
            <a:ext cx="2463800" cy="452041"/>
          </a:xfrm>
          <a:prstGeom prst="roundRect">
            <a:avLst>
              <a:gd name="adj" fmla="val 14047"/>
            </a:avLst>
          </a:prstGeom>
          <a:solidFill>
            <a:srgbClr val="DCE8F4"/>
          </a:solidFill>
          <a:ln/>
        </p:spPr>
        <p:txBody>
          <a:bodyPr wrap="square" lIns="108401" tIns="83001" rIns="42107" bIns="57601" rtlCol="0" anchor="t">
            <a:normAutofit/>
          </a:bodyPr>
          <a:lstStyle/>
          <a:p>
            <a:pPr algn="l" indent="0" marL="0">
              <a:lnSpc>
                <a:spcPts val="1960"/>
              </a:lnSpc>
              <a:buNone/>
            </a:pPr>
            <a:r>
              <a:rPr lang="en-US" sz="1400" dirty="0">
                <a:solidFill>
                  <a:srgbClr val="0A5CA8"/>
                </a:solidFill>
                <a:latin typeface="IBM Plex Sans" pitchFamily="34" charset="0"/>
                <a:ea typeface="IBM Plex Sans" pitchFamily="34" charset="-122"/>
                <a:cs typeface="IBM Plex Sans" pitchFamily="34" charset="-120"/>
              </a:rPr>
              <a:t>2 · Integritet</a:t>
            </a:r>
            <a:endParaRPr lang="en-US" sz="1400" dirty="0"/>
          </a:p>
        </p:txBody>
      </p:sp>
      <p:sp>
        <p:nvSpPr>
          <p:cNvPr id="12" name="Text 10"/>
          <p:cNvSpPr/>
          <p:nvPr/>
        </p:nvSpPr>
        <p:spPr>
          <a:xfrm>
            <a:off x="3429000" y="2981722"/>
            <a:ext cx="2463800" cy="452041"/>
          </a:xfrm>
          <a:prstGeom prst="roundRect">
            <a:avLst>
              <a:gd name="adj" fmla="val 14047"/>
            </a:avLst>
          </a:prstGeom>
          <a:solidFill>
            <a:srgbClr val="ECEEF0"/>
          </a:solidFill>
          <a:ln/>
        </p:spPr>
        <p:txBody>
          <a:bodyPr wrap="square" lIns="108401" tIns="83001" rIns="42107" bIns="57601"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3 · Poverljivost</a:t>
            </a:r>
            <a:endParaRPr lang="en-US" sz="1400" dirty="0"/>
          </a:p>
        </p:txBody>
      </p:sp>
      <p:sp>
        <p:nvSpPr>
          <p:cNvPr id="13" name="Text 11"/>
          <p:cNvSpPr/>
          <p:nvPr/>
        </p:nvSpPr>
        <p:spPr>
          <a:xfrm>
            <a:off x="812800" y="3560763"/>
            <a:ext cx="5080000" cy="680641"/>
          </a:xfrm>
          <a:prstGeom prst="roundRect">
            <a:avLst>
              <a:gd name="adj" fmla="val 11195"/>
            </a:avLst>
          </a:prstGeom>
          <a:solidFill>
            <a:srgbClr val="FBF1E6"/>
          </a:solidFill>
          <a:ln/>
        </p:spPr>
        <p:txBody>
          <a:bodyPr wrap="square" lIns="130082" tIns="104682" rIns="0" bIns="79282"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Iznad svih ciljeva u OT okruženju stoji bezbednost ljudi i okoline (engl. </a:t>
            </a:r>
            <a:r>
              <a:rPr lang="en-US" sz="1200" i="1" dirty="0">
                <a:solidFill>
                  <a:srgbClr val="44505D"/>
                </a:solidFill>
                <a:latin typeface="IBM Plex Sans" pitchFamily="34" charset="0"/>
                <a:ea typeface="IBM Plex Sans" pitchFamily="34" charset="-122"/>
                <a:cs typeface="IBM Plex Sans" pitchFamily="34" charset="-120"/>
              </a:rPr>
              <a:t>safety</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14" name="Shape 12"/>
          <p:cNvSpPr/>
          <p:nvPr/>
        </p:nvSpPr>
        <p:spPr>
          <a:xfrm>
            <a:off x="6261100" y="1673820"/>
            <a:ext cx="0" cy="512961"/>
          </a:xfrm>
          <a:prstGeom prst="line">
            <a:avLst/>
          </a:prstGeom>
          <a:noFill/>
          <a:ln w="25400">
            <a:solidFill>
              <a:srgbClr val="0A5CA8"/>
            </a:solidFill>
            <a:prstDash val="solid"/>
          </a:ln>
        </p:spPr>
      </p:sp>
      <p:sp>
        <p:nvSpPr>
          <p:cNvPr id="15" name="Text 13"/>
          <p:cNvSpPr/>
          <p:nvPr/>
        </p:nvSpPr>
        <p:spPr>
          <a:xfrm>
            <a:off x="6426200" y="1686520"/>
            <a:ext cx="51015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Redundantni serveri</a:t>
            </a:r>
            <a:endParaRPr lang="en-US" sz="1400" dirty="0"/>
          </a:p>
        </p:txBody>
      </p:sp>
      <p:sp>
        <p:nvSpPr>
          <p:cNvPr id="16" name="Text 14"/>
          <p:cNvSpPr/>
          <p:nvPr/>
        </p:nvSpPr>
        <p:spPr>
          <a:xfrm>
            <a:off x="6426200" y="1960761"/>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Rezervni server preuzima rad bez prekida nadzora.</a:t>
            </a:r>
            <a:endParaRPr lang="en-US" sz="1200" dirty="0"/>
          </a:p>
        </p:txBody>
      </p:sp>
      <p:sp>
        <p:nvSpPr>
          <p:cNvPr id="17" name="Shape 15"/>
          <p:cNvSpPr/>
          <p:nvPr/>
        </p:nvSpPr>
        <p:spPr>
          <a:xfrm>
            <a:off x="6261100" y="2313781"/>
            <a:ext cx="0" cy="512961"/>
          </a:xfrm>
          <a:prstGeom prst="line">
            <a:avLst/>
          </a:prstGeom>
          <a:noFill/>
          <a:ln w="25400">
            <a:solidFill>
              <a:srgbClr val="0A5CA8"/>
            </a:solidFill>
            <a:prstDash val="solid"/>
          </a:ln>
        </p:spPr>
      </p:sp>
      <p:sp>
        <p:nvSpPr>
          <p:cNvPr id="18" name="Text 16"/>
          <p:cNvSpPr/>
          <p:nvPr/>
        </p:nvSpPr>
        <p:spPr>
          <a:xfrm>
            <a:off x="6426200" y="2326481"/>
            <a:ext cx="51015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Redundantne mreže</a:t>
            </a:r>
            <a:endParaRPr lang="en-US" sz="1400" dirty="0"/>
          </a:p>
        </p:txBody>
      </p:sp>
      <p:sp>
        <p:nvSpPr>
          <p:cNvPr id="19" name="Text 17"/>
          <p:cNvSpPr/>
          <p:nvPr/>
        </p:nvSpPr>
        <p:spPr>
          <a:xfrm>
            <a:off x="6426200" y="2600722"/>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Dvostruke komunikacione putanje do kontrolera.</a:t>
            </a:r>
            <a:endParaRPr lang="en-US" sz="1200" dirty="0"/>
          </a:p>
        </p:txBody>
      </p:sp>
      <p:sp>
        <p:nvSpPr>
          <p:cNvPr id="20" name="Shape 18"/>
          <p:cNvSpPr/>
          <p:nvPr/>
        </p:nvSpPr>
        <p:spPr>
          <a:xfrm>
            <a:off x="6261100" y="2953742"/>
            <a:ext cx="0" cy="512961"/>
          </a:xfrm>
          <a:prstGeom prst="line">
            <a:avLst/>
          </a:prstGeom>
          <a:noFill/>
          <a:ln w="25400">
            <a:solidFill>
              <a:srgbClr val="0A5CA8"/>
            </a:solidFill>
            <a:prstDash val="solid"/>
          </a:ln>
        </p:spPr>
      </p:sp>
      <p:sp>
        <p:nvSpPr>
          <p:cNvPr id="21" name="Text 19"/>
          <p:cNvSpPr/>
          <p:nvPr/>
        </p:nvSpPr>
        <p:spPr>
          <a:xfrm>
            <a:off x="6426200" y="2966442"/>
            <a:ext cx="51015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Lokalna autonomija</a:t>
            </a:r>
            <a:endParaRPr lang="en-US" sz="1400" dirty="0"/>
          </a:p>
        </p:txBody>
      </p:sp>
      <p:sp>
        <p:nvSpPr>
          <p:cNvPr id="22" name="Text 20"/>
          <p:cNvSpPr/>
          <p:nvPr/>
        </p:nvSpPr>
        <p:spPr>
          <a:xfrm>
            <a:off x="6426200" y="3240683"/>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Kontroleri nastavljaju rad i kada je veza sa SCADA serverom prekinuta.</a:t>
            </a:r>
            <a:endParaRPr lang="en-US" sz="1200" dirty="0"/>
          </a:p>
        </p:txBody>
      </p:sp>
      <p:sp>
        <p:nvSpPr>
          <p:cNvPr id="23" name="Shape 21"/>
          <p:cNvSpPr/>
          <p:nvPr/>
        </p:nvSpPr>
        <p:spPr>
          <a:xfrm>
            <a:off x="6261100" y="3593703"/>
            <a:ext cx="0" cy="726281"/>
          </a:xfrm>
          <a:prstGeom prst="line">
            <a:avLst/>
          </a:prstGeom>
          <a:noFill/>
          <a:ln w="25400">
            <a:solidFill>
              <a:srgbClr val="E07B1F"/>
            </a:solidFill>
            <a:prstDash val="solid"/>
          </a:ln>
        </p:spPr>
      </p:sp>
      <p:sp>
        <p:nvSpPr>
          <p:cNvPr id="24" name="Text 22"/>
          <p:cNvSpPr/>
          <p:nvPr/>
        </p:nvSpPr>
        <p:spPr>
          <a:xfrm>
            <a:off x="6426200" y="3606403"/>
            <a:ext cx="51015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Planirane izmene</a:t>
            </a:r>
            <a:endParaRPr lang="en-US" sz="1400" dirty="0"/>
          </a:p>
        </p:txBody>
      </p:sp>
      <p:sp>
        <p:nvSpPr>
          <p:cNvPr id="25" name="Text 23"/>
          <p:cNvSpPr/>
          <p:nvPr/>
        </p:nvSpPr>
        <p:spPr>
          <a:xfrm>
            <a:off x="6426200" y="3880644"/>
            <a:ext cx="51015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Zakrpe i ponovna pokretanja zahtevaju planirane zastoje i prethodno testiranje.</a:t>
            </a:r>
            <a:endParaRPr lang="en-US" sz="1200" dirty="0"/>
          </a:p>
        </p:txBody>
      </p:sp>
      <p:sp>
        <p:nvSpPr>
          <p:cNvPr id="26" name="Shape 24"/>
          <p:cNvSpPr/>
          <p:nvPr/>
        </p:nvSpPr>
        <p:spPr>
          <a:xfrm>
            <a:off x="812800" y="6209705"/>
            <a:ext cx="10566400" cy="0"/>
          </a:xfrm>
          <a:prstGeom prst="line">
            <a:avLst/>
          </a:prstGeom>
          <a:noFill/>
          <a:ln w="6350">
            <a:solidFill>
              <a:srgbClr val="D3DAE1"/>
            </a:solidFill>
            <a:prstDash val="solid"/>
          </a:ln>
        </p:spPr>
      </p:sp>
      <p:sp>
        <p:nvSpPr>
          <p:cNvPr id="27" name="Text 25"/>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8"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ARHITEKTURA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Softverska arhitektura SCADA platforme</a:t>
            </a:r>
            <a:endParaRPr lang="en-US" sz="3000" dirty="0"/>
          </a:p>
        </p:txBody>
      </p:sp>
      <p:pic>
        <p:nvPicPr>
          <p:cNvPr id="5" name="Image 0" descr="Četiri koncentrična sloja softverske arhitekture sa domenom u središtu i strelicom zavisnosti ka središtu">    </p:cNvPr>
          <p:cNvPicPr>
            <a:picLocks noChangeAspect="1"/>
          </p:cNvPicPr>
          <p:nvPr/>
        </p:nvPicPr>
        <p:blipFill>
          <a:blip r:embed="rId1"/>
          <a:srcRect l="0" r="0" t="0" b="0"/>
          <a:stretch/>
        </p:blipFill>
        <p:spPr>
          <a:xfrm>
            <a:off x="812800" y="1673820"/>
            <a:ext cx="3810000" cy="3810000"/>
          </a:xfrm>
          <a:prstGeom prst="rect">
            <a:avLst/>
          </a:prstGeom>
        </p:spPr>
      </p:pic>
      <p:sp>
        <p:nvSpPr>
          <p:cNvPr id="6" name="Text 3"/>
          <p:cNvSpPr/>
          <p:nvPr/>
        </p:nvSpPr>
        <p:spPr>
          <a:xfrm>
            <a:off x="755650" y="1813520"/>
            <a:ext cx="3924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Infrastruktura</a:t>
            </a:r>
            <a:endParaRPr lang="en-US" sz="1200" dirty="0"/>
          </a:p>
        </p:txBody>
      </p:sp>
      <p:sp>
        <p:nvSpPr>
          <p:cNvPr id="7" name="Text 4"/>
          <p:cNvSpPr/>
          <p:nvPr/>
        </p:nvSpPr>
        <p:spPr>
          <a:xfrm>
            <a:off x="755650" y="2283420"/>
            <a:ext cx="3924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Adapteri</a:t>
            </a:r>
            <a:endParaRPr lang="en-US" sz="1200" dirty="0"/>
          </a:p>
        </p:txBody>
      </p:sp>
      <p:sp>
        <p:nvSpPr>
          <p:cNvPr id="8" name="Text 5"/>
          <p:cNvSpPr/>
          <p:nvPr/>
        </p:nvSpPr>
        <p:spPr>
          <a:xfrm>
            <a:off x="755650" y="2753320"/>
            <a:ext cx="3924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Aplikacija</a:t>
            </a:r>
            <a:endParaRPr lang="en-US" sz="1200" dirty="0"/>
          </a:p>
        </p:txBody>
      </p:sp>
      <p:sp>
        <p:nvSpPr>
          <p:cNvPr id="9" name="Text 6"/>
          <p:cNvSpPr/>
          <p:nvPr/>
        </p:nvSpPr>
        <p:spPr>
          <a:xfrm>
            <a:off x="755650" y="3470870"/>
            <a:ext cx="392430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6F7F5"/>
                </a:solidFill>
                <a:latin typeface="IBM Plex Sans" pitchFamily="34" charset="0"/>
                <a:ea typeface="IBM Plex Sans" pitchFamily="34" charset="-122"/>
                <a:cs typeface="IBM Plex Sans" pitchFamily="34" charset="-120"/>
              </a:rPr>
              <a:t>Domen</a:t>
            </a:r>
            <a:endParaRPr lang="en-US" sz="1400" dirty="0"/>
          </a:p>
        </p:txBody>
      </p:sp>
      <p:sp>
        <p:nvSpPr>
          <p:cNvPr id="10" name="Text 7"/>
          <p:cNvSpPr/>
          <p:nvPr/>
        </p:nvSpPr>
        <p:spPr>
          <a:xfrm>
            <a:off x="5130800" y="2009378"/>
            <a:ext cx="64358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Sans" pitchFamily="34" charset="0"/>
                <a:ea typeface="IBM Plex Sans" pitchFamily="34" charset="-122"/>
                <a:cs typeface="IBM Plex Sans" pitchFamily="34" charset="-120"/>
              </a:rPr>
              <a:t>Domen</a:t>
            </a:r>
            <a:endParaRPr lang="en-US" sz="1400" dirty="0"/>
          </a:p>
        </p:txBody>
      </p:sp>
      <p:sp>
        <p:nvSpPr>
          <p:cNvPr id="11" name="Text 8"/>
          <p:cNvSpPr/>
          <p:nvPr/>
        </p:nvSpPr>
        <p:spPr>
          <a:xfrm>
            <a:off x="5130800" y="2283619"/>
            <a:ext cx="64358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Tagovi, alarmi, komande i pravila procesa, bez tehnoloških zavisnosti.</a:t>
            </a:r>
            <a:endParaRPr lang="en-US" sz="1200" dirty="0"/>
          </a:p>
        </p:txBody>
      </p:sp>
      <p:sp>
        <p:nvSpPr>
          <p:cNvPr id="12" name="Text 9"/>
          <p:cNvSpPr/>
          <p:nvPr/>
        </p:nvSpPr>
        <p:spPr>
          <a:xfrm>
            <a:off x="5130800" y="2636639"/>
            <a:ext cx="64358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Aplikacija</a:t>
            </a:r>
            <a:endParaRPr lang="en-US" sz="1400" dirty="0"/>
          </a:p>
        </p:txBody>
      </p:sp>
      <p:sp>
        <p:nvSpPr>
          <p:cNvPr id="13" name="Text 10"/>
          <p:cNvSpPr/>
          <p:nvPr/>
        </p:nvSpPr>
        <p:spPr>
          <a:xfrm>
            <a:off x="5130800" y="2910880"/>
            <a:ext cx="64358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Slučajevi korišćenja, autorizacija i transakcije.</a:t>
            </a:r>
            <a:endParaRPr lang="en-US" sz="1200" dirty="0"/>
          </a:p>
        </p:txBody>
      </p:sp>
      <p:sp>
        <p:nvSpPr>
          <p:cNvPr id="14" name="Text 11"/>
          <p:cNvSpPr/>
          <p:nvPr/>
        </p:nvSpPr>
        <p:spPr>
          <a:xfrm>
            <a:off x="5130800" y="3263900"/>
            <a:ext cx="64358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Adapteri</a:t>
            </a:r>
            <a:endParaRPr lang="en-US" sz="1400" dirty="0"/>
          </a:p>
        </p:txBody>
      </p:sp>
      <p:sp>
        <p:nvSpPr>
          <p:cNvPr id="15" name="Text 12"/>
          <p:cNvSpPr/>
          <p:nvPr/>
        </p:nvSpPr>
        <p:spPr>
          <a:xfrm>
            <a:off x="5130800" y="3538141"/>
            <a:ext cx="64358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Web API, drajveri protokola i repozitorijumi.</a:t>
            </a:r>
            <a:endParaRPr lang="en-US" sz="1200" dirty="0"/>
          </a:p>
        </p:txBody>
      </p:sp>
      <p:sp>
        <p:nvSpPr>
          <p:cNvPr id="16" name="Text 13"/>
          <p:cNvSpPr/>
          <p:nvPr/>
        </p:nvSpPr>
        <p:spPr>
          <a:xfrm>
            <a:off x="5130800" y="3891161"/>
            <a:ext cx="64358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Infrastruktura</a:t>
            </a:r>
            <a:endParaRPr lang="en-US" sz="1400" dirty="0"/>
          </a:p>
        </p:txBody>
      </p:sp>
      <p:sp>
        <p:nvSpPr>
          <p:cNvPr id="17" name="Text 14"/>
          <p:cNvSpPr/>
          <p:nvPr/>
        </p:nvSpPr>
        <p:spPr>
          <a:xfrm>
            <a:off x="5130800" y="4165402"/>
            <a:ext cx="64358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Baza podataka, mreža i operativno okruženje.</a:t>
            </a:r>
            <a:endParaRPr lang="en-US" sz="1200" dirty="0"/>
          </a:p>
        </p:txBody>
      </p:sp>
      <p:sp>
        <p:nvSpPr>
          <p:cNvPr id="18" name="Text 15"/>
          <p:cNvSpPr/>
          <p:nvPr/>
        </p:nvSpPr>
        <p:spPr>
          <a:xfrm>
            <a:off x="5130800" y="4518422"/>
            <a:ext cx="6248400" cy="629841"/>
          </a:xfrm>
          <a:prstGeom prst="roundRect">
            <a:avLst>
              <a:gd name="adj" fmla="val 12098"/>
            </a:avLst>
          </a:prstGeom>
          <a:solidFill>
            <a:srgbClr val="DCE8F4"/>
          </a:solidFill>
          <a:ln/>
        </p:spPr>
        <p:txBody>
          <a:bodyPr wrap="square" lIns="104682" tIns="79282" rIns="0" bIns="53882"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Zavisnosti su usmerene ka središtu: zamena baze ili protokola ne menja pravila procesa.</a:t>
            </a:r>
            <a:endParaRPr lang="en-US" sz="1200" dirty="0"/>
          </a:p>
        </p:txBody>
      </p:sp>
      <p:sp>
        <p:nvSpPr>
          <p:cNvPr id="19" name="Shape 16"/>
          <p:cNvSpPr/>
          <p:nvPr/>
        </p:nvSpPr>
        <p:spPr>
          <a:xfrm>
            <a:off x="812800" y="6209705"/>
            <a:ext cx="10566400" cy="0"/>
          </a:xfrm>
          <a:prstGeom prst="line">
            <a:avLst/>
          </a:prstGeom>
          <a:noFill/>
          <a:ln w="6350">
            <a:solidFill>
              <a:srgbClr val="D3DAE1"/>
            </a:solidFill>
            <a:prstDash val="solid"/>
          </a:ln>
        </p:spPr>
      </p:sp>
      <p:sp>
        <p:nvSpPr>
          <p:cNvPr id="20" name="Text 17"/>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1" name="Text 1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ARHITEKTURA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Modularnost: drajveri i adapteri</a:t>
            </a:r>
            <a:endParaRPr lang="en-US" sz="3000" dirty="0"/>
          </a:p>
        </p:txBody>
      </p:sp>
      <p:sp>
        <p:nvSpPr>
          <p:cNvPr id="5" name="Text 3"/>
          <p:cNvSpPr/>
          <p:nvPr/>
        </p:nvSpPr>
        <p:spPr>
          <a:xfrm>
            <a:off x="819150" y="1680170"/>
            <a:ext cx="1892300" cy="622300"/>
          </a:xfrm>
          <a:prstGeom prst="roundRect">
            <a:avLst>
              <a:gd name="adj" fmla="val 11224"/>
            </a:avLst>
          </a:prstGeom>
          <a:solidFill>
            <a:srgbClr val="FCFCFB"/>
          </a:solidFill>
          <a:ln w="12700">
            <a:solidFill>
              <a:srgbClr val="8C99A6"/>
            </a:solidFill>
            <a:prstDash val="solid"/>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Modbus drajver</a:t>
            </a:r>
            <a:endParaRPr lang="en-US" sz="1200" dirty="0"/>
          </a:p>
        </p:txBody>
      </p:sp>
      <p:sp>
        <p:nvSpPr>
          <p:cNvPr id="6" name="Text 4"/>
          <p:cNvSpPr/>
          <p:nvPr/>
        </p:nvSpPr>
        <p:spPr>
          <a:xfrm>
            <a:off x="5264150" y="1680170"/>
            <a:ext cx="1892300" cy="622300"/>
          </a:xfrm>
          <a:prstGeom prst="roundRect">
            <a:avLst>
              <a:gd name="adj" fmla="val 11224"/>
            </a:avLst>
          </a:prstGeom>
          <a:solidFill>
            <a:srgbClr val="FCFCFB"/>
          </a:solidFill>
          <a:ln w="12700">
            <a:solidFill>
              <a:srgbClr val="8C99A6"/>
            </a:solidFill>
            <a:prstDash val="solid"/>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OPC UA klijent</a:t>
            </a:r>
            <a:endParaRPr lang="en-US" sz="1200" dirty="0"/>
          </a:p>
        </p:txBody>
      </p:sp>
      <p:sp>
        <p:nvSpPr>
          <p:cNvPr id="7" name="Text 5"/>
          <p:cNvSpPr/>
          <p:nvPr/>
        </p:nvSpPr>
        <p:spPr>
          <a:xfrm>
            <a:off x="819150" y="4601170"/>
            <a:ext cx="1892300" cy="622300"/>
          </a:xfrm>
          <a:prstGeom prst="roundRect">
            <a:avLst>
              <a:gd name="adj" fmla="val 11224"/>
            </a:avLst>
          </a:prstGeom>
          <a:solidFill>
            <a:srgbClr val="FBF1E6"/>
          </a:solidFill>
          <a:ln w="12700">
            <a:solidFill>
              <a:srgbClr val="E07B1F"/>
            </a:solidFill>
            <a:prstDash val="solid"/>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Simulator procesa</a:t>
            </a:r>
            <a:endParaRPr lang="en-US" sz="1200" dirty="0"/>
          </a:p>
        </p:txBody>
      </p:sp>
      <p:sp>
        <p:nvSpPr>
          <p:cNvPr id="8" name="Text 6"/>
          <p:cNvSpPr/>
          <p:nvPr/>
        </p:nvSpPr>
        <p:spPr>
          <a:xfrm>
            <a:off x="5264150" y="4601170"/>
            <a:ext cx="1892300" cy="622300"/>
          </a:xfrm>
          <a:prstGeom prst="roundRect">
            <a:avLst>
              <a:gd name="adj" fmla="val 11224"/>
            </a:avLst>
          </a:prstGeom>
          <a:solidFill>
            <a:srgbClr val="FCFCFB"/>
          </a:solidFill>
          <a:ln w="12700">
            <a:solidFill>
              <a:srgbClr val="8C99A6"/>
            </a:solidFill>
            <a:prstDash val="solid"/>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Uvoz podataka (CSV)</a:t>
            </a:r>
            <a:endParaRPr lang="en-US" sz="1200" dirty="0"/>
          </a:p>
        </p:txBody>
      </p:sp>
      <p:sp>
        <p:nvSpPr>
          <p:cNvPr id="9" name="Shape 7"/>
          <p:cNvSpPr/>
          <p:nvPr/>
        </p:nvSpPr>
        <p:spPr>
          <a:xfrm>
            <a:off x="2781300" y="2880320"/>
            <a:ext cx="2413000" cy="1143000"/>
          </a:xfrm>
          <a:prstGeom prst="roundRect">
            <a:avLst>
              <a:gd name="adj" fmla="val 8889"/>
            </a:avLst>
          </a:prstGeom>
          <a:solidFill>
            <a:srgbClr val="0A5CA8"/>
          </a:solidFill>
          <a:ln/>
        </p:spPr>
      </p:sp>
      <p:sp>
        <p:nvSpPr>
          <p:cNvPr id="10" name="Text 8"/>
          <p:cNvSpPr/>
          <p:nvPr/>
        </p:nvSpPr>
        <p:spPr>
          <a:xfrm>
            <a:off x="3145195" y="3195340"/>
            <a:ext cx="168521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6F7F5"/>
                </a:solidFill>
                <a:latin typeface="IBM Plex Sans" pitchFamily="34" charset="0"/>
                <a:ea typeface="IBM Plex Sans" pitchFamily="34" charset="-122"/>
                <a:cs typeface="IBM Plex Sans" pitchFamily="34" charset="-120"/>
              </a:rPr>
              <a:t>Jezgro platforme</a:t>
            </a:r>
            <a:endParaRPr lang="en-US" sz="1400" dirty="0"/>
          </a:p>
        </p:txBody>
      </p:sp>
      <p:sp>
        <p:nvSpPr>
          <p:cNvPr id="11" name="Text 9"/>
          <p:cNvSpPr/>
          <p:nvPr/>
        </p:nvSpPr>
        <p:spPr>
          <a:xfrm>
            <a:off x="2954347" y="3494980"/>
            <a:ext cx="206680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8F4"/>
                </a:solidFill>
                <a:latin typeface="IBM Plex Sans" pitchFamily="34" charset="0"/>
                <a:ea typeface="IBM Plex Sans" pitchFamily="34" charset="-122"/>
                <a:cs typeface="IBM Plex Sans" pitchFamily="34" charset="-120"/>
              </a:rPr>
              <a:t>tagovi · alarmi · komande</a:t>
            </a:r>
            <a:endParaRPr lang="en-US" sz="1200" dirty="0"/>
          </a:p>
        </p:txBody>
      </p:sp>
      <p:pic>
        <p:nvPicPr>
          <p:cNvPr id="12" name="Image 0" descr="connector">    </p:cNvPr>
          <p:cNvPicPr>
            <a:picLocks noChangeAspect="1"/>
          </p:cNvPicPr>
          <p:nvPr/>
        </p:nvPicPr>
        <p:blipFill>
          <a:blip r:embed="rId1"/>
          <a:srcRect l="0" r="0" t="0" b="0"/>
          <a:stretch/>
        </p:blipFill>
        <p:spPr>
          <a:xfrm>
            <a:off x="2667000" y="1940520"/>
            <a:ext cx="736600" cy="990600"/>
          </a:xfrm>
          <a:prstGeom prst="rect">
            <a:avLst/>
          </a:prstGeom>
        </p:spPr>
      </p:pic>
      <p:pic>
        <p:nvPicPr>
          <p:cNvPr id="13" name="Image 1" descr="connector">    </p:cNvPr>
          <p:cNvPicPr>
            <a:picLocks noChangeAspect="1"/>
          </p:cNvPicPr>
          <p:nvPr/>
        </p:nvPicPr>
        <p:blipFill>
          <a:blip r:embed="rId2"/>
          <a:srcRect l="0" r="0" t="0" b="0"/>
          <a:stretch/>
        </p:blipFill>
        <p:spPr>
          <a:xfrm>
            <a:off x="4572000" y="1940520"/>
            <a:ext cx="736600" cy="990600"/>
          </a:xfrm>
          <a:prstGeom prst="rect">
            <a:avLst/>
          </a:prstGeom>
        </p:spPr>
      </p:pic>
      <p:pic>
        <p:nvPicPr>
          <p:cNvPr id="14" name="Image 2" descr="connector">    </p:cNvPr>
          <p:cNvPicPr>
            <a:picLocks noChangeAspect="1"/>
          </p:cNvPicPr>
          <p:nvPr/>
        </p:nvPicPr>
        <p:blipFill>
          <a:blip r:embed="rId3"/>
          <a:srcRect l="0" r="0" t="0" b="0"/>
          <a:stretch/>
        </p:blipFill>
        <p:spPr>
          <a:xfrm>
            <a:off x="2667000" y="3972520"/>
            <a:ext cx="736600" cy="990600"/>
          </a:xfrm>
          <a:prstGeom prst="rect">
            <a:avLst/>
          </a:prstGeom>
        </p:spPr>
      </p:pic>
      <p:pic>
        <p:nvPicPr>
          <p:cNvPr id="15" name="Image 3" descr="connector">    </p:cNvPr>
          <p:cNvPicPr>
            <a:picLocks noChangeAspect="1"/>
          </p:cNvPicPr>
          <p:nvPr/>
        </p:nvPicPr>
        <p:blipFill>
          <a:blip r:embed="rId4"/>
          <a:srcRect l="0" r="0" t="0" b="0"/>
          <a:stretch/>
        </p:blipFill>
        <p:spPr>
          <a:xfrm>
            <a:off x="4572000" y="3972520"/>
            <a:ext cx="736600" cy="990600"/>
          </a:xfrm>
          <a:prstGeom prst="rect">
            <a:avLst/>
          </a:prstGeom>
        </p:spPr>
      </p:pic>
      <p:sp>
        <p:nvSpPr>
          <p:cNvPr id="16" name="Text 10"/>
          <p:cNvSpPr/>
          <p:nvPr/>
        </p:nvSpPr>
        <p:spPr>
          <a:xfrm>
            <a:off x="3390900" y="230882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port</a:t>
            </a:r>
            <a:endParaRPr lang="en-US" sz="1200" dirty="0"/>
          </a:p>
        </p:txBody>
      </p:sp>
      <p:sp>
        <p:nvSpPr>
          <p:cNvPr id="17" name="Text 11"/>
          <p:cNvSpPr/>
          <p:nvPr/>
        </p:nvSpPr>
        <p:spPr>
          <a:xfrm>
            <a:off x="3390900" y="434082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port</a:t>
            </a:r>
            <a:endParaRPr lang="en-US" sz="1200" dirty="0"/>
          </a:p>
        </p:txBody>
      </p:sp>
      <p:sp>
        <p:nvSpPr>
          <p:cNvPr id="18" name="Text 12"/>
          <p:cNvSpPr/>
          <p:nvPr/>
        </p:nvSpPr>
        <p:spPr>
          <a:xfrm>
            <a:off x="7518400" y="1673820"/>
            <a:ext cx="397662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Jezgro definiše </a:t>
            </a:r>
            <a:r>
              <a:rPr lang="en-US" sz="1400" b="1" dirty="0">
                <a:solidFill>
                  <a:srgbClr val="13202D"/>
                </a:solidFill>
                <a:latin typeface="IBM Plex Sans" pitchFamily="34" charset="0"/>
                <a:ea typeface="IBM Plex Sans" pitchFamily="34" charset="-122"/>
                <a:cs typeface="IBM Plex Sans" pitchFamily="34" charset="-120"/>
              </a:rPr>
              <a:t>jedinstven ugovor</a:t>
            </a:r>
            <a:r>
              <a:rPr lang="en-US" sz="1400" dirty="0">
                <a:solidFill>
                  <a:srgbClr val="44505D"/>
                </a:solidFill>
                <a:latin typeface="IBM Plex Sans" pitchFamily="34" charset="0"/>
                <a:ea typeface="IBM Plex Sans" pitchFamily="34" charset="-122"/>
                <a:cs typeface="IBM Plex Sans" pitchFamily="34" charset="-120"/>
              </a:rPr>
              <a:t> (port), a svaki izvor podataka priključuje se kao adapter koji ga implementira.</a:t>
            </a:r>
            <a:endParaRPr lang="en-US" sz="1400" dirty="0"/>
          </a:p>
        </p:txBody>
      </p:sp>
      <p:sp>
        <p:nvSpPr>
          <p:cNvPr id="19" name="Shape 13"/>
          <p:cNvSpPr/>
          <p:nvPr/>
        </p:nvSpPr>
        <p:spPr>
          <a:xfrm>
            <a:off x="7531100" y="2586831"/>
            <a:ext cx="0" cy="512961"/>
          </a:xfrm>
          <a:prstGeom prst="line">
            <a:avLst/>
          </a:prstGeom>
          <a:noFill/>
          <a:ln w="25400">
            <a:solidFill>
              <a:srgbClr val="0A5CA8"/>
            </a:solidFill>
            <a:prstDash val="solid"/>
          </a:ln>
        </p:spPr>
      </p:sp>
      <p:sp>
        <p:nvSpPr>
          <p:cNvPr id="20" name="Text 14"/>
          <p:cNvSpPr/>
          <p:nvPr/>
        </p:nvSpPr>
        <p:spPr>
          <a:xfrm>
            <a:off x="7696200" y="2599531"/>
            <a:ext cx="37934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Otvorenost za proširenje</a:t>
            </a:r>
            <a:endParaRPr lang="en-US" sz="1400" dirty="0"/>
          </a:p>
        </p:txBody>
      </p:sp>
      <p:sp>
        <p:nvSpPr>
          <p:cNvPr id="21" name="Text 15"/>
          <p:cNvSpPr/>
          <p:nvPr/>
        </p:nvSpPr>
        <p:spPr>
          <a:xfrm>
            <a:off x="7696200" y="2873772"/>
            <a:ext cx="37934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Nov protokol ili proces dodaje se bez izmene jezgra.</a:t>
            </a:r>
            <a:endParaRPr lang="en-US" sz="1200" dirty="0"/>
          </a:p>
        </p:txBody>
      </p:sp>
      <p:sp>
        <p:nvSpPr>
          <p:cNvPr id="22" name="Shape 16"/>
          <p:cNvSpPr/>
          <p:nvPr/>
        </p:nvSpPr>
        <p:spPr>
          <a:xfrm>
            <a:off x="7531100" y="3239492"/>
            <a:ext cx="0" cy="726281"/>
          </a:xfrm>
          <a:prstGeom prst="line">
            <a:avLst/>
          </a:prstGeom>
          <a:noFill/>
          <a:ln w="25400">
            <a:solidFill>
              <a:srgbClr val="0A5CA8"/>
            </a:solidFill>
            <a:prstDash val="solid"/>
          </a:ln>
        </p:spPr>
      </p:sp>
      <p:sp>
        <p:nvSpPr>
          <p:cNvPr id="23" name="Text 17"/>
          <p:cNvSpPr/>
          <p:nvPr/>
        </p:nvSpPr>
        <p:spPr>
          <a:xfrm>
            <a:off x="7696200" y="3252192"/>
            <a:ext cx="37934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Zamenljivost</a:t>
            </a:r>
            <a:endParaRPr lang="en-US" sz="1400" dirty="0"/>
          </a:p>
        </p:txBody>
      </p:sp>
      <p:sp>
        <p:nvSpPr>
          <p:cNvPr id="24" name="Text 18"/>
          <p:cNvSpPr/>
          <p:nvPr/>
        </p:nvSpPr>
        <p:spPr>
          <a:xfrm>
            <a:off x="7696200" y="3526433"/>
            <a:ext cx="37934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Simulator i stvarni uređaj su za jezgro ravnopravni izvori.</a:t>
            </a:r>
            <a:endParaRPr lang="en-US" sz="1200" dirty="0"/>
          </a:p>
        </p:txBody>
      </p:sp>
      <p:sp>
        <p:nvSpPr>
          <p:cNvPr id="25" name="Shape 19"/>
          <p:cNvSpPr/>
          <p:nvPr/>
        </p:nvSpPr>
        <p:spPr>
          <a:xfrm>
            <a:off x="812800" y="6209705"/>
            <a:ext cx="10566400" cy="0"/>
          </a:xfrm>
          <a:prstGeom prst="line">
            <a:avLst/>
          </a:prstGeom>
          <a:noFill/>
          <a:ln w="6350">
            <a:solidFill>
              <a:srgbClr val="D3DAE1"/>
            </a:solidFill>
            <a:prstDash val="solid"/>
          </a:ln>
        </p:spPr>
      </p:sp>
      <p:sp>
        <p:nvSpPr>
          <p:cNvPr id="26" name="Text 20"/>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7"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BF0F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A5CA8"/>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DEO DRUGI</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Procesi</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Kako se fizički proces predstavlja, upravlja i nadzire: od regulacione petlje do alarma, komandi i istorijskih podataka.</a:t>
            </a:r>
            <a:endParaRPr lang="en-US" sz="1400" dirty="0"/>
          </a:p>
        </p:txBody>
      </p:sp>
      <p:sp>
        <p:nvSpPr>
          <p:cNvPr id="6" name="Text 4"/>
          <p:cNvSpPr/>
          <p:nvPr/>
        </p:nvSpPr>
        <p:spPr>
          <a:xfrm>
            <a:off x="4270375" y="3915966"/>
            <a:ext cx="1196479"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Vrste procesa</a:t>
            </a:r>
            <a:endParaRPr lang="en-US" sz="1200" dirty="0"/>
          </a:p>
        </p:txBody>
      </p:sp>
      <p:sp>
        <p:nvSpPr>
          <p:cNvPr id="7" name="Text 5"/>
          <p:cNvSpPr/>
          <p:nvPr/>
        </p:nvSpPr>
        <p:spPr>
          <a:xfrm>
            <a:off x="5549404" y="3915966"/>
            <a:ext cx="1483519"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Upravljačka petlja</a:t>
            </a:r>
            <a:endParaRPr lang="en-US" sz="1200" dirty="0"/>
          </a:p>
        </p:txBody>
      </p:sp>
      <p:sp>
        <p:nvSpPr>
          <p:cNvPr id="8" name="Text 6"/>
          <p:cNvSpPr/>
          <p:nvPr/>
        </p:nvSpPr>
        <p:spPr>
          <a:xfrm>
            <a:off x="7115473" y="3915966"/>
            <a:ext cx="515938"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PID</a:t>
            </a:r>
            <a:endParaRPr lang="en-US" sz="1200" dirty="0"/>
          </a:p>
        </p:txBody>
      </p:sp>
      <p:sp>
        <p:nvSpPr>
          <p:cNvPr id="9" name="Text 7"/>
          <p:cNvSpPr/>
          <p:nvPr/>
        </p:nvSpPr>
        <p:spPr>
          <a:xfrm>
            <a:off x="7713960" y="3915966"/>
            <a:ext cx="1262856"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Model procesa</a:t>
            </a:r>
            <a:endParaRPr lang="en-US" sz="1200" dirty="0"/>
          </a:p>
        </p:txBody>
      </p:sp>
      <p:sp>
        <p:nvSpPr>
          <p:cNvPr id="10" name="Text 8"/>
          <p:cNvSpPr/>
          <p:nvPr/>
        </p:nvSpPr>
        <p:spPr>
          <a:xfrm>
            <a:off x="9059366" y="3915966"/>
            <a:ext cx="1307703"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Tagovi i kvalitet</a:t>
            </a:r>
            <a:endParaRPr lang="en-US" sz="1200" dirty="0"/>
          </a:p>
        </p:txBody>
      </p:sp>
      <p:sp>
        <p:nvSpPr>
          <p:cNvPr id="11" name="Text 9"/>
          <p:cNvSpPr/>
          <p:nvPr/>
        </p:nvSpPr>
        <p:spPr>
          <a:xfrm>
            <a:off x="4270375" y="4319786"/>
            <a:ext cx="708025"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Alarmi</a:t>
            </a:r>
            <a:endParaRPr lang="en-US" sz="1200" dirty="0"/>
          </a:p>
        </p:txBody>
      </p:sp>
      <p:sp>
        <p:nvSpPr>
          <p:cNvPr id="12" name="Text 10"/>
          <p:cNvSpPr/>
          <p:nvPr/>
        </p:nvSpPr>
        <p:spPr>
          <a:xfrm>
            <a:off x="5060950" y="4319786"/>
            <a:ext cx="911622"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Komande</a:t>
            </a:r>
            <a:endParaRPr lang="en-US" sz="1200" dirty="0"/>
          </a:p>
        </p:txBody>
      </p:sp>
      <p:sp>
        <p:nvSpPr>
          <p:cNvPr id="13" name="Text 11"/>
          <p:cNvSpPr/>
          <p:nvPr/>
        </p:nvSpPr>
        <p:spPr>
          <a:xfrm>
            <a:off x="6055122" y="4319786"/>
            <a:ext cx="87957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Historian</a:t>
            </a:r>
            <a:endParaRPr lang="en-US" sz="1200" dirty="0"/>
          </a:p>
        </p:txBody>
      </p:sp>
      <p:sp>
        <p:nvSpPr>
          <p:cNvPr id="14" name="Text 12"/>
          <p:cNvSpPr/>
          <p:nvPr/>
        </p:nvSpPr>
        <p:spPr>
          <a:xfrm>
            <a:off x="7017246" y="4319786"/>
            <a:ext cx="963712"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Simulacija</a:t>
            </a:r>
            <a:endParaRPr lang="en-US" sz="1200" dirty="0"/>
          </a:p>
        </p:txBody>
      </p:sp>
      <p:sp>
        <p:nvSpPr>
          <p:cNvPr id="15" name="Shape 13"/>
          <p:cNvSpPr/>
          <p:nvPr/>
        </p:nvSpPr>
        <p:spPr>
          <a:xfrm>
            <a:off x="812800" y="6209705"/>
            <a:ext cx="10566400" cy="0"/>
          </a:xfrm>
          <a:prstGeom prst="line">
            <a:avLst/>
          </a:prstGeom>
          <a:noFill/>
          <a:ln w="6350">
            <a:solidFill>
              <a:srgbClr val="C3CEDA"/>
            </a:solidFill>
            <a:prstDash val="solid"/>
          </a:ln>
        </p:spPr>
      </p:sp>
      <p:sp>
        <p:nvSpPr>
          <p:cNvPr id="16" name="Text 14"/>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17" name="Text 1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Vrste industrijskih procesa</a:t>
            </a:r>
            <a:endParaRPr lang="en-US" sz="3000" dirty="0"/>
          </a:p>
        </p:txBody>
      </p:sp>
      <p:sp>
        <p:nvSpPr>
          <p:cNvPr id="5" name="Shape 3"/>
          <p:cNvSpPr/>
          <p:nvPr/>
        </p:nvSpPr>
        <p:spPr>
          <a:xfrm>
            <a:off x="815975" y="1676995"/>
            <a:ext cx="3414117" cy="2182912"/>
          </a:xfrm>
          <a:prstGeom prst="roundRect">
            <a:avLst>
              <a:gd name="adj" fmla="val 4509"/>
            </a:avLst>
          </a:prstGeom>
          <a:solidFill>
            <a:srgbClr val="FCFCFB"/>
          </a:solidFill>
          <a:ln w="6350">
            <a:solidFill>
              <a:srgbClr val="D3DAE1"/>
            </a:solidFill>
            <a:prstDash val="solid"/>
          </a:ln>
        </p:spPr>
      </p:sp>
      <p:pic>
        <p:nvPicPr>
          <p:cNvPr id="6" name="Image 0" descr="Neprekidna talasasta linija kao simbol kontinualnog procesa">    </p:cNvPr>
          <p:cNvPicPr>
            <a:picLocks noChangeAspect="1"/>
          </p:cNvPicPr>
          <p:nvPr/>
        </p:nvPicPr>
        <p:blipFill>
          <a:blip r:embed="rId1"/>
          <a:srcRect l="0" r="0" t="0" b="0"/>
          <a:stretch/>
        </p:blipFill>
        <p:spPr>
          <a:xfrm>
            <a:off x="1047750" y="1883370"/>
            <a:ext cx="1270000" cy="406400"/>
          </a:xfrm>
          <a:prstGeom prst="rect">
            <a:avLst/>
          </a:prstGeom>
        </p:spPr>
      </p:pic>
      <p:sp>
        <p:nvSpPr>
          <p:cNvPr id="7" name="Text 4"/>
          <p:cNvSpPr/>
          <p:nvPr/>
        </p:nvSpPr>
        <p:spPr>
          <a:xfrm>
            <a:off x="1047750" y="2378670"/>
            <a:ext cx="30390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Kontinualni</a:t>
            </a:r>
            <a:endParaRPr lang="en-US" sz="1600" dirty="0"/>
          </a:p>
        </p:txBody>
      </p:sp>
      <p:sp>
        <p:nvSpPr>
          <p:cNvPr id="8" name="Text 5"/>
          <p:cNvSpPr/>
          <p:nvPr/>
        </p:nvSpPr>
        <p:spPr>
          <a:xfrm>
            <a:off x="1047750" y="2711351"/>
            <a:ext cx="30390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Materijal ili energija teku bez prekida, a promenljive se menjaju neprekidno.</a:t>
            </a:r>
            <a:endParaRPr lang="en-US" sz="1200" dirty="0"/>
          </a:p>
        </p:txBody>
      </p:sp>
      <p:sp>
        <p:nvSpPr>
          <p:cNvPr id="9" name="Text 6"/>
          <p:cNvSpPr/>
          <p:nvPr/>
        </p:nvSpPr>
        <p:spPr>
          <a:xfrm>
            <a:off x="1047750" y="3226891"/>
            <a:ext cx="30390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Vodovod, rafinerije, elektroenergetska mreža</a:t>
            </a:r>
            <a:endParaRPr lang="en-US" sz="1200" dirty="0"/>
          </a:p>
        </p:txBody>
      </p:sp>
      <p:sp>
        <p:nvSpPr>
          <p:cNvPr id="10" name="Shape 7"/>
          <p:cNvSpPr/>
          <p:nvPr/>
        </p:nvSpPr>
        <p:spPr>
          <a:xfrm>
            <a:off x="4388842" y="1676995"/>
            <a:ext cx="3414216" cy="2182912"/>
          </a:xfrm>
          <a:prstGeom prst="roundRect">
            <a:avLst>
              <a:gd name="adj" fmla="val 4509"/>
            </a:avLst>
          </a:prstGeom>
          <a:solidFill>
            <a:srgbClr val="FCFCFB"/>
          </a:solidFill>
          <a:ln w="6350">
            <a:solidFill>
              <a:srgbClr val="D3DAE1"/>
            </a:solidFill>
            <a:prstDash val="solid"/>
          </a:ln>
        </p:spPr>
      </p:sp>
      <p:pic>
        <p:nvPicPr>
          <p:cNvPr id="11" name="Image 1" descr="Niz odvojenih kvadrata kao simbol diskretnog procesa">    </p:cNvPr>
          <p:cNvPicPr>
            <a:picLocks noChangeAspect="1"/>
          </p:cNvPicPr>
          <p:nvPr/>
        </p:nvPicPr>
        <p:blipFill>
          <a:blip r:embed="rId2"/>
          <a:srcRect l="0" r="0" t="0" b="0"/>
          <a:stretch/>
        </p:blipFill>
        <p:spPr>
          <a:xfrm>
            <a:off x="4620617" y="1883370"/>
            <a:ext cx="1270000" cy="406400"/>
          </a:xfrm>
          <a:prstGeom prst="rect">
            <a:avLst/>
          </a:prstGeom>
        </p:spPr>
      </p:pic>
      <p:sp>
        <p:nvSpPr>
          <p:cNvPr id="12" name="Text 8"/>
          <p:cNvSpPr/>
          <p:nvPr/>
        </p:nvSpPr>
        <p:spPr>
          <a:xfrm>
            <a:off x="4620617" y="2378670"/>
            <a:ext cx="30391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Diskretni</a:t>
            </a:r>
            <a:endParaRPr lang="en-US" sz="1600" dirty="0"/>
          </a:p>
        </p:txBody>
      </p:sp>
      <p:sp>
        <p:nvSpPr>
          <p:cNvPr id="13" name="Text 9"/>
          <p:cNvSpPr/>
          <p:nvPr/>
        </p:nvSpPr>
        <p:spPr>
          <a:xfrm>
            <a:off x="4620617" y="2711351"/>
            <a:ext cx="30391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Obrađuju se pojedinačni komadi, a stanje se menja na događaje.</a:t>
            </a:r>
            <a:endParaRPr lang="en-US" sz="1200" dirty="0"/>
          </a:p>
        </p:txBody>
      </p:sp>
      <p:sp>
        <p:nvSpPr>
          <p:cNvPr id="14" name="Text 10"/>
          <p:cNvSpPr/>
          <p:nvPr/>
        </p:nvSpPr>
        <p:spPr>
          <a:xfrm>
            <a:off x="4620617" y="3226891"/>
            <a:ext cx="30391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Montaža, pakovanje, robotske ćelije</a:t>
            </a:r>
            <a:endParaRPr lang="en-US" sz="1200" dirty="0"/>
          </a:p>
        </p:txBody>
      </p:sp>
      <p:sp>
        <p:nvSpPr>
          <p:cNvPr id="15" name="Shape 11"/>
          <p:cNvSpPr/>
          <p:nvPr/>
        </p:nvSpPr>
        <p:spPr>
          <a:xfrm>
            <a:off x="7961809" y="1676995"/>
            <a:ext cx="3414216" cy="2182912"/>
          </a:xfrm>
          <a:prstGeom prst="roundRect">
            <a:avLst>
              <a:gd name="adj" fmla="val 4509"/>
            </a:avLst>
          </a:prstGeom>
          <a:solidFill>
            <a:srgbClr val="FCFCFB"/>
          </a:solidFill>
          <a:ln w="6350">
            <a:solidFill>
              <a:srgbClr val="D3DAE1"/>
            </a:solidFill>
            <a:prstDash val="solid"/>
          </a:ln>
        </p:spPr>
      </p:sp>
      <p:pic>
        <p:nvPicPr>
          <p:cNvPr id="16" name="Image 2" descr="Tri stepenice kao simbol šaržnog procesa u fazama">    </p:cNvPr>
          <p:cNvPicPr>
            <a:picLocks noChangeAspect="1"/>
          </p:cNvPicPr>
          <p:nvPr/>
        </p:nvPicPr>
        <p:blipFill>
          <a:blip r:embed="rId3"/>
          <a:srcRect l="0" r="0" t="0" b="0"/>
          <a:stretch/>
        </p:blipFill>
        <p:spPr>
          <a:xfrm>
            <a:off x="8193584" y="1883370"/>
            <a:ext cx="1270000" cy="406400"/>
          </a:xfrm>
          <a:prstGeom prst="rect">
            <a:avLst/>
          </a:prstGeom>
        </p:spPr>
      </p:pic>
      <p:sp>
        <p:nvSpPr>
          <p:cNvPr id="17" name="Text 12"/>
          <p:cNvSpPr/>
          <p:nvPr/>
        </p:nvSpPr>
        <p:spPr>
          <a:xfrm>
            <a:off x="8193584" y="2378670"/>
            <a:ext cx="30391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Šaržni</a:t>
            </a:r>
            <a:endParaRPr lang="en-US" sz="1600" dirty="0"/>
          </a:p>
        </p:txBody>
      </p:sp>
      <p:sp>
        <p:nvSpPr>
          <p:cNvPr id="18" name="Text 13"/>
          <p:cNvSpPr/>
          <p:nvPr/>
        </p:nvSpPr>
        <p:spPr>
          <a:xfrm>
            <a:off x="8193584" y="2711351"/>
            <a:ext cx="30391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Proizvodnja u serijama prema recepturi, kroz niz faza (ISA-88).</a:t>
            </a:r>
            <a:endParaRPr lang="en-US" sz="1200" dirty="0"/>
          </a:p>
        </p:txBody>
      </p:sp>
      <p:sp>
        <p:nvSpPr>
          <p:cNvPr id="19" name="Text 14"/>
          <p:cNvSpPr/>
          <p:nvPr/>
        </p:nvSpPr>
        <p:spPr>
          <a:xfrm>
            <a:off x="8193584" y="3226891"/>
            <a:ext cx="30391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Prehrambena, farmaceutska i hemijska industrija</a:t>
            </a:r>
            <a:endParaRPr lang="en-US" sz="1200" dirty="0"/>
          </a:p>
        </p:txBody>
      </p:sp>
      <p:sp>
        <p:nvSpPr>
          <p:cNvPr id="20" name="Shape 15"/>
          <p:cNvSpPr/>
          <p:nvPr/>
        </p:nvSpPr>
        <p:spPr>
          <a:xfrm>
            <a:off x="812800" y="4117082"/>
            <a:ext cx="10566400" cy="508000"/>
          </a:xfrm>
          <a:prstGeom prst="roundRect">
            <a:avLst>
              <a:gd name="adj" fmla="val 15000"/>
            </a:avLst>
          </a:prstGeom>
          <a:solidFill>
            <a:srgbClr val="DCE8F4"/>
          </a:solidFill>
          <a:ln/>
        </p:spPr>
      </p:sp>
      <p:pic>
        <p:nvPicPr>
          <p:cNvPr id="21" name="Image 3" descr="Lightbulb">    </p:cNvPr>
          <p:cNvPicPr>
            <a:picLocks noChangeAspect="1"/>
          </p:cNvPicPr>
          <p:nvPr/>
        </p:nvPicPr>
        <p:blipFill>
          <a:blip r:embed="rId4"/>
          <a:srcRect l="0" r="0" t="0" b="0"/>
          <a:stretch/>
        </p:blipFill>
        <p:spPr>
          <a:xfrm>
            <a:off x="990600" y="4244082"/>
            <a:ext cx="254000" cy="254000"/>
          </a:xfrm>
          <a:prstGeom prst="rect">
            <a:avLst/>
          </a:prstGeom>
        </p:spPr>
      </p:pic>
      <p:sp>
        <p:nvSpPr>
          <p:cNvPr id="22" name="Text 16"/>
          <p:cNvSpPr/>
          <p:nvPr/>
        </p:nvSpPr>
        <p:spPr>
          <a:xfrm>
            <a:off x="1371600" y="426442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Modelovanje: kontinualni procesi opisuju se diferencijalnim jednačinama, a diskretni automatima stanja i događajima.</a:t>
            </a:r>
            <a:endParaRPr lang="en-US" sz="1200" dirty="0"/>
          </a:p>
        </p:txBody>
      </p:sp>
      <p:sp>
        <p:nvSpPr>
          <p:cNvPr id="23" name="Shape 17"/>
          <p:cNvSpPr/>
          <p:nvPr/>
        </p:nvSpPr>
        <p:spPr>
          <a:xfrm>
            <a:off x="812800" y="6209705"/>
            <a:ext cx="10566400" cy="0"/>
          </a:xfrm>
          <a:prstGeom prst="line">
            <a:avLst/>
          </a:prstGeom>
          <a:noFill/>
          <a:ln w="6350">
            <a:solidFill>
              <a:srgbClr val="D3DAE1"/>
            </a:solidFill>
            <a:prstDash val="solid"/>
          </a:ln>
        </p:spPr>
      </p:sp>
      <p:sp>
        <p:nvSpPr>
          <p:cNvPr id="24" name="Text 1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5" name="Text 1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Upravljačka petlja sa povratnom spregom</a:t>
            </a:r>
            <a:endParaRPr lang="en-US" sz="3000" dirty="0"/>
          </a:p>
        </p:txBody>
      </p:sp>
      <p:sp>
        <p:nvSpPr>
          <p:cNvPr id="5" name="Text 3"/>
          <p:cNvSpPr/>
          <p:nvPr/>
        </p:nvSpPr>
        <p:spPr>
          <a:xfrm>
            <a:off x="1457325" y="2635845"/>
            <a:ext cx="488950" cy="488950"/>
          </a:xfrm>
          <a:prstGeom prst="roundRect">
            <a:avLst>
              <a:gd name="adj" fmla="val 50000"/>
            </a:avLst>
          </a:prstGeom>
          <a:solidFill>
            <a:srgbClr val="FCFCFB"/>
          </a:solidFill>
          <a:ln w="19050">
            <a:solidFill>
              <a:srgbClr val="13202D"/>
            </a:solidFill>
            <a:prstDash val="solid"/>
          </a:ln>
        </p:spPr>
        <p:txBody>
          <a:bodyPr wrap="square" lIns="0" tIns="0" rIns="0" bIns="0" rtlCol="0" anchor="ctr">
            <a:normAutofit/>
          </a:bodyPr>
          <a:lstStyle/>
          <a:p>
            <a:pPr algn="ctr"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Σ</a:t>
            </a:r>
            <a:endParaRPr lang="en-US" sz="1600" dirty="0"/>
          </a:p>
        </p:txBody>
      </p:sp>
      <p:sp>
        <p:nvSpPr>
          <p:cNvPr id="6" name="Shape 4"/>
          <p:cNvSpPr/>
          <p:nvPr/>
        </p:nvSpPr>
        <p:spPr>
          <a:xfrm>
            <a:off x="2336800" y="2562820"/>
            <a:ext cx="1270000" cy="635000"/>
          </a:xfrm>
          <a:prstGeom prst="roundRect">
            <a:avLst>
              <a:gd name="adj" fmla="val 12000"/>
            </a:avLst>
          </a:prstGeom>
          <a:solidFill>
            <a:srgbClr val="0A5CA8"/>
          </a:solidFill>
          <a:ln/>
        </p:spPr>
      </p:sp>
      <p:sp>
        <p:nvSpPr>
          <p:cNvPr id="7" name="Text 5"/>
          <p:cNvSpPr/>
          <p:nvPr/>
        </p:nvSpPr>
        <p:spPr>
          <a:xfrm>
            <a:off x="2559377" y="2667000"/>
            <a:ext cx="82474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7F5"/>
                </a:solidFill>
                <a:latin typeface="IBM Plex Sans" pitchFamily="34" charset="0"/>
                <a:ea typeface="IBM Plex Sans" pitchFamily="34" charset="-122"/>
                <a:cs typeface="IBM Plex Sans" pitchFamily="34" charset="-120"/>
              </a:rPr>
              <a:t>Regulator</a:t>
            </a:r>
            <a:endParaRPr lang="en-US" sz="1200" dirty="0"/>
          </a:p>
        </p:txBody>
      </p:sp>
      <p:sp>
        <p:nvSpPr>
          <p:cNvPr id="8" name="Text 6"/>
          <p:cNvSpPr/>
          <p:nvPr/>
        </p:nvSpPr>
        <p:spPr>
          <a:xfrm>
            <a:off x="2818448" y="2880320"/>
            <a:ext cx="30670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8F4"/>
                </a:solidFill>
                <a:latin typeface="IBM Plex Sans" pitchFamily="34" charset="0"/>
                <a:ea typeface="IBM Plex Sans" pitchFamily="34" charset="-122"/>
                <a:cs typeface="IBM Plex Sans" pitchFamily="34" charset="-120"/>
              </a:rPr>
              <a:t>PID</a:t>
            </a:r>
            <a:endParaRPr lang="en-US" sz="1200" dirty="0"/>
          </a:p>
        </p:txBody>
      </p:sp>
      <p:sp>
        <p:nvSpPr>
          <p:cNvPr id="9" name="Shape 7"/>
          <p:cNvSpPr/>
          <p:nvPr/>
        </p:nvSpPr>
        <p:spPr>
          <a:xfrm>
            <a:off x="4121150" y="2569170"/>
            <a:ext cx="1257300" cy="622300"/>
          </a:xfrm>
          <a:prstGeom prst="roundRect">
            <a:avLst>
              <a:gd name="adj" fmla="val 11224"/>
            </a:avLst>
          </a:prstGeom>
          <a:solidFill>
            <a:srgbClr val="FCFCFB"/>
          </a:solidFill>
          <a:ln w="12700">
            <a:solidFill>
              <a:srgbClr val="13202D"/>
            </a:solidFill>
            <a:prstDash val="solid"/>
          </a:ln>
        </p:spPr>
      </p:sp>
      <p:sp>
        <p:nvSpPr>
          <p:cNvPr id="10" name="Text 8"/>
          <p:cNvSpPr/>
          <p:nvPr/>
        </p:nvSpPr>
        <p:spPr>
          <a:xfrm>
            <a:off x="4377978" y="2667000"/>
            <a:ext cx="74354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Aktuator</a:t>
            </a:r>
            <a:endParaRPr lang="en-US" sz="1200" dirty="0"/>
          </a:p>
        </p:txBody>
      </p:sp>
      <p:sp>
        <p:nvSpPr>
          <p:cNvPr id="11" name="Text 9"/>
          <p:cNvSpPr/>
          <p:nvPr/>
        </p:nvSpPr>
        <p:spPr>
          <a:xfrm>
            <a:off x="4189492" y="2880320"/>
            <a:ext cx="112061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ventil, pumpa</a:t>
            </a:r>
            <a:endParaRPr lang="en-US" sz="1200" dirty="0"/>
          </a:p>
        </p:txBody>
      </p:sp>
      <p:sp>
        <p:nvSpPr>
          <p:cNvPr id="12" name="Shape 10"/>
          <p:cNvSpPr/>
          <p:nvPr/>
        </p:nvSpPr>
        <p:spPr>
          <a:xfrm>
            <a:off x="5899150" y="2569170"/>
            <a:ext cx="1257300" cy="622300"/>
          </a:xfrm>
          <a:prstGeom prst="roundRect">
            <a:avLst>
              <a:gd name="adj" fmla="val 11224"/>
            </a:avLst>
          </a:prstGeom>
          <a:solidFill>
            <a:srgbClr val="FBF1E6"/>
          </a:solidFill>
          <a:ln w="12700">
            <a:solidFill>
              <a:srgbClr val="E07B1F"/>
            </a:solidFill>
            <a:prstDash val="solid"/>
          </a:ln>
        </p:spPr>
      </p:sp>
      <p:sp>
        <p:nvSpPr>
          <p:cNvPr id="13" name="Text 11"/>
          <p:cNvSpPr/>
          <p:nvPr/>
        </p:nvSpPr>
        <p:spPr>
          <a:xfrm>
            <a:off x="6240026" y="2667000"/>
            <a:ext cx="57554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Proces</a:t>
            </a:r>
            <a:endParaRPr lang="en-US" sz="1200" dirty="0"/>
          </a:p>
        </p:txBody>
      </p:sp>
      <p:sp>
        <p:nvSpPr>
          <p:cNvPr id="14" name="Text 12"/>
          <p:cNvSpPr/>
          <p:nvPr/>
        </p:nvSpPr>
        <p:spPr>
          <a:xfrm>
            <a:off x="6140857" y="2880320"/>
            <a:ext cx="77378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rezervoar</a:t>
            </a:r>
            <a:endParaRPr lang="en-US" sz="1200" dirty="0"/>
          </a:p>
        </p:txBody>
      </p:sp>
      <p:sp>
        <p:nvSpPr>
          <p:cNvPr id="15" name="Text 13"/>
          <p:cNvSpPr/>
          <p:nvPr/>
        </p:nvSpPr>
        <p:spPr>
          <a:xfrm>
            <a:off x="4121150" y="3775670"/>
            <a:ext cx="1257300" cy="495300"/>
          </a:xfrm>
          <a:prstGeom prst="roundRect">
            <a:avLst>
              <a:gd name="adj" fmla="val 14103"/>
            </a:avLst>
          </a:prstGeom>
          <a:solidFill>
            <a:srgbClr val="FCFCFB"/>
          </a:solidFill>
          <a:ln w="12700">
            <a:solidFill>
              <a:srgbClr val="13202D"/>
            </a:solidFill>
            <a:prstDash val="solid"/>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Senzor</a:t>
            </a:r>
            <a:endParaRPr lang="en-US" sz="1200" dirty="0"/>
          </a:p>
        </p:txBody>
      </p:sp>
      <p:pic>
        <p:nvPicPr>
          <p:cNvPr id="16" name="Image 0" descr="connector">    </p:cNvPr>
          <p:cNvPicPr>
            <a:picLocks noChangeAspect="1"/>
          </p:cNvPicPr>
          <p:nvPr/>
        </p:nvPicPr>
        <p:blipFill>
          <a:blip r:embed="rId1"/>
          <a:srcRect l="0" r="0" t="0" b="0"/>
          <a:stretch/>
        </p:blipFill>
        <p:spPr>
          <a:xfrm>
            <a:off x="812800" y="2829520"/>
            <a:ext cx="736600" cy="101600"/>
          </a:xfrm>
          <a:prstGeom prst="rect">
            <a:avLst/>
          </a:prstGeom>
        </p:spPr>
      </p:pic>
      <p:pic>
        <p:nvPicPr>
          <p:cNvPr id="17" name="Image 1" descr="connector">    </p:cNvPr>
          <p:cNvPicPr>
            <a:picLocks noChangeAspect="1"/>
          </p:cNvPicPr>
          <p:nvPr/>
        </p:nvPicPr>
        <p:blipFill>
          <a:blip r:embed="rId2"/>
          <a:srcRect l="0" r="0" t="0" b="0"/>
          <a:stretch/>
        </p:blipFill>
        <p:spPr>
          <a:xfrm>
            <a:off x="1905000" y="2829520"/>
            <a:ext cx="482600" cy="101600"/>
          </a:xfrm>
          <a:prstGeom prst="rect">
            <a:avLst/>
          </a:prstGeom>
        </p:spPr>
      </p:pic>
      <p:pic>
        <p:nvPicPr>
          <p:cNvPr id="18" name="Image 2" descr="connector">    </p:cNvPr>
          <p:cNvPicPr>
            <a:picLocks noChangeAspect="1"/>
          </p:cNvPicPr>
          <p:nvPr/>
        </p:nvPicPr>
        <p:blipFill>
          <a:blip r:embed="rId3"/>
          <a:srcRect l="0" r="0" t="0" b="0"/>
          <a:stretch/>
        </p:blipFill>
        <p:spPr>
          <a:xfrm>
            <a:off x="3556000" y="2829520"/>
            <a:ext cx="609600" cy="101600"/>
          </a:xfrm>
          <a:prstGeom prst="rect">
            <a:avLst/>
          </a:prstGeom>
        </p:spPr>
      </p:pic>
      <p:pic>
        <p:nvPicPr>
          <p:cNvPr id="19" name="Image 3" descr="connector">    </p:cNvPr>
          <p:cNvPicPr>
            <a:picLocks noChangeAspect="1"/>
          </p:cNvPicPr>
          <p:nvPr/>
        </p:nvPicPr>
        <p:blipFill>
          <a:blip r:embed="rId4"/>
          <a:srcRect l="0" r="0" t="0" b="0"/>
          <a:stretch/>
        </p:blipFill>
        <p:spPr>
          <a:xfrm>
            <a:off x="5334000" y="2829520"/>
            <a:ext cx="609600" cy="101600"/>
          </a:xfrm>
          <a:prstGeom prst="rect">
            <a:avLst/>
          </a:prstGeom>
        </p:spPr>
      </p:pic>
      <p:pic>
        <p:nvPicPr>
          <p:cNvPr id="20" name="Image 4" descr="connector">    </p:cNvPr>
          <p:cNvPicPr>
            <a:picLocks noChangeAspect="1"/>
          </p:cNvPicPr>
          <p:nvPr/>
        </p:nvPicPr>
        <p:blipFill>
          <a:blip r:embed="rId5"/>
          <a:srcRect l="0" r="0" t="0" b="0"/>
          <a:stretch/>
        </p:blipFill>
        <p:spPr>
          <a:xfrm>
            <a:off x="7112000" y="2829520"/>
            <a:ext cx="711200" cy="101600"/>
          </a:xfrm>
          <a:prstGeom prst="rect">
            <a:avLst/>
          </a:prstGeom>
        </p:spPr>
      </p:pic>
      <p:pic>
        <p:nvPicPr>
          <p:cNvPr id="21" name="Image 5" descr="connector">    </p:cNvPr>
          <p:cNvPicPr>
            <a:picLocks noChangeAspect="1"/>
          </p:cNvPicPr>
          <p:nvPr/>
        </p:nvPicPr>
        <p:blipFill>
          <a:blip r:embed="rId6"/>
          <a:srcRect l="0" r="0" t="0" b="0"/>
          <a:stretch/>
        </p:blipFill>
        <p:spPr>
          <a:xfrm>
            <a:off x="5334000" y="2829520"/>
            <a:ext cx="2197100" cy="1244600"/>
          </a:xfrm>
          <a:prstGeom prst="rect">
            <a:avLst/>
          </a:prstGeom>
        </p:spPr>
      </p:pic>
      <p:pic>
        <p:nvPicPr>
          <p:cNvPr id="22" name="Image 6" descr="connector">    </p:cNvPr>
          <p:cNvPicPr>
            <a:picLocks noChangeAspect="1"/>
          </p:cNvPicPr>
          <p:nvPr/>
        </p:nvPicPr>
        <p:blipFill>
          <a:blip r:embed="rId7"/>
          <a:srcRect l="0" r="0" t="0" b="0"/>
          <a:stretch/>
        </p:blipFill>
        <p:spPr>
          <a:xfrm>
            <a:off x="1651000" y="3083520"/>
            <a:ext cx="2514600" cy="990600"/>
          </a:xfrm>
          <a:prstGeom prst="rect">
            <a:avLst/>
          </a:prstGeom>
        </p:spPr>
      </p:pic>
      <p:sp>
        <p:nvSpPr>
          <p:cNvPr id="23" name="Text 14"/>
          <p:cNvSpPr/>
          <p:nvPr/>
        </p:nvSpPr>
        <p:spPr>
          <a:xfrm>
            <a:off x="812800" y="2600920"/>
            <a:ext cx="43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SP</a:t>
            </a:r>
            <a:endParaRPr lang="en-US" sz="1200" dirty="0"/>
          </a:p>
        </p:txBody>
      </p:sp>
      <p:sp>
        <p:nvSpPr>
          <p:cNvPr id="24" name="Text 15"/>
          <p:cNvSpPr/>
          <p:nvPr/>
        </p:nvSpPr>
        <p:spPr>
          <a:xfrm>
            <a:off x="1231900" y="2626320"/>
            <a:ext cx="241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t>
            </a:r>
            <a:endParaRPr lang="en-US" sz="1200" dirty="0"/>
          </a:p>
        </p:txBody>
      </p:sp>
      <p:sp>
        <p:nvSpPr>
          <p:cNvPr id="25" name="Text 16"/>
          <p:cNvSpPr/>
          <p:nvPr/>
        </p:nvSpPr>
        <p:spPr>
          <a:xfrm>
            <a:off x="1930400" y="260092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e</a:t>
            </a:r>
            <a:endParaRPr lang="en-US" sz="1200" dirty="0"/>
          </a:p>
        </p:txBody>
      </p:sp>
      <p:sp>
        <p:nvSpPr>
          <p:cNvPr id="26" name="Text 17"/>
          <p:cNvSpPr/>
          <p:nvPr/>
        </p:nvSpPr>
        <p:spPr>
          <a:xfrm>
            <a:off x="3581400" y="260092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MV</a:t>
            </a:r>
            <a:endParaRPr lang="en-US" sz="1200" dirty="0"/>
          </a:p>
        </p:txBody>
      </p:sp>
      <p:sp>
        <p:nvSpPr>
          <p:cNvPr id="27" name="Text 18"/>
          <p:cNvSpPr/>
          <p:nvPr/>
        </p:nvSpPr>
        <p:spPr>
          <a:xfrm>
            <a:off x="7137400" y="2600920"/>
            <a:ext cx="660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PV</a:t>
            </a:r>
            <a:endParaRPr lang="en-US" sz="1200" dirty="0"/>
          </a:p>
        </p:txBody>
      </p:sp>
      <p:sp>
        <p:nvSpPr>
          <p:cNvPr id="28" name="Text 19"/>
          <p:cNvSpPr/>
          <p:nvPr/>
        </p:nvSpPr>
        <p:spPr>
          <a:xfrm>
            <a:off x="1765300" y="3172420"/>
            <a:ext cx="304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a:t>
            </a:r>
            <a:endParaRPr lang="en-US" sz="1400" dirty="0"/>
          </a:p>
        </p:txBody>
      </p:sp>
      <p:sp>
        <p:nvSpPr>
          <p:cNvPr id="29" name="Text 20"/>
          <p:cNvSpPr/>
          <p:nvPr/>
        </p:nvSpPr>
        <p:spPr>
          <a:xfrm>
            <a:off x="8102600" y="2126059"/>
            <a:ext cx="508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SP</a:t>
            </a:r>
            <a:endParaRPr lang="en-US" sz="1200" dirty="0"/>
          </a:p>
        </p:txBody>
      </p:sp>
      <p:sp>
        <p:nvSpPr>
          <p:cNvPr id="30" name="Text 21"/>
          <p:cNvSpPr/>
          <p:nvPr/>
        </p:nvSpPr>
        <p:spPr>
          <a:xfrm>
            <a:off x="8661400" y="2126059"/>
            <a:ext cx="27993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zadata vrednost</a:t>
            </a:r>
            <a:endParaRPr lang="en-US" sz="1200" dirty="0"/>
          </a:p>
        </p:txBody>
      </p:sp>
      <p:sp>
        <p:nvSpPr>
          <p:cNvPr id="31" name="Text 22"/>
          <p:cNvSpPr/>
          <p:nvPr/>
        </p:nvSpPr>
        <p:spPr>
          <a:xfrm>
            <a:off x="8102600" y="2440980"/>
            <a:ext cx="508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PV</a:t>
            </a:r>
            <a:endParaRPr lang="en-US" sz="1200" dirty="0"/>
          </a:p>
        </p:txBody>
      </p:sp>
      <p:sp>
        <p:nvSpPr>
          <p:cNvPr id="32" name="Text 23"/>
          <p:cNvSpPr/>
          <p:nvPr/>
        </p:nvSpPr>
        <p:spPr>
          <a:xfrm>
            <a:off x="8661400" y="2440980"/>
            <a:ext cx="27993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merena procesna veličina</a:t>
            </a:r>
            <a:endParaRPr lang="en-US" sz="1200" dirty="0"/>
          </a:p>
        </p:txBody>
      </p:sp>
      <p:sp>
        <p:nvSpPr>
          <p:cNvPr id="33" name="Text 24"/>
          <p:cNvSpPr/>
          <p:nvPr/>
        </p:nvSpPr>
        <p:spPr>
          <a:xfrm>
            <a:off x="8102600" y="2755900"/>
            <a:ext cx="508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MV</a:t>
            </a:r>
            <a:endParaRPr lang="en-US" sz="1200" dirty="0"/>
          </a:p>
        </p:txBody>
      </p:sp>
      <p:sp>
        <p:nvSpPr>
          <p:cNvPr id="34" name="Text 25"/>
          <p:cNvSpPr/>
          <p:nvPr/>
        </p:nvSpPr>
        <p:spPr>
          <a:xfrm>
            <a:off x="8661400" y="2755900"/>
            <a:ext cx="27993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upravljačka veličina</a:t>
            </a:r>
            <a:endParaRPr lang="en-US" sz="1200" dirty="0"/>
          </a:p>
        </p:txBody>
      </p:sp>
      <p:sp>
        <p:nvSpPr>
          <p:cNvPr id="35" name="Text 26"/>
          <p:cNvSpPr/>
          <p:nvPr/>
        </p:nvSpPr>
        <p:spPr>
          <a:xfrm>
            <a:off x="8102600" y="3070820"/>
            <a:ext cx="508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e</a:t>
            </a:r>
            <a:endParaRPr lang="en-US" sz="1200" dirty="0"/>
          </a:p>
        </p:txBody>
      </p:sp>
      <p:sp>
        <p:nvSpPr>
          <p:cNvPr id="36" name="Text 27"/>
          <p:cNvSpPr/>
          <p:nvPr/>
        </p:nvSpPr>
        <p:spPr>
          <a:xfrm>
            <a:off x="8661400" y="3070820"/>
            <a:ext cx="27993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greška, e = SP − PV</a:t>
            </a:r>
            <a:endParaRPr lang="en-US" sz="1200" dirty="0"/>
          </a:p>
        </p:txBody>
      </p:sp>
      <p:sp>
        <p:nvSpPr>
          <p:cNvPr id="37" name="Text 28"/>
          <p:cNvSpPr/>
          <p:nvPr/>
        </p:nvSpPr>
        <p:spPr>
          <a:xfrm>
            <a:off x="8102600" y="3385741"/>
            <a:ext cx="3276600" cy="629841"/>
          </a:xfrm>
          <a:prstGeom prst="roundRect">
            <a:avLst>
              <a:gd name="adj" fmla="val 12098"/>
            </a:avLst>
          </a:prstGeom>
          <a:solidFill>
            <a:srgbClr val="DCE8F4"/>
          </a:solidFill>
          <a:ln/>
        </p:spPr>
        <p:txBody>
          <a:bodyPr wrap="square" lIns="104682" tIns="79282" rIns="14004" bIns="53882"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SCADA menja SP i režim rada (ručno ili automatski), a petlju zatvara kontroler.</a:t>
            </a:r>
            <a:endParaRPr lang="en-US" sz="1200" dirty="0"/>
          </a:p>
        </p:txBody>
      </p:sp>
      <p:sp>
        <p:nvSpPr>
          <p:cNvPr id="38" name="Shape 29"/>
          <p:cNvSpPr/>
          <p:nvPr/>
        </p:nvSpPr>
        <p:spPr>
          <a:xfrm>
            <a:off x="812800" y="6209705"/>
            <a:ext cx="10566400" cy="0"/>
          </a:xfrm>
          <a:prstGeom prst="line">
            <a:avLst/>
          </a:prstGeom>
          <a:noFill/>
          <a:ln w="6350">
            <a:solidFill>
              <a:srgbClr val="D3DAE1"/>
            </a:solidFill>
            <a:prstDash val="solid"/>
          </a:ln>
        </p:spPr>
      </p:sp>
      <p:sp>
        <p:nvSpPr>
          <p:cNvPr id="39" name="Text 30"/>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40"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PID regulacija</a:t>
            </a:r>
            <a:endParaRPr lang="en-US" sz="3000" dirty="0"/>
          </a:p>
        </p:txBody>
      </p:sp>
      <p:sp>
        <p:nvSpPr>
          <p:cNvPr id="5" name="Shape 3"/>
          <p:cNvSpPr/>
          <p:nvPr/>
        </p:nvSpPr>
        <p:spPr>
          <a:xfrm>
            <a:off x="812800" y="1673820"/>
            <a:ext cx="10566400" cy="1092200"/>
          </a:xfrm>
          <a:prstGeom prst="roundRect">
            <a:avLst>
              <a:gd name="adj" fmla="val 6977"/>
            </a:avLst>
          </a:prstGeom>
          <a:solidFill>
            <a:srgbClr val="FCFCFB"/>
          </a:solidFill>
          <a:ln/>
        </p:spPr>
      </p:sp>
      <p:sp>
        <p:nvSpPr>
          <p:cNvPr id="6" name="Shape 4"/>
          <p:cNvSpPr/>
          <p:nvPr/>
        </p:nvSpPr>
        <p:spPr>
          <a:xfrm>
            <a:off x="812800" y="1673820"/>
            <a:ext cx="10566400" cy="1092200"/>
          </a:xfrm>
          <a:custGeom>
            <a:avLst/>
            <a:gdLst/>
            <a:ahLst/>
            <a:cxnLst/>
            <a:rect l="l" t="t" r="r" b="b"/>
            <a:pathLst>
              <a:path w="10566400" h="1092200">
                <a:moveTo>
                  <a:pt x="76200" y="1092200"/>
                </a:moveTo>
                <a:lnTo>
                  <a:pt x="76200" y="1092200"/>
                </a:lnTo>
                <a:arcTo hR="76200" wR="76200" stAng="5400000" swAng="5400000"/>
                <a:lnTo>
                  <a:pt x="0" y="76200"/>
                </a:lnTo>
                <a:arcTo hR="76200" wR="76200" stAng="10800000" swAng="5400000"/>
                <a:lnTo>
                  <a:pt x="76200" y="0"/>
                </a:lnTo>
                <a:arcTo hR="76200" wR="38100" stAng="16200000" swAng="-5400000"/>
                <a:lnTo>
                  <a:pt x="38100" y="1016000"/>
                </a:lnTo>
                <a:arcTo hR="76200" wR="38100" stAng="10800000" swAng="-5400000"/>
                <a:close/>
              </a:path>
            </a:pathLst>
          </a:custGeom>
          <a:solidFill>
            <a:srgbClr val="0A5CA8"/>
          </a:solidFill>
          <a:ln/>
        </p:spPr>
      </p:sp>
      <p:sp>
        <p:nvSpPr>
          <p:cNvPr id="7" name="Text 5"/>
          <p:cNvSpPr/>
          <p:nvPr/>
        </p:nvSpPr>
        <p:spPr>
          <a:xfrm>
            <a:off x="3569692" y="2037060"/>
            <a:ext cx="563880" cy="391120"/>
          </a:xfrm>
          <a:prstGeom prst="rect">
            <a:avLst/>
          </a:prstGeom>
          <a:noFill/>
          <a:ln/>
        </p:spPr>
        <p:txBody>
          <a:bodyPr wrap="square" lIns="0" tIns="0" rIns="0" bIns="0" rtlCol="0" anchor="t">
            <a:normAutofit/>
          </a:bodyPr>
          <a:lstStyle/>
          <a:p>
            <a:pPr algn="l" indent="0" marL="0">
              <a:lnSpc>
                <a:spcPts val="2880"/>
              </a:lnSpc>
              <a:buNone/>
            </a:pPr>
            <a:r>
              <a:rPr lang="en-US" sz="2400" i="1" dirty="0">
                <a:solidFill>
                  <a:srgbClr val="13202D"/>
                </a:solidFill>
                <a:latin typeface="STIX Two Text" pitchFamily="18" charset="0"/>
                <a:ea typeface="STIX Two Text" pitchFamily="18" charset="-122"/>
                <a:cs typeface="STIX Two Text" pitchFamily="18" charset="-120"/>
              </a:rPr>
              <a:t>u</a:t>
            </a:r>
            <a:r>
              <a:rPr lang="en-US" sz="2400" dirty="0">
                <a:solidFill>
                  <a:srgbClr val="13202D"/>
                </a:solidFill>
                <a:latin typeface="STIX Two Text" pitchFamily="18" charset="0"/>
                <a:ea typeface="STIX Two Text" pitchFamily="18" charset="-122"/>
                <a:cs typeface="STIX Two Text" pitchFamily="18" charset="-120"/>
              </a:rPr>
              <a:t>(</a:t>
            </a:r>
            <a:r>
              <a:rPr lang="en-US" sz="2400" i="1" dirty="0">
                <a:solidFill>
                  <a:srgbClr val="13202D"/>
                </a:solidFill>
                <a:latin typeface="STIX Two Text" pitchFamily="18" charset="0"/>
                <a:ea typeface="STIX Two Text" pitchFamily="18" charset="-122"/>
                <a:cs typeface="STIX Two Text" pitchFamily="18" charset="-120"/>
              </a:rPr>
              <a:t>t</a:t>
            </a:r>
            <a:r>
              <a:rPr lang="en-US" sz="2400" dirty="0">
                <a:solidFill>
                  <a:srgbClr val="13202D"/>
                </a:solidFill>
                <a:latin typeface="STIX Two Text" pitchFamily="18" charset="0"/>
                <a:ea typeface="STIX Two Text" pitchFamily="18" charset="-122"/>
                <a:cs typeface="STIX Two Text" pitchFamily="18" charset="-120"/>
              </a:rPr>
              <a:t>)</a:t>
            </a:r>
            <a:endParaRPr lang="en-US" sz="2400" dirty="0"/>
          </a:p>
        </p:txBody>
      </p:sp>
      <p:sp>
        <p:nvSpPr>
          <p:cNvPr id="8" name="Text 6"/>
          <p:cNvSpPr/>
          <p:nvPr/>
        </p:nvSpPr>
        <p:spPr>
          <a:xfrm>
            <a:off x="4166592" y="2037060"/>
            <a:ext cx="270272"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3202D"/>
                </a:solidFill>
                <a:latin typeface="STIX Two Text" pitchFamily="18" charset="0"/>
                <a:ea typeface="STIX Two Text" pitchFamily="18" charset="-122"/>
                <a:cs typeface="STIX Two Text" pitchFamily="18" charset="-120"/>
              </a:rPr>
              <a:t>=</a:t>
            </a:r>
            <a:endParaRPr lang="en-US" sz="2400" dirty="0"/>
          </a:p>
        </p:txBody>
      </p:sp>
      <p:sp>
        <p:nvSpPr>
          <p:cNvPr id="9" name="Text 7"/>
          <p:cNvSpPr/>
          <p:nvPr/>
        </p:nvSpPr>
        <p:spPr>
          <a:xfrm>
            <a:off x="4513064" y="2037060"/>
            <a:ext cx="250527" cy="391120"/>
          </a:xfrm>
          <a:prstGeom prst="rect">
            <a:avLst/>
          </a:prstGeom>
          <a:noFill/>
          <a:ln/>
        </p:spPr>
        <p:txBody>
          <a:bodyPr wrap="square" lIns="0" tIns="0" rIns="0" bIns="0" rtlCol="0" anchor="t">
            <a:normAutofit/>
          </a:bodyPr>
          <a:lstStyle/>
          <a:p>
            <a:pPr algn="l" indent="0" marL="0">
              <a:lnSpc>
                <a:spcPts val="2880"/>
              </a:lnSpc>
              <a:buNone/>
            </a:pPr>
            <a:r>
              <a:rPr lang="en-US" sz="2400" i="1" dirty="0">
                <a:solidFill>
                  <a:srgbClr val="13202D"/>
                </a:solidFill>
                <a:latin typeface="STIX Two Text" pitchFamily="18" charset="0"/>
                <a:ea typeface="STIX Two Text" pitchFamily="18" charset="-122"/>
                <a:cs typeface="STIX Two Text" pitchFamily="18" charset="-120"/>
              </a:rPr>
              <a:t>K</a:t>
            </a:r>
            <a:endParaRPr lang="en-US" sz="2400" dirty="0"/>
          </a:p>
        </p:txBody>
      </p:sp>
      <p:sp>
        <p:nvSpPr>
          <p:cNvPr id="10" name="Text 8"/>
          <p:cNvSpPr/>
          <p:nvPr/>
        </p:nvSpPr>
        <p:spPr>
          <a:xfrm>
            <a:off x="4725491" y="2219920"/>
            <a:ext cx="153194" cy="215900"/>
          </a:xfrm>
          <a:prstGeom prst="rect">
            <a:avLst/>
          </a:prstGeom>
          <a:noFill/>
          <a:ln/>
        </p:spPr>
        <p:txBody>
          <a:bodyPr wrap="square" lIns="0" tIns="0" rIns="0" bIns="0" rtlCol="0" anchor="t">
            <a:normAutofit/>
          </a:bodyPr>
          <a:lstStyle/>
          <a:p>
            <a:pPr algn="l" indent="0" marL="0">
              <a:lnSpc>
                <a:spcPts val="1500"/>
              </a:lnSpc>
              <a:buNone/>
            </a:pPr>
            <a:r>
              <a:rPr lang="en-US" sz="1500" dirty="0">
                <a:solidFill>
                  <a:srgbClr val="13202D"/>
                </a:solidFill>
                <a:latin typeface="STIX Two Text" pitchFamily="18" charset="0"/>
                <a:ea typeface="STIX Two Text" pitchFamily="18" charset="-122"/>
                <a:cs typeface="STIX Two Text" pitchFamily="18" charset="-120"/>
              </a:rPr>
              <a:t>p</a:t>
            </a:r>
            <a:endParaRPr lang="en-US" sz="1500" dirty="0"/>
          </a:p>
        </p:txBody>
      </p:sp>
      <p:sp>
        <p:nvSpPr>
          <p:cNvPr id="11" name="Text 9"/>
          <p:cNvSpPr/>
          <p:nvPr/>
        </p:nvSpPr>
        <p:spPr>
          <a:xfrm>
            <a:off x="4878685" y="2037060"/>
            <a:ext cx="510778" cy="391120"/>
          </a:xfrm>
          <a:prstGeom prst="rect">
            <a:avLst/>
          </a:prstGeom>
          <a:noFill/>
          <a:ln/>
        </p:spPr>
        <p:txBody>
          <a:bodyPr wrap="square" lIns="0" tIns="0" rIns="0" bIns="0" rtlCol="0" anchor="t">
            <a:normAutofit/>
          </a:bodyPr>
          <a:lstStyle/>
          <a:p>
            <a:pPr algn="l" indent="0" marL="0">
              <a:lnSpc>
                <a:spcPts val="2880"/>
              </a:lnSpc>
              <a:buNone/>
            </a:pPr>
            <a:r>
              <a:rPr lang="en-US" sz="2400" i="1" dirty="0">
                <a:solidFill>
                  <a:srgbClr val="13202D"/>
                </a:solidFill>
                <a:latin typeface="STIX Two Text" pitchFamily="18" charset="0"/>
                <a:ea typeface="STIX Two Text" pitchFamily="18" charset="-122"/>
                <a:cs typeface="STIX Two Text" pitchFamily="18" charset="-120"/>
              </a:rPr>
              <a:t>e</a:t>
            </a:r>
            <a:r>
              <a:rPr lang="en-US" sz="2400" dirty="0">
                <a:solidFill>
                  <a:srgbClr val="13202D"/>
                </a:solidFill>
                <a:latin typeface="STIX Two Text" pitchFamily="18" charset="0"/>
                <a:ea typeface="STIX Two Text" pitchFamily="18" charset="-122"/>
                <a:cs typeface="STIX Two Text" pitchFamily="18" charset="-120"/>
              </a:rPr>
              <a:t>(</a:t>
            </a:r>
            <a:r>
              <a:rPr lang="en-US" sz="2400" i="1" dirty="0">
                <a:solidFill>
                  <a:srgbClr val="13202D"/>
                </a:solidFill>
                <a:latin typeface="STIX Two Text" pitchFamily="18" charset="0"/>
                <a:ea typeface="STIX Two Text" pitchFamily="18" charset="-122"/>
                <a:cs typeface="STIX Two Text" pitchFamily="18" charset="-120"/>
              </a:rPr>
              <a:t>t</a:t>
            </a:r>
            <a:r>
              <a:rPr lang="en-US" sz="2400" dirty="0">
                <a:solidFill>
                  <a:srgbClr val="13202D"/>
                </a:solidFill>
                <a:latin typeface="STIX Two Text" pitchFamily="18" charset="0"/>
                <a:ea typeface="STIX Two Text" pitchFamily="18" charset="-122"/>
                <a:cs typeface="STIX Two Text" pitchFamily="18" charset="-120"/>
              </a:rPr>
              <a:t>)</a:t>
            </a:r>
            <a:endParaRPr lang="en-US" sz="2400" dirty="0"/>
          </a:p>
        </p:txBody>
      </p:sp>
      <p:sp>
        <p:nvSpPr>
          <p:cNvPr id="12" name="Text 10"/>
          <p:cNvSpPr/>
          <p:nvPr/>
        </p:nvSpPr>
        <p:spPr>
          <a:xfrm>
            <a:off x="5431334" y="2037060"/>
            <a:ext cx="270272"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3202D"/>
                </a:solidFill>
                <a:latin typeface="STIX Two Text" pitchFamily="18" charset="0"/>
                <a:ea typeface="STIX Two Text" pitchFamily="18" charset="-122"/>
                <a:cs typeface="STIX Two Text" pitchFamily="18" charset="-120"/>
              </a:rPr>
              <a:t>+</a:t>
            </a:r>
            <a:endParaRPr lang="en-US" sz="2400" dirty="0"/>
          </a:p>
        </p:txBody>
      </p:sp>
      <p:sp>
        <p:nvSpPr>
          <p:cNvPr id="13" name="Text 11"/>
          <p:cNvSpPr/>
          <p:nvPr/>
        </p:nvSpPr>
        <p:spPr>
          <a:xfrm>
            <a:off x="5777805" y="2037060"/>
            <a:ext cx="250527" cy="391120"/>
          </a:xfrm>
          <a:prstGeom prst="rect">
            <a:avLst/>
          </a:prstGeom>
          <a:noFill/>
          <a:ln/>
        </p:spPr>
        <p:txBody>
          <a:bodyPr wrap="square" lIns="0" tIns="0" rIns="0" bIns="0" rtlCol="0" anchor="t">
            <a:normAutofit/>
          </a:bodyPr>
          <a:lstStyle/>
          <a:p>
            <a:pPr algn="l" indent="0" marL="0">
              <a:lnSpc>
                <a:spcPts val="2880"/>
              </a:lnSpc>
              <a:buNone/>
            </a:pPr>
            <a:r>
              <a:rPr lang="en-US" sz="2400" i="1" dirty="0">
                <a:solidFill>
                  <a:srgbClr val="13202D"/>
                </a:solidFill>
                <a:latin typeface="STIX Two Text" pitchFamily="18" charset="0"/>
                <a:ea typeface="STIX Two Text" pitchFamily="18" charset="-122"/>
                <a:cs typeface="STIX Two Text" pitchFamily="18" charset="-120"/>
              </a:rPr>
              <a:t>K</a:t>
            </a:r>
            <a:endParaRPr lang="en-US" sz="2400" dirty="0"/>
          </a:p>
        </p:txBody>
      </p:sp>
      <p:sp>
        <p:nvSpPr>
          <p:cNvPr id="14" name="Text 12"/>
          <p:cNvSpPr/>
          <p:nvPr/>
        </p:nvSpPr>
        <p:spPr>
          <a:xfrm>
            <a:off x="5990233" y="2219920"/>
            <a:ext cx="105172" cy="215900"/>
          </a:xfrm>
          <a:prstGeom prst="rect">
            <a:avLst/>
          </a:prstGeom>
          <a:noFill/>
          <a:ln/>
        </p:spPr>
        <p:txBody>
          <a:bodyPr wrap="square" lIns="0" tIns="0" rIns="0" bIns="0" rtlCol="0" anchor="t">
            <a:normAutofit/>
          </a:bodyPr>
          <a:lstStyle/>
          <a:p>
            <a:pPr algn="l" indent="0" marL="0">
              <a:lnSpc>
                <a:spcPts val="1500"/>
              </a:lnSpc>
              <a:buNone/>
            </a:pPr>
            <a:r>
              <a:rPr lang="en-US" sz="1500" dirty="0">
                <a:solidFill>
                  <a:srgbClr val="13202D"/>
                </a:solidFill>
                <a:latin typeface="STIX Two Text" pitchFamily="18" charset="0"/>
                <a:ea typeface="STIX Two Text" pitchFamily="18" charset="-122"/>
                <a:cs typeface="STIX Two Text" pitchFamily="18" charset="-120"/>
              </a:rPr>
              <a:t>i</a:t>
            </a:r>
            <a:endParaRPr lang="en-US" sz="1500" dirty="0"/>
          </a:p>
        </p:txBody>
      </p:sp>
      <p:sp>
        <p:nvSpPr>
          <p:cNvPr id="15" name="Text 13"/>
          <p:cNvSpPr/>
          <p:nvPr/>
        </p:nvSpPr>
        <p:spPr>
          <a:xfrm>
            <a:off x="6133405" y="1826220"/>
            <a:ext cx="100013" cy="190500"/>
          </a:xfrm>
          <a:prstGeom prst="rect">
            <a:avLst/>
          </a:prstGeom>
          <a:noFill/>
          <a:ln/>
        </p:spPr>
        <p:txBody>
          <a:bodyPr wrap="square" lIns="0" tIns="0" rIns="0" bIns="0" rtlCol="0" anchor="t">
            <a:normAutofit/>
          </a:bodyPr>
          <a:lstStyle/>
          <a:p>
            <a:pPr algn="ctr" indent="0" marL="0">
              <a:lnSpc>
                <a:spcPts val="1300"/>
              </a:lnSpc>
              <a:buNone/>
            </a:pPr>
            <a:r>
              <a:rPr lang="en-US" sz="1300" i="1" dirty="0">
                <a:solidFill>
                  <a:srgbClr val="13202D"/>
                </a:solidFill>
                <a:latin typeface="STIX Two Text" pitchFamily="18" charset="0"/>
                <a:ea typeface="STIX Two Text" pitchFamily="18" charset="-122"/>
                <a:cs typeface="STIX Two Text" pitchFamily="18" charset="-120"/>
              </a:rPr>
              <a:t>t</a:t>
            </a:r>
            <a:endParaRPr lang="en-US" sz="1300" dirty="0"/>
          </a:p>
        </p:txBody>
      </p:sp>
      <p:sp>
        <p:nvSpPr>
          <p:cNvPr id="16" name="Text 14"/>
          <p:cNvSpPr/>
          <p:nvPr/>
        </p:nvSpPr>
        <p:spPr>
          <a:xfrm>
            <a:off x="6120805" y="1991320"/>
            <a:ext cx="176113"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13202D"/>
                </a:solidFill>
                <a:latin typeface="STIX Two Text" pitchFamily="18" charset="0"/>
                <a:ea typeface="STIX Two Text" pitchFamily="18" charset="-122"/>
                <a:cs typeface="STIX Two Text" pitchFamily="18" charset="-120"/>
              </a:rPr>
              <a:t>∫</a:t>
            </a:r>
            <a:endParaRPr lang="en-US" sz="3600" dirty="0"/>
          </a:p>
        </p:txBody>
      </p:sp>
      <p:sp>
        <p:nvSpPr>
          <p:cNvPr id="17" name="Text 15"/>
          <p:cNvSpPr/>
          <p:nvPr/>
        </p:nvSpPr>
        <p:spPr>
          <a:xfrm>
            <a:off x="6117134" y="2448520"/>
            <a:ext cx="132556" cy="190500"/>
          </a:xfrm>
          <a:prstGeom prst="rect">
            <a:avLst/>
          </a:prstGeom>
          <a:noFill/>
          <a:ln/>
        </p:spPr>
        <p:txBody>
          <a:bodyPr wrap="square" lIns="0" tIns="0" rIns="0" bIns="0" rtlCol="0" anchor="t">
            <a:normAutofit/>
          </a:bodyPr>
          <a:lstStyle/>
          <a:p>
            <a:pPr algn="ctr" indent="0" marL="0">
              <a:lnSpc>
                <a:spcPts val="1300"/>
              </a:lnSpc>
              <a:buNone/>
            </a:pPr>
            <a:r>
              <a:rPr lang="en-US" sz="1300" dirty="0">
                <a:solidFill>
                  <a:srgbClr val="13202D"/>
                </a:solidFill>
                <a:latin typeface="STIX Two Text" pitchFamily="18" charset="0"/>
                <a:ea typeface="STIX Two Text" pitchFamily="18" charset="-122"/>
                <a:cs typeface="STIX Two Text" pitchFamily="18" charset="-120"/>
              </a:rPr>
              <a:t>0</a:t>
            </a:r>
            <a:endParaRPr lang="en-US" sz="1300" dirty="0"/>
          </a:p>
        </p:txBody>
      </p:sp>
      <p:sp>
        <p:nvSpPr>
          <p:cNvPr id="18" name="Text 16"/>
          <p:cNvSpPr/>
          <p:nvPr/>
        </p:nvSpPr>
        <p:spPr>
          <a:xfrm>
            <a:off x="6284218" y="2037060"/>
            <a:ext cx="939800" cy="391120"/>
          </a:xfrm>
          <a:prstGeom prst="rect">
            <a:avLst/>
          </a:prstGeom>
          <a:noFill/>
          <a:ln/>
        </p:spPr>
        <p:txBody>
          <a:bodyPr wrap="square" lIns="0" tIns="0" rIns="0" bIns="0" rtlCol="0" anchor="t">
            <a:normAutofit/>
          </a:bodyPr>
          <a:lstStyle/>
          <a:p>
            <a:pPr algn="l" indent="0" marL="0">
              <a:lnSpc>
                <a:spcPts val="2880"/>
              </a:lnSpc>
              <a:buNone/>
            </a:pPr>
            <a:r>
              <a:rPr lang="en-US" sz="2400" i="1" dirty="0">
                <a:solidFill>
                  <a:srgbClr val="13202D"/>
                </a:solidFill>
                <a:latin typeface="STIX Two Text" pitchFamily="18" charset="0"/>
                <a:ea typeface="STIX Two Text" pitchFamily="18" charset="-122"/>
                <a:cs typeface="STIX Two Text" pitchFamily="18" charset="-120"/>
              </a:rPr>
              <a:t>e</a:t>
            </a:r>
            <a:r>
              <a:rPr lang="en-US" sz="2400" dirty="0">
                <a:solidFill>
                  <a:srgbClr val="13202D"/>
                </a:solidFill>
                <a:latin typeface="STIX Two Text" pitchFamily="18" charset="0"/>
                <a:ea typeface="STIX Two Text" pitchFamily="18" charset="-122"/>
                <a:cs typeface="STIX Two Text" pitchFamily="18" charset="-120"/>
              </a:rPr>
              <a:t>(</a:t>
            </a:r>
            <a:r>
              <a:rPr lang="en-US" sz="2400" i="1" dirty="0">
                <a:solidFill>
                  <a:srgbClr val="13202D"/>
                </a:solidFill>
                <a:latin typeface="STIX Two Text" pitchFamily="18" charset="0"/>
                <a:ea typeface="STIX Two Text" pitchFamily="18" charset="-122"/>
                <a:cs typeface="STIX Two Text" pitchFamily="18" charset="-120"/>
              </a:rPr>
              <a:t>τ</a:t>
            </a:r>
            <a:r>
              <a:rPr lang="en-US" sz="2400" dirty="0">
                <a:solidFill>
                  <a:srgbClr val="13202D"/>
                </a:solidFill>
                <a:latin typeface="STIX Two Text" pitchFamily="18" charset="0"/>
                <a:ea typeface="STIX Two Text" pitchFamily="18" charset="-122"/>
                <a:cs typeface="STIX Two Text" pitchFamily="18" charset="-120"/>
              </a:rPr>
              <a:t>) d</a:t>
            </a:r>
            <a:r>
              <a:rPr lang="en-US" sz="2400" i="1" dirty="0">
                <a:solidFill>
                  <a:srgbClr val="13202D"/>
                </a:solidFill>
                <a:latin typeface="STIX Two Text" pitchFamily="18" charset="0"/>
                <a:ea typeface="STIX Two Text" pitchFamily="18" charset="-122"/>
                <a:cs typeface="STIX Two Text" pitchFamily="18" charset="-120"/>
              </a:rPr>
              <a:t>τ</a:t>
            </a:r>
            <a:endParaRPr lang="en-US" sz="2400" dirty="0"/>
          </a:p>
        </p:txBody>
      </p:sp>
      <p:sp>
        <p:nvSpPr>
          <p:cNvPr id="19" name="Text 17"/>
          <p:cNvSpPr/>
          <p:nvPr/>
        </p:nvSpPr>
        <p:spPr>
          <a:xfrm>
            <a:off x="7224018" y="2037060"/>
            <a:ext cx="270272"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3202D"/>
                </a:solidFill>
                <a:latin typeface="STIX Two Text" pitchFamily="18" charset="0"/>
                <a:ea typeface="STIX Two Text" pitchFamily="18" charset="-122"/>
                <a:cs typeface="STIX Two Text" pitchFamily="18" charset="-120"/>
              </a:rPr>
              <a:t>+</a:t>
            </a:r>
            <a:endParaRPr lang="en-US" sz="2400" dirty="0"/>
          </a:p>
        </p:txBody>
      </p:sp>
      <p:sp>
        <p:nvSpPr>
          <p:cNvPr id="20" name="Text 18"/>
          <p:cNvSpPr/>
          <p:nvPr/>
        </p:nvSpPr>
        <p:spPr>
          <a:xfrm>
            <a:off x="7570490" y="2037060"/>
            <a:ext cx="250527" cy="391120"/>
          </a:xfrm>
          <a:prstGeom prst="rect">
            <a:avLst/>
          </a:prstGeom>
          <a:noFill/>
          <a:ln/>
        </p:spPr>
        <p:txBody>
          <a:bodyPr wrap="square" lIns="0" tIns="0" rIns="0" bIns="0" rtlCol="0" anchor="t">
            <a:normAutofit/>
          </a:bodyPr>
          <a:lstStyle/>
          <a:p>
            <a:pPr algn="l" indent="0" marL="0">
              <a:lnSpc>
                <a:spcPts val="2880"/>
              </a:lnSpc>
              <a:buNone/>
            </a:pPr>
            <a:r>
              <a:rPr lang="en-US" sz="2400" i="1" dirty="0">
                <a:solidFill>
                  <a:srgbClr val="13202D"/>
                </a:solidFill>
                <a:latin typeface="STIX Two Text" pitchFamily="18" charset="0"/>
                <a:ea typeface="STIX Two Text" pitchFamily="18" charset="-122"/>
                <a:cs typeface="STIX Two Text" pitchFamily="18" charset="-120"/>
              </a:rPr>
              <a:t>K</a:t>
            </a:r>
            <a:endParaRPr lang="en-US" sz="2400" dirty="0"/>
          </a:p>
        </p:txBody>
      </p:sp>
      <p:sp>
        <p:nvSpPr>
          <p:cNvPr id="21" name="Text 19"/>
          <p:cNvSpPr/>
          <p:nvPr/>
        </p:nvSpPr>
        <p:spPr>
          <a:xfrm>
            <a:off x="7782917" y="2219920"/>
            <a:ext cx="153491" cy="215900"/>
          </a:xfrm>
          <a:prstGeom prst="rect">
            <a:avLst/>
          </a:prstGeom>
          <a:noFill/>
          <a:ln/>
        </p:spPr>
        <p:txBody>
          <a:bodyPr wrap="square" lIns="0" tIns="0" rIns="0" bIns="0" rtlCol="0" anchor="t">
            <a:normAutofit/>
          </a:bodyPr>
          <a:lstStyle/>
          <a:p>
            <a:pPr algn="l" indent="0" marL="0">
              <a:lnSpc>
                <a:spcPts val="1500"/>
              </a:lnSpc>
              <a:buNone/>
            </a:pPr>
            <a:r>
              <a:rPr lang="en-US" sz="1500" dirty="0">
                <a:solidFill>
                  <a:srgbClr val="13202D"/>
                </a:solidFill>
                <a:latin typeface="STIX Two Text" pitchFamily="18" charset="0"/>
                <a:ea typeface="STIX Two Text" pitchFamily="18" charset="-122"/>
                <a:cs typeface="STIX Two Text" pitchFamily="18" charset="-120"/>
              </a:rPr>
              <a:t>d</a:t>
            </a:r>
            <a:endParaRPr lang="en-US" sz="1500" dirty="0"/>
          </a:p>
        </p:txBody>
      </p:sp>
      <p:sp>
        <p:nvSpPr>
          <p:cNvPr id="22" name="Text 20"/>
          <p:cNvSpPr/>
          <p:nvPr/>
        </p:nvSpPr>
        <p:spPr>
          <a:xfrm>
            <a:off x="7986504" y="1876425"/>
            <a:ext cx="649010" cy="346670"/>
          </a:xfrm>
          <a:prstGeom prst="rect">
            <a:avLst/>
          </a:prstGeom>
          <a:noFill/>
          <a:ln/>
        </p:spPr>
        <p:txBody>
          <a:bodyPr wrap="square" lIns="0" tIns="0" rIns="0" bIns="0" rtlCol="0" anchor="t">
            <a:normAutofit/>
          </a:bodyPr>
          <a:lstStyle/>
          <a:p>
            <a:pPr algn="ctr" indent="0" marL="0">
              <a:lnSpc>
                <a:spcPts val="2530"/>
              </a:lnSpc>
              <a:buNone/>
            </a:pPr>
            <a:r>
              <a:rPr lang="en-US" sz="2200" dirty="0">
                <a:solidFill>
                  <a:srgbClr val="13202D"/>
                </a:solidFill>
                <a:latin typeface="STIX Two Text" pitchFamily="18" charset="0"/>
                <a:ea typeface="STIX Two Text" pitchFamily="18" charset="-122"/>
                <a:cs typeface="STIX Two Text" pitchFamily="18" charset="-120"/>
              </a:rPr>
              <a:t>d</a:t>
            </a:r>
            <a:r>
              <a:rPr lang="en-US" sz="2200" i="1" dirty="0">
                <a:solidFill>
                  <a:srgbClr val="13202D"/>
                </a:solidFill>
                <a:latin typeface="STIX Two Text" pitchFamily="18" charset="0"/>
                <a:ea typeface="STIX Two Text" pitchFamily="18" charset="-122"/>
                <a:cs typeface="STIX Two Text" pitchFamily="18" charset="-120"/>
              </a:rPr>
              <a:t>e</a:t>
            </a:r>
            <a:r>
              <a:rPr lang="en-US" sz="2200" dirty="0">
                <a:solidFill>
                  <a:srgbClr val="13202D"/>
                </a:solidFill>
                <a:latin typeface="STIX Two Text" pitchFamily="18" charset="0"/>
                <a:ea typeface="STIX Two Text" pitchFamily="18" charset="-122"/>
                <a:cs typeface="STIX Two Text" pitchFamily="18" charset="-120"/>
              </a:rPr>
              <a:t>(</a:t>
            </a:r>
            <a:r>
              <a:rPr lang="en-US" sz="2200" i="1" dirty="0">
                <a:solidFill>
                  <a:srgbClr val="13202D"/>
                </a:solidFill>
                <a:latin typeface="STIX Two Text" pitchFamily="18" charset="0"/>
                <a:ea typeface="STIX Two Text" pitchFamily="18" charset="-122"/>
                <a:cs typeface="STIX Two Text" pitchFamily="18" charset="-120"/>
              </a:rPr>
              <a:t>t</a:t>
            </a: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23" name="Shape 21"/>
          <p:cNvSpPr/>
          <p:nvPr/>
        </p:nvSpPr>
        <p:spPr>
          <a:xfrm>
            <a:off x="7961809" y="2210395"/>
            <a:ext cx="698500" cy="19050"/>
          </a:xfrm>
          <a:prstGeom prst="rect">
            <a:avLst/>
          </a:prstGeom>
          <a:solidFill>
            <a:srgbClr val="13202D"/>
          </a:solidFill>
          <a:ln/>
        </p:spPr>
      </p:sp>
      <p:sp>
        <p:nvSpPr>
          <p:cNvPr id="24" name="Text 22"/>
          <p:cNvSpPr/>
          <p:nvPr/>
        </p:nvSpPr>
        <p:spPr>
          <a:xfrm>
            <a:off x="8168680" y="2242145"/>
            <a:ext cx="284758" cy="346670"/>
          </a:xfrm>
          <a:prstGeom prst="rect">
            <a:avLst/>
          </a:prstGeom>
          <a:noFill/>
          <a:ln/>
        </p:spPr>
        <p:txBody>
          <a:bodyPr wrap="square" lIns="0" tIns="0" rIns="0" bIns="0" rtlCol="0" anchor="t">
            <a:normAutofit/>
          </a:bodyPr>
          <a:lstStyle/>
          <a:p>
            <a:pPr algn="ctr" indent="0" marL="0">
              <a:lnSpc>
                <a:spcPts val="2530"/>
              </a:lnSpc>
              <a:buNone/>
            </a:pPr>
            <a:r>
              <a:rPr lang="en-US" sz="2200" dirty="0">
                <a:solidFill>
                  <a:srgbClr val="13202D"/>
                </a:solidFill>
                <a:latin typeface="STIX Two Text" pitchFamily="18" charset="0"/>
                <a:ea typeface="STIX Two Text" pitchFamily="18" charset="-122"/>
                <a:cs typeface="STIX Two Text" pitchFamily="18" charset="-120"/>
              </a:rPr>
              <a:t>d</a:t>
            </a:r>
            <a:r>
              <a:rPr lang="en-US" sz="2200" i="1" dirty="0">
                <a:solidFill>
                  <a:srgbClr val="13202D"/>
                </a:solidFill>
                <a:latin typeface="STIX Two Text" pitchFamily="18" charset="0"/>
                <a:ea typeface="STIX Two Text" pitchFamily="18" charset="-122"/>
                <a:cs typeface="STIX Two Text" pitchFamily="18" charset="-120"/>
              </a:rPr>
              <a:t>t</a:t>
            </a:r>
            <a:endParaRPr lang="en-US" sz="2200" dirty="0"/>
          </a:p>
        </p:txBody>
      </p:sp>
      <p:sp>
        <p:nvSpPr>
          <p:cNvPr id="25" name="Shape 23"/>
          <p:cNvSpPr/>
          <p:nvPr/>
        </p:nvSpPr>
        <p:spPr>
          <a:xfrm>
            <a:off x="815975" y="3023195"/>
            <a:ext cx="3414117" cy="1573411"/>
          </a:xfrm>
          <a:prstGeom prst="roundRect">
            <a:avLst>
              <a:gd name="adj" fmla="val 6256"/>
            </a:avLst>
          </a:prstGeom>
          <a:solidFill>
            <a:srgbClr val="FCFCFB"/>
          </a:solidFill>
          <a:ln w="6350">
            <a:solidFill>
              <a:srgbClr val="D3DAE1"/>
            </a:solidFill>
            <a:prstDash val="solid"/>
          </a:ln>
        </p:spPr>
      </p:sp>
      <p:sp>
        <p:nvSpPr>
          <p:cNvPr id="26" name="Text 24"/>
          <p:cNvSpPr/>
          <p:nvPr/>
        </p:nvSpPr>
        <p:spPr>
          <a:xfrm>
            <a:off x="1022350" y="3204170"/>
            <a:ext cx="3091408"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P</a:t>
            </a:r>
            <a:endParaRPr lang="en-US" sz="3000" dirty="0"/>
          </a:p>
        </p:txBody>
      </p:sp>
      <p:sp>
        <p:nvSpPr>
          <p:cNvPr id="27" name="Text 25"/>
          <p:cNvSpPr/>
          <p:nvPr/>
        </p:nvSpPr>
        <p:spPr>
          <a:xfrm>
            <a:off x="1022350" y="3699470"/>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Proporcionalni član</a:t>
            </a:r>
            <a:endParaRPr lang="en-US" sz="1400" dirty="0"/>
          </a:p>
        </p:txBody>
      </p:sp>
      <p:sp>
        <p:nvSpPr>
          <p:cNvPr id="28" name="Text 26"/>
          <p:cNvSpPr/>
          <p:nvPr/>
        </p:nvSpPr>
        <p:spPr>
          <a:xfrm>
            <a:off x="1022350" y="3988991"/>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Deluje srazmerno trenutnoj grešci. Daje brz odziv, ali sam ostavlja stacionarnu grešku.</a:t>
            </a:r>
            <a:endParaRPr lang="en-US" sz="1200" dirty="0"/>
          </a:p>
        </p:txBody>
      </p:sp>
      <p:sp>
        <p:nvSpPr>
          <p:cNvPr id="29" name="Shape 27"/>
          <p:cNvSpPr/>
          <p:nvPr/>
        </p:nvSpPr>
        <p:spPr>
          <a:xfrm>
            <a:off x="4388842" y="3023195"/>
            <a:ext cx="3414216" cy="1573411"/>
          </a:xfrm>
          <a:prstGeom prst="roundRect">
            <a:avLst>
              <a:gd name="adj" fmla="val 6256"/>
            </a:avLst>
          </a:prstGeom>
          <a:solidFill>
            <a:srgbClr val="FCFCFB"/>
          </a:solidFill>
          <a:ln w="6350">
            <a:solidFill>
              <a:srgbClr val="D3DAE1"/>
            </a:solidFill>
            <a:prstDash val="solid"/>
          </a:ln>
        </p:spPr>
      </p:sp>
      <p:sp>
        <p:nvSpPr>
          <p:cNvPr id="30" name="Text 28"/>
          <p:cNvSpPr/>
          <p:nvPr/>
        </p:nvSpPr>
        <p:spPr>
          <a:xfrm>
            <a:off x="4595217" y="3204170"/>
            <a:ext cx="309151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I</a:t>
            </a:r>
            <a:endParaRPr lang="en-US" sz="3000" dirty="0"/>
          </a:p>
        </p:txBody>
      </p:sp>
      <p:sp>
        <p:nvSpPr>
          <p:cNvPr id="31" name="Text 29"/>
          <p:cNvSpPr/>
          <p:nvPr/>
        </p:nvSpPr>
        <p:spPr>
          <a:xfrm>
            <a:off x="4595217" y="3699470"/>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Integralni član</a:t>
            </a:r>
            <a:endParaRPr lang="en-US" sz="1400" dirty="0"/>
          </a:p>
        </p:txBody>
      </p:sp>
      <p:sp>
        <p:nvSpPr>
          <p:cNvPr id="32" name="Text 30"/>
          <p:cNvSpPr/>
          <p:nvPr/>
        </p:nvSpPr>
        <p:spPr>
          <a:xfrm>
            <a:off x="4595217" y="398899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Akumulira grešku kroz vreme i uklanja stacionarnu grešku, uz rizik od preskoka.</a:t>
            </a:r>
            <a:endParaRPr lang="en-US" sz="1200" dirty="0"/>
          </a:p>
        </p:txBody>
      </p:sp>
      <p:sp>
        <p:nvSpPr>
          <p:cNvPr id="33" name="Shape 31"/>
          <p:cNvSpPr/>
          <p:nvPr/>
        </p:nvSpPr>
        <p:spPr>
          <a:xfrm>
            <a:off x="7961809" y="3023195"/>
            <a:ext cx="3414216" cy="1573411"/>
          </a:xfrm>
          <a:prstGeom prst="roundRect">
            <a:avLst>
              <a:gd name="adj" fmla="val 6256"/>
            </a:avLst>
          </a:prstGeom>
          <a:solidFill>
            <a:srgbClr val="FCFCFB"/>
          </a:solidFill>
          <a:ln w="6350">
            <a:solidFill>
              <a:srgbClr val="D3DAE1"/>
            </a:solidFill>
            <a:prstDash val="solid"/>
          </a:ln>
        </p:spPr>
      </p:sp>
      <p:sp>
        <p:nvSpPr>
          <p:cNvPr id="34" name="Text 32"/>
          <p:cNvSpPr/>
          <p:nvPr/>
        </p:nvSpPr>
        <p:spPr>
          <a:xfrm>
            <a:off x="8168184" y="3204170"/>
            <a:ext cx="309151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D</a:t>
            </a:r>
            <a:endParaRPr lang="en-US" sz="3000" dirty="0"/>
          </a:p>
        </p:txBody>
      </p:sp>
      <p:sp>
        <p:nvSpPr>
          <p:cNvPr id="35" name="Text 33"/>
          <p:cNvSpPr/>
          <p:nvPr/>
        </p:nvSpPr>
        <p:spPr>
          <a:xfrm>
            <a:off x="8168184" y="3699470"/>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Diferencijalni član</a:t>
            </a:r>
            <a:endParaRPr lang="en-US" sz="1400" dirty="0"/>
          </a:p>
        </p:txBody>
      </p:sp>
      <p:sp>
        <p:nvSpPr>
          <p:cNvPr id="36" name="Text 34"/>
          <p:cNvSpPr/>
          <p:nvPr/>
        </p:nvSpPr>
        <p:spPr>
          <a:xfrm>
            <a:off x="8168184" y="398899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Reaguje na brzinu promene greške i prigušuje oscilacije, ali je osetljiv na šum.</a:t>
            </a:r>
            <a:endParaRPr lang="en-US" sz="1200" dirty="0"/>
          </a:p>
        </p:txBody>
      </p:sp>
      <p:sp>
        <p:nvSpPr>
          <p:cNvPr id="37" name="Shape 35"/>
          <p:cNvSpPr/>
          <p:nvPr/>
        </p:nvSpPr>
        <p:spPr>
          <a:xfrm>
            <a:off x="812800" y="4853781"/>
            <a:ext cx="10566400" cy="508000"/>
          </a:xfrm>
          <a:prstGeom prst="roundRect">
            <a:avLst>
              <a:gd name="adj" fmla="val 15000"/>
            </a:avLst>
          </a:prstGeom>
          <a:solidFill>
            <a:srgbClr val="FBF1E6"/>
          </a:solidFill>
          <a:ln/>
        </p:spPr>
      </p:sp>
      <p:pic>
        <p:nvPicPr>
          <p:cNvPr id="38" name="Image 0" descr="Lock">    </p:cNvPr>
          <p:cNvPicPr>
            <a:picLocks noChangeAspect="1"/>
          </p:cNvPicPr>
          <p:nvPr/>
        </p:nvPicPr>
        <p:blipFill>
          <a:blip r:embed="rId1"/>
          <a:srcRect l="0" r="0" t="0" b="0"/>
          <a:stretch/>
        </p:blipFill>
        <p:spPr>
          <a:xfrm>
            <a:off x="990600" y="4980781"/>
            <a:ext cx="254000" cy="254000"/>
          </a:xfrm>
          <a:prstGeom prst="rect">
            <a:avLst/>
          </a:prstGeom>
        </p:spPr>
      </p:pic>
      <p:sp>
        <p:nvSpPr>
          <p:cNvPr id="39" name="Text 36"/>
          <p:cNvSpPr/>
          <p:nvPr/>
        </p:nvSpPr>
        <p:spPr>
          <a:xfrm>
            <a:off x="1371600" y="5001121"/>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Parametri Kp, Ki i Kd su bezbednosno osetljivi: njihovu izmenu sme da izvrši samo ovlašćeni inženjer, uz audit zapis.</a:t>
            </a:r>
            <a:endParaRPr lang="en-US" sz="1200" dirty="0"/>
          </a:p>
        </p:txBody>
      </p:sp>
      <p:sp>
        <p:nvSpPr>
          <p:cNvPr id="40" name="Shape 37"/>
          <p:cNvSpPr/>
          <p:nvPr/>
        </p:nvSpPr>
        <p:spPr>
          <a:xfrm>
            <a:off x="812800" y="6209705"/>
            <a:ext cx="10566400" cy="0"/>
          </a:xfrm>
          <a:prstGeom prst="line">
            <a:avLst/>
          </a:prstGeom>
          <a:noFill/>
          <a:ln w="6350">
            <a:solidFill>
              <a:srgbClr val="D3DAE1"/>
            </a:solidFill>
            <a:prstDash val="solid"/>
          </a:ln>
        </p:spPr>
      </p:sp>
      <p:sp>
        <p:nvSpPr>
          <p:cNvPr id="41" name="Text 3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42" name="Text 3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Primer modela procesa: rezervoar</a:t>
            </a:r>
            <a:endParaRPr lang="en-US" sz="3000" dirty="0"/>
          </a:p>
        </p:txBody>
      </p:sp>
      <p:sp>
        <p:nvSpPr>
          <p:cNvPr id="5" name="Text 3"/>
          <p:cNvSpPr/>
          <p:nvPr/>
        </p:nvSpPr>
        <p:spPr>
          <a:xfrm>
            <a:off x="812800" y="1673820"/>
            <a:ext cx="46829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Bilans zapremine prema zakonu održanja mase, diskretizovan eksplicitnom Ojlerovom metodom:</a:t>
            </a:r>
            <a:endParaRPr lang="en-US" sz="1200" dirty="0"/>
          </a:p>
        </p:txBody>
      </p:sp>
      <p:sp>
        <p:nvSpPr>
          <p:cNvPr id="6" name="Shape 4"/>
          <p:cNvSpPr/>
          <p:nvPr/>
        </p:nvSpPr>
        <p:spPr>
          <a:xfrm>
            <a:off x="812800" y="2227461"/>
            <a:ext cx="4546600" cy="1814711"/>
          </a:xfrm>
          <a:prstGeom prst="roundRect">
            <a:avLst>
              <a:gd name="adj" fmla="val 4199"/>
            </a:avLst>
          </a:prstGeom>
          <a:solidFill>
            <a:srgbClr val="FCFCFB"/>
          </a:solidFill>
          <a:ln/>
        </p:spPr>
      </p:sp>
      <p:sp>
        <p:nvSpPr>
          <p:cNvPr id="7" name="Shape 5"/>
          <p:cNvSpPr/>
          <p:nvPr/>
        </p:nvSpPr>
        <p:spPr>
          <a:xfrm>
            <a:off x="812800" y="2227461"/>
            <a:ext cx="4546600" cy="1814711"/>
          </a:xfrm>
          <a:custGeom>
            <a:avLst/>
            <a:gdLst/>
            <a:ahLst/>
            <a:cxnLst/>
            <a:rect l="l" t="t" r="r" b="b"/>
            <a:pathLst>
              <a:path w="4546600" h="1814711">
                <a:moveTo>
                  <a:pt x="76200" y="1814711"/>
                </a:moveTo>
                <a:lnTo>
                  <a:pt x="76200" y="1814711"/>
                </a:lnTo>
                <a:arcTo hR="76200" wR="76200" stAng="5400000" swAng="5400000"/>
                <a:lnTo>
                  <a:pt x="0" y="76200"/>
                </a:lnTo>
                <a:arcTo hR="76200" wR="76200" stAng="10800000" swAng="5400000"/>
                <a:lnTo>
                  <a:pt x="76200" y="0"/>
                </a:lnTo>
                <a:arcTo hR="76200" wR="38100" stAng="16200000" swAng="-5400000"/>
                <a:lnTo>
                  <a:pt x="38100" y="1738511"/>
                </a:lnTo>
                <a:arcTo hR="76200" wR="38100" stAng="10800000" swAng="-5400000"/>
                <a:close/>
              </a:path>
            </a:pathLst>
          </a:custGeom>
          <a:solidFill>
            <a:srgbClr val="0A5CA8"/>
          </a:solidFill>
          <a:ln/>
        </p:spPr>
      </p:sp>
      <p:sp>
        <p:nvSpPr>
          <p:cNvPr id="8" name="Text 6"/>
          <p:cNvSpPr/>
          <p:nvPr/>
        </p:nvSpPr>
        <p:spPr>
          <a:xfrm>
            <a:off x="1059547" y="2379861"/>
            <a:ext cx="395407" cy="346670"/>
          </a:xfrm>
          <a:prstGeom prst="rect">
            <a:avLst/>
          </a:prstGeom>
          <a:noFill/>
          <a:ln/>
        </p:spPr>
        <p:txBody>
          <a:bodyPr wrap="square" lIns="0" tIns="0" rIns="0" bIns="0" rtlCol="0" anchor="t">
            <a:normAutofit/>
          </a:bodyPr>
          <a:lstStyle/>
          <a:p>
            <a:pPr algn="ctr" indent="0" marL="0">
              <a:lnSpc>
                <a:spcPts val="2530"/>
              </a:lnSpc>
              <a:buNone/>
            </a:pPr>
            <a:r>
              <a:rPr lang="en-US" sz="2200" dirty="0">
                <a:solidFill>
                  <a:srgbClr val="13202D"/>
                </a:solidFill>
                <a:latin typeface="STIX Two Text" pitchFamily="18" charset="0"/>
                <a:ea typeface="STIX Two Text" pitchFamily="18" charset="-122"/>
                <a:cs typeface="STIX Two Text" pitchFamily="18" charset="-120"/>
              </a:rPr>
              <a:t>d</a:t>
            </a:r>
            <a:r>
              <a:rPr lang="en-US" sz="2200" i="1" dirty="0">
                <a:solidFill>
                  <a:srgbClr val="13202D"/>
                </a:solidFill>
                <a:latin typeface="STIX Two Text" pitchFamily="18" charset="0"/>
                <a:ea typeface="STIX Two Text" pitchFamily="18" charset="-122"/>
                <a:cs typeface="STIX Two Text" pitchFamily="18" charset="-120"/>
              </a:rPr>
              <a:t>V</a:t>
            </a:r>
            <a:endParaRPr lang="en-US" sz="2200" dirty="0"/>
          </a:p>
        </p:txBody>
      </p:sp>
      <p:sp>
        <p:nvSpPr>
          <p:cNvPr id="9" name="Shape 7"/>
          <p:cNvSpPr/>
          <p:nvPr/>
        </p:nvSpPr>
        <p:spPr>
          <a:xfrm>
            <a:off x="1054100" y="2713831"/>
            <a:ext cx="406400" cy="19050"/>
          </a:xfrm>
          <a:prstGeom prst="rect">
            <a:avLst/>
          </a:prstGeom>
          <a:solidFill>
            <a:srgbClr val="13202D"/>
          </a:solidFill>
          <a:ln/>
        </p:spPr>
      </p:sp>
      <p:sp>
        <p:nvSpPr>
          <p:cNvPr id="10" name="Text 8"/>
          <p:cNvSpPr/>
          <p:nvPr/>
        </p:nvSpPr>
        <p:spPr>
          <a:xfrm>
            <a:off x="1114921" y="2745581"/>
            <a:ext cx="284758" cy="346670"/>
          </a:xfrm>
          <a:prstGeom prst="rect">
            <a:avLst/>
          </a:prstGeom>
          <a:noFill/>
          <a:ln/>
        </p:spPr>
        <p:txBody>
          <a:bodyPr wrap="square" lIns="0" tIns="0" rIns="0" bIns="0" rtlCol="0" anchor="t">
            <a:normAutofit/>
          </a:bodyPr>
          <a:lstStyle/>
          <a:p>
            <a:pPr algn="ctr" indent="0" marL="0">
              <a:lnSpc>
                <a:spcPts val="2530"/>
              </a:lnSpc>
              <a:buNone/>
            </a:pPr>
            <a:r>
              <a:rPr lang="en-US" sz="2200" dirty="0">
                <a:solidFill>
                  <a:srgbClr val="13202D"/>
                </a:solidFill>
                <a:latin typeface="STIX Two Text" pitchFamily="18" charset="0"/>
                <a:ea typeface="STIX Two Text" pitchFamily="18" charset="-122"/>
                <a:cs typeface="STIX Two Text" pitchFamily="18" charset="-120"/>
              </a:rPr>
              <a:t>d</a:t>
            </a:r>
            <a:r>
              <a:rPr lang="en-US" sz="2200" i="1" dirty="0">
                <a:solidFill>
                  <a:srgbClr val="13202D"/>
                </a:solidFill>
                <a:latin typeface="STIX Two Text" pitchFamily="18" charset="0"/>
                <a:ea typeface="STIX Two Text" pitchFamily="18" charset="-122"/>
                <a:cs typeface="STIX Two Text" pitchFamily="18" charset="-120"/>
              </a:rPr>
              <a:t>t</a:t>
            </a:r>
            <a:endParaRPr lang="en-US" sz="2200" dirty="0"/>
          </a:p>
        </p:txBody>
      </p:sp>
      <p:sp>
        <p:nvSpPr>
          <p:cNvPr id="11" name="Text 9"/>
          <p:cNvSpPr/>
          <p:nvPr/>
        </p:nvSpPr>
        <p:spPr>
          <a:xfrm>
            <a:off x="1574800" y="2555677"/>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12" name="Text 10"/>
          <p:cNvSpPr/>
          <p:nvPr/>
        </p:nvSpPr>
        <p:spPr>
          <a:xfrm>
            <a:off x="1890316" y="2555677"/>
            <a:ext cx="248345"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Q</a:t>
            </a:r>
            <a:endParaRPr lang="en-US" sz="2200" dirty="0"/>
          </a:p>
        </p:txBody>
      </p:sp>
      <p:sp>
        <p:nvSpPr>
          <p:cNvPr id="13" name="Text 11"/>
          <p:cNvSpPr/>
          <p:nvPr/>
        </p:nvSpPr>
        <p:spPr>
          <a:xfrm>
            <a:off x="2100560" y="2723356"/>
            <a:ext cx="203895" cy="203200"/>
          </a:xfrm>
          <a:prstGeom prst="rect">
            <a:avLst/>
          </a:prstGeom>
          <a:noFill/>
          <a:ln/>
        </p:spPr>
        <p:txBody>
          <a:bodyPr wrap="square" lIns="0" tIns="0" rIns="0" bIns="0" rtlCol="0" anchor="t">
            <a:normAutofit/>
          </a:bodyPr>
          <a:lstStyle/>
          <a:p>
            <a:pPr algn="l" indent="0" marL="0">
              <a:lnSpc>
                <a:spcPts val="1400"/>
              </a:lnSpc>
              <a:buNone/>
            </a:pPr>
            <a:r>
              <a:rPr lang="en-US" sz="1400" dirty="0">
                <a:solidFill>
                  <a:srgbClr val="13202D"/>
                </a:solidFill>
                <a:latin typeface="STIX Two Text" pitchFamily="18" charset="0"/>
                <a:ea typeface="STIX Two Text" pitchFamily="18" charset="-122"/>
                <a:cs typeface="STIX Two Text" pitchFamily="18" charset="-120"/>
              </a:rPr>
              <a:t>in</a:t>
            </a:r>
            <a:endParaRPr lang="en-US" sz="1400" dirty="0"/>
          </a:p>
        </p:txBody>
      </p:sp>
      <p:sp>
        <p:nvSpPr>
          <p:cNvPr id="14" name="Text 12"/>
          <p:cNvSpPr/>
          <p:nvPr/>
        </p:nvSpPr>
        <p:spPr>
          <a:xfrm>
            <a:off x="2367955" y="2555677"/>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15" name="Text 13"/>
          <p:cNvSpPr/>
          <p:nvPr/>
        </p:nvSpPr>
        <p:spPr>
          <a:xfrm>
            <a:off x="2683470" y="2555677"/>
            <a:ext cx="248345"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Q</a:t>
            </a:r>
            <a:endParaRPr lang="en-US" sz="2200" dirty="0"/>
          </a:p>
        </p:txBody>
      </p:sp>
      <p:sp>
        <p:nvSpPr>
          <p:cNvPr id="16" name="Text 14"/>
          <p:cNvSpPr/>
          <p:nvPr/>
        </p:nvSpPr>
        <p:spPr>
          <a:xfrm>
            <a:off x="2893715" y="2723356"/>
            <a:ext cx="299641" cy="203200"/>
          </a:xfrm>
          <a:prstGeom prst="rect">
            <a:avLst/>
          </a:prstGeom>
          <a:noFill/>
          <a:ln/>
        </p:spPr>
        <p:txBody>
          <a:bodyPr wrap="square" lIns="0" tIns="0" rIns="0" bIns="0" rtlCol="0" anchor="t">
            <a:normAutofit/>
          </a:bodyPr>
          <a:lstStyle/>
          <a:p>
            <a:pPr algn="l" indent="0" marL="0">
              <a:lnSpc>
                <a:spcPts val="1400"/>
              </a:lnSpc>
              <a:buNone/>
            </a:pPr>
            <a:r>
              <a:rPr lang="en-US" sz="1400" dirty="0">
                <a:solidFill>
                  <a:srgbClr val="13202D"/>
                </a:solidFill>
                <a:latin typeface="STIX Two Text" pitchFamily="18" charset="0"/>
                <a:ea typeface="STIX Two Text" pitchFamily="18" charset="-122"/>
                <a:cs typeface="STIX Two Text" pitchFamily="18" charset="-120"/>
              </a:rPr>
              <a:t>out</a:t>
            </a:r>
            <a:endParaRPr lang="en-US" sz="1400" dirty="0"/>
          </a:p>
        </p:txBody>
      </p:sp>
      <p:sp>
        <p:nvSpPr>
          <p:cNvPr id="17" name="Text 15"/>
          <p:cNvSpPr/>
          <p:nvPr/>
        </p:nvSpPr>
        <p:spPr>
          <a:xfrm>
            <a:off x="1054100" y="3181152"/>
            <a:ext cx="229691"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V</a:t>
            </a:r>
            <a:endParaRPr lang="en-US" sz="2200" dirty="0"/>
          </a:p>
        </p:txBody>
      </p:sp>
      <p:sp>
        <p:nvSpPr>
          <p:cNvPr id="18" name="Text 16"/>
          <p:cNvSpPr/>
          <p:nvPr/>
        </p:nvSpPr>
        <p:spPr>
          <a:xfrm>
            <a:off x="1245691" y="3348732"/>
            <a:ext cx="365879"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k</a:t>
            </a:r>
            <a:r>
              <a:rPr lang="en-US" sz="1400" dirty="0">
                <a:solidFill>
                  <a:srgbClr val="13202D"/>
                </a:solidFill>
                <a:latin typeface="STIX Two Text" pitchFamily="18" charset="0"/>
                <a:ea typeface="STIX Two Text" pitchFamily="18" charset="-122"/>
                <a:cs typeface="STIX Two Text" pitchFamily="18" charset="-120"/>
              </a:rPr>
              <a:t>+1</a:t>
            </a:r>
            <a:endParaRPr lang="en-US" sz="1400" dirty="0"/>
          </a:p>
        </p:txBody>
      </p:sp>
      <p:sp>
        <p:nvSpPr>
          <p:cNvPr id="19" name="Text 17"/>
          <p:cNvSpPr/>
          <p:nvPr/>
        </p:nvSpPr>
        <p:spPr>
          <a:xfrm>
            <a:off x="1664891" y="3181152"/>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20" name="Text 18"/>
          <p:cNvSpPr/>
          <p:nvPr/>
        </p:nvSpPr>
        <p:spPr>
          <a:xfrm>
            <a:off x="1980406" y="3181152"/>
            <a:ext cx="229691"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V</a:t>
            </a:r>
            <a:endParaRPr lang="en-US" sz="2200" dirty="0"/>
          </a:p>
        </p:txBody>
      </p:sp>
      <p:sp>
        <p:nvSpPr>
          <p:cNvPr id="21" name="Text 19"/>
          <p:cNvSpPr/>
          <p:nvPr/>
        </p:nvSpPr>
        <p:spPr>
          <a:xfrm>
            <a:off x="2171998" y="3348732"/>
            <a:ext cx="139601" cy="203200"/>
          </a:xfrm>
          <a:prstGeom prst="rect">
            <a:avLst/>
          </a:prstGeom>
          <a:noFill/>
          <a:ln/>
        </p:spPr>
        <p:txBody>
          <a:bodyPr wrap="square" lIns="0" tIns="0" rIns="0" bIns="0" rtlCol="0" anchor="t">
            <a:normAutofit/>
          </a:bodyPr>
          <a:lstStyle/>
          <a:p>
            <a:pPr algn="l" indent="0" marL="0">
              <a:lnSpc>
                <a:spcPts val="1400"/>
              </a:lnSpc>
              <a:buNone/>
            </a:pPr>
            <a:r>
              <a:rPr lang="en-US" sz="1400" i="1" dirty="0">
                <a:solidFill>
                  <a:srgbClr val="13202D"/>
                </a:solidFill>
                <a:latin typeface="STIX Two Text" pitchFamily="18" charset="0"/>
                <a:ea typeface="STIX Two Text" pitchFamily="18" charset="-122"/>
                <a:cs typeface="STIX Two Text" pitchFamily="18" charset="-120"/>
              </a:rPr>
              <a:t>k</a:t>
            </a:r>
            <a:endParaRPr lang="en-US" sz="1400" dirty="0"/>
          </a:p>
        </p:txBody>
      </p:sp>
      <p:sp>
        <p:nvSpPr>
          <p:cNvPr id="22" name="Text 20"/>
          <p:cNvSpPr/>
          <p:nvPr/>
        </p:nvSpPr>
        <p:spPr>
          <a:xfrm>
            <a:off x="2375098" y="3181152"/>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23" name="Text 21"/>
          <p:cNvSpPr/>
          <p:nvPr/>
        </p:nvSpPr>
        <p:spPr>
          <a:xfrm>
            <a:off x="2690614" y="3181152"/>
            <a:ext cx="344190"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r>
              <a:rPr lang="en-US" sz="2200" i="1" dirty="0">
                <a:solidFill>
                  <a:srgbClr val="13202D"/>
                </a:solidFill>
                <a:latin typeface="STIX Two Text" pitchFamily="18" charset="0"/>
                <a:ea typeface="STIX Two Text" pitchFamily="18" charset="-122"/>
                <a:cs typeface="STIX Two Text" pitchFamily="18" charset="-120"/>
              </a:rPr>
              <a:t>Q</a:t>
            </a:r>
            <a:endParaRPr lang="en-US" sz="2200" dirty="0"/>
          </a:p>
        </p:txBody>
      </p:sp>
      <p:sp>
        <p:nvSpPr>
          <p:cNvPr id="24" name="Text 22"/>
          <p:cNvSpPr/>
          <p:nvPr/>
        </p:nvSpPr>
        <p:spPr>
          <a:xfrm>
            <a:off x="2996704" y="3348732"/>
            <a:ext cx="203895" cy="203200"/>
          </a:xfrm>
          <a:prstGeom prst="rect">
            <a:avLst/>
          </a:prstGeom>
          <a:noFill/>
          <a:ln/>
        </p:spPr>
        <p:txBody>
          <a:bodyPr wrap="square" lIns="0" tIns="0" rIns="0" bIns="0" rtlCol="0" anchor="t">
            <a:normAutofit/>
          </a:bodyPr>
          <a:lstStyle/>
          <a:p>
            <a:pPr algn="l" indent="0" marL="0">
              <a:lnSpc>
                <a:spcPts val="1400"/>
              </a:lnSpc>
              <a:buNone/>
            </a:pPr>
            <a:r>
              <a:rPr lang="en-US" sz="1400" dirty="0">
                <a:solidFill>
                  <a:srgbClr val="13202D"/>
                </a:solidFill>
                <a:latin typeface="STIX Two Text" pitchFamily="18" charset="0"/>
                <a:ea typeface="STIX Two Text" pitchFamily="18" charset="-122"/>
                <a:cs typeface="STIX Two Text" pitchFamily="18" charset="-120"/>
              </a:rPr>
              <a:t>in</a:t>
            </a:r>
            <a:endParaRPr lang="en-US" sz="1400" dirty="0"/>
          </a:p>
        </p:txBody>
      </p:sp>
      <p:sp>
        <p:nvSpPr>
          <p:cNvPr id="25" name="Text 23"/>
          <p:cNvSpPr/>
          <p:nvPr/>
        </p:nvSpPr>
        <p:spPr>
          <a:xfrm>
            <a:off x="3264098" y="3181152"/>
            <a:ext cx="25201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a:t>
            </a:r>
            <a:endParaRPr lang="en-US" sz="2200" dirty="0"/>
          </a:p>
        </p:txBody>
      </p:sp>
      <p:sp>
        <p:nvSpPr>
          <p:cNvPr id="26" name="Text 24"/>
          <p:cNvSpPr/>
          <p:nvPr/>
        </p:nvSpPr>
        <p:spPr>
          <a:xfrm>
            <a:off x="3579614" y="3181152"/>
            <a:ext cx="248345" cy="360660"/>
          </a:xfrm>
          <a:prstGeom prst="rect">
            <a:avLst/>
          </a:prstGeom>
          <a:noFill/>
          <a:ln/>
        </p:spPr>
        <p:txBody>
          <a:bodyPr wrap="square" lIns="0" tIns="0" rIns="0" bIns="0" rtlCol="0" anchor="t">
            <a:normAutofit/>
          </a:bodyPr>
          <a:lstStyle/>
          <a:p>
            <a:pPr algn="l" indent="0" marL="0">
              <a:lnSpc>
                <a:spcPts val="2640"/>
              </a:lnSpc>
              <a:buNone/>
            </a:pPr>
            <a:r>
              <a:rPr lang="en-US" sz="2200" i="1" dirty="0">
                <a:solidFill>
                  <a:srgbClr val="13202D"/>
                </a:solidFill>
                <a:latin typeface="STIX Two Text" pitchFamily="18" charset="0"/>
                <a:ea typeface="STIX Two Text" pitchFamily="18" charset="-122"/>
                <a:cs typeface="STIX Two Text" pitchFamily="18" charset="-120"/>
              </a:rPr>
              <a:t>Q</a:t>
            </a:r>
            <a:endParaRPr lang="en-US" sz="2200" dirty="0"/>
          </a:p>
        </p:txBody>
      </p:sp>
      <p:sp>
        <p:nvSpPr>
          <p:cNvPr id="27" name="Text 25"/>
          <p:cNvSpPr/>
          <p:nvPr/>
        </p:nvSpPr>
        <p:spPr>
          <a:xfrm>
            <a:off x="3789859" y="3348732"/>
            <a:ext cx="299641" cy="203200"/>
          </a:xfrm>
          <a:prstGeom prst="rect">
            <a:avLst/>
          </a:prstGeom>
          <a:noFill/>
          <a:ln/>
        </p:spPr>
        <p:txBody>
          <a:bodyPr wrap="square" lIns="0" tIns="0" rIns="0" bIns="0" rtlCol="0" anchor="t">
            <a:normAutofit/>
          </a:bodyPr>
          <a:lstStyle/>
          <a:p>
            <a:pPr algn="l" indent="0" marL="0">
              <a:lnSpc>
                <a:spcPts val="1400"/>
              </a:lnSpc>
              <a:buNone/>
            </a:pPr>
            <a:r>
              <a:rPr lang="en-US" sz="1400" dirty="0">
                <a:solidFill>
                  <a:srgbClr val="13202D"/>
                </a:solidFill>
                <a:latin typeface="STIX Two Text" pitchFamily="18" charset="0"/>
                <a:ea typeface="STIX Two Text" pitchFamily="18" charset="-122"/>
                <a:cs typeface="STIX Two Text" pitchFamily="18" charset="-120"/>
              </a:rPr>
              <a:t>out</a:t>
            </a:r>
            <a:endParaRPr lang="en-US" sz="1400" dirty="0"/>
          </a:p>
        </p:txBody>
      </p:sp>
      <p:sp>
        <p:nvSpPr>
          <p:cNvPr id="28" name="Text 26"/>
          <p:cNvSpPr/>
          <p:nvPr/>
        </p:nvSpPr>
        <p:spPr>
          <a:xfrm>
            <a:off x="4076799" y="3181152"/>
            <a:ext cx="51744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3202D"/>
                </a:solidFill>
                <a:latin typeface="STIX Two Text" pitchFamily="18" charset="0"/>
                <a:ea typeface="STIX Two Text" pitchFamily="18" charset="-122"/>
                <a:cs typeface="STIX Two Text" pitchFamily="18" charset="-120"/>
              </a:rPr>
              <a:t>) Δ</a:t>
            </a:r>
            <a:r>
              <a:rPr lang="en-US" sz="2200" i="1" dirty="0">
                <a:solidFill>
                  <a:srgbClr val="13202D"/>
                </a:solidFill>
                <a:latin typeface="STIX Two Text" pitchFamily="18" charset="0"/>
                <a:ea typeface="STIX Two Text" pitchFamily="18" charset="-122"/>
                <a:cs typeface="STIX Two Text" pitchFamily="18" charset="-120"/>
              </a:rPr>
              <a:t>t</a:t>
            </a:r>
            <a:endParaRPr lang="en-US" sz="2200" dirty="0"/>
          </a:p>
        </p:txBody>
      </p:sp>
      <p:sp>
        <p:nvSpPr>
          <p:cNvPr id="29" name="Text 27"/>
          <p:cNvSpPr/>
          <p:nvPr/>
        </p:nvSpPr>
        <p:spPr>
          <a:xfrm>
            <a:off x="1054100" y="3653532"/>
            <a:ext cx="11034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uz ograničenje</a:t>
            </a:r>
            <a:endParaRPr lang="en-US" sz="1200" dirty="0"/>
          </a:p>
        </p:txBody>
      </p:sp>
      <p:sp>
        <p:nvSpPr>
          <p:cNvPr id="30" name="Text 28"/>
          <p:cNvSpPr/>
          <p:nvPr/>
        </p:nvSpPr>
        <p:spPr>
          <a:xfrm>
            <a:off x="2157512" y="3630712"/>
            <a:ext cx="515938"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44505D"/>
                </a:solidFill>
                <a:latin typeface="STIX Two Text" pitchFamily="18" charset="0"/>
                <a:ea typeface="STIX Two Text" pitchFamily="18" charset="-122"/>
                <a:cs typeface="STIX Two Text" pitchFamily="18" charset="-120"/>
              </a:rPr>
              <a:t>0 ≤ </a:t>
            </a:r>
            <a:r>
              <a:rPr lang="en-US" sz="1700" i="1" dirty="0">
                <a:solidFill>
                  <a:srgbClr val="44505D"/>
                </a:solidFill>
                <a:latin typeface="STIX Two Text" pitchFamily="18" charset="0"/>
                <a:ea typeface="STIX Two Text" pitchFamily="18" charset="-122"/>
                <a:cs typeface="STIX Two Text" pitchFamily="18" charset="-120"/>
              </a:rPr>
              <a:t>V</a:t>
            </a:r>
            <a:endParaRPr lang="en-US" sz="1700" dirty="0"/>
          </a:p>
        </p:txBody>
      </p:sp>
      <p:sp>
        <p:nvSpPr>
          <p:cNvPr id="31" name="Text 29"/>
          <p:cNvSpPr/>
          <p:nvPr/>
        </p:nvSpPr>
        <p:spPr>
          <a:xfrm>
            <a:off x="2635349" y="3747492"/>
            <a:ext cx="126901" cy="177800"/>
          </a:xfrm>
          <a:prstGeom prst="rect">
            <a:avLst/>
          </a:prstGeom>
          <a:noFill/>
          <a:ln/>
        </p:spPr>
        <p:txBody>
          <a:bodyPr wrap="square" lIns="0" tIns="0" rIns="0" bIns="0" rtlCol="0" anchor="t">
            <a:normAutofit/>
          </a:bodyPr>
          <a:lstStyle/>
          <a:p>
            <a:pPr algn="l" indent="0" marL="0">
              <a:lnSpc>
                <a:spcPts val="1200"/>
              </a:lnSpc>
              <a:buNone/>
            </a:pPr>
            <a:r>
              <a:rPr lang="en-US" sz="1200" i="1" dirty="0">
                <a:solidFill>
                  <a:srgbClr val="44505D"/>
                </a:solidFill>
                <a:latin typeface="STIX Two Text" pitchFamily="18" charset="0"/>
                <a:ea typeface="STIX Two Text" pitchFamily="18" charset="-122"/>
                <a:cs typeface="STIX Two Text" pitchFamily="18" charset="-120"/>
              </a:rPr>
              <a:t>k</a:t>
            </a:r>
            <a:endParaRPr lang="en-US" sz="1200" dirty="0"/>
          </a:p>
        </p:txBody>
      </p:sp>
      <p:sp>
        <p:nvSpPr>
          <p:cNvPr id="32" name="Text 30"/>
          <p:cNvSpPr/>
          <p:nvPr/>
        </p:nvSpPr>
        <p:spPr>
          <a:xfrm>
            <a:off x="2787650" y="3630712"/>
            <a:ext cx="358279"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44505D"/>
                </a:solidFill>
                <a:latin typeface="STIX Two Text" pitchFamily="18" charset="0"/>
                <a:ea typeface="STIX Two Text" pitchFamily="18" charset="-122"/>
                <a:cs typeface="STIX Two Text" pitchFamily="18" charset="-120"/>
              </a:rPr>
              <a:t>≤ </a:t>
            </a:r>
            <a:r>
              <a:rPr lang="en-US" sz="1700" i="1" dirty="0">
                <a:solidFill>
                  <a:srgbClr val="44505D"/>
                </a:solidFill>
                <a:latin typeface="STIX Two Text" pitchFamily="18" charset="0"/>
                <a:ea typeface="STIX Two Text" pitchFamily="18" charset="-122"/>
                <a:cs typeface="STIX Two Text" pitchFamily="18" charset="-120"/>
              </a:rPr>
              <a:t>V</a:t>
            </a:r>
            <a:endParaRPr lang="en-US" sz="1700" dirty="0"/>
          </a:p>
        </p:txBody>
      </p:sp>
      <p:sp>
        <p:nvSpPr>
          <p:cNvPr id="33" name="Text 31"/>
          <p:cNvSpPr/>
          <p:nvPr/>
        </p:nvSpPr>
        <p:spPr>
          <a:xfrm>
            <a:off x="3107829" y="3747492"/>
            <a:ext cx="33123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44505D"/>
                </a:solidFill>
                <a:latin typeface="STIX Two Text" pitchFamily="18" charset="0"/>
                <a:ea typeface="STIX Two Text" pitchFamily="18" charset="-122"/>
                <a:cs typeface="STIX Two Text" pitchFamily="18" charset="-120"/>
              </a:rPr>
              <a:t>max</a:t>
            </a:r>
            <a:endParaRPr lang="en-US" sz="1200" dirty="0"/>
          </a:p>
        </p:txBody>
      </p:sp>
      <p:sp>
        <p:nvSpPr>
          <p:cNvPr id="34" name="Shape 32"/>
          <p:cNvSpPr/>
          <p:nvPr/>
        </p:nvSpPr>
        <p:spPr>
          <a:xfrm>
            <a:off x="812800" y="4169172"/>
            <a:ext cx="4546600" cy="995561"/>
          </a:xfrm>
          <a:prstGeom prst="roundRect">
            <a:avLst>
              <a:gd name="adj" fmla="val 7654"/>
            </a:avLst>
          </a:prstGeom>
          <a:solidFill>
            <a:srgbClr val="DCE8F4"/>
          </a:solidFill>
          <a:ln/>
        </p:spPr>
      </p:sp>
      <p:sp>
        <p:nvSpPr>
          <p:cNvPr id="35" name="Text 33"/>
          <p:cNvSpPr/>
          <p:nvPr/>
        </p:nvSpPr>
        <p:spPr>
          <a:xfrm>
            <a:off x="990600" y="4321572"/>
            <a:ext cx="43167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Vmax = 10 m³, V0 = 4 m³, Qin = 0,1 m³/s, Qout = 0,05 m³/s, Δt = 1 s</a:t>
            </a:r>
            <a:endParaRPr lang="en-US" sz="1200" dirty="0"/>
          </a:p>
        </p:txBody>
      </p:sp>
      <p:sp>
        <p:nvSpPr>
          <p:cNvPr id="36" name="Text 34"/>
          <p:cNvSpPr/>
          <p:nvPr/>
        </p:nvSpPr>
        <p:spPr>
          <a:xfrm>
            <a:off x="990600" y="4799013"/>
            <a:ext cx="43167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Posle 20 koraka: V = 5 m³, nivo 50 %</a:t>
            </a:r>
            <a:endParaRPr lang="en-US" sz="1200" dirty="0"/>
          </a:p>
        </p:txBody>
      </p:sp>
      <p:sp>
        <p:nvSpPr>
          <p:cNvPr id="37" name="Text 35"/>
          <p:cNvSpPr/>
          <p:nvPr/>
        </p:nvSpPr>
        <p:spPr>
          <a:xfrm>
            <a:off x="812800" y="5291733"/>
            <a:ext cx="46829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Korak Δt mora biti mali u odnosu na dinamiku procesa da bi greška diskretizacije bila prihvatljiva.</a:t>
            </a:r>
            <a:endParaRPr lang="en-US" sz="1200" dirty="0"/>
          </a:p>
        </p:txBody>
      </p:sp>
      <p:sp>
        <p:nvSpPr>
          <p:cNvPr id="38" name="Shape 36"/>
          <p:cNvSpPr/>
          <p:nvPr/>
        </p:nvSpPr>
        <p:spPr>
          <a:xfrm>
            <a:off x="5667375" y="1676995"/>
            <a:ext cx="5708650" cy="3676650"/>
          </a:xfrm>
          <a:prstGeom prst="roundRect">
            <a:avLst>
              <a:gd name="adj" fmla="val 2677"/>
            </a:avLst>
          </a:prstGeom>
          <a:solidFill>
            <a:srgbClr val="FCFCFB"/>
          </a:solidFill>
          <a:ln w="6350">
            <a:solidFill>
              <a:srgbClr val="D3DAE1"/>
            </a:solidFill>
            <a:prstDash val="solid"/>
          </a:ln>
        </p:spPr>
      </p:sp>
      <p:pic>
        <p:nvPicPr>
          <p:cNvPr id="39" name="Image 0" descr="Linearni rast nivoa od 40 do 50 procenata tokom 20 koraka">    </p:cNvPr>
          <p:cNvPicPr>
            <a:picLocks noChangeAspect="1"/>
          </p:cNvPicPr>
          <p:nvPr/>
        </p:nvPicPr>
        <p:blipFill>
          <a:blip r:embed="rId1"/>
          <a:srcRect l="0" r="0" t="0" b="0"/>
          <a:stretch/>
        </p:blipFill>
        <p:spPr>
          <a:xfrm>
            <a:off x="6273800" y="1902420"/>
            <a:ext cx="4826000" cy="2667000"/>
          </a:xfrm>
          <a:prstGeom prst="rect">
            <a:avLst/>
          </a:prstGeom>
        </p:spPr>
      </p:pic>
      <p:sp>
        <p:nvSpPr>
          <p:cNvPr id="40" name="Text 37"/>
          <p:cNvSpPr/>
          <p:nvPr/>
        </p:nvSpPr>
        <p:spPr>
          <a:xfrm>
            <a:off x="5613400" y="179447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60 %</a:t>
            </a:r>
            <a:endParaRPr lang="en-US" sz="1200" dirty="0"/>
          </a:p>
        </p:txBody>
      </p:sp>
      <p:sp>
        <p:nvSpPr>
          <p:cNvPr id="41" name="Text 38"/>
          <p:cNvSpPr/>
          <p:nvPr/>
        </p:nvSpPr>
        <p:spPr>
          <a:xfrm>
            <a:off x="5613400" y="268347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50 %</a:t>
            </a:r>
            <a:endParaRPr lang="en-US" sz="1200" dirty="0"/>
          </a:p>
        </p:txBody>
      </p:sp>
      <p:sp>
        <p:nvSpPr>
          <p:cNvPr id="42" name="Text 39"/>
          <p:cNvSpPr/>
          <p:nvPr/>
        </p:nvSpPr>
        <p:spPr>
          <a:xfrm>
            <a:off x="5613400" y="357247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40 %</a:t>
            </a:r>
            <a:endParaRPr lang="en-US" sz="1200" dirty="0"/>
          </a:p>
        </p:txBody>
      </p:sp>
      <p:sp>
        <p:nvSpPr>
          <p:cNvPr id="43" name="Text 40"/>
          <p:cNvSpPr/>
          <p:nvPr/>
        </p:nvSpPr>
        <p:spPr>
          <a:xfrm>
            <a:off x="5613400" y="446147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30 %</a:t>
            </a:r>
            <a:endParaRPr lang="en-US" sz="1200" dirty="0"/>
          </a:p>
        </p:txBody>
      </p:sp>
      <p:sp>
        <p:nvSpPr>
          <p:cNvPr id="44" name="Text 41"/>
          <p:cNvSpPr/>
          <p:nvPr/>
        </p:nvSpPr>
        <p:spPr>
          <a:xfrm>
            <a:off x="6057900" y="464562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0</a:t>
            </a:r>
            <a:endParaRPr lang="en-US" sz="1200" dirty="0"/>
          </a:p>
        </p:txBody>
      </p:sp>
      <p:sp>
        <p:nvSpPr>
          <p:cNvPr id="45" name="Text 42"/>
          <p:cNvSpPr/>
          <p:nvPr/>
        </p:nvSpPr>
        <p:spPr>
          <a:xfrm>
            <a:off x="7264400" y="464562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5</a:t>
            </a:r>
            <a:endParaRPr lang="en-US" sz="1200" dirty="0"/>
          </a:p>
        </p:txBody>
      </p:sp>
      <p:sp>
        <p:nvSpPr>
          <p:cNvPr id="46" name="Text 43"/>
          <p:cNvSpPr/>
          <p:nvPr/>
        </p:nvSpPr>
        <p:spPr>
          <a:xfrm>
            <a:off x="8470900" y="464562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10</a:t>
            </a:r>
            <a:endParaRPr lang="en-US" sz="1200" dirty="0"/>
          </a:p>
        </p:txBody>
      </p:sp>
      <p:sp>
        <p:nvSpPr>
          <p:cNvPr id="47" name="Text 44"/>
          <p:cNvSpPr/>
          <p:nvPr/>
        </p:nvSpPr>
        <p:spPr>
          <a:xfrm>
            <a:off x="9677400" y="464562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15</a:t>
            </a:r>
            <a:endParaRPr lang="en-US" sz="1200" dirty="0"/>
          </a:p>
        </p:txBody>
      </p:sp>
      <p:sp>
        <p:nvSpPr>
          <p:cNvPr id="48" name="Text 45"/>
          <p:cNvSpPr/>
          <p:nvPr/>
        </p:nvSpPr>
        <p:spPr>
          <a:xfrm>
            <a:off x="10883900" y="464562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20</a:t>
            </a:r>
            <a:endParaRPr lang="en-US" sz="1200" dirty="0"/>
          </a:p>
        </p:txBody>
      </p:sp>
      <p:sp>
        <p:nvSpPr>
          <p:cNvPr id="49" name="Text 46"/>
          <p:cNvSpPr/>
          <p:nvPr/>
        </p:nvSpPr>
        <p:spPr>
          <a:xfrm>
            <a:off x="6201410" y="4950420"/>
            <a:ext cx="4970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korak simulacije k</a:t>
            </a:r>
            <a:endParaRPr lang="en-US" sz="1200" dirty="0"/>
          </a:p>
        </p:txBody>
      </p:sp>
      <p:sp>
        <p:nvSpPr>
          <p:cNvPr id="50" name="Text 47"/>
          <p:cNvSpPr/>
          <p:nvPr/>
        </p:nvSpPr>
        <p:spPr>
          <a:xfrm>
            <a:off x="6375400" y="3782020"/>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V0 = 4 m³ · 40 %</a:t>
            </a:r>
            <a:endParaRPr lang="en-US" sz="1200" dirty="0"/>
          </a:p>
        </p:txBody>
      </p:sp>
      <p:sp>
        <p:nvSpPr>
          <p:cNvPr id="51" name="Text 48"/>
          <p:cNvSpPr/>
          <p:nvPr/>
        </p:nvSpPr>
        <p:spPr>
          <a:xfrm>
            <a:off x="8645525" y="2435820"/>
            <a:ext cx="2289175"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8520A"/>
                </a:solidFill>
                <a:latin typeface="IBM Plex Sans" pitchFamily="34" charset="0"/>
                <a:ea typeface="IBM Plex Sans" pitchFamily="34" charset="-122"/>
                <a:cs typeface="IBM Plex Sans" pitchFamily="34" charset="-120"/>
              </a:rPr>
              <a:t>V20 = 5 m³ · 50 %</a:t>
            </a:r>
            <a:endParaRPr lang="en-US" sz="1200" dirty="0"/>
          </a:p>
        </p:txBody>
      </p:sp>
      <p:sp>
        <p:nvSpPr>
          <p:cNvPr id="52" name="Shape 49"/>
          <p:cNvSpPr/>
          <p:nvPr/>
        </p:nvSpPr>
        <p:spPr>
          <a:xfrm>
            <a:off x="812800" y="6209705"/>
            <a:ext cx="10566400" cy="0"/>
          </a:xfrm>
          <a:prstGeom prst="line">
            <a:avLst/>
          </a:prstGeom>
          <a:noFill/>
          <a:ln w="6350">
            <a:solidFill>
              <a:srgbClr val="D3DAE1"/>
            </a:solidFill>
            <a:prstDash val="solid"/>
          </a:ln>
        </p:spPr>
      </p:sp>
      <p:sp>
        <p:nvSpPr>
          <p:cNvPr id="53" name="Text 50"/>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54" name="Text 5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Tag: osnovna jedinica procesnih podataka</a:t>
            </a:r>
            <a:endParaRPr lang="en-US" sz="3000" dirty="0"/>
          </a:p>
        </p:txBody>
      </p:sp>
      <p:sp>
        <p:nvSpPr>
          <p:cNvPr id="5" name="Shape 3"/>
          <p:cNvSpPr/>
          <p:nvPr/>
        </p:nvSpPr>
        <p:spPr>
          <a:xfrm>
            <a:off x="812800" y="1673820"/>
            <a:ext cx="5461000" cy="3356074"/>
          </a:xfrm>
          <a:prstGeom prst="roundRect">
            <a:avLst>
              <a:gd name="adj" fmla="val 3027"/>
            </a:avLst>
          </a:prstGeom>
          <a:solidFill>
            <a:srgbClr val="FCFCFB"/>
          </a:solidFill>
          <a:ln/>
        </p:spPr>
      </p:sp>
      <p:sp>
        <p:nvSpPr>
          <p:cNvPr id="6" name="Shape 4"/>
          <p:cNvSpPr/>
          <p:nvPr/>
        </p:nvSpPr>
        <p:spPr>
          <a:xfrm>
            <a:off x="812800" y="1673820"/>
            <a:ext cx="5461000" cy="3356074"/>
          </a:xfrm>
          <a:custGeom>
            <a:avLst/>
            <a:gdLst/>
            <a:ahLst/>
            <a:cxnLst/>
            <a:rect l="l" t="t" r="r" b="b"/>
            <a:pathLst>
              <a:path w="5461000" h="3356074">
                <a:moveTo>
                  <a:pt x="5359400" y="0"/>
                </a:moveTo>
                <a:lnTo>
                  <a:pt x="5359400" y="0"/>
                </a:lnTo>
                <a:arcTo hR="101600" wR="101600" stAng="16200000" swAng="5400000"/>
                <a:lnTo>
                  <a:pt x="5461000" y="3254474"/>
                </a:lnTo>
                <a:arcTo hR="101600" wR="101600" stAng="0" swAng="5400000"/>
                <a:lnTo>
                  <a:pt x="101600" y="3356074"/>
                </a:lnTo>
                <a:arcTo hR="101600" wR="101600" stAng="5400000" swAng="5400000"/>
                <a:lnTo>
                  <a:pt x="0" y="3254474"/>
                </a:lnTo>
                <a:arcTo hR="95250" wR="101600" stAng="10800000" swAng="-5400000"/>
                <a:lnTo>
                  <a:pt x="5359400" y="3349724"/>
                </a:lnTo>
                <a:arcTo hR="95250" wR="95250" stAng="5400000" swAng="-5400000"/>
                <a:lnTo>
                  <a:pt x="5454650" y="101600"/>
                </a:lnTo>
                <a:arcTo hR="101600" wR="95250" stAng="0" swAng="-5400000"/>
                <a:close/>
              </a:path>
            </a:pathLst>
          </a:custGeom>
          <a:solidFill>
            <a:srgbClr val="D3DAE1"/>
          </a:solidFill>
          <a:ln/>
        </p:spPr>
      </p:sp>
      <p:sp>
        <p:nvSpPr>
          <p:cNvPr id="7" name="Shape 5"/>
          <p:cNvSpPr/>
          <p:nvPr/>
        </p:nvSpPr>
        <p:spPr>
          <a:xfrm>
            <a:off x="812800" y="1673820"/>
            <a:ext cx="5461000" cy="3356074"/>
          </a:xfrm>
          <a:custGeom>
            <a:avLst/>
            <a:gdLst/>
            <a:ahLst/>
            <a:cxnLst/>
            <a:rect l="l" t="t" r="r" b="b"/>
            <a:pathLst>
              <a:path w="5461000" h="3356074">
                <a:moveTo>
                  <a:pt x="101600" y="3356074"/>
                </a:moveTo>
                <a:lnTo>
                  <a:pt x="101600" y="3356074"/>
                </a:lnTo>
                <a:arcTo hR="101600" wR="101600" stAng="5400000" swAng="5400000"/>
                <a:lnTo>
                  <a:pt x="0" y="101600"/>
                </a:lnTo>
                <a:arcTo hR="101600" wR="101600" stAng="10800000" swAng="5400000"/>
                <a:lnTo>
                  <a:pt x="5359400" y="0"/>
                </a:lnTo>
                <a:arcTo hR="101600" wR="101600" stAng="16200000" swAng="5400000"/>
                <a:lnTo>
                  <a:pt x="5461000" y="101600"/>
                </a:lnTo>
                <a:arcTo hR="88900" wR="101600" stAng="0" swAng="-5400000"/>
                <a:lnTo>
                  <a:pt x="101600" y="12700"/>
                </a:lnTo>
                <a:arcTo hR="88900" wR="88900" stAng="16200000" swAng="-5400000"/>
                <a:lnTo>
                  <a:pt x="12700" y="3254474"/>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5441950" cy="3337024"/>
        </p:xfrm>
        <a:graphic>
          <a:graphicData uri="http://schemas.openxmlformats.org/drawingml/2006/table">
            <a:tbl>
              <a:tblPr/>
              <a:tblGrid>
                <a:gridCol w="1959102"/>
                <a:gridCol w="3482848"/>
              </a:tblGrid>
              <a:tr h="37078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Atribut</a:t>
                      </a:r>
                      <a:endParaRPr lang="en-US" sz="1200" dirty="0">
                        <a:latin typeface="IBM Plex Sans" charset="0"/>
                        <a:ea typeface="IBM Plex Sans" charset="0"/>
                        <a:cs typeface="IBM Plex Sans" charset="0"/>
                      </a:endParaRPr>
                    </a:p>
                  </a:txBody>
                  <a:tcPr marL="152400" marR="152400" marT="76200" marB="762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Primer</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370780">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Naziv</a:t>
                      </a:r>
                      <a:endParaRPr lang="en-US" sz="1200" dirty="0">
                        <a:latin typeface="IBM Plex Sans" charset="0"/>
                        <a:ea typeface="IBM Plex Sans" charset="0"/>
                        <a:cs typeface="IBM Plex Sans" charset="0"/>
                      </a:endParaRPr>
                    </a:p>
                  </a:txBody>
                  <a:tcPr marL="152400" marR="1524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LT-101</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Opis</a:t>
                      </a:r>
                      <a:endParaRPr lang="en-US" sz="1200" dirty="0">
                        <a:latin typeface="IBM Plex Sans" charset="0"/>
                        <a:ea typeface="IBM Plex Sans" charset="0"/>
                        <a:cs typeface="IBM Plex Sans" charset="0"/>
                      </a:endParaRPr>
                    </a:p>
                  </a:txBody>
                  <a:tcPr marL="152400" marR="1524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Nivo u rezervoaru 1</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Tip i jedinica</a:t>
                      </a:r>
                      <a:endParaRPr lang="en-US" sz="1200" dirty="0">
                        <a:latin typeface="IBM Plex Sans" charset="0"/>
                        <a:ea typeface="IBM Plex Sans" charset="0"/>
                        <a:cs typeface="IBM Plex Sans" charset="0"/>
                      </a:endParaRPr>
                    </a:p>
                  </a:txBody>
                  <a:tcPr marL="152400" marR="1524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realan broj, %</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Opseg</a:t>
                      </a:r>
                      <a:endParaRPr lang="en-US" sz="1200" dirty="0">
                        <a:latin typeface="IBM Plex Sans" charset="0"/>
                        <a:ea typeface="IBM Plex Sans" charset="0"/>
                        <a:cs typeface="IBM Plex Sans" charset="0"/>
                      </a:endParaRPr>
                    </a:p>
                  </a:txBody>
                  <a:tcPr marL="152400" marR="1524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0–100</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Pristup</a:t>
                      </a:r>
                      <a:endParaRPr lang="en-US" sz="1200" dirty="0">
                        <a:latin typeface="IBM Plex Sans" charset="0"/>
                        <a:ea typeface="IBM Plex Sans" charset="0"/>
                        <a:cs typeface="IBM Plex Sans" charset="0"/>
                      </a:endParaRPr>
                    </a:p>
                  </a:txBody>
                  <a:tcPr marL="152400" marR="1524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samo čitanje</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Izvor</a:t>
                      </a:r>
                      <a:endParaRPr lang="en-US" sz="1200" dirty="0">
                        <a:latin typeface="IBM Plex Sans" charset="0"/>
                        <a:ea typeface="IBM Plex Sans" charset="0"/>
                        <a:cs typeface="IBM Plex Sans" charset="0"/>
                      </a:endParaRPr>
                    </a:p>
                  </a:txBody>
                  <a:tcPr marL="152400" marR="1524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PLC-1, registar 30001</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Vrednost i kvalitet</a:t>
                      </a:r>
                      <a:endParaRPr lang="en-US" sz="1200" dirty="0">
                        <a:latin typeface="IBM Plex Sans" charset="0"/>
                        <a:ea typeface="IBM Plex Sans" charset="0"/>
                        <a:cs typeface="IBM Plex Sans" charset="0"/>
                      </a:endParaRPr>
                    </a:p>
                  </a:txBody>
                  <a:tcPr marL="152400" marR="1524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52,5 · GOOD</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Vremenska oznaka</a:t>
                      </a:r>
                      <a:endParaRPr lang="en-US" sz="1200" dirty="0">
                        <a:latin typeface="IBM Plex Sans" charset="0"/>
                        <a:ea typeface="IBM Plex Sans" charset="0"/>
                        <a:cs typeface="IBM Plex Sans" charset="0"/>
                      </a:endParaRPr>
                    </a:p>
                  </a:txBody>
                  <a:tcPr marL="152400" marR="1524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2026-10-08T12:00:00Z</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Text 6"/>
          <p:cNvSpPr/>
          <p:nvPr/>
        </p:nvSpPr>
        <p:spPr>
          <a:xfrm>
            <a:off x="6629400" y="1673820"/>
            <a:ext cx="48922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Imenovanje prema ISA-5.1</a:t>
            </a:r>
            <a:endParaRPr lang="en-US" sz="1400" dirty="0"/>
          </a:p>
        </p:txBody>
      </p:sp>
      <p:sp>
        <p:nvSpPr>
          <p:cNvPr id="10" name="Text 7"/>
          <p:cNvSpPr/>
          <p:nvPr/>
        </p:nvSpPr>
        <p:spPr>
          <a:xfrm>
            <a:off x="6629400" y="2001441"/>
            <a:ext cx="489229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Prvo slovo</a:t>
            </a:r>
            <a:r>
              <a:rPr lang="en-US" sz="1200" dirty="0">
                <a:solidFill>
                  <a:srgbClr val="44505D"/>
                </a:solidFill>
                <a:latin typeface="IBM Plex Sans" pitchFamily="34" charset="0"/>
                <a:ea typeface="IBM Plex Sans" pitchFamily="34" charset="-122"/>
                <a:cs typeface="IBM Plex Sans" pitchFamily="34" charset="-120"/>
              </a:rPr>
              <a:t> — merena veličina: L nivo, F protok, P pritisak, T temperatura.</a:t>
            </a:r>
            <a:endParaRPr lang="en-US" sz="1200" dirty="0"/>
          </a:p>
        </p:txBody>
      </p:sp>
      <p:sp>
        <p:nvSpPr>
          <p:cNvPr id="11" name="Text 8"/>
          <p:cNvSpPr/>
          <p:nvPr/>
        </p:nvSpPr>
        <p:spPr>
          <a:xfrm>
            <a:off x="6629400" y="2542381"/>
            <a:ext cx="489229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Naredna slova</a:t>
            </a:r>
            <a:r>
              <a:rPr lang="en-US" sz="1200" dirty="0">
                <a:solidFill>
                  <a:srgbClr val="44505D"/>
                </a:solidFill>
                <a:latin typeface="IBM Plex Sans" pitchFamily="34" charset="0"/>
                <a:ea typeface="IBM Plex Sans" pitchFamily="34" charset="-122"/>
                <a:cs typeface="IBM Plex Sans" pitchFamily="34" charset="-120"/>
              </a:rPr>
              <a:t> — funkcija: T prenos, I indikacija, C regulacija, A alarm. Sufiksi H i L znače visok i nizak.</a:t>
            </a:r>
            <a:endParaRPr lang="en-US" sz="1200" dirty="0"/>
          </a:p>
        </p:txBody>
      </p:sp>
      <p:sp>
        <p:nvSpPr>
          <p:cNvPr id="12" name="Shape 9"/>
          <p:cNvSpPr/>
          <p:nvPr/>
        </p:nvSpPr>
        <p:spPr>
          <a:xfrm>
            <a:off x="6632575" y="3086497"/>
            <a:ext cx="2330450" cy="623491"/>
          </a:xfrm>
          <a:prstGeom prst="roundRect">
            <a:avLst>
              <a:gd name="adj" fmla="val 11712"/>
            </a:avLst>
          </a:prstGeom>
          <a:solidFill>
            <a:srgbClr val="FCFCFB"/>
          </a:solidFill>
          <a:ln w="6350">
            <a:solidFill>
              <a:srgbClr val="D3DAE1"/>
            </a:solidFill>
            <a:prstDash val="solid"/>
          </a:ln>
        </p:spPr>
      </p:sp>
      <p:sp>
        <p:nvSpPr>
          <p:cNvPr id="13" name="Text 10"/>
          <p:cNvSpPr/>
          <p:nvPr/>
        </p:nvSpPr>
        <p:spPr>
          <a:xfrm>
            <a:off x="6762750" y="3178572"/>
            <a:ext cx="21322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LT</a:t>
            </a:r>
            <a:endParaRPr lang="en-US" sz="1200" dirty="0"/>
          </a:p>
        </p:txBody>
      </p:sp>
      <p:sp>
        <p:nvSpPr>
          <p:cNvPr id="14" name="Text 11"/>
          <p:cNvSpPr/>
          <p:nvPr/>
        </p:nvSpPr>
        <p:spPr>
          <a:xfrm>
            <a:off x="6762750" y="3404592"/>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merni pretvarač nivoa</a:t>
            </a:r>
            <a:endParaRPr lang="en-US" sz="1200" dirty="0"/>
          </a:p>
        </p:txBody>
      </p:sp>
      <p:sp>
        <p:nvSpPr>
          <p:cNvPr id="15" name="Shape 12"/>
          <p:cNvSpPr/>
          <p:nvPr/>
        </p:nvSpPr>
        <p:spPr>
          <a:xfrm>
            <a:off x="9045575" y="3086497"/>
            <a:ext cx="2330450" cy="623491"/>
          </a:xfrm>
          <a:prstGeom prst="roundRect">
            <a:avLst>
              <a:gd name="adj" fmla="val 11712"/>
            </a:avLst>
          </a:prstGeom>
          <a:solidFill>
            <a:srgbClr val="FCFCFB"/>
          </a:solidFill>
          <a:ln w="6350">
            <a:solidFill>
              <a:srgbClr val="D3DAE1"/>
            </a:solidFill>
            <a:prstDash val="solid"/>
          </a:ln>
        </p:spPr>
      </p:sp>
      <p:sp>
        <p:nvSpPr>
          <p:cNvPr id="16" name="Text 13"/>
          <p:cNvSpPr/>
          <p:nvPr/>
        </p:nvSpPr>
        <p:spPr>
          <a:xfrm>
            <a:off x="9175750" y="3178572"/>
            <a:ext cx="21322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FIC</a:t>
            </a:r>
            <a:endParaRPr lang="en-US" sz="1200" dirty="0"/>
          </a:p>
        </p:txBody>
      </p:sp>
      <p:sp>
        <p:nvSpPr>
          <p:cNvPr id="17" name="Text 14"/>
          <p:cNvSpPr/>
          <p:nvPr/>
        </p:nvSpPr>
        <p:spPr>
          <a:xfrm>
            <a:off x="9175750" y="3404592"/>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indikator-regulator protoka</a:t>
            </a:r>
            <a:endParaRPr lang="en-US" sz="1200" dirty="0"/>
          </a:p>
        </p:txBody>
      </p:sp>
      <p:sp>
        <p:nvSpPr>
          <p:cNvPr id="18" name="Shape 15"/>
          <p:cNvSpPr/>
          <p:nvPr/>
        </p:nvSpPr>
        <p:spPr>
          <a:xfrm>
            <a:off x="6632575" y="3792538"/>
            <a:ext cx="2330450" cy="623491"/>
          </a:xfrm>
          <a:prstGeom prst="roundRect">
            <a:avLst>
              <a:gd name="adj" fmla="val 11712"/>
            </a:avLst>
          </a:prstGeom>
          <a:solidFill>
            <a:srgbClr val="FCFCFB"/>
          </a:solidFill>
          <a:ln w="6350">
            <a:solidFill>
              <a:srgbClr val="D3DAE1"/>
            </a:solidFill>
            <a:prstDash val="solid"/>
          </a:ln>
        </p:spPr>
      </p:sp>
      <p:sp>
        <p:nvSpPr>
          <p:cNvPr id="19" name="Text 16"/>
          <p:cNvSpPr/>
          <p:nvPr/>
        </p:nvSpPr>
        <p:spPr>
          <a:xfrm>
            <a:off x="6762750" y="3884613"/>
            <a:ext cx="21322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PAH</a:t>
            </a:r>
            <a:endParaRPr lang="en-US" sz="1200" dirty="0"/>
          </a:p>
        </p:txBody>
      </p:sp>
      <p:sp>
        <p:nvSpPr>
          <p:cNvPr id="20" name="Text 17"/>
          <p:cNvSpPr/>
          <p:nvPr/>
        </p:nvSpPr>
        <p:spPr>
          <a:xfrm>
            <a:off x="6762750" y="4110633"/>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alarm visokog pritiska</a:t>
            </a:r>
            <a:endParaRPr lang="en-US" sz="1200" dirty="0"/>
          </a:p>
        </p:txBody>
      </p:sp>
      <p:sp>
        <p:nvSpPr>
          <p:cNvPr id="21" name="Shape 18"/>
          <p:cNvSpPr/>
          <p:nvPr/>
        </p:nvSpPr>
        <p:spPr>
          <a:xfrm>
            <a:off x="9045575" y="3792538"/>
            <a:ext cx="2330450" cy="623491"/>
          </a:xfrm>
          <a:prstGeom prst="roundRect">
            <a:avLst>
              <a:gd name="adj" fmla="val 11712"/>
            </a:avLst>
          </a:prstGeom>
          <a:solidFill>
            <a:srgbClr val="FCFCFB"/>
          </a:solidFill>
          <a:ln w="6350">
            <a:solidFill>
              <a:srgbClr val="D3DAE1"/>
            </a:solidFill>
            <a:prstDash val="solid"/>
          </a:ln>
        </p:spPr>
      </p:sp>
      <p:sp>
        <p:nvSpPr>
          <p:cNvPr id="22" name="Text 19"/>
          <p:cNvSpPr/>
          <p:nvPr/>
        </p:nvSpPr>
        <p:spPr>
          <a:xfrm>
            <a:off x="9175750" y="3884613"/>
            <a:ext cx="21322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TI</a:t>
            </a:r>
            <a:endParaRPr lang="en-US" sz="1200" dirty="0"/>
          </a:p>
        </p:txBody>
      </p:sp>
      <p:sp>
        <p:nvSpPr>
          <p:cNvPr id="23" name="Text 20"/>
          <p:cNvSpPr/>
          <p:nvPr/>
        </p:nvSpPr>
        <p:spPr>
          <a:xfrm>
            <a:off x="9175750" y="4110633"/>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indikator temperature</a:t>
            </a:r>
            <a:endParaRPr lang="en-US" sz="1200" dirty="0"/>
          </a:p>
        </p:txBody>
      </p:sp>
      <p:sp>
        <p:nvSpPr>
          <p:cNvPr id="24" name="Shape 21"/>
          <p:cNvSpPr/>
          <p:nvPr/>
        </p:nvSpPr>
        <p:spPr>
          <a:xfrm>
            <a:off x="812800" y="6209705"/>
            <a:ext cx="10566400" cy="0"/>
          </a:xfrm>
          <a:prstGeom prst="line">
            <a:avLst/>
          </a:prstGeom>
          <a:noFill/>
          <a:ln w="6350">
            <a:solidFill>
              <a:srgbClr val="D3DAE1"/>
            </a:solidFill>
            <a:prstDash val="solid"/>
          </a:ln>
        </p:spPr>
      </p:sp>
      <p:sp>
        <p:nvSpPr>
          <p:cNvPr id="25" name="Text 22"/>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6"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Kvalitet podataka i vremenske oznake</a:t>
            </a:r>
            <a:endParaRPr lang="en-US" sz="3000" dirty="0"/>
          </a:p>
        </p:txBody>
      </p:sp>
      <p:sp>
        <p:nvSpPr>
          <p:cNvPr id="5" name="Shape 3"/>
          <p:cNvSpPr/>
          <p:nvPr/>
        </p:nvSpPr>
        <p:spPr>
          <a:xfrm>
            <a:off x="815975" y="1676995"/>
            <a:ext cx="2520950" cy="1725712"/>
          </a:xfrm>
          <a:prstGeom prst="roundRect">
            <a:avLst>
              <a:gd name="adj" fmla="val 5703"/>
            </a:avLst>
          </a:prstGeom>
          <a:solidFill>
            <a:srgbClr val="FCFCFB"/>
          </a:solidFill>
          <a:ln w="6350">
            <a:solidFill>
              <a:srgbClr val="D3DAE1"/>
            </a:solidFill>
            <a:prstDash val="solid"/>
          </a:ln>
        </p:spPr>
      </p:sp>
      <p:sp>
        <p:nvSpPr>
          <p:cNvPr id="6" name="Text 4"/>
          <p:cNvSpPr/>
          <p:nvPr/>
        </p:nvSpPr>
        <p:spPr>
          <a:xfrm>
            <a:off x="1003300" y="1864320"/>
            <a:ext cx="581720" cy="302220"/>
          </a:xfrm>
          <a:prstGeom prst="roundRect">
            <a:avLst>
              <a:gd name="adj" fmla="val 14708"/>
            </a:avLst>
          </a:prstGeom>
          <a:solidFill>
            <a:srgbClr val="DCE8F4"/>
          </a:solidFill>
          <a:ln w="12700">
            <a:solidFill>
              <a:srgbClr val="0A5CA8"/>
            </a:solidFill>
            <a:prstDash val="solid"/>
          </a:ln>
        </p:spPr>
        <p:txBody>
          <a:bodyPr wrap="none" lIns="0" tIns="0" rIns="0" bIns="0" rtlCol="0" anchor="ctr">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GOOD</a:t>
            </a:r>
            <a:endParaRPr lang="en-US" sz="1200" dirty="0"/>
          </a:p>
        </p:txBody>
      </p:sp>
      <p:sp>
        <p:nvSpPr>
          <p:cNvPr id="7" name="Text 5"/>
          <p:cNvSpPr/>
          <p:nvPr/>
        </p:nvSpPr>
        <p:spPr>
          <a:xfrm>
            <a:off x="996950" y="2261791"/>
            <a:ext cx="222377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D"/>
                </a:solidFill>
                <a:latin typeface="IBM Plex Sans" pitchFamily="34" charset="0"/>
                <a:ea typeface="IBM Plex Sans" pitchFamily="34" charset="-122"/>
                <a:cs typeface="IBM Plex Sans" pitchFamily="34" charset="-120"/>
              </a:rPr>
              <a:t>Pouzdana vrednost</a:t>
            </a:r>
            <a:endParaRPr lang="en-US" sz="1400" dirty="0"/>
          </a:p>
        </p:txBody>
      </p:sp>
      <p:sp>
        <p:nvSpPr>
          <p:cNvPr id="8" name="Text 6"/>
          <p:cNvSpPr/>
          <p:nvPr/>
        </p:nvSpPr>
        <p:spPr>
          <a:xfrm>
            <a:off x="996950" y="258177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Merenje je važeće i može se koristiti bez ograničenja.</a:t>
            </a:r>
            <a:endParaRPr lang="en-US" sz="1200" dirty="0"/>
          </a:p>
        </p:txBody>
      </p:sp>
      <p:sp>
        <p:nvSpPr>
          <p:cNvPr id="9" name="Shape 7"/>
          <p:cNvSpPr/>
          <p:nvPr/>
        </p:nvSpPr>
        <p:spPr>
          <a:xfrm>
            <a:off x="3495675" y="1676995"/>
            <a:ext cx="2520950" cy="1725712"/>
          </a:xfrm>
          <a:prstGeom prst="roundRect">
            <a:avLst>
              <a:gd name="adj" fmla="val 5703"/>
            </a:avLst>
          </a:prstGeom>
          <a:solidFill>
            <a:srgbClr val="FCFCFB"/>
          </a:solidFill>
          <a:ln w="6350">
            <a:solidFill>
              <a:srgbClr val="D3DAE1"/>
            </a:solidFill>
            <a:prstDash val="solid"/>
          </a:ln>
        </p:spPr>
      </p:sp>
      <p:sp>
        <p:nvSpPr>
          <p:cNvPr id="10" name="Text 8"/>
          <p:cNvSpPr/>
          <p:nvPr/>
        </p:nvSpPr>
        <p:spPr>
          <a:xfrm>
            <a:off x="3683000" y="1864320"/>
            <a:ext cx="1038920" cy="302220"/>
          </a:xfrm>
          <a:prstGeom prst="roundRect">
            <a:avLst>
              <a:gd name="adj" fmla="val 14708"/>
            </a:avLst>
          </a:prstGeom>
          <a:solidFill>
            <a:srgbClr val="FBF1E6"/>
          </a:solidFill>
          <a:ln w="12700">
            <a:solidFill>
              <a:srgbClr val="E07B1F"/>
            </a:solidFill>
            <a:prstDash val="solid"/>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UNCERTAIN</a:t>
            </a:r>
            <a:endParaRPr lang="en-US" sz="1200" dirty="0"/>
          </a:p>
        </p:txBody>
      </p:sp>
      <p:sp>
        <p:nvSpPr>
          <p:cNvPr id="11" name="Text 9"/>
          <p:cNvSpPr/>
          <p:nvPr/>
        </p:nvSpPr>
        <p:spPr>
          <a:xfrm>
            <a:off x="3676650" y="2261791"/>
            <a:ext cx="222377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D"/>
                </a:solidFill>
                <a:latin typeface="IBM Plex Sans" pitchFamily="34" charset="0"/>
                <a:ea typeface="IBM Plex Sans" pitchFamily="34" charset="-122"/>
                <a:cs typeface="IBM Plex Sans" pitchFamily="34" charset="-120"/>
              </a:rPr>
              <a:t>Nesigurna vrednost</a:t>
            </a:r>
            <a:endParaRPr lang="en-US" sz="1400" dirty="0"/>
          </a:p>
        </p:txBody>
      </p:sp>
      <p:sp>
        <p:nvSpPr>
          <p:cNvPr id="12" name="Text 10"/>
          <p:cNvSpPr/>
          <p:nvPr/>
        </p:nvSpPr>
        <p:spPr>
          <a:xfrm>
            <a:off x="3676650" y="258177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Procena, ručni unos ili senzor van kalibracije.</a:t>
            </a:r>
            <a:endParaRPr lang="en-US" sz="1200" dirty="0"/>
          </a:p>
        </p:txBody>
      </p:sp>
      <p:sp>
        <p:nvSpPr>
          <p:cNvPr id="13" name="Shape 11"/>
          <p:cNvSpPr/>
          <p:nvPr/>
        </p:nvSpPr>
        <p:spPr>
          <a:xfrm>
            <a:off x="6175375" y="1676995"/>
            <a:ext cx="2520950" cy="1725712"/>
          </a:xfrm>
          <a:prstGeom prst="roundRect">
            <a:avLst>
              <a:gd name="adj" fmla="val 5703"/>
            </a:avLst>
          </a:prstGeom>
          <a:solidFill>
            <a:srgbClr val="FCFCFB"/>
          </a:solidFill>
          <a:ln w="6350">
            <a:solidFill>
              <a:srgbClr val="D3DAE1"/>
            </a:solidFill>
            <a:prstDash val="solid"/>
          </a:ln>
        </p:spPr>
      </p:sp>
      <p:sp>
        <p:nvSpPr>
          <p:cNvPr id="14" name="Text 12"/>
          <p:cNvSpPr/>
          <p:nvPr/>
        </p:nvSpPr>
        <p:spPr>
          <a:xfrm>
            <a:off x="6362700" y="1864320"/>
            <a:ext cx="490240" cy="302220"/>
          </a:xfrm>
          <a:prstGeom prst="roundRect">
            <a:avLst>
              <a:gd name="adj" fmla="val 14708"/>
            </a:avLst>
          </a:prstGeom>
          <a:solidFill>
            <a:srgbClr val="F9E3E1"/>
          </a:solidFill>
          <a:ln w="12700">
            <a:solidFill>
              <a:srgbClr val="B3261E"/>
            </a:solidFill>
            <a:prstDash val="solid"/>
          </a:ln>
        </p:spPr>
        <p:txBody>
          <a:bodyPr wrap="none" lIns="0" tIns="0" rIns="0" bIns="0" rtlCol="0" anchor="ctr">
            <a:normAutofit/>
          </a:bodyPr>
          <a:lstStyle/>
          <a:p>
            <a:pPr algn="ctr" indent="0" marL="0">
              <a:lnSpc>
                <a:spcPts val="1680"/>
              </a:lnSpc>
              <a:buNone/>
            </a:pPr>
            <a:r>
              <a:rPr lang="en-US" sz="1200" b="1" dirty="0">
                <a:solidFill>
                  <a:srgbClr val="B3261E"/>
                </a:solidFill>
                <a:latin typeface="IBM Plex Mono" pitchFamily="49" charset="0"/>
                <a:ea typeface="IBM Plex Mono" pitchFamily="49" charset="-122"/>
                <a:cs typeface="IBM Plex Mono" pitchFamily="49" charset="-120"/>
              </a:rPr>
              <a:t>BAD</a:t>
            </a:r>
            <a:endParaRPr lang="en-US" sz="1200" dirty="0"/>
          </a:p>
        </p:txBody>
      </p:sp>
      <p:sp>
        <p:nvSpPr>
          <p:cNvPr id="15" name="Text 13"/>
          <p:cNvSpPr/>
          <p:nvPr/>
        </p:nvSpPr>
        <p:spPr>
          <a:xfrm>
            <a:off x="6356350" y="2261791"/>
            <a:ext cx="222377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D"/>
                </a:solidFill>
                <a:latin typeface="IBM Plex Sans" pitchFamily="34" charset="0"/>
                <a:ea typeface="IBM Plex Sans" pitchFamily="34" charset="-122"/>
                <a:cs typeface="IBM Plex Sans" pitchFamily="34" charset="-120"/>
              </a:rPr>
              <a:t>Neupotrebljiva vrednost</a:t>
            </a:r>
            <a:endParaRPr lang="en-US" sz="1400" dirty="0"/>
          </a:p>
        </p:txBody>
      </p:sp>
      <p:sp>
        <p:nvSpPr>
          <p:cNvPr id="16" name="Text 14"/>
          <p:cNvSpPr/>
          <p:nvPr/>
        </p:nvSpPr>
        <p:spPr>
          <a:xfrm>
            <a:off x="6356350" y="2581771"/>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Kvar senzora, prekid veze ili vrednost van opsega.</a:t>
            </a:r>
            <a:endParaRPr lang="en-US" sz="1200" dirty="0"/>
          </a:p>
        </p:txBody>
      </p:sp>
      <p:sp>
        <p:nvSpPr>
          <p:cNvPr id="17" name="Shape 15"/>
          <p:cNvSpPr/>
          <p:nvPr/>
        </p:nvSpPr>
        <p:spPr>
          <a:xfrm>
            <a:off x="8855075" y="1676995"/>
            <a:ext cx="2520950" cy="1725712"/>
          </a:xfrm>
          <a:prstGeom prst="roundRect">
            <a:avLst>
              <a:gd name="adj" fmla="val 5703"/>
            </a:avLst>
          </a:prstGeom>
          <a:solidFill>
            <a:srgbClr val="FCFCFB"/>
          </a:solidFill>
          <a:ln w="6350">
            <a:solidFill>
              <a:srgbClr val="D3DAE1"/>
            </a:solidFill>
            <a:prstDash val="solid"/>
          </a:ln>
        </p:spPr>
      </p:sp>
      <p:sp>
        <p:nvSpPr>
          <p:cNvPr id="18" name="Text 16"/>
          <p:cNvSpPr/>
          <p:nvPr/>
        </p:nvSpPr>
        <p:spPr>
          <a:xfrm>
            <a:off x="9042400" y="1864320"/>
            <a:ext cx="673100" cy="302220"/>
          </a:xfrm>
          <a:prstGeom prst="roundRect">
            <a:avLst>
              <a:gd name="adj" fmla="val 14708"/>
            </a:avLst>
          </a:prstGeom>
          <a:solidFill>
            <a:srgbClr val="ECEEF0"/>
          </a:solidFill>
          <a:ln w="12700">
            <a:solidFill>
              <a:srgbClr val="5E6975"/>
            </a:solidFill>
            <a:prstDash val="dash"/>
          </a:ln>
        </p:spPr>
        <p:txBody>
          <a:bodyPr wrap="none" lIns="0" tIns="0" rIns="0" bIns="0" rtlCol="0" anchor="ctr">
            <a:normAutofit/>
          </a:bodyPr>
          <a:lstStyle/>
          <a:p>
            <a:pPr algn="ctr" indent="0" marL="0">
              <a:lnSpc>
                <a:spcPts val="1680"/>
              </a:lnSpc>
              <a:buNone/>
            </a:pPr>
            <a:r>
              <a:rPr lang="en-US" sz="1200" b="1" dirty="0">
                <a:solidFill>
                  <a:srgbClr val="44505D"/>
                </a:solidFill>
                <a:latin typeface="IBM Plex Mono" pitchFamily="49" charset="0"/>
                <a:ea typeface="IBM Plex Mono" pitchFamily="49" charset="-122"/>
                <a:cs typeface="IBM Plex Mono" pitchFamily="49" charset="-120"/>
              </a:rPr>
              <a:t>STALE</a:t>
            </a:r>
            <a:endParaRPr lang="en-US" sz="1200" dirty="0"/>
          </a:p>
        </p:txBody>
      </p:sp>
      <p:sp>
        <p:nvSpPr>
          <p:cNvPr id="19" name="Text 17"/>
          <p:cNvSpPr/>
          <p:nvPr/>
        </p:nvSpPr>
        <p:spPr>
          <a:xfrm>
            <a:off x="9036050" y="2261791"/>
            <a:ext cx="222377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D"/>
                </a:solidFill>
                <a:latin typeface="IBM Plex Sans" pitchFamily="34" charset="0"/>
                <a:ea typeface="IBM Plex Sans" pitchFamily="34" charset="-122"/>
                <a:cs typeface="IBM Plex Sans" pitchFamily="34" charset="-120"/>
              </a:rPr>
              <a:t>Zastarela vrednost</a:t>
            </a:r>
            <a:endParaRPr lang="en-US" sz="1400" dirty="0"/>
          </a:p>
        </p:txBody>
      </p:sp>
      <p:sp>
        <p:nvSpPr>
          <p:cNvPr id="20" name="Text 18"/>
          <p:cNvSpPr/>
          <p:nvPr/>
        </p:nvSpPr>
        <p:spPr>
          <a:xfrm>
            <a:off x="9036050" y="2581771"/>
            <a:ext cx="22237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Nije osvežena u dozvoljenom roku, pa je stanje procesa nepoznato.</a:t>
            </a:r>
            <a:endParaRPr lang="en-US" sz="1200" dirty="0"/>
          </a:p>
        </p:txBody>
      </p:sp>
      <p:sp>
        <p:nvSpPr>
          <p:cNvPr id="21" name="Shape 19"/>
          <p:cNvSpPr/>
          <p:nvPr/>
        </p:nvSpPr>
        <p:spPr>
          <a:xfrm>
            <a:off x="812800" y="3659882"/>
            <a:ext cx="5207000" cy="1059061"/>
          </a:xfrm>
          <a:prstGeom prst="roundRect">
            <a:avLst>
              <a:gd name="adj" fmla="val 9593"/>
            </a:avLst>
          </a:prstGeom>
          <a:solidFill>
            <a:srgbClr val="EBF0F5"/>
          </a:solidFill>
          <a:ln/>
        </p:spPr>
      </p:sp>
      <p:sp>
        <p:nvSpPr>
          <p:cNvPr id="22" name="Text 20"/>
          <p:cNvSpPr/>
          <p:nvPr/>
        </p:nvSpPr>
        <p:spPr>
          <a:xfrm>
            <a:off x="1016000" y="3837682"/>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Dve vremenske oznake</a:t>
            </a:r>
            <a:endParaRPr lang="en-US" sz="1400" dirty="0"/>
          </a:p>
        </p:txBody>
      </p:sp>
      <p:sp>
        <p:nvSpPr>
          <p:cNvPr id="23" name="Text 21"/>
          <p:cNvSpPr/>
          <p:nvPr/>
        </p:nvSpPr>
        <p:spPr>
          <a:xfrm>
            <a:off x="1016000" y="4114502"/>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Vreme nastanka na izvoru i vreme prijema na serveru (u OPC UA: </a:t>
            </a:r>
            <a:r>
              <a:rPr lang="en-US" sz="1200" i="1" dirty="0">
                <a:solidFill>
                  <a:srgbClr val="44505D"/>
                </a:solidFill>
                <a:latin typeface="IBM Plex Sans" pitchFamily="34" charset="0"/>
                <a:ea typeface="IBM Plex Sans" pitchFamily="34" charset="-122"/>
                <a:cs typeface="IBM Plex Sans" pitchFamily="34" charset="-120"/>
              </a:rPr>
              <a:t>SourceTimestamp</a:t>
            </a:r>
            <a:r>
              <a:rPr lang="en-US" sz="1200" dirty="0">
                <a:solidFill>
                  <a:srgbClr val="44505D"/>
                </a:solidFill>
                <a:latin typeface="IBM Plex Sans" pitchFamily="34" charset="0"/>
                <a:ea typeface="IBM Plex Sans" pitchFamily="34" charset="-122"/>
                <a:cs typeface="IBM Plex Sans" pitchFamily="34" charset="-120"/>
              </a:rPr>
              <a:t> i </a:t>
            </a:r>
            <a:r>
              <a:rPr lang="en-US" sz="1200" i="1" dirty="0">
                <a:solidFill>
                  <a:srgbClr val="44505D"/>
                </a:solidFill>
                <a:latin typeface="IBM Plex Sans" pitchFamily="34" charset="0"/>
                <a:ea typeface="IBM Plex Sans" pitchFamily="34" charset="-122"/>
                <a:cs typeface="IBM Plex Sans" pitchFamily="34" charset="-120"/>
              </a:rPr>
              <a:t>ServerTimestamp</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24" name="Shape 22"/>
          <p:cNvSpPr/>
          <p:nvPr/>
        </p:nvSpPr>
        <p:spPr>
          <a:xfrm>
            <a:off x="6172200" y="3659882"/>
            <a:ext cx="5207000" cy="1059061"/>
          </a:xfrm>
          <a:prstGeom prst="roundRect">
            <a:avLst>
              <a:gd name="adj" fmla="val 9593"/>
            </a:avLst>
          </a:prstGeom>
          <a:solidFill>
            <a:srgbClr val="EBF0F5"/>
          </a:solidFill>
          <a:ln/>
        </p:spPr>
      </p:sp>
      <p:sp>
        <p:nvSpPr>
          <p:cNvPr id="25" name="Text 23"/>
          <p:cNvSpPr/>
          <p:nvPr/>
        </p:nvSpPr>
        <p:spPr>
          <a:xfrm>
            <a:off x="6375400" y="3837682"/>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Redosled i celovitost</a:t>
            </a:r>
            <a:endParaRPr lang="en-US" sz="1400" dirty="0"/>
          </a:p>
        </p:txBody>
      </p:sp>
      <p:sp>
        <p:nvSpPr>
          <p:cNvPr id="26" name="Text 24"/>
          <p:cNvSpPr/>
          <p:nvPr/>
        </p:nvSpPr>
        <p:spPr>
          <a:xfrm>
            <a:off x="6375400" y="4114502"/>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Broj sekvence otkriva izgubljene i zakasnele poruke. Starija poruka ne sme da prepiše noviju vrednost.</a:t>
            </a:r>
            <a:endParaRPr lang="en-US" sz="1200" dirty="0"/>
          </a:p>
        </p:txBody>
      </p:sp>
      <p:sp>
        <p:nvSpPr>
          <p:cNvPr id="27" name="Shape 25"/>
          <p:cNvSpPr/>
          <p:nvPr/>
        </p:nvSpPr>
        <p:spPr>
          <a:xfrm>
            <a:off x="812800" y="6209705"/>
            <a:ext cx="10566400" cy="0"/>
          </a:xfrm>
          <a:prstGeom prst="line">
            <a:avLst/>
          </a:prstGeom>
          <a:noFill/>
          <a:ln w="6350">
            <a:solidFill>
              <a:srgbClr val="D3DAE1"/>
            </a:solidFill>
            <a:prstDash val="solid"/>
          </a:ln>
        </p:spPr>
      </p:sp>
      <p:sp>
        <p:nvSpPr>
          <p:cNvPr id="28" name="Text 26"/>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9"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Alarmi: model stanja prema ISA-18.2</a:t>
            </a:r>
            <a:endParaRPr lang="en-US" sz="3000" dirty="0"/>
          </a:p>
        </p:txBody>
      </p:sp>
      <p:sp>
        <p:nvSpPr>
          <p:cNvPr id="5" name="Text 3"/>
          <p:cNvSpPr/>
          <p:nvPr/>
        </p:nvSpPr>
        <p:spPr>
          <a:xfrm>
            <a:off x="812800" y="1673820"/>
            <a:ext cx="2159000" cy="533400"/>
          </a:xfrm>
          <a:prstGeom prst="roundRect">
            <a:avLst>
              <a:gd name="adj" fmla="val 14286"/>
            </a:avLst>
          </a:prstGeom>
          <a:solidFill>
            <a:srgbClr val="E07B1F"/>
          </a:solidFill>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Aktivan, nepotvrđen</a:t>
            </a:r>
            <a:endParaRPr lang="en-US" sz="1200" dirty="0"/>
          </a:p>
        </p:txBody>
      </p:sp>
      <p:sp>
        <p:nvSpPr>
          <p:cNvPr id="6" name="Text 4"/>
          <p:cNvSpPr/>
          <p:nvPr/>
        </p:nvSpPr>
        <p:spPr>
          <a:xfrm>
            <a:off x="4756150" y="1680170"/>
            <a:ext cx="2146300" cy="520700"/>
          </a:xfrm>
          <a:prstGeom prst="roundRect">
            <a:avLst>
              <a:gd name="adj" fmla="val 13415"/>
            </a:avLst>
          </a:prstGeom>
          <a:solidFill>
            <a:srgbClr val="FBF1E6"/>
          </a:solidFill>
          <a:ln w="12700">
            <a:solidFill>
              <a:srgbClr val="E07B1F"/>
            </a:solidFill>
            <a:prstDash val="solid"/>
          </a:ln>
        </p:spPr>
        <p:txBody>
          <a:bodyPr wrap="square" lIns="0" tIns="0" rIns="0" bIns="0" rtlCol="0" anchor="ctr">
            <a:normAutofit/>
          </a:bodyPr>
          <a:lstStyle/>
          <a:p>
            <a:pPr algn="ctr" indent="0" marL="0">
              <a:lnSpc>
                <a:spcPts val="1680"/>
              </a:lnSpc>
              <a:buNone/>
            </a:pPr>
            <a:r>
              <a:rPr lang="en-US" sz="1200" b="1" dirty="0">
                <a:solidFill>
                  <a:srgbClr val="A8520A"/>
                </a:solidFill>
                <a:latin typeface="IBM Plex Sans" pitchFamily="34" charset="0"/>
                <a:ea typeface="IBM Plex Sans" pitchFamily="34" charset="-122"/>
                <a:cs typeface="IBM Plex Sans" pitchFamily="34" charset="-120"/>
              </a:rPr>
              <a:t>Aktivan, potvrđen</a:t>
            </a:r>
            <a:endParaRPr lang="en-US" sz="1200" dirty="0"/>
          </a:p>
        </p:txBody>
      </p:sp>
      <p:sp>
        <p:nvSpPr>
          <p:cNvPr id="7" name="Text 5"/>
          <p:cNvSpPr/>
          <p:nvPr/>
        </p:nvSpPr>
        <p:spPr>
          <a:xfrm>
            <a:off x="819150" y="3585170"/>
            <a:ext cx="2146300" cy="520700"/>
          </a:xfrm>
          <a:prstGeom prst="roundRect">
            <a:avLst>
              <a:gd name="adj" fmla="val 13415"/>
            </a:avLst>
          </a:prstGeom>
          <a:solidFill>
            <a:srgbClr val="FCFCFB"/>
          </a:solidFill>
          <a:ln w="12700">
            <a:solidFill>
              <a:srgbClr val="E07B1F"/>
            </a:solidFill>
            <a:prstDash val="dash"/>
          </a:ln>
        </p:spPr>
        <p:txBody>
          <a:bodyPr wrap="square" lIns="0" tIns="0" rIns="0" bIns="0" rtlCol="0" anchor="ctr">
            <a:normAutofit/>
          </a:bodyPr>
          <a:lstStyle/>
          <a:p>
            <a:pPr algn="ctr" indent="0" marL="0">
              <a:lnSpc>
                <a:spcPts val="1680"/>
              </a:lnSpc>
              <a:buNone/>
            </a:pPr>
            <a:r>
              <a:rPr lang="en-US" sz="1200" b="1" dirty="0">
                <a:solidFill>
                  <a:srgbClr val="A8520A"/>
                </a:solidFill>
                <a:latin typeface="IBM Plex Sans" pitchFamily="34" charset="0"/>
                <a:ea typeface="IBM Plex Sans" pitchFamily="34" charset="-122"/>
                <a:cs typeface="IBM Plex Sans" pitchFamily="34" charset="-120"/>
              </a:rPr>
              <a:t>Povratak, nepotvrđen</a:t>
            </a:r>
            <a:endParaRPr lang="en-US" sz="1200" dirty="0"/>
          </a:p>
        </p:txBody>
      </p:sp>
      <p:sp>
        <p:nvSpPr>
          <p:cNvPr id="8" name="Text 6"/>
          <p:cNvSpPr/>
          <p:nvPr/>
        </p:nvSpPr>
        <p:spPr>
          <a:xfrm>
            <a:off x="4756150" y="3585170"/>
            <a:ext cx="2146300" cy="520700"/>
          </a:xfrm>
          <a:prstGeom prst="roundRect">
            <a:avLst>
              <a:gd name="adj" fmla="val 13415"/>
            </a:avLst>
          </a:prstGeom>
          <a:solidFill>
            <a:srgbClr val="FCFCFB"/>
          </a:solidFill>
          <a:ln w="12700">
            <a:solidFill>
              <a:srgbClr val="13202D"/>
            </a:solidFill>
            <a:prstDash val="solid"/>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Normalno</a:t>
            </a:r>
            <a:endParaRPr lang="en-US" sz="1200" dirty="0"/>
          </a:p>
        </p:txBody>
      </p:sp>
      <p:pic>
        <p:nvPicPr>
          <p:cNvPr id="9" name="Image 0" descr="connector">    </p:cNvPr>
          <p:cNvPicPr>
            <a:picLocks noChangeAspect="1"/>
          </p:cNvPicPr>
          <p:nvPr/>
        </p:nvPicPr>
        <p:blipFill>
          <a:blip r:embed="rId1"/>
          <a:srcRect l="0" r="0" t="0" b="0"/>
          <a:stretch/>
        </p:blipFill>
        <p:spPr>
          <a:xfrm>
            <a:off x="2921000" y="1889720"/>
            <a:ext cx="1879600" cy="101600"/>
          </a:xfrm>
          <a:prstGeom prst="rect">
            <a:avLst/>
          </a:prstGeom>
        </p:spPr>
      </p:pic>
      <p:pic>
        <p:nvPicPr>
          <p:cNvPr id="10" name="Image 1" descr="connector">    </p:cNvPr>
          <p:cNvPicPr>
            <a:picLocks noChangeAspect="1"/>
          </p:cNvPicPr>
          <p:nvPr/>
        </p:nvPicPr>
        <p:blipFill>
          <a:blip r:embed="rId2"/>
          <a:srcRect l="0" r="0" t="0" b="0"/>
          <a:stretch/>
        </p:blipFill>
        <p:spPr>
          <a:xfrm>
            <a:off x="1841500" y="2156420"/>
            <a:ext cx="101600" cy="1473200"/>
          </a:xfrm>
          <a:prstGeom prst="rect">
            <a:avLst/>
          </a:prstGeom>
        </p:spPr>
      </p:pic>
      <p:pic>
        <p:nvPicPr>
          <p:cNvPr id="11" name="Image 2" descr="connector">    </p:cNvPr>
          <p:cNvPicPr>
            <a:picLocks noChangeAspect="1"/>
          </p:cNvPicPr>
          <p:nvPr/>
        </p:nvPicPr>
        <p:blipFill>
          <a:blip r:embed="rId3"/>
          <a:srcRect l="0" r="0" t="0" b="0"/>
          <a:stretch/>
        </p:blipFill>
        <p:spPr>
          <a:xfrm>
            <a:off x="5778500" y="2156420"/>
            <a:ext cx="101600" cy="1473200"/>
          </a:xfrm>
          <a:prstGeom prst="rect">
            <a:avLst/>
          </a:prstGeom>
        </p:spPr>
      </p:pic>
      <p:pic>
        <p:nvPicPr>
          <p:cNvPr id="12" name="Image 3" descr="connector">    </p:cNvPr>
          <p:cNvPicPr>
            <a:picLocks noChangeAspect="1"/>
          </p:cNvPicPr>
          <p:nvPr/>
        </p:nvPicPr>
        <p:blipFill>
          <a:blip r:embed="rId4"/>
          <a:srcRect l="0" r="0" t="0" b="0"/>
          <a:stretch/>
        </p:blipFill>
        <p:spPr>
          <a:xfrm>
            <a:off x="2921000" y="3794720"/>
            <a:ext cx="1879600" cy="101600"/>
          </a:xfrm>
          <a:prstGeom prst="rect">
            <a:avLst/>
          </a:prstGeom>
        </p:spPr>
      </p:pic>
      <p:pic>
        <p:nvPicPr>
          <p:cNvPr id="13" name="Image 4" descr="connector">    </p:cNvPr>
          <p:cNvPicPr>
            <a:picLocks noChangeAspect="1"/>
          </p:cNvPicPr>
          <p:nvPr/>
        </p:nvPicPr>
        <p:blipFill>
          <a:blip r:embed="rId5"/>
          <a:srcRect l="0" r="0" t="0" b="0"/>
          <a:stretch/>
        </p:blipFill>
        <p:spPr>
          <a:xfrm>
            <a:off x="2921000" y="2156420"/>
            <a:ext cx="1879600" cy="1473200"/>
          </a:xfrm>
          <a:prstGeom prst="rect">
            <a:avLst/>
          </a:prstGeom>
        </p:spPr>
      </p:pic>
      <p:sp>
        <p:nvSpPr>
          <p:cNvPr id="14" name="Text 7"/>
          <p:cNvSpPr/>
          <p:nvPr/>
        </p:nvSpPr>
        <p:spPr>
          <a:xfrm>
            <a:off x="3327400" y="1686520"/>
            <a:ext cx="1066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potvrda</a:t>
            </a:r>
            <a:endParaRPr lang="en-US" sz="1200" dirty="0"/>
          </a:p>
        </p:txBody>
      </p:sp>
      <p:sp>
        <p:nvSpPr>
          <p:cNvPr id="15" name="Text 8"/>
          <p:cNvSpPr/>
          <p:nvPr/>
        </p:nvSpPr>
        <p:spPr>
          <a:xfrm>
            <a:off x="1993900" y="2791420"/>
            <a:ext cx="1003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povratak</a:t>
            </a:r>
            <a:endParaRPr lang="en-US" sz="1200" dirty="0"/>
          </a:p>
        </p:txBody>
      </p:sp>
      <p:sp>
        <p:nvSpPr>
          <p:cNvPr id="16" name="Text 9"/>
          <p:cNvSpPr/>
          <p:nvPr/>
        </p:nvSpPr>
        <p:spPr>
          <a:xfrm>
            <a:off x="5930900" y="2791420"/>
            <a:ext cx="1003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povratak</a:t>
            </a:r>
            <a:endParaRPr lang="en-US" sz="1200" dirty="0"/>
          </a:p>
        </p:txBody>
      </p:sp>
      <p:sp>
        <p:nvSpPr>
          <p:cNvPr id="17" name="Text 10"/>
          <p:cNvSpPr/>
          <p:nvPr/>
        </p:nvSpPr>
        <p:spPr>
          <a:xfrm>
            <a:off x="3327400" y="3883620"/>
            <a:ext cx="1066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potvrda</a:t>
            </a:r>
            <a:endParaRPr lang="en-US" sz="1200" dirty="0"/>
          </a:p>
        </p:txBody>
      </p:sp>
      <p:sp>
        <p:nvSpPr>
          <p:cNvPr id="18" name="Text 11"/>
          <p:cNvSpPr/>
          <p:nvPr/>
        </p:nvSpPr>
        <p:spPr>
          <a:xfrm>
            <a:off x="4241800" y="274062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aktiviranje</a:t>
            </a:r>
            <a:endParaRPr lang="en-US" sz="1200" dirty="0"/>
          </a:p>
        </p:txBody>
      </p:sp>
      <p:sp>
        <p:nvSpPr>
          <p:cNvPr id="19" name="Shape 12"/>
          <p:cNvSpPr/>
          <p:nvPr/>
        </p:nvSpPr>
        <p:spPr>
          <a:xfrm>
            <a:off x="7267575" y="1743174"/>
            <a:ext cx="4108450" cy="1568252"/>
          </a:xfrm>
          <a:prstGeom prst="roundRect">
            <a:avLst>
              <a:gd name="adj" fmla="val 6276"/>
            </a:avLst>
          </a:prstGeom>
          <a:solidFill>
            <a:srgbClr val="FCFCFB"/>
          </a:solidFill>
          <a:ln w="6350">
            <a:solidFill>
              <a:srgbClr val="D3DAE1"/>
            </a:solidFill>
            <a:prstDash val="solid"/>
          </a:ln>
        </p:spPr>
      </p:sp>
      <p:sp>
        <p:nvSpPr>
          <p:cNvPr id="20" name="Text 13"/>
          <p:cNvSpPr/>
          <p:nvPr/>
        </p:nvSpPr>
        <p:spPr>
          <a:xfrm>
            <a:off x="7448550" y="1898749"/>
            <a:ext cx="385889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Dodatna stanja</a:t>
            </a:r>
            <a:endParaRPr lang="en-US" sz="1400" dirty="0"/>
          </a:p>
        </p:txBody>
      </p:sp>
      <p:sp>
        <p:nvSpPr>
          <p:cNvPr id="21" name="Text 14"/>
          <p:cNvSpPr/>
          <p:nvPr/>
        </p:nvSpPr>
        <p:spPr>
          <a:xfrm>
            <a:off x="7448550" y="2175570"/>
            <a:ext cx="385889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Odložen</a:t>
            </a:r>
            <a:r>
              <a:rPr lang="en-US" sz="1200" dirty="0">
                <a:solidFill>
                  <a:srgbClr val="44505D"/>
                </a:solidFill>
                <a:latin typeface="IBM Plex Sans" pitchFamily="34" charset="0"/>
                <a:ea typeface="IBM Plex Sans" pitchFamily="34" charset="-122"/>
                <a:cs typeface="IBM Plex Sans" pitchFamily="34" charset="-120"/>
              </a:rPr>
              <a:t> — privremeno sklonjen, uz kontrolu i rok.</a:t>
            </a:r>
            <a:endParaRPr lang="en-US" sz="1200" dirty="0"/>
          </a:p>
        </p:txBody>
      </p:sp>
      <p:sp>
        <p:nvSpPr>
          <p:cNvPr id="22" name="Text 15"/>
          <p:cNvSpPr/>
          <p:nvPr/>
        </p:nvSpPr>
        <p:spPr>
          <a:xfrm>
            <a:off x="7448550" y="2452390"/>
            <a:ext cx="385889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Potisnut projektom</a:t>
            </a:r>
            <a:r>
              <a:rPr lang="en-US" sz="1200" dirty="0">
                <a:solidFill>
                  <a:srgbClr val="44505D"/>
                </a:solidFill>
                <a:latin typeface="IBM Plex Sans" pitchFamily="34" charset="0"/>
                <a:ea typeface="IBM Plex Sans" pitchFamily="34" charset="-122"/>
                <a:cs typeface="IBM Plex Sans" pitchFamily="34" charset="-120"/>
              </a:rPr>
              <a:t> — po logici procesa, npr. oprema van rada.</a:t>
            </a:r>
            <a:endParaRPr lang="en-US" sz="1200" dirty="0"/>
          </a:p>
        </p:txBody>
      </p:sp>
      <p:sp>
        <p:nvSpPr>
          <p:cNvPr id="23" name="Text 16"/>
          <p:cNvSpPr/>
          <p:nvPr/>
        </p:nvSpPr>
        <p:spPr>
          <a:xfrm>
            <a:off x="7448550" y="2942530"/>
            <a:ext cx="385889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Van upotrebe</a:t>
            </a:r>
            <a:r>
              <a:rPr lang="en-US" sz="1200" dirty="0">
                <a:solidFill>
                  <a:srgbClr val="44505D"/>
                </a:solidFill>
                <a:latin typeface="IBM Plex Sans" pitchFamily="34" charset="0"/>
                <a:ea typeface="IBM Plex Sans" pitchFamily="34" charset="-122"/>
                <a:cs typeface="IBM Plex Sans" pitchFamily="34" charset="-120"/>
              </a:rPr>
              <a:t> — tokom održavanja.</a:t>
            </a:r>
            <a:endParaRPr lang="en-US" sz="1200" dirty="0"/>
          </a:p>
        </p:txBody>
      </p:sp>
      <p:sp>
        <p:nvSpPr>
          <p:cNvPr id="24" name="Text 17"/>
          <p:cNvSpPr/>
          <p:nvPr/>
        </p:nvSpPr>
        <p:spPr>
          <a:xfrm>
            <a:off x="7264400" y="3416201"/>
            <a:ext cx="4114800" cy="629841"/>
          </a:xfrm>
          <a:prstGeom prst="roundRect">
            <a:avLst>
              <a:gd name="adj" fmla="val 12098"/>
            </a:avLst>
          </a:prstGeom>
          <a:solidFill>
            <a:srgbClr val="DCE8F4"/>
          </a:solidFill>
          <a:ln/>
        </p:spPr>
        <p:txBody>
          <a:bodyPr wrap="square" lIns="104682" tIns="79282" rIns="0" bIns="53882"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Alarm je obaveštenje koje zahteva reakciju operatera. Ako reakcija nije potrebna, to nije alarm.</a:t>
            </a:r>
            <a:endParaRPr lang="en-US" sz="1200" dirty="0"/>
          </a:p>
        </p:txBody>
      </p:sp>
      <p:sp>
        <p:nvSpPr>
          <p:cNvPr id="25" name="Shape 18"/>
          <p:cNvSpPr/>
          <p:nvPr/>
        </p:nvSpPr>
        <p:spPr>
          <a:xfrm>
            <a:off x="812800" y="6209705"/>
            <a:ext cx="10566400" cy="0"/>
          </a:xfrm>
          <a:prstGeom prst="line">
            <a:avLst/>
          </a:prstGeom>
          <a:noFill/>
          <a:ln w="6350">
            <a:solidFill>
              <a:srgbClr val="D3DAE1"/>
            </a:solidFill>
            <a:prstDash val="solid"/>
          </a:ln>
        </p:spPr>
      </p:sp>
      <p:sp>
        <p:nvSpPr>
          <p:cNvPr id="26" name="Text 19"/>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7" name="Text 2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Upravljanje alarmima i preplavljivanje</a:t>
            </a:r>
            <a:endParaRPr lang="en-US" sz="3000" dirty="0"/>
          </a:p>
        </p:txBody>
      </p:sp>
      <p:sp>
        <p:nvSpPr>
          <p:cNvPr id="5" name="Shape 3"/>
          <p:cNvSpPr/>
          <p:nvPr/>
        </p:nvSpPr>
        <p:spPr>
          <a:xfrm>
            <a:off x="825500" y="1673820"/>
            <a:ext cx="0" cy="512961"/>
          </a:xfrm>
          <a:prstGeom prst="line">
            <a:avLst/>
          </a:prstGeom>
          <a:noFill/>
          <a:ln w="25400">
            <a:solidFill>
              <a:srgbClr val="0A5CA8"/>
            </a:solidFill>
            <a:prstDash val="solid"/>
          </a:ln>
        </p:spPr>
      </p:sp>
      <p:sp>
        <p:nvSpPr>
          <p:cNvPr id="6" name="Text 4"/>
          <p:cNvSpPr/>
          <p:nvPr/>
        </p:nvSpPr>
        <p:spPr>
          <a:xfrm>
            <a:off x="990600" y="1686520"/>
            <a:ext cx="54416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Histereza (mrtva zona)</a:t>
            </a:r>
            <a:endParaRPr lang="en-US" sz="1400" dirty="0"/>
          </a:p>
        </p:txBody>
      </p:sp>
      <p:sp>
        <p:nvSpPr>
          <p:cNvPr id="7" name="Text 5"/>
          <p:cNvSpPr/>
          <p:nvPr/>
        </p:nvSpPr>
        <p:spPr>
          <a:xfrm>
            <a:off x="990600" y="1960761"/>
            <a:ext cx="54416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Alarm na 85 % prestaje tek ispod 80 %, pa ne treperi oko praga.</a:t>
            </a:r>
            <a:endParaRPr lang="en-US" sz="1200" dirty="0"/>
          </a:p>
        </p:txBody>
      </p:sp>
      <p:sp>
        <p:nvSpPr>
          <p:cNvPr id="8" name="Shape 6"/>
          <p:cNvSpPr/>
          <p:nvPr/>
        </p:nvSpPr>
        <p:spPr>
          <a:xfrm>
            <a:off x="825500" y="2313781"/>
            <a:ext cx="0" cy="512961"/>
          </a:xfrm>
          <a:prstGeom prst="line">
            <a:avLst/>
          </a:prstGeom>
          <a:noFill/>
          <a:ln w="25400">
            <a:solidFill>
              <a:srgbClr val="0A5CA8"/>
            </a:solidFill>
            <a:prstDash val="solid"/>
          </a:ln>
        </p:spPr>
      </p:sp>
      <p:sp>
        <p:nvSpPr>
          <p:cNvPr id="9" name="Text 7"/>
          <p:cNvSpPr/>
          <p:nvPr/>
        </p:nvSpPr>
        <p:spPr>
          <a:xfrm>
            <a:off x="990600" y="2326481"/>
            <a:ext cx="54416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Odloženo aktiviranje</a:t>
            </a:r>
            <a:endParaRPr lang="en-US" sz="1400" dirty="0"/>
          </a:p>
        </p:txBody>
      </p:sp>
      <p:sp>
        <p:nvSpPr>
          <p:cNvPr id="10" name="Text 8"/>
          <p:cNvSpPr/>
          <p:nvPr/>
        </p:nvSpPr>
        <p:spPr>
          <a:xfrm>
            <a:off x="990600" y="2600722"/>
            <a:ext cx="54416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Uslov mora trajati zadato vreme, pa se kratki prelasci zanemaruju.</a:t>
            </a:r>
            <a:endParaRPr lang="en-US" sz="1200" dirty="0"/>
          </a:p>
        </p:txBody>
      </p:sp>
      <p:sp>
        <p:nvSpPr>
          <p:cNvPr id="11" name="Shape 9"/>
          <p:cNvSpPr/>
          <p:nvPr/>
        </p:nvSpPr>
        <p:spPr>
          <a:xfrm>
            <a:off x="825500" y="2953742"/>
            <a:ext cx="0" cy="512961"/>
          </a:xfrm>
          <a:prstGeom prst="line">
            <a:avLst/>
          </a:prstGeom>
          <a:noFill/>
          <a:ln w="25400">
            <a:solidFill>
              <a:srgbClr val="0A5CA8"/>
            </a:solidFill>
            <a:prstDash val="solid"/>
          </a:ln>
        </p:spPr>
      </p:sp>
      <p:sp>
        <p:nvSpPr>
          <p:cNvPr id="12" name="Text 10"/>
          <p:cNvSpPr/>
          <p:nvPr/>
        </p:nvSpPr>
        <p:spPr>
          <a:xfrm>
            <a:off x="990600" y="2966442"/>
            <a:ext cx="54416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Potiskivanje posledičnih alarma</a:t>
            </a:r>
            <a:endParaRPr lang="en-US" sz="1400" dirty="0"/>
          </a:p>
        </p:txBody>
      </p:sp>
      <p:sp>
        <p:nvSpPr>
          <p:cNvPr id="13" name="Text 11"/>
          <p:cNvSpPr/>
          <p:nvPr/>
        </p:nvSpPr>
        <p:spPr>
          <a:xfrm>
            <a:off x="990600" y="3240683"/>
            <a:ext cx="54416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Jedan uzrok ne sme da izazove lavinu zavisnih alarma.</a:t>
            </a:r>
            <a:endParaRPr lang="en-US" sz="1200" dirty="0"/>
          </a:p>
        </p:txBody>
      </p:sp>
      <p:sp>
        <p:nvSpPr>
          <p:cNvPr id="14" name="Shape 12"/>
          <p:cNvSpPr/>
          <p:nvPr/>
        </p:nvSpPr>
        <p:spPr>
          <a:xfrm>
            <a:off x="825500" y="3593703"/>
            <a:ext cx="0" cy="726281"/>
          </a:xfrm>
          <a:prstGeom prst="line">
            <a:avLst/>
          </a:prstGeom>
          <a:noFill/>
          <a:ln w="25400">
            <a:solidFill>
              <a:srgbClr val="0A5CA8"/>
            </a:solidFill>
            <a:prstDash val="solid"/>
          </a:ln>
        </p:spPr>
      </p:sp>
      <p:sp>
        <p:nvSpPr>
          <p:cNvPr id="15" name="Text 13"/>
          <p:cNvSpPr/>
          <p:nvPr/>
        </p:nvSpPr>
        <p:spPr>
          <a:xfrm>
            <a:off x="990600" y="3606403"/>
            <a:ext cx="544169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Racionalizacija</a:t>
            </a:r>
            <a:endParaRPr lang="en-US" sz="1400" dirty="0"/>
          </a:p>
        </p:txBody>
      </p:sp>
      <p:sp>
        <p:nvSpPr>
          <p:cNvPr id="16" name="Text 14"/>
          <p:cNvSpPr/>
          <p:nvPr/>
        </p:nvSpPr>
        <p:spPr>
          <a:xfrm>
            <a:off x="990600" y="3880644"/>
            <a:ext cx="54416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Za svaki alarm dokumentuju se uzrok, posledica, prioritet i propisana reakcija.</a:t>
            </a:r>
            <a:endParaRPr lang="en-US" sz="1200" dirty="0"/>
          </a:p>
        </p:txBody>
      </p:sp>
      <p:sp>
        <p:nvSpPr>
          <p:cNvPr id="17" name="Shape 15"/>
          <p:cNvSpPr/>
          <p:nvPr/>
        </p:nvSpPr>
        <p:spPr>
          <a:xfrm>
            <a:off x="6632575" y="1676995"/>
            <a:ext cx="4743450" cy="918170"/>
          </a:xfrm>
          <a:prstGeom prst="roundRect">
            <a:avLst>
              <a:gd name="adj" fmla="val 10720"/>
            </a:avLst>
          </a:prstGeom>
          <a:solidFill>
            <a:srgbClr val="FCFCFB"/>
          </a:solidFill>
          <a:ln w="6350">
            <a:solidFill>
              <a:srgbClr val="D3DAE1"/>
            </a:solidFill>
            <a:prstDash val="solid"/>
          </a:ln>
        </p:spPr>
      </p:sp>
      <p:sp>
        <p:nvSpPr>
          <p:cNvPr id="18" name="Text 16"/>
          <p:cNvSpPr/>
          <p:nvPr/>
        </p:nvSpPr>
        <p:spPr>
          <a:xfrm>
            <a:off x="6813550" y="1807170"/>
            <a:ext cx="4512945"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0A5CA8"/>
                </a:solidFill>
                <a:latin typeface="IBM Plex Mono" pitchFamily="49" charset="0"/>
                <a:ea typeface="IBM Plex Mono" pitchFamily="49" charset="-122"/>
                <a:cs typeface="IBM Plex Mono" pitchFamily="49" charset="-120"/>
              </a:rPr>
              <a:t>~150</a:t>
            </a:r>
            <a:endParaRPr lang="en-US" sz="3000" dirty="0"/>
          </a:p>
        </p:txBody>
      </p:sp>
      <p:sp>
        <p:nvSpPr>
          <p:cNvPr id="19" name="Text 17"/>
          <p:cNvSpPr/>
          <p:nvPr/>
        </p:nvSpPr>
        <p:spPr>
          <a:xfrm>
            <a:off x="6813550" y="2251670"/>
            <a:ext cx="45129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alarma dnevno po operateru: vrlo verovatno prihvatljivo</a:t>
            </a:r>
            <a:endParaRPr lang="en-US" sz="1200" dirty="0"/>
          </a:p>
        </p:txBody>
      </p:sp>
      <p:sp>
        <p:nvSpPr>
          <p:cNvPr id="20" name="Shape 18"/>
          <p:cNvSpPr/>
          <p:nvPr/>
        </p:nvSpPr>
        <p:spPr>
          <a:xfrm>
            <a:off x="6632575" y="2703116"/>
            <a:ext cx="4743450" cy="918170"/>
          </a:xfrm>
          <a:prstGeom prst="roundRect">
            <a:avLst>
              <a:gd name="adj" fmla="val 10720"/>
            </a:avLst>
          </a:prstGeom>
          <a:solidFill>
            <a:srgbClr val="FCFCFB"/>
          </a:solidFill>
          <a:ln w="6350">
            <a:solidFill>
              <a:srgbClr val="D3DAE1"/>
            </a:solidFill>
            <a:prstDash val="solid"/>
          </a:ln>
        </p:spPr>
      </p:sp>
      <p:sp>
        <p:nvSpPr>
          <p:cNvPr id="21" name="Text 19"/>
          <p:cNvSpPr/>
          <p:nvPr/>
        </p:nvSpPr>
        <p:spPr>
          <a:xfrm>
            <a:off x="6813550" y="2833291"/>
            <a:ext cx="4512945"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A8520A"/>
                </a:solidFill>
                <a:latin typeface="IBM Plex Mono" pitchFamily="49" charset="0"/>
                <a:ea typeface="IBM Plex Mono" pitchFamily="49" charset="-122"/>
                <a:cs typeface="IBM Plex Mono" pitchFamily="49" charset="-120"/>
              </a:rPr>
              <a:t>&gt; 10</a:t>
            </a:r>
            <a:endParaRPr lang="en-US" sz="3000" dirty="0"/>
          </a:p>
        </p:txBody>
      </p:sp>
      <p:sp>
        <p:nvSpPr>
          <p:cNvPr id="22" name="Text 20"/>
          <p:cNvSpPr/>
          <p:nvPr/>
        </p:nvSpPr>
        <p:spPr>
          <a:xfrm>
            <a:off x="6813550" y="3277791"/>
            <a:ext cx="45129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alarma u 10 minuta: preplavljivanje (engl. </a:t>
            </a:r>
            <a:r>
              <a:rPr lang="en-US" sz="1200" i="1" dirty="0">
                <a:solidFill>
                  <a:srgbClr val="44505D"/>
                </a:solidFill>
                <a:latin typeface="IBM Plex Sans" pitchFamily="34" charset="0"/>
                <a:ea typeface="IBM Plex Sans" pitchFamily="34" charset="-122"/>
                <a:cs typeface="IBM Plex Sans" pitchFamily="34" charset="-120"/>
              </a:rPr>
              <a:t>alarm flood</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23" name="Shape 21"/>
          <p:cNvSpPr/>
          <p:nvPr/>
        </p:nvSpPr>
        <p:spPr>
          <a:xfrm>
            <a:off x="6632575" y="3729236"/>
            <a:ext cx="4743450" cy="918170"/>
          </a:xfrm>
          <a:prstGeom prst="roundRect">
            <a:avLst>
              <a:gd name="adj" fmla="val 10720"/>
            </a:avLst>
          </a:prstGeom>
          <a:solidFill>
            <a:srgbClr val="FCFCFB"/>
          </a:solidFill>
          <a:ln w="6350">
            <a:solidFill>
              <a:srgbClr val="D3DAE1"/>
            </a:solidFill>
            <a:prstDash val="solid"/>
          </a:ln>
        </p:spPr>
      </p:sp>
      <p:sp>
        <p:nvSpPr>
          <p:cNvPr id="24" name="Text 22"/>
          <p:cNvSpPr/>
          <p:nvPr/>
        </p:nvSpPr>
        <p:spPr>
          <a:xfrm>
            <a:off x="6813550" y="3859411"/>
            <a:ext cx="4512945"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13202D"/>
                </a:solidFill>
                <a:latin typeface="IBM Plex Mono" pitchFamily="49" charset="0"/>
                <a:ea typeface="IBM Plex Mono" pitchFamily="49" charset="-122"/>
                <a:cs typeface="IBM Plex Mono" pitchFamily="49" charset="-120"/>
              </a:rPr>
              <a:t>80/15/5</a:t>
            </a:r>
            <a:endParaRPr lang="en-US" sz="3000" dirty="0"/>
          </a:p>
        </p:txBody>
      </p:sp>
      <p:sp>
        <p:nvSpPr>
          <p:cNvPr id="25" name="Text 23"/>
          <p:cNvSpPr/>
          <p:nvPr/>
        </p:nvSpPr>
        <p:spPr>
          <a:xfrm>
            <a:off x="6813550" y="4303911"/>
            <a:ext cx="45129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 raspodela nizak, srednji i visok prioritet</a:t>
            </a:r>
            <a:endParaRPr lang="en-US" sz="1200" dirty="0"/>
          </a:p>
        </p:txBody>
      </p:sp>
      <p:sp>
        <p:nvSpPr>
          <p:cNvPr id="26" name="Text 24"/>
          <p:cNvSpPr/>
          <p:nvPr/>
        </p:nvSpPr>
        <p:spPr>
          <a:xfrm>
            <a:off x="6629400" y="4752181"/>
            <a:ext cx="48922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Orijentacione vrednosti prema ANSI/ISA-18.2.</a:t>
            </a:r>
            <a:endParaRPr lang="en-US" sz="1200" dirty="0"/>
          </a:p>
        </p:txBody>
      </p:sp>
      <p:sp>
        <p:nvSpPr>
          <p:cNvPr id="27" name="Shape 25"/>
          <p:cNvSpPr/>
          <p:nvPr/>
        </p:nvSpPr>
        <p:spPr>
          <a:xfrm>
            <a:off x="812800" y="6209705"/>
            <a:ext cx="10566400" cy="0"/>
          </a:xfrm>
          <a:prstGeom prst="line">
            <a:avLst/>
          </a:prstGeom>
          <a:noFill/>
          <a:ln w="6350">
            <a:solidFill>
              <a:srgbClr val="D3DAE1"/>
            </a:solidFill>
            <a:prstDash val="solid"/>
          </a:ln>
        </p:spPr>
      </p:sp>
      <p:sp>
        <p:nvSpPr>
          <p:cNvPr id="28" name="Text 26"/>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9"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Upravljačke komande: odabir pa izvršenje</a:t>
            </a:r>
            <a:endParaRPr lang="en-US" sz="3000" dirty="0"/>
          </a:p>
        </p:txBody>
      </p:sp>
      <p:sp>
        <p:nvSpPr>
          <p:cNvPr id="5" name="Shape 3"/>
          <p:cNvSpPr/>
          <p:nvPr/>
        </p:nvSpPr>
        <p:spPr>
          <a:xfrm>
            <a:off x="1568450" y="2080220"/>
            <a:ext cx="19050" cy="3048000"/>
          </a:xfrm>
          <a:prstGeom prst="rect">
            <a:avLst/>
          </a:prstGeom>
          <a:solidFill>
            <a:srgbClr val="C3CEDA"/>
          </a:solidFill>
          <a:ln/>
        </p:spPr>
      </p:sp>
      <p:sp>
        <p:nvSpPr>
          <p:cNvPr id="6" name="Shape 4"/>
          <p:cNvSpPr/>
          <p:nvPr/>
        </p:nvSpPr>
        <p:spPr>
          <a:xfrm>
            <a:off x="3981450" y="2080220"/>
            <a:ext cx="19050" cy="3048000"/>
          </a:xfrm>
          <a:prstGeom prst="rect">
            <a:avLst/>
          </a:prstGeom>
          <a:solidFill>
            <a:srgbClr val="C3CEDA"/>
          </a:solidFill>
          <a:ln/>
        </p:spPr>
      </p:sp>
      <p:sp>
        <p:nvSpPr>
          <p:cNvPr id="7" name="Shape 5"/>
          <p:cNvSpPr/>
          <p:nvPr/>
        </p:nvSpPr>
        <p:spPr>
          <a:xfrm>
            <a:off x="6394450" y="2080220"/>
            <a:ext cx="19050" cy="3048000"/>
          </a:xfrm>
          <a:prstGeom prst="rect">
            <a:avLst/>
          </a:prstGeom>
          <a:solidFill>
            <a:srgbClr val="C3CEDA"/>
          </a:solidFill>
          <a:ln/>
        </p:spPr>
      </p:sp>
      <p:sp>
        <p:nvSpPr>
          <p:cNvPr id="8" name="Text 6"/>
          <p:cNvSpPr/>
          <p:nvPr/>
        </p:nvSpPr>
        <p:spPr>
          <a:xfrm>
            <a:off x="882650" y="1680170"/>
            <a:ext cx="1384300" cy="393700"/>
          </a:xfrm>
          <a:prstGeom prst="roundRect">
            <a:avLst>
              <a:gd name="adj" fmla="val 17742"/>
            </a:avLst>
          </a:prstGeom>
          <a:solidFill>
            <a:srgbClr val="FCFCFB"/>
          </a:solidFill>
          <a:ln w="12700">
            <a:solidFill>
              <a:srgbClr val="13202D"/>
            </a:solidFill>
            <a:prstDash val="solid"/>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Operater</a:t>
            </a:r>
            <a:endParaRPr lang="en-US" sz="1200" dirty="0"/>
          </a:p>
        </p:txBody>
      </p:sp>
      <p:sp>
        <p:nvSpPr>
          <p:cNvPr id="9" name="Text 7"/>
          <p:cNvSpPr/>
          <p:nvPr/>
        </p:nvSpPr>
        <p:spPr>
          <a:xfrm>
            <a:off x="3289300" y="1673820"/>
            <a:ext cx="1397000" cy="406400"/>
          </a:xfrm>
          <a:prstGeom prst="roundRect">
            <a:avLst>
              <a:gd name="adj" fmla="val 1875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Sans" pitchFamily="34" charset="0"/>
                <a:ea typeface="IBM Plex Sans" pitchFamily="34" charset="-122"/>
                <a:cs typeface="IBM Plex Sans" pitchFamily="34" charset="-120"/>
              </a:rPr>
              <a:t>SCADA</a:t>
            </a:r>
            <a:endParaRPr lang="en-US" sz="1200" dirty="0"/>
          </a:p>
        </p:txBody>
      </p:sp>
      <p:sp>
        <p:nvSpPr>
          <p:cNvPr id="10" name="Text 8"/>
          <p:cNvSpPr/>
          <p:nvPr/>
        </p:nvSpPr>
        <p:spPr>
          <a:xfrm>
            <a:off x="5708650" y="1680170"/>
            <a:ext cx="1384300" cy="393700"/>
          </a:xfrm>
          <a:prstGeom prst="roundRect">
            <a:avLst>
              <a:gd name="adj" fmla="val 17742"/>
            </a:avLst>
          </a:prstGeom>
          <a:solidFill>
            <a:srgbClr val="FBF1E6"/>
          </a:solidFill>
          <a:ln w="12700">
            <a:solidFill>
              <a:srgbClr val="E07B1F"/>
            </a:solidFill>
            <a:prstDash val="solid"/>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Uređaj</a:t>
            </a:r>
            <a:endParaRPr lang="en-US" sz="1200" dirty="0"/>
          </a:p>
        </p:txBody>
      </p:sp>
      <p:pic>
        <p:nvPicPr>
          <p:cNvPr id="11" name="Image 0" descr="connector">    </p:cNvPr>
          <p:cNvPicPr>
            <a:picLocks noChangeAspect="1"/>
          </p:cNvPicPr>
          <p:nvPr/>
        </p:nvPicPr>
        <p:blipFill>
          <a:blip r:embed="rId1"/>
          <a:srcRect l="0" r="0" t="0" b="0"/>
          <a:stretch/>
        </p:blipFill>
        <p:spPr>
          <a:xfrm>
            <a:off x="1524000" y="2385020"/>
            <a:ext cx="2514600" cy="101600"/>
          </a:xfrm>
          <a:prstGeom prst="rect">
            <a:avLst/>
          </a:prstGeom>
        </p:spPr>
      </p:pic>
      <p:pic>
        <p:nvPicPr>
          <p:cNvPr id="12" name="Image 1" descr="connector">    </p:cNvPr>
          <p:cNvPicPr>
            <a:picLocks noChangeAspect="1"/>
          </p:cNvPicPr>
          <p:nvPr/>
        </p:nvPicPr>
        <p:blipFill>
          <a:blip r:embed="rId2"/>
          <a:srcRect l="0" r="0" t="0" b="0"/>
          <a:stretch/>
        </p:blipFill>
        <p:spPr>
          <a:xfrm>
            <a:off x="3937000" y="2829520"/>
            <a:ext cx="2514600" cy="101600"/>
          </a:xfrm>
          <a:prstGeom prst="rect">
            <a:avLst/>
          </a:prstGeom>
        </p:spPr>
      </p:pic>
      <p:pic>
        <p:nvPicPr>
          <p:cNvPr id="13" name="Image 2" descr="connector">    </p:cNvPr>
          <p:cNvPicPr>
            <a:picLocks noChangeAspect="1"/>
          </p:cNvPicPr>
          <p:nvPr/>
        </p:nvPicPr>
        <p:blipFill>
          <a:blip r:embed="rId3"/>
          <a:srcRect l="0" r="0" t="0" b="0"/>
          <a:stretch/>
        </p:blipFill>
        <p:spPr>
          <a:xfrm>
            <a:off x="3937000" y="3274020"/>
            <a:ext cx="2514600" cy="101600"/>
          </a:xfrm>
          <a:prstGeom prst="rect">
            <a:avLst/>
          </a:prstGeom>
        </p:spPr>
      </p:pic>
      <p:pic>
        <p:nvPicPr>
          <p:cNvPr id="14" name="Image 3" descr="connector">    </p:cNvPr>
          <p:cNvPicPr>
            <a:picLocks noChangeAspect="1"/>
          </p:cNvPicPr>
          <p:nvPr/>
        </p:nvPicPr>
        <p:blipFill>
          <a:blip r:embed="rId4"/>
          <a:srcRect l="0" r="0" t="0" b="0"/>
          <a:stretch/>
        </p:blipFill>
        <p:spPr>
          <a:xfrm>
            <a:off x="3937000" y="3718520"/>
            <a:ext cx="2514600" cy="101600"/>
          </a:xfrm>
          <a:prstGeom prst="rect">
            <a:avLst/>
          </a:prstGeom>
        </p:spPr>
      </p:pic>
      <p:pic>
        <p:nvPicPr>
          <p:cNvPr id="15" name="Image 4" descr="connector">    </p:cNvPr>
          <p:cNvPicPr>
            <a:picLocks noChangeAspect="1"/>
          </p:cNvPicPr>
          <p:nvPr/>
        </p:nvPicPr>
        <p:blipFill>
          <a:blip r:embed="rId5"/>
          <a:srcRect l="0" r="0" t="0" b="0"/>
          <a:stretch/>
        </p:blipFill>
        <p:spPr>
          <a:xfrm>
            <a:off x="3937000" y="4163020"/>
            <a:ext cx="2514600" cy="101600"/>
          </a:xfrm>
          <a:prstGeom prst="rect">
            <a:avLst/>
          </a:prstGeom>
        </p:spPr>
      </p:pic>
      <p:pic>
        <p:nvPicPr>
          <p:cNvPr id="16" name="Image 5" descr="connector">    </p:cNvPr>
          <p:cNvPicPr>
            <a:picLocks noChangeAspect="1"/>
          </p:cNvPicPr>
          <p:nvPr/>
        </p:nvPicPr>
        <p:blipFill>
          <a:blip r:embed="rId6"/>
          <a:srcRect l="0" r="0" t="0" b="0"/>
          <a:stretch/>
        </p:blipFill>
        <p:spPr>
          <a:xfrm>
            <a:off x="1524000" y="4607520"/>
            <a:ext cx="2514600" cy="101600"/>
          </a:xfrm>
          <a:prstGeom prst="rect">
            <a:avLst/>
          </a:prstGeom>
        </p:spPr>
      </p:pic>
      <p:sp>
        <p:nvSpPr>
          <p:cNvPr id="17" name="Text 9"/>
          <p:cNvSpPr/>
          <p:nvPr/>
        </p:nvSpPr>
        <p:spPr>
          <a:xfrm>
            <a:off x="1669415" y="219452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zahtev komande</a:t>
            </a:r>
            <a:endParaRPr lang="en-US" sz="1200" dirty="0"/>
          </a:p>
        </p:txBody>
      </p:sp>
      <p:sp>
        <p:nvSpPr>
          <p:cNvPr id="18" name="Text 10"/>
          <p:cNvSpPr/>
          <p:nvPr/>
        </p:nvSpPr>
        <p:spPr>
          <a:xfrm>
            <a:off x="4082415" y="263902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SELECT</a:t>
            </a:r>
            <a:endParaRPr lang="en-US" sz="1200" dirty="0"/>
          </a:p>
        </p:txBody>
      </p:sp>
      <p:sp>
        <p:nvSpPr>
          <p:cNvPr id="19" name="Text 11"/>
          <p:cNvSpPr/>
          <p:nvPr/>
        </p:nvSpPr>
        <p:spPr>
          <a:xfrm>
            <a:off x="4082415" y="308352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potvrda odabira</a:t>
            </a:r>
            <a:endParaRPr lang="en-US" sz="1200" dirty="0"/>
          </a:p>
        </p:txBody>
      </p:sp>
      <p:sp>
        <p:nvSpPr>
          <p:cNvPr id="20" name="Text 12"/>
          <p:cNvSpPr/>
          <p:nvPr/>
        </p:nvSpPr>
        <p:spPr>
          <a:xfrm>
            <a:off x="4082415" y="352802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OPERATE</a:t>
            </a:r>
            <a:endParaRPr lang="en-US" sz="1200" dirty="0"/>
          </a:p>
        </p:txBody>
      </p:sp>
      <p:sp>
        <p:nvSpPr>
          <p:cNvPr id="21" name="Text 13"/>
          <p:cNvSpPr/>
          <p:nvPr/>
        </p:nvSpPr>
        <p:spPr>
          <a:xfrm>
            <a:off x="4082415" y="397252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stvarno stanje</a:t>
            </a:r>
            <a:endParaRPr lang="en-US" sz="1200" dirty="0"/>
          </a:p>
        </p:txBody>
      </p:sp>
      <p:sp>
        <p:nvSpPr>
          <p:cNvPr id="22" name="Text 14"/>
          <p:cNvSpPr/>
          <p:nvPr/>
        </p:nvSpPr>
        <p:spPr>
          <a:xfrm>
            <a:off x="1669415" y="441702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ishod i audit zapis</a:t>
            </a:r>
            <a:endParaRPr lang="en-US" sz="1200" dirty="0"/>
          </a:p>
        </p:txBody>
      </p:sp>
      <p:sp>
        <p:nvSpPr>
          <p:cNvPr id="23" name="Shape 15"/>
          <p:cNvSpPr/>
          <p:nvPr/>
        </p:nvSpPr>
        <p:spPr>
          <a:xfrm>
            <a:off x="7531100" y="1673820"/>
            <a:ext cx="0" cy="726281"/>
          </a:xfrm>
          <a:prstGeom prst="line">
            <a:avLst/>
          </a:prstGeom>
          <a:noFill/>
          <a:ln w="25400">
            <a:solidFill>
              <a:srgbClr val="0A5CA8"/>
            </a:solidFill>
            <a:prstDash val="solid"/>
          </a:ln>
        </p:spPr>
      </p:sp>
      <p:sp>
        <p:nvSpPr>
          <p:cNvPr id="24" name="Text 16"/>
          <p:cNvSpPr/>
          <p:nvPr/>
        </p:nvSpPr>
        <p:spPr>
          <a:xfrm>
            <a:off x="7696200" y="1686520"/>
            <a:ext cx="37934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Pre izvršenja</a:t>
            </a:r>
            <a:endParaRPr lang="en-US" sz="1400" dirty="0"/>
          </a:p>
        </p:txBody>
      </p:sp>
      <p:sp>
        <p:nvSpPr>
          <p:cNvPr id="25" name="Text 17"/>
          <p:cNvSpPr/>
          <p:nvPr/>
        </p:nvSpPr>
        <p:spPr>
          <a:xfrm>
            <a:off x="7696200" y="1960761"/>
            <a:ext cx="37934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Identitet i ovlašćenje, interlock, dozvoljeno stanje i opseg vrednosti.</a:t>
            </a:r>
            <a:endParaRPr lang="en-US" sz="1200" dirty="0"/>
          </a:p>
        </p:txBody>
      </p:sp>
      <p:sp>
        <p:nvSpPr>
          <p:cNvPr id="26" name="Shape 18"/>
          <p:cNvSpPr/>
          <p:nvPr/>
        </p:nvSpPr>
        <p:spPr>
          <a:xfrm>
            <a:off x="7531100" y="2527102"/>
            <a:ext cx="0" cy="726281"/>
          </a:xfrm>
          <a:prstGeom prst="line">
            <a:avLst/>
          </a:prstGeom>
          <a:noFill/>
          <a:ln w="25400">
            <a:solidFill>
              <a:srgbClr val="0A5CA8"/>
            </a:solidFill>
            <a:prstDash val="solid"/>
          </a:ln>
        </p:spPr>
      </p:sp>
      <p:sp>
        <p:nvSpPr>
          <p:cNvPr id="27" name="Text 19"/>
          <p:cNvSpPr/>
          <p:nvPr/>
        </p:nvSpPr>
        <p:spPr>
          <a:xfrm>
            <a:off x="7696200" y="2539802"/>
            <a:ext cx="37934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Posle izvršenja</a:t>
            </a:r>
            <a:endParaRPr lang="en-US" sz="1400" dirty="0"/>
          </a:p>
        </p:txBody>
      </p:sp>
      <p:sp>
        <p:nvSpPr>
          <p:cNvPr id="28" name="Text 20"/>
          <p:cNvSpPr/>
          <p:nvPr/>
        </p:nvSpPr>
        <p:spPr>
          <a:xfrm>
            <a:off x="7696200" y="2814042"/>
            <a:ext cx="37934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Uspeh se potvrđuje stvarnim stanjem uređaja, a ne samo prijemom komande.</a:t>
            </a:r>
            <a:endParaRPr lang="en-US" sz="1200" dirty="0"/>
          </a:p>
        </p:txBody>
      </p:sp>
      <p:sp>
        <p:nvSpPr>
          <p:cNvPr id="29" name="Shape 21"/>
          <p:cNvSpPr/>
          <p:nvPr/>
        </p:nvSpPr>
        <p:spPr>
          <a:xfrm>
            <a:off x="7531100" y="3380383"/>
            <a:ext cx="0" cy="512961"/>
          </a:xfrm>
          <a:prstGeom prst="line">
            <a:avLst/>
          </a:prstGeom>
          <a:noFill/>
          <a:ln w="25400">
            <a:solidFill>
              <a:srgbClr val="E07B1F"/>
            </a:solidFill>
            <a:prstDash val="solid"/>
          </a:ln>
        </p:spPr>
      </p:sp>
      <p:sp>
        <p:nvSpPr>
          <p:cNvPr id="30" name="Text 22"/>
          <p:cNvSpPr/>
          <p:nvPr/>
        </p:nvSpPr>
        <p:spPr>
          <a:xfrm>
            <a:off x="7696200" y="3393083"/>
            <a:ext cx="37934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Bez dvostrukog efekta</a:t>
            </a:r>
            <a:endParaRPr lang="en-US" sz="1400" dirty="0"/>
          </a:p>
        </p:txBody>
      </p:sp>
      <p:sp>
        <p:nvSpPr>
          <p:cNvPr id="31" name="Text 23"/>
          <p:cNvSpPr/>
          <p:nvPr/>
        </p:nvSpPr>
        <p:spPr>
          <a:xfrm>
            <a:off x="7696200" y="3667323"/>
            <a:ext cx="37934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Ponovljen zahtev ne sme dva puta izvršiti istu akciju.</a:t>
            </a:r>
            <a:endParaRPr lang="en-US" sz="1200" dirty="0"/>
          </a:p>
        </p:txBody>
      </p:sp>
      <p:sp>
        <p:nvSpPr>
          <p:cNvPr id="32" name="Shape 24"/>
          <p:cNvSpPr/>
          <p:nvPr/>
        </p:nvSpPr>
        <p:spPr>
          <a:xfrm>
            <a:off x="812800" y="6209705"/>
            <a:ext cx="10566400" cy="0"/>
          </a:xfrm>
          <a:prstGeom prst="line">
            <a:avLst/>
          </a:prstGeom>
          <a:noFill/>
          <a:ln w="6350">
            <a:solidFill>
              <a:srgbClr val="D3DAE1"/>
            </a:solidFill>
            <a:prstDash val="solid"/>
          </a:ln>
        </p:spPr>
      </p:sp>
      <p:sp>
        <p:nvSpPr>
          <p:cNvPr id="33" name="Text 25"/>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4"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Historian: čuvanje vremenskih serija</a:t>
            </a:r>
            <a:endParaRPr lang="en-US" sz="3000" dirty="0"/>
          </a:p>
        </p:txBody>
      </p:sp>
      <p:sp>
        <p:nvSpPr>
          <p:cNvPr id="5" name="Shape 3"/>
          <p:cNvSpPr/>
          <p:nvPr/>
        </p:nvSpPr>
        <p:spPr>
          <a:xfrm>
            <a:off x="815975" y="1626195"/>
            <a:ext cx="10560050" cy="2152650"/>
          </a:xfrm>
          <a:prstGeom prst="roundRect">
            <a:avLst>
              <a:gd name="adj" fmla="val 4572"/>
            </a:avLst>
          </a:prstGeom>
          <a:solidFill>
            <a:srgbClr val="FCFCFB"/>
          </a:solidFill>
          <a:ln w="6350">
            <a:solidFill>
              <a:srgbClr val="D3DAE1"/>
            </a:solidFill>
            <a:prstDash val="solid"/>
          </a:ln>
        </p:spPr>
      </p:sp>
      <p:pic>
        <p:nvPicPr>
          <p:cNvPr id="6" name="Image 0" descr="Sirovi uzorci signala i manji broj sačuvanih tačaka posle kompresije">    </p:cNvPr>
          <p:cNvPicPr>
            <a:picLocks noChangeAspect="1"/>
          </p:cNvPicPr>
          <p:nvPr/>
        </p:nvPicPr>
        <p:blipFill>
          <a:blip r:embed="rId1"/>
          <a:srcRect l="0" r="0" t="0" b="0"/>
          <a:stretch/>
        </p:blipFill>
        <p:spPr>
          <a:xfrm>
            <a:off x="1320800" y="1775420"/>
            <a:ext cx="6350000" cy="1524000"/>
          </a:xfrm>
          <a:prstGeom prst="rect">
            <a:avLst/>
          </a:prstGeom>
        </p:spPr>
      </p:pic>
      <p:sp>
        <p:nvSpPr>
          <p:cNvPr id="7" name="Shape 4"/>
          <p:cNvSpPr/>
          <p:nvPr/>
        </p:nvSpPr>
        <p:spPr>
          <a:xfrm>
            <a:off x="8178800" y="2047180"/>
            <a:ext cx="127000" cy="127000"/>
          </a:xfrm>
          <a:prstGeom prst="roundRect">
            <a:avLst>
              <a:gd name="adj" fmla="val 50000"/>
            </a:avLst>
          </a:prstGeom>
          <a:solidFill>
            <a:srgbClr val="8C99A6"/>
          </a:solidFill>
          <a:ln/>
        </p:spPr>
      </p:sp>
      <p:sp>
        <p:nvSpPr>
          <p:cNvPr id="8" name="Text 5"/>
          <p:cNvSpPr/>
          <p:nvPr/>
        </p:nvSpPr>
        <p:spPr>
          <a:xfrm>
            <a:off x="8407400" y="2004020"/>
            <a:ext cx="12900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sirovi uzorci: 26</a:t>
            </a:r>
            <a:endParaRPr lang="en-US" sz="1200" dirty="0"/>
          </a:p>
        </p:txBody>
      </p:sp>
      <p:sp>
        <p:nvSpPr>
          <p:cNvPr id="9" name="Shape 6"/>
          <p:cNvSpPr/>
          <p:nvPr/>
        </p:nvSpPr>
        <p:spPr>
          <a:xfrm>
            <a:off x="8178800" y="2387501"/>
            <a:ext cx="127000" cy="127000"/>
          </a:xfrm>
          <a:prstGeom prst="roundRect">
            <a:avLst>
              <a:gd name="adj" fmla="val 50000"/>
            </a:avLst>
          </a:prstGeom>
          <a:solidFill>
            <a:srgbClr val="0A5CA8"/>
          </a:solidFill>
          <a:ln/>
        </p:spPr>
      </p:sp>
      <p:sp>
        <p:nvSpPr>
          <p:cNvPr id="10" name="Text 7"/>
          <p:cNvSpPr/>
          <p:nvPr/>
        </p:nvSpPr>
        <p:spPr>
          <a:xfrm>
            <a:off x="8407400" y="2344341"/>
            <a:ext cx="15198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sačuvane tačke: 7</a:t>
            </a:r>
            <a:endParaRPr lang="en-US" sz="1200" dirty="0"/>
          </a:p>
        </p:txBody>
      </p:sp>
      <p:sp>
        <p:nvSpPr>
          <p:cNvPr id="11" name="Text 8"/>
          <p:cNvSpPr/>
          <p:nvPr/>
        </p:nvSpPr>
        <p:spPr>
          <a:xfrm>
            <a:off x="8178800" y="2684661"/>
            <a:ext cx="28778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Signal se rekonstruiše linearnom interpolacijom u zadatoj toleranciji. Primer je ilustrativan.</a:t>
            </a:r>
            <a:endParaRPr lang="en-US" sz="1200" dirty="0"/>
          </a:p>
        </p:txBody>
      </p:sp>
      <p:sp>
        <p:nvSpPr>
          <p:cNvPr id="12" name="Shape 9"/>
          <p:cNvSpPr/>
          <p:nvPr/>
        </p:nvSpPr>
        <p:spPr>
          <a:xfrm>
            <a:off x="815975" y="3988395"/>
            <a:ext cx="3414117" cy="1001911"/>
          </a:xfrm>
          <a:prstGeom prst="roundRect">
            <a:avLst>
              <a:gd name="adj" fmla="val 9824"/>
            </a:avLst>
          </a:prstGeom>
          <a:solidFill>
            <a:srgbClr val="FCFCFB"/>
          </a:solidFill>
          <a:ln w="6350">
            <a:solidFill>
              <a:srgbClr val="D3DAE1"/>
            </a:solidFill>
            <a:prstDash val="solid"/>
          </a:ln>
        </p:spPr>
      </p:sp>
      <p:sp>
        <p:nvSpPr>
          <p:cNvPr id="13" name="Text 10"/>
          <p:cNvSpPr/>
          <p:nvPr/>
        </p:nvSpPr>
        <p:spPr>
          <a:xfrm>
            <a:off x="996950" y="4143970"/>
            <a:ext cx="31437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Kompresija</a:t>
            </a:r>
            <a:endParaRPr lang="en-US" sz="1400" dirty="0"/>
          </a:p>
        </p:txBody>
      </p:sp>
      <p:sp>
        <p:nvSpPr>
          <p:cNvPr id="14" name="Text 11"/>
          <p:cNvSpPr/>
          <p:nvPr/>
        </p:nvSpPr>
        <p:spPr>
          <a:xfrm>
            <a:off x="996950" y="4408091"/>
            <a:ext cx="31437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Mrtva zona i algoritam „vrata koja se njišu” (engl. </a:t>
            </a:r>
            <a:r>
              <a:rPr lang="en-US" sz="1200" i="1" dirty="0">
                <a:solidFill>
                  <a:srgbClr val="44505D"/>
                </a:solidFill>
                <a:latin typeface="IBM Plex Sans" pitchFamily="34" charset="0"/>
                <a:ea typeface="IBM Plex Sans" pitchFamily="34" charset="-122"/>
                <a:cs typeface="IBM Plex Sans" pitchFamily="34" charset="-120"/>
              </a:rPr>
              <a:t>swinging door</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15" name="Shape 12"/>
          <p:cNvSpPr/>
          <p:nvPr/>
        </p:nvSpPr>
        <p:spPr>
          <a:xfrm>
            <a:off x="4388842" y="3988395"/>
            <a:ext cx="3414216" cy="1001911"/>
          </a:xfrm>
          <a:prstGeom prst="roundRect">
            <a:avLst>
              <a:gd name="adj" fmla="val 9824"/>
            </a:avLst>
          </a:prstGeom>
          <a:solidFill>
            <a:srgbClr val="FCFCFB"/>
          </a:solidFill>
          <a:ln w="6350">
            <a:solidFill>
              <a:srgbClr val="D3DAE1"/>
            </a:solidFill>
            <a:prstDash val="solid"/>
          </a:ln>
        </p:spPr>
      </p:sp>
      <p:sp>
        <p:nvSpPr>
          <p:cNvPr id="16" name="Text 13"/>
          <p:cNvSpPr/>
          <p:nvPr/>
        </p:nvSpPr>
        <p:spPr>
          <a:xfrm>
            <a:off x="4569817" y="4143970"/>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Agregati i upiti</a:t>
            </a:r>
            <a:endParaRPr lang="en-US" sz="1400" dirty="0"/>
          </a:p>
        </p:txBody>
      </p:sp>
      <p:sp>
        <p:nvSpPr>
          <p:cNvPr id="17" name="Text 14"/>
          <p:cNvSpPr/>
          <p:nvPr/>
        </p:nvSpPr>
        <p:spPr>
          <a:xfrm>
            <a:off x="4569817" y="440809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Minimum, maksimum, prosek i interpolacija nad vremenskim intervalom.</a:t>
            </a:r>
            <a:endParaRPr lang="en-US" sz="1200" dirty="0"/>
          </a:p>
        </p:txBody>
      </p:sp>
      <p:sp>
        <p:nvSpPr>
          <p:cNvPr id="18" name="Shape 15"/>
          <p:cNvSpPr/>
          <p:nvPr/>
        </p:nvSpPr>
        <p:spPr>
          <a:xfrm>
            <a:off x="7961809" y="3988395"/>
            <a:ext cx="3414216" cy="1001911"/>
          </a:xfrm>
          <a:prstGeom prst="roundRect">
            <a:avLst>
              <a:gd name="adj" fmla="val 9824"/>
            </a:avLst>
          </a:prstGeom>
          <a:solidFill>
            <a:srgbClr val="FCFCFB"/>
          </a:solidFill>
          <a:ln w="6350">
            <a:solidFill>
              <a:srgbClr val="D3DAE1"/>
            </a:solidFill>
            <a:prstDash val="solid"/>
          </a:ln>
        </p:spPr>
      </p:sp>
      <p:sp>
        <p:nvSpPr>
          <p:cNvPr id="19" name="Text 16"/>
          <p:cNvSpPr/>
          <p:nvPr/>
        </p:nvSpPr>
        <p:spPr>
          <a:xfrm>
            <a:off x="8142784" y="4143970"/>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Integritet</a:t>
            </a:r>
            <a:endParaRPr lang="en-US" sz="1400" dirty="0"/>
          </a:p>
        </p:txBody>
      </p:sp>
      <p:sp>
        <p:nvSpPr>
          <p:cNvPr id="20" name="Text 17"/>
          <p:cNvSpPr/>
          <p:nvPr/>
        </p:nvSpPr>
        <p:spPr>
          <a:xfrm>
            <a:off x="8142784" y="440809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Zapisi se naknadno ne menjaju, jer je istorija osnova za forenzičku analizu.</a:t>
            </a:r>
            <a:endParaRPr lang="en-US" sz="1200" dirty="0"/>
          </a:p>
        </p:txBody>
      </p:sp>
      <p:sp>
        <p:nvSpPr>
          <p:cNvPr id="21" name="Shape 18"/>
          <p:cNvSpPr/>
          <p:nvPr/>
        </p:nvSpPr>
        <p:spPr>
          <a:xfrm>
            <a:off x="812800" y="6209705"/>
            <a:ext cx="10566400" cy="0"/>
          </a:xfrm>
          <a:prstGeom prst="line">
            <a:avLst/>
          </a:prstGeom>
          <a:noFill/>
          <a:ln w="6350">
            <a:solidFill>
              <a:srgbClr val="D3DAE1"/>
            </a:solidFill>
            <a:prstDash val="solid"/>
          </a:ln>
        </p:spPr>
      </p:sp>
      <p:sp>
        <p:nvSpPr>
          <p:cNvPr id="22" name="Text 19"/>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3" name="Text 2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PROCESI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Simulacija procesa i ispitna okruženja</a:t>
            </a:r>
            <a:endParaRPr lang="en-US" sz="3000" dirty="0"/>
          </a:p>
        </p:txBody>
      </p:sp>
      <p:sp>
        <p:nvSpPr>
          <p:cNvPr id="5" name="Shape 3"/>
          <p:cNvSpPr/>
          <p:nvPr/>
        </p:nvSpPr>
        <p:spPr>
          <a:xfrm>
            <a:off x="815975" y="1676995"/>
            <a:ext cx="5200650" cy="826691"/>
          </a:xfrm>
          <a:prstGeom prst="roundRect">
            <a:avLst>
              <a:gd name="adj" fmla="val 11906"/>
            </a:avLst>
          </a:prstGeom>
          <a:solidFill>
            <a:srgbClr val="FCFCFB"/>
          </a:solidFill>
          <a:ln w="6350">
            <a:solidFill>
              <a:srgbClr val="D3DAE1"/>
            </a:solidFill>
            <a:prstDash val="solid"/>
          </a:ln>
        </p:spPr>
      </p:sp>
      <p:pic>
        <p:nvPicPr>
          <p:cNvPr id="6" name="Image 0" descr="GraduationCap">    </p:cNvPr>
          <p:cNvPicPr>
            <a:picLocks noChangeAspect="1"/>
          </p:cNvPicPr>
          <p:nvPr/>
        </p:nvPicPr>
        <p:blipFill>
          <a:blip r:embed="rId1"/>
          <a:srcRect l="0" r="0" t="0" b="0"/>
          <a:stretch/>
        </p:blipFill>
        <p:spPr>
          <a:xfrm>
            <a:off x="1022350" y="1857970"/>
            <a:ext cx="279400" cy="279400"/>
          </a:xfrm>
          <a:prstGeom prst="rect">
            <a:avLst/>
          </a:prstGeom>
        </p:spPr>
      </p:pic>
      <p:sp>
        <p:nvSpPr>
          <p:cNvPr id="7" name="Text 4"/>
          <p:cNvSpPr/>
          <p:nvPr/>
        </p:nvSpPr>
        <p:spPr>
          <a:xfrm>
            <a:off x="1454150" y="1857970"/>
            <a:ext cx="4486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Obuka operatera</a:t>
            </a:r>
            <a:endParaRPr lang="en-US" sz="1400" dirty="0"/>
          </a:p>
        </p:txBody>
      </p:sp>
      <p:sp>
        <p:nvSpPr>
          <p:cNvPr id="8" name="Text 5"/>
          <p:cNvSpPr/>
          <p:nvPr/>
        </p:nvSpPr>
        <p:spPr>
          <a:xfrm>
            <a:off x="1454150" y="2109391"/>
            <a:ext cx="4486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Uvežbavanje nenormalnih situacija bez rizika po postrojenje.</a:t>
            </a:r>
            <a:endParaRPr lang="en-US" sz="1200" dirty="0"/>
          </a:p>
        </p:txBody>
      </p:sp>
      <p:sp>
        <p:nvSpPr>
          <p:cNvPr id="9" name="Shape 6"/>
          <p:cNvSpPr/>
          <p:nvPr/>
        </p:nvSpPr>
        <p:spPr>
          <a:xfrm>
            <a:off x="6175375" y="1676995"/>
            <a:ext cx="5200650" cy="826691"/>
          </a:xfrm>
          <a:prstGeom prst="roundRect">
            <a:avLst>
              <a:gd name="adj" fmla="val 11906"/>
            </a:avLst>
          </a:prstGeom>
          <a:solidFill>
            <a:srgbClr val="FCFCFB"/>
          </a:solidFill>
          <a:ln w="6350">
            <a:solidFill>
              <a:srgbClr val="D3DAE1"/>
            </a:solidFill>
            <a:prstDash val="solid"/>
          </a:ln>
        </p:spPr>
      </p:sp>
      <p:pic>
        <p:nvPicPr>
          <p:cNvPr id="10" name="Image 1" descr="CheckCircle">    </p:cNvPr>
          <p:cNvPicPr>
            <a:picLocks noChangeAspect="1"/>
          </p:cNvPicPr>
          <p:nvPr/>
        </p:nvPicPr>
        <p:blipFill>
          <a:blip r:embed="rId2"/>
          <a:srcRect l="0" r="0" t="0" b="0"/>
          <a:stretch/>
        </p:blipFill>
        <p:spPr>
          <a:xfrm>
            <a:off x="6381750" y="1857970"/>
            <a:ext cx="279400" cy="279400"/>
          </a:xfrm>
          <a:prstGeom prst="rect">
            <a:avLst/>
          </a:prstGeom>
        </p:spPr>
      </p:pic>
      <p:sp>
        <p:nvSpPr>
          <p:cNvPr id="11" name="Text 7"/>
          <p:cNvSpPr/>
          <p:nvPr/>
        </p:nvSpPr>
        <p:spPr>
          <a:xfrm>
            <a:off x="6813550" y="1857970"/>
            <a:ext cx="4486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Testiranje konfiguracije</a:t>
            </a:r>
            <a:endParaRPr lang="en-US" sz="1400" dirty="0"/>
          </a:p>
        </p:txBody>
      </p:sp>
      <p:sp>
        <p:nvSpPr>
          <p:cNvPr id="12" name="Text 8"/>
          <p:cNvSpPr/>
          <p:nvPr/>
        </p:nvSpPr>
        <p:spPr>
          <a:xfrm>
            <a:off x="6813550" y="2109391"/>
            <a:ext cx="4486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Provera tagova, alarma i ekrana pre puštanja u rad.</a:t>
            </a:r>
            <a:endParaRPr lang="en-US" sz="1200" dirty="0"/>
          </a:p>
        </p:txBody>
      </p:sp>
      <p:sp>
        <p:nvSpPr>
          <p:cNvPr id="13" name="Shape 9"/>
          <p:cNvSpPr/>
          <p:nvPr/>
        </p:nvSpPr>
        <p:spPr>
          <a:xfrm>
            <a:off x="815975" y="2662436"/>
            <a:ext cx="5200650" cy="1040011"/>
          </a:xfrm>
          <a:prstGeom prst="roundRect">
            <a:avLst>
              <a:gd name="adj" fmla="val 9464"/>
            </a:avLst>
          </a:prstGeom>
          <a:solidFill>
            <a:srgbClr val="FCFCFB"/>
          </a:solidFill>
          <a:ln w="6350">
            <a:solidFill>
              <a:srgbClr val="D3DAE1"/>
            </a:solidFill>
            <a:prstDash val="solid"/>
          </a:ln>
        </p:spPr>
      </p:sp>
      <p:pic>
        <p:nvPicPr>
          <p:cNvPr id="14" name="Image 2" descr="Lock">    </p:cNvPr>
          <p:cNvPicPr>
            <a:picLocks noChangeAspect="1"/>
          </p:cNvPicPr>
          <p:nvPr/>
        </p:nvPicPr>
        <p:blipFill>
          <a:blip r:embed="rId3"/>
          <a:srcRect l="0" r="0" t="0" b="0"/>
          <a:stretch/>
        </p:blipFill>
        <p:spPr>
          <a:xfrm>
            <a:off x="1022350" y="2843411"/>
            <a:ext cx="279400" cy="279400"/>
          </a:xfrm>
          <a:prstGeom prst="rect">
            <a:avLst/>
          </a:prstGeom>
        </p:spPr>
      </p:pic>
      <p:sp>
        <p:nvSpPr>
          <p:cNvPr id="15" name="Text 10"/>
          <p:cNvSpPr/>
          <p:nvPr/>
        </p:nvSpPr>
        <p:spPr>
          <a:xfrm>
            <a:off x="1454150" y="2843411"/>
            <a:ext cx="4486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Bezbednosna istraživanja</a:t>
            </a:r>
            <a:endParaRPr lang="en-US" sz="1400" dirty="0"/>
          </a:p>
        </p:txBody>
      </p:sp>
      <p:sp>
        <p:nvSpPr>
          <p:cNvPr id="16" name="Text 11"/>
          <p:cNvSpPr/>
          <p:nvPr/>
        </p:nvSpPr>
        <p:spPr>
          <a:xfrm>
            <a:off x="1454150" y="3094831"/>
            <a:ext cx="4486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Napadi i odbrana analiziraju se na modelu, a ne na stvarnoj infrastrukturi.</a:t>
            </a:r>
            <a:endParaRPr lang="en-US" sz="1200" dirty="0"/>
          </a:p>
        </p:txBody>
      </p:sp>
      <p:sp>
        <p:nvSpPr>
          <p:cNvPr id="17" name="Shape 12"/>
          <p:cNvSpPr/>
          <p:nvPr/>
        </p:nvSpPr>
        <p:spPr>
          <a:xfrm>
            <a:off x="6175375" y="2662436"/>
            <a:ext cx="5200650" cy="1040011"/>
          </a:xfrm>
          <a:prstGeom prst="roundRect">
            <a:avLst>
              <a:gd name="adj" fmla="val 9464"/>
            </a:avLst>
          </a:prstGeom>
          <a:solidFill>
            <a:srgbClr val="FCFCFB"/>
          </a:solidFill>
          <a:ln w="6350">
            <a:solidFill>
              <a:srgbClr val="D3DAE1"/>
            </a:solidFill>
            <a:prstDash val="solid"/>
          </a:ln>
        </p:spPr>
      </p:sp>
      <p:pic>
        <p:nvPicPr>
          <p:cNvPr id="18" name="Image 3" descr="Clock">    </p:cNvPr>
          <p:cNvPicPr>
            <a:picLocks noChangeAspect="1"/>
          </p:cNvPicPr>
          <p:nvPr/>
        </p:nvPicPr>
        <p:blipFill>
          <a:blip r:embed="rId4"/>
          <a:srcRect l="0" r="0" t="0" b="0"/>
          <a:stretch/>
        </p:blipFill>
        <p:spPr>
          <a:xfrm>
            <a:off x="6381750" y="2843411"/>
            <a:ext cx="279400" cy="279400"/>
          </a:xfrm>
          <a:prstGeom prst="rect">
            <a:avLst/>
          </a:prstGeom>
        </p:spPr>
      </p:pic>
      <p:sp>
        <p:nvSpPr>
          <p:cNvPr id="19" name="Text 13"/>
          <p:cNvSpPr/>
          <p:nvPr/>
        </p:nvSpPr>
        <p:spPr>
          <a:xfrm>
            <a:off x="6813550" y="2843411"/>
            <a:ext cx="4486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Reprodukcija događaja</a:t>
            </a:r>
            <a:endParaRPr lang="en-US" sz="1400" dirty="0"/>
          </a:p>
        </p:txBody>
      </p:sp>
      <p:sp>
        <p:nvSpPr>
          <p:cNvPr id="20" name="Text 14"/>
          <p:cNvSpPr/>
          <p:nvPr/>
        </p:nvSpPr>
        <p:spPr>
          <a:xfrm>
            <a:off x="6813550" y="3094831"/>
            <a:ext cx="4486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Ponavljanje zabeleženih podataka radi analize incidenata.</a:t>
            </a:r>
            <a:endParaRPr lang="en-US" sz="1200" dirty="0"/>
          </a:p>
        </p:txBody>
      </p:sp>
      <p:sp>
        <p:nvSpPr>
          <p:cNvPr id="21" name="Shape 15"/>
          <p:cNvSpPr/>
          <p:nvPr/>
        </p:nvSpPr>
        <p:spPr>
          <a:xfrm>
            <a:off x="812800" y="3959622"/>
            <a:ext cx="10566400" cy="508000"/>
          </a:xfrm>
          <a:prstGeom prst="roundRect">
            <a:avLst>
              <a:gd name="adj" fmla="val 15000"/>
            </a:avLst>
          </a:prstGeom>
          <a:solidFill>
            <a:srgbClr val="EBF0F5"/>
          </a:solidFill>
          <a:ln/>
        </p:spPr>
      </p:sp>
      <p:pic>
        <p:nvPicPr>
          <p:cNvPr id="22" name="Image 4" descr="Database">    </p:cNvPr>
          <p:cNvPicPr>
            <a:picLocks noChangeAspect="1"/>
          </p:cNvPicPr>
          <p:nvPr/>
        </p:nvPicPr>
        <p:blipFill>
          <a:blip r:embed="rId5"/>
          <a:srcRect l="0" r="0" t="0" b="0"/>
          <a:stretch/>
        </p:blipFill>
        <p:spPr>
          <a:xfrm>
            <a:off x="990600" y="4086622"/>
            <a:ext cx="254000" cy="254000"/>
          </a:xfrm>
          <a:prstGeom prst="rect">
            <a:avLst/>
          </a:prstGeom>
        </p:spPr>
      </p:pic>
      <p:sp>
        <p:nvSpPr>
          <p:cNvPr id="23" name="Text 16"/>
          <p:cNvSpPr/>
          <p:nvPr/>
        </p:nvSpPr>
        <p:spPr>
          <a:xfrm>
            <a:off x="1371600" y="410696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Ispitna postrojenja poput SWaT (Singapur) objavljuju podatke o normalnom radu i napadima, što je tema sledeće prezentacije.</a:t>
            </a:r>
            <a:endParaRPr lang="en-US" sz="1200" dirty="0"/>
          </a:p>
        </p:txBody>
      </p:sp>
      <p:sp>
        <p:nvSpPr>
          <p:cNvPr id="24" name="Shape 17"/>
          <p:cNvSpPr/>
          <p:nvPr/>
        </p:nvSpPr>
        <p:spPr>
          <a:xfrm>
            <a:off x="812800" y="6209705"/>
            <a:ext cx="10566400" cy="0"/>
          </a:xfrm>
          <a:prstGeom prst="line">
            <a:avLst/>
          </a:prstGeom>
          <a:noFill/>
          <a:ln w="6350">
            <a:solidFill>
              <a:srgbClr val="D3DAE1"/>
            </a:solidFill>
            <a:prstDash val="solid"/>
          </a:ln>
        </p:spPr>
      </p:sp>
      <p:sp>
        <p:nvSpPr>
          <p:cNvPr id="25" name="Text 1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6" name="Text 1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BF0F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A5CA8"/>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DEO TREĆI</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Prikazi</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Interfejs čovek–mašina kao sredstvo situacione svesti: hijerarhija prikaza, principi projektovanja i vizuelno kodiranje stanja.</a:t>
            </a:r>
            <a:endParaRPr lang="en-US" sz="1400" dirty="0"/>
          </a:p>
        </p:txBody>
      </p:sp>
      <p:sp>
        <p:nvSpPr>
          <p:cNvPr id="6" name="Text 4"/>
          <p:cNvSpPr/>
          <p:nvPr/>
        </p:nvSpPr>
        <p:spPr>
          <a:xfrm>
            <a:off x="4270375" y="3915966"/>
            <a:ext cx="115609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Uloga HMI-ja</a:t>
            </a:r>
            <a:endParaRPr lang="en-US" sz="1200" dirty="0"/>
          </a:p>
        </p:txBody>
      </p:sp>
      <p:sp>
        <p:nvSpPr>
          <p:cNvPr id="7" name="Text 5"/>
          <p:cNvSpPr/>
          <p:nvPr/>
        </p:nvSpPr>
        <p:spPr>
          <a:xfrm>
            <a:off x="5509022" y="3915966"/>
            <a:ext cx="1496219"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Hijerarhija prikaza</a:t>
            </a:r>
            <a:endParaRPr lang="en-US" sz="1200" dirty="0"/>
          </a:p>
        </p:txBody>
      </p:sp>
      <p:sp>
        <p:nvSpPr>
          <p:cNvPr id="8" name="Text 6"/>
          <p:cNvSpPr/>
          <p:nvPr/>
        </p:nvSpPr>
        <p:spPr>
          <a:xfrm>
            <a:off x="7087791" y="3915966"/>
            <a:ext cx="1940123"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Visokoperformantni HMI</a:t>
            </a:r>
            <a:endParaRPr lang="en-US" sz="1200" dirty="0"/>
          </a:p>
        </p:txBody>
      </p:sp>
      <p:sp>
        <p:nvSpPr>
          <p:cNvPr id="9" name="Text 7"/>
          <p:cNvSpPr/>
          <p:nvPr/>
        </p:nvSpPr>
        <p:spPr>
          <a:xfrm>
            <a:off x="9110464" y="3915966"/>
            <a:ext cx="1400671"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Elementi prikaza</a:t>
            </a:r>
            <a:endParaRPr lang="en-US" sz="1200" dirty="0"/>
          </a:p>
        </p:txBody>
      </p:sp>
      <p:sp>
        <p:nvSpPr>
          <p:cNvPr id="10" name="Text 8"/>
          <p:cNvSpPr/>
          <p:nvPr/>
        </p:nvSpPr>
        <p:spPr>
          <a:xfrm>
            <a:off x="4270375" y="4319786"/>
            <a:ext cx="1360091"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Kodiranje stanja</a:t>
            </a:r>
            <a:endParaRPr lang="en-US" sz="1200" dirty="0"/>
          </a:p>
        </p:txBody>
      </p:sp>
      <p:sp>
        <p:nvSpPr>
          <p:cNvPr id="11" name="Text 9"/>
          <p:cNvSpPr/>
          <p:nvPr/>
        </p:nvSpPr>
        <p:spPr>
          <a:xfrm>
            <a:off x="5713016" y="4319786"/>
            <a:ext cx="85169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Trendovi</a:t>
            </a:r>
            <a:endParaRPr lang="en-US" sz="1200" dirty="0"/>
          </a:p>
        </p:txBody>
      </p:sp>
      <p:sp>
        <p:nvSpPr>
          <p:cNvPr id="12" name="Text 10"/>
          <p:cNvSpPr/>
          <p:nvPr/>
        </p:nvSpPr>
        <p:spPr>
          <a:xfrm>
            <a:off x="6647259" y="4319786"/>
            <a:ext cx="1417538"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Raspored ekrana</a:t>
            </a:r>
            <a:endParaRPr lang="en-US" sz="1200" dirty="0"/>
          </a:p>
        </p:txBody>
      </p:sp>
      <p:sp>
        <p:nvSpPr>
          <p:cNvPr id="13" name="Shape 11"/>
          <p:cNvSpPr/>
          <p:nvPr/>
        </p:nvSpPr>
        <p:spPr>
          <a:xfrm>
            <a:off x="812800" y="6209705"/>
            <a:ext cx="10566400" cy="0"/>
          </a:xfrm>
          <a:prstGeom prst="line">
            <a:avLst/>
          </a:prstGeom>
          <a:noFill/>
          <a:ln w="6350">
            <a:solidFill>
              <a:srgbClr val="C3CEDA"/>
            </a:solidFill>
            <a:prstDash val="solid"/>
          </a:ln>
        </p:spPr>
      </p:sp>
      <p:sp>
        <p:nvSpPr>
          <p:cNvPr id="14" name="Text 12"/>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15"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PRIKAZI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HMI i situaciona svest operatera</a:t>
            </a:r>
            <a:endParaRPr lang="en-US" sz="3000" dirty="0"/>
          </a:p>
        </p:txBody>
      </p:sp>
      <p:sp>
        <p:nvSpPr>
          <p:cNvPr id="5" name="Shape 3"/>
          <p:cNvSpPr/>
          <p:nvPr/>
        </p:nvSpPr>
        <p:spPr>
          <a:xfrm>
            <a:off x="815975" y="1676995"/>
            <a:ext cx="3215184" cy="1398091"/>
          </a:xfrm>
          <a:prstGeom prst="roundRect">
            <a:avLst>
              <a:gd name="adj" fmla="val 7040"/>
            </a:avLst>
          </a:prstGeom>
          <a:solidFill>
            <a:srgbClr val="FCFCFB"/>
          </a:solidFill>
          <a:ln w="6350">
            <a:solidFill>
              <a:srgbClr val="D3DAE1"/>
            </a:solidFill>
            <a:prstDash val="solid"/>
          </a:ln>
        </p:spPr>
      </p:sp>
      <p:sp>
        <p:nvSpPr>
          <p:cNvPr id="6" name="Text 4"/>
          <p:cNvSpPr/>
          <p:nvPr/>
        </p:nvSpPr>
        <p:spPr>
          <a:xfrm>
            <a:off x="1022350" y="1857970"/>
            <a:ext cx="28865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1</a:t>
            </a:r>
            <a:endParaRPr lang="en-US" sz="1200" dirty="0"/>
          </a:p>
        </p:txBody>
      </p:sp>
      <p:sp>
        <p:nvSpPr>
          <p:cNvPr id="7" name="Text 5"/>
          <p:cNvSpPr/>
          <p:nvPr/>
        </p:nvSpPr>
        <p:spPr>
          <a:xfrm>
            <a:off x="1022350" y="2147491"/>
            <a:ext cx="288650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Opažanje</a:t>
            </a:r>
            <a:endParaRPr lang="en-US" sz="1600" dirty="0"/>
          </a:p>
        </p:txBody>
      </p:sp>
      <p:sp>
        <p:nvSpPr>
          <p:cNvPr id="8" name="Text 6"/>
          <p:cNvSpPr/>
          <p:nvPr/>
        </p:nvSpPr>
        <p:spPr>
          <a:xfrm>
            <a:off x="1022350" y="2467471"/>
            <a:ext cx="288650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Šta se dešava? Vrednosti, stanja opreme i alarmi.</a:t>
            </a:r>
            <a:endParaRPr lang="en-US" sz="1200" dirty="0"/>
          </a:p>
        </p:txBody>
      </p:sp>
      <p:pic>
        <p:nvPicPr>
          <p:cNvPr id="9" name="Image 0" descr="arrow-right">    </p:cNvPr>
          <p:cNvPicPr>
            <a:picLocks noChangeAspect="1"/>
          </p:cNvPicPr>
          <p:nvPr/>
        </p:nvPicPr>
        <p:blipFill>
          <a:blip r:embed="rId1"/>
          <a:srcRect l="0" r="0" t="0" b="0"/>
          <a:stretch/>
        </p:blipFill>
        <p:spPr>
          <a:xfrm>
            <a:off x="4110534" y="2299791"/>
            <a:ext cx="304800" cy="152400"/>
          </a:xfrm>
          <a:prstGeom prst="rect">
            <a:avLst/>
          </a:prstGeom>
        </p:spPr>
      </p:pic>
      <p:sp>
        <p:nvSpPr>
          <p:cNvPr id="10" name="Shape 7"/>
          <p:cNvSpPr/>
          <p:nvPr/>
        </p:nvSpPr>
        <p:spPr>
          <a:xfrm>
            <a:off x="4494709" y="1676995"/>
            <a:ext cx="3215283" cy="1398091"/>
          </a:xfrm>
          <a:prstGeom prst="roundRect">
            <a:avLst>
              <a:gd name="adj" fmla="val 7040"/>
            </a:avLst>
          </a:prstGeom>
          <a:solidFill>
            <a:srgbClr val="DCE8F4"/>
          </a:solidFill>
          <a:ln w="6350">
            <a:solidFill>
              <a:srgbClr val="A9C2DC"/>
            </a:solidFill>
            <a:prstDash val="solid"/>
          </a:ln>
        </p:spPr>
      </p:sp>
      <p:sp>
        <p:nvSpPr>
          <p:cNvPr id="11" name="Text 8"/>
          <p:cNvSpPr/>
          <p:nvPr/>
        </p:nvSpPr>
        <p:spPr>
          <a:xfrm>
            <a:off x="4701084" y="1857970"/>
            <a:ext cx="288660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2</a:t>
            </a:r>
            <a:endParaRPr lang="en-US" sz="1200" dirty="0"/>
          </a:p>
        </p:txBody>
      </p:sp>
      <p:sp>
        <p:nvSpPr>
          <p:cNvPr id="12" name="Text 9"/>
          <p:cNvSpPr/>
          <p:nvPr/>
        </p:nvSpPr>
        <p:spPr>
          <a:xfrm>
            <a:off x="4701084" y="2147491"/>
            <a:ext cx="288660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Razumevanje</a:t>
            </a:r>
            <a:endParaRPr lang="en-US" sz="1600" dirty="0"/>
          </a:p>
        </p:txBody>
      </p:sp>
      <p:sp>
        <p:nvSpPr>
          <p:cNvPr id="13" name="Text 10"/>
          <p:cNvSpPr/>
          <p:nvPr/>
        </p:nvSpPr>
        <p:spPr>
          <a:xfrm>
            <a:off x="4701084" y="2467471"/>
            <a:ext cx="288660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Šta to znači? Odnos prema normalnom radu i ciljevima.</a:t>
            </a:r>
            <a:endParaRPr lang="en-US" sz="1200" dirty="0"/>
          </a:p>
        </p:txBody>
      </p:sp>
      <p:pic>
        <p:nvPicPr>
          <p:cNvPr id="14" name="Image 1" descr="arrow-right">    </p:cNvPr>
          <p:cNvPicPr>
            <a:picLocks noChangeAspect="1"/>
          </p:cNvPicPr>
          <p:nvPr/>
        </p:nvPicPr>
        <p:blipFill>
          <a:blip r:embed="rId2"/>
          <a:srcRect l="0" r="0" t="0" b="0"/>
          <a:stretch/>
        </p:blipFill>
        <p:spPr>
          <a:xfrm>
            <a:off x="7789366" y="2299791"/>
            <a:ext cx="304800" cy="152400"/>
          </a:xfrm>
          <a:prstGeom prst="rect">
            <a:avLst/>
          </a:prstGeom>
        </p:spPr>
      </p:pic>
      <p:sp>
        <p:nvSpPr>
          <p:cNvPr id="15" name="Shape 11"/>
          <p:cNvSpPr/>
          <p:nvPr/>
        </p:nvSpPr>
        <p:spPr>
          <a:xfrm>
            <a:off x="8170366" y="1673820"/>
            <a:ext cx="3208834" cy="1404441"/>
          </a:xfrm>
          <a:prstGeom prst="roundRect">
            <a:avLst>
              <a:gd name="adj" fmla="val 7234"/>
            </a:avLst>
          </a:prstGeom>
          <a:solidFill>
            <a:srgbClr val="0A5CA8"/>
          </a:solidFill>
          <a:ln/>
        </p:spPr>
      </p:sp>
      <p:sp>
        <p:nvSpPr>
          <p:cNvPr id="16" name="Text 12"/>
          <p:cNvSpPr/>
          <p:nvPr/>
        </p:nvSpPr>
        <p:spPr>
          <a:xfrm>
            <a:off x="8373566" y="1851620"/>
            <a:ext cx="28865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E8F4"/>
                </a:solidFill>
                <a:latin typeface="IBM Plex Mono" pitchFamily="49" charset="0"/>
                <a:ea typeface="IBM Plex Mono" pitchFamily="49" charset="-122"/>
                <a:cs typeface="IBM Plex Mono" pitchFamily="49" charset="-120"/>
              </a:rPr>
              <a:t>NIVO 3</a:t>
            </a:r>
            <a:endParaRPr lang="en-US" sz="1200" dirty="0"/>
          </a:p>
        </p:txBody>
      </p:sp>
      <p:sp>
        <p:nvSpPr>
          <p:cNvPr id="17" name="Text 13"/>
          <p:cNvSpPr/>
          <p:nvPr/>
        </p:nvSpPr>
        <p:spPr>
          <a:xfrm>
            <a:off x="8373566" y="2141141"/>
            <a:ext cx="288650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7F5"/>
                </a:solidFill>
                <a:latin typeface="IBM Plex Sans" pitchFamily="34" charset="0"/>
                <a:ea typeface="IBM Plex Sans" pitchFamily="34" charset="-122"/>
                <a:cs typeface="IBM Plex Sans" pitchFamily="34" charset="-120"/>
              </a:rPr>
              <a:t>Projekcija</a:t>
            </a:r>
            <a:endParaRPr lang="en-US" sz="1600" dirty="0"/>
          </a:p>
        </p:txBody>
      </p:sp>
      <p:sp>
        <p:nvSpPr>
          <p:cNvPr id="18" name="Text 14"/>
          <p:cNvSpPr/>
          <p:nvPr/>
        </p:nvSpPr>
        <p:spPr>
          <a:xfrm>
            <a:off x="8373566" y="2461121"/>
            <a:ext cx="288650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8F4"/>
                </a:solidFill>
                <a:latin typeface="IBM Plex Sans" pitchFamily="34" charset="0"/>
                <a:ea typeface="IBM Plex Sans" pitchFamily="34" charset="-122"/>
                <a:cs typeface="IBM Plex Sans" pitchFamily="34" charset="-120"/>
              </a:rPr>
              <a:t>Šta će se dogoditi? Trendovi i očekivani razvoj.</a:t>
            </a:r>
            <a:endParaRPr lang="en-US" sz="1200" dirty="0"/>
          </a:p>
        </p:txBody>
      </p:sp>
      <p:sp>
        <p:nvSpPr>
          <p:cNvPr id="19" name="Text 15"/>
          <p:cNvSpPr/>
          <p:nvPr/>
        </p:nvSpPr>
        <p:spPr>
          <a:xfrm>
            <a:off x="812800" y="3332262"/>
            <a:ext cx="108833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HMI nije samo slika procesa. Obuhvata:</a:t>
            </a:r>
            <a:endParaRPr lang="en-US" sz="1400" dirty="0"/>
          </a:p>
        </p:txBody>
      </p:sp>
      <p:sp>
        <p:nvSpPr>
          <p:cNvPr id="20" name="Text 16"/>
          <p:cNvSpPr/>
          <p:nvPr/>
        </p:nvSpPr>
        <p:spPr>
          <a:xfrm>
            <a:off x="815975" y="3694807"/>
            <a:ext cx="142537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procesne prikaze</a:t>
            </a:r>
            <a:endParaRPr lang="en-US" sz="1200" dirty="0"/>
          </a:p>
        </p:txBody>
      </p:sp>
      <p:sp>
        <p:nvSpPr>
          <p:cNvPr id="21" name="Text 17"/>
          <p:cNvSpPr/>
          <p:nvPr/>
        </p:nvSpPr>
        <p:spPr>
          <a:xfrm>
            <a:off x="2323902" y="3694807"/>
            <a:ext cx="940991"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navigaciju</a:t>
            </a:r>
            <a:endParaRPr lang="en-US" sz="1200" dirty="0"/>
          </a:p>
        </p:txBody>
      </p:sp>
      <p:sp>
        <p:nvSpPr>
          <p:cNvPr id="22" name="Text 18"/>
          <p:cNvSpPr/>
          <p:nvPr/>
        </p:nvSpPr>
        <p:spPr>
          <a:xfrm>
            <a:off x="3347442" y="3694807"/>
            <a:ext cx="737295"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alarme</a:t>
            </a:r>
            <a:endParaRPr lang="en-US" sz="1200" dirty="0"/>
          </a:p>
        </p:txBody>
      </p:sp>
      <p:sp>
        <p:nvSpPr>
          <p:cNvPr id="23" name="Text 19"/>
          <p:cNvSpPr/>
          <p:nvPr/>
        </p:nvSpPr>
        <p:spPr>
          <a:xfrm>
            <a:off x="4167287" y="3694807"/>
            <a:ext cx="869255"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trendove</a:t>
            </a:r>
            <a:endParaRPr lang="en-US" sz="1200" dirty="0"/>
          </a:p>
        </p:txBody>
      </p:sp>
      <p:sp>
        <p:nvSpPr>
          <p:cNvPr id="24" name="Text 20"/>
          <p:cNvSpPr/>
          <p:nvPr/>
        </p:nvSpPr>
        <p:spPr>
          <a:xfrm>
            <a:off x="5119092" y="3694807"/>
            <a:ext cx="153580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komande i potvrde</a:t>
            </a:r>
            <a:endParaRPr lang="en-US" sz="1200" dirty="0"/>
          </a:p>
        </p:txBody>
      </p:sp>
      <p:sp>
        <p:nvSpPr>
          <p:cNvPr id="25" name="Text 21"/>
          <p:cNvSpPr/>
          <p:nvPr/>
        </p:nvSpPr>
        <p:spPr>
          <a:xfrm>
            <a:off x="6737449" y="3694807"/>
            <a:ext cx="1669951"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povratne informacije</a:t>
            </a:r>
            <a:endParaRPr lang="en-US" sz="1200" dirty="0"/>
          </a:p>
        </p:txBody>
      </p:sp>
      <p:sp>
        <p:nvSpPr>
          <p:cNvPr id="26" name="Text 22"/>
          <p:cNvSpPr/>
          <p:nvPr/>
        </p:nvSpPr>
        <p:spPr>
          <a:xfrm>
            <a:off x="812800" y="412085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Model situacione svesti prema: M. R. Endsley, 1995.</a:t>
            </a:r>
            <a:endParaRPr lang="en-US" sz="1200" dirty="0"/>
          </a:p>
        </p:txBody>
      </p:sp>
      <p:sp>
        <p:nvSpPr>
          <p:cNvPr id="27" name="Shape 23"/>
          <p:cNvSpPr/>
          <p:nvPr/>
        </p:nvSpPr>
        <p:spPr>
          <a:xfrm>
            <a:off x="812800" y="6209705"/>
            <a:ext cx="10566400" cy="0"/>
          </a:xfrm>
          <a:prstGeom prst="line">
            <a:avLst/>
          </a:prstGeom>
          <a:noFill/>
          <a:ln w="6350">
            <a:solidFill>
              <a:srgbClr val="D3DAE1"/>
            </a:solidFill>
            <a:prstDash val="solid"/>
          </a:ln>
        </p:spPr>
      </p:sp>
      <p:sp>
        <p:nvSpPr>
          <p:cNvPr id="28" name="Text 24"/>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9"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PRIKAZI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Hijerarhija prikaza prema ISA-101</a:t>
            </a:r>
            <a:endParaRPr lang="en-US" sz="3000" dirty="0"/>
          </a:p>
        </p:txBody>
      </p:sp>
      <p:sp>
        <p:nvSpPr>
          <p:cNvPr id="5" name="Shape 3"/>
          <p:cNvSpPr/>
          <p:nvPr/>
        </p:nvSpPr>
        <p:spPr>
          <a:xfrm>
            <a:off x="2336800" y="1673820"/>
            <a:ext cx="2540000" cy="703461"/>
          </a:xfrm>
          <a:prstGeom prst="roundRect">
            <a:avLst>
              <a:gd name="adj" fmla="val 10832"/>
            </a:avLst>
          </a:prstGeom>
          <a:solidFill>
            <a:srgbClr val="0A5CA8"/>
          </a:solidFill>
          <a:ln/>
        </p:spPr>
      </p:sp>
      <p:sp>
        <p:nvSpPr>
          <p:cNvPr id="6" name="Text 4"/>
          <p:cNvSpPr/>
          <p:nvPr/>
        </p:nvSpPr>
        <p:spPr>
          <a:xfrm>
            <a:off x="3277592" y="1788120"/>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DCE8F4"/>
                </a:solidFill>
                <a:latin typeface="IBM Plex Mono" pitchFamily="49" charset="0"/>
                <a:ea typeface="IBM Plex Mono" pitchFamily="49" charset="-122"/>
                <a:cs typeface="IBM Plex Mono" pitchFamily="49" charset="-120"/>
              </a:rPr>
              <a:t>NIVO 1</a:t>
            </a:r>
            <a:endParaRPr lang="en-US" sz="1200" dirty="0"/>
          </a:p>
        </p:txBody>
      </p:sp>
      <p:sp>
        <p:nvSpPr>
          <p:cNvPr id="7" name="Text 5"/>
          <p:cNvSpPr/>
          <p:nvPr/>
        </p:nvSpPr>
        <p:spPr>
          <a:xfrm>
            <a:off x="2863622" y="2014141"/>
            <a:ext cx="1486257"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6F7F5"/>
                </a:solidFill>
                <a:latin typeface="IBM Plex Sans" pitchFamily="34" charset="0"/>
                <a:ea typeface="IBM Plex Sans" pitchFamily="34" charset="-122"/>
                <a:cs typeface="IBM Plex Sans" pitchFamily="34" charset="-120"/>
              </a:rPr>
              <a:t>Pregled oblasti</a:t>
            </a:r>
            <a:endParaRPr lang="en-US" sz="1400" dirty="0"/>
          </a:p>
        </p:txBody>
      </p:sp>
      <p:sp>
        <p:nvSpPr>
          <p:cNvPr id="8" name="Shape 6"/>
          <p:cNvSpPr/>
          <p:nvPr/>
        </p:nvSpPr>
        <p:spPr>
          <a:xfrm>
            <a:off x="1828800" y="2453481"/>
            <a:ext cx="3556000" cy="703461"/>
          </a:xfrm>
          <a:prstGeom prst="roundRect">
            <a:avLst>
              <a:gd name="adj" fmla="val 10832"/>
            </a:avLst>
          </a:prstGeom>
          <a:solidFill>
            <a:srgbClr val="C3D7EC"/>
          </a:solidFill>
          <a:ln/>
        </p:spPr>
      </p:sp>
      <p:sp>
        <p:nvSpPr>
          <p:cNvPr id="9" name="Text 7"/>
          <p:cNvSpPr/>
          <p:nvPr/>
        </p:nvSpPr>
        <p:spPr>
          <a:xfrm>
            <a:off x="3277592" y="2567781"/>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2</a:t>
            </a:r>
            <a:endParaRPr lang="en-US" sz="1200" dirty="0"/>
          </a:p>
        </p:txBody>
      </p:sp>
      <p:sp>
        <p:nvSpPr>
          <p:cNvPr id="10" name="Text 8"/>
          <p:cNvSpPr/>
          <p:nvPr/>
        </p:nvSpPr>
        <p:spPr>
          <a:xfrm>
            <a:off x="2533571" y="2793802"/>
            <a:ext cx="2146459"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Upravljanje jedinicom</a:t>
            </a:r>
            <a:endParaRPr lang="en-US" sz="1400" dirty="0"/>
          </a:p>
        </p:txBody>
      </p:sp>
      <p:sp>
        <p:nvSpPr>
          <p:cNvPr id="11" name="Shape 9"/>
          <p:cNvSpPr/>
          <p:nvPr/>
        </p:nvSpPr>
        <p:spPr>
          <a:xfrm>
            <a:off x="1320800" y="3233142"/>
            <a:ext cx="4572000" cy="703461"/>
          </a:xfrm>
          <a:prstGeom prst="roundRect">
            <a:avLst>
              <a:gd name="adj" fmla="val 10832"/>
            </a:avLst>
          </a:prstGeom>
          <a:solidFill>
            <a:srgbClr val="DCE8F4"/>
          </a:solidFill>
          <a:ln/>
        </p:spPr>
      </p:sp>
      <p:sp>
        <p:nvSpPr>
          <p:cNvPr id="12" name="Text 10"/>
          <p:cNvSpPr/>
          <p:nvPr/>
        </p:nvSpPr>
        <p:spPr>
          <a:xfrm>
            <a:off x="3277592" y="3347442"/>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3</a:t>
            </a:r>
            <a:endParaRPr lang="en-US" sz="1200" dirty="0"/>
          </a:p>
        </p:txBody>
      </p:sp>
      <p:sp>
        <p:nvSpPr>
          <p:cNvPr id="13" name="Text 11"/>
          <p:cNvSpPr/>
          <p:nvPr/>
        </p:nvSpPr>
        <p:spPr>
          <a:xfrm>
            <a:off x="2870885" y="3573463"/>
            <a:ext cx="1471732"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Detalji jedinice</a:t>
            </a:r>
            <a:endParaRPr lang="en-US" sz="1400" dirty="0"/>
          </a:p>
        </p:txBody>
      </p:sp>
      <p:sp>
        <p:nvSpPr>
          <p:cNvPr id="14" name="Shape 12"/>
          <p:cNvSpPr/>
          <p:nvPr/>
        </p:nvSpPr>
        <p:spPr>
          <a:xfrm>
            <a:off x="812800" y="4012803"/>
            <a:ext cx="5588000" cy="703461"/>
          </a:xfrm>
          <a:prstGeom prst="roundRect">
            <a:avLst>
              <a:gd name="adj" fmla="val 10832"/>
            </a:avLst>
          </a:prstGeom>
          <a:solidFill>
            <a:srgbClr val="EBF0F5"/>
          </a:solidFill>
          <a:ln/>
        </p:spPr>
      </p:sp>
      <p:sp>
        <p:nvSpPr>
          <p:cNvPr id="15" name="Text 13"/>
          <p:cNvSpPr/>
          <p:nvPr/>
        </p:nvSpPr>
        <p:spPr>
          <a:xfrm>
            <a:off x="3277592" y="4127103"/>
            <a:ext cx="65841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NIVO 4</a:t>
            </a:r>
            <a:endParaRPr lang="en-US" sz="1200" dirty="0"/>
          </a:p>
        </p:txBody>
      </p:sp>
      <p:sp>
        <p:nvSpPr>
          <p:cNvPr id="16" name="Text 14"/>
          <p:cNvSpPr/>
          <p:nvPr/>
        </p:nvSpPr>
        <p:spPr>
          <a:xfrm>
            <a:off x="2510592" y="4353123"/>
            <a:ext cx="2192417"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Dijagnostika i podrška</a:t>
            </a:r>
            <a:endParaRPr lang="en-US" sz="1400" dirty="0"/>
          </a:p>
        </p:txBody>
      </p:sp>
      <p:sp>
        <p:nvSpPr>
          <p:cNvPr id="17" name="Shape 15"/>
          <p:cNvSpPr/>
          <p:nvPr/>
        </p:nvSpPr>
        <p:spPr>
          <a:xfrm>
            <a:off x="6769100" y="1943001"/>
            <a:ext cx="0" cy="690761"/>
          </a:xfrm>
          <a:prstGeom prst="line">
            <a:avLst/>
          </a:prstGeom>
          <a:noFill/>
          <a:ln w="25400">
            <a:solidFill>
              <a:srgbClr val="0A5CA8"/>
            </a:solidFill>
            <a:prstDash val="solid"/>
          </a:ln>
        </p:spPr>
      </p:sp>
      <p:sp>
        <p:nvSpPr>
          <p:cNvPr id="18" name="Text 16"/>
          <p:cNvSpPr/>
          <p:nvPr/>
        </p:nvSpPr>
        <p:spPr>
          <a:xfrm>
            <a:off x="6934200" y="1955701"/>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Nivo 1</a:t>
            </a:r>
            <a:endParaRPr lang="en-US" sz="1200" dirty="0"/>
          </a:p>
        </p:txBody>
      </p:sp>
      <p:sp>
        <p:nvSpPr>
          <p:cNvPr id="19" name="Text 17"/>
          <p:cNvSpPr/>
          <p:nvPr/>
        </p:nvSpPr>
        <p:spPr>
          <a:xfrm>
            <a:off x="6934200" y="2194421"/>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Celo područje odgovornosti i ključni pokazatelji na jednom ekranu.</a:t>
            </a:r>
            <a:endParaRPr lang="en-US" sz="1200" dirty="0"/>
          </a:p>
        </p:txBody>
      </p:sp>
      <p:sp>
        <p:nvSpPr>
          <p:cNvPr id="20" name="Shape 18"/>
          <p:cNvSpPr/>
          <p:nvPr/>
        </p:nvSpPr>
        <p:spPr>
          <a:xfrm>
            <a:off x="6769100" y="2760762"/>
            <a:ext cx="0" cy="477441"/>
          </a:xfrm>
          <a:prstGeom prst="line">
            <a:avLst/>
          </a:prstGeom>
          <a:noFill/>
          <a:ln w="25400">
            <a:solidFill>
              <a:srgbClr val="0A5CA8"/>
            </a:solidFill>
            <a:prstDash val="solid"/>
          </a:ln>
        </p:spPr>
      </p:sp>
      <p:sp>
        <p:nvSpPr>
          <p:cNvPr id="21" name="Text 19"/>
          <p:cNvSpPr/>
          <p:nvPr/>
        </p:nvSpPr>
        <p:spPr>
          <a:xfrm>
            <a:off x="6934200" y="2773462"/>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Nivo 2</a:t>
            </a:r>
            <a:endParaRPr lang="en-US" sz="1200" dirty="0"/>
          </a:p>
        </p:txBody>
      </p:sp>
      <p:sp>
        <p:nvSpPr>
          <p:cNvPr id="22" name="Text 20"/>
          <p:cNvSpPr/>
          <p:nvPr/>
        </p:nvSpPr>
        <p:spPr>
          <a:xfrm>
            <a:off x="6934200" y="3012182"/>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Svakodnevni rad sa procesnom jedinicom.</a:t>
            </a:r>
            <a:endParaRPr lang="en-US" sz="1200" dirty="0"/>
          </a:p>
        </p:txBody>
      </p:sp>
      <p:sp>
        <p:nvSpPr>
          <p:cNvPr id="23" name="Shape 21"/>
          <p:cNvSpPr/>
          <p:nvPr/>
        </p:nvSpPr>
        <p:spPr>
          <a:xfrm>
            <a:off x="6769100" y="3365202"/>
            <a:ext cx="0" cy="477441"/>
          </a:xfrm>
          <a:prstGeom prst="line">
            <a:avLst/>
          </a:prstGeom>
          <a:noFill/>
          <a:ln w="25400">
            <a:solidFill>
              <a:srgbClr val="0A5CA8"/>
            </a:solidFill>
            <a:prstDash val="solid"/>
          </a:ln>
        </p:spPr>
      </p:sp>
      <p:sp>
        <p:nvSpPr>
          <p:cNvPr id="24" name="Text 22"/>
          <p:cNvSpPr/>
          <p:nvPr/>
        </p:nvSpPr>
        <p:spPr>
          <a:xfrm>
            <a:off x="6934200" y="3377902"/>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Nivo 3</a:t>
            </a:r>
            <a:endParaRPr lang="en-US" sz="1200" dirty="0"/>
          </a:p>
        </p:txBody>
      </p:sp>
      <p:sp>
        <p:nvSpPr>
          <p:cNvPr id="25" name="Text 23"/>
          <p:cNvSpPr/>
          <p:nvPr/>
        </p:nvSpPr>
        <p:spPr>
          <a:xfrm>
            <a:off x="6934200" y="3616623"/>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Pojedinosti opreme i upravljački paneli.</a:t>
            </a:r>
            <a:endParaRPr lang="en-US" sz="1200" dirty="0"/>
          </a:p>
        </p:txBody>
      </p:sp>
      <p:sp>
        <p:nvSpPr>
          <p:cNvPr id="26" name="Shape 24"/>
          <p:cNvSpPr/>
          <p:nvPr/>
        </p:nvSpPr>
        <p:spPr>
          <a:xfrm>
            <a:off x="6769100" y="3969643"/>
            <a:ext cx="0" cy="477441"/>
          </a:xfrm>
          <a:prstGeom prst="line">
            <a:avLst/>
          </a:prstGeom>
          <a:noFill/>
          <a:ln w="25400">
            <a:solidFill>
              <a:srgbClr val="0A5CA8"/>
            </a:solidFill>
            <a:prstDash val="solid"/>
          </a:ln>
        </p:spPr>
      </p:sp>
      <p:sp>
        <p:nvSpPr>
          <p:cNvPr id="27" name="Text 25"/>
          <p:cNvSpPr/>
          <p:nvPr/>
        </p:nvSpPr>
        <p:spPr>
          <a:xfrm>
            <a:off x="6934200" y="3982343"/>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Nivo 4</a:t>
            </a:r>
            <a:endParaRPr lang="en-US" sz="1200" dirty="0"/>
          </a:p>
        </p:txBody>
      </p:sp>
      <p:sp>
        <p:nvSpPr>
          <p:cNvPr id="28" name="Text 26"/>
          <p:cNvSpPr/>
          <p:nvPr/>
        </p:nvSpPr>
        <p:spPr>
          <a:xfrm>
            <a:off x="6934200" y="4221063"/>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Dijagnostika, procedure i pomoćne informacije.</a:t>
            </a:r>
            <a:endParaRPr lang="en-US" sz="1200" dirty="0"/>
          </a:p>
        </p:txBody>
      </p:sp>
      <p:sp>
        <p:nvSpPr>
          <p:cNvPr id="29" name="Shape 27"/>
          <p:cNvSpPr/>
          <p:nvPr/>
        </p:nvSpPr>
        <p:spPr>
          <a:xfrm>
            <a:off x="812800" y="6209705"/>
            <a:ext cx="10566400" cy="0"/>
          </a:xfrm>
          <a:prstGeom prst="line">
            <a:avLst/>
          </a:prstGeom>
          <a:noFill/>
          <a:ln w="6350">
            <a:solidFill>
              <a:srgbClr val="D3DAE1"/>
            </a:solidFill>
            <a:prstDash val="solid"/>
          </a:ln>
        </p:spPr>
      </p:sp>
      <p:sp>
        <p:nvSpPr>
          <p:cNvPr id="30" name="Text 2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1"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PRIKAZI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Tradicionalni i visokoperformantni HMI</a:t>
            </a:r>
            <a:endParaRPr lang="en-US" sz="3000" dirty="0"/>
          </a:p>
        </p:txBody>
      </p:sp>
      <p:sp>
        <p:nvSpPr>
          <p:cNvPr id="5" name="Shape 3"/>
          <p:cNvSpPr/>
          <p:nvPr/>
        </p:nvSpPr>
        <p:spPr>
          <a:xfrm>
            <a:off x="812800" y="1673820"/>
            <a:ext cx="10566400" cy="2746772"/>
          </a:xfrm>
          <a:prstGeom prst="roundRect">
            <a:avLst>
              <a:gd name="adj" fmla="val 3699"/>
            </a:avLst>
          </a:prstGeom>
          <a:solidFill>
            <a:srgbClr val="FCFCFB"/>
          </a:solidFill>
          <a:ln/>
        </p:spPr>
      </p:sp>
      <p:sp>
        <p:nvSpPr>
          <p:cNvPr id="6" name="Shape 4"/>
          <p:cNvSpPr/>
          <p:nvPr/>
        </p:nvSpPr>
        <p:spPr>
          <a:xfrm>
            <a:off x="812800" y="1673820"/>
            <a:ext cx="10566400" cy="2746772"/>
          </a:xfrm>
          <a:custGeom>
            <a:avLst/>
            <a:gdLst/>
            <a:ahLst/>
            <a:cxnLst/>
            <a:rect l="l" t="t" r="r" b="b"/>
            <a:pathLst>
              <a:path w="10566400" h="2746772">
                <a:moveTo>
                  <a:pt x="10464800" y="0"/>
                </a:moveTo>
                <a:lnTo>
                  <a:pt x="10464800" y="0"/>
                </a:lnTo>
                <a:arcTo hR="101600" wR="101600" stAng="16200000" swAng="5400000"/>
                <a:lnTo>
                  <a:pt x="10566400" y="2645172"/>
                </a:lnTo>
                <a:arcTo hR="101600" wR="101600" stAng="0" swAng="5400000"/>
                <a:lnTo>
                  <a:pt x="101600" y="2746772"/>
                </a:lnTo>
                <a:arcTo hR="101600" wR="101600" stAng="5400000" swAng="5400000"/>
                <a:lnTo>
                  <a:pt x="0" y="2645172"/>
                </a:lnTo>
                <a:arcTo hR="95250" wR="101600" stAng="10800000" swAng="-5400000"/>
                <a:lnTo>
                  <a:pt x="10464800" y="2740422"/>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2746772"/>
          </a:xfrm>
          <a:custGeom>
            <a:avLst/>
            <a:gdLst/>
            <a:ahLst/>
            <a:cxnLst/>
            <a:rect l="l" t="t" r="r" b="b"/>
            <a:pathLst>
              <a:path w="10566400" h="2746772">
                <a:moveTo>
                  <a:pt x="101600" y="2746772"/>
                </a:moveTo>
                <a:lnTo>
                  <a:pt x="101600" y="2746772"/>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645172"/>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2727722"/>
        </p:xfrm>
        <a:graphic>
          <a:graphicData uri="http://schemas.openxmlformats.org/drawingml/2006/table">
            <a:tbl>
              <a:tblPr/>
              <a:tblGrid>
                <a:gridCol w="2320417"/>
                <a:gridCol w="4113466"/>
                <a:gridCol w="4113466"/>
              </a:tblGrid>
              <a:tr h="45462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Obeležje</a:t>
                      </a:r>
                      <a:endParaRPr lang="en-US" sz="12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Tradicionalni pristup</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Visokoperformantni pristup</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4546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Pozadina</a:t>
                      </a:r>
                      <a:endParaRPr lang="en-US" sz="12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Tamna, uz mnogo živih boja</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Svetla i neutralna, siva</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46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Upotreba boje</a:t>
                      </a:r>
                      <a:endParaRPr lang="en-US" sz="12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Dekorativna, boja opisuje stanje opreme</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Rezervisana za odstupanja i alarme</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46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Prikaz vrednosti</a:t>
                      </a:r>
                      <a:endParaRPr lang="en-US" sz="12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Brojevi bez konteksta</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Analogni indikatori sa normalnim opsegom</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46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Grafika</a:t>
                      </a:r>
                      <a:endParaRPr lang="en-US" sz="12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Realistične i trodimenzionalne slike</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Pojednostavljeni dvodimenzionalni simboli</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546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Alarmi</a:t>
                      </a:r>
                      <a:endParaRPr lang="en-US" sz="1200" dirty="0">
                        <a:latin typeface="IBM Plex Sans" charset="0"/>
                        <a:ea typeface="IBM Plex Sans" charset="0"/>
                        <a:cs typeface="IBM Plex Sans" charset="0"/>
                      </a:endParaRPr>
                    </a:p>
                  </a:txBody>
                  <a:tcPr marL="177800" marR="1778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Nedosledne boje i oblici</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Dosledno kodiranje prioriteta</a:t>
                      </a:r>
                      <a:endParaRPr lang="en-US" sz="1200" dirty="0">
                        <a:latin typeface="IBM Plex Sans" charset="0"/>
                        <a:ea typeface="IBM Plex Sans" charset="0"/>
                        <a:cs typeface="IBM Plex Sans" charset="0"/>
                      </a:endParaRPr>
                    </a:p>
                  </a:txBody>
                  <a:tcPr marL="177800" marR="1778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Shape 6"/>
          <p:cNvSpPr/>
          <p:nvPr/>
        </p:nvSpPr>
        <p:spPr>
          <a:xfrm>
            <a:off x="812800" y="4674592"/>
            <a:ext cx="10566400" cy="508000"/>
          </a:xfrm>
          <a:prstGeom prst="roundRect">
            <a:avLst>
              <a:gd name="adj" fmla="val 15000"/>
            </a:avLst>
          </a:prstGeom>
          <a:solidFill>
            <a:srgbClr val="DCE8F4"/>
          </a:solidFill>
          <a:ln/>
        </p:spPr>
      </p:sp>
      <p:pic>
        <p:nvPicPr>
          <p:cNvPr id="10" name="Image 0" descr="Lightbulb">    </p:cNvPr>
          <p:cNvPicPr>
            <a:picLocks noChangeAspect="1"/>
          </p:cNvPicPr>
          <p:nvPr/>
        </p:nvPicPr>
        <p:blipFill>
          <a:blip r:embed="rId1"/>
          <a:srcRect l="0" r="0" t="0" b="0"/>
          <a:stretch/>
        </p:blipFill>
        <p:spPr>
          <a:xfrm>
            <a:off x="990600" y="4801592"/>
            <a:ext cx="254000" cy="254000"/>
          </a:xfrm>
          <a:prstGeom prst="rect">
            <a:avLst/>
          </a:prstGeom>
        </p:spPr>
      </p:pic>
      <p:sp>
        <p:nvSpPr>
          <p:cNvPr id="11" name="Text 7"/>
          <p:cNvSpPr/>
          <p:nvPr/>
        </p:nvSpPr>
        <p:spPr>
          <a:xfrm>
            <a:off x="1371600" y="482193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Princip: kada je proces normalan, ekran je miran, a pažnju privlači samo ono što odstupa.</a:t>
            </a:r>
            <a:endParaRPr lang="en-US" sz="1200" dirty="0"/>
          </a:p>
        </p:txBody>
      </p:sp>
      <p:sp>
        <p:nvSpPr>
          <p:cNvPr id="12" name="Shape 8"/>
          <p:cNvSpPr/>
          <p:nvPr/>
        </p:nvSpPr>
        <p:spPr>
          <a:xfrm>
            <a:off x="812800" y="6209705"/>
            <a:ext cx="10566400" cy="0"/>
          </a:xfrm>
          <a:prstGeom prst="line">
            <a:avLst/>
          </a:prstGeom>
          <a:noFill/>
          <a:ln w="6350">
            <a:solidFill>
              <a:srgbClr val="D3DAE1"/>
            </a:solidFill>
            <a:prstDash val="solid"/>
          </a:ln>
        </p:spPr>
      </p:sp>
      <p:sp>
        <p:nvSpPr>
          <p:cNvPr id="13" name="Text 9"/>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14"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PRIKAZI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Osnovni elementi SCADA prikaza</a:t>
            </a:r>
            <a:endParaRPr lang="en-US" sz="3000" dirty="0"/>
          </a:p>
        </p:txBody>
      </p:sp>
      <p:sp>
        <p:nvSpPr>
          <p:cNvPr id="5" name="Shape 3"/>
          <p:cNvSpPr/>
          <p:nvPr/>
        </p:nvSpPr>
        <p:spPr>
          <a:xfrm>
            <a:off x="815975" y="1676995"/>
            <a:ext cx="2520950" cy="2398911"/>
          </a:xfrm>
          <a:prstGeom prst="roundRect">
            <a:avLst>
              <a:gd name="adj" fmla="val 4103"/>
            </a:avLst>
          </a:prstGeom>
          <a:solidFill>
            <a:srgbClr val="FCFCFB"/>
          </a:solidFill>
          <a:ln w="6350">
            <a:solidFill>
              <a:srgbClr val="D3DAE1"/>
            </a:solidFill>
            <a:prstDash val="solid"/>
          </a:ln>
        </p:spPr>
      </p:sp>
      <p:sp>
        <p:nvSpPr>
          <p:cNvPr id="6" name="Shape 4"/>
          <p:cNvSpPr/>
          <p:nvPr/>
        </p:nvSpPr>
        <p:spPr>
          <a:xfrm>
            <a:off x="971550" y="1832570"/>
            <a:ext cx="2209800" cy="1270000"/>
          </a:xfrm>
          <a:prstGeom prst="roundRect">
            <a:avLst>
              <a:gd name="adj" fmla="val 5000"/>
            </a:avLst>
          </a:prstGeom>
          <a:solidFill>
            <a:srgbClr val="EBF0F5"/>
          </a:solidFill>
          <a:ln/>
        </p:spPr>
      </p:sp>
      <p:pic>
        <p:nvPicPr>
          <p:cNvPr id="7" name="Image 0" descr="Pojednostavljena procesna šema: pumpa, cevovod i rezervoar">    </p:cNvPr>
          <p:cNvPicPr>
            <a:picLocks noChangeAspect="1"/>
          </p:cNvPicPr>
          <p:nvPr/>
        </p:nvPicPr>
        <p:blipFill>
          <a:blip r:embed="rId1"/>
          <a:srcRect l="0" r="0" t="0" b="0"/>
          <a:stretch/>
        </p:blipFill>
        <p:spPr>
          <a:xfrm>
            <a:off x="1123950" y="1959570"/>
            <a:ext cx="1905000" cy="1016000"/>
          </a:xfrm>
          <a:prstGeom prst="rect">
            <a:avLst/>
          </a:prstGeom>
        </p:spPr>
      </p:pic>
      <p:sp>
        <p:nvSpPr>
          <p:cNvPr id="8" name="Text 5"/>
          <p:cNvSpPr/>
          <p:nvPr/>
        </p:nvSpPr>
        <p:spPr>
          <a:xfrm>
            <a:off x="971550" y="3191470"/>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Procesna šema</a:t>
            </a:r>
            <a:endParaRPr lang="en-US" sz="1400" dirty="0"/>
          </a:p>
        </p:txBody>
      </p:sp>
      <p:sp>
        <p:nvSpPr>
          <p:cNvPr id="9" name="Text 6"/>
          <p:cNvSpPr/>
          <p:nvPr/>
        </p:nvSpPr>
        <p:spPr>
          <a:xfrm>
            <a:off x="971550" y="3493691"/>
            <a:ext cx="22760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Simboli opreme vezani za tagove u stvarnom vremenu.</a:t>
            </a:r>
            <a:endParaRPr lang="en-US" sz="1200" dirty="0"/>
          </a:p>
        </p:txBody>
      </p:sp>
      <p:sp>
        <p:nvSpPr>
          <p:cNvPr id="10" name="Shape 7"/>
          <p:cNvSpPr/>
          <p:nvPr/>
        </p:nvSpPr>
        <p:spPr>
          <a:xfrm>
            <a:off x="3495675" y="1676995"/>
            <a:ext cx="2520950" cy="2398911"/>
          </a:xfrm>
          <a:prstGeom prst="roundRect">
            <a:avLst>
              <a:gd name="adj" fmla="val 4103"/>
            </a:avLst>
          </a:prstGeom>
          <a:solidFill>
            <a:srgbClr val="FCFCFB"/>
          </a:solidFill>
          <a:ln w="6350">
            <a:solidFill>
              <a:srgbClr val="D3DAE1"/>
            </a:solidFill>
            <a:prstDash val="solid"/>
          </a:ln>
        </p:spPr>
      </p:sp>
      <p:sp>
        <p:nvSpPr>
          <p:cNvPr id="11" name="Shape 8"/>
          <p:cNvSpPr/>
          <p:nvPr/>
        </p:nvSpPr>
        <p:spPr>
          <a:xfrm>
            <a:off x="3651250" y="1832570"/>
            <a:ext cx="2209800" cy="1270000"/>
          </a:xfrm>
          <a:prstGeom prst="roundRect">
            <a:avLst>
              <a:gd name="adj" fmla="val 5000"/>
            </a:avLst>
          </a:prstGeom>
          <a:solidFill>
            <a:srgbClr val="EBF0F5"/>
          </a:solidFill>
          <a:ln/>
        </p:spPr>
      </p:sp>
      <p:pic>
        <p:nvPicPr>
          <p:cNvPr id="12" name="Image 1" descr="Mali trend sa krivom vrednosti tokom vremena">    </p:cNvPr>
          <p:cNvPicPr>
            <a:picLocks noChangeAspect="1"/>
          </p:cNvPicPr>
          <p:nvPr/>
        </p:nvPicPr>
        <p:blipFill>
          <a:blip r:embed="rId2"/>
          <a:srcRect l="0" r="0" t="0" b="0"/>
          <a:stretch/>
        </p:blipFill>
        <p:spPr>
          <a:xfrm>
            <a:off x="3803650" y="1959570"/>
            <a:ext cx="1905000" cy="1016000"/>
          </a:xfrm>
          <a:prstGeom prst="rect">
            <a:avLst/>
          </a:prstGeom>
        </p:spPr>
      </p:pic>
      <p:sp>
        <p:nvSpPr>
          <p:cNvPr id="13" name="Text 9"/>
          <p:cNvSpPr/>
          <p:nvPr/>
        </p:nvSpPr>
        <p:spPr>
          <a:xfrm>
            <a:off x="3651250" y="3191470"/>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Trend</a:t>
            </a:r>
            <a:endParaRPr lang="en-US" sz="1400" dirty="0"/>
          </a:p>
        </p:txBody>
      </p:sp>
      <p:sp>
        <p:nvSpPr>
          <p:cNvPr id="14" name="Text 10"/>
          <p:cNvSpPr/>
          <p:nvPr/>
        </p:nvSpPr>
        <p:spPr>
          <a:xfrm>
            <a:off x="3651250" y="3493691"/>
            <a:ext cx="22760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Vrednost kroz vreme, sa granicama i kvalitetom.</a:t>
            </a:r>
            <a:endParaRPr lang="en-US" sz="1200" dirty="0"/>
          </a:p>
        </p:txBody>
      </p:sp>
      <p:sp>
        <p:nvSpPr>
          <p:cNvPr id="15" name="Shape 11"/>
          <p:cNvSpPr/>
          <p:nvPr/>
        </p:nvSpPr>
        <p:spPr>
          <a:xfrm>
            <a:off x="6175375" y="1676995"/>
            <a:ext cx="2520950" cy="2398911"/>
          </a:xfrm>
          <a:prstGeom prst="roundRect">
            <a:avLst>
              <a:gd name="adj" fmla="val 4103"/>
            </a:avLst>
          </a:prstGeom>
          <a:solidFill>
            <a:srgbClr val="FCFCFB"/>
          </a:solidFill>
          <a:ln w="6350">
            <a:solidFill>
              <a:srgbClr val="D3DAE1"/>
            </a:solidFill>
            <a:prstDash val="solid"/>
          </a:ln>
        </p:spPr>
      </p:sp>
      <p:sp>
        <p:nvSpPr>
          <p:cNvPr id="16" name="Shape 12"/>
          <p:cNvSpPr/>
          <p:nvPr/>
        </p:nvSpPr>
        <p:spPr>
          <a:xfrm>
            <a:off x="6330950" y="1832570"/>
            <a:ext cx="2209800" cy="1270000"/>
          </a:xfrm>
          <a:prstGeom prst="roundRect">
            <a:avLst>
              <a:gd name="adj" fmla="val 5000"/>
            </a:avLst>
          </a:prstGeom>
          <a:solidFill>
            <a:srgbClr val="EBF0F5"/>
          </a:solidFill>
          <a:ln/>
        </p:spPr>
      </p:sp>
      <p:sp>
        <p:nvSpPr>
          <p:cNvPr id="17" name="Text 13"/>
          <p:cNvSpPr/>
          <p:nvPr/>
        </p:nvSpPr>
        <p:spPr>
          <a:xfrm>
            <a:off x="6432550" y="2007890"/>
            <a:ext cx="2006600" cy="264120"/>
          </a:xfrm>
          <a:prstGeom prst="roundRect">
            <a:avLst>
              <a:gd name="adj" fmla="val 14425"/>
            </a:avLst>
          </a:prstGeom>
          <a:solidFill>
            <a:srgbClr val="E07B1F"/>
          </a:solidFill>
          <a:ln/>
        </p:spPr>
        <p:txBody>
          <a:bodyPr wrap="square" lIns="52341" tIns="14241"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P1 LAH-101</a:t>
            </a:r>
            <a:endParaRPr lang="en-US" sz="1200" dirty="0"/>
          </a:p>
        </p:txBody>
      </p:sp>
      <p:sp>
        <p:nvSpPr>
          <p:cNvPr id="18" name="Text 14"/>
          <p:cNvSpPr/>
          <p:nvPr/>
        </p:nvSpPr>
        <p:spPr>
          <a:xfrm>
            <a:off x="6432550" y="2335510"/>
            <a:ext cx="2006600" cy="264120"/>
          </a:xfrm>
          <a:prstGeom prst="roundRect">
            <a:avLst>
              <a:gd name="adj" fmla="val 14425"/>
            </a:avLst>
          </a:prstGeom>
          <a:solidFill>
            <a:srgbClr val="FBF1E6"/>
          </a:solidFill>
          <a:ln/>
        </p:spPr>
        <p:txBody>
          <a:bodyPr wrap="square" lIns="52341" tIns="14241"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P2 FAL-102</a:t>
            </a:r>
            <a:endParaRPr lang="en-US" sz="1200" dirty="0"/>
          </a:p>
        </p:txBody>
      </p:sp>
      <p:sp>
        <p:nvSpPr>
          <p:cNvPr id="19" name="Text 15"/>
          <p:cNvSpPr/>
          <p:nvPr/>
        </p:nvSpPr>
        <p:spPr>
          <a:xfrm>
            <a:off x="6432550" y="2663130"/>
            <a:ext cx="2006600" cy="264120"/>
          </a:xfrm>
          <a:prstGeom prst="roundRect">
            <a:avLst>
              <a:gd name="adj" fmla="val 14425"/>
            </a:avLst>
          </a:prstGeom>
          <a:solidFill>
            <a:srgbClr val="FCFCFB"/>
          </a:solidFill>
          <a:ln/>
        </p:spPr>
        <p:txBody>
          <a:bodyPr wrap="square" lIns="52341" tIns="14241"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P3 TAH-103</a:t>
            </a:r>
            <a:endParaRPr lang="en-US" sz="1200" dirty="0"/>
          </a:p>
        </p:txBody>
      </p:sp>
      <p:sp>
        <p:nvSpPr>
          <p:cNvPr id="20" name="Text 16"/>
          <p:cNvSpPr/>
          <p:nvPr/>
        </p:nvSpPr>
        <p:spPr>
          <a:xfrm>
            <a:off x="6330950" y="3191470"/>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Alarmni panel</a:t>
            </a:r>
            <a:endParaRPr lang="en-US" sz="1400" dirty="0"/>
          </a:p>
        </p:txBody>
      </p:sp>
      <p:sp>
        <p:nvSpPr>
          <p:cNvPr id="21" name="Text 17"/>
          <p:cNvSpPr/>
          <p:nvPr/>
        </p:nvSpPr>
        <p:spPr>
          <a:xfrm>
            <a:off x="6330950" y="3493691"/>
            <a:ext cx="22760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Aktivni alarmi po prioritetu, uz potvrđivanje.</a:t>
            </a:r>
            <a:endParaRPr lang="en-US" sz="1200" dirty="0"/>
          </a:p>
        </p:txBody>
      </p:sp>
      <p:sp>
        <p:nvSpPr>
          <p:cNvPr id="22" name="Shape 18"/>
          <p:cNvSpPr/>
          <p:nvPr/>
        </p:nvSpPr>
        <p:spPr>
          <a:xfrm>
            <a:off x="8855075" y="1676995"/>
            <a:ext cx="2520950" cy="2398911"/>
          </a:xfrm>
          <a:prstGeom prst="roundRect">
            <a:avLst>
              <a:gd name="adj" fmla="val 4103"/>
            </a:avLst>
          </a:prstGeom>
          <a:solidFill>
            <a:srgbClr val="FCFCFB"/>
          </a:solidFill>
          <a:ln w="6350">
            <a:solidFill>
              <a:srgbClr val="D3DAE1"/>
            </a:solidFill>
            <a:prstDash val="solid"/>
          </a:ln>
        </p:spPr>
      </p:sp>
      <p:sp>
        <p:nvSpPr>
          <p:cNvPr id="23" name="Shape 19"/>
          <p:cNvSpPr/>
          <p:nvPr/>
        </p:nvSpPr>
        <p:spPr>
          <a:xfrm>
            <a:off x="9010650" y="1832570"/>
            <a:ext cx="2209800" cy="1270000"/>
          </a:xfrm>
          <a:prstGeom prst="roundRect">
            <a:avLst>
              <a:gd name="adj" fmla="val 5000"/>
            </a:avLst>
          </a:prstGeom>
          <a:solidFill>
            <a:srgbClr val="EBF0F5"/>
          </a:solidFill>
          <a:ln/>
        </p:spPr>
      </p:sp>
      <p:sp>
        <p:nvSpPr>
          <p:cNvPr id="24" name="Text 20"/>
          <p:cNvSpPr/>
          <p:nvPr/>
        </p:nvSpPr>
        <p:spPr>
          <a:xfrm>
            <a:off x="9112250" y="2045990"/>
            <a:ext cx="5486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P-101</a:t>
            </a:r>
            <a:endParaRPr lang="en-US" sz="1200" dirty="0"/>
          </a:p>
        </p:txBody>
      </p:sp>
      <p:sp>
        <p:nvSpPr>
          <p:cNvPr id="25" name="Text 21"/>
          <p:cNvSpPr/>
          <p:nvPr/>
        </p:nvSpPr>
        <p:spPr>
          <a:xfrm>
            <a:off x="10679867" y="2045990"/>
            <a:ext cx="4389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AUTO</a:t>
            </a:r>
            <a:endParaRPr lang="en-US" sz="1200" dirty="0"/>
          </a:p>
        </p:txBody>
      </p:sp>
      <p:sp>
        <p:nvSpPr>
          <p:cNvPr id="26" name="Text 22"/>
          <p:cNvSpPr/>
          <p:nvPr/>
        </p:nvSpPr>
        <p:spPr>
          <a:xfrm>
            <a:off x="9112250" y="2322810"/>
            <a:ext cx="2066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Stanje: radi</a:t>
            </a:r>
            <a:endParaRPr lang="en-US" sz="1200" dirty="0"/>
          </a:p>
        </p:txBody>
      </p:sp>
      <p:sp>
        <p:nvSpPr>
          <p:cNvPr id="27" name="Text 23"/>
          <p:cNvSpPr/>
          <p:nvPr/>
        </p:nvSpPr>
        <p:spPr>
          <a:xfrm>
            <a:off x="9118600" y="2605980"/>
            <a:ext cx="958850" cy="276820"/>
          </a:xfrm>
          <a:custGeom>
            <a:avLst/>
            <a:gdLst/>
            <a:ahLst/>
            <a:cxnLst/>
            <a:rect l="l" t="t" r="r" b="b"/>
            <a:pathLst>
              <a:path w="958850" h="276820">
                <a:moveTo>
                  <a:pt x="44450" y="0"/>
                </a:moveTo>
                <a:lnTo>
                  <a:pt x="914400" y="0"/>
                </a:lnTo>
                <a:arcTo hR="44450" wR="44450" stAng="16200000" swAng="5400000"/>
                <a:lnTo>
                  <a:pt x="958850" y="232370"/>
                </a:lnTo>
                <a:arcTo hR="44450" wR="44450" stAng="0" swAng="5400000"/>
                <a:lnTo>
                  <a:pt x="44450" y="276820"/>
                </a:lnTo>
                <a:arcTo hR="44450" wR="44450" stAng="5400000" swAng="5400000"/>
                <a:lnTo>
                  <a:pt x="0" y="44450"/>
                </a:lnTo>
                <a:arcTo hR="44450" wR="44450" stAng="10800000" swAng="5400000"/>
                <a:close/>
              </a:path>
            </a:pathLst>
          </a:custGeom>
          <a:noFill/>
          <a:ln w="12700">
            <a:solidFill>
              <a:srgbClr val="0A5CA8"/>
            </a:solidFill>
            <a:prstDash val="solid"/>
          </a:ln>
        </p:spPr>
        <p:txBody>
          <a:bodyPr wrap="square" lIns="0" tIns="31750" rIns="0" bIns="6350" rtlCol="0" anchor="t">
            <a:normAutofit/>
          </a:bodyPr>
          <a:lstStyle/>
          <a:p>
            <a:pPr algn="ct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Start</a:t>
            </a:r>
            <a:endParaRPr lang="en-US" sz="1200" dirty="0"/>
          </a:p>
        </p:txBody>
      </p:sp>
      <p:sp>
        <p:nvSpPr>
          <p:cNvPr id="28" name="Text 24"/>
          <p:cNvSpPr/>
          <p:nvPr/>
        </p:nvSpPr>
        <p:spPr>
          <a:xfrm>
            <a:off x="10153650" y="2605980"/>
            <a:ext cx="958850" cy="276820"/>
          </a:xfrm>
          <a:custGeom>
            <a:avLst/>
            <a:gdLst/>
            <a:ahLst/>
            <a:cxnLst/>
            <a:rect l="l" t="t" r="r" b="b"/>
            <a:pathLst>
              <a:path w="958850" h="276820">
                <a:moveTo>
                  <a:pt x="44450" y="0"/>
                </a:moveTo>
                <a:lnTo>
                  <a:pt x="914400" y="0"/>
                </a:lnTo>
                <a:arcTo hR="44450" wR="44450" stAng="16200000" swAng="5400000"/>
                <a:lnTo>
                  <a:pt x="958850" y="232370"/>
                </a:lnTo>
                <a:arcTo hR="44450" wR="44450" stAng="0" swAng="5400000"/>
                <a:lnTo>
                  <a:pt x="44450" y="276820"/>
                </a:lnTo>
                <a:arcTo hR="44450" wR="44450" stAng="5400000" swAng="5400000"/>
                <a:lnTo>
                  <a:pt x="0" y="44450"/>
                </a:lnTo>
                <a:arcTo hR="44450" wR="44450" stAng="10800000" swAng="5400000"/>
                <a:close/>
              </a:path>
            </a:pathLst>
          </a:custGeom>
          <a:noFill/>
          <a:ln w="12700">
            <a:solidFill>
              <a:srgbClr val="0A5CA8"/>
            </a:solidFill>
            <a:prstDash val="solid"/>
          </a:ln>
        </p:spPr>
        <p:txBody>
          <a:bodyPr wrap="square" lIns="0" tIns="31750" rIns="0" bIns="6350" rtlCol="0" anchor="t">
            <a:normAutofit/>
          </a:bodyPr>
          <a:lstStyle/>
          <a:p>
            <a:pPr algn="ct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Stop</a:t>
            </a:r>
            <a:endParaRPr lang="en-US" sz="1200" dirty="0"/>
          </a:p>
        </p:txBody>
      </p:sp>
      <p:sp>
        <p:nvSpPr>
          <p:cNvPr id="29" name="Text 25"/>
          <p:cNvSpPr/>
          <p:nvPr/>
        </p:nvSpPr>
        <p:spPr>
          <a:xfrm>
            <a:off x="9010650" y="3191470"/>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Upravljački panel</a:t>
            </a:r>
            <a:endParaRPr lang="en-US" sz="1400" dirty="0"/>
          </a:p>
        </p:txBody>
      </p:sp>
      <p:sp>
        <p:nvSpPr>
          <p:cNvPr id="30" name="Text 26"/>
          <p:cNvSpPr/>
          <p:nvPr/>
        </p:nvSpPr>
        <p:spPr>
          <a:xfrm>
            <a:off x="9010650" y="3493691"/>
            <a:ext cx="22760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Stanje, režim i komande jednog uređaja.</a:t>
            </a:r>
            <a:endParaRPr lang="en-US" sz="1200" dirty="0"/>
          </a:p>
        </p:txBody>
      </p:sp>
      <p:sp>
        <p:nvSpPr>
          <p:cNvPr id="31" name="Shape 27"/>
          <p:cNvSpPr/>
          <p:nvPr/>
        </p:nvSpPr>
        <p:spPr>
          <a:xfrm>
            <a:off x="812800" y="6209705"/>
            <a:ext cx="10566400" cy="0"/>
          </a:xfrm>
          <a:prstGeom prst="line">
            <a:avLst/>
          </a:prstGeom>
          <a:noFill/>
          <a:ln w="6350">
            <a:solidFill>
              <a:srgbClr val="D3DAE1"/>
            </a:solidFill>
            <a:prstDash val="solid"/>
          </a:ln>
        </p:spPr>
      </p:sp>
      <p:sp>
        <p:nvSpPr>
          <p:cNvPr id="32" name="Text 2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3"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PRIKAZI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Vizuelno kodiranje stanja i kvaliteta</a:t>
            </a:r>
            <a:endParaRPr lang="en-US" sz="3000" dirty="0"/>
          </a:p>
        </p:txBody>
      </p:sp>
      <p:sp>
        <p:nvSpPr>
          <p:cNvPr id="5" name="Text 3"/>
          <p:cNvSpPr/>
          <p:nvPr/>
        </p:nvSpPr>
        <p:spPr>
          <a:xfrm>
            <a:off x="812800" y="1673820"/>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01</a:t>
            </a:r>
            <a:endParaRPr lang="en-US" sz="1400" dirty="0"/>
          </a:p>
        </p:txBody>
      </p:sp>
      <p:sp>
        <p:nvSpPr>
          <p:cNvPr id="6" name="Text 4"/>
          <p:cNvSpPr/>
          <p:nvPr/>
        </p:nvSpPr>
        <p:spPr>
          <a:xfrm>
            <a:off x="1244600" y="1673820"/>
            <a:ext cx="41335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Neutralna, svetla pozadina, a boja je rezervisana za odstupanja i alarme.</a:t>
            </a:r>
            <a:endParaRPr lang="en-US" sz="1200" dirty="0"/>
          </a:p>
        </p:txBody>
      </p:sp>
      <p:sp>
        <p:nvSpPr>
          <p:cNvPr id="7" name="Text 5"/>
          <p:cNvSpPr/>
          <p:nvPr/>
        </p:nvSpPr>
        <p:spPr>
          <a:xfrm>
            <a:off x="812800" y="2252861"/>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02</a:t>
            </a:r>
            <a:endParaRPr lang="en-US" sz="1400" dirty="0"/>
          </a:p>
        </p:txBody>
      </p:sp>
      <p:sp>
        <p:nvSpPr>
          <p:cNvPr id="8" name="Text 6"/>
          <p:cNvSpPr/>
          <p:nvPr/>
        </p:nvSpPr>
        <p:spPr>
          <a:xfrm>
            <a:off x="1244600" y="2252861"/>
            <a:ext cx="41335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Stanje se nikada ne iskazuje samo bojom, već i tekstom, oblikom ili okvirom.</a:t>
            </a:r>
            <a:endParaRPr lang="en-US" sz="1200" dirty="0"/>
          </a:p>
        </p:txBody>
      </p:sp>
      <p:sp>
        <p:nvSpPr>
          <p:cNvPr id="9" name="Text 7"/>
          <p:cNvSpPr/>
          <p:nvPr/>
        </p:nvSpPr>
        <p:spPr>
          <a:xfrm>
            <a:off x="812800" y="2831902"/>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03</a:t>
            </a:r>
            <a:endParaRPr lang="en-US" sz="1400" dirty="0"/>
          </a:p>
        </p:txBody>
      </p:sp>
      <p:sp>
        <p:nvSpPr>
          <p:cNvPr id="10" name="Text 8"/>
          <p:cNvSpPr/>
          <p:nvPr/>
        </p:nvSpPr>
        <p:spPr>
          <a:xfrm>
            <a:off x="1244600" y="2831902"/>
            <a:ext cx="41335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Kvalitet podatka prati vrednost na svakom mestu gde se ona prikazuje.</a:t>
            </a:r>
            <a:endParaRPr lang="en-US" sz="1200" dirty="0"/>
          </a:p>
        </p:txBody>
      </p:sp>
      <p:sp>
        <p:nvSpPr>
          <p:cNvPr id="11" name="Text 9"/>
          <p:cNvSpPr/>
          <p:nvPr/>
        </p:nvSpPr>
        <p:spPr>
          <a:xfrm>
            <a:off x="812800" y="3410942"/>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04</a:t>
            </a:r>
            <a:endParaRPr lang="en-US" sz="1400" dirty="0"/>
          </a:p>
        </p:txBody>
      </p:sp>
      <p:sp>
        <p:nvSpPr>
          <p:cNvPr id="12" name="Text 10"/>
          <p:cNvSpPr/>
          <p:nvPr/>
        </p:nvSpPr>
        <p:spPr>
          <a:xfrm>
            <a:off x="1244600" y="3410942"/>
            <a:ext cx="41335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Prioritet alarma kodiran je doslednom bojom i tekstualnom oznakom.</a:t>
            </a:r>
            <a:endParaRPr lang="en-US" sz="1200" dirty="0"/>
          </a:p>
        </p:txBody>
      </p:sp>
      <p:sp>
        <p:nvSpPr>
          <p:cNvPr id="13" name="Text 11"/>
          <p:cNvSpPr/>
          <p:nvPr/>
        </p:nvSpPr>
        <p:spPr>
          <a:xfrm>
            <a:off x="812800" y="3989983"/>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05</a:t>
            </a:r>
            <a:endParaRPr lang="en-US" sz="1400" dirty="0"/>
          </a:p>
        </p:txBody>
      </p:sp>
      <p:sp>
        <p:nvSpPr>
          <p:cNvPr id="14" name="Text 12"/>
          <p:cNvSpPr/>
          <p:nvPr/>
        </p:nvSpPr>
        <p:spPr>
          <a:xfrm>
            <a:off x="1244600" y="3989983"/>
            <a:ext cx="41335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Plava i narandžasta razlikuju se i po svetlini, pa ostaju čitljive i na projektoru.</a:t>
            </a:r>
            <a:endParaRPr lang="en-US" sz="1200" dirty="0"/>
          </a:p>
        </p:txBody>
      </p:sp>
      <p:sp>
        <p:nvSpPr>
          <p:cNvPr id="15" name="Shape 13"/>
          <p:cNvSpPr/>
          <p:nvPr/>
        </p:nvSpPr>
        <p:spPr>
          <a:xfrm>
            <a:off x="5670550" y="1680170"/>
            <a:ext cx="2781300" cy="1173361"/>
          </a:xfrm>
          <a:prstGeom prst="roundRect">
            <a:avLst>
              <a:gd name="adj" fmla="val 5953"/>
            </a:avLst>
          </a:prstGeom>
          <a:solidFill>
            <a:srgbClr val="FCFCFB"/>
          </a:solidFill>
          <a:ln w="12700">
            <a:solidFill>
              <a:srgbClr val="C3CEDA"/>
            </a:solidFill>
            <a:prstDash val="solid"/>
          </a:ln>
        </p:spPr>
      </p:sp>
      <p:sp>
        <p:nvSpPr>
          <p:cNvPr id="16" name="Text 14"/>
          <p:cNvSpPr/>
          <p:nvPr/>
        </p:nvSpPr>
        <p:spPr>
          <a:xfrm>
            <a:off x="5829300" y="1813520"/>
            <a:ext cx="25377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LT-101</a:t>
            </a:r>
            <a:endParaRPr lang="en-US" sz="1200" dirty="0"/>
          </a:p>
        </p:txBody>
      </p:sp>
      <p:sp>
        <p:nvSpPr>
          <p:cNvPr id="17" name="Text 15"/>
          <p:cNvSpPr/>
          <p:nvPr/>
        </p:nvSpPr>
        <p:spPr>
          <a:xfrm>
            <a:off x="5829300" y="2064941"/>
            <a:ext cx="2537714"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3202D"/>
                </a:solidFill>
                <a:latin typeface="IBM Plex Mono" pitchFamily="49" charset="0"/>
                <a:ea typeface="IBM Plex Mono" pitchFamily="49" charset="-122"/>
                <a:cs typeface="IBM Plex Mono" pitchFamily="49" charset="-120"/>
              </a:rPr>
              <a:t>52,5 %</a:t>
            </a:r>
            <a:endParaRPr lang="en-US" sz="2800" dirty="0"/>
          </a:p>
        </p:txBody>
      </p:sp>
      <p:sp>
        <p:nvSpPr>
          <p:cNvPr id="18" name="Text 16"/>
          <p:cNvSpPr/>
          <p:nvPr/>
        </p:nvSpPr>
        <p:spPr>
          <a:xfrm>
            <a:off x="5829300" y="2494161"/>
            <a:ext cx="25377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GOOD</a:t>
            </a:r>
            <a:endParaRPr lang="en-US" sz="1200" dirty="0"/>
          </a:p>
        </p:txBody>
      </p:sp>
      <p:sp>
        <p:nvSpPr>
          <p:cNvPr id="19" name="Shape 17"/>
          <p:cNvSpPr/>
          <p:nvPr/>
        </p:nvSpPr>
        <p:spPr>
          <a:xfrm>
            <a:off x="8594725" y="1683345"/>
            <a:ext cx="2774950" cy="1167011"/>
          </a:xfrm>
          <a:prstGeom prst="roundRect">
            <a:avLst>
              <a:gd name="adj" fmla="val 5713"/>
            </a:avLst>
          </a:prstGeom>
          <a:solidFill>
            <a:srgbClr val="FCFCFB"/>
          </a:solidFill>
          <a:ln w="19050">
            <a:solidFill>
              <a:srgbClr val="E07B1F"/>
            </a:solidFill>
            <a:prstDash val="solid"/>
          </a:ln>
        </p:spPr>
      </p:sp>
      <p:sp>
        <p:nvSpPr>
          <p:cNvPr id="20" name="Text 18"/>
          <p:cNvSpPr/>
          <p:nvPr/>
        </p:nvSpPr>
        <p:spPr>
          <a:xfrm>
            <a:off x="8756650" y="1819870"/>
            <a:ext cx="2524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LT-101</a:t>
            </a:r>
            <a:endParaRPr lang="en-US" sz="1200" dirty="0"/>
          </a:p>
        </p:txBody>
      </p:sp>
      <p:sp>
        <p:nvSpPr>
          <p:cNvPr id="21" name="Text 19"/>
          <p:cNvSpPr/>
          <p:nvPr/>
        </p:nvSpPr>
        <p:spPr>
          <a:xfrm>
            <a:off x="8756650" y="2071291"/>
            <a:ext cx="2524633"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3202D"/>
                </a:solidFill>
                <a:latin typeface="IBM Plex Mono" pitchFamily="49" charset="0"/>
                <a:ea typeface="IBM Plex Mono" pitchFamily="49" charset="-122"/>
                <a:cs typeface="IBM Plex Mono" pitchFamily="49" charset="-120"/>
              </a:rPr>
              <a:t>52,5 %</a:t>
            </a:r>
            <a:endParaRPr lang="en-US" sz="2800" dirty="0"/>
          </a:p>
        </p:txBody>
      </p:sp>
      <p:sp>
        <p:nvSpPr>
          <p:cNvPr id="22" name="Text 20"/>
          <p:cNvSpPr/>
          <p:nvPr/>
        </p:nvSpPr>
        <p:spPr>
          <a:xfrm>
            <a:off x="8756650" y="25005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UNCERTAIN · procena</a:t>
            </a:r>
            <a:endParaRPr lang="en-US" sz="1200" dirty="0"/>
          </a:p>
        </p:txBody>
      </p:sp>
      <p:sp>
        <p:nvSpPr>
          <p:cNvPr id="23" name="Shape 21"/>
          <p:cNvSpPr/>
          <p:nvPr/>
        </p:nvSpPr>
        <p:spPr>
          <a:xfrm>
            <a:off x="5673725" y="2996406"/>
            <a:ext cx="2774950" cy="1167011"/>
          </a:xfrm>
          <a:prstGeom prst="roundRect">
            <a:avLst>
              <a:gd name="adj" fmla="val 5713"/>
            </a:avLst>
          </a:prstGeom>
          <a:solidFill>
            <a:srgbClr val="F9E3E1"/>
          </a:solidFill>
          <a:ln w="19050">
            <a:solidFill>
              <a:srgbClr val="B3261E"/>
            </a:solidFill>
            <a:prstDash val="solid"/>
          </a:ln>
        </p:spPr>
      </p:sp>
      <p:sp>
        <p:nvSpPr>
          <p:cNvPr id="24" name="Text 22"/>
          <p:cNvSpPr/>
          <p:nvPr/>
        </p:nvSpPr>
        <p:spPr>
          <a:xfrm>
            <a:off x="5835650" y="3132931"/>
            <a:ext cx="2524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LT-101</a:t>
            </a:r>
            <a:endParaRPr lang="en-US" sz="1200" dirty="0"/>
          </a:p>
        </p:txBody>
      </p:sp>
      <p:sp>
        <p:nvSpPr>
          <p:cNvPr id="25" name="Text 23"/>
          <p:cNvSpPr/>
          <p:nvPr/>
        </p:nvSpPr>
        <p:spPr>
          <a:xfrm>
            <a:off x="5835650" y="3384352"/>
            <a:ext cx="2524633"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B3261E"/>
                </a:solidFill>
                <a:latin typeface="IBM Plex Mono" pitchFamily="49" charset="0"/>
                <a:ea typeface="IBM Plex Mono" pitchFamily="49" charset="-122"/>
                <a:cs typeface="IBM Plex Mono" pitchFamily="49" charset="-120"/>
              </a:rPr>
              <a:t>— — —</a:t>
            </a:r>
            <a:endParaRPr lang="en-US" sz="2800" dirty="0"/>
          </a:p>
        </p:txBody>
      </p:sp>
      <p:sp>
        <p:nvSpPr>
          <p:cNvPr id="26" name="Text 24"/>
          <p:cNvSpPr/>
          <p:nvPr/>
        </p:nvSpPr>
        <p:spPr>
          <a:xfrm>
            <a:off x="5835650" y="3813572"/>
            <a:ext cx="25246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261E"/>
                </a:solidFill>
                <a:latin typeface="IBM Plex Mono" pitchFamily="49" charset="0"/>
                <a:ea typeface="IBM Plex Mono" pitchFamily="49" charset="-122"/>
                <a:cs typeface="IBM Plex Mono" pitchFamily="49" charset="-120"/>
              </a:rPr>
              <a:t>BAD · nevažeće</a:t>
            </a:r>
            <a:endParaRPr lang="en-US" sz="1200" dirty="0"/>
          </a:p>
        </p:txBody>
      </p:sp>
      <p:sp>
        <p:nvSpPr>
          <p:cNvPr id="27" name="Shape 25"/>
          <p:cNvSpPr/>
          <p:nvPr/>
        </p:nvSpPr>
        <p:spPr>
          <a:xfrm>
            <a:off x="8594725" y="2996406"/>
            <a:ext cx="2774950" cy="1167011"/>
          </a:xfrm>
          <a:prstGeom prst="roundRect">
            <a:avLst>
              <a:gd name="adj" fmla="val 5713"/>
            </a:avLst>
          </a:prstGeom>
          <a:solidFill>
            <a:srgbClr val="ECEEF0"/>
          </a:solidFill>
          <a:ln w="19050">
            <a:solidFill>
              <a:srgbClr val="5E6975"/>
            </a:solidFill>
            <a:prstDash val="dash"/>
          </a:ln>
        </p:spPr>
      </p:sp>
      <p:sp>
        <p:nvSpPr>
          <p:cNvPr id="28" name="Text 26"/>
          <p:cNvSpPr/>
          <p:nvPr/>
        </p:nvSpPr>
        <p:spPr>
          <a:xfrm>
            <a:off x="8756650" y="3132931"/>
            <a:ext cx="2524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LT-101</a:t>
            </a:r>
            <a:endParaRPr lang="en-US" sz="1200" dirty="0"/>
          </a:p>
        </p:txBody>
      </p:sp>
      <p:sp>
        <p:nvSpPr>
          <p:cNvPr id="29" name="Text 27"/>
          <p:cNvSpPr/>
          <p:nvPr/>
        </p:nvSpPr>
        <p:spPr>
          <a:xfrm>
            <a:off x="8756650" y="3384352"/>
            <a:ext cx="2524633"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5E6975"/>
                </a:solidFill>
                <a:latin typeface="IBM Plex Mono" pitchFamily="49" charset="0"/>
                <a:ea typeface="IBM Plex Mono" pitchFamily="49" charset="-122"/>
                <a:cs typeface="IBM Plex Mono" pitchFamily="49" charset="-120"/>
              </a:rPr>
              <a:t>52,5 %</a:t>
            </a:r>
            <a:endParaRPr lang="en-US" sz="2800" dirty="0"/>
          </a:p>
        </p:txBody>
      </p:sp>
      <p:sp>
        <p:nvSpPr>
          <p:cNvPr id="30" name="Text 28"/>
          <p:cNvSpPr/>
          <p:nvPr/>
        </p:nvSpPr>
        <p:spPr>
          <a:xfrm>
            <a:off x="8756650" y="3813572"/>
            <a:ext cx="25246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05D"/>
                </a:solidFill>
                <a:latin typeface="IBM Plex Mono" pitchFamily="49" charset="0"/>
                <a:ea typeface="IBM Plex Mono" pitchFamily="49" charset="-122"/>
                <a:cs typeface="IBM Plex Mono" pitchFamily="49" charset="-120"/>
              </a:rPr>
              <a:t>STALE · starost 12 s</a:t>
            </a:r>
            <a:endParaRPr lang="en-US" sz="1200" dirty="0"/>
          </a:p>
        </p:txBody>
      </p:sp>
      <p:sp>
        <p:nvSpPr>
          <p:cNvPr id="31" name="Text 29"/>
          <p:cNvSpPr/>
          <p:nvPr/>
        </p:nvSpPr>
        <p:spPr>
          <a:xfrm>
            <a:off x="5664200" y="4350742"/>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Prioritet alarma</a:t>
            </a:r>
            <a:endParaRPr lang="en-US" sz="1200" dirty="0"/>
          </a:p>
        </p:txBody>
      </p:sp>
      <p:sp>
        <p:nvSpPr>
          <p:cNvPr id="32" name="Text 30"/>
          <p:cNvSpPr/>
          <p:nvPr/>
        </p:nvSpPr>
        <p:spPr>
          <a:xfrm>
            <a:off x="7035800" y="4299942"/>
            <a:ext cx="1117600" cy="314920"/>
          </a:xfrm>
          <a:prstGeom prst="roundRect">
            <a:avLst>
              <a:gd name="adj" fmla="val 16131"/>
            </a:avLst>
          </a:prstGeom>
          <a:solidFill>
            <a:srgbClr val="E07B1F"/>
          </a:solidFill>
          <a:ln/>
        </p:spPr>
        <p:txBody>
          <a:bodyPr wrap="none" lIns="0" tIns="0" rIns="0" bIns="0" rtlCol="0" anchor="ctr">
            <a:normAutofit/>
          </a:bodyPr>
          <a:lstStyle/>
          <a:p>
            <a:pPr algn="ct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P1 · visok</a:t>
            </a:r>
            <a:endParaRPr lang="en-US" sz="1200" dirty="0"/>
          </a:p>
        </p:txBody>
      </p:sp>
      <p:sp>
        <p:nvSpPr>
          <p:cNvPr id="33" name="Text 31"/>
          <p:cNvSpPr/>
          <p:nvPr/>
        </p:nvSpPr>
        <p:spPr>
          <a:xfrm>
            <a:off x="8261350" y="4306292"/>
            <a:ext cx="1313259" cy="302220"/>
          </a:xfrm>
          <a:prstGeom prst="roundRect">
            <a:avLst>
              <a:gd name="adj" fmla="val 14708"/>
            </a:avLst>
          </a:prstGeom>
          <a:solidFill>
            <a:srgbClr val="FBF1E6"/>
          </a:solidFill>
          <a:ln w="12700">
            <a:solidFill>
              <a:srgbClr val="E07B1F"/>
            </a:solidFill>
            <a:prstDash val="solid"/>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P2 · srednji</a:t>
            </a:r>
            <a:endParaRPr lang="en-US" sz="1200" dirty="0"/>
          </a:p>
        </p:txBody>
      </p:sp>
      <p:sp>
        <p:nvSpPr>
          <p:cNvPr id="34" name="Text 32"/>
          <p:cNvSpPr/>
          <p:nvPr/>
        </p:nvSpPr>
        <p:spPr>
          <a:xfrm>
            <a:off x="9688909" y="4306292"/>
            <a:ext cx="1130300" cy="302220"/>
          </a:xfrm>
          <a:prstGeom prst="roundRect">
            <a:avLst>
              <a:gd name="adj" fmla="val 14708"/>
            </a:avLst>
          </a:prstGeom>
          <a:solidFill>
            <a:srgbClr val="ECEEF0"/>
          </a:solidFill>
          <a:ln w="12700">
            <a:solidFill>
              <a:srgbClr val="8C99A6"/>
            </a:solidFill>
            <a:prstDash val="solid"/>
          </a:ln>
        </p:spPr>
        <p:txBody>
          <a:bodyPr wrap="none" lIns="0" tIns="0" rIns="0" bIns="0" rtlCol="0" anchor="ctr">
            <a:normAutofit/>
          </a:bodyPr>
          <a:lstStyle/>
          <a:p>
            <a:pPr algn="ctr" indent="0" marL="0">
              <a:lnSpc>
                <a:spcPts val="1680"/>
              </a:lnSpc>
              <a:buNone/>
            </a:pPr>
            <a:r>
              <a:rPr lang="en-US" sz="1200" b="1" dirty="0">
                <a:solidFill>
                  <a:srgbClr val="44505D"/>
                </a:solidFill>
                <a:latin typeface="IBM Plex Mono" pitchFamily="49" charset="0"/>
                <a:ea typeface="IBM Plex Mono" pitchFamily="49" charset="-122"/>
                <a:cs typeface="IBM Plex Mono" pitchFamily="49" charset="-120"/>
              </a:rPr>
              <a:t>P3 · nizak</a:t>
            </a:r>
            <a:endParaRPr lang="en-US" sz="1200" dirty="0"/>
          </a:p>
        </p:txBody>
      </p:sp>
      <p:sp>
        <p:nvSpPr>
          <p:cNvPr id="35" name="Shape 33"/>
          <p:cNvSpPr/>
          <p:nvPr/>
        </p:nvSpPr>
        <p:spPr>
          <a:xfrm>
            <a:off x="812800" y="6209705"/>
            <a:ext cx="10566400" cy="0"/>
          </a:xfrm>
          <a:prstGeom prst="line">
            <a:avLst/>
          </a:prstGeom>
          <a:noFill/>
          <a:ln w="6350">
            <a:solidFill>
              <a:srgbClr val="D3DAE1"/>
            </a:solidFill>
            <a:prstDash val="solid"/>
          </a:ln>
        </p:spPr>
      </p:sp>
      <p:sp>
        <p:nvSpPr>
          <p:cNvPr id="36" name="Text 34"/>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7" name="Text 3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PRIKAZI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Trend: vrednost u kontekstu vremena</a:t>
            </a:r>
            <a:endParaRPr lang="en-US" sz="3000" dirty="0"/>
          </a:p>
        </p:txBody>
      </p:sp>
      <p:sp>
        <p:nvSpPr>
          <p:cNvPr id="5" name="Shape 3"/>
          <p:cNvSpPr/>
          <p:nvPr/>
        </p:nvSpPr>
        <p:spPr>
          <a:xfrm>
            <a:off x="815975" y="1676995"/>
            <a:ext cx="6597650" cy="3168650"/>
          </a:xfrm>
          <a:prstGeom prst="roundRect">
            <a:avLst>
              <a:gd name="adj" fmla="val 3106"/>
            </a:avLst>
          </a:prstGeom>
          <a:solidFill>
            <a:srgbClr val="FCFCFB"/>
          </a:solidFill>
          <a:ln w="6350">
            <a:solidFill>
              <a:srgbClr val="D3DAE1"/>
            </a:solidFill>
            <a:prstDash val="solid"/>
          </a:ln>
        </p:spPr>
      </p:sp>
      <p:pic>
        <p:nvPicPr>
          <p:cNvPr id="6" name="Image 0" descr="Trend nivoa sa normalnim opsegom, pragom alarma i prekidom podataka označenim kao zastareo">    </p:cNvPr>
          <p:cNvPicPr>
            <a:picLocks noChangeAspect="1"/>
          </p:cNvPicPr>
          <p:nvPr/>
        </p:nvPicPr>
        <p:blipFill>
          <a:blip r:embed="rId1"/>
          <a:srcRect l="0" r="0" t="0" b="0"/>
          <a:stretch/>
        </p:blipFill>
        <p:spPr>
          <a:xfrm>
            <a:off x="1447800" y="1864320"/>
            <a:ext cx="5715000" cy="2413000"/>
          </a:xfrm>
          <a:prstGeom prst="rect">
            <a:avLst/>
          </a:prstGeom>
        </p:spPr>
      </p:pic>
      <p:sp>
        <p:nvSpPr>
          <p:cNvPr id="7" name="Text 4"/>
          <p:cNvSpPr/>
          <p:nvPr/>
        </p:nvSpPr>
        <p:spPr>
          <a:xfrm>
            <a:off x="762000" y="1756370"/>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100 %</a:t>
            </a:r>
            <a:endParaRPr lang="en-US" sz="1200" dirty="0"/>
          </a:p>
        </p:txBody>
      </p:sp>
      <p:sp>
        <p:nvSpPr>
          <p:cNvPr id="8" name="Text 5"/>
          <p:cNvSpPr/>
          <p:nvPr/>
        </p:nvSpPr>
        <p:spPr>
          <a:xfrm>
            <a:off x="762000" y="2359620"/>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75 %</a:t>
            </a:r>
            <a:endParaRPr lang="en-US" sz="1200" dirty="0"/>
          </a:p>
        </p:txBody>
      </p:sp>
      <p:sp>
        <p:nvSpPr>
          <p:cNvPr id="9" name="Text 6"/>
          <p:cNvSpPr/>
          <p:nvPr/>
        </p:nvSpPr>
        <p:spPr>
          <a:xfrm>
            <a:off x="762000" y="2962870"/>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50 %</a:t>
            </a:r>
            <a:endParaRPr lang="en-US" sz="1200" dirty="0"/>
          </a:p>
        </p:txBody>
      </p:sp>
      <p:sp>
        <p:nvSpPr>
          <p:cNvPr id="10" name="Text 7"/>
          <p:cNvSpPr/>
          <p:nvPr/>
        </p:nvSpPr>
        <p:spPr>
          <a:xfrm>
            <a:off x="762000" y="3566120"/>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25 %</a:t>
            </a:r>
            <a:endParaRPr lang="en-US" sz="1200" dirty="0"/>
          </a:p>
        </p:txBody>
      </p:sp>
      <p:sp>
        <p:nvSpPr>
          <p:cNvPr id="11" name="Text 8"/>
          <p:cNvSpPr/>
          <p:nvPr/>
        </p:nvSpPr>
        <p:spPr>
          <a:xfrm>
            <a:off x="762000" y="4169370"/>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0 %</a:t>
            </a:r>
            <a:endParaRPr lang="en-US" sz="1200" dirty="0"/>
          </a:p>
        </p:txBody>
      </p:sp>
      <p:sp>
        <p:nvSpPr>
          <p:cNvPr id="12" name="Text 9"/>
          <p:cNvSpPr/>
          <p:nvPr/>
        </p:nvSpPr>
        <p:spPr>
          <a:xfrm>
            <a:off x="1104900" y="436622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−10 min</a:t>
            </a:r>
            <a:endParaRPr lang="en-US" sz="1200" dirty="0"/>
          </a:p>
        </p:txBody>
      </p:sp>
      <p:sp>
        <p:nvSpPr>
          <p:cNvPr id="13" name="Text 10"/>
          <p:cNvSpPr/>
          <p:nvPr/>
        </p:nvSpPr>
        <p:spPr>
          <a:xfrm>
            <a:off x="3962400" y="4366220"/>
            <a:ext cx="685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−5 min</a:t>
            </a:r>
            <a:endParaRPr lang="en-US" sz="1200" dirty="0"/>
          </a:p>
        </p:txBody>
      </p:sp>
      <p:sp>
        <p:nvSpPr>
          <p:cNvPr id="14" name="Text 11"/>
          <p:cNvSpPr/>
          <p:nvPr/>
        </p:nvSpPr>
        <p:spPr>
          <a:xfrm>
            <a:off x="6819900" y="436622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sada</a:t>
            </a:r>
            <a:endParaRPr lang="en-US" sz="1200" dirty="0"/>
          </a:p>
        </p:txBody>
      </p:sp>
      <p:sp>
        <p:nvSpPr>
          <p:cNvPr id="15" name="Text 12"/>
          <p:cNvSpPr/>
          <p:nvPr/>
        </p:nvSpPr>
        <p:spPr>
          <a:xfrm>
            <a:off x="1524000" y="1965920"/>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Sans" pitchFamily="34" charset="0"/>
                <a:ea typeface="IBM Plex Sans" pitchFamily="34" charset="-122"/>
                <a:cs typeface="IBM Plex Sans" pitchFamily="34" charset="-120"/>
              </a:rPr>
              <a:t>prag alarma 85 %</a:t>
            </a:r>
            <a:endParaRPr lang="en-US" sz="1200" dirty="0"/>
          </a:p>
        </p:txBody>
      </p:sp>
      <p:sp>
        <p:nvSpPr>
          <p:cNvPr id="16" name="Text 13"/>
          <p:cNvSpPr/>
          <p:nvPr/>
        </p:nvSpPr>
        <p:spPr>
          <a:xfrm>
            <a:off x="1524000" y="314702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normalan opseg</a:t>
            </a:r>
            <a:endParaRPr lang="en-US" sz="1200" dirty="0"/>
          </a:p>
        </p:txBody>
      </p:sp>
      <p:sp>
        <p:nvSpPr>
          <p:cNvPr id="17" name="Text 14"/>
          <p:cNvSpPr/>
          <p:nvPr/>
        </p:nvSpPr>
        <p:spPr>
          <a:xfrm>
            <a:off x="3848100" y="2854920"/>
            <a:ext cx="1041400"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4505D"/>
                </a:solidFill>
                <a:latin typeface="IBM Plex Sans" pitchFamily="34" charset="0"/>
                <a:ea typeface="IBM Plex Sans" pitchFamily="34" charset="-122"/>
                <a:cs typeface="IBM Plex Sans" pitchFamily="34" charset="-120"/>
              </a:rPr>
              <a:t>prekid</a:t>
            </a:r>
            <a:endParaRPr lang="en-US" sz="1200" dirty="0"/>
          </a:p>
          <a:p>
            <a:pPr algn="ctr" indent="0" marL="0">
              <a:lnSpc>
                <a:spcPts val="1560"/>
              </a:lnSpc>
              <a:buNone/>
            </a:pPr>
            <a:r>
              <a:rPr lang="en-US" sz="1200" dirty="0">
                <a:solidFill>
                  <a:srgbClr val="44505D"/>
                </a:solidFill>
                <a:latin typeface="IBM Plex Sans" pitchFamily="34" charset="0"/>
                <a:ea typeface="IBM Plex Sans" pitchFamily="34" charset="-122"/>
                <a:cs typeface="IBM Plex Sans" pitchFamily="34" charset="-120"/>
              </a:rPr>
              <a:t>STALE</a:t>
            </a:r>
            <a:endParaRPr lang="en-US" sz="1200" dirty="0"/>
          </a:p>
        </p:txBody>
      </p:sp>
      <p:sp>
        <p:nvSpPr>
          <p:cNvPr id="18" name="Text 15"/>
          <p:cNvSpPr/>
          <p:nvPr/>
        </p:nvSpPr>
        <p:spPr>
          <a:xfrm>
            <a:off x="7721600" y="1673820"/>
            <a:ext cx="37673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Trend pokazuje smer i brzinu promene, ne samo trenutnu vrednost.</a:t>
            </a:r>
            <a:endParaRPr lang="en-US" sz="1200" dirty="0"/>
          </a:p>
        </p:txBody>
      </p:sp>
      <p:sp>
        <p:nvSpPr>
          <p:cNvPr id="19" name="Shape 16"/>
          <p:cNvSpPr/>
          <p:nvPr/>
        </p:nvSpPr>
        <p:spPr>
          <a:xfrm>
            <a:off x="7734300" y="2227461"/>
            <a:ext cx="0" cy="690761"/>
          </a:xfrm>
          <a:prstGeom prst="line">
            <a:avLst/>
          </a:prstGeom>
          <a:noFill/>
          <a:ln w="25400">
            <a:solidFill>
              <a:srgbClr val="0A5CA8"/>
            </a:solidFill>
            <a:prstDash val="solid"/>
          </a:ln>
        </p:spPr>
      </p:sp>
      <p:sp>
        <p:nvSpPr>
          <p:cNvPr id="20" name="Text 17"/>
          <p:cNvSpPr/>
          <p:nvPr/>
        </p:nvSpPr>
        <p:spPr>
          <a:xfrm>
            <a:off x="7874000" y="2240161"/>
            <a:ext cx="36103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Kontekst</a:t>
            </a:r>
            <a:endParaRPr lang="en-US" sz="1200" dirty="0"/>
          </a:p>
        </p:txBody>
      </p:sp>
      <p:sp>
        <p:nvSpPr>
          <p:cNvPr id="21" name="Text 18"/>
          <p:cNvSpPr/>
          <p:nvPr/>
        </p:nvSpPr>
        <p:spPr>
          <a:xfrm>
            <a:off x="7874000" y="2478881"/>
            <a:ext cx="36103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Normalni opseg i pragovi alarma na istom grafikonu.</a:t>
            </a:r>
            <a:endParaRPr lang="en-US" sz="1200" dirty="0"/>
          </a:p>
        </p:txBody>
      </p:sp>
      <p:sp>
        <p:nvSpPr>
          <p:cNvPr id="22" name="Shape 19"/>
          <p:cNvSpPr/>
          <p:nvPr/>
        </p:nvSpPr>
        <p:spPr>
          <a:xfrm>
            <a:off x="7734300" y="3045222"/>
            <a:ext cx="0" cy="477441"/>
          </a:xfrm>
          <a:prstGeom prst="line">
            <a:avLst/>
          </a:prstGeom>
          <a:noFill/>
          <a:ln w="25400">
            <a:solidFill>
              <a:srgbClr val="0A5CA8"/>
            </a:solidFill>
            <a:prstDash val="solid"/>
          </a:ln>
        </p:spPr>
      </p:sp>
      <p:sp>
        <p:nvSpPr>
          <p:cNvPr id="23" name="Text 20"/>
          <p:cNvSpPr/>
          <p:nvPr/>
        </p:nvSpPr>
        <p:spPr>
          <a:xfrm>
            <a:off x="7874000" y="3057922"/>
            <a:ext cx="36103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Iskrenost podataka</a:t>
            </a:r>
            <a:endParaRPr lang="en-US" sz="1200" dirty="0"/>
          </a:p>
        </p:txBody>
      </p:sp>
      <p:sp>
        <p:nvSpPr>
          <p:cNvPr id="24" name="Text 21"/>
          <p:cNvSpPr/>
          <p:nvPr/>
        </p:nvSpPr>
        <p:spPr>
          <a:xfrm>
            <a:off x="7874000" y="3296642"/>
            <a:ext cx="36103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Prekid se prikazuje kao prekid, a ne kao ravna linija.</a:t>
            </a:r>
            <a:endParaRPr lang="en-US" sz="1200" dirty="0"/>
          </a:p>
        </p:txBody>
      </p:sp>
      <p:sp>
        <p:nvSpPr>
          <p:cNvPr id="25" name="Shape 22"/>
          <p:cNvSpPr/>
          <p:nvPr/>
        </p:nvSpPr>
        <p:spPr>
          <a:xfrm>
            <a:off x="7734300" y="3649663"/>
            <a:ext cx="0" cy="477441"/>
          </a:xfrm>
          <a:prstGeom prst="line">
            <a:avLst/>
          </a:prstGeom>
          <a:noFill/>
          <a:ln w="25400">
            <a:solidFill>
              <a:srgbClr val="0A5CA8"/>
            </a:solidFill>
            <a:prstDash val="solid"/>
          </a:ln>
        </p:spPr>
      </p:sp>
      <p:sp>
        <p:nvSpPr>
          <p:cNvPr id="26" name="Text 23"/>
          <p:cNvSpPr/>
          <p:nvPr/>
        </p:nvSpPr>
        <p:spPr>
          <a:xfrm>
            <a:off x="7874000" y="3662362"/>
            <a:ext cx="36103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Analiza</a:t>
            </a:r>
            <a:endParaRPr lang="en-US" sz="1200" dirty="0"/>
          </a:p>
        </p:txBody>
      </p:sp>
      <p:sp>
        <p:nvSpPr>
          <p:cNvPr id="27" name="Text 24"/>
          <p:cNvSpPr/>
          <p:nvPr/>
        </p:nvSpPr>
        <p:spPr>
          <a:xfrm>
            <a:off x="7874000" y="3901083"/>
            <a:ext cx="36103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Više signala, izbor intervala i izvoz podataka.</a:t>
            </a:r>
            <a:endParaRPr lang="en-US" sz="1200" dirty="0"/>
          </a:p>
        </p:txBody>
      </p:sp>
      <p:sp>
        <p:nvSpPr>
          <p:cNvPr id="28" name="Shape 25"/>
          <p:cNvSpPr/>
          <p:nvPr/>
        </p:nvSpPr>
        <p:spPr>
          <a:xfrm>
            <a:off x="812800" y="6209705"/>
            <a:ext cx="10566400" cy="0"/>
          </a:xfrm>
          <a:prstGeom prst="line">
            <a:avLst/>
          </a:prstGeom>
          <a:noFill/>
          <a:ln w="6350">
            <a:solidFill>
              <a:srgbClr val="D3DAE1"/>
            </a:solidFill>
            <a:prstDash val="solid"/>
          </a:ln>
        </p:spPr>
      </p:sp>
      <p:sp>
        <p:nvSpPr>
          <p:cNvPr id="29" name="Text 26"/>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0"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PRIKAZI</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Raspored radnog ekrana operatera</a:t>
            </a:r>
            <a:endParaRPr lang="en-US" sz="3000" dirty="0"/>
          </a:p>
        </p:txBody>
      </p:sp>
      <p:sp>
        <p:nvSpPr>
          <p:cNvPr id="5" name="Shape 3"/>
          <p:cNvSpPr/>
          <p:nvPr/>
        </p:nvSpPr>
        <p:spPr>
          <a:xfrm>
            <a:off x="819150" y="1629370"/>
            <a:ext cx="10553700" cy="3543300"/>
          </a:xfrm>
          <a:prstGeom prst="roundRect">
            <a:avLst>
              <a:gd name="adj" fmla="val 2688"/>
            </a:avLst>
          </a:prstGeom>
          <a:solidFill>
            <a:srgbClr val="FCFCFB"/>
          </a:solidFill>
          <a:ln w="12700">
            <a:solidFill>
              <a:srgbClr val="C3CEDA"/>
            </a:solidFill>
            <a:prstDash val="solid"/>
          </a:ln>
        </p:spPr>
      </p:sp>
      <p:sp>
        <p:nvSpPr>
          <p:cNvPr id="6" name="Shape 4"/>
          <p:cNvSpPr/>
          <p:nvPr/>
        </p:nvSpPr>
        <p:spPr>
          <a:xfrm>
            <a:off x="825500" y="1635720"/>
            <a:ext cx="10541000" cy="406400"/>
          </a:xfrm>
          <a:custGeom>
            <a:avLst/>
            <a:gdLst/>
            <a:ahLst/>
            <a:cxnLst/>
            <a:rect l="l" t="t" r="r" b="b"/>
            <a:pathLst>
              <a:path w="10541000" h="406400">
                <a:moveTo>
                  <a:pt x="0" y="88900"/>
                </a:moveTo>
                <a:arcTo hR="88900" wR="88900" stAng="10800000" swAng="5400000"/>
                <a:lnTo>
                  <a:pt x="10452100" y="0"/>
                </a:lnTo>
                <a:arcTo hR="88900" wR="88900" stAng="16200000" swAng="5400000"/>
                <a:lnTo>
                  <a:pt x="10541000" y="406400"/>
                </a:lnTo>
                <a:lnTo>
                  <a:pt x="0" y="406400"/>
                </a:lnTo>
                <a:close/>
              </a:path>
            </a:pathLst>
          </a:custGeom>
          <a:solidFill>
            <a:srgbClr val="EBF0F5"/>
          </a:solidFill>
          <a:ln/>
        </p:spPr>
      </p:sp>
      <p:sp>
        <p:nvSpPr>
          <p:cNvPr id="7" name="Shape 5"/>
          <p:cNvSpPr/>
          <p:nvPr/>
        </p:nvSpPr>
        <p:spPr>
          <a:xfrm>
            <a:off x="825500" y="1635720"/>
            <a:ext cx="10541000" cy="406400"/>
          </a:xfrm>
          <a:custGeom>
            <a:avLst/>
            <a:gdLst/>
            <a:ahLst/>
            <a:cxnLst/>
            <a:rect l="l" t="t" r="r" b="b"/>
            <a:pathLst>
              <a:path w="10541000" h="406400">
                <a:moveTo>
                  <a:pt x="0" y="400050"/>
                </a:moveTo>
                <a:lnTo>
                  <a:pt x="10541000" y="400050"/>
                </a:lnTo>
                <a:lnTo>
                  <a:pt x="10541000" y="406400"/>
                </a:lnTo>
                <a:lnTo>
                  <a:pt x="0" y="406400"/>
                </a:lnTo>
                <a:lnTo>
                  <a:pt x="0" y="400050"/>
                </a:lnTo>
                <a:close/>
              </a:path>
            </a:pathLst>
          </a:custGeom>
          <a:solidFill>
            <a:srgbClr val="D3DAE1"/>
          </a:solidFill>
          <a:ln/>
        </p:spPr>
      </p:sp>
      <p:sp>
        <p:nvSpPr>
          <p:cNvPr id="8" name="Text 6"/>
          <p:cNvSpPr/>
          <p:nvPr/>
        </p:nvSpPr>
        <p:spPr>
          <a:xfrm>
            <a:off x="1003300" y="1729085"/>
            <a:ext cx="28529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SCADA / PREGLED JEDINICE 1</a:t>
            </a:r>
            <a:endParaRPr lang="en-US" sz="1200" dirty="0"/>
          </a:p>
        </p:txBody>
      </p:sp>
      <p:sp>
        <p:nvSpPr>
          <p:cNvPr id="9" name="Text 7"/>
          <p:cNvSpPr/>
          <p:nvPr/>
        </p:nvSpPr>
        <p:spPr>
          <a:xfrm>
            <a:off x="9263261" y="1729085"/>
            <a:ext cx="1539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2 aktivna alarma</a:t>
            </a:r>
            <a:endParaRPr lang="en-US" sz="1200" dirty="0"/>
          </a:p>
        </p:txBody>
      </p:sp>
      <p:sp>
        <p:nvSpPr>
          <p:cNvPr id="10" name="Text 8"/>
          <p:cNvSpPr/>
          <p:nvPr/>
        </p:nvSpPr>
        <p:spPr>
          <a:xfrm>
            <a:off x="10802541" y="1716385"/>
            <a:ext cx="386159" cy="238720"/>
          </a:xfrm>
          <a:custGeom>
            <a:avLst/>
            <a:gdLst/>
            <a:ahLst/>
            <a:cxnLst/>
            <a:rect l="l" t="t" r="r" b="b"/>
            <a:pathLst>
              <a:path w="386159" h="238720">
                <a:moveTo>
                  <a:pt x="119360" y="0"/>
                </a:moveTo>
                <a:lnTo>
                  <a:pt x="266799" y="0"/>
                </a:lnTo>
                <a:arcTo hR="119360" wR="119360" stAng="16200000" swAng="5400000"/>
                <a:lnTo>
                  <a:pt x="386159" y="119360"/>
                </a:lnTo>
                <a:arcTo hR="119360" wR="119360" stAng="0" swAng="5400000"/>
                <a:lnTo>
                  <a:pt x="119360" y="238720"/>
                </a:lnTo>
                <a:arcTo hR="119360" wR="119360" stAng="5400000" swAng="5400000"/>
                <a:lnTo>
                  <a:pt x="0" y="119360"/>
                </a:lnTo>
                <a:arcTo hR="119360" wR="119360" stAng="10800000" swAng="5400000"/>
                <a:close/>
              </a:path>
            </a:pathLst>
          </a:custGeom>
          <a:solidFill>
            <a:srgbClr val="E07B1F"/>
          </a:solidFill>
          <a:ln/>
        </p:spPr>
        <p:txBody>
          <a:bodyPr wrap="none" lIns="0" tIns="0" rIns="0" bIns="0" rtlCol="0" anchor="ctr">
            <a:normAutofit/>
          </a:bodyPr>
          <a:lstStyle/>
          <a:p>
            <a:pPr algn="ct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P1</a:t>
            </a:r>
            <a:endParaRPr lang="en-US" sz="1200" dirty="0"/>
          </a:p>
        </p:txBody>
      </p:sp>
      <p:sp>
        <p:nvSpPr>
          <p:cNvPr id="11" name="Shape 9"/>
          <p:cNvSpPr/>
          <p:nvPr/>
        </p:nvSpPr>
        <p:spPr>
          <a:xfrm>
            <a:off x="825500" y="2042120"/>
            <a:ext cx="1778000" cy="3124200"/>
          </a:xfrm>
          <a:custGeom>
            <a:avLst/>
            <a:gdLst/>
            <a:ahLst/>
            <a:cxnLst/>
            <a:rect l="l" t="t" r="r" b="b"/>
            <a:pathLst>
              <a:path w="1778000" h="3124200">
                <a:moveTo>
                  <a:pt x="88900" y="3124200"/>
                </a:moveTo>
                <a:arcTo hR="88900" wR="88900" stAng="5400000" swAng="5400000"/>
                <a:lnTo>
                  <a:pt x="0" y="0"/>
                </a:lnTo>
                <a:lnTo>
                  <a:pt x="1778000" y="0"/>
                </a:lnTo>
                <a:lnTo>
                  <a:pt x="1778000" y="3124200"/>
                </a:lnTo>
                <a:close/>
              </a:path>
            </a:pathLst>
          </a:custGeom>
          <a:solidFill>
            <a:srgbClr val="F6F7F5"/>
          </a:solidFill>
          <a:ln/>
        </p:spPr>
      </p:sp>
      <p:sp>
        <p:nvSpPr>
          <p:cNvPr id="12" name="Shape 10"/>
          <p:cNvSpPr/>
          <p:nvPr/>
        </p:nvSpPr>
        <p:spPr>
          <a:xfrm>
            <a:off x="825500" y="2042120"/>
            <a:ext cx="1778000" cy="3124200"/>
          </a:xfrm>
          <a:custGeom>
            <a:avLst/>
            <a:gdLst/>
            <a:ahLst/>
            <a:cxnLst/>
            <a:rect l="l" t="t" r="r" b="b"/>
            <a:pathLst>
              <a:path w="1778000" h="3124200">
                <a:moveTo>
                  <a:pt x="1771650" y="0"/>
                </a:moveTo>
                <a:lnTo>
                  <a:pt x="1778000" y="0"/>
                </a:lnTo>
                <a:lnTo>
                  <a:pt x="1778000" y="3124200"/>
                </a:lnTo>
                <a:lnTo>
                  <a:pt x="1771650" y="3124200"/>
                </a:lnTo>
                <a:lnTo>
                  <a:pt x="1771650" y="0"/>
                </a:lnTo>
                <a:close/>
              </a:path>
            </a:pathLst>
          </a:custGeom>
          <a:solidFill>
            <a:srgbClr val="D3DAE1"/>
          </a:solidFill>
          <a:ln/>
        </p:spPr>
      </p:sp>
      <p:sp>
        <p:nvSpPr>
          <p:cNvPr id="13" name="Text 11"/>
          <p:cNvSpPr/>
          <p:nvPr/>
        </p:nvSpPr>
        <p:spPr>
          <a:xfrm>
            <a:off x="977900" y="2194520"/>
            <a:ext cx="1517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NAVIGACIJA</a:t>
            </a:r>
            <a:endParaRPr lang="en-US" sz="1200" dirty="0"/>
          </a:p>
        </p:txBody>
      </p:sp>
      <p:sp>
        <p:nvSpPr>
          <p:cNvPr id="14" name="Text 12"/>
          <p:cNvSpPr/>
          <p:nvPr/>
        </p:nvSpPr>
        <p:spPr>
          <a:xfrm>
            <a:off x="1079500" y="2534841"/>
            <a:ext cx="1314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Pregled</a:t>
            </a:r>
            <a:endParaRPr lang="en-US" sz="1200" dirty="0"/>
          </a:p>
        </p:txBody>
      </p:sp>
      <p:sp>
        <p:nvSpPr>
          <p:cNvPr id="15" name="Text 13"/>
          <p:cNvSpPr/>
          <p:nvPr/>
        </p:nvSpPr>
        <p:spPr>
          <a:xfrm>
            <a:off x="977900" y="2824361"/>
            <a:ext cx="1466850" cy="289520"/>
          </a:xfrm>
          <a:prstGeom prst="roundRect">
            <a:avLst>
              <a:gd name="adj" fmla="val 17546"/>
            </a:avLst>
          </a:prstGeom>
          <a:solidFill>
            <a:srgbClr val="DCE8F4"/>
          </a:solidFill>
          <a:ln/>
        </p:spPr>
        <p:txBody>
          <a:bodyPr wrap="square" lIns="86721" tIns="23221" rIns="35921" bIns="0" rtlCol="0" anchor="t">
            <a:normAutofit/>
          </a:bodyPr>
          <a:lstStyle/>
          <a:p>
            <a:pPr algn="l"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Jedinica 1</a:t>
            </a:r>
            <a:endParaRPr lang="en-US" sz="1200" dirty="0"/>
          </a:p>
        </p:txBody>
      </p:sp>
      <p:sp>
        <p:nvSpPr>
          <p:cNvPr id="16" name="Text 14"/>
          <p:cNvSpPr/>
          <p:nvPr/>
        </p:nvSpPr>
        <p:spPr>
          <a:xfrm>
            <a:off x="1079500" y="3190081"/>
            <a:ext cx="1314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Jedinica 2</a:t>
            </a:r>
            <a:endParaRPr lang="en-US" sz="1200" dirty="0"/>
          </a:p>
        </p:txBody>
      </p:sp>
      <p:sp>
        <p:nvSpPr>
          <p:cNvPr id="17" name="Text 15"/>
          <p:cNvSpPr/>
          <p:nvPr/>
        </p:nvSpPr>
        <p:spPr>
          <a:xfrm>
            <a:off x="1079500" y="3517702"/>
            <a:ext cx="1314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Alarmi</a:t>
            </a:r>
            <a:endParaRPr lang="en-US" sz="1200" dirty="0"/>
          </a:p>
        </p:txBody>
      </p:sp>
      <p:sp>
        <p:nvSpPr>
          <p:cNvPr id="18" name="Text 16"/>
          <p:cNvSpPr/>
          <p:nvPr/>
        </p:nvSpPr>
        <p:spPr>
          <a:xfrm>
            <a:off x="1079500" y="3845322"/>
            <a:ext cx="1314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Trendovi</a:t>
            </a:r>
            <a:endParaRPr lang="en-US" sz="1200" dirty="0"/>
          </a:p>
        </p:txBody>
      </p:sp>
      <p:sp>
        <p:nvSpPr>
          <p:cNvPr id="19" name="Text 17"/>
          <p:cNvSpPr/>
          <p:nvPr/>
        </p:nvSpPr>
        <p:spPr>
          <a:xfrm>
            <a:off x="1079500" y="4172942"/>
            <a:ext cx="1314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Izveštaji</a:t>
            </a:r>
            <a:endParaRPr lang="en-US" sz="1200" dirty="0"/>
          </a:p>
        </p:txBody>
      </p:sp>
      <p:sp>
        <p:nvSpPr>
          <p:cNvPr id="20" name="Text 18"/>
          <p:cNvSpPr/>
          <p:nvPr/>
        </p:nvSpPr>
        <p:spPr>
          <a:xfrm>
            <a:off x="2806700" y="2194520"/>
            <a:ext cx="61219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PROCESNI PRIKAZ</a:t>
            </a:r>
            <a:endParaRPr lang="en-US" sz="1200" dirty="0"/>
          </a:p>
        </p:txBody>
      </p:sp>
      <p:sp>
        <p:nvSpPr>
          <p:cNvPr id="21" name="Text 19"/>
          <p:cNvSpPr/>
          <p:nvPr/>
        </p:nvSpPr>
        <p:spPr>
          <a:xfrm>
            <a:off x="4232275" y="3264495"/>
            <a:ext cx="679450" cy="679450"/>
          </a:xfrm>
          <a:custGeom>
            <a:avLst/>
            <a:gdLst/>
            <a:ahLst/>
            <a:cxnLst/>
            <a:rect l="l" t="t" r="r" b="b"/>
            <a:pathLst>
              <a:path w="679450" h="679450">
                <a:moveTo>
                  <a:pt x="339725" y="0"/>
                </a:moveTo>
                <a:lnTo>
                  <a:pt x="339725" y="0"/>
                </a:lnTo>
                <a:arcTo hR="339725" wR="339725" stAng="16200000" swAng="5400000"/>
                <a:lnTo>
                  <a:pt x="679450" y="339725"/>
                </a:lnTo>
                <a:arcTo hR="339725" wR="339725" stAng="0" swAng="5400000"/>
                <a:lnTo>
                  <a:pt x="339725" y="679450"/>
                </a:lnTo>
                <a:arcTo hR="339725" wR="339725" stAng="5400000" swAng="5400000"/>
                <a:lnTo>
                  <a:pt x="0" y="339725"/>
                </a:lnTo>
                <a:arcTo hR="339725" wR="339725" stAng="10800000" swAng="5400000"/>
                <a:close/>
              </a:path>
            </a:pathLst>
          </a:custGeom>
          <a:solidFill>
            <a:srgbClr val="DCE8F4"/>
          </a:solidFill>
          <a:ln w="19050">
            <a:solidFill>
              <a:srgbClr val="13202D"/>
            </a:solidFill>
            <a:prstDash val="solid"/>
          </a:ln>
        </p:spPr>
        <p:txBody>
          <a:bodyPr wrap="square" lIns="9525" tIns="9525" rIns="9525" bIns="9525" rtlCol="0" anchor="ctr">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P-101</a:t>
            </a:r>
            <a:endParaRPr lang="en-US" sz="1200" dirty="0"/>
          </a:p>
        </p:txBody>
      </p:sp>
      <p:sp>
        <p:nvSpPr>
          <p:cNvPr id="22" name="Shape 20"/>
          <p:cNvSpPr/>
          <p:nvPr/>
        </p:nvSpPr>
        <p:spPr>
          <a:xfrm>
            <a:off x="4921250" y="3572470"/>
            <a:ext cx="1016000" cy="63500"/>
          </a:xfrm>
          <a:prstGeom prst="rect">
            <a:avLst/>
          </a:prstGeom>
          <a:solidFill>
            <a:srgbClr val="8C99A6"/>
          </a:solidFill>
          <a:ln/>
        </p:spPr>
      </p:sp>
      <p:sp>
        <p:nvSpPr>
          <p:cNvPr id="23" name="Shape 21"/>
          <p:cNvSpPr/>
          <p:nvPr/>
        </p:nvSpPr>
        <p:spPr>
          <a:xfrm>
            <a:off x="5946775" y="2788245"/>
            <a:ext cx="1377950" cy="1631950"/>
          </a:xfrm>
          <a:prstGeom prst="roundRect">
            <a:avLst>
              <a:gd name="adj" fmla="val 4839"/>
            </a:avLst>
          </a:prstGeom>
          <a:solidFill>
            <a:srgbClr val="FCFCFB"/>
          </a:solidFill>
          <a:ln w="19050">
            <a:solidFill>
              <a:srgbClr val="13202D"/>
            </a:solidFill>
            <a:prstDash val="solid"/>
          </a:ln>
        </p:spPr>
      </p:sp>
      <p:sp>
        <p:nvSpPr>
          <p:cNvPr id="24" name="Text 22"/>
          <p:cNvSpPr/>
          <p:nvPr/>
        </p:nvSpPr>
        <p:spPr>
          <a:xfrm>
            <a:off x="5956300" y="3540720"/>
            <a:ext cx="1358900" cy="869950"/>
          </a:xfrm>
          <a:custGeom>
            <a:avLst/>
            <a:gdLst/>
            <a:ahLst/>
            <a:cxnLst/>
            <a:rect l="l" t="t" r="r" b="b"/>
            <a:pathLst>
              <a:path w="1358900" h="869950">
                <a:moveTo>
                  <a:pt x="1358900" y="812800"/>
                </a:moveTo>
                <a:arcTo hR="57150" wR="57150" stAng="0" swAng="5400000"/>
                <a:lnTo>
                  <a:pt x="57150" y="869950"/>
                </a:lnTo>
                <a:arcTo hR="57150" wR="57150" stAng="5400000" swAng="5400000"/>
                <a:lnTo>
                  <a:pt x="0" y="0"/>
                </a:lnTo>
                <a:lnTo>
                  <a:pt x="1358900" y="0"/>
                </a:lnTo>
                <a:close/>
              </a:path>
            </a:pathLst>
          </a:custGeom>
          <a:solidFill>
            <a:srgbClr val="DCE8F4"/>
          </a:solidFill>
          <a:ln/>
        </p:spPr>
        <p:txBody>
          <a:bodyPr wrap="square" lIns="0" tIns="19050" rIns="0" bIns="0" rtlCol="0" anchor="ctr">
            <a:normAutofit/>
          </a:bodyPr>
          <a:lstStyle/>
          <a:p>
            <a:pPr algn="ctr"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52,5 %</a:t>
            </a:r>
            <a:endParaRPr lang="en-US" sz="1400" dirty="0"/>
          </a:p>
        </p:txBody>
      </p:sp>
      <p:sp>
        <p:nvSpPr>
          <p:cNvPr id="25" name="Shape 23"/>
          <p:cNvSpPr/>
          <p:nvPr/>
        </p:nvSpPr>
        <p:spPr>
          <a:xfrm>
            <a:off x="5956300" y="3540720"/>
            <a:ext cx="1358900" cy="869950"/>
          </a:xfrm>
          <a:custGeom>
            <a:avLst/>
            <a:gdLst/>
            <a:ahLst/>
            <a:cxnLst/>
            <a:rect l="l" t="t" r="r" b="b"/>
            <a:pathLst>
              <a:path w="1358900" h="869950">
                <a:moveTo>
                  <a:pt x="0" y="0"/>
                </a:moveTo>
                <a:lnTo>
                  <a:pt x="1358900" y="0"/>
                </a:lnTo>
                <a:lnTo>
                  <a:pt x="1358900" y="19050"/>
                </a:lnTo>
                <a:lnTo>
                  <a:pt x="0" y="19050"/>
                </a:lnTo>
                <a:lnTo>
                  <a:pt x="0" y="0"/>
                </a:lnTo>
                <a:close/>
              </a:path>
            </a:pathLst>
          </a:custGeom>
          <a:solidFill>
            <a:srgbClr val="0A5CA8"/>
          </a:solidFill>
          <a:ln/>
        </p:spPr>
      </p:sp>
      <p:sp>
        <p:nvSpPr>
          <p:cNvPr id="26" name="Text 24"/>
          <p:cNvSpPr/>
          <p:nvPr/>
        </p:nvSpPr>
        <p:spPr>
          <a:xfrm>
            <a:off x="2717546" y="4800600"/>
            <a:ext cx="612190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TK-101</a:t>
            </a:r>
            <a:r>
              <a:rPr lang="en-US" sz="1200" dirty="0">
                <a:solidFill>
                  <a:srgbClr val="44505D"/>
                </a:solidFill>
                <a:latin typeface="IBM Plex Sans" pitchFamily="34" charset="0"/>
                <a:ea typeface="IBM Plex Sans" pitchFamily="34" charset="-122"/>
                <a:cs typeface="IBM Plex Sans" pitchFamily="34" charset="-120"/>
              </a:rPr>
              <a:t> · Nivo 52,5 % · GOOD</a:t>
            </a:r>
            <a:endParaRPr lang="en-US" sz="1200" dirty="0"/>
          </a:p>
        </p:txBody>
      </p:sp>
      <p:sp>
        <p:nvSpPr>
          <p:cNvPr id="27" name="Shape 25"/>
          <p:cNvSpPr/>
          <p:nvPr/>
        </p:nvSpPr>
        <p:spPr>
          <a:xfrm>
            <a:off x="8953500" y="2042120"/>
            <a:ext cx="2413000" cy="3124200"/>
          </a:xfrm>
          <a:custGeom>
            <a:avLst/>
            <a:gdLst/>
            <a:ahLst/>
            <a:cxnLst/>
            <a:rect l="l" t="t" r="r" b="b"/>
            <a:pathLst>
              <a:path w="2413000" h="3124200">
                <a:moveTo>
                  <a:pt x="2413000" y="3035300"/>
                </a:moveTo>
                <a:arcTo hR="88900" wR="88900" stAng="0" swAng="5400000"/>
                <a:lnTo>
                  <a:pt x="0" y="3124200"/>
                </a:lnTo>
                <a:lnTo>
                  <a:pt x="0" y="0"/>
                </a:lnTo>
                <a:lnTo>
                  <a:pt x="2413000" y="0"/>
                </a:lnTo>
                <a:close/>
              </a:path>
            </a:pathLst>
          </a:custGeom>
          <a:solidFill>
            <a:srgbClr val="F6F7F5"/>
          </a:solidFill>
          <a:ln/>
        </p:spPr>
      </p:sp>
      <p:sp>
        <p:nvSpPr>
          <p:cNvPr id="28" name="Shape 26"/>
          <p:cNvSpPr/>
          <p:nvPr/>
        </p:nvSpPr>
        <p:spPr>
          <a:xfrm>
            <a:off x="8953500" y="2042120"/>
            <a:ext cx="2413000" cy="3124200"/>
          </a:xfrm>
          <a:custGeom>
            <a:avLst/>
            <a:gdLst/>
            <a:ahLst/>
            <a:cxnLst/>
            <a:rect l="l" t="t" r="r" b="b"/>
            <a:pathLst>
              <a:path w="2413000" h="3124200">
                <a:moveTo>
                  <a:pt x="0" y="0"/>
                </a:moveTo>
                <a:lnTo>
                  <a:pt x="6350" y="0"/>
                </a:lnTo>
                <a:lnTo>
                  <a:pt x="6350" y="3124200"/>
                </a:lnTo>
                <a:lnTo>
                  <a:pt x="0" y="3124200"/>
                </a:lnTo>
                <a:lnTo>
                  <a:pt x="0" y="0"/>
                </a:lnTo>
                <a:close/>
              </a:path>
            </a:pathLst>
          </a:custGeom>
          <a:solidFill>
            <a:srgbClr val="D3DAE1"/>
          </a:solidFill>
          <a:ln/>
        </p:spPr>
      </p:sp>
      <p:sp>
        <p:nvSpPr>
          <p:cNvPr id="29" name="Text 27"/>
          <p:cNvSpPr/>
          <p:nvPr/>
        </p:nvSpPr>
        <p:spPr>
          <a:xfrm>
            <a:off x="9112250" y="2194520"/>
            <a:ext cx="21649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DETALJI</a:t>
            </a:r>
            <a:endParaRPr lang="en-US" sz="1200" dirty="0"/>
          </a:p>
        </p:txBody>
      </p:sp>
      <p:sp>
        <p:nvSpPr>
          <p:cNvPr id="30" name="Text 28"/>
          <p:cNvSpPr/>
          <p:nvPr/>
        </p:nvSpPr>
        <p:spPr>
          <a:xfrm>
            <a:off x="9112250" y="2522141"/>
            <a:ext cx="2892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Tag</a:t>
            </a:r>
            <a:endParaRPr lang="en-US" sz="1200" dirty="0"/>
          </a:p>
        </p:txBody>
      </p:sp>
      <p:sp>
        <p:nvSpPr>
          <p:cNvPr id="31" name="Text 29"/>
          <p:cNvSpPr/>
          <p:nvPr/>
        </p:nvSpPr>
        <p:spPr>
          <a:xfrm>
            <a:off x="10555684" y="2522141"/>
            <a:ext cx="65841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LT-101</a:t>
            </a:r>
            <a:endParaRPr lang="en-US" sz="1200" dirty="0"/>
          </a:p>
        </p:txBody>
      </p:sp>
      <p:sp>
        <p:nvSpPr>
          <p:cNvPr id="32" name="Text 30"/>
          <p:cNvSpPr/>
          <p:nvPr/>
        </p:nvSpPr>
        <p:spPr>
          <a:xfrm>
            <a:off x="9112250" y="2798961"/>
            <a:ext cx="739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Vrednost</a:t>
            </a:r>
            <a:endParaRPr lang="en-US" sz="1200" dirty="0"/>
          </a:p>
        </p:txBody>
      </p:sp>
      <p:sp>
        <p:nvSpPr>
          <p:cNvPr id="33" name="Text 31"/>
          <p:cNvSpPr/>
          <p:nvPr/>
        </p:nvSpPr>
        <p:spPr>
          <a:xfrm>
            <a:off x="10555684" y="2798961"/>
            <a:ext cx="65841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52,5 %</a:t>
            </a:r>
            <a:endParaRPr lang="en-US" sz="1200" dirty="0"/>
          </a:p>
        </p:txBody>
      </p:sp>
      <p:sp>
        <p:nvSpPr>
          <p:cNvPr id="34" name="Text 32"/>
          <p:cNvSpPr/>
          <p:nvPr/>
        </p:nvSpPr>
        <p:spPr>
          <a:xfrm>
            <a:off x="9112250" y="3075781"/>
            <a:ext cx="62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Kvalitet</a:t>
            </a:r>
            <a:endParaRPr lang="en-US" sz="1200" dirty="0"/>
          </a:p>
        </p:txBody>
      </p:sp>
      <p:sp>
        <p:nvSpPr>
          <p:cNvPr id="35" name="Text 33"/>
          <p:cNvSpPr/>
          <p:nvPr/>
        </p:nvSpPr>
        <p:spPr>
          <a:xfrm>
            <a:off x="10721280" y="3075781"/>
            <a:ext cx="492820" cy="213320"/>
          </a:xfrm>
          <a:custGeom>
            <a:avLst/>
            <a:gdLst/>
            <a:ahLst/>
            <a:cxnLst/>
            <a:rect l="l" t="t" r="r" b="b"/>
            <a:pathLst>
              <a:path w="492820" h="213320">
                <a:moveTo>
                  <a:pt x="38100" y="0"/>
                </a:moveTo>
                <a:lnTo>
                  <a:pt x="454720" y="0"/>
                </a:lnTo>
                <a:arcTo hR="38100" wR="38100" stAng="16200000" swAng="5400000"/>
                <a:lnTo>
                  <a:pt x="492820" y="175220"/>
                </a:lnTo>
                <a:arcTo hR="38100" wR="38100" stAng="0" swAng="5400000"/>
                <a:lnTo>
                  <a:pt x="38100" y="213320"/>
                </a:lnTo>
                <a:arcTo hR="38100" wR="38100" stAng="5400000" swAng="5400000"/>
                <a:lnTo>
                  <a:pt x="0" y="38100"/>
                </a:lnTo>
                <a:arcTo hR="38100" wR="38100" stAng="10800000" swAng="5400000"/>
                <a:close/>
              </a:path>
            </a:pathLst>
          </a:custGeom>
          <a:solidFill>
            <a:srgbClr val="DCE8F4"/>
          </a:solidFill>
          <a:ln/>
        </p:spPr>
        <p:txBody>
          <a:bodyPr wrap="none" lIns="0" tIns="0" rIns="0" bIns="0" rtlCol="0" anchor="ctr">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GOOD</a:t>
            </a:r>
            <a:endParaRPr lang="en-US" sz="1200" dirty="0"/>
          </a:p>
        </p:txBody>
      </p:sp>
      <p:sp>
        <p:nvSpPr>
          <p:cNvPr id="36" name="Text 34"/>
          <p:cNvSpPr/>
          <p:nvPr/>
        </p:nvSpPr>
        <p:spPr>
          <a:xfrm>
            <a:off x="9112250" y="3352602"/>
            <a:ext cx="8122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Normalno</a:t>
            </a:r>
            <a:endParaRPr lang="en-US" sz="1200" dirty="0"/>
          </a:p>
        </p:txBody>
      </p:sp>
      <p:sp>
        <p:nvSpPr>
          <p:cNvPr id="37" name="Text 35"/>
          <p:cNvSpPr/>
          <p:nvPr/>
        </p:nvSpPr>
        <p:spPr>
          <a:xfrm>
            <a:off x="10445909" y="3352602"/>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40–80 %</a:t>
            </a:r>
            <a:endParaRPr lang="en-US" sz="1200" dirty="0"/>
          </a:p>
        </p:txBody>
      </p:sp>
      <p:sp>
        <p:nvSpPr>
          <p:cNvPr id="38" name="Text 36"/>
          <p:cNvSpPr/>
          <p:nvPr/>
        </p:nvSpPr>
        <p:spPr>
          <a:xfrm>
            <a:off x="9112250" y="3629422"/>
            <a:ext cx="5049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Režim</a:t>
            </a:r>
            <a:endParaRPr lang="en-US" sz="1200" dirty="0"/>
          </a:p>
        </p:txBody>
      </p:sp>
      <p:sp>
        <p:nvSpPr>
          <p:cNvPr id="39" name="Text 37"/>
          <p:cNvSpPr/>
          <p:nvPr/>
        </p:nvSpPr>
        <p:spPr>
          <a:xfrm>
            <a:off x="10775117" y="3629422"/>
            <a:ext cx="4389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AUTO</a:t>
            </a:r>
            <a:endParaRPr lang="en-US" sz="1200" dirty="0"/>
          </a:p>
        </p:txBody>
      </p:sp>
      <p:sp>
        <p:nvSpPr>
          <p:cNvPr id="40" name="Text 38"/>
          <p:cNvSpPr/>
          <p:nvPr/>
        </p:nvSpPr>
        <p:spPr>
          <a:xfrm>
            <a:off x="9118600" y="4654550"/>
            <a:ext cx="2089150" cy="353020"/>
          </a:xfrm>
          <a:custGeom>
            <a:avLst/>
            <a:gdLst/>
            <a:ahLst/>
            <a:cxnLst/>
            <a:rect l="l" t="t" r="r" b="b"/>
            <a:pathLst>
              <a:path w="2089150" h="353020">
                <a:moveTo>
                  <a:pt x="57150" y="0"/>
                </a:moveTo>
                <a:lnTo>
                  <a:pt x="2032000" y="0"/>
                </a:lnTo>
                <a:arcTo hR="57150" wR="57150" stAng="16200000" swAng="5400000"/>
                <a:lnTo>
                  <a:pt x="2089150" y="295870"/>
                </a:lnTo>
                <a:arcTo hR="57150" wR="57150" stAng="0" swAng="5400000"/>
                <a:lnTo>
                  <a:pt x="57150" y="353020"/>
                </a:lnTo>
                <a:arcTo hR="57150" wR="57150" stAng="5400000" swAng="5400000"/>
                <a:lnTo>
                  <a:pt x="0" y="57150"/>
                </a:lnTo>
                <a:arcTo hR="57150" wR="57150" stAng="10800000" swAng="5400000"/>
                <a:close/>
              </a:path>
            </a:pathLst>
          </a:custGeom>
          <a:noFill/>
          <a:ln w="12700">
            <a:solidFill>
              <a:srgbClr val="0A5CA8"/>
            </a:solidFill>
            <a:prstDash val="solid"/>
          </a:ln>
        </p:spPr>
        <p:txBody>
          <a:bodyPr wrap="square" lIns="0" tIns="69850" rIns="0" bIns="44450" rtlCol="0" anchor="t">
            <a:normAutofit/>
          </a:bodyPr>
          <a:lstStyle/>
          <a:p>
            <a:pPr algn="ctr"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Upravljački panel</a:t>
            </a:r>
            <a:endParaRPr lang="en-US" sz="1200" dirty="0"/>
          </a:p>
        </p:txBody>
      </p:sp>
      <p:sp>
        <p:nvSpPr>
          <p:cNvPr id="41" name="Text 39"/>
          <p:cNvSpPr/>
          <p:nvPr/>
        </p:nvSpPr>
        <p:spPr>
          <a:xfrm>
            <a:off x="812800" y="53822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Ilustrativni raspored: navigacija, procesni prikaz i detalji izabranog elementa, uz stalno vidljiv sažetak alarma.</a:t>
            </a:r>
            <a:endParaRPr lang="en-US" sz="1200" dirty="0"/>
          </a:p>
        </p:txBody>
      </p:sp>
      <p:sp>
        <p:nvSpPr>
          <p:cNvPr id="42" name="Shape 40"/>
          <p:cNvSpPr/>
          <p:nvPr/>
        </p:nvSpPr>
        <p:spPr>
          <a:xfrm>
            <a:off x="812800" y="6209705"/>
            <a:ext cx="10566400" cy="0"/>
          </a:xfrm>
          <a:prstGeom prst="line">
            <a:avLst/>
          </a:prstGeom>
          <a:noFill/>
          <a:ln w="6350">
            <a:solidFill>
              <a:srgbClr val="D3DAE1"/>
            </a:solidFill>
            <a:prstDash val="solid"/>
          </a:ln>
        </p:spPr>
      </p:sp>
      <p:sp>
        <p:nvSpPr>
          <p:cNvPr id="43" name="Text 41"/>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44" name="Text 4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BF0F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A5CA8"/>
                </a:solidFill>
                <a:latin typeface="IBM Plex Mono" pitchFamily="49" charset="0"/>
                <a:ea typeface="IBM Plex Mono" pitchFamily="49" charset="-122"/>
                <a:cs typeface="IBM Plex Mono" pitchFamily="49" charset="-120"/>
              </a:rPr>
              <a:t>04</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DEO ČETVRTI</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Konfiguracija</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Inženjering SCADA sistema od definisanja uređaja do puštanja u rad, uz kontrolu pristupa i testiranje.</a:t>
            </a:r>
            <a:endParaRPr lang="en-US" sz="1400" dirty="0"/>
          </a:p>
        </p:txBody>
      </p:sp>
      <p:sp>
        <p:nvSpPr>
          <p:cNvPr id="6" name="Text 4"/>
          <p:cNvSpPr/>
          <p:nvPr/>
        </p:nvSpPr>
        <p:spPr>
          <a:xfrm>
            <a:off x="4270375" y="3915966"/>
            <a:ext cx="103167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Inženjering</a:t>
            </a:r>
            <a:endParaRPr lang="en-US" sz="1200" dirty="0"/>
          </a:p>
        </p:txBody>
      </p:sp>
      <p:sp>
        <p:nvSpPr>
          <p:cNvPr id="7" name="Text 5"/>
          <p:cNvSpPr/>
          <p:nvPr/>
        </p:nvSpPr>
        <p:spPr>
          <a:xfrm>
            <a:off x="5384602" y="3915966"/>
            <a:ext cx="1042690"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Adresiranje</a:t>
            </a:r>
            <a:endParaRPr lang="en-US" sz="1200" dirty="0"/>
          </a:p>
        </p:txBody>
      </p:sp>
      <p:sp>
        <p:nvSpPr>
          <p:cNvPr id="8" name="Text 6"/>
          <p:cNvSpPr/>
          <p:nvPr/>
        </p:nvSpPr>
        <p:spPr>
          <a:xfrm>
            <a:off x="6509841" y="3915966"/>
            <a:ext cx="1718568"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Konfiguracija kao kod</a:t>
            </a:r>
            <a:endParaRPr lang="en-US" sz="1200" dirty="0"/>
          </a:p>
        </p:txBody>
      </p:sp>
      <p:sp>
        <p:nvSpPr>
          <p:cNvPr id="9" name="Text 7"/>
          <p:cNvSpPr/>
          <p:nvPr/>
        </p:nvSpPr>
        <p:spPr>
          <a:xfrm>
            <a:off x="8310959" y="3915966"/>
            <a:ext cx="1443335"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Kontrola pristupa</a:t>
            </a:r>
            <a:endParaRPr lang="en-US" sz="1200" dirty="0"/>
          </a:p>
        </p:txBody>
      </p:sp>
      <p:sp>
        <p:nvSpPr>
          <p:cNvPr id="10" name="Text 8"/>
          <p:cNvSpPr/>
          <p:nvPr/>
        </p:nvSpPr>
        <p:spPr>
          <a:xfrm>
            <a:off x="4270375" y="4319786"/>
            <a:ext cx="931069"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Testiranje</a:t>
            </a:r>
            <a:endParaRPr lang="en-US" sz="1200" dirty="0"/>
          </a:p>
        </p:txBody>
      </p:sp>
      <p:sp>
        <p:nvSpPr>
          <p:cNvPr id="11" name="Shape 9"/>
          <p:cNvSpPr/>
          <p:nvPr/>
        </p:nvSpPr>
        <p:spPr>
          <a:xfrm>
            <a:off x="812800" y="6209705"/>
            <a:ext cx="10566400" cy="0"/>
          </a:xfrm>
          <a:prstGeom prst="line">
            <a:avLst/>
          </a:prstGeom>
          <a:noFill/>
          <a:ln w="6350">
            <a:solidFill>
              <a:srgbClr val="C3CEDA"/>
            </a:solidFill>
            <a:prstDash val="solid"/>
          </a:ln>
        </p:spPr>
      </p:sp>
      <p:sp>
        <p:nvSpPr>
          <p:cNvPr id="12" name="Text 10"/>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Shape 1"/>
          <p:cNvSpPr/>
          <p:nvPr/>
        </p:nvSpPr>
        <p:spPr>
          <a:xfrm>
            <a:off x="990600" y="1841500"/>
            <a:ext cx="8890000" cy="25400"/>
          </a:xfrm>
          <a:prstGeom prst="rect">
            <a:avLst/>
          </a:prstGeom>
          <a:solidFill>
            <a:srgbClr val="C3CEDA"/>
          </a:solidFill>
          <a:ln/>
        </p:spPr>
      </p:sp>
      <p:sp>
        <p:nvSpPr>
          <p:cNvPr id="4" name="Text 2"/>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KONFIGURACIJA</a:t>
            </a:r>
            <a:endParaRPr lang="en-US" sz="1200" dirty="0"/>
          </a:p>
        </p:txBody>
      </p:sp>
      <p:sp>
        <p:nvSpPr>
          <p:cNvPr id="5" name="Text 3"/>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Tok inženjeringa SCADA sistema</a:t>
            </a:r>
            <a:endParaRPr lang="en-US" sz="3000" dirty="0"/>
          </a:p>
        </p:txBody>
      </p:sp>
      <p:sp>
        <p:nvSpPr>
          <p:cNvPr id="6" name="Text 4"/>
          <p:cNvSpPr/>
          <p:nvPr/>
        </p:nvSpPr>
        <p:spPr>
          <a:xfrm>
            <a:off x="812800"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1</a:t>
            </a:r>
            <a:endParaRPr lang="en-US" sz="1200" dirty="0"/>
          </a:p>
        </p:txBody>
      </p:sp>
      <p:sp>
        <p:nvSpPr>
          <p:cNvPr id="7" name="Shape 5"/>
          <p:cNvSpPr/>
          <p:nvPr/>
        </p:nvSpPr>
        <p:spPr>
          <a:xfrm>
            <a:off x="815975" y="2184995"/>
            <a:ext cx="1648817" cy="1421011"/>
          </a:xfrm>
          <a:prstGeom prst="roundRect">
            <a:avLst>
              <a:gd name="adj" fmla="val 6926"/>
            </a:avLst>
          </a:prstGeom>
          <a:solidFill>
            <a:srgbClr val="FCFCFB"/>
          </a:solidFill>
          <a:ln w="6350">
            <a:solidFill>
              <a:srgbClr val="D3DAE1"/>
            </a:solidFill>
            <a:prstDash val="solid"/>
          </a:ln>
        </p:spPr>
      </p:sp>
      <p:sp>
        <p:nvSpPr>
          <p:cNvPr id="8" name="Text 6"/>
          <p:cNvSpPr/>
          <p:nvPr/>
        </p:nvSpPr>
        <p:spPr>
          <a:xfrm>
            <a:off x="971550" y="2327870"/>
            <a:ext cx="138846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Uređaji i veze</a:t>
            </a:r>
            <a:endParaRPr lang="en-US" sz="1400" dirty="0"/>
          </a:p>
        </p:txBody>
      </p:sp>
      <p:sp>
        <p:nvSpPr>
          <p:cNvPr id="9" name="Text 7"/>
          <p:cNvSpPr/>
          <p:nvPr/>
        </p:nvSpPr>
        <p:spPr>
          <a:xfrm>
            <a:off x="971550" y="2600920"/>
            <a:ext cx="138846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Kontroleri, protokoli, adrese i parametri komunikacije.</a:t>
            </a:r>
            <a:endParaRPr lang="en-US" sz="1200" dirty="0"/>
          </a:p>
        </p:txBody>
      </p:sp>
      <p:sp>
        <p:nvSpPr>
          <p:cNvPr id="10" name="Text 8"/>
          <p:cNvSpPr/>
          <p:nvPr/>
        </p:nvSpPr>
        <p:spPr>
          <a:xfrm>
            <a:off x="2594967"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2</a:t>
            </a:r>
            <a:endParaRPr lang="en-US" sz="1200" dirty="0"/>
          </a:p>
        </p:txBody>
      </p:sp>
      <p:sp>
        <p:nvSpPr>
          <p:cNvPr id="11" name="Shape 9"/>
          <p:cNvSpPr/>
          <p:nvPr/>
        </p:nvSpPr>
        <p:spPr>
          <a:xfrm>
            <a:off x="2598142" y="2184995"/>
            <a:ext cx="1648916" cy="1421011"/>
          </a:xfrm>
          <a:prstGeom prst="roundRect">
            <a:avLst>
              <a:gd name="adj" fmla="val 6926"/>
            </a:avLst>
          </a:prstGeom>
          <a:solidFill>
            <a:srgbClr val="FCFCFB"/>
          </a:solidFill>
          <a:ln w="6350">
            <a:solidFill>
              <a:srgbClr val="D3DAE1"/>
            </a:solidFill>
            <a:prstDash val="solid"/>
          </a:ln>
        </p:spPr>
      </p:sp>
      <p:sp>
        <p:nvSpPr>
          <p:cNvPr id="12" name="Text 10"/>
          <p:cNvSpPr/>
          <p:nvPr/>
        </p:nvSpPr>
        <p:spPr>
          <a:xfrm>
            <a:off x="2753717" y="2327870"/>
            <a:ext cx="138856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Baza tagova</a:t>
            </a:r>
            <a:endParaRPr lang="en-US" sz="1400" dirty="0"/>
          </a:p>
        </p:txBody>
      </p:sp>
      <p:sp>
        <p:nvSpPr>
          <p:cNvPr id="13" name="Text 11"/>
          <p:cNvSpPr/>
          <p:nvPr/>
        </p:nvSpPr>
        <p:spPr>
          <a:xfrm>
            <a:off x="2753717" y="2600920"/>
            <a:ext cx="138856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Nazivi, tipovi, opsezi, skaliranje i prava pristupa.</a:t>
            </a:r>
            <a:endParaRPr lang="en-US" sz="1200" dirty="0"/>
          </a:p>
        </p:txBody>
      </p:sp>
      <p:sp>
        <p:nvSpPr>
          <p:cNvPr id="14" name="Text 12"/>
          <p:cNvSpPr/>
          <p:nvPr/>
        </p:nvSpPr>
        <p:spPr>
          <a:xfrm>
            <a:off x="4377234"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3</a:t>
            </a:r>
            <a:endParaRPr lang="en-US" sz="1200" dirty="0"/>
          </a:p>
        </p:txBody>
      </p:sp>
      <p:sp>
        <p:nvSpPr>
          <p:cNvPr id="15" name="Shape 13"/>
          <p:cNvSpPr/>
          <p:nvPr/>
        </p:nvSpPr>
        <p:spPr>
          <a:xfrm>
            <a:off x="4380409" y="2184995"/>
            <a:ext cx="1648817" cy="1421011"/>
          </a:xfrm>
          <a:prstGeom prst="roundRect">
            <a:avLst>
              <a:gd name="adj" fmla="val 6926"/>
            </a:avLst>
          </a:prstGeom>
          <a:solidFill>
            <a:srgbClr val="FCFCFB"/>
          </a:solidFill>
          <a:ln w="6350">
            <a:solidFill>
              <a:srgbClr val="D3DAE1"/>
            </a:solidFill>
            <a:prstDash val="solid"/>
          </a:ln>
        </p:spPr>
      </p:sp>
      <p:sp>
        <p:nvSpPr>
          <p:cNvPr id="16" name="Text 14"/>
          <p:cNvSpPr/>
          <p:nvPr/>
        </p:nvSpPr>
        <p:spPr>
          <a:xfrm>
            <a:off x="4535984" y="2327870"/>
            <a:ext cx="138846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Alarmi</a:t>
            </a:r>
            <a:endParaRPr lang="en-US" sz="1400" dirty="0"/>
          </a:p>
        </p:txBody>
      </p:sp>
      <p:sp>
        <p:nvSpPr>
          <p:cNvPr id="17" name="Text 15"/>
          <p:cNvSpPr/>
          <p:nvPr/>
        </p:nvSpPr>
        <p:spPr>
          <a:xfrm>
            <a:off x="4535984" y="2600920"/>
            <a:ext cx="138846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Pragovi, histereza, kašnjenja i prioriteti.</a:t>
            </a:r>
            <a:endParaRPr lang="en-US" sz="1200" dirty="0"/>
          </a:p>
        </p:txBody>
      </p:sp>
      <p:sp>
        <p:nvSpPr>
          <p:cNvPr id="18" name="Text 16"/>
          <p:cNvSpPr/>
          <p:nvPr/>
        </p:nvSpPr>
        <p:spPr>
          <a:xfrm>
            <a:off x="6159401"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4</a:t>
            </a:r>
            <a:endParaRPr lang="en-US" sz="1200" dirty="0"/>
          </a:p>
        </p:txBody>
      </p:sp>
      <p:sp>
        <p:nvSpPr>
          <p:cNvPr id="19" name="Shape 17"/>
          <p:cNvSpPr/>
          <p:nvPr/>
        </p:nvSpPr>
        <p:spPr>
          <a:xfrm>
            <a:off x="6162576" y="2184995"/>
            <a:ext cx="1648916" cy="1421011"/>
          </a:xfrm>
          <a:prstGeom prst="roundRect">
            <a:avLst>
              <a:gd name="adj" fmla="val 6926"/>
            </a:avLst>
          </a:prstGeom>
          <a:solidFill>
            <a:srgbClr val="FCFCFB"/>
          </a:solidFill>
          <a:ln w="6350">
            <a:solidFill>
              <a:srgbClr val="D3DAE1"/>
            </a:solidFill>
            <a:prstDash val="solid"/>
          </a:ln>
        </p:spPr>
      </p:sp>
      <p:sp>
        <p:nvSpPr>
          <p:cNvPr id="20" name="Text 18"/>
          <p:cNvSpPr/>
          <p:nvPr/>
        </p:nvSpPr>
        <p:spPr>
          <a:xfrm>
            <a:off x="6318151" y="2327870"/>
            <a:ext cx="138856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Prikazi</a:t>
            </a:r>
            <a:endParaRPr lang="en-US" sz="1400" dirty="0"/>
          </a:p>
        </p:txBody>
      </p:sp>
      <p:sp>
        <p:nvSpPr>
          <p:cNvPr id="21" name="Text 19"/>
          <p:cNvSpPr/>
          <p:nvPr/>
        </p:nvSpPr>
        <p:spPr>
          <a:xfrm>
            <a:off x="6318151" y="2600920"/>
            <a:ext cx="138856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Ekrani, simboli i vezivanje svojstava za tagove.</a:t>
            </a:r>
            <a:endParaRPr lang="en-US" sz="1200" dirty="0"/>
          </a:p>
        </p:txBody>
      </p:sp>
      <p:sp>
        <p:nvSpPr>
          <p:cNvPr id="22" name="Text 20"/>
          <p:cNvSpPr/>
          <p:nvPr/>
        </p:nvSpPr>
        <p:spPr>
          <a:xfrm>
            <a:off x="7941667"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5</a:t>
            </a:r>
            <a:endParaRPr lang="en-US" sz="1200" dirty="0"/>
          </a:p>
        </p:txBody>
      </p:sp>
      <p:sp>
        <p:nvSpPr>
          <p:cNvPr id="23" name="Shape 21"/>
          <p:cNvSpPr/>
          <p:nvPr/>
        </p:nvSpPr>
        <p:spPr>
          <a:xfrm>
            <a:off x="7944842" y="2184995"/>
            <a:ext cx="1648916" cy="1421011"/>
          </a:xfrm>
          <a:prstGeom prst="roundRect">
            <a:avLst>
              <a:gd name="adj" fmla="val 6926"/>
            </a:avLst>
          </a:prstGeom>
          <a:solidFill>
            <a:srgbClr val="FCFCFB"/>
          </a:solidFill>
          <a:ln w="6350">
            <a:solidFill>
              <a:srgbClr val="D3DAE1"/>
            </a:solidFill>
            <a:prstDash val="solid"/>
          </a:ln>
        </p:spPr>
      </p:sp>
      <p:sp>
        <p:nvSpPr>
          <p:cNvPr id="24" name="Text 22"/>
          <p:cNvSpPr/>
          <p:nvPr/>
        </p:nvSpPr>
        <p:spPr>
          <a:xfrm>
            <a:off x="8100417" y="2327870"/>
            <a:ext cx="149016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Korisnici i prava</a:t>
            </a:r>
            <a:endParaRPr lang="en-US" sz="1400" dirty="0"/>
          </a:p>
        </p:txBody>
      </p:sp>
      <p:sp>
        <p:nvSpPr>
          <p:cNvPr id="25" name="Text 23"/>
          <p:cNvSpPr/>
          <p:nvPr/>
        </p:nvSpPr>
        <p:spPr>
          <a:xfrm>
            <a:off x="8100417" y="2600920"/>
            <a:ext cx="138856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Uloge i dozvole po oblastima postrojenja.</a:t>
            </a:r>
            <a:endParaRPr lang="en-US" sz="1200" dirty="0"/>
          </a:p>
        </p:txBody>
      </p:sp>
      <p:sp>
        <p:nvSpPr>
          <p:cNvPr id="26" name="Text 24"/>
          <p:cNvSpPr/>
          <p:nvPr/>
        </p:nvSpPr>
        <p:spPr>
          <a:xfrm>
            <a:off x="9723934" y="1673820"/>
            <a:ext cx="355600" cy="355600"/>
          </a:xfrm>
          <a:prstGeom prst="roundRect">
            <a:avLst>
              <a:gd name="adj" fmla="val 50000"/>
            </a:avLst>
          </a:prstGeom>
          <a:solidFill>
            <a:srgbClr val="E07B1F"/>
          </a:solidFill>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6</a:t>
            </a:r>
            <a:endParaRPr lang="en-US" sz="1200" dirty="0"/>
          </a:p>
        </p:txBody>
      </p:sp>
      <p:sp>
        <p:nvSpPr>
          <p:cNvPr id="27" name="Shape 25"/>
          <p:cNvSpPr/>
          <p:nvPr/>
        </p:nvSpPr>
        <p:spPr>
          <a:xfrm>
            <a:off x="9727109" y="2184995"/>
            <a:ext cx="1648916" cy="1421011"/>
          </a:xfrm>
          <a:prstGeom prst="roundRect">
            <a:avLst>
              <a:gd name="adj" fmla="val 6926"/>
            </a:avLst>
          </a:prstGeom>
          <a:solidFill>
            <a:srgbClr val="FCFCFB"/>
          </a:solidFill>
          <a:ln w="6350">
            <a:solidFill>
              <a:srgbClr val="D3DAE1"/>
            </a:solidFill>
            <a:prstDash val="solid"/>
          </a:ln>
        </p:spPr>
      </p:sp>
      <p:sp>
        <p:nvSpPr>
          <p:cNvPr id="28" name="Text 26"/>
          <p:cNvSpPr/>
          <p:nvPr/>
        </p:nvSpPr>
        <p:spPr>
          <a:xfrm>
            <a:off x="9882684" y="2327870"/>
            <a:ext cx="1388566"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Testiranje i puštanje</a:t>
            </a:r>
            <a:endParaRPr lang="en-US" sz="1400" dirty="0"/>
          </a:p>
        </p:txBody>
      </p:sp>
      <p:sp>
        <p:nvSpPr>
          <p:cNvPr id="29" name="Text 27"/>
          <p:cNvSpPr/>
          <p:nvPr/>
        </p:nvSpPr>
        <p:spPr>
          <a:xfrm>
            <a:off x="9882684" y="2823170"/>
            <a:ext cx="138856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Provera na simulaciji, zatim na lokaciji.</a:t>
            </a:r>
            <a:endParaRPr lang="en-US" sz="1200" dirty="0"/>
          </a:p>
        </p:txBody>
      </p:sp>
      <p:sp>
        <p:nvSpPr>
          <p:cNvPr id="30" name="Shape 28"/>
          <p:cNvSpPr/>
          <p:nvPr/>
        </p:nvSpPr>
        <p:spPr>
          <a:xfrm>
            <a:off x="812800" y="3863181"/>
            <a:ext cx="10566400" cy="508000"/>
          </a:xfrm>
          <a:prstGeom prst="roundRect">
            <a:avLst>
              <a:gd name="adj" fmla="val 15000"/>
            </a:avLst>
          </a:prstGeom>
          <a:solidFill>
            <a:srgbClr val="DCE8F4"/>
          </a:solidFill>
          <a:ln/>
        </p:spPr>
      </p:sp>
      <p:pic>
        <p:nvPicPr>
          <p:cNvPr id="31" name="Image 0" descr="Settings">    </p:cNvPr>
          <p:cNvPicPr>
            <a:picLocks noChangeAspect="1"/>
          </p:cNvPicPr>
          <p:nvPr/>
        </p:nvPicPr>
        <p:blipFill>
          <a:blip r:embed="rId1"/>
          <a:srcRect l="0" r="0" t="0" b="0"/>
          <a:stretch/>
        </p:blipFill>
        <p:spPr>
          <a:xfrm>
            <a:off x="990600" y="3990181"/>
            <a:ext cx="254000" cy="254000"/>
          </a:xfrm>
          <a:prstGeom prst="rect">
            <a:avLst/>
          </a:prstGeom>
        </p:spPr>
      </p:pic>
      <p:sp>
        <p:nvSpPr>
          <p:cNvPr id="32" name="Text 29"/>
          <p:cNvSpPr/>
          <p:nvPr/>
        </p:nvSpPr>
        <p:spPr>
          <a:xfrm>
            <a:off x="1371600" y="4010521"/>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Svaka izmena konfiguracije ima autora, razlog, verziju i trag u revizionom zapisu (upravljanje izmenama).</a:t>
            </a:r>
            <a:endParaRPr lang="en-US" sz="1200" dirty="0"/>
          </a:p>
        </p:txBody>
      </p:sp>
      <p:sp>
        <p:nvSpPr>
          <p:cNvPr id="33" name="Shape 30"/>
          <p:cNvSpPr/>
          <p:nvPr/>
        </p:nvSpPr>
        <p:spPr>
          <a:xfrm>
            <a:off x="812800" y="6209705"/>
            <a:ext cx="10566400" cy="0"/>
          </a:xfrm>
          <a:prstGeom prst="line">
            <a:avLst/>
          </a:prstGeom>
          <a:noFill/>
          <a:ln w="6350">
            <a:solidFill>
              <a:srgbClr val="D3DAE1"/>
            </a:solidFill>
            <a:prstDash val="solid"/>
          </a:ln>
        </p:spPr>
      </p:sp>
      <p:sp>
        <p:nvSpPr>
          <p:cNvPr id="34" name="Text 31"/>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5" name="Text 3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KONFIGURACIJA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Mapiranje tagova na adrese uređaja</a:t>
            </a:r>
            <a:endParaRPr lang="en-US" sz="3000" dirty="0"/>
          </a:p>
        </p:txBody>
      </p:sp>
      <p:sp>
        <p:nvSpPr>
          <p:cNvPr id="5" name="Shape 3"/>
          <p:cNvSpPr/>
          <p:nvPr/>
        </p:nvSpPr>
        <p:spPr>
          <a:xfrm>
            <a:off x="812800" y="1673820"/>
            <a:ext cx="10566400" cy="2396133"/>
          </a:xfrm>
          <a:prstGeom prst="roundRect">
            <a:avLst>
              <a:gd name="adj" fmla="val 4240"/>
            </a:avLst>
          </a:prstGeom>
          <a:solidFill>
            <a:srgbClr val="FCFCFB"/>
          </a:solidFill>
          <a:ln/>
        </p:spPr>
      </p:sp>
      <p:sp>
        <p:nvSpPr>
          <p:cNvPr id="6" name="Shape 4"/>
          <p:cNvSpPr/>
          <p:nvPr/>
        </p:nvSpPr>
        <p:spPr>
          <a:xfrm>
            <a:off x="812800" y="1673820"/>
            <a:ext cx="10566400" cy="2396133"/>
          </a:xfrm>
          <a:custGeom>
            <a:avLst/>
            <a:gdLst/>
            <a:ahLst/>
            <a:cxnLst/>
            <a:rect l="l" t="t" r="r" b="b"/>
            <a:pathLst>
              <a:path w="10566400" h="2396133">
                <a:moveTo>
                  <a:pt x="10464800" y="0"/>
                </a:moveTo>
                <a:lnTo>
                  <a:pt x="10464800" y="0"/>
                </a:lnTo>
                <a:arcTo hR="101600" wR="101600" stAng="16200000" swAng="5400000"/>
                <a:lnTo>
                  <a:pt x="10566400" y="2294533"/>
                </a:lnTo>
                <a:arcTo hR="101600" wR="101600" stAng="0" swAng="5400000"/>
                <a:lnTo>
                  <a:pt x="101600" y="2396133"/>
                </a:lnTo>
                <a:arcTo hR="101600" wR="101600" stAng="5400000" swAng="5400000"/>
                <a:lnTo>
                  <a:pt x="0" y="2294533"/>
                </a:lnTo>
                <a:arcTo hR="95250" wR="101600" stAng="10800000" swAng="-5400000"/>
                <a:lnTo>
                  <a:pt x="10464800" y="2389783"/>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2396133"/>
          </a:xfrm>
          <a:custGeom>
            <a:avLst/>
            <a:gdLst/>
            <a:ahLst/>
            <a:cxnLst/>
            <a:rect l="l" t="t" r="r" b="b"/>
            <a:pathLst>
              <a:path w="10566400" h="2396133">
                <a:moveTo>
                  <a:pt x="101600" y="2396133"/>
                </a:moveTo>
                <a:lnTo>
                  <a:pt x="101600" y="239613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294533"/>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2377083"/>
        </p:xfrm>
        <a:graphic>
          <a:graphicData uri="http://schemas.openxmlformats.org/drawingml/2006/table">
            <a:tbl>
              <a:tblPr/>
              <a:tblGrid>
                <a:gridCol w="1582102"/>
                <a:gridCol w="2214943"/>
                <a:gridCol w="2847785"/>
                <a:gridCol w="1160208"/>
                <a:gridCol w="2742311"/>
              </a:tblGrid>
              <a:tr h="39618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Tag</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Opis</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Modbus adresa</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Tip</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Skaliranje</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LT-101</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nivo u rezervoaru</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30001 · ulazni registar</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UINT16</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0–4095 → 0–100 %</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FT-101</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ulazni protok</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30002 · ulazni registar</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UINT16</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0–4095 → 0–0,2 m³/s</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P-101.RUN</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pumpa radi</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10001 · diskretni ulaz</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BOOL</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P-101.CMD</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start i stop</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00001 · coil</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BOOL</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komanda</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9618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XV-101.SP</a:t>
                      </a:r>
                      <a:endParaRPr lang="en-US" sz="1200" dirty="0">
                        <a:latin typeface="IBM Plex Sans" charset="0"/>
                        <a:ea typeface="IBM Plex Sans" charset="0"/>
                        <a:cs typeface="IBM Plex Sans" charset="0"/>
                      </a:endParaRPr>
                    </a:p>
                  </a:txBody>
                  <a:tcPr marL="152400" marR="1524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zadata otvorenost</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40001 · holding registar</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UINT16</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0–1000 → 0–100 %</a:t>
                      </a:r>
                      <a:endParaRPr lang="en-US" sz="1200" dirty="0">
                        <a:latin typeface="IBM Plex Sans" charset="0"/>
                        <a:ea typeface="IBM Plex Sans" charset="0"/>
                        <a:cs typeface="IBM Plex Sans" charset="0"/>
                      </a:endParaRPr>
                    </a:p>
                  </a:txBody>
                  <a:tcPr marL="152400" marR="1524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Shape 6"/>
          <p:cNvSpPr/>
          <p:nvPr/>
        </p:nvSpPr>
        <p:spPr>
          <a:xfrm>
            <a:off x="812800" y="4323953"/>
            <a:ext cx="5226050" cy="1499691"/>
          </a:xfrm>
          <a:prstGeom prst="roundRect">
            <a:avLst>
              <a:gd name="adj" fmla="val 5081"/>
            </a:avLst>
          </a:prstGeom>
          <a:solidFill>
            <a:srgbClr val="FCFCFB"/>
          </a:solidFill>
          <a:ln/>
        </p:spPr>
      </p:sp>
      <p:sp>
        <p:nvSpPr>
          <p:cNvPr id="10" name="Shape 7"/>
          <p:cNvSpPr/>
          <p:nvPr/>
        </p:nvSpPr>
        <p:spPr>
          <a:xfrm>
            <a:off x="812800" y="4323953"/>
            <a:ext cx="5226050" cy="1499691"/>
          </a:xfrm>
          <a:custGeom>
            <a:avLst/>
            <a:gdLst/>
            <a:ahLst/>
            <a:cxnLst/>
            <a:rect l="l" t="t" r="r" b="b"/>
            <a:pathLst>
              <a:path w="5226050" h="1499691">
                <a:moveTo>
                  <a:pt x="76200" y="1499691"/>
                </a:moveTo>
                <a:lnTo>
                  <a:pt x="76200" y="1499691"/>
                </a:lnTo>
                <a:arcTo hR="76200" wR="76200" stAng="5400000" swAng="5400000"/>
                <a:lnTo>
                  <a:pt x="0" y="76200"/>
                </a:lnTo>
                <a:arcTo hR="76200" wR="76200" stAng="10800000" swAng="5400000"/>
                <a:lnTo>
                  <a:pt x="76200" y="0"/>
                </a:lnTo>
                <a:arcTo hR="76200" wR="38100" stAng="16200000" swAng="-5400000"/>
                <a:lnTo>
                  <a:pt x="38100" y="1423491"/>
                </a:lnTo>
                <a:arcTo hR="76200" wR="38100" stAng="10800000" swAng="-5400000"/>
                <a:close/>
              </a:path>
            </a:pathLst>
          </a:custGeom>
          <a:solidFill>
            <a:srgbClr val="0A5CA8"/>
          </a:solidFill>
          <a:ln/>
        </p:spPr>
      </p:sp>
      <p:sp>
        <p:nvSpPr>
          <p:cNvPr id="11" name="Text 8"/>
          <p:cNvSpPr/>
          <p:nvPr/>
        </p:nvSpPr>
        <p:spPr>
          <a:xfrm>
            <a:off x="1028700" y="4476353"/>
            <a:ext cx="49773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Linearno skaliranje sirove vrednosti</a:t>
            </a:r>
            <a:endParaRPr lang="en-US" sz="1200" dirty="0"/>
          </a:p>
        </p:txBody>
      </p:sp>
      <p:sp>
        <p:nvSpPr>
          <p:cNvPr id="12" name="Text 9"/>
          <p:cNvSpPr/>
          <p:nvPr/>
        </p:nvSpPr>
        <p:spPr>
          <a:xfrm>
            <a:off x="1028700" y="4901109"/>
            <a:ext cx="152797" cy="299641"/>
          </a:xfrm>
          <a:prstGeom prst="rect">
            <a:avLst/>
          </a:prstGeom>
          <a:noFill/>
          <a:ln/>
        </p:spPr>
        <p:txBody>
          <a:bodyPr wrap="square" lIns="0" tIns="0" rIns="0" bIns="0" rtlCol="0" anchor="t">
            <a:normAutofit/>
          </a:bodyPr>
          <a:lstStyle/>
          <a:p>
            <a:pPr algn="l" indent="0" marL="0">
              <a:lnSpc>
                <a:spcPts val="2160"/>
              </a:lnSpc>
              <a:buNone/>
            </a:pPr>
            <a:r>
              <a:rPr lang="en-US" sz="1800" i="1" dirty="0">
                <a:solidFill>
                  <a:srgbClr val="13202D"/>
                </a:solidFill>
                <a:latin typeface="STIX Two Text" pitchFamily="18" charset="0"/>
                <a:ea typeface="STIX Two Text" pitchFamily="18" charset="-122"/>
                <a:cs typeface="STIX Two Text" pitchFamily="18" charset="-120"/>
              </a:rPr>
              <a:t>y</a:t>
            </a:r>
            <a:endParaRPr lang="en-US" sz="1800" dirty="0"/>
          </a:p>
        </p:txBody>
      </p:sp>
      <p:sp>
        <p:nvSpPr>
          <p:cNvPr id="13" name="Text 10"/>
          <p:cNvSpPr/>
          <p:nvPr/>
        </p:nvSpPr>
        <p:spPr>
          <a:xfrm>
            <a:off x="1219597" y="4901109"/>
            <a:ext cx="215404"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3202D"/>
                </a:solidFill>
                <a:latin typeface="STIX Two Text" pitchFamily="18" charset="0"/>
                <a:ea typeface="STIX Two Text" pitchFamily="18" charset="-122"/>
                <a:cs typeface="STIX Two Text" pitchFamily="18" charset="-120"/>
              </a:rPr>
              <a:t>=</a:t>
            </a:r>
            <a:endParaRPr lang="en-US" sz="1800" dirty="0"/>
          </a:p>
        </p:txBody>
      </p:sp>
      <p:sp>
        <p:nvSpPr>
          <p:cNvPr id="14" name="Text 11"/>
          <p:cNvSpPr/>
          <p:nvPr/>
        </p:nvSpPr>
        <p:spPr>
          <a:xfrm>
            <a:off x="1473101" y="4901109"/>
            <a:ext cx="152797" cy="299641"/>
          </a:xfrm>
          <a:prstGeom prst="rect">
            <a:avLst/>
          </a:prstGeom>
          <a:noFill/>
          <a:ln/>
        </p:spPr>
        <p:txBody>
          <a:bodyPr wrap="square" lIns="0" tIns="0" rIns="0" bIns="0" rtlCol="0" anchor="t">
            <a:normAutofit/>
          </a:bodyPr>
          <a:lstStyle/>
          <a:p>
            <a:pPr algn="l" indent="0" marL="0">
              <a:lnSpc>
                <a:spcPts val="2160"/>
              </a:lnSpc>
              <a:buNone/>
            </a:pPr>
            <a:r>
              <a:rPr lang="en-US" sz="1800" i="1" dirty="0">
                <a:solidFill>
                  <a:srgbClr val="13202D"/>
                </a:solidFill>
                <a:latin typeface="STIX Two Text" pitchFamily="18" charset="0"/>
                <a:ea typeface="STIX Two Text" pitchFamily="18" charset="-122"/>
                <a:cs typeface="STIX Two Text" pitchFamily="18" charset="-120"/>
              </a:rPr>
              <a:t>y</a:t>
            </a:r>
            <a:endParaRPr lang="en-US" sz="1800" dirty="0"/>
          </a:p>
        </p:txBody>
      </p:sp>
      <p:sp>
        <p:nvSpPr>
          <p:cNvPr id="15" name="Text 12"/>
          <p:cNvSpPr/>
          <p:nvPr/>
        </p:nvSpPr>
        <p:spPr>
          <a:xfrm>
            <a:off x="1587798" y="5031879"/>
            <a:ext cx="313373"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3202D"/>
                </a:solidFill>
                <a:latin typeface="STIX Two Text" pitchFamily="18" charset="0"/>
                <a:ea typeface="STIX Two Text" pitchFamily="18" charset="-122"/>
                <a:cs typeface="STIX Two Text" pitchFamily="18" charset="-120"/>
              </a:rPr>
              <a:t>min</a:t>
            </a:r>
            <a:endParaRPr lang="en-US" sz="1200" dirty="0"/>
          </a:p>
        </p:txBody>
      </p:sp>
      <p:sp>
        <p:nvSpPr>
          <p:cNvPr id="16" name="Text 13"/>
          <p:cNvSpPr/>
          <p:nvPr/>
        </p:nvSpPr>
        <p:spPr>
          <a:xfrm>
            <a:off x="1937841" y="4901109"/>
            <a:ext cx="215404"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3202D"/>
                </a:solidFill>
                <a:latin typeface="STIX Two Text" pitchFamily="18" charset="0"/>
                <a:ea typeface="STIX Two Text" pitchFamily="18" charset="-122"/>
                <a:cs typeface="STIX Two Text" pitchFamily="18" charset="-120"/>
              </a:rPr>
              <a:t>+</a:t>
            </a:r>
            <a:endParaRPr lang="en-US" sz="1800" dirty="0"/>
          </a:p>
        </p:txBody>
      </p:sp>
      <p:sp>
        <p:nvSpPr>
          <p:cNvPr id="17" name="Text 14"/>
          <p:cNvSpPr/>
          <p:nvPr/>
        </p:nvSpPr>
        <p:spPr>
          <a:xfrm>
            <a:off x="2191345" y="4901109"/>
            <a:ext cx="463947"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3202D"/>
                </a:solidFill>
                <a:latin typeface="STIX Two Text" pitchFamily="18" charset="0"/>
                <a:ea typeface="STIX Two Text" pitchFamily="18" charset="-122"/>
                <a:cs typeface="STIX Two Text" pitchFamily="18" charset="-120"/>
              </a:rPr>
              <a:t>(</a:t>
            </a:r>
            <a:r>
              <a:rPr lang="en-US" sz="1800" i="1" dirty="0">
                <a:solidFill>
                  <a:srgbClr val="13202D"/>
                </a:solidFill>
                <a:latin typeface="STIX Two Text" pitchFamily="18" charset="0"/>
                <a:ea typeface="STIX Two Text" pitchFamily="18" charset="-122"/>
                <a:cs typeface="STIX Two Text" pitchFamily="18" charset="-120"/>
              </a:rPr>
              <a:t>x</a:t>
            </a:r>
            <a:r>
              <a:rPr lang="en-US" sz="1800" dirty="0">
                <a:solidFill>
                  <a:srgbClr val="13202D"/>
                </a:solidFill>
                <a:latin typeface="STIX Two Text" pitchFamily="18" charset="0"/>
                <a:ea typeface="STIX Two Text" pitchFamily="18" charset="-122"/>
                <a:cs typeface="STIX Two Text" pitchFamily="18" charset="-120"/>
              </a:rPr>
              <a:t> −</a:t>
            </a:r>
            <a:endParaRPr lang="en-US" sz="1800" dirty="0"/>
          </a:p>
        </p:txBody>
      </p:sp>
      <p:sp>
        <p:nvSpPr>
          <p:cNvPr id="18" name="Text 15"/>
          <p:cNvSpPr/>
          <p:nvPr/>
        </p:nvSpPr>
        <p:spPr>
          <a:xfrm>
            <a:off x="2655292" y="4901109"/>
            <a:ext cx="154384" cy="299641"/>
          </a:xfrm>
          <a:prstGeom prst="rect">
            <a:avLst/>
          </a:prstGeom>
          <a:noFill/>
          <a:ln/>
        </p:spPr>
        <p:txBody>
          <a:bodyPr wrap="square" lIns="0" tIns="0" rIns="0" bIns="0" rtlCol="0" anchor="t">
            <a:normAutofit/>
          </a:bodyPr>
          <a:lstStyle/>
          <a:p>
            <a:pPr algn="l" indent="0" marL="0">
              <a:lnSpc>
                <a:spcPts val="2160"/>
              </a:lnSpc>
              <a:buNone/>
            </a:pPr>
            <a:r>
              <a:rPr lang="en-US" sz="1800" i="1" dirty="0">
                <a:solidFill>
                  <a:srgbClr val="13202D"/>
                </a:solidFill>
                <a:latin typeface="STIX Two Text" pitchFamily="18" charset="0"/>
                <a:ea typeface="STIX Two Text" pitchFamily="18" charset="-122"/>
                <a:cs typeface="STIX Two Text" pitchFamily="18" charset="-120"/>
              </a:rPr>
              <a:t>x</a:t>
            </a:r>
            <a:endParaRPr lang="en-US" sz="1800" dirty="0"/>
          </a:p>
        </p:txBody>
      </p:sp>
      <p:sp>
        <p:nvSpPr>
          <p:cNvPr id="19" name="Text 16"/>
          <p:cNvSpPr/>
          <p:nvPr/>
        </p:nvSpPr>
        <p:spPr>
          <a:xfrm>
            <a:off x="2771577" y="5031879"/>
            <a:ext cx="311944"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3202D"/>
                </a:solidFill>
                <a:latin typeface="STIX Two Text" pitchFamily="18" charset="0"/>
                <a:ea typeface="STIX Two Text" pitchFamily="18" charset="-122"/>
                <a:cs typeface="STIX Two Text" pitchFamily="18" charset="-120"/>
              </a:rPr>
              <a:t>min</a:t>
            </a:r>
            <a:endParaRPr lang="en-US" sz="1200" dirty="0"/>
          </a:p>
        </p:txBody>
      </p:sp>
      <p:sp>
        <p:nvSpPr>
          <p:cNvPr id="20" name="Text 17"/>
          <p:cNvSpPr/>
          <p:nvPr/>
        </p:nvSpPr>
        <p:spPr>
          <a:xfrm>
            <a:off x="3045420" y="4901109"/>
            <a:ext cx="129282"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3202D"/>
                </a:solidFill>
                <a:latin typeface="STIX Two Text" pitchFamily="18" charset="0"/>
                <a:ea typeface="STIX Two Text" pitchFamily="18" charset="-122"/>
                <a:cs typeface="STIX Two Text" pitchFamily="18" charset="-120"/>
              </a:rPr>
              <a:t>)</a:t>
            </a:r>
            <a:endParaRPr lang="en-US" sz="1800" dirty="0"/>
          </a:p>
        </p:txBody>
      </p:sp>
      <p:sp>
        <p:nvSpPr>
          <p:cNvPr id="21" name="Text 18"/>
          <p:cNvSpPr/>
          <p:nvPr/>
        </p:nvSpPr>
        <p:spPr>
          <a:xfrm>
            <a:off x="3200102" y="4901109"/>
            <a:ext cx="115292"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3202D"/>
                </a:solidFill>
                <a:latin typeface="STIX Two Text" pitchFamily="18" charset="0"/>
                <a:ea typeface="STIX Two Text" pitchFamily="18" charset="-122"/>
                <a:cs typeface="STIX Two Text" pitchFamily="18" charset="-120"/>
              </a:rPr>
              <a:t>·</a:t>
            </a:r>
            <a:endParaRPr lang="en-US" sz="1800" dirty="0"/>
          </a:p>
        </p:txBody>
      </p:sp>
      <p:sp>
        <p:nvSpPr>
          <p:cNvPr id="22" name="Text 19"/>
          <p:cNvSpPr/>
          <p:nvPr/>
        </p:nvSpPr>
        <p:spPr>
          <a:xfrm>
            <a:off x="3497461" y="4753173"/>
            <a:ext cx="152797" cy="288230"/>
          </a:xfrm>
          <a:prstGeom prst="rect">
            <a:avLst/>
          </a:prstGeom>
          <a:noFill/>
          <a:ln/>
        </p:spPr>
        <p:txBody>
          <a:bodyPr wrap="square" lIns="0" tIns="0" rIns="0" bIns="0" rtlCol="0" anchor="t">
            <a:normAutofit/>
          </a:bodyPr>
          <a:lstStyle/>
          <a:p>
            <a:pPr algn="l" indent="0" marL="0">
              <a:lnSpc>
                <a:spcPts val="2070"/>
              </a:lnSpc>
              <a:buNone/>
            </a:pPr>
            <a:r>
              <a:rPr lang="en-US" sz="1800" i="1" dirty="0">
                <a:solidFill>
                  <a:srgbClr val="13202D"/>
                </a:solidFill>
                <a:latin typeface="STIX Two Text" pitchFamily="18" charset="0"/>
                <a:ea typeface="STIX Two Text" pitchFamily="18" charset="-122"/>
                <a:cs typeface="STIX Two Text" pitchFamily="18" charset="-120"/>
              </a:rPr>
              <a:t>y</a:t>
            </a:r>
            <a:endParaRPr lang="en-US" sz="1800" dirty="0"/>
          </a:p>
        </p:txBody>
      </p:sp>
      <p:sp>
        <p:nvSpPr>
          <p:cNvPr id="23" name="Text 20"/>
          <p:cNvSpPr/>
          <p:nvPr/>
        </p:nvSpPr>
        <p:spPr>
          <a:xfrm>
            <a:off x="3612158" y="4871839"/>
            <a:ext cx="33123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3202D"/>
                </a:solidFill>
                <a:latin typeface="STIX Two Text" pitchFamily="18" charset="0"/>
                <a:ea typeface="STIX Two Text" pitchFamily="18" charset="-122"/>
                <a:cs typeface="STIX Two Text" pitchFamily="18" charset="-120"/>
              </a:rPr>
              <a:t>max</a:t>
            </a:r>
            <a:endParaRPr lang="en-US" sz="1200" dirty="0"/>
          </a:p>
        </p:txBody>
      </p:sp>
      <p:sp>
        <p:nvSpPr>
          <p:cNvPr id="24" name="Text 21"/>
          <p:cNvSpPr/>
          <p:nvPr/>
        </p:nvSpPr>
        <p:spPr>
          <a:xfrm>
            <a:off x="3964384" y="4753173"/>
            <a:ext cx="215404" cy="28823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3202D"/>
                </a:solidFill>
                <a:latin typeface="STIX Two Text" pitchFamily="18" charset="0"/>
                <a:ea typeface="STIX Two Text" pitchFamily="18" charset="-122"/>
                <a:cs typeface="STIX Two Text" pitchFamily="18" charset="-120"/>
              </a:rPr>
              <a:t>−</a:t>
            </a:r>
            <a:endParaRPr lang="en-US" sz="1800" dirty="0"/>
          </a:p>
        </p:txBody>
      </p:sp>
      <p:sp>
        <p:nvSpPr>
          <p:cNvPr id="25" name="Text 22"/>
          <p:cNvSpPr/>
          <p:nvPr/>
        </p:nvSpPr>
        <p:spPr>
          <a:xfrm>
            <a:off x="4205188" y="4753173"/>
            <a:ext cx="152797" cy="288230"/>
          </a:xfrm>
          <a:prstGeom prst="rect">
            <a:avLst/>
          </a:prstGeom>
          <a:noFill/>
          <a:ln/>
        </p:spPr>
        <p:txBody>
          <a:bodyPr wrap="square" lIns="0" tIns="0" rIns="0" bIns="0" rtlCol="0" anchor="t">
            <a:normAutofit/>
          </a:bodyPr>
          <a:lstStyle/>
          <a:p>
            <a:pPr algn="l" indent="0" marL="0">
              <a:lnSpc>
                <a:spcPts val="2070"/>
              </a:lnSpc>
              <a:buNone/>
            </a:pPr>
            <a:r>
              <a:rPr lang="en-US" sz="1800" i="1" dirty="0">
                <a:solidFill>
                  <a:srgbClr val="13202D"/>
                </a:solidFill>
                <a:latin typeface="STIX Two Text" pitchFamily="18" charset="0"/>
                <a:ea typeface="STIX Two Text" pitchFamily="18" charset="-122"/>
                <a:cs typeface="STIX Two Text" pitchFamily="18" charset="-120"/>
              </a:rPr>
              <a:t>y</a:t>
            </a:r>
            <a:endParaRPr lang="en-US" sz="1800" dirty="0"/>
          </a:p>
        </p:txBody>
      </p:sp>
      <p:sp>
        <p:nvSpPr>
          <p:cNvPr id="26" name="Text 23"/>
          <p:cNvSpPr/>
          <p:nvPr/>
        </p:nvSpPr>
        <p:spPr>
          <a:xfrm>
            <a:off x="4319885" y="4871839"/>
            <a:ext cx="313373"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3202D"/>
                </a:solidFill>
                <a:latin typeface="STIX Two Text" pitchFamily="18" charset="0"/>
                <a:ea typeface="STIX Two Text" pitchFamily="18" charset="-122"/>
                <a:cs typeface="STIX Two Text" pitchFamily="18" charset="-120"/>
              </a:rPr>
              <a:t>min</a:t>
            </a:r>
            <a:endParaRPr lang="en-US" sz="1200" dirty="0"/>
          </a:p>
        </p:txBody>
      </p:sp>
      <p:sp>
        <p:nvSpPr>
          <p:cNvPr id="27" name="Shape 24"/>
          <p:cNvSpPr/>
          <p:nvPr/>
        </p:nvSpPr>
        <p:spPr>
          <a:xfrm>
            <a:off x="3340795" y="5028704"/>
            <a:ext cx="1397000" cy="19050"/>
          </a:xfrm>
          <a:prstGeom prst="rect">
            <a:avLst/>
          </a:prstGeom>
          <a:solidFill>
            <a:srgbClr val="13202D"/>
          </a:solidFill>
          <a:ln/>
        </p:spPr>
      </p:sp>
      <p:sp>
        <p:nvSpPr>
          <p:cNvPr id="28" name="Text 25"/>
          <p:cNvSpPr/>
          <p:nvPr/>
        </p:nvSpPr>
        <p:spPr>
          <a:xfrm>
            <a:off x="3495873" y="5060454"/>
            <a:ext cx="154384" cy="288230"/>
          </a:xfrm>
          <a:prstGeom prst="rect">
            <a:avLst/>
          </a:prstGeom>
          <a:noFill/>
          <a:ln/>
        </p:spPr>
        <p:txBody>
          <a:bodyPr wrap="square" lIns="0" tIns="0" rIns="0" bIns="0" rtlCol="0" anchor="t">
            <a:normAutofit/>
          </a:bodyPr>
          <a:lstStyle/>
          <a:p>
            <a:pPr algn="l" indent="0" marL="0">
              <a:lnSpc>
                <a:spcPts val="2070"/>
              </a:lnSpc>
              <a:buNone/>
            </a:pPr>
            <a:r>
              <a:rPr lang="en-US" sz="1800" i="1" dirty="0">
                <a:solidFill>
                  <a:srgbClr val="13202D"/>
                </a:solidFill>
                <a:latin typeface="STIX Two Text" pitchFamily="18" charset="0"/>
                <a:ea typeface="STIX Two Text" pitchFamily="18" charset="-122"/>
                <a:cs typeface="STIX Two Text" pitchFamily="18" charset="-120"/>
              </a:rPr>
              <a:t>x</a:t>
            </a:r>
            <a:endParaRPr lang="en-US" sz="1800" dirty="0"/>
          </a:p>
        </p:txBody>
      </p:sp>
      <p:sp>
        <p:nvSpPr>
          <p:cNvPr id="29" name="Text 26"/>
          <p:cNvSpPr/>
          <p:nvPr/>
        </p:nvSpPr>
        <p:spPr>
          <a:xfrm>
            <a:off x="3612158" y="5179120"/>
            <a:ext cx="33123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3202D"/>
                </a:solidFill>
                <a:latin typeface="STIX Two Text" pitchFamily="18" charset="0"/>
                <a:ea typeface="STIX Two Text" pitchFamily="18" charset="-122"/>
                <a:cs typeface="STIX Two Text" pitchFamily="18" charset="-120"/>
              </a:rPr>
              <a:t>max</a:t>
            </a:r>
            <a:endParaRPr lang="en-US" sz="1200" dirty="0"/>
          </a:p>
        </p:txBody>
      </p:sp>
      <p:sp>
        <p:nvSpPr>
          <p:cNvPr id="30" name="Text 27"/>
          <p:cNvSpPr/>
          <p:nvPr/>
        </p:nvSpPr>
        <p:spPr>
          <a:xfrm>
            <a:off x="3964384" y="5060454"/>
            <a:ext cx="215404" cy="28823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3202D"/>
                </a:solidFill>
                <a:latin typeface="STIX Two Text" pitchFamily="18" charset="0"/>
                <a:ea typeface="STIX Two Text" pitchFamily="18" charset="-122"/>
                <a:cs typeface="STIX Two Text" pitchFamily="18" charset="-120"/>
              </a:rPr>
              <a:t>−</a:t>
            </a:r>
            <a:endParaRPr lang="en-US" sz="1800" dirty="0"/>
          </a:p>
        </p:txBody>
      </p:sp>
      <p:sp>
        <p:nvSpPr>
          <p:cNvPr id="31" name="Text 28"/>
          <p:cNvSpPr/>
          <p:nvPr/>
        </p:nvSpPr>
        <p:spPr>
          <a:xfrm>
            <a:off x="4205188" y="5060454"/>
            <a:ext cx="154384" cy="288230"/>
          </a:xfrm>
          <a:prstGeom prst="rect">
            <a:avLst/>
          </a:prstGeom>
          <a:noFill/>
          <a:ln/>
        </p:spPr>
        <p:txBody>
          <a:bodyPr wrap="square" lIns="0" tIns="0" rIns="0" bIns="0" rtlCol="0" anchor="t">
            <a:normAutofit/>
          </a:bodyPr>
          <a:lstStyle/>
          <a:p>
            <a:pPr algn="l" indent="0" marL="0">
              <a:lnSpc>
                <a:spcPts val="2070"/>
              </a:lnSpc>
              <a:buNone/>
            </a:pPr>
            <a:r>
              <a:rPr lang="en-US" sz="1800" i="1" dirty="0">
                <a:solidFill>
                  <a:srgbClr val="13202D"/>
                </a:solidFill>
                <a:latin typeface="STIX Two Text" pitchFamily="18" charset="0"/>
                <a:ea typeface="STIX Two Text" pitchFamily="18" charset="-122"/>
                <a:cs typeface="STIX Two Text" pitchFamily="18" charset="-120"/>
              </a:rPr>
              <a:t>x</a:t>
            </a:r>
            <a:endParaRPr lang="en-US" sz="1800" dirty="0"/>
          </a:p>
        </p:txBody>
      </p:sp>
      <p:sp>
        <p:nvSpPr>
          <p:cNvPr id="32" name="Text 29"/>
          <p:cNvSpPr/>
          <p:nvPr/>
        </p:nvSpPr>
        <p:spPr>
          <a:xfrm>
            <a:off x="4321473" y="5179120"/>
            <a:ext cx="313373"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3202D"/>
                </a:solidFill>
                <a:latin typeface="STIX Two Text" pitchFamily="18" charset="0"/>
                <a:ea typeface="STIX Two Text" pitchFamily="18" charset="-122"/>
                <a:cs typeface="STIX Two Text" pitchFamily="18" charset="-120"/>
              </a:rPr>
              <a:t>min</a:t>
            </a:r>
            <a:endParaRPr lang="en-US" sz="1200" dirty="0"/>
          </a:p>
        </p:txBody>
      </p:sp>
      <p:sp>
        <p:nvSpPr>
          <p:cNvPr id="33" name="Text 30"/>
          <p:cNvSpPr/>
          <p:nvPr/>
        </p:nvSpPr>
        <p:spPr>
          <a:xfrm>
            <a:off x="1028700" y="5386784"/>
            <a:ext cx="4977321" cy="3098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0A5CA8"/>
                </a:solidFill>
                <a:latin typeface="STIX Two Text" pitchFamily="18" charset="0"/>
                <a:ea typeface="STIX Two Text" pitchFamily="18" charset="-122"/>
                <a:cs typeface="STIX Two Text" pitchFamily="18" charset="-120"/>
              </a:rPr>
              <a:t>x</a:t>
            </a:r>
            <a:r>
              <a:rPr lang="en-US" sz="1600" dirty="0">
                <a:solidFill>
                  <a:srgbClr val="0A5CA8"/>
                </a:solidFill>
                <a:latin typeface="STIX Two Text" pitchFamily="18" charset="0"/>
                <a:ea typeface="STIX Two Text" pitchFamily="18" charset="-122"/>
                <a:cs typeface="STIX Two Text" pitchFamily="18" charset="-120"/>
              </a:rPr>
              <a:t> = 2048 → </a:t>
            </a:r>
            <a:r>
              <a:rPr lang="en-US" sz="1600" i="1" dirty="0">
                <a:solidFill>
                  <a:srgbClr val="0A5CA8"/>
                </a:solidFill>
                <a:latin typeface="STIX Two Text" pitchFamily="18" charset="0"/>
                <a:ea typeface="STIX Two Text" pitchFamily="18" charset="-122"/>
                <a:cs typeface="STIX Two Text" pitchFamily="18" charset="-120"/>
              </a:rPr>
              <a:t>y</a:t>
            </a:r>
            <a:r>
              <a:rPr lang="en-US" sz="1600" dirty="0">
                <a:solidFill>
                  <a:srgbClr val="0A5CA8"/>
                </a:solidFill>
                <a:latin typeface="STIX Two Text" pitchFamily="18" charset="0"/>
                <a:ea typeface="STIX Two Text" pitchFamily="18" charset="-122"/>
                <a:cs typeface="STIX Two Text" pitchFamily="18" charset="-120"/>
              </a:rPr>
              <a:t> ≈ 50,0 %</a:t>
            </a:r>
            <a:endParaRPr lang="en-US" sz="1600" dirty="0"/>
          </a:p>
        </p:txBody>
      </p:sp>
      <p:sp>
        <p:nvSpPr>
          <p:cNvPr id="34" name="Shape 31"/>
          <p:cNvSpPr/>
          <p:nvPr/>
        </p:nvSpPr>
        <p:spPr>
          <a:xfrm>
            <a:off x="6191250" y="4323953"/>
            <a:ext cx="5187950" cy="1499691"/>
          </a:xfrm>
          <a:prstGeom prst="roundRect">
            <a:avLst>
              <a:gd name="adj" fmla="val 5081"/>
            </a:avLst>
          </a:prstGeom>
          <a:solidFill>
            <a:srgbClr val="FBF1E6"/>
          </a:solidFill>
          <a:ln/>
        </p:spPr>
      </p:sp>
      <p:pic>
        <p:nvPicPr>
          <p:cNvPr id="35" name="Image 0" descr="Warning">    </p:cNvPr>
          <p:cNvPicPr>
            <a:picLocks noChangeAspect="1"/>
          </p:cNvPicPr>
          <p:nvPr/>
        </p:nvPicPr>
        <p:blipFill>
          <a:blip r:embed="rId1"/>
          <a:srcRect l="0" r="0" t="0" b="0"/>
          <a:stretch/>
        </p:blipFill>
        <p:spPr>
          <a:xfrm>
            <a:off x="6369050" y="4946749"/>
            <a:ext cx="254000" cy="254000"/>
          </a:xfrm>
          <a:prstGeom prst="rect">
            <a:avLst/>
          </a:prstGeom>
        </p:spPr>
      </p:pic>
      <p:sp>
        <p:nvSpPr>
          <p:cNvPr id="36" name="Text 32"/>
          <p:cNvSpPr/>
          <p:nvPr/>
        </p:nvSpPr>
        <p:spPr>
          <a:xfrm>
            <a:off x="6750050" y="4860429"/>
            <a:ext cx="458489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Pogrešna adresa ili skaliranje daju uverljivu, ali netačnu vrednost, pa se mapiranje proverava pri prihvatanju.</a:t>
            </a:r>
            <a:endParaRPr lang="en-US" sz="1200" dirty="0"/>
          </a:p>
        </p:txBody>
      </p:sp>
      <p:sp>
        <p:nvSpPr>
          <p:cNvPr id="37" name="Shape 33"/>
          <p:cNvSpPr/>
          <p:nvPr/>
        </p:nvSpPr>
        <p:spPr>
          <a:xfrm>
            <a:off x="812800" y="6209705"/>
            <a:ext cx="10566400" cy="0"/>
          </a:xfrm>
          <a:prstGeom prst="line">
            <a:avLst/>
          </a:prstGeom>
          <a:noFill/>
          <a:ln w="6350">
            <a:solidFill>
              <a:srgbClr val="D3DAE1"/>
            </a:solidFill>
            <a:prstDash val="solid"/>
          </a:ln>
        </p:spPr>
      </p:sp>
      <p:sp>
        <p:nvSpPr>
          <p:cNvPr id="38" name="Text 34"/>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9" name="Text 3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KONFIGURACIJA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Konfiguracija kao kod</a:t>
            </a:r>
            <a:endParaRPr lang="en-US" sz="3000" dirty="0"/>
          </a:p>
        </p:txBody>
      </p:sp>
      <p:sp>
        <p:nvSpPr>
          <p:cNvPr id="5" name="Shape 3"/>
          <p:cNvSpPr/>
          <p:nvPr/>
        </p:nvSpPr>
        <p:spPr>
          <a:xfrm>
            <a:off x="815975" y="1676995"/>
            <a:ext cx="5708650" cy="3112294"/>
          </a:xfrm>
          <a:prstGeom prst="roundRect">
            <a:avLst>
              <a:gd name="adj" fmla="val 3162"/>
            </a:avLst>
          </a:prstGeom>
          <a:solidFill>
            <a:srgbClr val="FCFCFB"/>
          </a:solidFill>
          <a:ln w="6350">
            <a:solidFill>
              <a:srgbClr val="D3DAE1"/>
            </a:solidFill>
            <a:prstDash val="solid"/>
          </a:ln>
        </p:spPr>
      </p:sp>
      <p:sp>
        <p:nvSpPr>
          <p:cNvPr id="6" name="Text 4"/>
          <p:cNvSpPr/>
          <p:nvPr/>
        </p:nvSpPr>
        <p:spPr>
          <a:xfrm>
            <a:off x="1047750" y="1857970"/>
            <a:ext cx="54024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tags/LT-101.json</a:t>
            </a:r>
            <a:endParaRPr lang="en-US" sz="1200" dirty="0"/>
          </a:p>
        </p:txBody>
      </p:sp>
      <p:sp>
        <p:nvSpPr>
          <p:cNvPr id="7" name="Text 5"/>
          <p:cNvSpPr/>
          <p:nvPr/>
        </p:nvSpPr>
        <p:spPr>
          <a:xfrm>
            <a:off x="1047750" y="2134791"/>
            <a:ext cx="54024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8" name="Text 6"/>
          <p:cNvSpPr/>
          <p:nvPr/>
        </p:nvSpPr>
        <p:spPr>
          <a:xfrm>
            <a:off x="1250950" y="2360811"/>
            <a:ext cx="5193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"schemaVersion"</a:t>
            </a:r>
            <a:r>
              <a:rPr lang="en-US" sz="1200" dirty="0">
                <a:solidFill>
                  <a:srgbClr val="13202D"/>
                </a:solidFill>
                <a:latin typeface="IBM Plex Mono" pitchFamily="49" charset="0"/>
                <a:ea typeface="IBM Plex Mono" pitchFamily="49" charset="-122"/>
                <a:cs typeface="IBM Plex Mono" pitchFamily="49" charset="-120"/>
              </a:rPr>
              <a:t>: "1.0",</a:t>
            </a:r>
            <a:endParaRPr lang="en-US" sz="1200" dirty="0"/>
          </a:p>
        </p:txBody>
      </p:sp>
      <p:sp>
        <p:nvSpPr>
          <p:cNvPr id="9" name="Text 7"/>
          <p:cNvSpPr/>
          <p:nvPr/>
        </p:nvSpPr>
        <p:spPr>
          <a:xfrm>
            <a:off x="1250950" y="2586831"/>
            <a:ext cx="5193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"tag"</a:t>
            </a:r>
            <a:r>
              <a:rPr lang="en-US" sz="1200" dirty="0">
                <a:solidFill>
                  <a:srgbClr val="13202D"/>
                </a:solidFill>
                <a:latin typeface="IBM Plex Mono" pitchFamily="49" charset="0"/>
                <a:ea typeface="IBM Plex Mono" pitchFamily="49" charset="-122"/>
                <a:cs typeface="IBM Plex Mono" pitchFamily="49" charset="-120"/>
              </a:rPr>
              <a:t>: "LT-101",</a:t>
            </a:r>
            <a:endParaRPr lang="en-US" sz="1200" dirty="0"/>
          </a:p>
        </p:txBody>
      </p:sp>
      <p:sp>
        <p:nvSpPr>
          <p:cNvPr id="10" name="Text 8"/>
          <p:cNvSpPr/>
          <p:nvPr/>
        </p:nvSpPr>
        <p:spPr>
          <a:xfrm>
            <a:off x="1250950" y="2812852"/>
            <a:ext cx="5193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"type"</a:t>
            </a:r>
            <a:r>
              <a:rPr lang="en-US" sz="1200" dirty="0">
                <a:solidFill>
                  <a:srgbClr val="13202D"/>
                </a:solidFill>
                <a:latin typeface="IBM Plex Mono" pitchFamily="49" charset="0"/>
                <a:ea typeface="IBM Plex Mono" pitchFamily="49" charset="-122"/>
                <a:cs typeface="IBM Plex Mono" pitchFamily="49" charset="-120"/>
              </a:rPr>
              <a:t>: "float",</a:t>
            </a:r>
            <a:endParaRPr lang="en-US" sz="1200" dirty="0"/>
          </a:p>
        </p:txBody>
      </p:sp>
      <p:sp>
        <p:nvSpPr>
          <p:cNvPr id="11" name="Text 9"/>
          <p:cNvSpPr/>
          <p:nvPr/>
        </p:nvSpPr>
        <p:spPr>
          <a:xfrm>
            <a:off x="1250950" y="3038872"/>
            <a:ext cx="5193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"unit"</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2" name="Text 10"/>
          <p:cNvSpPr/>
          <p:nvPr/>
        </p:nvSpPr>
        <p:spPr>
          <a:xfrm>
            <a:off x="1250950" y="3264892"/>
            <a:ext cx="5193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"range"</a:t>
            </a:r>
            <a:r>
              <a:rPr lang="en-US" sz="1200" dirty="0">
                <a:solidFill>
                  <a:srgbClr val="13202D"/>
                </a:solidFill>
                <a:latin typeface="IBM Plex Mono" pitchFamily="49" charset="0"/>
                <a:ea typeface="IBM Plex Mono" pitchFamily="49" charset="-122"/>
                <a:cs typeface="IBM Plex Mono" pitchFamily="49" charset="-120"/>
              </a:rPr>
              <a:t>: [0, 100],</a:t>
            </a:r>
            <a:endParaRPr lang="en-US" sz="1200" dirty="0"/>
          </a:p>
        </p:txBody>
      </p:sp>
      <p:sp>
        <p:nvSpPr>
          <p:cNvPr id="13" name="Text 11"/>
          <p:cNvSpPr/>
          <p:nvPr/>
        </p:nvSpPr>
        <p:spPr>
          <a:xfrm>
            <a:off x="1250950" y="3490913"/>
            <a:ext cx="5193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"source"</a:t>
            </a:r>
            <a:r>
              <a:rPr lang="en-US" sz="1200" dirty="0">
                <a:solidFill>
                  <a:srgbClr val="13202D"/>
                </a:solidFill>
                <a:latin typeface="IBM Plex Mono" pitchFamily="49" charset="0"/>
                <a:ea typeface="IBM Plex Mono" pitchFamily="49" charset="-122"/>
                <a:cs typeface="IBM Plex Mono" pitchFamily="49" charset="-120"/>
              </a:rPr>
              <a:t>: {"device": "PLC-1", "address": 30001},</a:t>
            </a:r>
            <a:endParaRPr lang="en-US" sz="1200" dirty="0"/>
          </a:p>
        </p:txBody>
      </p:sp>
      <p:sp>
        <p:nvSpPr>
          <p:cNvPr id="14" name="Text 12"/>
          <p:cNvSpPr/>
          <p:nvPr/>
        </p:nvSpPr>
        <p:spPr>
          <a:xfrm>
            <a:off x="1250950" y="3716933"/>
            <a:ext cx="5193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"alarms"</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5" name="Text 13"/>
          <p:cNvSpPr/>
          <p:nvPr/>
        </p:nvSpPr>
        <p:spPr>
          <a:xfrm>
            <a:off x="1454150" y="3942953"/>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{"type": "high", "setpoint": 85, "deadband": 5}</a:t>
            </a:r>
            <a:endParaRPr lang="en-US" sz="1200" dirty="0"/>
          </a:p>
        </p:txBody>
      </p:sp>
      <p:sp>
        <p:nvSpPr>
          <p:cNvPr id="16" name="Text 14"/>
          <p:cNvSpPr/>
          <p:nvPr/>
        </p:nvSpPr>
        <p:spPr>
          <a:xfrm>
            <a:off x="1250950" y="4168973"/>
            <a:ext cx="5193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7" name="Text 15"/>
          <p:cNvSpPr/>
          <p:nvPr/>
        </p:nvSpPr>
        <p:spPr>
          <a:xfrm>
            <a:off x="1047750" y="4394994"/>
            <a:ext cx="54024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Shape 16"/>
          <p:cNvSpPr/>
          <p:nvPr/>
        </p:nvSpPr>
        <p:spPr>
          <a:xfrm>
            <a:off x="6896100" y="1673820"/>
            <a:ext cx="0" cy="512961"/>
          </a:xfrm>
          <a:prstGeom prst="line">
            <a:avLst/>
          </a:prstGeom>
          <a:noFill/>
          <a:ln w="25400">
            <a:solidFill>
              <a:srgbClr val="0A5CA8"/>
            </a:solidFill>
            <a:prstDash val="solid"/>
          </a:ln>
        </p:spPr>
      </p:sp>
      <p:sp>
        <p:nvSpPr>
          <p:cNvPr id="19" name="Text 17"/>
          <p:cNvSpPr/>
          <p:nvPr/>
        </p:nvSpPr>
        <p:spPr>
          <a:xfrm>
            <a:off x="7061200" y="1686520"/>
            <a:ext cx="44475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Verzionisanje</a:t>
            </a:r>
            <a:endParaRPr lang="en-US" sz="1400" dirty="0"/>
          </a:p>
        </p:txBody>
      </p:sp>
      <p:sp>
        <p:nvSpPr>
          <p:cNvPr id="20" name="Text 18"/>
          <p:cNvSpPr/>
          <p:nvPr/>
        </p:nvSpPr>
        <p:spPr>
          <a:xfrm>
            <a:off x="7061200" y="1960761"/>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Svaka izmena ima autora, opis i mogućnost povratka.</a:t>
            </a:r>
            <a:endParaRPr lang="en-US" sz="1200" dirty="0"/>
          </a:p>
        </p:txBody>
      </p:sp>
      <p:sp>
        <p:nvSpPr>
          <p:cNvPr id="21" name="Shape 19"/>
          <p:cNvSpPr/>
          <p:nvPr/>
        </p:nvSpPr>
        <p:spPr>
          <a:xfrm>
            <a:off x="6896100" y="2326481"/>
            <a:ext cx="0" cy="512961"/>
          </a:xfrm>
          <a:prstGeom prst="line">
            <a:avLst/>
          </a:prstGeom>
          <a:noFill/>
          <a:ln w="25400">
            <a:solidFill>
              <a:srgbClr val="0A5CA8"/>
            </a:solidFill>
            <a:prstDash val="solid"/>
          </a:ln>
        </p:spPr>
      </p:sp>
      <p:sp>
        <p:nvSpPr>
          <p:cNvPr id="22" name="Text 20"/>
          <p:cNvSpPr/>
          <p:nvPr/>
        </p:nvSpPr>
        <p:spPr>
          <a:xfrm>
            <a:off x="7061200" y="2339181"/>
            <a:ext cx="44475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Šema i validacija</a:t>
            </a:r>
            <a:endParaRPr lang="en-US" sz="1400" dirty="0"/>
          </a:p>
        </p:txBody>
      </p:sp>
      <p:sp>
        <p:nvSpPr>
          <p:cNvPr id="23" name="Text 21"/>
          <p:cNvSpPr/>
          <p:nvPr/>
        </p:nvSpPr>
        <p:spPr>
          <a:xfrm>
            <a:off x="7061200" y="2613422"/>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Neispravna ili nepoznata verzija odbija se pre primene.</a:t>
            </a:r>
            <a:endParaRPr lang="en-US" sz="1200" dirty="0"/>
          </a:p>
        </p:txBody>
      </p:sp>
      <p:sp>
        <p:nvSpPr>
          <p:cNvPr id="24" name="Shape 22"/>
          <p:cNvSpPr/>
          <p:nvPr/>
        </p:nvSpPr>
        <p:spPr>
          <a:xfrm>
            <a:off x="6896100" y="2979142"/>
            <a:ext cx="0" cy="512961"/>
          </a:xfrm>
          <a:prstGeom prst="line">
            <a:avLst/>
          </a:prstGeom>
          <a:noFill/>
          <a:ln w="25400">
            <a:solidFill>
              <a:srgbClr val="0A5CA8"/>
            </a:solidFill>
            <a:prstDash val="solid"/>
          </a:ln>
        </p:spPr>
      </p:sp>
      <p:sp>
        <p:nvSpPr>
          <p:cNvPr id="25" name="Text 23"/>
          <p:cNvSpPr/>
          <p:nvPr/>
        </p:nvSpPr>
        <p:spPr>
          <a:xfrm>
            <a:off x="7061200" y="2991842"/>
            <a:ext cx="44475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Ponovljivost</a:t>
            </a:r>
            <a:endParaRPr lang="en-US" sz="1400" dirty="0"/>
          </a:p>
        </p:txBody>
      </p:sp>
      <p:sp>
        <p:nvSpPr>
          <p:cNvPr id="26" name="Text 24"/>
          <p:cNvSpPr/>
          <p:nvPr/>
        </p:nvSpPr>
        <p:spPr>
          <a:xfrm>
            <a:off x="7061200" y="3266083"/>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Isto okruženje podiže se iz iste konfiguracije.</a:t>
            </a:r>
            <a:endParaRPr lang="en-US" sz="1200" dirty="0"/>
          </a:p>
        </p:txBody>
      </p:sp>
      <p:sp>
        <p:nvSpPr>
          <p:cNvPr id="27" name="Shape 25"/>
          <p:cNvSpPr/>
          <p:nvPr/>
        </p:nvSpPr>
        <p:spPr>
          <a:xfrm>
            <a:off x="6896100" y="3631803"/>
            <a:ext cx="0" cy="512961"/>
          </a:xfrm>
          <a:prstGeom prst="line">
            <a:avLst/>
          </a:prstGeom>
          <a:noFill/>
          <a:ln w="25400">
            <a:solidFill>
              <a:srgbClr val="E07B1F"/>
            </a:solidFill>
            <a:prstDash val="solid"/>
          </a:ln>
        </p:spPr>
      </p:sp>
      <p:sp>
        <p:nvSpPr>
          <p:cNvPr id="28" name="Text 26"/>
          <p:cNvSpPr/>
          <p:nvPr/>
        </p:nvSpPr>
        <p:spPr>
          <a:xfrm>
            <a:off x="7061200" y="3644503"/>
            <a:ext cx="44475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Tajne odvojeno</a:t>
            </a:r>
            <a:endParaRPr lang="en-US" sz="1400" dirty="0"/>
          </a:p>
        </p:txBody>
      </p:sp>
      <p:sp>
        <p:nvSpPr>
          <p:cNvPr id="29" name="Text 27"/>
          <p:cNvSpPr/>
          <p:nvPr/>
        </p:nvSpPr>
        <p:spPr>
          <a:xfrm>
            <a:off x="7061200" y="3918744"/>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Lozinke i ključevi nikada nisu deo verzionisane konfiguracije.</a:t>
            </a:r>
            <a:endParaRPr lang="en-US" sz="12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KONFIGURACIJA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Kontrola pristupa zasnovana na ulogama</a:t>
            </a:r>
            <a:endParaRPr lang="en-US" sz="3000" dirty="0"/>
          </a:p>
        </p:txBody>
      </p:sp>
      <p:sp>
        <p:nvSpPr>
          <p:cNvPr id="5" name="Shape 3"/>
          <p:cNvSpPr/>
          <p:nvPr/>
        </p:nvSpPr>
        <p:spPr>
          <a:xfrm>
            <a:off x="812800" y="1673820"/>
            <a:ext cx="10566400" cy="2165152"/>
          </a:xfrm>
          <a:prstGeom prst="roundRect">
            <a:avLst>
              <a:gd name="adj" fmla="val 4693"/>
            </a:avLst>
          </a:prstGeom>
          <a:solidFill>
            <a:srgbClr val="FCFCFB"/>
          </a:solidFill>
          <a:ln/>
        </p:spPr>
      </p:sp>
      <p:sp>
        <p:nvSpPr>
          <p:cNvPr id="6" name="Shape 4"/>
          <p:cNvSpPr/>
          <p:nvPr/>
        </p:nvSpPr>
        <p:spPr>
          <a:xfrm>
            <a:off x="812800" y="1673820"/>
            <a:ext cx="10566400" cy="2165152"/>
          </a:xfrm>
          <a:custGeom>
            <a:avLst/>
            <a:gdLst/>
            <a:ahLst/>
            <a:cxnLst/>
            <a:rect l="l" t="t" r="r" b="b"/>
            <a:pathLst>
              <a:path w="10566400" h="2165152">
                <a:moveTo>
                  <a:pt x="10464800" y="0"/>
                </a:moveTo>
                <a:lnTo>
                  <a:pt x="10464800" y="0"/>
                </a:lnTo>
                <a:arcTo hR="101600" wR="101600" stAng="16200000" swAng="5400000"/>
                <a:lnTo>
                  <a:pt x="10566400" y="2063552"/>
                </a:lnTo>
                <a:arcTo hR="101600" wR="101600" stAng="0" swAng="5400000"/>
                <a:lnTo>
                  <a:pt x="101600" y="2165152"/>
                </a:lnTo>
                <a:arcTo hR="101600" wR="101600" stAng="5400000" swAng="5400000"/>
                <a:lnTo>
                  <a:pt x="0" y="2063552"/>
                </a:lnTo>
                <a:arcTo hR="95250" wR="101600" stAng="10800000" swAng="-5400000"/>
                <a:lnTo>
                  <a:pt x="10464800" y="2158802"/>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2165152"/>
          </a:xfrm>
          <a:custGeom>
            <a:avLst/>
            <a:gdLst/>
            <a:ahLst/>
            <a:cxnLst/>
            <a:rect l="l" t="t" r="r" b="b"/>
            <a:pathLst>
              <a:path w="10566400" h="2165152">
                <a:moveTo>
                  <a:pt x="101600" y="2165152"/>
                </a:moveTo>
                <a:lnTo>
                  <a:pt x="101600" y="2165152"/>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063552"/>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2146102"/>
        </p:xfrm>
        <a:graphic>
          <a:graphicData uri="http://schemas.openxmlformats.org/drawingml/2006/table">
            <a:tbl>
              <a:tblPr/>
              <a:tblGrid>
                <a:gridCol w="2109470"/>
                <a:gridCol w="4640834"/>
                <a:gridCol w="3797046"/>
              </a:tblGrid>
              <a:tr h="42922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Uloga</a:t>
                      </a:r>
                      <a:endParaRPr lang="en-US" sz="12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Tipična prava</a:t>
                      </a:r>
                      <a:endParaRPr lang="en-US" sz="1200" dirty="0">
                        <a:latin typeface="IBM Plex Sans" charset="0"/>
                        <a:ea typeface="IBM Plex Sans" charset="0"/>
                        <a:cs typeface="IBM Plex Sans" charset="0"/>
                      </a:endParaRPr>
                    </a:p>
                  </a:txBody>
                  <a:tcPr marL="177800" marR="177800" marT="101600" marB="1016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Bez prava na</a:t>
                      </a:r>
                      <a:endParaRPr lang="en-US" sz="1200" dirty="0">
                        <a:latin typeface="IBM Plex Sans" charset="0"/>
                        <a:ea typeface="IBM Plex Sans" charset="0"/>
                        <a:cs typeface="IBM Plex Sans" charset="0"/>
                      </a:endParaRPr>
                    </a:p>
                  </a:txBody>
                  <a:tcPr marL="177800" marR="177800" marT="101600" marB="1016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4292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Posmatrač</a:t>
                      </a:r>
                      <a:endParaRPr lang="en-US" sz="12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Pregled prikaza, trendova i alarma</a:t>
                      </a:r>
                      <a:endParaRPr lang="en-US" sz="12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Komande i potvrdu alarma</a:t>
                      </a:r>
                      <a:endParaRPr lang="en-US" sz="12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292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Operater</a:t>
                      </a:r>
                      <a:endParaRPr lang="en-US" sz="12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Potvrda alarma i dozvoljene komande</a:t>
                      </a:r>
                      <a:endParaRPr lang="en-US" sz="12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Izmenu konfiguracije</a:t>
                      </a:r>
                      <a:endParaRPr lang="en-US" sz="12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292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Inženjer</a:t>
                      </a:r>
                      <a:endParaRPr lang="en-US" sz="12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Konfiguracija tagova, alarma i prikaza</a:t>
                      </a:r>
                      <a:endParaRPr lang="en-US" sz="12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Upravljanje nalozima</a:t>
                      </a:r>
                      <a:endParaRPr lang="en-US" sz="12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29220">
                <a:tc>
                  <a:txBody>
                    <a:bodyPr/>
                    <a:lstStyle/>
                    <a:p>
                      <a:pP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Administrator</a:t>
                      </a:r>
                      <a:endParaRPr lang="en-US" sz="1200" dirty="0">
                        <a:latin typeface="IBM Plex Sans" charset="0"/>
                        <a:ea typeface="IBM Plex Sans" charset="0"/>
                        <a:cs typeface="IBM Plex Sans" charset="0"/>
                      </a:endParaRPr>
                    </a:p>
                  </a:txBody>
                  <a:tcPr marL="177800" marR="177800" marT="101600" marB="1016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Nalozi, uloge i nadzor platforme</a:t>
                      </a:r>
                      <a:endParaRPr lang="en-US" sz="12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Zaobilaženje kontrola procesa</a:t>
                      </a:r>
                      <a:endParaRPr lang="en-US" sz="1200" dirty="0">
                        <a:latin typeface="IBM Plex Sans" charset="0"/>
                        <a:ea typeface="IBM Plex Sans" charset="0"/>
                        <a:cs typeface="IBM Plex Sans" charset="0"/>
                      </a:endParaRPr>
                    </a:p>
                  </a:txBody>
                  <a:tcPr marL="177800" marR="177800" marT="101600" marB="1016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Shape 6"/>
          <p:cNvSpPr/>
          <p:nvPr/>
        </p:nvSpPr>
        <p:spPr>
          <a:xfrm>
            <a:off x="812800" y="4092972"/>
            <a:ext cx="2546350" cy="718741"/>
          </a:xfrm>
          <a:prstGeom prst="roundRect">
            <a:avLst>
              <a:gd name="adj" fmla="val 10602"/>
            </a:avLst>
          </a:prstGeom>
          <a:solidFill>
            <a:srgbClr val="DCE8F4"/>
          </a:solidFill>
          <a:ln/>
        </p:spPr>
      </p:sp>
      <p:sp>
        <p:nvSpPr>
          <p:cNvPr id="10" name="Text 7"/>
          <p:cNvSpPr/>
          <p:nvPr/>
        </p:nvSpPr>
        <p:spPr>
          <a:xfrm>
            <a:off x="965200" y="4219972"/>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Najmanje privilegije</a:t>
            </a:r>
            <a:endParaRPr lang="en-US" sz="1200" dirty="0"/>
          </a:p>
        </p:txBody>
      </p:sp>
      <p:sp>
        <p:nvSpPr>
          <p:cNvPr id="11" name="Text 8"/>
          <p:cNvSpPr/>
          <p:nvPr/>
        </p:nvSpPr>
        <p:spPr>
          <a:xfrm>
            <a:off x="965200" y="4471392"/>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Samo prava potrebna za posao.</a:t>
            </a:r>
            <a:endParaRPr lang="en-US" sz="1200" dirty="0"/>
          </a:p>
        </p:txBody>
      </p:sp>
      <p:sp>
        <p:nvSpPr>
          <p:cNvPr id="12" name="Shape 9"/>
          <p:cNvSpPr/>
          <p:nvPr/>
        </p:nvSpPr>
        <p:spPr>
          <a:xfrm>
            <a:off x="3486150" y="4092972"/>
            <a:ext cx="2546350" cy="718741"/>
          </a:xfrm>
          <a:prstGeom prst="roundRect">
            <a:avLst>
              <a:gd name="adj" fmla="val 10602"/>
            </a:avLst>
          </a:prstGeom>
          <a:solidFill>
            <a:srgbClr val="DCE8F4"/>
          </a:solidFill>
          <a:ln/>
        </p:spPr>
      </p:sp>
      <p:sp>
        <p:nvSpPr>
          <p:cNvPr id="13" name="Text 10"/>
          <p:cNvSpPr/>
          <p:nvPr/>
        </p:nvSpPr>
        <p:spPr>
          <a:xfrm>
            <a:off x="3638550" y="4219972"/>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Razdvajanje dužnosti</a:t>
            </a:r>
            <a:endParaRPr lang="en-US" sz="1200" dirty="0"/>
          </a:p>
        </p:txBody>
      </p:sp>
      <p:sp>
        <p:nvSpPr>
          <p:cNvPr id="14" name="Text 11"/>
          <p:cNvSpPr/>
          <p:nvPr/>
        </p:nvSpPr>
        <p:spPr>
          <a:xfrm>
            <a:off x="3638550" y="4471392"/>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Konfiguracija i rad su odvojeni.</a:t>
            </a:r>
            <a:endParaRPr lang="en-US" sz="1200" dirty="0"/>
          </a:p>
        </p:txBody>
      </p:sp>
      <p:sp>
        <p:nvSpPr>
          <p:cNvPr id="15" name="Shape 12"/>
          <p:cNvSpPr/>
          <p:nvPr/>
        </p:nvSpPr>
        <p:spPr>
          <a:xfrm>
            <a:off x="6159500" y="4092972"/>
            <a:ext cx="2546350" cy="718741"/>
          </a:xfrm>
          <a:prstGeom prst="roundRect">
            <a:avLst>
              <a:gd name="adj" fmla="val 10602"/>
            </a:avLst>
          </a:prstGeom>
          <a:solidFill>
            <a:srgbClr val="DCE8F4"/>
          </a:solidFill>
          <a:ln/>
        </p:spPr>
      </p:sp>
      <p:sp>
        <p:nvSpPr>
          <p:cNvPr id="16" name="Text 13"/>
          <p:cNvSpPr/>
          <p:nvPr/>
        </p:nvSpPr>
        <p:spPr>
          <a:xfrm>
            <a:off x="6311900" y="4219972"/>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Provera na serveru</a:t>
            </a:r>
            <a:endParaRPr lang="en-US" sz="1200" dirty="0"/>
          </a:p>
        </p:txBody>
      </p:sp>
      <p:sp>
        <p:nvSpPr>
          <p:cNvPr id="17" name="Text 14"/>
          <p:cNvSpPr/>
          <p:nvPr/>
        </p:nvSpPr>
        <p:spPr>
          <a:xfrm>
            <a:off x="6311900" y="4471392"/>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Skriveno dugme nije zaštita.</a:t>
            </a:r>
            <a:endParaRPr lang="en-US" sz="1200" dirty="0"/>
          </a:p>
        </p:txBody>
      </p:sp>
      <p:sp>
        <p:nvSpPr>
          <p:cNvPr id="18" name="Shape 15"/>
          <p:cNvSpPr/>
          <p:nvPr/>
        </p:nvSpPr>
        <p:spPr>
          <a:xfrm>
            <a:off x="8832850" y="4092972"/>
            <a:ext cx="2546350" cy="718741"/>
          </a:xfrm>
          <a:prstGeom prst="roundRect">
            <a:avLst>
              <a:gd name="adj" fmla="val 10602"/>
            </a:avLst>
          </a:prstGeom>
          <a:solidFill>
            <a:srgbClr val="DCE8F4"/>
          </a:solidFill>
          <a:ln/>
        </p:spPr>
      </p:sp>
      <p:sp>
        <p:nvSpPr>
          <p:cNvPr id="19" name="Text 16"/>
          <p:cNvSpPr/>
          <p:nvPr/>
        </p:nvSpPr>
        <p:spPr>
          <a:xfrm>
            <a:off x="8985250" y="4219972"/>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Revizioni zapis</a:t>
            </a:r>
            <a:endParaRPr lang="en-US" sz="1200" dirty="0"/>
          </a:p>
        </p:txBody>
      </p:sp>
      <p:sp>
        <p:nvSpPr>
          <p:cNvPr id="20" name="Text 17"/>
          <p:cNvSpPr/>
          <p:nvPr/>
        </p:nvSpPr>
        <p:spPr>
          <a:xfrm>
            <a:off x="8985250" y="4471392"/>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 odbijeni pokušaji se beleže.</a:t>
            </a:r>
            <a:endParaRPr lang="en-US" sz="1200" dirty="0"/>
          </a:p>
        </p:txBody>
      </p:sp>
      <p:sp>
        <p:nvSpPr>
          <p:cNvPr id="21" name="Shape 18"/>
          <p:cNvSpPr/>
          <p:nvPr/>
        </p:nvSpPr>
        <p:spPr>
          <a:xfrm>
            <a:off x="812800" y="6209705"/>
            <a:ext cx="10566400" cy="0"/>
          </a:xfrm>
          <a:prstGeom prst="line">
            <a:avLst/>
          </a:prstGeom>
          <a:noFill/>
          <a:ln w="6350">
            <a:solidFill>
              <a:srgbClr val="D3DAE1"/>
            </a:solidFill>
            <a:prstDash val="solid"/>
          </a:ln>
        </p:spPr>
      </p:sp>
      <p:sp>
        <p:nvSpPr>
          <p:cNvPr id="22" name="Text 19"/>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3" name="Text 2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KONFIGURACIJA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Testiranje i puštanje u rad</a:t>
            </a:r>
            <a:endParaRPr lang="en-US" sz="3000" dirty="0"/>
          </a:p>
        </p:txBody>
      </p:sp>
      <p:sp>
        <p:nvSpPr>
          <p:cNvPr id="5" name="Shape 3"/>
          <p:cNvSpPr/>
          <p:nvPr/>
        </p:nvSpPr>
        <p:spPr>
          <a:xfrm>
            <a:off x="815975" y="1676995"/>
            <a:ext cx="1781770" cy="1187252"/>
          </a:xfrm>
          <a:prstGeom prst="roundRect">
            <a:avLst>
              <a:gd name="adj" fmla="val 6151"/>
            </a:avLst>
          </a:prstGeom>
          <a:solidFill>
            <a:srgbClr val="FCFCFB"/>
          </a:solidFill>
          <a:ln w="6350">
            <a:solidFill>
              <a:srgbClr val="D3DAE1"/>
            </a:solidFill>
            <a:prstDash val="solid"/>
          </a:ln>
        </p:spPr>
      </p:sp>
      <p:sp>
        <p:nvSpPr>
          <p:cNvPr id="6" name="Text 4"/>
          <p:cNvSpPr/>
          <p:nvPr/>
        </p:nvSpPr>
        <p:spPr>
          <a:xfrm>
            <a:off x="958850" y="1807170"/>
            <a:ext cx="1546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Razvoj</a:t>
            </a:r>
            <a:endParaRPr lang="en-US" sz="1400" dirty="0"/>
          </a:p>
        </p:txBody>
      </p:sp>
      <p:sp>
        <p:nvSpPr>
          <p:cNvPr id="7" name="Text 5"/>
          <p:cNvSpPr/>
          <p:nvPr/>
        </p:nvSpPr>
        <p:spPr>
          <a:xfrm>
            <a:off x="958850" y="2094111"/>
            <a:ext cx="1546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Konfiguracija i jedinični testovi</a:t>
            </a:r>
            <a:endParaRPr lang="en-US" sz="1200" dirty="0"/>
          </a:p>
        </p:txBody>
      </p:sp>
      <p:pic>
        <p:nvPicPr>
          <p:cNvPr id="8" name="Image 0" descr="arrow-right">    </p:cNvPr>
          <p:cNvPicPr>
            <a:picLocks noChangeAspect="1"/>
          </p:cNvPicPr>
          <p:nvPr/>
        </p:nvPicPr>
        <p:blipFill>
          <a:blip r:embed="rId1"/>
          <a:srcRect l="0" r="0" t="0" b="0"/>
          <a:stretch/>
        </p:blipFill>
        <p:spPr>
          <a:xfrm>
            <a:off x="2677120" y="2207121"/>
            <a:ext cx="254000" cy="127000"/>
          </a:xfrm>
          <a:prstGeom prst="rect">
            <a:avLst/>
          </a:prstGeom>
        </p:spPr>
      </p:pic>
      <p:sp>
        <p:nvSpPr>
          <p:cNvPr id="9" name="Shape 6"/>
          <p:cNvSpPr/>
          <p:nvPr/>
        </p:nvSpPr>
        <p:spPr>
          <a:xfrm>
            <a:off x="3010495" y="1676995"/>
            <a:ext cx="1781870" cy="1187252"/>
          </a:xfrm>
          <a:prstGeom prst="roundRect">
            <a:avLst>
              <a:gd name="adj" fmla="val 6151"/>
            </a:avLst>
          </a:prstGeom>
          <a:solidFill>
            <a:srgbClr val="DCE8F4"/>
          </a:solidFill>
          <a:ln w="6350">
            <a:solidFill>
              <a:srgbClr val="A9C2DC"/>
            </a:solidFill>
            <a:prstDash val="solid"/>
          </a:ln>
        </p:spPr>
      </p:sp>
      <p:sp>
        <p:nvSpPr>
          <p:cNvPr id="10" name="Text 7"/>
          <p:cNvSpPr/>
          <p:nvPr/>
        </p:nvSpPr>
        <p:spPr>
          <a:xfrm>
            <a:off x="3153370" y="1807170"/>
            <a:ext cx="15469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Sans" pitchFamily="34" charset="0"/>
                <a:ea typeface="IBM Plex Sans" pitchFamily="34" charset="-122"/>
                <a:cs typeface="IBM Plex Sans" pitchFamily="34" charset="-120"/>
              </a:rPr>
              <a:t>FAT</a:t>
            </a:r>
            <a:endParaRPr lang="en-US" sz="1400" dirty="0"/>
          </a:p>
        </p:txBody>
      </p:sp>
      <p:sp>
        <p:nvSpPr>
          <p:cNvPr id="11" name="Text 8"/>
          <p:cNvSpPr/>
          <p:nvPr/>
        </p:nvSpPr>
        <p:spPr>
          <a:xfrm>
            <a:off x="3153370" y="2094111"/>
            <a:ext cx="15469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Kod isporučioca, uz simulirane signale</a:t>
            </a:r>
            <a:endParaRPr lang="en-US" sz="1200" dirty="0"/>
          </a:p>
        </p:txBody>
      </p:sp>
      <p:pic>
        <p:nvPicPr>
          <p:cNvPr id="12" name="Image 1" descr="arrow-right">    </p:cNvPr>
          <p:cNvPicPr>
            <a:picLocks noChangeAspect="1"/>
          </p:cNvPicPr>
          <p:nvPr/>
        </p:nvPicPr>
        <p:blipFill>
          <a:blip r:embed="rId2"/>
          <a:srcRect l="0" r="0" t="0" b="0"/>
          <a:stretch/>
        </p:blipFill>
        <p:spPr>
          <a:xfrm>
            <a:off x="4871740" y="2207121"/>
            <a:ext cx="254000" cy="127000"/>
          </a:xfrm>
          <a:prstGeom prst="rect">
            <a:avLst/>
          </a:prstGeom>
        </p:spPr>
      </p:pic>
      <p:sp>
        <p:nvSpPr>
          <p:cNvPr id="13" name="Shape 9"/>
          <p:cNvSpPr/>
          <p:nvPr/>
        </p:nvSpPr>
        <p:spPr>
          <a:xfrm>
            <a:off x="5205115" y="1676995"/>
            <a:ext cx="1781770" cy="1187252"/>
          </a:xfrm>
          <a:prstGeom prst="roundRect">
            <a:avLst>
              <a:gd name="adj" fmla="val 6151"/>
            </a:avLst>
          </a:prstGeom>
          <a:solidFill>
            <a:srgbClr val="DCE8F4"/>
          </a:solidFill>
          <a:ln w="6350">
            <a:solidFill>
              <a:srgbClr val="A9C2DC"/>
            </a:solidFill>
            <a:prstDash val="solid"/>
          </a:ln>
        </p:spPr>
      </p:sp>
      <p:sp>
        <p:nvSpPr>
          <p:cNvPr id="14" name="Text 10"/>
          <p:cNvSpPr/>
          <p:nvPr/>
        </p:nvSpPr>
        <p:spPr>
          <a:xfrm>
            <a:off x="5347990" y="1807170"/>
            <a:ext cx="1546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Sans" pitchFamily="34" charset="0"/>
                <a:ea typeface="IBM Plex Sans" pitchFamily="34" charset="-122"/>
                <a:cs typeface="IBM Plex Sans" pitchFamily="34" charset="-120"/>
              </a:rPr>
              <a:t>SAT</a:t>
            </a:r>
            <a:endParaRPr lang="en-US" sz="1400" dirty="0"/>
          </a:p>
        </p:txBody>
      </p:sp>
      <p:sp>
        <p:nvSpPr>
          <p:cNvPr id="15" name="Text 11"/>
          <p:cNvSpPr/>
          <p:nvPr/>
        </p:nvSpPr>
        <p:spPr>
          <a:xfrm>
            <a:off x="5347990" y="2094111"/>
            <a:ext cx="1546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 lokaciji, sa stvarnom opremom</a:t>
            </a:r>
            <a:endParaRPr lang="en-US" sz="1200" dirty="0"/>
          </a:p>
        </p:txBody>
      </p:sp>
      <p:pic>
        <p:nvPicPr>
          <p:cNvPr id="16" name="Image 2" descr="arrow-right">    </p:cNvPr>
          <p:cNvPicPr>
            <a:picLocks noChangeAspect="1"/>
          </p:cNvPicPr>
          <p:nvPr/>
        </p:nvPicPr>
        <p:blipFill>
          <a:blip r:embed="rId3"/>
          <a:srcRect l="0" r="0" t="0" b="0"/>
          <a:stretch/>
        </p:blipFill>
        <p:spPr>
          <a:xfrm>
            <a:off x="7066260" y="2207121"/>
            <a:ext cx="254000" cy="127000"/>
          </a:xfrm>
          <a:prstGeom prst="rect">
            <a:avLst/>
          </a:prstGeom>
        </p:spPr>
      </p:pic>
      <p:sp>
        <p:nvSpPr>
          <p:cNvPr id="17" name="Shape 12"/>
          <p:cNvSpPr/>
          <p:nvPr/>
        </p:nvSpPr>
        <p:spPr>
          <a:xfrm>
            <a:off x="7399635" y="1676995"/>
            <a:ext cx="1781870" cy="1187252"/>
          </a:xfrm>
          <a:prstGeom prst="roundRect">
            <a:avLst>
              <a:gd name="adj" fmla="val 6151"/>
            </a:avLst>
          </a:prstGeom>
          <a:solidFill>
            <a:srgbClr val="FCFCFB"/>
          </a:solidFill>
          <a:ln w="6350">
            <a:solidFill>
              <a:srgbClr val="D3DAE1"/>
            </a:solidFill>
            <a:prstDash val="solid"/>
          </a:ln>
        </p:spPr>
      </p:sp>
      <p:sp>
        <p:nvSpPr>
          <p:cNvPr id="18" name="Text 13"/>
          <p:cNvSpPr/>
          <p:nvPr/>
        </p:nvSpPr>
        <p:spPr>
          <a:xfrm>
            <a:off x="7542510" y="1807170"/>
            <a:ext cx="15469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Puštanje u rad</a:t>
            </a:r>
            <a:endParaRPr lang="en-US" sz="1400" dirty="0"/>
          </a:p>
        </p:txBody>
      </p:sp>
      <p:sp>
        <p:nvSpPr>
          <p:cNvPr id="19" name="Text 14"/>
          <p:cNvSpPr/>
          <p:nvPr/>
        </p:nvSpPr>
        <p:spPr>
          <a:xfrm>
            <a:off x="7542510" y="2094111"/>
            <a:ext cx="15469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Postepeno preuzimanje upravljanja</a:t>
            </a:r>
            <a:endParaRPr lang="en-US" sz="1200" dirty="0"/>
          </a:p>
        </p:txBody>
      </p:sp>
      <p:pic>
        <p:nvPicPr>
          <p:cNvPr id="20" name="Image 3" descr="arrow-right">    </p:cNvPr>
          <p:cNvPicPr>
            <a:picLocks noChangeAspect="1"/>
          </p:cNvPicPr>
          <p:nvPr/>
        </p:nvPicPr>
        <p:blipFill>
          <a:blip r:embed="rId4"/>
          <a:srcRect l="0" r="0" t="0" b="0"/>
          <a:stretch/>
        </p:blipFill>
        <p:spPr>
          <a:xfrm>
            <a:off x="9260880" y="2207121"/>
            <a:ext cx="254000" cy="127000"/>
          </a:xfrm>
          <a:prstGeom prst="rect">
            <a:avLst/>
          </a:prstGeom>
        </p:spPr>
      </p:pic>
      <p:sp>
        <p:nvSpPr>
          <p:cNvPr id="21" name="Shape 15"/>
          <p:cNvSpPr/>
          <p:nvPr/>
        </p:nvSpPr>
        <p:spPr>
          <a:xfrm>
            <a:off x="9594255" y="1676995"/>
            <a:ext cx="1781770" cy="1187252"/>
          </a:xfrm>
          <a:prstGeom prst="roundRect">
            <a:avLst>
              <a:gd name="adj" fmla="val 6151"/>
            </a:avLst>
          </a:prstGeom>
          <a:solidFill>
            <a:srgbClr val="FBF1E6"/>
          </a:solidFill>
          <a:ln w="6350">
            <a:solidFill>
              <a:srgbClr val="E9B98C"/>
            </a:solidFill>
            <a:prstDash val="solid"/>
          </a:ln>
        </p:spPr>
      </p:sp>
      <p:sp>
        <p:nvSpPr>
          <p:cNvPr id="22" name="Text 16"/>
          <p:cNvSpPr/>
          <p:nvPr/>
        </p:nvSpPr>
        <p:spPr>
          <a:xfrm>
            <a:off x="9737130" y="1807170"/>
            <a:ext cx="1546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Održavanje</a:t>
            </a:r>
            <a:endParaRPr lang="en-US" sz="1400" dirty="0"/>
          </a:p>
        </p:txBody>
      </p:sp>
      <p:sp>
        <p:nvSpPr>
          <p:cNvPr id="23" name="Text 17"/>
          <p:cNvSpPr/>
          <p:nvPr/>
        </p:nvSpPr>
        <p:spPr>
          <a:xfrm>
            <a:off x="9737130" y="2094111"/>
            <a:ext cx="1546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Upravljanje izmenama i regresija</a:t>
            </a:r>
            <a:endParaRPr lang="en-US" sz="1200" dirty="0"/>
          </a:p>
        </p:txBody>
      </p:sp>
      <p:sp>
        <p:nvSpPr>
          <p:cNvPr id="24" name="Shape 18"/>
          <p:cNvSpPr/>
          <p:nvPr/>
        </p:nvSpPr>
        <p:spPr>
          <a:xfrm>
            <a:off x="815975" y="3124597"/>
            <a:ext cx="3414117" cy="1278731"/>
          </a:xfrm>
          <a:prstGeom prst="roundRect">
            <a:avLst>
              <a:gd name="adj" fmla="val 7697"/>
            </a:avLst>
          </a:prstGeom>
          <a:solidFill>
            <a:srgbClr val="FCFCFB"/>
          </a:solidFill>
          <a:ln w="6350">
            <a:solidFill>
              <a:srgbClr val="D3DAE1"/>
            </a:solidFill>
            <a:prstDash val="solid"/>
          </a:ln>
        </p:spPr>
      </p:sp>
      <p:sp>
        <p:nvSpPr>
          <p:cNvPr id="25" name="Text 19"/>
          <p:cNvSpPr/>
          <p:nvPr/>
        </p:nvSpPr>
        <p:spPr>
          <a:xfrm>
            <a:off x="1022350" y="3305572"/>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Funkcionalni testovi</a:t>
            </a:r>
            <a:endParaRPr lang="en-US" sz="1400" dirty="0"/>
          </a:p>
        </p:txBody>
      </p:sp>
      <p:sp>
        <p:nvSpPr>
          <p:cNvPr id="26" name="Text 20"/>
          <p:cNvSpPr/>
          <p:nvPr/>
        </p:nvSpPr>
        <p:spPr>
          <a:xfrm>
            <a:off x="1022350" y="3582392"/>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Mapiranje tagova, skaliranje, alarmi, prikazi i komande na poznatim ulaznim podacima.</a:t>
            </a:r>
            <a:endParaRPr lang="en-US" sz="1200" dirty="0"/>
          </a:p>
        </p:txBody>
      </p:sp>
      <p:sp>
        <p:nvSpPr>
          <p:cNvPr id="27" name="Shape 21"/>
          <p:cNvSpPr/>
          <p:nvPr/>
        </p:nvSpPr>
        <p:spPr>
          <a:xfrm>
            <a:off x="4388842" y="3124597"/>
            <a:ext cx="3414216" cy="1278731"/>
          </a:xfrm>
          <a:prstGeom prst="roundRect">
            <a:avLst>
              <a:gd name="adj" fmla="val 7697"/>
            </a:avLst>
          </a:prstGeom>
          <a:solidFill>
            <a:srgbClr val="FCFCFB"/>
          </a:solidFill>
          <a:ln w="6350">
            <a:solidFill>
              <a:srgbClr val="D3DAE1"/>
            </a:solidFill>
            <a:prstDash val="solid"/>
          </a:ln>
        </p:spPr>
      </p:sp>
      <p:sp>
        <p:nvSpPr>
          <p:cNvPr id="28" name="Text 22"/>
          <p:cNvSpPr/>
          <p:nvPr/>
        </p:nvSpPr>
        <p:spPr>
          <a:xfrm>
            <a:off x="4595217" y="3305572"/>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Bezbednosni testovi</a:t>
            </a:r>
            <a:endParaRPr lang="en-US" sz="1400" dirty="0"/>
          </a:p>
        </p:txBody>
      </p:sp>
      <p:sp>
        <p:nvSpPr>
          <p:cNvPr id="29" name="Text 23"/>
          <p:cNvSpPr/>
          <p:nvPr/>
        </p:nvSpPr>
        <p:spPr>
          <a:xfrm>
            <a:off x="4595217" y="3582392"/>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Neovlašćeni, neispravni, ponovljeni i konfliktni zahtevi moraju biti odbijeni bez promene stanja.</a:t>
            </a:r>
            <a:endParaRPr lang="en-US" sz="1200" dirty="0"/>
          </a:p>
        </p:txBody>
      </p:sp>
      <p:sp>
        <p:nvSpPr>
          <p:cNvPr id="30" name="Shape 24"/>
          <p:cNvSpPr/>
          <p:nvPr/>
        </p:nvSpPr>
        <p:spPr>
          <a:xfrm>
            <a:off x="7961809" y="3124597"/>
            <a:ext cx="3414216" cy="1278731"/>
          </a:xfrm>
          <a:prstGeom prst="roundRect">
            <a:avLst>
              <a:gd name="adj" fmla="val 7697"/>
            </a:avLst>
          </a:prstGeom>
          <a:solidFill>
            <a:srgbClr val="FCFCFB"/>
          </a:solidFill>
          <a:ln w="6350">
            <a:solidFill>
              <a:srgbClr val="D3DAE1"/>
            </a:solidFill>
            <a:prstDash val="solid"/>
          </a:ln>
        </p:spPr>
      </p:sp>
      <p:sp>
        <p:nvSpPr>
          <p:cNvPr id="31" name="Text 25"/>
          <p:cNvSpPr/>
          <p:nvPr/>
        </p:nvSpPr>
        <p:spPr>
          <a:xfrm>
            <a:off x="8168184" y="3305572"/>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Uloga simulacije</a:t>
            </a:r>
            <a:endParaRPr lang="en-US" sz="1400" dirty="0"/>
          </a:p>
        </p:txBody>
      </p:sp>
      <p:sp>
        <p:nvSpPr>
          <p:cNvPr id="32" name="Text 26"/>
          <p:cNvSpPr/>
          <p:nvPr/>
        </p:nvSpPr>
        <p:spPr>
          <a:xfrm>
            <a:off x="8168184" y="3582392"/>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Simulator omogućava ponovljiv FAT i testiranje scenarija koje nije bezbedno izvesti na stvarnom procesu.</a:t>
            </a:r>
            <a:endParaRPr lang="en-US" sz="1200" dirty="0"/>
          </a:p>
        </p:txBody>
      </p:sp>
      <p:sp>
        <p:nvSpPr>
          <p:cNvPr id="33" name="Shape 27"/>
          <p:cNvSpPr/>
          <p:nvPr/>
        </p:nvSpPr>
        <p:spPr>
          <a:xfrm>
            <a:off x="812800" y="6209705"/>
            <a:ext cx="10566400" cy="0"/>
          </a:xfrm>
          <a:prstGeom prst="line">
            <a:avLst/>
          </a:prstGeom>
          <a:noFill/>
          <a:ln w="6350">
            <a:solidFill>
              <a:srgbClr val="D3DAE1"/>
            </a:solidFill>
            <a:prstDash val="solid"/>
          </a:ln>
        </p:spPr>
      </p:sp>
      <p:sp>
        <p:nvSpPr>
          <p:cNvPr id="34" name="Text 2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5"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BF0F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0A5CA8"/>
                </a:solidFill>
                <a:latin typeface="IBM Plex Mono" pitchFamily="49" charset="0"/>
                <a:ea typeface="IBM Plex Mono" pitchFamily="49" charset="-122"/>
                <a:cs typeface="IBM Plex Mono" pitchFamily="49" charset="-120"/>
              </a:rPr>
              <a:t>05</a:t>
            </a:r>
            <a:endParaRPr lang="en-US" sz="14000" dirty="0"/>
          </a:p>
        </p:txBody>
      </p:sp>
      <p:sp>
        <p:nvSpPr>
          <p:cNvPr id="3" name="Text 1"/>
          <p:cNvSpPr/>
          <p:nvPr/>
        </p:nvSpPr>
        <p:spPr>
          <a:xfrm>
            <a:off x="4267200" y="1808559"/>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DEO PETI</a:t>
            </a:r>
            <a:endParaRPr lang="en-US" sz="1200" dirty="0"/>
          </a:p>
        </p:txBody>
      </p:sp>
      <p:sp>
        <p:nvSpPr>
          <p:cNvPr id="4" name="Text 2"/>
          <p:cNvSpPr/>
          <p:nvPr>
            <p:ph type="title"/>
          </p:nvPr>
        </p:nvSpPr>
        <p:spPr>
          <a:xfrm>
            <a:off x="4267200" y="219968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Bezbednost</a:t>
            </a:r>
            <a:endParaRPr lang="en-US" sz="4800" dirty="0"/>
          </a:p>
        </p:txBody>
      </p:sp>
      <p:sp>
        <p:nvSpPr>
          <p:cNvPr id="5" name="Text 3"/>
          <p:cNvSpPr/>
          <p:nvPr/>
        </p:nvSpPr>
        <p:spPr>
          <a:xfrm>
            <a:off x="4267200" y="301754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Specifičnosti zaštite operativne tehnologije, pretnje i vektori napada, odbrana u dubinu, detekcija i odgovor na incidente.</a:t>
            </a:r>
            <a:endParaRPr lang="en-US" sz="1400" dirty="0"/>
          </a:p>
        </p:txBody>
      </p:sp>
      <p:sp>
        <p:nvSpPr>
          <p:cNvPr id="6" name="Text 4"/>
          <p:cNvSpPr/>
          <p:nvPr/>
        </p:nvSpPr>
        <p:spPr>
          <a:xfrm>
            <a:off x="4270375" y="3714055"/>
            <a:ext cx="136346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Specifičnosti OT</a:t>
            </a:r>
            <a:endParaRPr lang="en-US" sz="1200" dirty="0"/>
          </a:p>
        </p:txBody>
      </p:sp>
      <p:sp>
        <p:nvSpPr>
          <p:cNvPr id="7" name="Text 5"/>
          <p:cNvSpPr/>
          <p:nvPr/>
        </p:nvSpPr>
        <p:spPr>
          <a:xfrm>
            <a:off x="5716389" y="3714055"/>
            <a:ext cx="1286768"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Vektori napada</a:t>
            </a:r>
            <a:endParaRPr lang="en-US" sz="1200" dirty="0"/>
          </a:p>
        </p:txBody>
      </p:sp>
      <p:sp>
        <p:nvSpPr>
          <p:cNvPr id="8" name="Text 6"/>
          <p:cNvSpPr/>
          <p:nvPr/>
        </p:nvSpPr>
        <p:spPr>
          <a:xfrm>
            <a:off x="7085707" y="3714055"/>
            <a:ext cx="1640979"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Napadi na protokole</a:t>
            </a:r>
            <a:endParaRPr lang="en-US" sz="1200" dirty="0"/>
          </a:p>
        </p:txBody>
      </p:sp>
      <p:sp>
        <p:nvSpPr>
          <p:cNvPr id="9" name="Text 7"/>
          <p:cNvSpPr/>
          <p:nvPr/>
        </p:nvSpPr>
        <p:spPr>
          <a:xfrm>
            <a:off x="8809236" y="3714055"/>
            <a:ext cx="132536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ATT&amp;CK for ICS</a:t>
            </a:r>
            <a:endParaRPr lang="en-US" sz="1200" dirty="0"/>
          </a:p>
        </p:txBody>
      </p:sp>
      <p:sp>
        <p:nvSpPr>
          <p:cNvPr id="10" name="Text 8"/>
          <p:cNvSpPr/>
          <p:nvPr/>
        </p:nvSpPr>
        <p:spPr>
          <a:xfrm>
            <a:off x="4270375" y="4117876"/>
            <a:ext cx="1122065"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Zone i kanali</a:t>
            </a:r>
            <a:endParaRPr lang="en-US" sz="1200" dirty="0"/>
          </a:p>
        </p:txBody>
      </p:sp>
      <p:sp>
        <p:nvSpPr>
          <p:cNvPr id="11" name="Text 9"/>
          <p:cNvSpPr/>
          <p:nvPr/>
        </p:nvSpPr>
        <p:spPr>
          <a:xfrm>
            <a:off x="5474990" y="4117876"/>
            <a:ext cx="1482824"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Odbrana u dubinu</a:t>
            </a:r>
            <a:endParaRPr lang="en-US" sz="1200" dirty="0"/>
          </a:p>
        </p:txBody>
      </p:sp>
      <p:sp>
        <p:nvSpPr>
          <p:cNvPr id="12" name="Text 10"/>
          <p:cNvSpPr/>
          <p:nvPr/>
        </p:nvSpPr>
        <p:spPr>
          <a:xfrm>
            <a:off x="7040364" y="4117876"/>
            <a:ext cx="1597521"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Detekcija anomalija</a:t>
            </a:r>
            <a:endParaRPr lang="en-US" sz="1200" dirty="0"/>
          </a:p>
        </p:txBody>
      </p:sp>
      <p:sp>
        <p:nvSpPr>
          <p:cNvPr id="13" name="Text 11"/>
          <p:cNvSpPr/>
          <p:nvPr/>
        </p:nvSpPr>
        <p:spPr>
          <a:xfrm>
            <a:off x="8720435" y="4117876"/>
            <a:ext cx="924421"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Ranjivosti</a:t>
            </a:r>
            <a:endParaRPr lang="en-US" sz="1200" dirty="0"/>
          </a:p>
        </p:txBody>
      </p:sp>
      <p:sp>
        <p:nvSpPr>
          <p:cNvPr id="14" name="Text 12"/>
          <p:cNvSpPr/>
          <p:nvPr/>
        </p:nvSpPr>
        <p:spPr>
          <a:xfrm>
            <a:off x="9727406" y="4117876"/>
            <a:ext cx="87292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Incidenti</a:t>
            </a:r>
            <a:endParaRPr lang="en-US" sz="1200" dirty="0"/>
          </a:p>
        </p:txBody>
      </p:sp>
      <p:sp>
        <p:nvSpPr>
          <p:cNvPr id="15" name="Text 13"/>
          <p:cNvSpPr/>
          <p:nvPr/>
        </p:nvSpPr>
        <p:spPr>
          <a:xfrm>
            <a:off x="4270375" y="4521696"/>
            <a:ext cx="1709837"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Odgovor na incidente</a:t>
            </a:r>
            <a:endParaRPr lang="en-US" sz="1200" dirty="0"/>
          </a:p>
        </p:txBody>
      </p:sp>
      <p:sp>
        <p:nvSpPr>
          <p:cNvPr id="16" name="Text 14"/>
          <p:cNvSpPr/>
          <p:nvPr/>
        </p:nvSpPr>
        <p:spPr>
          <a:xfrm>
            <a:off x="6062762" y="4521696"/>
            <a:ext cx="975122" cy="321270"/>
          </a:xfrm>
          <a:prstGeom prst="roundRect">
            <a:avLst>
              <a:gd name="adj" fmla="val 50000"/>
            </a:avLst>
          </a:prstGeom>
          <a:solidFill>
            <a:srgbClr val="FCFCFB"/>
          </a:solidFill>
          <a:ln w="6350">
            <a:solidFill>
              <a:srgbClr val="C3CEDA"/>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Regulativa</a:t>
            </a:r>
            <a:endParaRPr lang="en-US" sz="1200" dirty="0"/>
          </a:p>
        </p:txBody>
      </p:sp>
      <p:sp>
        <p:nvSpPr>
          <p:cNvPr id="17" name="Shape 15"/>
          <p:cNvSpPr/>
          <p:nvPr/>
        </p:nvSpPr>
        <p:spPr>
          <a:xfrm>
            <a:off x="812800" y="6209705"/>
            <a:ext cx="10566400" cy="0"/>
          </a:xfrm>
          <a:prstGeom prst="line">
            <a:avLst/>
          </a:prstGeom>
          <a:noFill/>
          <a:ln w="6350">
            <a:solidFill>
              <a:srgbClr val="C3CEDA"/>
            </a:solidFill>
            <a:prstDash val="solid"/>
          </a:ln>
        </p:spPr>
      </p:sp>
      <p:sp>
        <p:nvSpPr>
          <p:cNvPr id="18" name="Text 16"/>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19" name="Text 1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Specifičnosti bezbednosti OT okruženja</a:t>
            </a:r>
            <a:endParaRPr lang="en-US" sz="3000" dirty="0"/>
          </a:p>
        </p:txBody>
      </p:sp>
      <p:sp>
        <p:nvSpPr>
          <p:cNvPr id="5" name="Shape 3"/>
          <p:cNvSpPr/>
          <p:nvPr/>
        </p:nvSpPr>
        <p:spPr>
          <a:xfrm>
            <a:off x="812800" y="1673820"/>
            <a:ext cx="10566400" cy="2845792"/>
          </a:xfrm>
          <a:prstGeom prst="roundRect">
            <a:avLst>
              <a:gd name="adj" fmla="val 3570"/>
            </a:avLst>
          </a:prstGeom>
          <a:solidFill>
            <a:srgbClr val="FCFCFB"/>
          </a:solidFill>
          <a:ln/>
        </p:spPr>
      </p:sp>
      <p:sp>
        <p:nvSpPr>
          <p:cNvPr id="6" name="Shape 4"/>
          <p:cNvSpPr/>
          <p:nvPr/>
        </p:nvSpPr>
        <p:spPr>
          <a:xfrm>
            <a:off x="812800" y="1673820"/>
            <a:ext cx="10566400" cy="2845792"/>
          </a:xfrm>
          <a:custGeom>
            <a:avLst/>
            <a:gdLst/>
            <a:ahLst/>
            <a:cxnLst/>
            <a:rect l="l" t="t" r="r" b="b"/>
            <a:pathLst>
              <a:path w="10566400" h="2845792">
                <a:moveTo>
                  <a:pt x="10464800" y="0"/>
                </a:moveTo>
                <a:lnTo>
                  <a:pt x="10464800" y="0"/>
                </a:lnTo>
                <a:arcTo hR="101600" wR="101600" stAng="16200000" swAng="5400000"/>
                <a:lnTo>
                  <a:pt x="10566400" y="2744192"/>
                </a:lnTo>
                <a:arcTo hR="101600" wR="101600" stAng="0" swAng="5400000"/>
                <a:lnTo>
                  <a:pt x="101600" y="2845792"/>
                </a:lnTo>
                <a:arcTo hR="101600" wR="101600" stAng="5400000" swAng="5400000"/>
                <a:lnTo>
                  <a:pt x="0" y="2744192"/>
                </a:lnTo>
                <a:arcTo hR="95250" wR="101600" stAng="10800000" swAng="-5400000"/>
                <a:lnTo>
                  <a:pt x="10464800" y="2839442"/>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2845792"/>
          </a:xfrm>
          <a:custGeom>
            <a:avLst/>
            <a:gdLst/>
            <a:ahLst/>
            <a:cxnLst/>
            <a:rect l="l" t="t" r="r" b="b"/>
            <a:pathLst>
              <a:path w="10566400" h="2845792">
                <a:moveTo>
                  <a:pt x="101600" y="2845792"/>
                </a:moveTo>
                <a:lnTo>
                  <a:pt x="101600" y="2845792"/>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744192"/>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2826742"/>
        </p:xfrm>
        <a:graphic>
          <a:graphicData uri="http://schemas.openxmlformats.org/drawingml/2006/table">
            <a:tbl>
              <a:tblPr/>
              <a:tblGrid>
                <a:gridCol w="2320417"/>
                <a:gridCol w="3797046"/>
                <a:gridCol w="4429887"/>
              </a:tblGrid>
              <a:tr h="40382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Obeležje</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IT sistemi</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OT i SCADA sistemi</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Životni vek</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3 do 5 godina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15 do 20 godina i duže</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Zakrpe</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Redovne, često automatske</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Retke, uz planiran zastoj i prethodno testiranje</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Vremenski zahtevi</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Kašnjenje je uglavnom prihvatljivo</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Odziv u realnom vremenu je obavezan</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Protokoli</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Autentifikacija i šifrovanje uobičajeni</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Nasleđeni protokoli bez autentifikacije</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Bezbednosni alati</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Antivirus i aktivno skeniranje</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Aktivno skeniranje može poremetiti uređaje</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0382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Posledica incidenta</a:t>
                      </a:r>
                      <a:endParaRPr lang="en-US" sz="1200" dirty="0">
                        <a:latin typeface="IBM Plex Sans" charset="0"/>
                        <a:ea typeface="IBM Plex Sans" charset="0"/>
                        <a:cs typeface="IBM Plex Sans" charset="0"/>
                      </a:endParaRPr>
                    </a:p>
                  </a:txBody>
                  <a:tcPr marL="177800" marR="177800" marT="88900" marB="889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Gubitak ili curenje podataka</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Fizička šteta, prekid usluge, ugrožavanje ljudi</a:t>
                      </a:r>
                      <a:endParaRPr lang="en-US" sz="1200" dirty="0">
                        <a:latin typeface="IBM Plex Sans" charset="0"/>
                        <a:ea typeface="IBM Plex Sans" charset="0"/>
                        <a:cs typeface="IBM Plex Sans" charset="0"/>
                      </a:endParaRPr>
                    </a:p>
                  </a:txBody>
                  <a:tcPr marL="177800" marR="177800" marT="88900" marB="889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Shape 6"/>
          <p:cNvSpPr/>
          <p:nvPr/>
        </p:nvSpPr>
        <p:spPr>
          <a:xfrm>
            <a:off x="812800" y="4773613"/>
            <a:ext cx="10566400" cy="508000"/>
          </a:xfrm>
          <a:prstGeom prst="roundRect">
            <a:avLst>
              <a:gd name="adj" fmla="val 15000"/>
            </a:avLst>
          </a:prstGeom>
          <a:solidFill>
            <a:srgbClr val="FBF1E6"/>
          </a:solidFill>
          <a:ln/>
        </p:spPr>
      </p:sp>
      <p:pic>
        <p:nvPicPr>
          <p:cNvPr id="10" name="Image 0" descr="Warning">    </p:cNvPr>
          <p:cNvPicPr>
            <a:picLocks noChangeAspect="1"/>
          </p:cNvPicPr>
          <p:nvPr/>
        </p:nvPicPr>
        <p:blipFill>
          <a:blip r:embed="rId1"/>
          <a:srcRect l="0" r="0" t="0" b="0"/>
          <a:stretch/>
        </p:blipFill>
        <p:spPr>
          <a:xfrm>
            <a:off x="990600" y="4900613"/>
            <a:ext cx="254000" cy="254000"/>
          </a:xfrm>
          <a:prstGeom prst="rect">
            <a:avLst/>
          </a:prstGeom>
        </p:spPr>
      </p:pic>
      <p:sp>
        <p:nvSpPr>
          <p:cNvPr id="11" name="Text 7"/>
          <p:cNvSpPr/>
          <p:nvPr/>
        </p:nvSpPr>
        <p:spPr>
          <a:xfrm>
            <a:off x="1371600" y="4920952"/>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Mere preuzete iz IT okruženja moraju se prilagoditi, jer i sama zaštitna mera može ugroziti dostupnost procesa.</a:t>
            </a:r>
            <a:endParaRPr lang="en-US" sz="1200" dirty="0"/>
          </a:p>
        </p:txBody>
      </p:sp>
      <p:sp>
        <p:nvSpPr>
          <p:cNvPr id="12" name="Shape 8"/>
          <p:cNvSpPr/>
          <p:nvPr/>
        </p:nvSpPr>
        <p:spPr>
          <a:xfrm>
            <a:off x="812800" y="6209705"/>
            <a:ext cx="10566400" cy="0"/>
          </a:xfrm>
          <a:prstGeom prst="line">
            <a:avLst/>
          </a:prstGeom>
          <a:noFill/>
          <a:ln w="6350">
            <a:solidFill>
              <a:srgbClr val="D3DAE1"/>
            </a:solidFill>
            <a:prstDash val="solid"/>
          </a:ln>
        </p:spPr>
      </p:sp>
      <p:sp>
        <p:nvSpPr>
          <p:cNvPr id="13" name="Text 9"/>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14"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Površina napada i vektori pristupa</a:t>
            </a:r>
            <a:endParaRPr lang="en-US" sz="3000" dirty="0"/>
          </a:p>
        </p:txBody>
      </p:sp>
      <p:sp>
        <p:nvSpPr>
          <p:cNvPr id="5" name="Shape 3"/>
          <p:cNvSpPr/>
          <p:nvPr/>
        </p:nvSpPr>
        <p:spPr>
          <a:xfrm>
            <a:off x="815975" y="1626195"/>
            <a:ext cx="3431084" cy="1596231"/>
          </a:xfrm>
          <a:prstGeom prst="roundRect">
            <a:avLst>
              <a:gd name="adj" fmla="val 6166"/>
            </a:avLst>
          </a:prstGeom>
          <a:solidFill>
            <a:srgbClr val="FCFCFB"/>
          </a:solidFill>
          <a:ln w="6350">
            <a:solidFill>
              <a:srgbClr val="D3DAE1"/>
            </a:solidFill>
            <a:prstDash val="solid"/>
          </a:ln>
        </p:spPr>
      </p:sp>
      <p:pic>
        <p:nvPicPr>
          <p:cNvPr id="6" name="Image 0" descr="Globe">    </p:cNvPr>
          <p:cNvPicPr>
            <a:picLocks noChangeAspect="1"/>
          </p:cNvPicPr>
          <p:nvPr/>
        </p:nvPicPr>
        <p:blipFill>
          <a:blip r:embed="rId1"/>
          <a:srcRect l="0" r="0" t="0" b="0"/>
          <a:stretch/>
        </p:blipFill>
        <p:spPr>
          <a:xfrm>
            <a:off x="1022350" y="1781770"/>
            <a:ext cx="279400" cy="279400"/>
          </a:xfrm>
          <a:prstGeom prst="rect">
            <a:avLst/>
          </a:prstGeom>
        </p:spPr>
      </p:pic>
      <p:sp>
        <p:nvSpPr>
          <p:cNvPr id="7" name="Text 4"/>
          <p:cNvSpPr/>
          <p:nvPr/>
        </p:nvSpPr>
        <p:spPr>
          <a:xfrm>
            <a:off x="1022350" y="2137370"/>
            <a:ext cx="31088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Udaljeni pristup</a:t>
            </a:r>
            <a:endParaRPr lang="en-US" sz="1400" dirty="0"/>
          </a:p>
        </p:txBody>
      </p:sp>
      <p:sp>
        <p:nvSpPr>
          <p:cNvPr id="8" name="Text 5"/>
          <p:cNvSpPr/>
          <p:nvPr/>
        </p:nvSpPr>
        <p:spPr>
          <a:xfrm>
            <a:off x="1022350" y="2426891"/>
            <a:ext cx="31088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VPN veze i alati za daljinsku podršku dobavljača, često sa slabim ili deljenim lozinkama.</a:t>
            </a:r>
            <a:endParaRPr lang="en-US" sz="1200" dirty="0"/>
          </a:p>
        </p:txBody>
      </p:sp>
      <p:sp>
        <p:nvSpPr>
          <p:cNvPr id="9" name="Shape 6"/>
          <p:cNvSpPr/>
          <p:nvPr/>
        </p:nvSpPr>
        <p:spPr>
          <a:xfrm>
            <a:off x="4380409" y="1626195"/>
            <a:ext cx="3431084" cy="1596231"/>
          </a:xfrm>
          <a:prstGeom prst="roundRect">
            <a:avLst>
              <a:gd name="adj" fmla="val 6166"/>
            </a:avLst>
          </a:prstGeom>
          <a:solidFill>
            <a:srgbClr val="FCFCFB"/>
          </a:solidFill>
          <a:ln w="6350">
            <a:solidFill>
              <a:srgbClr val="D3DAE1"/>
            </a:solidFill>
            <a:prstDash val="solid"/>
          </a:ln>
        </p:spPr>
      </p:sp>
      <p:pic>
        <p:nvPicPr>
          <p:cNvPr id="10" name="Image 1" descr="Link">    </p:cNvPr>
          <p:cNvPicPr>
            <a:picLocks noChangeAspect="1"/>
          </p:cNvPicPr>
          <p:nvPr/>
        </p:nvPicPr>
        <p:blipFill>
          <a:blip r:embed="rId2"/>
          <a:srcRect l="0" r="0" t="0" b="0"/>
          <a:stretch/>
        </p:blipFill>
        <p:spPr>
          <a:xfrm>
            <a:off x="4586784" y="1781770"/>
            <a:ext cx="279400" cy="279400"/>
          </a:xfrm>
          <a:prstGeom prst="rect">
            <a:avLst/>
          </a:prstGeom>
        </p:spPr>
      </p:pic>
      <p:sp>
        <p:nvSpPr>
          <p:cNvPr id="11" name="Text 7"/>
          <p:cNvSpPr/>
          <p:nvPr/>
        </p:nvSpPr>
        <p:spPr>
          <a:xfrm>
            <a:off x="4586784" y="2137370"/>
            <a:ext cx="31088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Poslovna mreža</a:t>
            </a:r>
            <a:endParaRPr lang="en-US" sz="1400" dirty="0"/>
          </a:p>
        </p:txBody>
      </p:sp>
      <p:sp>
        <p:nvSpPr>
          <p:cNvPr id="12" name="Text 8"/>
          <p:cNvSpPr/>
          <p:nvPr/>
        </p:nvSpPr>
        <p:spPr>
          <a:xfrm>
            <a:off x="4586784" y="2426891"/>
            <a:ext cx="31088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Kompromitovan kancelarijski računar kao polazna tačka za prelazak u OT mrežu.</a:t>
            </a:r>
            <a:endParaRPr lang="en-US" sz="1200" dirty="0"/>
          </a:p>
        </p:txBody>
      </p:sp>
      <p:sp>
        <p:nvSpPr>
          <p:cNvPr id="13" name="Shape 9"/>
          <p:cNvSpPr/>
          <p:nvPr/>
        </p:nvSpPr>
        <p:spPr>
          <a:xfrm>
            <a:off x="7944842" y="1626195"/>
            <a:ext cx="3431084" cy="1596231"/>
          </a:xfrm>
          <a:prstGeom prst="roundRect">
            <a:avLst>
              <a:gd name="adj" fmla="val 6166"/>
            </a:avLst>
          </a:prstGeom>
          <a:solidFill>
            <a:srgbClr val="FCFCFB"/>
          </a:solidFill>
          <a:ln w="6350">
            <a:solidFill>
              <a:srgbClr val="D3DAE1"/>
            </a:solidFill>
            <a:prstDash val="solid"/>
          </a:ln>
        </p:spPr>
      </p:sp>
      <p:pic>
        <p:nvPicPr>
          <p:cNvPr id="14" name="Image 2" descr="Wrench">    </p:cNvPr>
          <p:cNvPicPr>
            <a:picLocks noChangeAspect="1"/>
          </p:cNvPicPr>
          <p:nvPr/>
        </p:nvPicPr>
        <p:blipFill>
          <a:blip r:embed="rId3"/>
          <a:srcRect l="0" r="0" t="0" b="0"/>
          <a:stretch/>
        </p:blipFill>
        <p:spPr>
          <a:xfrm>
            <a:off x="8151217" y="1781770"/>
            <a:ext cx="279400" cy="279400"/>
          </a:xfrm>
          <a:prstGeom prst="rect">
            <a:avLst/>
          </a:prstGeom>
        </p:spPr>
      </p:pic>
      <p:sp>
        <p:nvSpPr>
          <p:cNvPr id="15" name="Text 10"/>
          <p:cNvSpPr/>
          <p:nvPr/>
        </p:nvSpPr>
        <p:spPr>
          <a:xfrm>
            <a:off x="8151217" y="2137370"/>
            <a:ext cx="31088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Prenosivi mediji</a:t>
            </a:r>
            <a:endParaRPr lang="en-US" sz="1400" dirty="0"/>
          </a:p>
        </p:txBody>
      </p:sp>
      <p:sp>
        <p:nvSpPr>
          <p:cNvPr id="16" name="Text 11"/>
          <p:cNvSpPr/>
          <p:nvPr/>
        </p:nvSpPr>
        <p:spPr>
          <a:xfrm>
            <a:off x="8151217" y="2426891"/>
            <a:ext cx="31088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USB uređaji i laptopovi servisera, put kojim je Stuxnet dospeo u izolovanu mrežu.</a:t>
            </a:r>
            <a:endParaRPr lang="en-US" sz="1200" dirty="0"/>
          </a:p>
        </p:txBody>
      </p:sp>
      <p:sp>
        <p:nvSpPr>
          <p:cNvPr id="17" name="Shape 12"/>
          <p:cNvSpPr/>
          <p:nvPr/>
        </p:nvSpPr>
        <p:spPr>
          <a:xfrm>
            <a:off x="815975" y="3355777"/>
            <a:ext cx="3431084" cy="1596231"/>
          </a:xfrm>
          <a:prstGeom prst="roundRect">
            <a:avLst>
              <a:gd name="adj" fmla="val 6166"/>
            </a:avLst>
          </a:prstGeom>
          <a:solidFill>
            <a:srgbClr val="FCFCFB"/>
          </a:solidFill>
          <a:ln w="6350">
            <a:solidFill>
              <a:srgbClr val="D3DAE1"/>
            </a:solidFill>
            <a:prstDash val="solid"/>
          </a:ln>
        </p:spPr>
      </p:sp>
      <p:pic>
        <p:nvPicPr>
          <p:cNvPr id="18" name="Image 3" descr="Settings">    </p:cNvPr>
          <p:cNvPicPr>
            <a:picLocks noChangeAspect="1"/>
          </p:cNvPicPr>
          <p:nvPr/>
        </p:nvPicPr>
        <p:blipFill>
          <a:blip r:embed="rId4"/>
          <a:srcRect l="0" r="0" t="0" b="0"/>
          <a:stretch/>
        </p:blipFill>
        <p:spPr>
          <a:xfrm>
            <a:off x="1022350" y="3511352"/>
            <a:ext cx="279400" cy="279400"/>
          </a:xfrm>
          <a:prstGeom prst="rect">
            <a:avLst/>
          </a:prstGeom>
        </p:spPr>
      </p:pic>
      <p:sp>
        <p:nvSpPr>
          <p:cNvPr id="19" name="Text 13"/>
          <p:cNvSpPr/>
          <p:nvPr/>
        </p:nvSpPr>
        <p:spPr>
          <a:xfrm>
            <a:off x="1022350" y="3866952"/>
            <a:ext cx="31088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Lanac snabdevanja</a:t>
            </a:r>
            <a:endParaRPr lang="en-US" sz="1400" dirty="0"/>
          </a:p>
        </p:txBody>
      </p:sp>
      <p:sp>
        <p:nvSpPr>
          <p:cNvPr id="20" name="Text 14"/>
          <p:cNvSpPr/>
          <p:nvPr/>
        </p:nvSpPr>
        <p:spPr>
          <a:xfrm>
            <a:off x="1022350" y="4156472"/>
            <a:ext cx="31088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Kompromitovan softver, firmver ili ažuriranje koje isporučuje proizvođač opreme.</a:t>
            </a:r>
            <a:endParaRPr lang="en-US" sz="1200" dirty="0"/>
          </a:p>
        </p:txBody>
      </p:sp>
      <p:sp>
        <p:nvSpPr>
          <p:cNvPr id="21" name="Shape 15"/>
          <p:cNvSpPr/>
          <p:nvPr/>
        </p:nvSpPr>
        <p:spPr>
          <a:xfrm>
            <a:off x="4380409" y="3355777"/>
            <a:ext cx="3431084" cy="1596231"/>
          </a:xfrm>
          <a:prstGeom prst="roundRect">
            <a:avLst>
              <a:gd name="adj" fmla="val 6166"/>
            </a:avLst>
          </a:prstGeom>
          <a:solidFill>
            <a:srgbClr val="FCFCFB"/>
          </a:solidFill>
          <a:ln w="6350">
            <a:solidFill>
              <a:srgbClr val="D3DAE1"/>
            </a:solidFill>
            <a:prstDash val="solid"/>
          </a:ln>
        </p:spPr>
      </p:sp>
      <p:pic>
        <p:nvPicPr>
          <p:cNvPr id="22" name="Image 4" descr="Search">    </p:cNvPr>
          <p:cNvPicPr>
            <a:picLocks noChangeAspect="1"/>
          </p:cNvPicPr>
          <p:nvPr/>
        </p:nvPicPr>
        <p:blipFill>
          <a:blip r:embed="rId5"/>
          <a:srcRect l="0" r="0" t="0" b="0"/>
          <a:stretch/>
        </p:blipFill>
        <p:spPr>
          <a:xfrm>
            <a:off x="4586784" y="3511352"/>
            <a:ext cx="279400" cy="279400"/>
          </a:xfrm>
          <a:prstGeom prst="rect">
            <a:avLst/>
          </a:prstGeom>
        </p:spPr>
      </p:pic>
      <p:sp>
        <p:nvSpPr>
          <p:cNvPr id="23" name="Text 16"/>
          <p:cNvSpPr/>
          <p:nvPr/>
        </p:nvSpPr>
        <p:spPr>
          <a:xfrm>
            <a:off x="4586784" y="3866952"/>
            <a:ext cx="31088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Izloženost internetu</a:t>
            </a:r>
            <a:endParaRPr lang="en-US" sz="1400" dirty="0"/>
          </a:p>
        </p:txBody>
      </p:sp>
      <p:sp>
        <p:nvSpPr>
          <p:cNvPr id="24" name="Text 17"/>
          <p:cNvSpPr/>
          <p:nvPr/>
        </p:nvSpPr>
        <p:spPr>
          <a:xfrm>
            <a:off x="4586784" y="4156472"/>
            <a:ext cx="31088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Kontroleri i HMI dostupni sa javnih adresa, koje pronalaze pretraživači poput Shodana.</a:t>
            </a:r>
            <a:endParaRPr lang="en-US" sz="1200" dirty="0"/>
          </a:p>
        </p:txBody>
      </p:sp>
      <p:sp>
        <p:nvSpPr>
          <p:cNvPr id="25" name="Shape 18"/>
          <p:cNvSpPr/>
          <p:nvPr/>
        </p:nvSpPr>
        <p:spPr>
          <a:xfrm>
            <a:off x="7944842" y="3355777"/>
            <a:ext cx="3431084" cy="1596231"/>
          </a:xfrm>
          <a:prstGeom prst="roundRect">
            <a:avLst>
              <a:gd name="adj" fmla="val 6166"/>
            </a:avLst>
          </a:prstGeom>
          <a:solidFill>
            <a:srgbClr val="FCFCFB"/>
          </a:solidFill>
          <a:ln w="6350">
            <a:solidFill>
              <a:srgbClr val="D3DAE1"/>
            </a:solidFill>
            <a:prstDash val="solid"/>
          </a:ln>
        </p:spPr>
      </p:sp>
      <p:pic>
        <p:nvPicPr>
          <p:cNvPr id="26" name="Image 5" descr="Users">    </p:cNvPr>
          <p:cNvPicPr>
            <a:picLocks noChangeAspect="1"/>
          </p:cNvPicPr>
          <p:nvPr/>
        </p:nvPicPr>
        <p:blipFill>
          <a:blip r:embed="rId6"/>
          <a:srcRect l="0" r="0" t="0" b="0"/>
          <a:stretch/>
        </p:blipFill>
        <p:spPr>
          <a:xfrm>
            <a:off x="8151217" y="3511352"/>
            <a:ext cx="279400" cy="279400"/>
          </a:xfrm>
          <a:prstGeom prst="rect">
            <a:avLst/>
          </a:prstGeom>
        </p:spPr>
      </p:pic>
      <p:sp>
        <p:nvSpPr>
          <p:cNvPr id="27" name="Text 19"/>
          <p:cNvSpPr/>
          <p:nvPr/>
        </p:nvSpPr>
        <p:spPr>
          <a:xfrm>
            <a:off x="8151217" y="3866952"/>
            <a:ext cx="310888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Unutrašnji akteri</a:t>
            </a:r>
            <a:endParaRPr lang="en-US" sz="1400" dirty="0"/>
          </a:p>
        </p:txBody>
      </p:sp>
      <p:sp>
        <p:nvSpPr>
          <p:cNvPr id="28" name="Text 20"/>
          <p:cNvSpPr/>
          <p:nvPr/>
        </p:nvSpPr>
        <p:spPr>
          <a:xfrm>
            <a:off x="8151217" y="4156472"/>
            <a:ext cx="31088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Sadašnji ili bivši zaposleni i saradnici sa legitimnim pristupom i znanjem o sistemu.</a:t>
            </a:r>
            <a:endParaRPr lang="en-US" sz="1200" dirty="0"/>
          </a:p>
        </p:txBody>
      </p:sp>
      <p:sp>
        <p:nvSpPr>
          <p:cNvPr id="29" name="Shape 21"/>
          <p:cNvSpPr/>
          <p:nvPr/>
        </p:nvSpPr>
        <p:spPr>
          <a:xfrm>
            <a:off x="812800" y="5158383"/>
            <a:ext cx="10566400" cy="508000"/>
          </a:xfrm>
          <a:prstGeom prst="roundRect">
            <a:avLst>
              <a:gd name="adj" fmla="val 15000"/>
            </a:avLst>
          </a:prstGeom>
          <a:solidFill>
            <a:srgbClr val="DCE8F4"/>
          </a:solidFill>
          <a:ln/>
        </p:spPr>
      </p:sp>
      <p:pic>
        <p:nvPicPr>
          <p:cNvPr id="30" name="Image 6" descr="Lightbulb">    </p:cNvPr>
          <p:cNvPicPr>
            <a:picLocks noChangeAspect="1"/>
          </p:cNvPicPr>
          <p:nvPr/>
        </p:nvPicPr>
        <p:blipFill>
          <a:blip r:embed="rId7"/>
          <a:srcRect l="0" r="0" t="0" b="0"/>
          <a:stretch/>
        </p:blipFill>
        <p:spPr>
          <a:xfrm>
            <a:off x="990600" y="5285383"/>
            <a:ext cx="254000" cy="254000"/>
          </a:xfrm>
          <a:prstGeom prst="rect">
            <a:avLst/>
          </a:prstGeom>
        </p:spPr>
      </p:pic>
      <p:sp>
        <p:nvSpPr>
          <p:cNvPr id="31" name="Text 22"/>
          <p:cNvSpPr/>
          <p:nvPr/>
        </p:nvSpPr>
        <p:spPr>
          <a:xfrm>
            <a:off x="1371600" y="5305723"/>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Napadi na OT često počinju u IT okruženju, pa je granica između IT i OT mreže ključna linija odbrane.</a:t>
            </a:r>
            <a:endParaRPr lang="en-US" sz="1200" dirty="0"/>
          </a:p>
        </p:txBody>
      </p:sp>
      <p:sp>
        <p:nvSpPr>
          <p:cNvPr id="32" name="Shape 23"/>
          <p:cNvSpPr/>
          <p:nvPr/>
        </p:nvSpPr>
        <p:spPr>
          <a:xfrm>
            <a:off x="812800" y="6209705"/>
            <a:ext cx="10566400" cy="0"/>
          </a:xfrm>
          <a:prstGeom prst="line">
            <a:avLst/>
          </a:prstGeom>
          <a:noFill/>
          <a:ln w="6350">
            <a:solidFill>
              <a:srgbClr val="D3DAE1"/>
            </a:solidFill>
            <a:prstDash val="solid"/>
          </a:ln>
        </p:spPr>
      </p:sp>
      <p:sp>
        <p:nvSpPr>
          <p:cNvPr id="33" name="Text 24"/>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4"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Napadi na industrijske protokole</a:t>
            </a:r>
            <a:endParaRPr lang="en-US" sz="3000" dirty="0"/>
          </a:p>
        </p:txBody>
      </p:sp>
      <p:sp>
        <p:nvSpPr>
          <p:cNvPr id="5" name="Shape 3"/>
          <p:cNvSpPr/>
          <p:nvPr/>
        </p:nvSpPr>
        <p:spPr>
          <a:xfrm>
            <a:off x="819150" y="1781770"/>
            <a:ext cx="1892300" cy="1003300"/>
          </a:xfrm>
          <a:prstGeom prst="roundRect">
            <a:avLst>
              <a:gd name="adj" fmla="val 6962"/>
            </a:avLst>
          </a:prstGeom>
          <a:solidFill>
            <a:srgbClr val="DCE8F4"/>
          </a:solidFill>
          <a:ln w="12700">
            <a:solidFill>
              <a:srgbClr val="0A5CA8"/>
            </a:solidFill>
            <a:prstDash val="solid"/>
          </a:ln>
        </p:spPr>
      </p:sp>
      <p:pic>
        <p:nvPicPr>
          <p:cNvPr id="6" name="Image 0" descr="Database">    </p:cNvPr>
          <p:cNvPicPr>
            <a:picLocks noChangeAspect="1"/>
          </p:cNvPicPr>
          <p:nvPr/>
        </p:nvPicPr>
        <p:blipFill>
          <a:blip r:embed="rId1"/>
          <a:srcRect l="0" r="0" t="0" b="0"/>
          <a:stretch/>
        </p:blipFill>
        <p:spPr>
          <a:xfrm>
            <a:off x="1651000" y="2049760"/>
            <a:ext cx="228600" cy="228600"/>
          </a:xfrm>
          <a:prstGeom prst="rect">
            <a:avLst/>
          </a:prstGeom>
        </p:spPr>
      </p:pic>
      <p:sp>
        <p:nvSpPr>
          <p:cNvPr id="7" name="Text 4"/>
          <p:cNvSpPr/>
          <p:nvPr/>
        </p:nvSpPr>
        <p:spPr>
          <a:xfrm>
            <a:off x="1178808" y="2303760"/>
            <a:ext cx="117288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SCADA server</a:t>
            </a:r>
            <a:endParaRPr lang="en-US" sz="1200" dirty="0"/>
          </a:p>
        </p:txBody>
      </p:sp>
      <p:sp>
        <p:nvSpPr>
          <p:cNvPr id="8" name="Shape 5"/>
          <p:cNvSpPr/>
          <p:nvPr/>
        </p:nvSpPr>
        <p:spPr>
          <a:xfrm>
            <a:off x="5149850" y="1781770"/>
            <a:ext cx="1892300" cy="1003300"/>
          </a:xfrm>
          <a:prstGeom prst="roundRect">
            <a:avLst>
              <a:gd name="adj" fmla="val 6962"/>
            </a:avLst>
          </a:prstGeom>
          <a:solidFill>
            <a:srgbClr val="FBF1E6"/>
          </a:solidFill>
          <a:ln w="12700">
            <a:solidFill>
              <a:srgbClr val="E07B1F"/>
            </a:solidFill>
            <a:prstDash val="dash"/>
          </a:ln>
        </p:spPr>
      </p:sp>
      <p:pic>
        <p:nvPicPr>
          <p:cNvPr id="9" name="Image 1" descr="Warning">    </p:cNvPr>
          <p:cNvPicPr>
            <a:picLocks noChangeAspect="1"/>
          </p:cNvPicPr>
          <p:nvPr/>
        </p:nvPicPr>
        <p:blipFill>
          <a:blip r:embed="rId2"/>
          <a:srcRect l="0" r="0" t="0" b="0"/>
          <a:stretch/>
        </p:blipFill>
        <p:spPr>
          <a:xfrm>
            <a:off x="5981700" y="2049760"/>
            <a:ext cx="228600" cy="228600"/>
          </a:xfrm>
          <a:prstGeom prst="rect">
            <a:avLst/>
          </a:prstGeom>
        </p:spPr>
      </p:pic>
      <p:sp>
        <p:nvSpPr>
          <p:cNvPr id="10" name="Text 6"/>
          <p:cNvSpPr/>
          <p:nvPr/>
        </p:nvSpPr>
        <p:spPr>
          <a:xfrm>
            <a:off x="5384721" y="2303760"/>
            <a:ext cx="142255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8520A"/>
                </a:solidFill>
                <a:latin typeface="IBM Plex Sans" pitchFamily="34" charset="0"/>
                <a:ea typeface="IBM Plex Sans" pitchFamily="34" charset="-122"/>
                <a:cs typeface="IBM Plex Sans" pitchFamily="34" charset="-120"/>
              </a:rPr>
              <a:t>Napadač u mreži</a:t>
            </a:r>
            <a:endParaRPr lang="en-US" sz="1200" dirty="0"/>
          </a:p>
        </p:txBody>
      </p:sp>
      <p:sp>
        <p:nvSpPr>
          <p:cNvPr id="11" name="Shape 7"/>
          <p:cNvSpPr/>
          <p:nvPr/>
        </p:nvSpPr>
        <p:spPr>
          <a:xfrm>
            <a:off x="9480550" y="1781770"/>
            <a:ext cx="1892300" cy="1003300"/>
          </a:xfrm>
          <a:prstGeom prst="roundRect">
            <a:avLst>
              <a:gd name="adj" fmla="val 6962"/>
            </a:avLst>
          </a:prstGeom>
          <a:solidFill>
            <a:srgbClr val="FCFCFB"/>
          </a:solidFill>
          <a:ln w="12700">
            <a:solidFill>
              <a:srgbClr val="13202D"/>
            </a:solidFill>
            <a:prstDash val="solid"/>
          </a:ln>
        </p:spPr>
      </p:sp>
      <p:pic>
        <p:nvPicPr>
          <p:cNvPr id="12" name="Image 2" descr="Settings">    </p:cNvPr>
          <p:cNvPicPr>
            <a:picLocks noChangeAspect="1"/>
          </p:cNvPicPr>
          <p:nvPr/>
        </p:nvPicPr>
        <p:blipFill>
          <a:blip r:embed="rId3"/>
          <a:srcRect l="0" r="0" t="0" b="0"/>
          <a:stretch/>
        </p:blipFill>
        <p:spPr>
          <a:xfrm>
            <a:off x="10312400" y="2049760"/>
            <a:ext cx="228600" cy="228600"/>
          </a:xfrm>
          <a:prstGeom prst="rect">
            <a:avLst/>
          </a:prstGeom>
        </p:spPr>
      </p:pic>
      <p:sp>
        <p:nvSpPr>
          <p:cNvPr id="13" name="Text 8"/>
          <p:cNvSpPr/>
          <p:nvPr/>
        </p:nvSpPr>
        <p:spPr>
          <a:xfrm>
            <a:off x="10265013" y="2303760"/>
            <a:ext cx="32337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PLC</a:t>
            </a:r>
            <a:endParaRPr lang="en-US" sz="1200" dirty="0"/>
          </a:p>
        </p:txBody>
      </p:sp>
      <p:pic>
        <p:nvPicPr>
          <p:cNvPr id="14" name="Image 3" descr="connector">    </p:cNvPr>
          <p:cNvPicPr>
            <a:picLocks noChangeAspect="1"/>
          </p:cNvPicPr>
          <p:nvPr/>
        </p:nvPicPr>
        <p:blipFill>
          <a:blip r:embed="rId4"/>
          <a:srcRect l="0" r="0" t="0" b="0"/>
          <a:stretch/>
        </p:blipFill>
        <p:spPr>
          <a:xfrm>
            <a:off x="2667000" y="2042120"/>
            <a:ext cx="2527300" cy="101600"/>
          </a:xfrm>
          <a:prstGeom prst="rect">
            <a:avLst/>
          </a:prstGeom>
        </p:spPr>
      </p:pic>
      <p:pic>
        <p:nvPicPr>
          <p:cNvPr id="15" name="Image 4" descr="connector">    </p:cNvPr>
          <p:cNvPicPr>
            <a:picLocks noChangeAspect="1"/>
          </p:cNvPicPr>
          <p:nvPr/>
        </p:nvPicPr>
        <p:blipFill>
          <a:blip r:embed="rId5"/>
          <a:srcRect l="0" r="0" t="0" b="0"/>
          <a:stretch/>
        </p:blipFill>
        <p:spPr>
          <a:xfrm>
            <a:off x="6997700" y="2042120"/>
            <a:ext cx="2527300" cy="101600"/>
          </a:xfrm>
          <a:prstGeom prst="rect">
            <a:avLst/>
          </a:prstGeom>
        </p:spPr>
      </p:pic>
      <p:pic>
        <p:nvPicPr>
          <p:cNvPr id="16" name="Image 5" descr="connector">    </p:cNvPr>
          <p:cNvPicPr>
            <a:picLocks noChangeAspect="1"/>
          </p:cNvPicPr>
          <p:nvPr/>
        </p:nvPicPr>
        <p:blipFill>
          <a:blip r:embed="rId6"/>
          <a:srcRect l="0" r="0" t="0" b="0"/>
          <a:stretch/>
        </p:blipFill>
        <p:spPr>
          <a:xfrm>
            <a:off x="6997700" y="2423120"/>
            <a:ext cx="2527300" cy="101600"/>
          </a:xfrm>
          <a:prstGeom prst="rect">
            <a:avLst/>
          </a:prstGeom>
        </p:spPr>
      </p:pic>
      <p:pic>
        <p:nvPicPr>
          <p:cNvPr id="17" name="Image 6" descr="connector">    </p:cNvPr>
          <p:cNvPicPr>
            <a:picLocks noChangeAspect="1"/>
          </p:cNvPicPr>
          <p:nvPr/>
        </p:nvPicPr>
        <p:blipFill>
          <a:blip r:embed="rId7"/>
          <a:srcRect l="0" r="0" t="0" b="0"/>
          <a:stretch/>
        </p:blipFill>
        <p:spPr>
          <a:xfrm>
            <a:off x="2667000" y="2423120"/>
            <a:ext cx="2527300" cy="101600"/>
          </a:xfrm>
          <a:prstGeom prst="rect">
            <a:avLst/>
          </a:prstGeom>
        </p:spPr>
      </p:pic>
      <p:sp>
        <p:nvSpPr>
          <p:cNvPr id="18" name="Text 9"/>
          <p:cNvSpPr/>
          <p:nvPr/>
        </p:nvSpPr>
        <p:spPr>
          <a:xfrm>
            <a:off x="2746820" y="1800820"/>
            <a:ext cx="236766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legitimna komanda</a:t>
            </a:r>
            <a:endParaRPr lang="en-US" sz="1200" dirty="0"/>
          </a:p>
        </p:txBody>
      </p:sp>
      <p:sp>
        <p:nvSpPr>
          <p:cNvPr id="19" name="Text 10"/>
          <p:cNvSpPr/>
          <p:nvPr/>
        </p:nvSpPr>
        <p:spPr>
          <a:xfrm>
            <a:off x="7077520" y="1800820"/>
            <a:ext cx="236766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izmenjena komanda</a:t>
            </a:r>
            <a:endParaRPr lang="en-US" sz="1200" dirty="0"/>
          </a:p>
        </p:txBody>
      </p:sp>
      <p:sp>
        <p:nvSpPr>
          <p:cNvPr id="20" name="Text 11"/>
          <p:cNvSpPr/>
          <p:nvPr/>
        </p:nvSpPr>
        <p:spPr>
          <a:xfrm>
            <a:off x="7077520" y="2537420"/>
            <a:ext cx="236766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stvarna vrednost</a:t>
            </a:r>
            <a:endParaRPr lang="en-US" sz="1200" dirty="0"/>
          </a:p>
        </p:txBody>
      </p:sp>
      <p:sp>
        <p:nvSpPr>
          <p:cNvPr id="21" name="Text 12"/>
          <p:cNvSpPr/>
          <p:nvPr/>
        </p:nvSpPr>
        <p:spPr>
          <a:xfrm>
            <a:off x="2746820" y="2537420"/>
            <a:ext cx="236766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lažna vrednost</a:t>
            </a:r>
            <a:endParaRPr lang="en-US" sz="1200" dirty="0"/>
          </a:p>
        </p:txBody>
      </p:sp>
      <p:sp>
        <p:nvSpPr>
          <p:cNvPr id="22" name="Shape 13"/>
          <p:cNvSpPr/>
          <p:nvPr/>
        </p:nvSpPr>
        <p:spPr>
          <a:xfrm>
            <a:off x="815975" y="3150195"/>
            <a:ext cx="2025650" cy="1634331"/>
          </a:xfrm>
          <a:prstGeom prst="roundRect">
            <a:avLst>
              <a:gd name="adj" fmla="val 6022"/>
            </a:avLst>
          </a:prstGeom>
          <a:solidFill>
            <a:srgbClr val="FCFCFB"/>
          </a:solidFill>
          <a:ln w="6350">
            <a:solidFill>
              <a:srgbClr val="D3DAE1"/>
            </a:solidFill>
            <a:prstDash val="solid"/>
          </a:ln>
        </p:spPr>
      </p:sp>
      <p:sp>
        <p:nvSpPr>
          <p:cNvPr id="23" name="Text 14"/>
          <p:cNvSpPr/>
          <p:nvPr/>
        </p:nvSpPr>
        <p:spPr>
          <a:xfrm>
            <a:off x="971550" y="3293070"/>
            <a:ext cx="1765935"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Neovlašćena komanda</a:t>
            </a:r>
            <a:endParaRPr lang="en-US" sz="1400" dirty="0"/>
          </a:p>
        </p:txBody>
      </p:sp>
      <p:sp>
        <p:nvSpPr>
          <p:cNvPr id="24" name="Text 15"/>
          <p:cNvSpPr/>
          <p:nvPr/>
        </p:nvSpPr>
        <p:spPr>
          <a:xfrm>
            <a:off x="971550" y="3788370"/>
            <a:ext cx="176593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Protokol bez autentifikacije prihvata upis od bilo kog učesnika.</a:t>
            </a:r>
            <a:endParaRPr lang="en-US" sz="1200" dirty="0"/>
          </a:p>
        </p:txBody>
      </p:sp>
      <p:sp>
        <p:nvSpPr>
          <p:cNvPr id="25" name="Shape 16"/>
          <p:cNvSpPr/>
          <p:nvPr/>
        </p:nvSpPr>
        <p:spPr>
          <a:xfrm>
            <a:off x="2949575" y="3150195"/>
            <a:ext cx="2025650" cy="1634331"/>
          </a:xfrm>
          <a:prstGeom prst="roundRect">
            <a:avLst>
              <a:gd name="adj" fmla="val 6022"/>
            </a:avLst>
          </a:prstGeom>
          <a:solidFill>
            <a:srgbClr val="FCFCFB"/>
          </a:solidFill>
          <a:ln w="6350">
            <a:solidFill>
              <a:srgbClr val="D3DAE1"/>
            </a:solidFill>
            <a:prstDash val="solid"/>
          </a:ln>
        </p:spPr>
      </p:sp>
      <p:sp>
        <p:nvSpPr>
          <p:cNvPr id="26" name="Text 17"/>
          <p:cNvSpPr/>
          <p:nvPr/>
        </p:nvSpPr>
        <p:spPr>
          <a:xfrm>
            <a:off x="3105150" y="3293070"/>
            <a:ext cx="17659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Ponavljanje poruka</a:t>
            </a:r>
            <a:endParaRPr lang="en-US" sz="1400" dirty="0"/>
          </a:p>
        </p:txBody>
      </p:sp>
      <p:sp>
        <p:nvSpPr>
          <p:cNvPr id="27" name="Text 18"/>
          <p:cNvSpPr/>
          <p:nvPr/>
        </p:nvSpPr>
        <p:spPr>
          <a:xfrm>
            <a:off x="3105150" y="3566120"/>
            <a:ext cx="1765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Snimljena legitimna komanda šalje se ponovo (engl. </a:t>
            </a:r>
            <a:r>
              <a:rPr lang="en-US" sz="1200" i="1" dirty="0">
                <a:solidFill>
                  <a:srgbClr val="44505D"/>
                </a:solidFill>
                <a:latin typeface="IBM Plex Sans" pitchFamily="34" charset="0"/>
                <a:ea typeface="IBM Plex Sans" pitchFamily="34" charset="-122"/>
                <a:cs typeface="IBM Plex Sans" pitchFamily="34" charset="-120"/>
              </a:rPr>
              <a:t>replay</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28" name="Shape 19"/>
          <p:cNvSpPr/>
          <p:nvPr/>
        </p:nvSpPr>
        <p:spPr>
          <a:xfrm>
            <a:off x="5083175" y="3150195"/>
            <a:ext cx="2025650" cy="1634331"/>
          </a:xfrm>
          <a:prstGeom prst="roundRect">
            <a:avLst>
              <a:gd name="adj" fmla="val 6022"/>
            </a:avLst>
          </a:prstGeom>
          <a:solidFill>
            <a:srgbClr val="FCFCFB"/>
          </a:solidFill>
          <a:ln w="6350">
            <a:solidFill>
              <a:srgbClr val="D3DAE1"/>
            </a:solidFill>
            <a:prstDash val="solid"/>
          </a:ln>
        </p:spPr>
      </p:sp>
      <p:sp>
        <p:nvSpPr>
          <p:cNvPr id="29" name="Text 20"/>
          <p:cNvSpPr/>
          <p:nvPr/>
        </p:nvSpPr>
        <p:spPr>
          <a:xfrm>
            <a:off x="5238750" y="3293070"/>
            <a:ext cx="17659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Čovek u sredini</a:t>
            </a:r>
            <a:endParaRPr lang="en-US" sz="1400" dirty="0"/>
          </a:p>
        </p:txBody>
      </p:sp>
      <p:sp>
        <p:nvSpPr>
          <p:cNvPr id="30" name="Text 21"/>
          <p:cNvSpPr/>
          <p:nvPr/>
        </p:nvSpPr>
        <p:spPr>
          <a:xfrm>
            <a:off x="5238750" y="3566120"/>
            <a:ext cx="1765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Presretanje i izmena komandi i izmerenih vrednosti.</a:t>
            </a:r>
            <a:endParaRPr lang="en-US" sz="1200" dirty="0"/>
          </a:p>
        </p:txBody>
      </p:sp>
      <p:sp>
        <p:nvSpPr>
          <p:cNvPr id="31" name="Shape 22"/>
          <p:cNvSpPr/>
          <p:nvPr/>
        </p:nvSpPr>
        <p:spPr>
          <a:xfrm>
            <a:off x="7216775" y="3150195"/>
            <a:ext cx="2025650" cy="1634331"/>
          </a:xfrm>
          <a:prstGeom prst="roundRect">
            <a:avLst>
              <a:gd name="adj" fmla="val 6022"/>
            </a:avLst>
          </a:prstGeom>
          <a:solidFill>
            <a:srgbClr val="FCFCFB"/>
          </a:solidFill>
          <a:ln w="6350">
            <a:solidFill>
              <a:srgbClr val="D3DAE1"/>
            </a:solidFill>
            <a:prstDash val="solid"/>
          </a:ln>
        </p:spPr>
      </p:sp>
      <p:sp>
        <p:nvSpPr>
          <p:cNvPr id="32" name="Text 23"/>
          <p:cNvSpPr/>
          <p:nvPr/>
        </p:nvSpPr>
        <p:spPr>
          <a:xfrm>
            <a:off x="7372350" y="3293070"/>
            <a:ext cx="17659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Lažni podaci</a:t>
            </a:r>
            <a:endParaRPr lang="en-US" sz="1400" dirty="0"/>
          </a:p>
        </p:txBody>
      </p:sp>
      <p:sp>
        <p:nvSpPr>
          <p:cNvPr id="33" name="Text 24"/>
          <p:cNvSpPr/>
          <p:nvPr/>
        </p:nvSpPr>
        <p:spPr>
          <a:xfrm>
            <a:off x="7372350" y="3566120"/>
            <a:ext cx="1765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Operater vidi normalno stanje dok proces odstupa.</a:t>
            </a:r>
            <a:endParaRPr lang="en-US" sz="1200" dirty="0"/>
          </a:p>
        </p:txBody>
      </p:sp>
      <p:sp>
        <p:nvSpPr>
          <p:cNvPr id="34" name="Shape 25"/>
          <p:cNvSpPr/>
          <p:nvPr/>
        </p:nvSpPr>
        <p:spPr>
          <a:xfrm>
            <a:off x="9350375" y="3150195"/>
            <a:ext cx="2025650" cy="1634331"/>
          </a:xfrm>
          <a:prstGeom prst="roundRect">
            <a:avLst>
              <a:gd name="adj" fmla="val 6022"/>
            </a:avLst>
          </a:prstGeom>
          <a:solidFill>
            <a:srgbClr val="FCFCFB"/>
          </a:solidFill>
          <a:ln w="6350">
            <a:solidFill>
              <a:srgbClr val="D3DAE1"/>
            </a:solidFill>
            <a:prstDash val="solid"/>
          </a:ln>
        </p:spPr>
      </p:sp>
      <p:sp>
        <p:nvSpPr>
          <p:cNvPr id="35" name="Text 26"/>
          <p:cNvSpPr/>
          <p:nvPr/>
        </p:nvSpPr>
        <p:spPr>
          <a:xfrm>
            <a:off x="9505950" y="3293070"/>
            <a:ext cx="17659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Uskraćivanje usluge</a:t>
            </a:r>
            <a:endParaRPr lang="en-US" sz="1400" dirty="0"/>
          </a:p>
        </p:txBody>
      </p:sp>
      <p:sp>
        <p:nvSpPr>
          <p:cNvPr id="36" name="Text 27"/>
          <p:cNvSpPr/>
          <p:nvPr/>
        </p:nvSpPr>
        <p:spPr>
          <a:xfrm>
            <a:off x="9505950" y="3566120"/>
            <a:ext cx="17659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Preopterećenje uređaja ili prekid komunikacije.</a:t>
            </a:r>
            <a:endParaRPr lang="en-US" sz="1200" dirty="0"/>
          </a:p>
        </p:txBody>
      </p:sp>
      <p:sp>
        <p:nvSpPr>
          <p:cNvPr id="37" name="Shape 28"/>
          <p:cNvSpPr/>
          <p:nvPr/>
        </p:nvSpPr>
        <p:spPr>
          <a:xfrm>
            <a:off x="812800" y="5016302"/>
            <a:ext cx="10566400" cy="508000"/>
          </a:xfrm>
          <a:prstGeom prst="roundRect">
            <a:avLst>
              <a:gd name="adj" fmla="val 15000"/>
            </a:avLst>
          </a:prstGeom>
          <a:solidFill>
            <a:srgbClr val="DCE8F4"/>
          </a:solidFill>
          <a:ln/>
        </p:spPr>
      </p:sp>
      <p:pic>
        <p:nvPicPr>
          <p:cNvPr id="38" name="Image 7" descr="Lock">    </p:cNvPr>
          <p:cNvPicPr>
            <a:picLocks noChangeAspect="1"/>
          </p:cNvPicPr>
          <p:nvPr/>
        </p:nvPicPr>
        <p:blipFill>
          <a:blip r:embed="rId8"/>
          <a:srcRect l="0" r="0" t="0" b="0"/>
          <a:stretch/>
        </p:blipFill>
        <p:spPr>
          <a:xfrm>
            <a:off x="990600" y="5143302"/>
            <a:ext cx="254000" cy="254000"/>
          </a:xfrm>
          <a:prstGeom prst="rect">
            <a:avLst/>
          </a:prstGeom>
        </p:spPr>
      </p:pic>
      <p:sp>
        <p:nvSpPr>
          <p:cNvPr id="39" name="Text 29"/>
          <p:cNvSpPr/>
          <p:nvPr/>
        </p:nvSpPr>
        <p:spPr>
          <a:xfrm>
            <a:off x="1371600" y="5163641"/>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Zaštita: autentifikacija poruka (DNP3 SA, OPC UA), segmentacija, nadzor saobraćaja i provera fizičke usklađenosti vrednosti.</a:t>
            </a:r>
            <a:endParaRPr lang="en-US" sz="1200" dirty="0"/>
          </a:p>
        </p:txBody>
      </p:sp>
      <p:sp>
        <p:nvSpPr>
          <p:cNvPr id="40" name="Shape 30"/>
          <p:cNvSpPr/>
          <p:nvPr/>
        </p:nvSpPr>
        <p:spPr>
          <a:xfrm>
            <a:off x="812800" y="6209705"/>
            <a:ext cx="10566400" cy="0"/>
          </a:xfrm>
          <a:prstGeom prst="line">
            <a:avLst/>
          </a:prstGeom>
          <a:noFill/>
          <a:ln w="6350">
            <a:solidFill>
              <a:srgbClr val="D3DAE1"/>
            </a:solidFill>
            <a:prstDash val="solid"/>
          </a:ln>
        </p:spPr>
      </p:sp>
      <p:sp>
        <p:nvSpPr>
          <p:cNvPr id="41" name="Text 31"/>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42" name="Text 3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MITRE ATT&amp;CK for ICS: taktike napadača</a:t>
            </a:r>
            <a:endParaRPr lang="en-US" sz="3000" dirty="0"/>
          </a:p>
        </p:txBody>
      </p:sp>
      <p:sp>
        <p:nvSpPr>
          <p:cNvPr id="5" name="Shape 3"/>
          <p:cNvSpPr/>
          <p:nvPr/>
        </p:nvSpPr>
        <p:spPr>
          <a:xfrm>
            <a:off x="815975" y="1676995"/>
            <a:ext cx="1670050" cy="1143992"/>
          </a:xfrm>
          <a:prstGeom prst="roundRect">
            <a:avLst>
              <a:gd name="adj" fmla="val 7493"/>
            </a:avLst>
          </a:prstGeom>
          <a:solidFill>
            <a:srgbClr val="FCFCFB"/>
          </a:solidFill>
          <a:ln w="6350">
            <a:solidFill>
              <a:srgbClr val="D3DAE1"/>
            </a:solidFill>
            <a:prstDash val="solid"/>
          </a:ln>
        </p:spPr>
      </p:sp>
      <p:sp>
        <p:nvSpPr>
          <p:cNvPr id="6" name="Text 4"/>
          <p:cNvSpPr/>
          <p:nvPr/>
        </p:nvSpPr>
        <p:spPr>
          <a:xfrm>
            <a:off x="946150" y="1807170"/>
            <a:ext cx="146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01</a:t>
            </a:r>
            <a:endParaRPr lang="en-US" sz="1200" dirty="0"/>
          </a:p>
        </p:txBody>
      </p:sp>
      <p:sp>
        <p:nvSpPr>
          <p:cNvPr id="7" name="Text 5"/>
          <p:cNvSpPr/>
          <p:nvPr/>
        </p:nvSpPr>
        <p:spPr>
          <a:xfrm>
            <a:off x="946150" y="2058591"/>
            <a:ext cx="14605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Početni pristup</a:t>
            </a:r>
            <a:endParaRPr lang="en-US" sz="1200" dirty="0"/>
          </a:p>
        </p:txBody>
      </p:sp>
      <p:sp>
        <p:nvSpPr>
          <p:cNvPr id="8" name="Text 6"/>
          <p:cNvSpPr/>
          <p:nvPr/>
        </p:nvSpPr>
        <p:spPr>
          <a:xfrm>
            <a:off x="946150" y="2294731"/>
            <a:ext cx="14605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Initial Access</a:t>
            </a:r>
            <a:endParaRPr lang="en-US" sz="1200" dirty="0"/>
          </a:p>
        </p:txBody>
      </p:sp>
      <p:sp>
        <p:nvSpPr>
          <p:cNvPr id="9" name="Shape 7"/>
          <p:cNvSpPr/>
          <p:nvPr/>
        </p:nvSpPr>
        <p:spPr>
          <a:xfrm>
            <a:off x="2593975" y="1676995"/>
            <a:ext cx="1670050" cy="1143992"/>
          </a:xfrm>
          <a:prstGeom prst="roundRect">
            <a:avLst>
              <a:gd name="adj" fmla="val 7493"/>
            </a:avLst>
          </a:prstGeom>
          <a:solidFill>
            <a:srgbClr val="FCFCFB"/>
          </a:solidFill>
          <a:ln w="6350">
            <a:solidFill>
              <a:srgbClr val="D3DAE1"/>
            </a:solidFill>
            <a:prstDash val="solid"/>
          </a:ln>
        </p:spPr>
      </p:sp>
      <p:sp>
        <p:nvSpPr>
          <p:cNvPr id="10" name="Text 8"/>
          <p:cNvSpPr/>
          <p:nvPr/>
        </p:nvSpPr>
        <p:spPr>
          <a:xfrm>
            <a:off x="2724150" y="1807170"/>
            <a:ext cx="146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02</a:t>
            </a:r>
            <a:endParaRPr lang="en-US" sz="1200" dirty="0"/>
          </a:p>
        </p:txBody>
      </p:sp>
      <p:sp>
        <p:nvSpPr>
          <p:cNvPr id="11" name="Text 9"/>
          <p:cNvSpPr/>
          <p:nvPr/>
        </p:nvSpPr>
        <p:spPr>
          <a:xfrm>
            <a:off x="2724150" y="2058591"/>
            <a:ext cx="14605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Izvršavanje</a:t>
            </a:r>
            <a:endParaRPr lang="en-US" sz="1200" dirty="0"/>
          </a:p>
        </p:txBody>
      </p:sp>
      <p:sp>
        <p:nvSpPr>
          <p:cNvPr id="12" name="Text 10"/>
          <p:cNvSpPr/>
          <p:nvPr/>
        </p:nvSpPr>
        <p:spPr>
          <a:xfrm>
            <a:off x="2724150" y="2294731"/>
            <a:ext cx="14605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Execution</a:t>
            </a:r>
            <a:endParaRPr lang="en-US" sz="1200" dirty="0"/>
          </a:p>
        </p:txBody>
      </p:sp>
      <p:sp>
        <p:nvSpPr>
          <p:cNvPr id="13" name="Shape 11"/>
          <p:cNvSpPr/>
          <p:nvPr/>
        </p:nvSpPr>
        <p:spPr>
          <a:xfrm>
            <a:off x="4371975" y="1676995"/>
            <a:ext cx="1670050" cy="1143992"/>
          </a:xfrm>
          <a:prstGeom prst="roundRect">
            <a:avLst>
              <a:gd name="adj" fmla="val 7493"/>
            </a:avLst>
          </a:prstGeom>
          <a:solidFill>
            <a:srgbClr val="FCFCFB"/>
          </a:solidFill>
          <a:ln w="6350">
            <a:solidFill>
              <a:srgbClr val="D3DAE1"/>
            </a:solidFill>
            <a:prstDash val="solid"/>
          </a:ln>
        </p:spPr>
      </p:sp>
      <p:sp>
        <p:nvSpPr>
          <p:cNvPr id="14" name="Text 12"/>
          <p:cNvSpPr/>
          <p:nvPr/>
        </p:nvSpPr>
        <p:spPr>
          <a:xfrm>
            <a:off x="4502150" y="1807170"/>
            <a:ext cx="146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03</a:t>
            </a:r>
            <a:endParaRPr lang="en-US" sz="1200" dirty="0"/>
          </a:p>
        </p:txBody>
      </p:sp>
      <p:sp>
        <p:nvSpPr>
          <p:cNvPr id="15" name="Text 13"/>
          <p:cNvSpPr/>
          <p:nvPr/>
        </p:nvSpPr>
        <p:spPr>
          <a:xfrm>
            <a:off x="4502150" y="2058591"/>
            <a:ext cx="14605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Održavanje prisustva</a:t>
            </a:r>
            <a:endParaRPr lang="en-US" sz="1200" dirty="0"/>
          </a:p>
        </p:txBody>
      </p:sp>
      <p:sp>
        <p:nvSpPr>
          <p:cNvPr id="16" name="Text 14"/>
          <p:cNvSpPr/>
          <p:nvPr/>
        </p:nvSpPr>
        <p:spPr>
          <a:xfrm>
            <a:off x="4502150" y="2492772"/>
            <a:ext cx="14605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Persistence</a:t>
            </a:r>
            <a:endParaRPr lang="en-US" sz="1200" dirty="0"/>
          </a:p>
        </p:txBody>
      </p:sp>
      <p:sp>
        <p:nvSpPr>
          <p:cNvPr id="17" name="Shape 15"/>
          <p:cNvSpPr/>
          <p:nvPr/>
        </p:nvSpPr>
        <p:spPr>
          <a:xfrm>
            <a:off x="6149975" y="1676995"/>
            <a:ext cx="1670050" cy="1143992"/>
          </a:xfrm>
          <a:prstGeom prst="roundRect">
            <a:avLst>
              <a:gd name="adj" fmla="val 7493"/>
            </a:avLst>
          </a:prstGeom>
          <a:solidFill>
            <a:srgbClr val="FCFCFB"/>
          </a:solidFill>
          <a:ln w="6350">
            <a:solidFill>
              <a:srgbClr val="D3DAE1"/>
            </a:solidFill>
            <a:prstDash val="solid"/>
          </a:ln>
        </p:spPr>
      </p:sp>
      <p:sp>
        <p:nvSpPr>
          <p:cNvPr id="18" name="Text 16"/>
          <p:cNvSpPr/>
          <p:nvPr/>
        </p:nvSpPr>
        <p:spPr>
          <a:xfrm>
            <a:off x="6280150" y="1807170"/>
            <a:ext cx="146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04</a:t>
            </a:r>
            <a:endParaRPr lang="en-US" sz="1200" dirty="0"/>
          </a:p>
        </p:txBody>
      </p:sp>
      <p:sp>
        <p:nvSpPr>
          <p:cNvPr id="19" name="Text 17"/>
          <p:cNvSpPr/>
          <p:nvPr/>
        </p:nvSpPr>
        <p:spPr>
          <a:xfrm>
            <a:off x="6280150" y="2058591"/>
            <a:ext cx="14605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Eskalacija privilegija</a:t>
            </a:r>
            <a:endParaRPr lang="en-US" sz="1200" dirty="0"/>
          </a:p>
        </p:txBody>
      </p:sp>
      <p:sp>
        <p:nvSpPr>
          <p:cNvPr id="20" name="Text 18"/>
          <p:cNvSpPr/>
          <p:nvPr/>
        </p:nvSpPr>
        <p:spPr>
          <a:xfrm>
            <a:off x="6280150" y="2492772"/>
            <a:ext cx="14605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Privilege Escalation</a:t>
            </a:r>
            <a:endParaRPr lang="en-US" sz="1200" dirty="0"/>
          </a:p>
        </p:txBody>
      </p:sp>
      <p:sp>
        <p:nvSpPr>
          <p:cNvPr id="21" name="Shape 19"/>
          <p:cNvSpPr/>
          <p:nvPr/>
        </p:nvSpPr>
        <p:spPr>
          <a:xfrm>
            <a:off x="7927975" y="1676995"/>
            <a:ext cx="1670050" cy="1143992"/>
          </a:xfrm>
          <a:prstGeom prst="roundRect">
            <a:avLst>
              <a:gd name="adj" fmla="val 7493"/>
            </a:avLst>
          </a:prstGeom>
          <a:solidFill>
            <a:srgbClr val="FCFCFB"/>
          </a:solidFill>
          <a:ln w="6350">
            <a:solidFill>
              <a:srgbClr val="D3DAE1"/>
            </a:solidFill>
            <a:prstDash val="solid"/>
          </a:ln>
        </p:spPr>
      </p:sp>
      <p:sp>
        <p:nvSpPr>
          <p:cNvPr id="22" name="Text 20"/>
          <p:cNvSpPr/>
          <p:nvPr/>
        </p:nvSpPr>
        <p:spPr>
          <a:xfrm>
            <a:off x="8058150" y="1807170"/>
            <a:ext cx="146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05</a:t>
            </a:r>
            <a:endParaRPr lang="en-US" sz="1200" dirty="0"/>
          </a:p>
        </p:txBody>
      </p:sp>
      <p:sp>
        <p:nvSpPr>
          <p:cNvPr id="23" name="Text 21"/>
          <p:cNvSpPr/>
          <p:nvPr/>
        </p:nvSpPr>
        <p:spPr>
          <a:xfrm>
            <a:off x="8058150" y="2058591"/>
            <a:ext cx="14605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Izbegavanje detekcije</a:t>
            </a:r>
            <a:endParaRPr lang="en-US" sz="1200" dirty="0"/>
          </a:p>
        </p:txBody>
      </p:sp>
      <p:sp>
        <p:nvSpPr>
          <p:cNvPr id="24" name="Text 22"/>
          <p:cNvSpPr/>
          <p:nvPr/>
        </p:nvSpPr>
        <p:spPr>
          <a:xfrm>
            <a:off x="8058150" y="2492772"/>
            <a:ext cx="14605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Evasion</a:t>
            </a:r>
            <a:endParaRPr lang="en-US" sz="1200" dirty="0"/>
          </a:p>
        </p:txBody>
      </p:sp>
      <p:sp>
        <p:nvSpPr>
          <p:cNvPr id="25" name="Shape 23"/>
          <p:cNvSpPr/>
          <p:nvPr/>
        </p:nvSpPr>
        <p:spPr>
          <a:xfrm>
            <a:off x="9705975" y="1676995"/>
            <a:ext cx="1670050" cy="1143992"/>
          </a:xfrm>
          <a:prstGeom prst="roundRect">
            <a:avLst>
              <a:gd name="adj" fmla="val 7493"/>
            </a:avLst>
          </a:prstGeom>
          <a:solidFill>
            <a:srgbClr val="FCFCFB"/>
          </a:solidFill>
          <a:ln w="6350">
            <a:solidFill>
              <a:srgbClr val="D3DAE1"/>
            </a:solidFill>
            <a:prstDash val="solid"/>
          </a:ln>
        </p:spPr>
      </p:sp>
      <p:sp>
        <p:nvSpPr>
          <p:cNvPr id="26" name="Text 24"/>
          <p:cNvSpPr/>
          <p:nvPr/>
        </p:nvSpPr>
        <p:spPr>
          <a:xfrm>
            <a:off x="9836150" y="1807170"/>
            <a:ext cx="146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06</a:t>
            </a:r>
            <a:endParaRPr lang="en-US" sz="1200" dirty="0"/>
          </a:p>
        </p:txBody>
      </p:sp>
      <p:sp>
        <p:nvSpPr>
          <p:cNvPr id="27" name="Text 25"/>
          <p:cNvSpPr/>
          <p:nvPr/>
        </p:nvSpPr>
        <p:spPr>
          <a:xfrm>
            <a:off x="9836150" y="2058591"/>
            <a:ext cx="14605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Izviđanje</a:t>
            </a:r>
            <a:endParaRPr lang="en-US" sz="1200" dirty="0"/>
          </a:p>
        </p:txBody>
      </p:sp>
      <p:sp>
        <p:nvSpPr>
          <p:cNvPr id="28" name="Text 26"/>
          <p:cNvSpPr/>
          <p:nvPr/>
        </p:nvSpPr>
        <p:spPr>
          <a:xfrm>
            <a:off x="9836150" y="2294731"/>
            <a:ext cx="14605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Discovery</a:t>
            </a:r>
            <a:endParaRPr lang="en-US" sz="1200" dirty="0"/>
          </a:p>
        </p:txBody>
      </p:sp>
      <p:sp>
        <p:nvSpPr>
          <p:cNvPr id="29" name="Shape 27"/>
          <p:cNvSpPr/>
          <p:nvPr/>
        </p:nvSpPr>
        <p:spPr>
          <a:xfrm>
            <a:off x="815975" y="2928938"/>
            <a:ext cx="1670050" cy="1552773"/>
          </a:xfrm>
          <a:prstGeom prst="roundRect">
            <a:avLst>
              <a:gd name="adj" fmla="val 5521"/>
            </a:avLst>
          </a:prstGeom>
          <a:solidFill>
            <a:srgbClr val="FCFCFB"/>
          </a:solidFill>
          <a:ln w="6350">
            <a:solidFill>
              <a:srgbClr val="D3DAE1"/>
            </a:solidFill>
            <a:prstDash val="solid"/>
          </a:ln>
        </p:spPr>
      </p:sp>
      <p:sp>
        <p:nvSpPr>
          <p:cNvPr id="30" name="Text 28"/>
          <p:cNvSpPr/>
          <p:nvPr/>
        </p:nvSpPr>
        <p:spPr>
          <a:xfrm>
            <a:off x="946150" y="3059113"/>
            <a:ext cx="146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07</a:t>
            </a:r>
            <a:endParaRPr lang="en-US" sz="1200" dirty="0"/>
          </a:p>
        </p:txBody>
      </p:sp>
      <p:sp>
        <p:nvSpPr>
          <p:cNvPr id="31" name="Text 29"/>
          <p:cNvSpPr/>
          <p:nvPr/>
        </p:nvSpPr>
        <p:spPr>
          <a:xfrm>
            <a:off x="946150" y="3310533"/>
            <a:ext cx="14605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Lateralno kretanje</a:t>
            </a:r>
            <a:endParaRPr lang="en-US" sz="1200" dirty="0"/>
          </a:p>
        </p:txBody>
      </p:sp>
      <p:sp>
        <p:nvSpPr>
          <p:cNvPr id="32" name="Text 30"/>
          <p:cNvSpPr/>
          <p:nvPr/>
        </p:nvSpPr>
        <p:spPr>
          <a:xfrm>
            <a:off x="946150" y="3546673"/>
            <a:ext cx="14605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Lateral Movement</a:t>
            </a:r>
            <a:endParaRPr lang="en-US" sz="1200" dirty="0"/>
          </a:p>
        </p:txBody>
      </p:sp>
      <p:sp>
        <p:nvSpPr>
          <p:cNvPr id="33" name="Shape 31"/>
          <p:cNvSpPr/>
          <p:nvPr/>
        </p:nvSpPr>
        <p:spPr>
          <a:xfrm>
            <a:off x="2593975" y="2928938"/>
            <a:ext cx="1670050" cy="1552773"/>
          </a:xfrm>
          <a:prstGeom prst="roundRect">
            <a:avLst>
              <a:gd name="adj" fmla="val 5521"/>
            </a:avLst>
          </a:prstGeom>
          <a:solidFill>
            <a:srgbClr val="FCFCFB"/>
          </a:solidFill>
          <a:ln w="6350">
            <a:solidFill>
              <a:srgbClr val="D3DAE1"/>
            </a:solidFill>
            <a:prstDash val="solid"/>
          </a:ln>
        </p:spPr>
      </p:sp>
      <p:sp>
        <p:nvSpPr>
          <p:cNvPr id="34" name="Text 32"/>
          <p:cNvSpPr/>
          <p:nvPr/>
        </p:nvSpPr>
        <p:spPr>
          <a:xfrm>
            <a:off x="2724150" y="3059113"/>
            <a:ext cx="146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08</a:t>
            </a:r>
            <a:endParaRPr lang="en-US" sz="1200" dirty="0"/>
          </a:p>
        </p:txBody>
      </p:sp>
      <p:sp>
        <p:nvSpPr>
          <p:cNvPr id="35" name="Text 33"/>
          <p:cNvSpPr/>
          <p:nvPr/>
        </p:nvSpPr>
        <p:spPr>
          <a:xfrm>
            <a:off x="2724150" y="3310533"/>
            <a:ext cx="14605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Prikupljanje podataka</a:t>
            </a:r>
            <a:endParaRPr lang="en-US" sz="1200" dirty="0"/>
          </a:p>
        </p:txBody>
      </p:sp>
      <p:sp>
        <p:nvSpPr>
          <p:cNvPr id="36" name="Text 34"/>
          <p:cNvSpPr/>
          <p:nvPr/>
        </p:nvSpPr>
        <p:spPr>
          <a:xfrm>
            <a:off x="2724150" y="3744714"/>
            <a:ext cx="14605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Collection</a:t>
            </a:r>
            <a:endParaRPr lang="en-US" sz="1200" dirty="0"/>
          </a:p>
        </p:txBody>
      </p:sp>
      <p:sp>
        <p:nvSpPr>
          <p:cNvPr id="37" name="Shape 35"/>
          <p:cNvSpPr/>
          <p:nvPr/>
        </p:nvSpPr>
        <p:spPr>
          <a:xfrm>
            <a:off x="4371975" y="2928938"/>
            <a:ext cx="1670050" cy="1552773"/>
          </a:xfrm>
          <a:prstGeom prst="roundRect">
            <a:avLst>
              <a:gd name="adj" fmla="val 5521"/>
            </a:avLst>
          </a:prstGeom>
          <a:solidFill>
            <a:srgbClr val="FCFCFB"/>
          </a:solidFill>
          <a:ln w="6350">
            <a:solidFill>
              <a:srgbClr val="D3DAE1"/>
            </a:solidFill>
            <a:prstDash val="solid"/>
          </a:ln>
        </p:spPr>
      </p:sp>
      <p:sp>
        <p:nvSpPr>
          <p:cNvPr id="38" name="Text 36"/>
          <p:cNvSpPr/>
          <p:nvPr/>
        </p:nvSpPr>
        <p:spPr>
          <a:xfrm>
            <a:off x="4502150" y="3059113"/>
            <a:ext cx="146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09</a:t>
            </a:r>
            <a:endParaRPr lang="en-US" sz="1200" dirty="0"/>
          </a:p>
        </p:txBody>
      </p:sp>
      <p:sp>
        <p:nvSpPr>
          <p:cNvPr id="39" name="Text 37"/>
          <p:cNvSpPr/>
          <p:nvPr/>
        </p:nvSpPr>
        <p:spPr>
          <a:xfrm>
            <a:off x="4502150" y="3310533"/>
            <a:ext cx="14605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Komandovanje i kontrola</a:t>
            </a:r>
            <a:endParaRPr lang="en-US" sz="1200" dirty="0"/>
          </a:p>
        </p:txBody>
      </p:sp>
      <p:sp>
        <p:nvSpPr>
          <p:cNvPr id="40" name="Text 38"/>
          <p:cNvSpPr/>
          <p:nvPr/>
        </p:nvSpPr>
        <p:spPr>
          <a:xfrm>
            <a:off x="4502150" y="3744714"/>
            <a:ext cx="14605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Command and Control</a:t>
            </a:r>
            <a:endParaRPr lang="en-US" sz="1200" dirty="0"/>
          </a:p>
        </p:txBody>
      </p:sp>
      <p:sp>
        <p:nvSpPr>
          <p:cNvPr id="41" name="Shape 39"/>
          <p:cNvSpPr/>
          <p:nvPr/>
        </p:nvSpPr>
        <p:spPr>
          <a:xfrm>
            <a:off x="6153150" y="2932113"/>
            <a:ext cx="1663700" cy="1546423"/>
          </a:xfrm>
          <a:prstGeom prst="roundRect">
            <a:avLst>
              <a:gd name="adj" fmla="val 5338"/>
            </a:avLst>
          </a:prstGeom>
          <a:solidFill>
            <a:srgbClr val="FBF1E6"/>
          </a:solidFill>
          <a:ln w="12700">
            <a:solidFill>
              <a:srgbClr val="E07B1F"/>
            </a:solidFill>
            <a:prstDash val="solid"/>
          </a:ln>
        </p:spPr>
      </p:sp>
      <p:sp>
        <p:nvSpPr>
          <p:cNvPr id="42" name="Text 40"/>
          <p:cNvSpPr/>
          <p:nvPr/>
        </p:nvSpPr>
        <p:spPr>
          <a:xfrm>
            <a:off x="6286500" y="3065463"/>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10</a:t>
            </a:r>
            <a:endParaRPr lang="en-US" sz="1200" dirty="0"/>
          </a:p>
        </p:txBody>
      </p:sp>
      <p:sp>
        <p:nvSpPr>
          <p:cNvPr id="43" name="Text 41"/>
          <p:cNvSpPr/>
          <p:nvPr/>
        </p:nvSpPr>
        <p:spPr>
          <a:xfrm>
            <a:off x="6286500" y="3316883"/>
            <a:ext cx="14478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Onemogućavanje zaštitnih funkcija</a:t>
            </a:r>
            <a:endParaRPr lang="en-US" sz="1200" dirty="0"/>
          </a:p>
        </p:txBody>
      </p:sp>
      <p:sp>
        <p:nvSpPr>
          <p:cNvPr id="44" name="Text 42"/>
          <p:cNvSpPr/>
          <p:nvPr/>
        </p:nvSpPr>
        <p:spPr>
          <a:xfrm>
            <a:off x="6286500" y="3751064"/>
            <a:ext cx="14478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Inhibit Response Function</a:t>
            </a:r>
            <a:endParaRPr lang="en-US" sz="1200" dirty="0"/>
          </a:p>
        </p:txBody>
      </p:sp>
      <p:sp>
        <p:nvSpPr>
          <p:cNvPr id="45" name="Shape 43"/>
          <p:cNvSpPr/>
          <p:nvPr/>
        </p:nvSpPr>
        <p:spPr>
          <a:xfrm>
            <a:off x="7931150" y="2932113"/>
            <a:ext cx="1663700" cy="1546423"/>
          </a:xfrm>
          <a:prstGeom prst="roundRect">
            <a:avLst>
              <a:gd name="adj" fmla="val 5338"/>
            </a:avLst>
          </a:prstGeom>
          <a:solidFill>
            <a:srgbClr val="FBF1E6"/>
          </a:solidFill>
          <a:ln w="12700">
            <a:solidFill>
              <a:srgbClr val="E07B1F"/>
            </a:solidFill>
            <a:prstDash val="solid"/>
          </a:ln>
        </p:spPr>
      </p:sp>
      <p:sp>
        <p:nvSpPr>
          <p:cNvPr id="46" name="Text 44"/>
          <p:cNvSpPr/>
          <p:nvPr/>
        </p:nvSpPr>
        <p:spPr>
          <a:xfrm>
            <a:off x="8064500" y="3065463"/>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11</a:t>
            </a:r>
            <a:endParaRPr lang="en-US" sz="1200" dirty="0"/>
          </a:p>
        </p:txBody>
      </p:sp>
      <p:sp>
        <p:nvSpPr>
          <p:cNvPr id="47" name="Text 45"/>
          <p:cNvSpPr/>
          <p:nvPr/>
        </p:nvSpPr>
        <p:spPr>
          <a:xfrm>
            <a:off x="8064500" y="3316883"/>
            <a:ext cx="1447800" cy="619522"/>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Narušavanje upravljanja procesom</a:t>
            </a:r>
            <a:endParaRPr lang="en-US" sz="1200" dirty="0"/>
          </a:p>
        </p:txBody>
      </p:sp>
      <p:sp>
        <p:nvSpPr>
          <p:cNvPr id="48" name="Text 46"/>
          <p:cNvSpPr/>
          <p:nvPr/>
        </p:nvSpPr>
        <p:spPr>
          <a:xfrm>
            <a:off x="8064500" y="3949105"/>
            <a:ext cx="14478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Impair Process Control</a:t>
            </a:r>
            <a:endParaRPr lang="en-US" sz="1200" dirty="0"/>
          </a:p>
        </p:txBody>
      </p:sp>
      <p:sp>
        <p:nvSpPr>
          <p:cNvPr id="49" name="Shape 47"/>
          <p:cNvSpPr/>
          <p:nvPr/>
        </p:nvSpPr>
        <p:spPr>
          <a:xfrm>
            <a:off x="9705975" y="2928938"/>
            <a:ext cx="1670050" cy="1552773"/>
          </a:xfrm>
          <a:prstGeom prst="roundRect">
            <a:avLst>
              <a:gd name="adj" fmla="val 5521"/>
            </a:avLst>
          </a:prstGeom>
          <a:solidFill>
            <a:srgbClr val="FCFCFB"/>
          </a:solidFill>
          <a:ln w="6350">
            <a:solidFill>
              <a:srgbClr val="D3DAE1"/>
            </a:solidFill>
            <a:prstDash val="solid"/>
          </a:ln>
        </p:spPr>
      </p:sp>
      <p:sp>
        <p:nvSpPr>
          <p:cNvPr id="50" name="Text 48"/>
          <p:cNvSpPr/>
          <p:nvPr/>
        </p:nvSpPr>
        <p:spPr>
          <a:xfrm>
            <a:off x="9836150" y="3059113"/>
            <a:ext cx="146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12</a:t>
            </a:r>
            <a:endParaRPr lang="en-US" sz="1200" dirty="0"/>
          </a:p>
        </p:txBody>
      </p:sp>
      <p:sp>
        <p:nvSpPr>
          <p:cNvPr id="51" name="Text 49"/>
          <p:cNvSpPr/>
          <p:nvPr/>
        </p:nvSpPr>
        <p:spPr>
          <a:xfrm>
            <a:off x="9836150" y="3310533"/>
            <a:ext cx="14605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3202D"/>
                </a:solidFill>
                <a:latin typeface="IBM Plex Sans" pitchFamily="34" charset="0"/>
                <a:ea typeface="IBM Plex Sans" pitchFamily="34" charset="-122"/>
                <a:cs typeface="IBM Plex Sans" pitchFamily="34" charset="-120"/>
              </a:rPr>
              <a:t>Posledice</a:t>
            </a:r>
            <a:endParaRPr lang="en-US" sz="1200" dirty="0"/>
          </a:p>
        </p:txBody>
      </p:sp>
      <p:sp>
        <p:nvSpPr>
          <p:cNvPr id="52" name="Text 50"/>
          <p:cNvSpPr/>
          <p:nvPr/>
        </p:nvSpPr>
        <p:spPr>
          <a:xfrm>
            <a:off x="9836150" y="3546673"/>
            <a:ext cx="14605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975"/>
                </a:solidFill>
                <a:latin typeface="IBM Plex Sans" pitchFamily="34" charset="0"/>
                <a:ea typeface="IBM Plex Sans" pitchFamily="34" charset="-122"/>
                <a:cs typeface="IBM Plex Sans" pitchFamily="34" charset="-120"/>
              </a:rPr>
              <a:t>Impact</a:t>
            </a:r>
            <a:endParaRPr lang="en-US" sz="1200" dirty="0"/>
          </a:p>
        </p:txBody>
      </p:sp>
      <p:sp>
        <p:nvSpPr>
          <p:cNvPr id="53" name="Text 51"/>
          <p:cNvSpPr/>
          <p:nvPr/>
        </p:nvSpPr>
        <p:spPr>
          <a:xfrm>
            <a:off x="812800" y="4738886"/>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Narandžasto su označene taktike specifične za industrijske sisteme. Matrica je zasnovana na javno dokumentovanim incidentima i povezuje svaku taktiku sa tehnikama, primerima i merama zaštite.</a:t>
            </a:r>
            <a:endParaRPr lang="en-US" sz="1200" dirty="0"/>
          </a:p>
        </p:txBody>
      </p:sp>
      <p:sp>
        <p:nvSpPr>
          <p:cNvPr id="54" name="Shape 52"/>
          <p:cNvSpPr/>
          <p:nvPr/>
        </p:nvSpPr>
        <p:spPr>
          <a:xfrm>
            <a:off x="812800" y="6209705"/>
            <a:ext cx="10566400" cy="0"/>
          </a:xfrm>
          <a:prstGeom prst="line">
            <a:avLst/>
          </a:prstGeom>
          <a:noFill/>
          <a:ln w="6350">
            <a:solidFill>
              <a:srgbClr val="D3DAE1"/>
            </a:solidFill>
            <a:prstDash val="solid"/>
          </a:ln>
        </p:spPr>
      </p:sp>
      <p:sp>
        <p:nvSpPr>
          <p:cNvPr id="55" name="Text 53"/>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56" name="Text 5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Zone i kanali prema IEC 62443</a:t>
            </a:r>
            <a:endParaRPr lang="en-US" sz="3000" dirty="0"/>
          </a:p>
        </p:txBody>
      </p:sp>
      <p:sp>
        <p:nvSpPr>
          <p:cNvPr id="5" name="Shape 3"/>
          <p:cNvSpPr/>
          <p:nvPr/>
        </p:nvSpPr>
        <p:spPr>
          <a:xfrm>
            <a:off x="812800" y="1673820"/>
            <a:ext cx="1958975" cy="1056481"/>
          </a:xfrm>
          <a:prstGeom prst="roundRect">
            <a:avLst>
              <a:gd name="adj" fmla="val 9617"/>
            </a:avLst>
          </a:prstGeom>
          <a:solidFill>
            <a:srgbClr val="ECEEF0"/>
          </a:solidFill>
          <a:ln/>
        </p:spPr>
      </p:sp>
      <p:sp>
        <p:nvSpPr>
          <p:cNvPr id="6" name="Text 4"/>
          <p:cNvSpPr/>
          <p:nvPr/>
        </p:nvSpPr>
        <p:spPr>
          <a:xfrm>
            <a:off x="965200" y="1826220"/>
            <a:ext cx="17049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Poslovna zona</a:t>
            </a:r>
            <a:endParaRPr lang="en-US" sz="1400" dirty="0"/>
          </a:p>
        </p:txBody>
      </p:sp>
      <p:sp>
        <p:nvSpPr>
          <p:cNvPr id="7" name="Text 5"/>
          <p:cNvSpPr/>
          <p:nvPr/>
        </p:nvSpPr>
        <p:spPr>
          <a:xfrm>
            <a:off x="965200" y="2125861"/>
            <a:ext cx="17049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ERP, e-pošta, kancelarijski računari</a:t>
            </a:r>
            <a:endParaRPr lang="en-US" sz="1200" dirty="0"/>
          </a:p>
        </p:txBody>
      </p:sp>
      <p:pic>
        <p:nvPicPr>
          <p:cNvPr id="8" name="Image 0" descr="Lock">    </p:cNvPr>
          <p:cNvPicPr>
            <a:picLocks noChangeAspect="1"/>
          </p:cNvPicPr>
          <p:nvPr/>
        </p:nvPicPr>
        <p:blipFill>
          <a:blip r:embed="rId1"/>
          <a:srcRect l="0" r="0" t="0" b="0"/>
          <a:stretch/>
        </p:blipFill>
        <p:spPr>
          <a:xfrm>
            <a:off x="3095625" y="1949351"/>
            <a:ext cx="254000" cy="254000"/>
          </a:xfrm>
          <a:prstGeom prst="rect">
            <a:avLst/>
          </a:prstGeom>
        </p:spPr>
      </p:pic>
      <p:sp>
        <p:nvSpPr>
          <p:cNvPr id="9" name="Text 6"/>
          <p:cNvSpPr/>
          <p:nvPr/>
        </p:nvSpPr>
        <p:spPr>
          <a:xfrm>
            <a:off x="3000345" y="2241451"/>
            <a:ext cx="4444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kanal</a:t>
            </a:r>
            <a:endParaRPr lang="en-US" sz="1200" dirty="0"/>
          </a:p>
        </p:txBody>
      </p:sp>
      <p:sp>
        <p:nvSpPr>
          <p:cNvPr id="10" name="Shape 7"/>
          <p:cNvSpPr/>
          <p:nvPr/>
        </p:nvSpPr>
        <p:spPr>
          <a:xfrm>
            <a:off x="3679825" y="1680170"/>
            <a:ext cx="1971675" cy="1043781"/>
          </a:xfrm>
          <a:prstGeom prst="roundRect">
            <a:avLst>
              <a:gd name="adj" fmla="val 9125"/>
            </a:avLst>
          </a:prstGeom>
          <a:solidFill>
            <a:srgbClr val="FBF1E6"/>
          </a:solidFill>
          <a:ln w="12700">
            <a:solidFill>
              <a:srgbClr val="E07B1F"/>
            </a:solidFill>
            <a:prstDash val="dash"/>
          </a:ln>
        </p:spPr>
      </p:sp>
      <p:sp>
        <p:nvSpPr>
          <p:cNvPr id="11" name="Text 8"/>
          <p:cNvSpPr/>
          <p:nvPr/>
        </p:nvSpPr>
        <p:spPr>
          <a:xfrm>
            <a:off x="3838575" y="1838920"/>
            <a:ext cx="17049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DMZ</a:t>
            </a:r>
            <a:endParaRPr lang="en-US" sz="1400" dirty="0"/>
          </a:p>
        </p:txBody>
      </p:sp>
      <p:sp>
        <p:nvSpPr>
          <p:cNvPr id="12" name="Text 9"/>
          <p:cNvSpPr/>
          <p:nvPr/>
        </p:nvSpPr>
        <p:spPr>
          <a:xfrm>
            <a:off x="3838575" y="2138561"/>
            <a:ext cx="17049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Replika historiana, posrednički serveri</a:t>
            </a:r>
            <a:endParaRPr lang="en-US" sz="1200" dirty="0"/>
          </a:p>
        </p:txBody>
      </p:sp>
      <p:pic>
        <p:nvPicPr>
          <p:cNvPr id="13" name="Image 1" descr="Lock">    </p:cNvPr>
          <p:cNvPicPr>
            <a:picLocks noChangeAspect="1"/>
          </p:cNvPicPr>
          <p:nvPr/>
        </p:nvPicPr>
        <p:blipFill>
          <a:blip r:embed="rId2"/>
          <a:srcRect l="0" r="0" t="0" b="0"/>
          <a:stretch/>
        </p:blipFill>
        <p:spPr>
          <a:xfrm>
            <a:off x="5981700" y="1949351"/>
            <a:ext cx="254000" cy="254000"/>
          </a:xfrm>
          <a:prstGeom prst="rect">
            <a:avLst/>
          </a:prstGeom>
        </p:spPr>
      </p:pic>
      <p:sp>
        <p:nvSpPr>
          <p:cNvPr id="14" name="Text 10"/>
          <p:cNvSpPr/>
          <p:nvPr/>
        </p:nvSpPr>
        <p:spPr>
          <a:xfrm>
            <a:off x="5886420" y="2241451"/>
            <a:ext cx="4444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kanal</a:t>
            </a:r>
            <a:endParaRPr lang="en-US" sz="1200" dirty="0"/>
          </a:p>
        </p:txBody>
      </p:sp>
      <p:sp>
        <p:nvSpPr>
          <p:cNvPr id="15" name="Shape 11"/>
          <p:cNvSpPr/>
          <p:nvPr/>
        </p:nvSpPr>
        <p:spPr>
          <a:xfrm>
            <a:off x="6559550" y="1673820"/>
            <a:ext cx="1958975" cy="1056481"/>
          </a:xfrm>
          <a:prstGeom prst="roundRect">
            <a:avLst>
              <a:gd name="adj" fmla="val 9617"/>
            </a:avLst>
          </a:prstGeom>
          <a:solidFill>
            <a:srgbClr val="DCE8F4"/>
          </a:solidFill>
          <a:ln/>
        </p:spPr>
      </p:sp>
      <p:sp>
        <p:nvSpPr>
          <p:cNvPr id="16" name="Text 12"/>
          <p:cNvSpPr/>
          <p:nvPr/>
        </p:nvSpPr>
        <p:spPr>
          <a:xfrm>
            <a:off x="6711950" y="1826220"/>
            <a:ext cx="17049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Zona nadzora</a:t>
            </a:r>
            <a:endParaRPr lang="en-US" sz="1400" dirty="0"/>
          </a:p>
        </p:txBody>
      </p:sp>
      <p:sp>
        <p:nvSpPr>
          <p:cNvPr id="17" name="Text 13"/>
          <p:cNvSpPr/>
          <p:nvPr/>
        </p:nvSpPr>
        <p:spPr>
          <a:xfrm>
            <a:off x="6711950" y="2125861"/>
            <a:ext cx="17049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SCADA server, HMI, historian</a:t>
            </a:r>
            <a:endParaRPr lang="en-US" sz="1200" dirty="0"/>
          </a:p>
        </p:txBody>
      </p:sp>
      <p:pic>
        <p:nvPicPr>
          <p:cNvPr id="18" name="Image 2" descr="Lock">    </p:cNvPr>
          <p:cNvPicPr>
            <a:picLocks noChangeAspect="1"/>
          </p:cNvPicPr>
          <p:nvPr/>
        </p:nvPicPr>
        <p:blipFill>
          <a:blip r:embed="rId3"/>
          <a:srcRect l="0" r="0" t="0" b="0"/>
          <a:stretch/>
        </p:blipFill>
        <p:spPr>
          <a:xfrm>
            <a:off x="8842375" y="1949351"/>
            <a:ext cx="254000" cy="254000"/>
          </a:xfrm>
          <a:prstGeom prst="rect">
            <a:avLst/>
          </a:prstGeom>
        </p:spPr>
      </p:pic>
      <p:sp>
        <p:nvSpPr>
          <p:cNvPr id="19" name="Text 14"/>
          <p:cNvSpPr/>
          <p:nvPr/>
        </p:nvSpPr>
        <p:spPr>
          <a:xfrm>
            <a:off x="8747095" y="2241451"/>
            <a:ext cx="4444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kanal</a:t>
            </a:r>
            <a:endParaRPr lang="en-US" sz="1200" dirty="0"/>
          </a:p>
        </p:txBody>
      </p:sp>
      <p:sp>
        <p:nvSpPr>
          <p:cNvPr id="20" name="Shape 15"/>
          <p:cNvSpPr/>
          <p:nvPr/>
        </p:nvSpPr>
        <p:spPr>
          <a:xfrm>
            <a:off x="9420225" y="1673820"/>
            <a:ext cx="1958975" cy="1056481"/>
          </a:xfrm>
          <a:prstGeom prst="roundRect">
            <a:avLst>
              <a:gd name="adj" fmla="val 9617"/>
            </a:avLst>
          </a:prstGeom>
          <a:solidFill>
            <a:srgbClr val="C3D7EC"/>
          </a:solidFill>
          <a:ln/>
        </p:spPr>
      </p:sp>
      <p:sp>
        <p:nvSpPr>
          <p:cNvPr id="21" name="Text 16"/>
          <p:cNvSpPr/>
          <p:nvPr/>
        </p:nvSpPr>
        <p:spPr>
          <a:xfrm>
            <a:off x="9572625" y="1826220"/>
            <a:ext cx="17049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Zona upravljanja</a:t>
            </a:r>
            <a:endParaRPr lang="en-US" sz="1400" dirty="0"/>
          </a:p>
        </p:txBody>
      </p:sp>
      <p:sp>
        <p:nvSpPr>
          <p:cNvPr id="22" name="Text 17"/>
          <p:cNvSpPr/>
          <p:nvPr/>
        </p:nvSpPr>
        <p:spPr>
          <a:xfrm>
            <a:off x="9572625" y="2125861"/>
            <a:ext cx="17049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PLC, RTU i terenska oprema</a:t>
            </a:r>
            <a:endParaRPr lang="en-US" sz="1200" dirty="0"/>
          </a:p>
        </p:txBody>
      </p:sp>
      <p:sp>
        <p:nvSpPr>
          <p:cNvPr id="23" name="Text 18"/>
          <p:cNvSpPr/>
          <p:nvPr/>
        </p:nvSpPr>
        <p:spPr>
          <a:xfrm>
            <a:off x="812800" y="29843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Zona grupiše resurse sa istim bezbednosnim zahtevima, a kanal je jedini dozvoljeni put komunikacije između zona. Ciljni nivoi bezbednosti (SL):</a:t>
            </a:r>
            <a:endParaRPr lang="en-US" sz="1200" dirty="0"/>
          </a:p>
        </p:txBody>
      </p:sp>
      <p:sp>
        <p:nvSpPr>
          <p:cNvPr id="24" name="Shape 19"/>
          <p:cNvSpPr/>
          <p:nvPr/>
        </p:nvSpPr>
        <p:spPr>
          <a:xfrm>
            <a:off x="815975" y="3302397"/>
            <a:ext cx="2540000" cy="973931"/>
          </a:xfrm>
          <a:prstGeom prst="roundRect">
            <a:avLst>
              <a:gd name="adj" fmla="val 7498"/>
            </a:avLst>
          </a:prstGeom>
          <a:solidFill>
            <a:srgbClr val="FCFCFB"/>
          </a:solidFill>
          <a:ln w="6350">
            <a:solidFill>
              <a:srgbClr val="D3DAE1"/>
            </a:solidFill>
            <a:prstDash val="solid"/>
          </a:ln>
        </p:spPr>
      </p:sp>
      <p:sp>
        <p:nvSpPr>
          <p:cNvPr id="25" name="Text 20"/>
          <p:cNvSpPr/>
          <p:nvPr/>
        </p:nvSpPr>
        <p:spPr>
          <a:xfrm>
            <a:off x="971550" y="3432572"/>
            <a:ext cx="229571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SL 1</a:t>
            </a:r>
            <a:endParaRPr lang="en-US" sz="1400" dirty="0"/>
          </a:p>
        </p:txBody>
      </p:sp>
      <p:sp>
        <p:nvSpPr>
          <p:cNvPr id="26" name="Text 21"/>
          <p:cNvSpPr/>
          <p:nvPr/>
        </p:nvSpPr>
        <p:spPr>
          <a:xfrm>
            <a:off x="971550" y="3719512"/>
            <a:ext cx="22957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Slučajna ili nenamerna povreda</a:t>
            </a:r>
            <a:endParaRPr lang="en-US" sz="1200" dirty="0"/>
          </a:p>
        </p:txBody>
      </p:sp>
      <p:sp>
        <p:nvSpPr>
          <p:cNvPr id="27" name="Shape 22"/>
          <p:cNvSpPr/>
          <p:nvPr/>
        </p:nvSpPr>
        <p:spPr>
          <a:xfrm>
            <a:off x="3489325" y="3302397"/>
            <a:ext cx="2540000" cy="973931"/>
          </a:xfrm>
          <a:prstGeom prst="roundRect">
            <a:avLst>
              <a:gd name="adj" fmla="val 7498"/>
            </a:avLst>
          </a:prstGeom>
          <a:solidFill>
            <a:srgbClr val="FCFCFB"/>
          </a:solidFill>
          <a:ln w="6350">
            <a:solidFill>
              <a:srgbClr val="D3DAE1"/>
            </a:solidFill>
            <a:prstDash val="solid"/>
          </a:ln>
        </p:spPr>
      </p:sp>
      <p:sp>
        <p:nvSpPr>
          <p:cNvPr id="28" name="Text 23"/>
          <p:cNvSpPr/>
          <p:nvPr/>
        </p:nvSpPr>
        <p:spPr>
          <a:xfrm>
            <a:off x="3644900" y="3432572"/>
            <a:ext cx="229571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SL 2</a:t>
            </a:r>
            <a:endParaRPr lang="en-US" sz="1400" dirty="0"/>
          </a:p>
        </p:txBody>
      </p:sp>
      <p:sp>
        <p:nvSpPr>
          <p:cNvPr id="29" name="Text 24"/>
          <p:cNvSpPr/>
          <p:nvPr/>
        </p:nvSpPr>
        <p:spPr>
          <a:xfrm>
            <a:off x="3644900" y="3719512"/>
            <a:ext cx="22957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Namerni napad jednostavnim sredstvima</a:t>
            </a:r>
            <a:endParaRPr lang="en-US" sz="1200" dirty="0"/>
          </a:p>
        </p:txBody>
      </p:sp>
      <p:sp>
        <p:nvSpPr>
          <p:cNvPr id="30" name="Shape 25"/>
          <p:cNvSpPr/>
          <p:nvPr/>
        </p:nvSpPr>
        <p:spPr>
          <a:xfrm>
            <a:off x="6162675" y="3302397"/>
            <a:ext cx="2540000" cy="973931"/>
          </a:xfrm>
          <a:prstGeom prst="roundRect">
            <a:avLst>
              <a:gd name="adj" fmla="val 7498"/>
            </a:avLst>
          </a:prstGeom>
          <a:solidFill>
            <a:srgbClr val="FCFCFB"/>
          </a:solidFill>
          <a:ln w="6350">
            <a:solidFill>
              <a:srgbClr val="D3DAE1"/>
            </a:solidFill>
            <a:prstDash val="solid"/>
          </a:ln>
        </p:spPr>
      </p:sp>
      <p:sp>
        <p:nvSpPr>
          <p:cNvPr id="31" name="Text 26"/>
          <p:cNvSpPr/>
          <p:nvPr/>
        </p:nvSpPr>
        <p:spPr>
          <a:xfrm>
            <a:off x="6318250" y="3432572"/>
            <a:ext cx="229571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CA8"/>
                </a:solidFill>
                <a:latin typeface="IBM Plex Mono" pitchFamily="49" charset="0"/>
                <a:ea typeface="IBM Plex Mono" pitchFamily="49" charset="-122"/>
                <a:cs typeface="IBM Plex Mono" pitchFamily="49" charset="-120"/>
              </a:rPr>
              <a:t>SL 3</a:t>
            </a:r>
            <a:endParaRPr lang="en-US" sz="1400" dirty="0"/>
          </a:p>
        </p:txBody>
      </p:sp>
      <p:sp>
        <p:nvSpPr>
          <p:cNvPr id="32" name="Text 27"/>
          <p:cNvSpPr/>
          <p:nvPr/>
        </p:nvSpPr>
        <p:spPr>
          <a:xfrm>
            <a:off x="6318250" y="3719512"/>
            <a:ext cx="22957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Sofisticiran napad sa znanjem o ICS</a:t>
            </a:r>
            <a:endParaRPr lang="en-US" sz="1200" dirty="0"/>
          </a:p>
        </p:txBody>
      </p:sp>
      <p:sp>
        <p:nvSpPr>
          <p:cNvPr id="33" name="Shape 28"/>
          <p:cNvSpPr/>
          <p:nvPr/>
        </p:nvSpPr>
        <p:spPr>
          <a:xfrm>
            <a:off x="8836025" y="3302397"/>
            <a:ext cx="2540000" cy="973931"/>
          </a:xfrm>
          <a:prstGeom prst="roundRect">
            <a:avLst>
              <a:gd name="adj" fmla="val 7498"/>
            </a:avLst>
          </a:prstGeom>
          <a:solidFill>
            <a:srgbClr val="FCFCFB"/>
          </a:solidFill>
          <a:ln w="6350">
            <a:solidFill>
              <a:srgbClr val="D3DAE1"/>
            </a:solidFill>
            <a:prstDash val="solid"/>
          </a:ln>
        </p:spPr>
      </p:sp>
      <p:sp>
        <p:nvSpPr>
          <p:cNvPr id="34" name="Text 29"/>
          <p:cNvSpPr/>
          <p:nvPr/>
        </p:nvSpPr>
        <p:spPr>
          <a:xfrm>
            <a:off x="8991600" y="3432572"/>
            <a:ext cx="229571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Mono" pitchFamily="49" charset="0"/>
                <a:ea typeface="IBM Plex Mono" pitchFamily="49" charset="-122"/>
                <a:cs typeface="IBM Plex Mono" pitchFamily="49" charset="-120"/>
              </a:rPr>
              <a:t>SL 4</a:t>
            </a:r>
            <a:endParaRPr lang="en-US" sz="1400" dirty="0"/>
          </a:p>
        </p:txBody>
      </p:sp>
      <p:sp>
        <p:nvSpPr>
          <p:cNvPr id="35" name="Text 30"/>
          <p:cNvSpPr/>
          <p:nvPr/>
        </p:nvSpPr>
        <p:spPr>
          <a:xfrm>
            <a:off x="8991600" y="3719512"/>
            <a:ext cx="22957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Sofisticiran napad sa velikim resursima</a:t>
            </a:r>
            <a:endParaRPr lang="en-US" sz="1200" dirty="0"/>
          </a:p>
        </p:txBody>
      </p:sp>
      <p:sp>
        <p:nvSpPr>
          <p:cNvPr id="36" name="Shape 31"/>
          <p:cNvSpPr/>
          <p:nvPr/>
        </p:nvSpPr>
        <p:spPr>
          <a:xfrm>
            <a:off x="812800" y="6209705"/>
            <a:ext cx="10566400" cy="0"/>
          </a:xfrm>
          <a:prstGeom prst="line">
            <a:avLst/>
          </a:prstGeom>
          <a:noFill/>
          <a:ln w="6350">
            <a:solidFill>
              <a:srgbClr val="D3DAE1"/>
            </a:solidFill>
            <a:prstDash val="solid"/>
          </a:ln>
        </p:spPr>
      </p:sp>
      <p:sp>
        <p:nvSpPr>
          <p:cNvPr id="37" name="Text 32"/>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8" name="Text 3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Odbrana u dubinu</a:t>
            </a:r>
            <a:endParaRPr lang="en-US" sz="3000" dirty="0"/>
          </a:p>
        </p:txBody>
      </p:sp>
      <p:sp>
        <p:nvSpPr>
          <p:cNvPr id="5" name="Shape 3"/>
          <p:cNvSpPr/>
          <p:nvPr/>
        </p:nvSpPr>
        <p:spPr>
          <a:xfrm>
            <a:off x="819150" y="1680170"/>
            <a:ext cx="5448300" cy="3172222"/>
          </a:xfrm>
          <a:prstGeom prst="roundRect">
            <a:avLst>
              <a:gd name="adj" fmla="val 3003"/>
            </a:avLst>
          </a:prstGeom>
          <a:solidFill>
            <a:srgbClr val="ECEEF0"/>
          </a:solidFill>
          <a:ln w="12700">
            <a:solidFill>
              <a:srgbClr val="8C99A6"/>
            </a:solidFill>
            <a:prstDash val="solid"/>
          </a:ln>
        </p:spPr>
      </p:sp>
      <p:sp>
        <p:nvSpPr>
          <p:cNvPr id="6" name="Text 4"/>
          <p:cNvSpPr/>
          <p:nvPr/>
        </p:nvSpPr>
        <p:spPr>
          <a:xfrm>
            <a:off x="977900" y="1775420"/>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Politike, procedure i obuka</a:t>
            </a:r>
            <a:endParaRPr lang="en-US" sz="1200" dirty="0"/>
          </a:p>
        </p:txBody>
      </p:sp>
      <p:sp>
        <p:nvSpPr>
          <p:cNvPr id="7" name="Shape 5"/>
          <p:cNvSpPr/>
          <p:nvPr/>
        </p:nvSpPr>
        <p:spPr>
          <a:xfrm>
            <a:off x="984250" y="2058591"/>
            <a:ext cx="5118100" cy="2628702"/>
          </a:xfrm>
          <a:prstGeom prst="roundRect">
            <a:avLst>
              <a:gd name="adj" fmla="val 3140"/>
            </a:avLst>
          </a:prstGeom>
          <a:solidFill>
            <a:srgbClr val="EBF0F5"/>
          </a:solidFill>
          <a:ln w="12700">
            <a:solidFill>
              <a:srgbClr val="A9C2DC"/>
            </a:solidFill>
            <a:prstDash val="solid"/>
          </a:ln>
        </p:spPr>
      </p:sp>
      <p:sp>
        <p:nvSpPr>
          <p:cNvPr id="8" name="Text 6"/>
          <p:cNvSpPr/>
          <p:nvPr/>
        </p:nvSpPr>
        <p:spPr>
          <a:xfrm>
            <a:off x="1143000" y="2153841"/>
            <a:ext cx="49446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Fizička zaštita</a:t>
            </a:r>
            <a:endParaRPr lang="en-US" sz="1200" dirty="0"/>
          </a:p>
        </p:txBody>
      </p:sp>
      <p:sp>
        <p:nvSpPr>
          <p:cNvPr id="9" name="Shape 7"/>
          <p:cNvSpPr/>
          <p:nvPr/>
        </p:nvSpPr>
        <p:spPr>
          <a:xfrm>
            <a:off x="1149350" y="2437011"/>
            <a:ext cx="4787900" cy="2085181"/>
          </a:xfrm>
          <a:prstGeom prst="roundRect">
            <a:avLst>
              <a:gd name="adj" fmla="val 3350"/>
            </a:avLst>
          </a:prstGeom>
          <a:solidFill>
            <a:srgbClr val="DCE8F4"/>
          </a:solidFill>
          <a:ln w="12700">
            <a:solidFill>
              <a:srgbClr val="8FB0D3"/>
            </a:solidFill>
            <a:prstDash val="solid"/>
          </a:ln>
        </p:spPr>
      </p:sp>
      <p:sp>
        <p:nvSpPr>
          <p:cNvPr id="10" name="Text 8"/>
          <p:cNvSpPr/>
          <p:nvPr/>
        </p:nvSpPr>
        <p:spPr>
          <a:xfrm>
            <a:off x="1308100" y="2532261"/>
            <a:ext cx="46045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Segmentacija mreže</a:t>
            </a:r>
            <a:endParaRPr lang="en-US" sz="1200" dirty="0"/>
          </a:p>
        </p:txBody>
      </p:sp>
      <p:sp>
        <p:nvSpPr>
          <p:cNvPr id="11" name="Shape 9"/>
          <p:cNvSpPr/>
          <p:nvPr/>
        </p:nvSpPr>
        <p:spPr>
          <a:xfrm>
            <a:off x="1314450" y="2815431"/>
            <a:ext cx="4457700" cy="1541661"/>
          </a:xfrm>
          <a:prstGeom prst="roundRect">
            <a:avLst>
              <a:gd name="adj" fmla="val 3707"/>
            </a:avLst>
          </a:prstGeom>
          <a:solidFill>
            <a:srgbClr val="C3D7EC"/>
          </a:solidFill>
          <a:ln w="12700">
            <a:solidFill>
              <a:srgbClr val="6E98C6"/>
            </a:solidFill>
            <a:prstDash val="solid"/>
          </a:ln>
        </p:spPr>
      </p:sp>
      <p:sp>
        <p:nvSpPr>
          <p:cNvPr id="12" name="Text 10"/>
          <p:cNvSpPr/>
          <p:nvPr/>
        </p:nvSpPr>
        <p:spPr>
          <a:xfrm>
            <a:off x="1473200" y="2910681"/>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Zaštita računara i uređaja</a:t>
            </a:r>
            <a:endParaRPr lang="en-US" sz="1200" dirty="0"/>
          </a:p>
        </p:txBody>
      </p:sp>
      <p:sp>
        <p:nvSpPr>
          <p:cNvPr id="13" name="Shape 11"/>
          <p:cNvSpPr/>
          <p:nvPr/>
        </p:nvSpPr>
        <p:spPr>
          <a:xfrm>
            <a:off x="1479550" y="3193852"/>
            <a:ext cx="4127500" cy="998141"/>
          </a:xfrm>
          <a:prstGeom prst="roundRect">
            <a:avLst>
              <a:gd name="adj" fmla="val 4453"/>
            </a:avLst>
          </a:prstGeom>
          <a:solidFill>
            <a:srgbClr val="A9C2DC"/>
          </a:solidFill>
          <a:ln w="12700">
            <a:solidFill>
              <a:srgbClr val="0A5CA8"/>
            </a:solidFill>
            <a:prstDash val="solid"/>
          </a:ln>
        </p:spPr>
      </p:sp>
      <p:sp>
        <p:nvSpPr>
          <p:cNvPr id="14" name="Text 12"/>
          <p:cNvSpPr/>
          <p:nvPr/>
        </p:nvSpPr>
        <p:spPr>
          <a:xfrm>
            <a:off x="1638300" y="3289102"/>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Kontrola pristupa</a:t>
            </a:r>
            <a:endParaRPr lang="en-US" sz="1200" dirty="0"/>
          </a:p>
        </p:txBody>
      </p:sp>
      <p:sp>
        <p:nvSpPr>
          <p:cNvPr id="15" name="Text 13"/>
          <p:cNvSpPr/>
          <p:nvPr/>
        </p:nvSpPr>
        <p:spPr>
          <a:xfrm>
            <a:off x="1638300" y="3565922"/>
            <a:ext cx="3810000" cy="467320"/>
          </a:xfrm>
          <a:prstGeom prst="roundRect">
            <a:avLst>
              <a:gd name="adj" fmla="val 10870"/>
            </a:avLst>
          </a:prstGeom>
          <a:solidFill>
            <a:srgbClr val="0A5CA8"/>
          </a:solidFill>
          <a:ln/>
        </p:spPr>
        <p:txBody>
          <a:bodyPr wrap="square" lIns="112121" tIns="99421" rIns="112121" bIns="99421" rtlCol="0" anchor="ctr">
            <a:normAutofit/>
          </a:bodyPr>
          <a:lstStyle/>
          <a:p>
            <a:pPr algn="ctr" indent="0" marL="0">
              <a:lnSpc>
                <a:spcPts val="1680"/>
              </a:lnSpc>
              <a:buNone/>
            </a:pPr>
            <a:r>
              <a:rPr lang="en-US" sz="1200" b="1" dirty="0">
                <a:solidFill>
                  <a:srgbClr val="F6F7F5"/>
                </a:solidFill>
                <a:latin typeface="IBM Plex Sans" pitchFamily="34" charset="0"/>
                <a:ea typeface="IBM Plex Sans" pitchFamily="34" charset="-122"/>
                <a:cs typeface="IBM Plex Sans" pitchFamily="34" charset="-120"/>
              </a:rPr>
              <a:t>Proces i kontroleri</a:t>
            </a:r>
            <a:endParaRPr lang="en-US" sz="1200" dirty="0"/>
          </a:p>
        </p:txBody>
      </p:sp>
      <p:sp>
        <p:nvSpPr>
          <p:cNvPr id="16" name="Text 14"/>
          <p:cNvSpPr/>
          <p:nvPr/>
        </p:nvSpPr>
        <p:spPr>
          <a:xfrm>
            <a:off x="6629400" y="1673820"/>
            <a:ext cx="489229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Nijedna pojedinačna mera nije dovoljna. Napadač mora da savlada više nezavisnih slojeva, a svaki sloj daje novu priliku za detekciju.</a:t>
            </a:r>
            <a:endParaRPr lang="en-US" sz="1400" dirty="0"/>
          </a:p>
        </p:txBody>
      </p:sp>
      <p:sp>
        <p:nvSpPr>
          <p:cNvPr id="17" name="Shape 15"/>
          <p:cNvSpPr/>
          <p:nvPr/>
        </p:nvSpPr>
        <p:spPr>
          <a:xfrm>
            <a:off x="6642100" y="2586831"/>
            <a:ext cx="0" cy="477441"/>
          </a:xfrm>
          <a:prstGeom prst="line">
            <a:avLst/>
          </a:prstGeom>
          <a:noFill/>
          <a:ln w="25400">
            <a:solidFill>
              <a:srgbClr val="0A5CA8"/>
            </a:solidFill>
            <a:prstDash val="solid"/>
          </a:ln>
        </p:spPr>
      </p:sp>
      <p:sp>
        <p:nvSpPr>
          <p:cNvPr id="18" name="Text 16"/>
          <p:cNvSpPr/>
          <p:nvPr/>
        </p:nvSpPr>
        <p:spPr>
          <a:xfrm>
            <a:off x="6807200" y="2599531"/>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Ojačavanje sistema</a:t>
            </a:r>
            <a:endParaRPr lang="en-US" sz="1200" dirty="0"/>
          </a:p>
        </p:txBody>
      </p:sp>
      <p:sp>
        <p:nvSpPr>
          <p:cNvPr id="19" name="Text 17"/>
          <p:cNvSpPr/>
          <p:nvPr/>
        </p:nvSpPr>
        <p:spPr>
          <a:xfrm>
            <a:off x="6807200" y="2838252"/>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Uklanjanje nepotrebnih servisa, naloga i otvorenih portova.</a:t>
            </a:r>
            <a:endParaRPr lang="en-US" sz="1200" dirty="0"/>
          </a:p>
        </p:txBody>
      </p:sp>
      <p:sp>
        <p:nvSpPr>
          <p:cNvPr id="20" name="Shape 18"/>
          <p:cNvSpPr/>
          <p:nvPr/>
        </p:nvSpPr>
        <p:spPr>
          <a:xfrm>
            <a:off x="6642100" y="3203972"/>
            <a:ext cx="0" cy="477441"/>
          </a:xfrm>
          <a:prstGeom prst="line">
            <a:avLst/>
          </a:prstGeom>
          <a:noFill/>
          <a:ln w="25400">
            <a:solidFill>
              <a:srgbClr val="0A5CA8"/>
            </a:solidFill>
            <a:prstDash val="solid"/>
          </a:ln>
        </p:spPr>
      </p:sp>
      <p:sp>
        <p:nvSpPr>
          <p:cNvPr id="21" name="Text 19"/>
          <p:cNvSpPr/>
          <p:nvPr/>
        </p:nvSpPr>
        <p:spPr>
          <a:xfrm>
            <a:off x="6807200" y="3216672"/>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Bela lista aplikacija</a:t>
            </a:r>
            <a:endParaRPr lang="en-US" sz="1200" dirty="0"/>
          </a:p>
        </p:txBody>
      </p:sp>
      <p:sp>
        <p:nvSpPr>
          <p:cNvPr id="22" name="Text 20"/>
          <p:cNvSpPr/>
          <p:nvPr/>
        </p:nvSpPr>
        <p:spPr>
          <a:xfrm>
            <a:off x="6807200" y="3455392"/>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 stanici se izvršava samo odobren softver.</a:t>
            </a:r>
            <a:endParaRPr lang="en-US" sz="1200" dirty="0"/>
          </a:p>
        </p:txBody>
      </p:sp>
      <p:sp>
        <p:nvSpPr>
          <p:cNvPr id="23" name="Shape 21"/>
          <p:cNvSpPr/>
          <p:nvPr/>
        </p:nvSpPr>
        <p:spPr>
          <a:xfrm>
            <a:off x="6642100" y="3821113"/>
            <a:ext cx="0" cy="477441"/>
          </a:xfrm>
          <a:prstGeom prst="line">
            <a:avLst/>
          </a:prstGeom>
          <a:noFill/>
          <a:ln w="25400">
            <a:solidFill>
              <a:srgbClr val="0A5CA8"/>
            </a:solidFill>
            <a:prstDash val="solid"/>
          </a:ln>
        </p:spPr>
      </p:sp>
      <p:sp>
        <p:nvSpPr>
          <p:cNvPr id="24" name="Text 22"/>
          <p:cNvSpPr/>
          <p:nvPr/>
        </p:nvSpPr>
        <p:spPr>
          <a:xfrm>
            <a:off x="6807200" y="3833812"/>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Višefaktorska autentifikacija</a:t>
            </a:r>
            <a:endParaRPr lang="en-US" sz="1200" dirty="0"/>
          </a:p>
        </p:txBody>
      </p:sp>
      <p:sp>
        <p:nvSpPr>
          <p:cNvPr id="25" name="Text 23"/>
          <p:cNvSpPr/>
          <p:nvPr/>
        </p:nvSpPr>
        <p:spPr>
          <a:xfrm>
            <a:off x="6807200" y="4072533"/>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Obavezna za udaljeni i privilegovani pristup.</a:t>
            </a:r>
            <a:endParaRPr lang="en-US" sz="1200" dirty="0"/>
          </a:p>
        </p:txBody>
      </p:sp>
      <p:sp>
        <p:nvSpPr>
          <p:cNvPr id="26" name="Shape 24"/>
          <p:cNvSpPr/>
          <p:nvPr/>
        </p:nvSpPr>
        <p:spPr>
          <a:xfrm>
            <a:off x="6642100" y="4438253"/>
            <a:ext cx="0" cy="477441"/>
          </a:xfrm>
          <a:prstGeom prst="line">
            <a:avLst/>
          </a:prstGeom>
          <a:noFill/>
          <a:ln w="25400">
            <a:solidFill>
              <a:srgbClr val="E07B1F"/>
            </a:solidFill>
            <a:prstDash val="solid"/>
          </a:ln>
        </p:spPr>
      </p:sp>
      <p:sp>
        <p:nvSpPr>
          <p:cNvPr id="27" name="Text 25"/>
          <p:cNvSpPr/>
          <p:nvPr/>
        </p:nvSpPr>
        <p:spPr>
          <a:xfrm>
            <a:off x="6807200" y="4450953"/>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Nadzor u svakom sloju</a:t>
            </a:r>
            <a:endParaRPr lang="en-US" sz="1200" dirty="0"/>
          </a:p>
        </p:txBody>
      </p:sp>
      <p:sp>
        <p:nvSpPr>
          <p:cNvPr id="28" name="Text 26"/>
          <p:cNvSpPr/>
          <p:nvPr/>
        </p:nvSpPr>
        <p:spPr>
          <a:xfrm>
            <a:off x="6807200" y="4689673"/>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Evidencija i detekcija prate sve slojeve zaštite.</a:t>
            </a:r>
            <a:endParaRPr lang="en-US" sz="1200" dirty="0"/>
          </a:p>
        </p:txBody>
      </p:sp>
      <p:sp>
        <p:nvSpPr>
          <p:cNvPr id="29" name="Shape 27"/>
          <p:cNvSpPr/>
          <p:nvPr/>
        </p:nvSpPr>
        <p:spPr>
          <a:xfrm>
            <a:off x="812800" y="6209705"/>
            <a:ext cx="10566400" cy="0"/>
          </a:xfrm>
          <a:prstGeom prst="line">
            <a:avLst/>
          </a:prstGeom>
          <a:noFill/>
          <a:ln w="6350">
            <a:solidFill>
              <a:srgbClr val="D3DAE1"/>
            </a:solidFill>
            <a:prstDash val="solid"/>
          </a:ln>
        </p:spPr>
      </p:sp>
      <p:sp>
        <p:nvSpPr>
          <p:cNvPr id="30" name="Text 2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1"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Nadzor i detekcija anomalija</a:t>
            </a:r>
            <a:endParaRPr lang="en-US" sz="3000" dirty="0"/>
          </a:p>
        </p:txBody>
      </p:sp>
      <p:sp>
        <p:nvSpPr>
          <p:cNvPr id="5" name="Shape 3"/>
          <p:cNvSpPr/>
          <p:nvPr/>
        </p:nvSpPr>
        <p:spPr>
          <a:xfrm>
            <a:off x="815975" y="1676995"/>
            <a:ext cx="3414117" cy="1647031"/>
          </a:xfrm>
          <a:prstGeom prst="roundRect">
            <a:avLst>
              <a:gd name="adj" fmla="val 5976"/>
            </a:avLst>
          </a:prstGeom>
          <a:solidFill>
            <a:srgbClr val="FCFCFB"/>
          </a:solidFill>
          <a:ln w="6350">
            <a:solidFill>
              <a:srgbClr val="D3DAE1"/>
            </a:solidFill>
            <a:prstDash val="solid"/>
          </a:ln>
        </p:spPr>
      </p:sp>
      <p:pic>
        <p:nvPicPr>
          <p:cNvPr id="6" name="Image 0" descr="Search">    </p:cNvPr>
          <p:cNvPicPr>
            <a:picLocks noChangeAspect="1"/>
          </p:cNvPicPr>
          <p:nvPr/>
        </p:nvPicPr>
        <p:blipFill>
          <a:blip r:embed="rId1"/>
          <a:srcRect l="0" r="0" t="0" b="0"/>
          <a:stretch/>
        </p:blipFill>
        <p:spPr>
          <a:xfrm>
            <a:off x="1022350" y="1857970"/>
            <a:ext cx="279400" cy="279400"/>
          </a:xfrm>
          <a:prstGeom prst="rect">
            <a:avLst/>
          </a:prstGeom>
        </p:spPr>
      </p:pic>
      <p:sp>
        <p:nvSpPr>
          <p:cNvPr id="7" name="Text 4"/>
          <p:cNvSpPr/>
          <p:nvPr/>
        </p:nvSpPr>
        <p:spPr>
          <a:xfrm>
            <a:off x="1022350" y="2213570"/>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Detekcija po potpisima</a:t>
            </a:r>
            <a:endParaRPr lang="en-US" sz="1400" dirty="0"/>
          </a:p>
        </p:txBody>
      </p:sp>
      <p:sp>
        <p:nvSpPr>
          <p:cNvPr id="8" name="Text 5"/>
          <p:cNvSpPr/>
          <p:nvPr/>
        </p:nvSpPr>
        <p:spPr>
          <a:xfrm>
            <a:off x="1022350" y="2503091"/>
            <a:ext cx="30914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Prepoznaje poznate obrasce napada i malvera, ali ne i nove, do tada neviđene napade.</a:t>
            </a:r>
            <a:endParaRPr lang="en-US" sz="1200" dirty="0"/>
          </a:p>
        </p:txBody>
      </p:sp>
      <p:sp>
        <p:nvSpPr>
          <p:cNvPr id="9" name="Shape 6"/>
          <p:cNvSpPr/>
          <p:nvPr/>
        </p:nvSpPr>
        <p:spPr>
          <a:xfrm>
            <a:off x="4388842" y="1676995"/>
            <a:ext cx="3414216" cy="1647031"/>
          </a:xfrm>
          <a:prstGeom prst="roundRect">
            <a:avLst>
              <a:gd name="adj" fmla="val 5976"/>
            </a:avLst>
          </a:prstGeom>
          <a:solidFill>
            <a:srgbClr val="FCFCFB"/>
          </a:solidFill>
          <a:ln w="6350">
            <a:solidFill>
              <a:srgbClr val="D3DAE1"/>
            </a:solidFill>
            <a:prstDash val="solid"/>
          </a:ln>
        </p:spPr>
      </p:sp>
      <p:pic>
        <p:nvPicPr>
          <p:cNvPr id="10" name="Image 1" descr="Activity">    </p:cNvPr>
          <p:cNvPicPr>
            <a:picLocks noChangeAspect="1"/>
          </p:cNvPicPr>
          <p:nvPr/>
        </p:nvPicPr>
        <p:blipFill>
          <a:blip r:embed="rId2"/>
          <a:srcRect l="0" r="0" t="0" b="0"/>
          <a:stretch/>
        </p:blipFill>
        <p:spPr>
          <a:xfrm>
            <a:off x="4595217" y="1857970"/>
            <a:ext cx="279400" cy="279400"/>
          </a:xfrm>
          <a:prstGeom prst="rect">
            <a:avLst/>
          </a:prstGeom>
        </p:spPr>
      </p:pic>
      <p:sp>
        <p:nvSpPr>
          <p:cNvPr id="11" name="Text 7"/>
          <p:cNvSpPr/>
          <p:nvPr/>
        </p:nvSpPr>
        <p:spPr>
          <a:xfrm>
            <a:off x="4595217" y="2213570"/>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Mrežne anomalije</a:t>
            </a:r>
            <a:endParaRPr lang="en-US" sz="1400" dirty="0"/>
          </a:p>
        </p:txBody>
      </p:sp>
      <p:sp>
        <p:nvSpPr>
          <p:cNvPr id="12" name="Text 8"/>
          <p:cNvSpPr/>
          <p:nvPr/>
        </p:nvSpPr>
        <p:spPr>
          <a:xfrm>
            <a:off x="4595217" y="2503091"/>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OT saobraćaj je predvidiv: isti uređaji, iste funkcije, ista učestanost. Svako odstupanje je sumnjivo.</a:t>
            </a:r>
            <a:endParaRPr lang="en-US" sz="1200" dirty="0"/>
          </a:p>
        </p:txBody>
      </p:sp>
      <p:sp>
        <p:nvSpPr>
          <p:cNvPr id="13" name="Shape 9"/>
          <p:cNvSpPr/>
          <p:nvPr/>
        </p:nvSpPr>
        <p:spPr>
          <a:xfrm>
            <a:off x="7961809" y="1676995"/>
            <a:ext cx="3414216" cy="1647031"/>
          </a:xfrm>
          <a:prstGeom prst="roundRect">
            <a:avLst>
              <a:gd name="adj" fmla="val 5976"/>
            </a:avLst>
          </a:prstGeom>
          <a:solidFill>
            <a:srgbClr val="DCE8F4"/>
          </a:solidFill>
          <a:ln w="6350">
            <a:solidFill>
              <a:srgbClr val="A9C2DC"/>
            </a:solidFill>
            <a:prstDash val="solid"/>
          </a:ln>
        </p:spPr>
      </p:sp>
      <p:pic>
        <p:nvPicPr>
          <p:cNvPr id="14" name="Image 2" descr="Lightbulb">    </p:cNvPr>
          <p:cNvPicPr>
            <a:picLocks noChangeAspect="1"/>
          </p:cNvPicPr>
          <p:nvPr/>
        </p:nvPicPr>
        <p:blipFill>
          <a:blip r:embed="rId3"/>
          <a:srcRect l="0" r="0" t="0" b="0"/>
          <a:stretch/>
        </p:blipFill>
        <p:spPr>
          <a:xfrm>
            <a:off x="8168184" y="1857970"/>
            <a:ext cx="279400" cy="279400"/>
          </a:xfrm>
          <a:prstGeom prst="rect">
            <a:avLst/>
          </a:prstGeom>
        </p:spPr>
      </p:pic>
      <p:sp>
        <p:nvSpPr>
          <p:cNvPr id="15" name="Text 10"/>
          <p:cNvSpPr/>
          <p:nvPr/>
        </p:nvSpPr>
        <p:spPr>
          <a:xfrm>
            <a:off x="8168184" y="2213570"/>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Procesno svesna detekcija</a:t>
            </a:r>
            <a:endParaRPr lang="en-US" sz="1400" dirty="0"/>
          </a:p>
        </p:txBody>
      </p:sp>
      <p:sp>
        <p:nvSpPr>
          <p:cNvPr id="16" name="Text 11"/>
          <p:cNvSpPr/>
          <p:nvPr/>
        </p:nvSpPr>
        <p:spPr>
          <a:xfrm>
            <a:off x="8168184" y="250309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Provera da li su izmerene vrednosti fizički usklađene sa modelom i stanjem opreme.</a:t>
            </a:r>
            <a:endParaRPr lang="en-US" sz="1200" dirty="0"/>
          </a:p>
        </p:txBody>
      </p:sp>
      <p:sp>
        <p:nvSpPr>
          <p:cNvPr id="17" name="Shape 12"/>
          <p:cNvSpPr/>
          <p:nvPr/>
        </p:nvSpPr>
        <p:spPr>
          <a:xfrm>
            <a:off x="815975" y="3584377"/>
            <a:ext cx="5708650" cy="1179711"/>
          </a:xfrm>
          <a:prstGeom prst="roundRect">
            <a:avLst>
              <a:gd name="adj" fmla="val 8343"/>
            </a:avLst>
          </a:prstGeom>
          <a:solidFill>
            <a:srgbClr val="FCFCFB"/>
          </a:solidFill>
          <a:ln w="6350">
            <a:solidFill>
              <a:srgbClr val="D3DAE1"/>
            </a:solidFill>
            <a:prstDash val="solid"/>
          </a:ln>
        </p:spPr>
      </p:sp>
      <p:sp>
        <p:nvSpPr>
          <p:cNvPr id="18" name="Text 13"/>
          <p:cNvSpPr/>
          <p:nvPr/>
        </p:nvSpPr>
        <p:spPr>
          <a:xfrm>
            <a:off x="1022350" y="3739952"/>
            <a:ext cx="54547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PRIMER PROVERE FIZIČKE USKLAĐENOSTI</a:t>
            </a:r>
            <a:endParaRPr lang="en-US" sz="1200" dirty="0"/>
          </a:p>
        </p:txBody>
      </p:sp>
      <p:sp>
        <p:nvSpPr>
          <p:cNvPr id="19" name="Text 14"/>
          <p:cNvSpPr/>
          <p:nvPr/>
        </p:nvSpPr>
        <p:spPr>
          <a:xfrm>
            <a:off x="1022350" y="4029472"/>
            <a:ext cx="21641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P-101.RUN = isključena</a:t>
            </a:r>
            <a:endParaRPr lang="en-US" sz="1200" dirty="0"/>
          </a:p>
        </p:txBody>
      </p:sp>
      <p:sp>
        <p:nvSpPr>
          <p:cNvPr id="20" name="Text 15"/>
          <p:cNvSpPr/>
          <p:nvPr/>
        </p:nvSpPr>
        <p:spPr>
          <a:xfrm>
            <a:off x="3186509" y="4029472"/>
            <a:ext cx="1524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FT-101 = 0 m³/s</a:t>
            </a:r>
            <a:endParaRPr lang="en-US" sz="1200" dirty="0"/>
          </a:p>
        </p:txBody>
      </p:sp>
      <p:sp>
        <p:nvSpPr>
          <p:cNvPr id="21" name="Text 16"/>
          <p:cNvSpPr/>
          <p:nvPr/>
        </p:nvSpPr>
        <p:spPr>
          <a:xfrm>
            <a:off x="4710509" y="4029472"/>
            <a:ext cx="18109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LT-101: 52 → 58 %</a:t>
            </a:r>
            <a:endParaRPr lang="en-US" sz="1200" dirty="0"/>
          </a:p>
        </p:txBody>
      </p:sp>
      <p:sp>
        <p:nvSpPr>
          <p:cNvPr id="22" name="Text 17"/>
          <p:cNvSpPr/>
          <p:nvPr/>
        </p:nvSpPr>
        <p:spPr>
          <a:xfrm>
            <a:off x="1022350" y="4318992"/>
            <a:ext cx="3154363" cy="289520"/>
          </a:xfrm>
          <a:prstGeom prst="roundRect">
            <a:avLst>
              <a:gd name="adj" fmla="val 17546"/>
            </a:avLst>
          </a:prstGeom>
          <a:solidFill>
            <a:srgbClr val="E07B1F"/>
          </a:solidFill>
          <a:ln/>
        </p:spPr>
        <p:txBody>
          <a:bodyPr wrap="none" lIns="0" tIns="0" rIns="0" bIns="0" rtlCol="0" anchor="ctr">
            <a:normAutofit/>
          </a:bodyPr>
          <a:lstStyle/>
          <a:p>
            <a:pPr algn="ct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Anomalija: nivo raste bez ulaznog protoka</a:t>
            </a:r>
            <a:endParaRPr lang="en-US" sz="1200" dirty="0"/>
          </a:p>
        </p:txBody>
      </p:sp>
      <p:sp>
        <p:nvSpPr>
          <p:cNvPr id="23" name="Shape 18"/>
          <p:cNvSpPr/>
          <p:nvPr/>
        </p:nvSpPr>
        <p:spPr>
          <a:xfrm>
            <a:off x="6680200" y="3581202"/>
            <a:ext cx="4699000" cy="1186061"/>
          </a:xfrm>
          <a:prstGeom prst="roundRect">
            <a:avLst>
              <a:gd name="adj" fmla="val 8566"/>
            </a:avLst>
          </a:prstGeom>
          <a:solidFill>
            <a:srgbClr val="EBF0F5"/>
          </a:solidFill>
          <a:ln/>
        </p:spPr>
      </p:sp>
      <p:pic>
        <p:nvPicPr>
          <p:cNvPr id="24" name="Image 3" descr="Verified">    </p:cNvPr>
          <p:cNvPicPr>
            <a:picLocks noChangeAspect="1"/>
          </p:cNvPicPr>
          <p:nvPr/>
        </p:nvPicPr>
        <p:blipFill>
          <a:blip r:embed="rId4"/>
          <a:srcRect l="0" r="0" t="0" b="0"/>
          <a:stretch/>
        </p:blipFill>
        <p:spPr>
          <a:xfrm>
            <a:off x="6858000" y="4047232"/>
            <a:ext cx="254000" cy="254000"/>
          </a:xfrm>
          <a:prstGeom prst="rect">
            <a:avLst/>
          </a:prstGeom>
        </p:spPr>
      </p:pic>
      <p:sp>
        <p:nvSpPr>
          <p:cNvPr id="25" name="Text 19"/>
          <p:cNvSpPr/>
          <p:nvPr/>
        </p:nvSpPr>
        <p:spPr>
          <a:xfrm>
            <a:off x="7239000" y="3960912"/>
            <a:ext cx="40812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Pasivni nadzor: senzor prati kopiju saobraćaja i ne utiče na proces.</a:t>
            </a:r>
            <a:endParaRPr lang="en-US" sz="1200" dirty="0"/>
          </a:p>
        </p:txBody>
      </p:sp>
      <p:sp>
        <p:nvSpPr>
          <p:cNvPr id="26" name="Shape 20"/>
          <p:cNvSpPr/>
          <p:nvPr/>
        </p:nvSpPr>
        <p:spPr>
          <a:xfrm>
            <a:off x="812800" y="6209705"/>
            <a:ext cx="10566400" cy="0"/>
          </a:xfrm>
          <a:prstGeom prst="line">
            <a:avLst/>
          </a:prstGeom>
          <a:noFill/>
          <a:ln w="6350">
            <a:solidFill>
              <a:srgbClr val="D3DAE1"/>
            </a:solidFill>
            <a:prstDash val="solid"/>
          </a:ln>
        </p:spPr>
      </p:sp>
      <p:sp>
        <p:nvSpPr>
          <p:cNvPr id="27" name="Text 21"/>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8"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Shape 1"/>
          <p:cNvSpPr/>
          <p:nvPr/>
        </p:nvSpPr>
        <p:spPr>
          <a:xfrm>
            <a:off x="990600" y="1841500"/>
            <a:ext cx="8553450" cy="25400"/>
          </a:xfrm>
          <a:prstGeom prst="rect">
            <a:avLst/>
          </a:prstGeom>
          <a:solidFill>
            <a:srgbClr val="C3CEDA"/>
          </a:solidFill>
          <a:ln/>
        </p:spPr>
      </p:sp>
      <p:sp>
        <p:nvSpPr>
          <p:cNvPr id="4" name="Text 2"/>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5" name="Text 3"/>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Upravljanje ranjivostima i zakrpama</a:t>
            </a:r>
            <a:endParaRPr lang="en-US" sz="3000" dirty="0"/>
          </a:p>
        </p:txBody>
      </p:sp>
      <p:sp>
        <p:nvSpPr>
          <p:cNvPr id="6" name="Text 4"/>
          <p:cNvSpPr/>
          <p:nvPr/>
        </p:nvSpPr>
        <p:spPr>
          <a:xfrm>
            <a:off x="812800"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1</a:t>
            </a:r>
            <a:endParaRPr lang="en-US" sz="1200" dirty="0"/>
          </a:p>
        </p:txBody>
      </p:sp>
      <p:sp>
        <p:nvSpPr>
          <p:cNvPr id="7" name="Shape 5"/>
          <p:cNvSpPr/>
          <p:nvPr/>
        </p:nvSpPr>
        <p:spPr>
          <a:xfrm>
            <a:off x="815975" y="2184995"/>
            <a:ext cx="2005310" cy="1412081"/>
          </a:xfrm>
          <a:prstGeom prst="roundRect">
            <a:avLst>
              <a:gd name="adj" fmla="val 6970"/>
            </a:avLst>
          </a:prstGeom>
          <a:solidFill>
            <a:srgbClr val="FCFCFB"/>
          </a:solidFill>
          <a:ln w="6350">
            <a:solidFill>
              <a:srgbClr val="D3DAE1"/>
            </a:solidFill>
            <a:prstDash val="solid"/>
          </a:ln>
        </p:spPr>
      </p:sp>
      <p:sp>
        <p:nvSpPr>
          <p:cNvPr id="8" name="Text 6"/>
          <p:cNvSpPr/>
          <p:nvPr/>
        </p:nvSpPr>
        <p:spPr>
          <a:xfrm>
            <a:off x="971550" y="2327870"/>
            <a:ext cx="17449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Inventar imovine</a:t>
            </a:r>
            <a:endParaRPr lang="en-US" sz="1400" dirty="0"/>
          </a:p>
        </p:txBody>
      </p:sp>
      <p:sp>
        <p:nvSpPr>
          <p:cNvPr id="9" name="Text 7"/>
          <p:cNvSpPr/>
          <p:nvPr/>
        </p:nvSpPr>
        <p:spPr>
          <a:xfrm>
            <a:off x="971550" y="2600920"/>
            <a:ext cx="174498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Popis uređaja, verzija firmvera i softvera. Ne može se štititi ono što nije poznato.</a:t>
            </a:r>
            <a:endParaRPr lang="en-US" sz="1200" dirty="0"/>
          </a:p>
        </p:txBody>
      </p:sp>
      <p:sp>
        <p:nvSpPr>
          <p:cNvPr id="10" name="Text 8"/>
          <p:cNvSpPr/>
          <p:nvPr/>
        </p:nvSpPr>
        <p:spPr>
          <a:xfrm>
            <a:off x="2951460"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2</a:t>
            </a:r>
            <a:endParaRPr lang="en-US" sz="1200" dirty="0"/>
          </a:p>
        </p:txBody>
      </p:sp>
      <p:sp>
        <p:nvSpPr>
          <p:cNvPr id="11" name="Shape 9"/>
          <p:cNvSpPr/>
          <p:nvPr/>
        </p:nvSpPr>
        <p:spPr>
          <a:xfrm>
            <a:off x="2954635" y="2184995"/>
            <a:ext cx="2005409" cy="1412081"/>
          </a:xfrm>
          <a:prstGeom prst="roundRect">
            <a:avLst>
              <a:gd name="adj" fmla="val 6970"/>
            </a:avLst>
          </a:prstGeom>
          <a:solidFill>
            <a:srgbClr val="FCFCFB"/>
          </a:solidFill>
          <a:ln w="6350">
            <a:solidFill>
              <a:srgbClr val="D3DAE1"/>
            </a:solidFill>
            <a:prstDash val="solid"/>
          </a:ln>
        </p:spPr>
      </p:sp>
      <p:sp>
        <p:nvSpPr>
          <p:cNvPr id="12" name="Text 10"/>
          <p:cNvSpPr/>
          <p:nvPr/>
        </p:nvSpPr>
        <p:spPr>
          <a:xfrm>
            <a:off x="3110210" y="2327870"/>
            <a:ext cx="1846659"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Praćenje upozorenja</a:t>
            </a:r>
            <a:endParaRPr lang="en-US" sz="1400" dirty="0"/>
          </a:p>
        </p:txBody>
      </p:sp>
      <p:sp>
        <p:nvSpPr>
          <p:cNvPr id="13" name="Text 11"/>
          <p:cNvSpPr/>
          <p:nvPr/>
        </p:nvSpPr>
        <p:spPr>
          <a:xfrm>
            <a:off x="3110210" y="2600920"/>
            <a:ext cx="174508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Bezbednosna upozorenja proizvođača i CISA, uz CVE oznake.</a:t>
            </a:r>
            <a:endParaRPr lang="en-US" sz="1200" dirty="0"/>
          </a:p>
        </p:txBody>
      </p:sp>
      <p:sp>
        <p:nvSpPr>
          <p:cNvPr id="14" name="Text 12"/>
          <p:cNvSpPr/>
          <p:nvPr/>
        </p:nvSpPr>
        <p:spPr>
          <a:xfrm>
            <a:off x="5090220"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3</a:t>
            </a:r>
            <a:endParaRPr lang="en-US" sz="1200" dirty="0"/>
          </a:p>
        </p:txBody>
      </p:sp>
      <p:sp>
        <p:nvSpPr>
          <p:cNvPr id="15" name="Shape 13"/>
          <p:cNvSpPr/>
          <p:nvPr/>
        </p:nvSpPr>
        <p:spPr>
          <a:xfrm>
            <a:off x="5093395" y="2184995"/>
            <a:ext cx="2005310" cy="1412081"/>
          </a:xfrm>
          <a:prstGeom prst="roundRect">
            <a:avLst>
              <a:gd name="adj" fmla="val 6970"/>
            </a:avLst>
          </a:prstGeom>
          <a:solidFill>
            <a:srgbClr val="FCFCFB"/>
          </a:solidFill>
          <a:ln w="6350">
            <a:solidFill>
              <a:srgbClr val="D3DAE1"/>
            </a:solidFill>
            <a:prstDash val="solid"/>
          </a:ln>
        </p:spPr>
      </p:sp>
      <p:sp>
        <p:nvSpPr>
          <p:cNvPr id="16" name="Text 14"/>
          <p:cNvSpPr/>
          <p:nvPr/>
        </p:nvSpPr>
        <p:spPr>
          <a:xfrm>
            <a:off x="5248970" y="2327870"/>
            <a:ext cx="17449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Procena rizika</a:t>
            </a:r>
            <a:endParaRPr lang="en-US" sz="1400" dirty="0"/>
          </a:p>
        </p:txBody>
      </p:sp>
      <p:sp>
        <p:nvSpPr>
          <p:cNvPr id="17" name="Text 15"/>
          <p:cNvSpPr/>
          <p:nvPr/>
        </p:nvSpPr>
        <p:spPr>
          <a:xfrm>
            <a:off x="5248970" y="2600920"/>
            <a:ext cx="17449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Ozbiljnost (CVSS), izloženost uređaja i posledica po proces.</a:t>
            </a:r>
            <a:endParaRPr lang="en-US" sz="1200" dirty="0"/>
          </a:p>
        </p:txBody>
      </p:sp>
      <p:sp>
        <p:nvSpPr>
          <p:cNvPr id="18" name="Text 16"/>
          <p:cNvSpPr/>
          <p:nvPr/>
        </p:nvSpPr>
        <p:spPr>
          <a:xfrm>
            <a:off x="7228880" y="1673820"/>
            <a:ext cx="355600" cy="355600"/>
          </a:xfrm>
          <a:prstGeom prst="roundRect">
            <a:avLst>
              <a:gd name="adj" fmla="val 50000"/>
            </a:avLst>
          </a:prstGeom>
          <a:solidFill>
            <a:srgbClr val="0A5CA8"/>
          </a:solidFill>
          <a:ln/>
        </p:spPr>
        <p:txBody>
          <a:bodyPr wrap="square" lIns="0" tIns="0" rIns="0" bIns="0" rtlCol="0" anchor="ctr">
            <a:normAutofit/>
          </a:bodyPr>
          <a:lstStyle/>
          <a:p>
            <a:pPr algn="ctr" indent="0" marL="0">
              <a:lnSpc>
                <a:spcPts val="1680"/>
              </a:lnSpc>
              <a:buNone/>
            </a:pPr>
            <a:r>
              <a:rPr lang="en-US" sz="1200" b="1" dirty="0">
                <a:solidFill>
                  <a:srgbClr val="F6F7F5"/>
                </a:solidFill>
                <a:latin typeface="IBM Plex Mono" pitchFamily="49" charset="0"/>
                <a:ea typeface="IBM Plex Mono" pitchFamily="49" charset="-122"/>
                <a:cs typeface="IBM Plex Mono" pitchFamily="49" charset="-120"/>
              </a:rPr>
              <a:t>4</a:t>
            </a:r>
            <a:endParaRPr lang="en-US" sz="1200" dirty="0"/>
          </a:p>
        </p:txBody>
      </p:sp>
      <p:sp>
        <p:nvSpPr>
          <p:cNvPr id="19" name="Shape 17"/>
          <p:cNvSpPr/>
          <p:nvPr/>
        </p:nvSpPr>
        <p:spPr>
          <a:xfrm>
            <a:off x="7232055" y="2184995"/>
            <a:ext cx="2005310" cy="1412081"/>
          </a:xfrm>
          <a:prstGeom prst="roundRect">
            <a:avLst>
              <a:gd name="adj" fmla="val 6970"/>
            </a:avLst>
          </a:prstGeom>
          <a:solidFill>
            <a:srgbClr val="FCFCFB"/>
          </a:solidFill>
          <a:ln w="6350">
            <a:solidFill>
              <a:srgbClr val="D3DAE1"/>
            </a:solidFill>
            <a:prstDash val="solid"/>
          </a:ln>
        </p:spPr>
      </p:sp>
      <p:sp>
        <p:nvSpPr>
          <p:cNvPr id="20" name="Text 18"/>
          <p:cNvSpPr/>
          <p:nvPr/>
        </p:nvSpPr>
        <p:spPr>
          <a:xfrm>
            <a:off x="7387630" y="2327870"/>
            <a:ext cx="17449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Testiranje zakrpe</a:t>
            </a:r>
            <a:endParaRPr lang="en-US" sz="1400" dirty="0"/>
          </a:p>
        </p:txBody>
      </p:sp>
      <p:sp>
        <p:nvSpPr>
          <p:cNvPr id="21" name="Text 19"/>
          <p:cNvSpPr/>
          <p:nvPr/>
        </p:nvSpPr>
        <p:spPr>
          <a:xfrm>
            <a:off x="7387630" y="2600920"/>
            <a:ext cx="17449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Provera na ispitnom okruženju ili simulaciji procesa.</a:t>
            </a:r>
            <a:endParaRPr lang="en-US" sz="1200" dirty="0"/>
          </a:p>
        </p:txBody>
      </p:sp>
      <p:sp>
        <p:nvSpPr>
          <p:cNvPr id="22" name="Text 20"/>
          <p:cNvSpPr/>
          <p:nvPr/>
        </p:nvSpPr>
        <p:spPr>
          <a:xfrm>
            <a:off x="9367540" y="1673820"/>
            <a:ext cx="355600" cy="355600"/>
          </a:xfrm>
          <a:prstGeom prst="roundRect">
            <a:avLst>
              <a:gd name="adj" fmla="val 50000"/>
            </a:avLst>
          </a:prstGeom>
          <a:solidFill>
            <a:srgbClr val="E07B1F"/>
          </a:solidFill>
          <a:ln/>
        </p:spPr>
        <p:txBody>
          <a:bodyPr wrap="square" lIns="0" tIns="0" rIns="0" bIns="0" rtlCol="0" anchor="ctr">
            <a:normAutofit/>
          </a:bodyPr>
          <a:lstStyle/>
          <a:p>
            <a:pPr algn="ctr"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5</a:t>
            </a:r>
            <a:endParaRPr lang="en-US" sz="1200" dirty="0"/>
          </a:p>
        </p:txBody>
      </p:sp>
      <p:sp>
        <p:nvSpPr>
          <p:cNvPr id="23" name="Shape 21"/>
          <p:cNvSpPr/>
          <p:nvPr/>
        </p:nvSpPr>
        <p:spPr>
          <a:xfrm>
            <a:off x="9370715" y="2184995"/>
            <a:ext cx="2005310" cy="1412081"/>
          </a:xfrm>
          <a:prstGeom prst="roundRect">
            <a:avLst>
              <a:gd name="adj" fmla="val 6970"/>
            </a:avLst>
          </a:prstGeom>
          <a:solidFill>
            <a:srgbClr val="FCFCFB"/>
          </a:solidFill>
          <a:ln w="6350">
            <a:solidFill>
              <a:srgbClr val="D3DAE1"/>
            </a:solidFill>
            <a:prstDash val="solid"/>
          </a:ln>
        </p:spPr>
      </p:sp>
      <p:sp>
        <p:nvSpPr>
          <p:cNvPr id="24" name="Text 22"/>
          <p:cNvSpPr/>
          <p:nvPr/>
        </p:nvSpPr>
        <p:spPr>
          <a:xfrm>
            <a:off x="9526290" y="2327870"/>
            <a:ext cx="17449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Primena</a:t>
            </a:r>
            <a:endParaRPr lang="en-US" sz="1400" dirty="0"/>
          </a:p>
        </p:txBody>
      </p:sp>
      <p:sp>
        <p:nvSpPr>
          <p:cNvPr id="25" name="Text 23"/>
          <p:cNvSpPr/>
          <p:nvPr/>
        </p:nvSpPr>
        <p:spPr>
          <a:xfrm>
            <a:off x="9526290" y="2600920"/>
            <a:ext cx="17449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 planiranom zastoju ili kompenzacione mere.</a:t>
            </a:r>
            <a:endParaRPr lang="en-US" sz="1200" dirty="0"/>
          </a:p>
        </p:txBody>
      </p:sp>
      <p:sp>
        <p:nvSpPr>
          <p:cNvPr id="26" name="Shape 24"/>
          <p:cNvSpPr/>
          <p:nvPr/>
        </p:nvSpPr>
        <p:spPr>
          <a:xfrm>
            <a:off x="812800" y="3854252"/>
            <a:ext cx="10566400" cy="508000"/>
          </a:xfrm>
          <a:prstGeom prst="roundRect">
            <a:avLst>
              <a:gd name="adj" fmla="val 15000"/>
            </a:avLst>
          </a:prstGeom>
          <a:solidFill>
            <a:srgbClr val="FBF1E6"/>
          </a:solidFill>
          <a:ln/>
        </p:spPr>
      </p:sp>
      <p:pic>
        <p:nvPicPr>
          <p:cNvPr id="27" name="Image 0" descr="Lock">    </p:cNvPr>
          <p:cNvPicPr>
            <a:picLocks noChangeAspect="1"/>
          </p:cNvPicPr>
          <p:nvPr/>
        </p:nvPicPr>
        <p:blipFill>
          <a:blip r:embed="rId1"/>
          <a:srcRect l="0" r="0" t="0" b="0"/>
          <a:stretch/>
        </p:blipFill>
        <p:spPr>
          <a:xfrm>
            <a:off x="990600" y="3981252"/>
            <a:ext cx="254000" cy="254000"/>
          </a:xfrm>
          <a:prstGeom prst="rect">
            <a:avLst/>
          </a:prstGeom>
        </p:spPr>
      </p:pic>
      <p:sp>
        <p:nvSpPr>
          <p:cNvPr id="28" name="Text 25"/>
          <p:cNvSpPr/>
          <p:nvPr/>
        </p:nvSpPr>
        <p:spPr>
          <a:xfrm>
            <a:off x="1371600" y="4001591"/>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Kada zakrpa nije moguća: izolacija uređaja, ograničenje saobraćaja na neophodne funkcije i pojačan nadzor.</a:t>
            </a:r>
            <a:endParaRPr lang="en-US" sz="1200" dirty="0"/>
          </a:p>
        </p:txBody>
      </p:sp>
      <p:sp>
        <p:nvSpPr>
          <p:cNvPr id="29" name="Shape 26"/>
          <p:cNvSpPr/>
          <p:nvPr/>
        </p:nvSpPr>
        <p:spPr>
          <a:xfrm>
            <a:off x="812800" y="6209705"/>
            <a:ext cx="10566400" cy="0"/>
          </a:xfrm>
          <a:prstGeom prst="line">
            <a:avLst/>
          </a:prstGeom>
          <a:noFill/>
          <a:ln w="6350">
            <a:solidFill>
              <a:srgbClr val="D3DAE1"/>
            </a:solidFill>
            <a:prstDash val="solid"/>
          </a:ln>
        </p:spPr>
      </p:sp>
      <p:sp>
        <p:nvSpPr>
          <p:cNvPr id="30" name="Text 27"/>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1"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Poznati incidenti i izvučene pouke</a:t>
            </a:r>
            <a:endParaRPr lang="en-US" sz="3000" dirty="0"/>
          </a:p>
        </p:txBody>
      </p:sp>
      <p:sp>
        <p:nvSpPr>
          <p:cNvPr id="5" name="Shape 3"/>
          <p:cNvSpPr/>
          <p:nvPr/>
        </p:nvSpPr>
        <p:spPr>
          <a:xfrm>
            <a:off x="815975" y="1676995"/>
            <a:ext cx="3414117" cy="2114252"/>
          </a:xfrm>
          <a:prstGeom prst="roundRect">
            <a:avLst>
              <a:gd name="adj" fmla="val 4655"/>
            </a:avLst>
          </a:prstGeom>
          <a:solidFill>
            <a:srgbClr val="FCFCFB"/>
          </a:solidFill>
          <a:ln w="6350">
            <a:solidFill>
              <a:srgbClr val="D3DAE1"/>
            </a:solidFill>
            <a:prstDash val="solid"/>
          </a:ln>
        </p:spPr>
      </p:sp>
      <p:sp>
        <p:nvSpPr>
          <p:cNvPr id="6" name="Text 4"/>
          <p:cNvSpPr/>
          <p:nvPr/>
        </p:nvSpPr>
        <p:spPr>
          <a:xfrm>
            <a:off x="1022350" y="1857970"/>
            <a:ext cx="30914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2010</a:t>
            </a:r>
            <a:endParaRPr lang="en-US" sz="1200" dirty="0"/>
          </a:p>
        </p:txBody>
      </p:sp>
      <p:sp>
        <p:nvSpPr>
          <p:cNvPr id="7" name="Text 5"/>
          <p:cNvSpPr/>
          <p:nvPr/>
        </p:nvSpPr>
        <p:spPr>
          <a:xfrm>
            <a:off x="1022350" y="214749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Stuxnet</a:t>
            </a:r>
            <a:endParaRPr lang="en-US" sz="1600" dirty="0"/>
          </a:p>
        </p:txBody>
      </p:sp>
      <p:sp>
        <p:nvSpPr>
          <p:cNvPr id="8" name="Text 6"/>
          <p:cNvSpPr/>
          <p:nvPr/>
        </p:nvSpPr>
        <p:spPr>
          <a:xfrm>
            <a:off x="1022350" y="2467471"/>
            <a:ext cx="30914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Malver je menjao logiku Siemens PLC-ova u postrojenju za obogaćivanje uranijuma, dok je operaterima prikazivao normalne vrednosti.</a:t>
            </a:r>
            <a:endParaRPr lang="en-US" sz="1200" dirty="0"/>
          </a:p>
        </p:txBody>
      </p:sp>
      <p:sp>
        <p:nvSpPr>
          <p:cNvPr id="9" name="Text 7"/>
          <p:cNvSpPr/>
          <p:nvPr/>
        </p:nvSpPr>
        <p:spPr>
          <a:xfrm>
            <a:off x="1022350" y="3396952"/>
            <a:ext cx="3204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Pouka: integritet prikaza i logike kontrolera</a:t>
            </a:r>
            <a:endParaRPr lang="en-US" sz="1200" dirty="0"/>
          </a:p>
        </p:txBody>
      </p:sp>
      <p:sp>
        <p:nvSpPr>
          <p:cNvPr id="10" name="Shape 8"/>
          <p:cNvSpPr/>
          <p:nvPr/>
        </p:nvSpPr>
        <p:spPr>
          <a:xfrm>
            <a:off x="4388842" y="1676995"/>
            <a:ext cx="3414216" cy="2114252"/>
          </a:xfrm>
          <a:prstGeom prst="roundRect">
            <a:avLst>
              <a:gd name="adj" fmla="val 4655"/>
            </a:avLst>
          </a:prstGeom>
          <a:solidFill>
            <a:srgbClr val="FCFCFB"/>
          </a:solidFill>
          <a:ln w="6350">
            <a:solidFill>
              <a:srgbClr val="D3DAE1"/>
            </a:solidFill>
            <a:prstDash val="solid"/>
          </a:ln>
        </p:spPr>
      </p:sp>
      <p:sp>
        <p:nvSpPr>
          <p:cNvPr id="11" name="Text 9"/>
          <p:cNvSpPr/>
          <p:nvPr/>
        </p:nvSpPr>
        <p:spPr>
          <a:xfrm>
            <a:off x="4595217" y="185797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2015</a:t>
            </a:r>
            <a:endParaRPr lang="en-US" sz="1200" dirty="0"/>
          </a:p>
        </p:txBody>
      </p:sp>
      <p:sp>
        <p:nvSpPr>
          <p:cNvPr id="12" name="Text 10"/>
          <p:cNvSpPr/>
          <p:nvPr/>
        </p:nvSpPr>
        <p:spPr>
          <a:xfrm>
            <a:off x="4595217" y="214749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Ukrajinska distributivna mreža</a:t>
            </a:r>
            <a:endParaRPr lang="en-US" sz="1600" dirty="0"/>
          </a:p>
        </p:txBody>
      </p:sp>
      <p:sp>
        <p:nvSpPr>
          <p:cNvPr id="13" name="Text 11"/>
          <p:cNvSpPr/>
          <p:nvPr/>
        </p:nvSpPr>
        <p:spPr>
          <a:xfrm>
            <a:off x="4595217" y="246747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Napadači su ukradenim nalozima preko SCADA sistema daljinski otvarali prekidače, a oko 225.000 korisnika ostalo je bez struje.</a:t>
            </a:r>
            <a:endParaRPr lang="en-US" sz="1200" dirty="0"/>
          </a:p>
        </p:txBody>
      </p:sp>
      <p:sp>
        <p:nvSpPr>
          <p:cNvPr id="14" name="Text 12"/>
          <p:cNvSpPr/>
          <p:nvPr/>
        </p:nvSpPr>
        <p:spPr>
          <a:xfrm>
            <a:off x="4595217" y="339695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Pouka: kontrola pristupa i segmentacija</a:t>
            </a:r>
            <a:endParaRPr lang="en-US" sz="1200" dirty="0"/>
          </a:p>
        </p:txBody>
      </p:sp>
      <p:sp>
        <p:nvSpPr>
          <p:cNvPr id="15" name="Shape 13"/>
          <p:cNvSpPr/>
          <p:nvPr/>
        </p:nvSpPr>
        <p:spPr>
          <a:xfrm>
            <a:off x="7961809" y="1676995"/>
            <a:ext cx="3414216" cy="2114252"/>
          </a:xfrm>
          <a:prstGeom prst="roundRect">
            <a:avLst>
              <a:gd name="adj" fmla="val 4655"/>
            </a:avLst>
          </a:prstGeom>
          <a:solidFill>
            <a:srgbClr val="FCFCFB"/>
          </a:solidFill>
          <a:ln w="6350">
            <a:solidFill>
              <a:srgbClr val="D3DAE1"/>
            </a:solidFill>
            <a:prstDash val="solid"/>
          </a:ln>
        </p:spPr>
      </p:sp>
      <p:sp>
        <p:nvSpPr>
          <p:cNvPr id="16" name="Text 14"/>
          <p:cNvSpPr/>
          <p:nvPr/>
        </p:nvSpPr>
        <p:spPr>
          <a:xfrm>
            <a:off x="8168184" y="185797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2017</a:t>
            </a:r>
            <a:endParaRPr lang="en-US" sz="1200" dirty="0"/>
          </a:p>
        </p:txBody>
      </p:sp>
      <p:sp>
        <p:nvSpPr>
          <p:cNvPr id="17" name="Text 15"/>
          <p:cNvSpPr/>
          <p:nvPr/>
        </p:nvSpPr>
        <p:spPr>
          <a:xfrm>
            <a:off x="8168184" y="214749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Triton (Trisis)</a:t>
            </a:r>
            <a:endParaRPr lang="en-US" sz="1600" dirty="0"/>
          </a:p>
        </p:txBody>
      </p:sp>
      <p:sp>
        <p:nvSpPr>
          <p:cNvPr id="18" name="Text 16"/>
          <p:cNvSpPr/>
          <p:nvPr/>
        </p:nvSpPr>
        <p:spPr>
          <a:xfrm>
            <a:off x="8168184" y="2467471"/>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Malver usmeren na sigurnosne instrumentisane sisteme (SIS) u petrohemijskom postrojenju.</a:t>
            </a:r>
            <a:endParaRPr lang="en-US" sz="1200" dirty="0"/>
          </a:p>
        </p:txBody>
      </p:sp>
      <p:sp>
        <p:nvSpPr>
          <p:cNvPr id="19" name="Text 17"/>
          <p:cNvSpPr/>
          <p:nvPr/>
        </p:nvSpPr>
        <p:spPr>
          <a:xfrm>
            <a:off x="8168184" y="3183632"/>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Pouka: zaštita inženjerskih stanica i bezbednosnih funkcija</a:t>
            </a:r>
            <a:endParaRPr lang="en-US" sz="1200" dirty="0"/>
          </a:p>
        </p:txBody>
      </p:sp>
      <p:sp>
        <p:nvSpPr>
          <p:cNvPr id="20" name="Shape 18"/>
          <p:cNvSpPr/>
          <p:nvPr/>
        </p:nvSpPr>
        <p:spPr>
          <a:xfrm>
            <a:off x="812800" y="4048423"/>
            <a:ext cx="10566400" cy="508000"/>
          </a:xfrm>
          <a:prstGeom prst="roundRect">
            <a:avLst>
              <a:gd name="adj" fmla="val 15000"/>
            </a:avLst>
          </a:prstGeom>
          <a:solidFill>
            <a:srgbClr val="DCE8F4"/>
          </a:solidFill>
          <a:ln/>
        </p:spPr>
      </p:sp>
      <p:pic>
        <p:nvPicPr>
          <p:cNvPr id="21" name="Image 0" descr="Lightbulb">    </p:cNvPr>
          <p:cNvPicPr>
            <a:picLocks noChangeAspect="1"/>
          </p:cNvPicPr>
          <p:nvPr/>
        </p:nvPicPr>
        <p:blipFill>
          <a:blip r:embed="rId1"/>
          <a:srcRect l="0" r="0" t="0" b="0"/>
          <a:stretch/>
        </p:blipFill>
        <p:spPr>
          <a:xfrm>
            <a:off x="990600" y="4175423"/>
            <a:ext cx="254000" cy="254000"/>
          </a:xfrm>
          <a:prstGeom prst="rect">
            <a:avLst/>
          </a:prstGeom>
        </p:spPr>
      </p:pic>
      <p:sp>
        <p:nvSpPr>
          <p:cNvPr id="22" name="Text 19"/>
          <p:cNvSpPr/>
          <p:nvPr/>
        </p:nvSpPr>
        <p:spPr>
          <a:xfrm>
            <a:off x="1371600" y="4195763"/>
            <a:ext cx="10124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Zajedničko: napad se odvijao preko legitimnih funkcija sistema — konfiguracije, naloga i komandi.</a:t>
            </a:r>
            <a:endParaRPr lang="en-US" sz="1200" dirty="0"/>
          </a:p>
        </p:txBody>
      </p:sp>
      <p:sp>
        <p:nvSpPr>
          <p:cNvPr id="23" name="Shape 20"/>
          <p:cNvSpPr/>
          <p:nvPr/>
        </p:nvSpPr>
        <p:spPr>
          <a:xfrm>
            <a:off x="812800" y="6209705"/>
            <a:ext cx="10566400" cy="0"/>
          </a:xfrm>
          <a:prstGeom prst="line">
            <a:avLst/>
          </a:prstGeom>
          <a:noFill/>
          <a:ln w="6350">
            <a:solidFill>
              <a:srgbClr val="D3DAE1"/>
            </a:solidFill>
            <a:prstDash val="solid"/>
          </a:ln>
        </p:spPr>
      </p:sp>
      <p:sp>
        <p:nvSpPr>
          <p:cNvPr id="24" name="Text 21"/>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5"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Odgovor na incidente u OT okruženju</a:t>
            </a:r>
            <a:endParaRPr lang="en-US" sz="3000" dirty="0"/>
          </a:p>
        </p:txBody>
      </p:sp>
      <p:sp>
        <p:nvSpPr>
          <p:cNvPr id="5" name="Text 3"/>
          <p:cNvSpPr/>
          <p:nvPr/>
        </p:nvSpPr>
        <p:spPr>
          <a:xfrm>
            <a:off x="819150" y="1680170"/>
            <a:ext cx="2209800" cy="749300"/>
          </a:xfrm>
          <a:prstGeom prst="roundRect">
            <a:avLst>
              <a:gd name="adj" fmla="val 9322"/>
            </a:avLst>
          </a:prstGeom>
          <a:solidFill>
            <a:srgbClr val="FCFCFB"/>
          </a:solidFill>
          <a:ln w="12700">
            <a:solidFill>
              <a:srgbClr val="13202D"/>
            </a:solidFill>
            <a:prstDash val="solid"/>
          </a:ln>
        </p:spPr>
        <p:txBody>
          <a:bodyPr wrap="square" lIns="0" tIns="0" rIns="0" bIns="0" rtlCol="0" anchor="ctr">
            <a:normAutofit/>
          </a:bodyPr>
          <a:lstStyle/>
          <a:p>
            <a:pPr algn="ct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Priprema</a:t>
            </a:r>
            <a:endParaRPr lang="en-US" sz="1400" dirty="0"/>
          </a:p>
        </p:txBody>
      </p:sp>
      <p:sp>
        <p:nvSpPr>
          <p:cNvPr id="6" name="Text 4"/>
          <p:cNvSpPr/>
          <p:nvPr/>
        </p:nvSpPr>
        <p:spPr>
          <a:xfrm>
            <a:off x="3600450" y="1680170"/>
            <a:ext cx="2209800" cy="749300"/>
          </a:xfrm>
          <a:prstGeom prst="roundRect">
            <a:avLst>
              <a:gd name="adj" fmla="val 9322"/>
            </a:avLst>
          </a:prstGeom>
          <a:solidFill>
            <a:srgbClr val="DCE8F4"/>
          </a:solidFill>
          <a:ln w="12700">
            <a:solidFill>
              <a:srgbClr val="0A5CA8"/>
            </a:solidFill>
            <a:prstDash val="solid"/>
          </a:ln>
        </p:spPr>
        <p:txBody>
          <a:bodyPr wrap="square" lIns="0" tIns="0" rIns="0" bIns="0" rtlCol="0" anchor="ctr">
            <a:normAutofit/>
          </a:bodyPr>
          <a:lstStyle/>
          <a:p>
            <a:pPr algn="ct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Detekcija i analiza</a:t>
            </a:r>
            <a:endParaRPr lang="en-US" sz="1400" dirty="0"/>
          </a:p>
        </p:txBody>
      </p:sp>
      <p:sp>
        <p:nvSpPr>
          <p:cNvPr id="7" name="Text 5"/>
          <p:cNvSpPr/>
          <p:nvPr/>
        </p:nvSpPr>
        <p:spPr>
          <a:xfrm>
            <a:off x="6375400" y="1673820"/>
            <a:ext cx="2222500" cy="762000"/>
          </a:xfrm>
          <a:prstGeom prst="roundRect">
            <a:avLst>
              <a:gd name="adj" fmla="val 10000"/>
            </a:avLst>
          </a:prstGeom>
          <a:solidFill>
            <a:srgbClr val="0A5CA8"/>
          </a:solidFill>
          <a:ln/>
        </p:spPr>
        <p:txBody>
          <a:bodyPr wrap="square" lIns="75154" tIns="0" rIns="75154" bIns="0" rtlCol="0" anchor="ctr">
            <a:normAutofit/>
          </a:bodyPr>
          <a:lstStyle/>
          <a:p>
            <a:pPr algn="ctr" indent="0" marL="0">
              <a:lnSpc>
                <a:spcPts val="1750"/>
              </a:lnSpc>
              <a:buNone/>
            </a:pPr>
            <a:r>
              <a:rPr lang="en-US" sz="1400" b="1" dirty="0">
                <a:solidFill>
                  <a:srgbClr val="F6F7F5"/>
                </a:solidFill>
                <a:latin typeface="IBM Plex Sans" pitchFamily="34" charset="0"/>
                <a:ea typeface="IBM Plex Sans" pitchFamily="34" charset="-122"/>
                <a:cs typeface="IBM Plex Sans" pitchFamily="34" charset="-120"/>
              </a:rPr>
              <a:t>Obuzdavanje, uklanjanje i oporavak</a:t>
            </a:r>
            <a:endParaRPr lang="en-US" sz="1400" dirty="0"/>
          </a:p>
        </p:txBody>
      </p:sp>
      <p:sp>
        <p:nvSpPr>
          <p:cNvPr id="8" name="Text 6"/>
          <p:cNvSpPr/>
          <p:nvPr/>
        </p:nvSpPr>
        <p:spPr>
          <a:xfrm>
            <a:off x="9163050" y="1680170"/>
            <a:ext cx="2209800" cy="749300"/>
          </a:xfrm>
          <a:prstGeom prst="roundRect">
            <a:avLst>
              <a:gd name="adj" fmla="val 9322"/>
            </a:avLst>
          </a:prstGeom>
          <a:solidFill>
            <a:srgbClr val="FCFCFB"/>
          </a:solidFill>
          <a:ln w="12700">
            <a:solidFill>
              <a:srgbClr val="13202D"/>
            </a:solidFill>
            <a:prstDash val="solid"/>
          </a:ln>
        </p:spPr>
        <p:txBody>
          <a:bodyPr wrap="square" lIns="83745" tIns="0" rIns="83745" bIns="0" rtlCol="0" anchor="ctr">
            <a:normAutofit/>
          </a:bodyPr>
          <a:lstStyle/>
          <a:p>
            <a:pPr algn="ctr"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Aktivnosti posle incidenta</a:t>
            </a:r>
            <a:endParaRPr lang="en-US" sz="1400" dirty="0"/>
          </a:p>
        </p:txBody>
      </p:sp>
      <p:pic>
        <p:nvPicPr>
          <p:cNvPr id="9" name="Image 0" descr="connector">    </p:cNvPr>
          <p:cNvPicPr>
            <a:picLocks noChangeAspect="1"/>
          </p:cNvPicPr>
          <p:nvPr/>
        </p:nvPicPr>
        <p:blipFill>
          <a:blip r:embed="rId1"/>
          <a:srcRect l="0" r="0" t="0" b="0"/>
          <a:stretch/>
        </p:blipFill>
        <p:spPr>
          <a:xfrm>
            <a:off x="2984500" y="2004020"/>
            <a:ext cx="660400" cy="101600"/>
          </a:xfrm>
          <a:prstGeom prst="rect">
            <a:avLst/>
          </a:prstGeom>
        </p:spPr>
      </p:pic>
      <p:pic>
        <p:nvPicPr>
          <p:cNvPr id="10" name="Image 1" descr="connector">    </p:cNvPr>
          <p:cNvPicPr>
            <a:picLocks noChangeAspect="1"/>
          </p:cNvPicPr>
          <p:nvPr/>
        </p:nvPicPr>
        <p:blipFill>
          <a:blip r:embed="rId2"/>
          <a:srcRect l="0" r="0" t="0" b="0"/>
          <a:stretch/>
        </p:blipFill>
        <p:spPr>
          <a:xfrm>
            <a:off x="5765800" y="2004020"/>
            <a:ext cx="660400" cy="101600"/>
          </a:xfrm>
          <a:prstGeom prst="rect">
            <a:avLst/>
          </a:prstGeom>
        </p:spPr>
      </p:pic>
      <p:pic>
        <p:nvPicPr>
          <p:cNvPr id="11" name="Image 2" descr="connector">    </p:cNvPr>
          <p:cNvPicPr>
            <a:picLocks noChangeAspect="1"/>
          </p:cNvPicPr>
          <p:nvPr/>
        </p:nvPicPr>
        <p:blipFill>
          <a:blip r:embed="rId3"/>
          <a:srcRect l="0" r="0" t="0" b="0"/>
          <a:stretch/>
        </p:blipFill>
        <p:spPr>
          <a:xfrm>
            <a:off x="8547100" y="2004020"/>
            <a:ext cx="660400" cy="101600"/>
          </a:xfrm>
          <a:prstGeom prst="rect">
            <a:avLst/>
          </a:prstGeom>
        </p:spPr>
      </p:pic>
      <p:pic>
        <p:nvPicPr>
          <p:cNvPr id="12" name="Image 3" descr="connector">    </p:cNvPr>
          <p:cNvPicPr>
            <a:picLocks noChangeAspect="1"/>
          </p:cNvPicPr>
          <p:nvPr/>
        </p:nvPicPr>
        <p:blipFill>
          <a:blip r:embed="rId4"/>
          <a:srcRect l="0" r="0" t="0" b="0"/>
          <a:stretch/>
        </p:blipFill>
        <p:spPr>
          <a:xfrm>
            <a:off x="10217150" y="2385020"/>
            <a:ext cx="101600" cy="393700"/>
          </a:xfrm>
          <a:prstGeom prst="rect">
            <a:avLst/>
          </a:prstGeom>
        </p:spPr>
      </p:pic>
      <p:pic>
        <p:nvPicPr>
          <p:cNvPr id="13" name="Image 4" descr="connector">    </p:cNvPr>
          <p:cNvPicPr>
            <a:picLocks noChangeAspect="1"/>
          </p:cNvPicPr>
          <p:nvPr/>
        </p:nvPicPr>
        <p:blipFill>
          <a:blip r:embed="rId5"/>
          <a:srcRect l="0" r="0" t="0" b="0"/>
          <a:stretch/>
        </p:blipFill>
        <p:spPr>
          <a:xfrm>
            <a:off x="1873250" y="2677120"/>
            <a:ext cx="8445500" cy="101600"/>
          </a:xfrm>
          <a:prstGeom prst="rect">
            <a:avLst/>
          </a:prstGeom>
        </p:spPr>
      </p:pic>
      <p:pic>
        <p:nvPicPr>
          <p:cNvPr id="14" name="Image 5" descr="connector">    </p:cNvPr>
          <p:cNvPicPr>
            <a:picLocks noChangeAspect="1"/>
          </p:cNvPicPr>
          <p:nvPr/>
        </p:nvPicPr>
        <p:blipFill>
          <a:blip r:embed="rId6"/>
          <a:srcRect l="0" r="0" t="0" b="0"/>
          <a:stretch/>
        </p:blipFill>
        <p:spPr>
          <a:xfrm>
            <a:off x="1873250" y="2385020"/>
            <a:ext cx="101600" cy="393700"/>
          </a:xfrm>
          <a:prstGeom prst="rect">
            <a:avLst/>
          </a:prstGeom>
        </p:spPr>
      </p:pic>
      <p:sp>
        <p:nvSpPr>
          <p:cNvPr id="15" name="Text 7"/>
          <p:cNvSpPr/>
          <p:nvPr/>
        </p:nvSpPr>
        <p:spPr>
          <a:xfrm>
            <a:off x="3479800" y="2804120"/>
            <a:ext cx="5232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A5CA8"/>
                </a:solidFill>
                <a:latin typeface="IBM Plex Sans" pitchFamily="34" charset="0"/>
                <a:ea typeface="IBM Plex Sans" pitchFamily="34" charset="-122"/>
                <a:cs typeface="IBM Plex Sans" pitchFamily="34" charset="-120"/>
              </a:rPr>
              <a:t>pouke se vraćaju u pripremu</a:t>
            </a:r>
            <a:endParaRPr lang="en-US" sz="1200" dirty="0"/>
          </a:p>
        </p:txBody>
      </p:sp>
      <p:sp>
        <p:nvSpPr>
          <p:cNvPr id="16" name="Shape 8"/>
          <p:cNvSpPr/>
          <p:nvPr/>
        </p:nvSpPr>
        <p:spPr>
          <a:xfrm>
            <a:off x="815975" y="3327995"/>
            <a:ext cx="3414117" cy="1014611"/>
          </a:xfrm>
          <a:prstGeom prst="roundRect">
            <a:avLst>
              <a:gd name="adj" fmla="val 9701"/>
            </a:avLst>
          </a:prstGeom>
          <a:solidFill>
            <a:srgbClr val="FCFCFB"/>
          </a:solidFill>
          <a:ln w="6350">
            <a:solidFill>
              <a:srgbClr val="D3DAE1"/>
            </a:solidFill>
            <a:prstDash val="solid"/>
          </a:ln>
        </p:spPr>
      </p:sp>
      <p:sp>
        <p:nvSpPr>
          <p:cNvPr id="17" name="Text 9"/>
          <p:cNvSpPr/>
          <p:nvPr/>
        </p:nvSpPr>
        <p:spPr>
          <a:xfrm>
            <a:off x="996950" y="3483570"/>
            <a:ext cx="31437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Bezbednost procesa pre svega</a:t>
            </a:r>
            <a:endParaRPr lang="en-US" sz="1400" dirty="0"/>
          </a:p>
        </p:txBody>
      </p:sp>
      <p:sp>
        <p:nvSpPr>
          <p:cNvPr id="18" name="Text 10"/>
          <p:cNvSpPr/>
          <p:nvPr/>
        </p:nvSpPr>
        <p:spPr>
          <a:xfrm>
            <a:off x="996950" y="3760391"/>
            <a:ext cx="31437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Naglo isključenje sistema može biti opasnije od samog napada.</a:t>
            </a:r>
            <a:endParaRPr lang="en-US" sz="1200" dirty="0"/>
          </a:p>
        </p:txBody>
      </p:sp>
      <p:sp>
        <p:nvSpPr>
          <p:cNvPr id="19" name="Shape 11"/>
          <p:cNvSpPr/>
          <p:nvPr/>
        </p:nvSpPr>
        <p:spPr>
          <a:xfrm>
            <a:off x="4388842" y="3327995"/>
            <a:ext cx="3414216" cy="1014611"/>
          </a:xfrm>
          <a:prstGeom prst="roundRect">
            <a:avLst>
              <a:gd name="adj" fmla="val 9701"/>
            </a:avLst>
          </a:prstGeom>
          <a:solidFill>
            <a:srgbClr val="FCFCFB"/>
          </a:solidFill>
          <a:ln w="6350">
            <a:solidFill>
              <a:srgbClr val="D3DAE1"/>
            </a:solidFill>
            <a:prstDash val="solid"/>
          </a:ln>
        </p:spPr>
      </p:sp>
      <p:sp>
        <p:nvSpPr>
          <p:cNvPr id="20" name="Text 12"/>
          <p:cNvSpPr/>
          <p:nvPr/>
        </p:nvSpPr>
        <p:spPr>
          <a:xfrm>
            <a:off x="4569817" y="3483570"/>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Rezervni režim rada</a:t>
            </a:r>
            <a:endParaRPr lang="en-US" sz="1400" dirty="0"/>
          </a:p>
        </p:txBody>
      </p:sp>
      <p:sp>
        <p:nvSpPr>
          <p:cNvPr id="21" name="Text 13"/>
          <p:cNvSpPr/>
          <p:nvPr/>
        </p:nvSpPr>
        <p:spPr>
          <a:xfrm>
            <a:off x="4569817" y="376039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Ručno i lokalno upravljanje dok se sistem ne vrati u pouzdano stanje.</a:t>
            </a:r>
            <a:endParaRPr lang="en-US" sz="1200" dirty="0"/>
          </a:p>
        </p:txBody>
      </p:sp>
      <p:sp>
        <p:nvSpPr>
          <p:cNvPr id="22" name="Shape 14"/>
          <p:cNvSpPr/>
          <p:nvPr/>
        </p:nvSpPr>
        <p:spPr>
          <a:xfrm>
            <a:off x="7961809" y="3327995"/>
            <a:ext cx="3414216" cy="1014611"/>
          </a:xfrm>
          <a:prstGeom prst="roundRect">
            <a:avLst>
              <a:gd name="adj" fmla="val 9701"/>
            </a:avLst>
          </a:prstGeom>
          <a:solidFill>
            <a:srgbClr val="FCFCFB"/>
          </a:solidFill>
          <a:ln w="6350">
            <a:solidFill>
              <a:srgbClr val="D3DAE1"/>
            </a:solidFill>
            <a:prstDash val="solid"/>
          </a:ln>
        </p:spPr>
      </p:sp>
      <p:sp>
        <p:nvSpPr>
          <p:cNvPr id="23" name="Text 15"/>
          <p:cNvSpPr/>
          <p:nvPr/>
        </p:nvSpPr>
        <p:spPr>
          <a:xfrm>
            <a:off x="8142784" y="3483570"/>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Forenzički tragovi</a:t>
            </a:r>
            <a:endParaRPr lang="en-US" sz="1400" dirty="0"/>
          </a:p>
        </p:txBody>
      </p:sp>
      <p:sp>
        <p:nvSpPr>
          <p:cNvPr id="24" name="Text 16"/>
          <p:cNvSpPr/>
          <p:nvPr/>
        </p:nvSpPr>
        <p:spPr>
          <a:xfrm>
            <a:off x="8142784" y="376039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Historian, revizioni zapisi i logika kontrolera, uz usklađene vremenske oznake.</a:t>
            </a:r>
            <a:endParaRPr lang="en-US" sz="1200" dirty="0"/>
          </a:p>
        </p:txBody>
      </p:sp>
      <p:sp>
        <p:nvSpPr>
          <p:cNvPr id="25" name="Text 17"/>
          <p:cNvSpPr/>
          <p:nvPr/>
        </p:nvSpPr>
        <p:spPr>
          <a:xfrm>
            <a:off x="812800" y="459978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Životni ciklus prema NIST SP 800-61 Rev. 2.</a:t>
            </a:r>
            <a:endParaRPr lang="en-US" sz="1200" dirty="0"/>
          </a:p>
        </p:txBody>
      </p:sp>
      <p:sp>
        <p:nvSpPr>
          <p:cNvPr id="26" name="Shape 18"/>
          <p:cNvSpPr/>
          <p:nvPr/>
        </p:nvSpPr>
        <p:spPr>
          <a:xfrm>
            <a:off x="812800" y="6209705"/>
            <a:ext cx="10566400" cy="0"/>
          </a:xfrm>
          <a:prstGeom prst="line">
            <a:avLst/>
          </a:prstGeom>
          <a:noFill/>
          <a:ln w="6350">
            <a:solidFill>
              <a:srgbClr val="D3DAE1"/>
            </a:solidFill>
            <a:prstDash val="solid"/>
          </a:ln>
        </p:spPr>
      </p:sp>
      <p:sp>
        <p:nvSpPr>
          <p:cNvPr id="27" name="Text 19"/>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28" name="Text 2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05 · BEZBEDNOST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Standardi i regulatorni okvir</a:t>
            </a:r>
            <a:endParaRPr lang="en-US" sz="3000" dirty="0"/>
          </a:p>
        </p:txBody>
      </p:sp>
      <p:sp>
        <p:nvSpPr>
          <p:cNvPr id="5" name="Shape 3"/>
          <p:cNvSpPr/>
          <p:nvPr/>
        </p:nvSpPr>
        <p:spPr>
          <a:xfrm>
            <a:off x="815975" y="1676995"/>
            <a:ext cx="3414117" cy="1555552"/>
          </a:xfrm>
          <a:prstGeom prst="roundRect">
            <a:avLst>
              <a:gd name="adj" fmla="val 6327"/>
            </a:avLst>
          </a:prstGeom>
          <a:solidFill>
            <a:srgbClr val="FCFCFB"/>
          </a:solidFill>
          <a:ln w="6350">
            <a:solidFill>
              <a:srgbClr val="D3DAE1"/>
            </a:solidFill>
            <a:prstDash val="solid"/>
          </a:ln>
        </p:spPr>
      </p:sp>
      <p:sp>
        <p:nvSpPr>
          <p:cNvPr id="6" name="Text 4"/>
          <p:cNvSpPr/>
          <p:nvPr/>
        </p:nvSpPr>
        <p:spPr>
          <a:xfrm>
            <a:off x="1022350" y="1857970"/>
            <a:ext cx="30914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STANDARD</a:t>
            </a:r>
            <a:endParaRPr lang="en-US" sz="1200" dirty="0"/>
          </a:p>
        </p:txBody>
      </p:sp>
      <p:sp>
        <p:nvSpPr>
          <p:cNvPr id="7" name="Text 5"/>
          <p:cNvSpPr/>
          <p:nvPr/>
        </p:nvSpPr>
        <p:spPr>
          <a:xfrm>
            <a:off x="1022350" y="2134791"/>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IEC 62443</a:t>
            </a:r>
            <a:endParaRPr lang="en-US" sz="1400" dirty="0"/>
          </a:p>
        </p:txBody>
      </p:sp>
      <p:sp>
        <p:nvSpPr>
          <p:cNvPr id="8" name="Text 6"/>
          <p:cNvSpPr/>
          <p:nvPr/>
        </p:nvSpPr>
        <p:spPr>
          <a:xfrm>
            <a:off x="1022350" y="2411611"/>
            <a:ext cx="30914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Bezbednost sistema industrijske automatizacije za vlasnike, integratore i proizvođače.</a:t>
            </a:r>
            <a:endParaRPr lang="en-US" sz="1200" dirty="0"/>
          </a:p>
        </p:txBody>
      </p:sp>
      <p:sp>
        <p:nvSpPr>
          <p:cNvPr id="9" name="Shape 7"/>
          <p:cNvSpPr/>
          <p:nvPr/>
        </p:nvSpPr>
        <p:spPr>
          <a:xfrm>
            <a:off x="4388842" y="1676995"/>
            <a:ext cx="3414216" cy="1555552"/>
          </a:xfrm>
          <a:prstGeom prst="roundRect">
            <a:avLst>
              <a:gd name="adj" fmla="val 6327"/>
            </a:avLst>
          </a:prstGeom>
          <a:solidFill>
            <a:srgbClr val="FCFCFB"/>
          </a:solidFill>
          <a:ln w="6350">
            <a:solidFill>
              <a:srgbClr val="D3DAE1"/>
            </a:solidFill>
            <a:prstDash val="solid"/>
          </a:ln>
        </p:spPr>
      </p:sp>
      <p:sp>
        <p:nvSpPr>
          <p:cNvPr id="10" name="Text 8"/>
          <p:cNvSpPr/>
          <p:nvPr/>
        </p:nvSpPr>
        <p:spPr>
          <a:xfrm>
            <a:off x="4595217" y="185797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SMERNICE</a:t>
            </a:r>
            <a:endParaRPr lang="en-US" sz="1200" dirty="0"/>
          </a:p>
        </p:txBody>
      </p:sp>
      <p:sp>
        <p:nvSpPr>
          <p:cNvPr id="11" name="Text 9"/>
          <p:cNvSpPr/>
          <p:nvPr/>
        </p:nvSpPr>
        <p:spPr>
          <a:xfrm>
            <a:off x="4595217" y="213479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NIST SP 800-82 Rev. 3</a:t>
            </a:r>
            <a:endParaRPr lang="en-US" sz="1400" dirty="0"/>
          </a:p>
        </p:txBody>
      </p:sp>
      <p:sp>
        <p:nvSpPr>
          <p:cNvPr id="12" name="Text 10"/>
          <p:cNvSpPr/>
          <p:nvPr/>
        </p:nvSpPr>
        <p:spPr>
          <a:xfrm>
            <a:off x="4595217" y="241161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Preporuke za zaštitu operativne tehnologije, od arhitekture do odgovora na incidente.</a:t>
            </a:r>
            <a:endParaRPr lang="en-US" sz="1200" dirty="0"/>
          </a:p>
        </p:txBody>
      </p:sp>
      <p:sp>
        <p:nvSpPr>
          <p:cNvPr id="13" name="Shape 11"/>
          <p:cNvSpPr/>
          <p:nvPr/>
        </p:nvSpPr>
        <p:spPr>
          <a:xfrm>
            <a:off x="7961809" y="1676995"/>
            <a:ext cx="3414216" cy="1555552"/>
          </a:xfrm>
          <a:prstGeom prst="roundRect">
            <a:avLst>
              <a:gd name="adj" fmla="val 6327"/>
            </a:avLst>
          </a:prstGeom>
          <a:solidFill>
            <a:srgbClr val="FCFCFB"/>
          </a:solidFill>
          <a:ln w="6350">
            <a:solidFill>
              <a:srgbClr val="D3DAE1"/>
            </a:solidFill>
            <a:prstDash val="solid"/>
          </a:ln>
        </p:spPr>
      </p:sp>
      <p:sp>
        <p:nvSpPr>
          <p:cNvPr id="14" name="Text 12"/>
          <p:cNvSpPr/>
          <p:nvPr/>
        </p:nvSpPr>
        <p:spPr>
          <a:xfrm>
            <a:off x="8168184" y="185797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OKVIR</a:t>
            </a:r>
            <a:endParaRPr lang="en-US" sz="1200" dirty="0"/>
          </a:p>
        </p:txBody>
      </p:sp>
      <p:sp>
        <p:nvSpPr>
          <p:cNvPr id="15" name="Text 13"/>
          <p:cNvSpPr/>
          <p:nvPr/>
        </p:nvSpPr>
        <p:spPr>
          <a:xfrm>
            <a:off x="8168184" y="213479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NIST CSF 2.0</a:t>
            </a:r>
            <a:endParaRPr lang="en-US" sz="1400" dirty="0"/>
          </a:p>
        </p:txBody>
      </p:sp>
      <p:sp>
        <p:nvSpPr>
          <p:cNvPr id="16" name="Text 14"/>
          <p:cNvSpPr/>
          <p:nvPr/>
        </p:nvSpPr>
        <p:spPr>
          <a:xfrm>
            <a:off x="8168184" y="241161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Funkcije upravljanja, identifikacije, zaštite, detekcije, odgovora i oporavka.</a:t>
            </a:r>
            <a:endParaRPr lang="en-US" sz="1200" dirty="0"/>
          </a:p>
        </p:txBody>
      </p:sp>
      <p:sp>
        <p:nvSpPr>
          <p:cNvPr id="17" name="Shape 15"/>
          <p:cNvSpPr/>
          <p:nvPr/>
        </p:nvSpPr>
        <p:spPr>
          <a:xfrm>
            <a:off x="815975" y="3391297"/>
            <a:ext cx="3414117" cy="1555552"/>
          </a:xfrm>
          <a:prstGeom prst="roundRect">
            <a:avLst>
              <a:gd name="adj" fmla="val 6327"/>
            </a:avLst>
          </a:prstGeom>
          <a:solidFill>
            <a:srgbClr val="FCFCFB"/>
          </a:solidFill>
          <a:ln w="6350">
            <a:solidFill>
              <a:srgbClr val="D3DAE1"/>
            </a:solidFill>
            <a:prstDash val="solid"/>
          </a:ln>
        </p:spPr>
      </p:sp>
      <p:sp>
        <p:nvSpPr>
          <p:cNvPr id="18" name="Text 16"/>
          <p:cNvSpPr/>
          <p:nvPr/>
        </p:nvSpPr>
        <p:spPr>
          <a:xfrm>
            <a:off x="1022350" y="3572272"/>
            <a:ext cx="30914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BAZA ZNANJA</a:t>
            </a:r>
            <a:endParaRPr lang="en-US" sz="1200" dirty="0"/>
          </a:p>
        </p:txBody>
      </p:sp>
      <p:sp>
        <p:nvSpPr>
          <p:cNvPr id="19" name="Text 17"/>
          <p:cNvSpPr/>
          <p:nvPr/>
        </p:nvSpPr>
        <p:spPr>
          <a:xfrm>
            <a:off x="1022350" y="3849092"/>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MITRE ATT&amp;CK for ICS</a:t>
            </a:r>
            <a:endParaRPr lang="en-US" sz="1400" dirty="0"/>
          </a:p>
        </p:txBody>
      </p:sp>
      <p:sp>
        <p:nvSpPr>
          <p:cNvPr id="20" name="Text 18"/>
          <p:cNvSpPr/>
          <p:nvPr/>
        </p:nvSpPr>
        <p:spPr>
          <a:xfrm>
            <a:off x="1022350" y="4125913"/>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Taktike i tehnike napadača zasnovane na stvarnim incidentima.</a:t>
            </a:r>
            <a:endParaRPr lang="en-US" sz="1200" dirty="0"/>
          </a:p>
        </p:txBody>
      </p:sp>
      <p:sp>
        <p:nvSpPr>
          <p:cNvPr id="21" name="Shape 19"/>
          <p:cNvSpPr/>
          <p:nvPr/>
        </p:nvSpPr>
        <p:spPr>
          <a:xfrm>
            <a:off x="4388842" y="3391297"/>
            <a:ext cx="3414216" cy="1555552"/>
          </a:xfrm>
          <a:prstGeom prst="roundRect">
            <a:avLst>
              <a:gd name="adj" fmla="val 6327"/>
            </a:avLst>
          </a:prstGeom>
          <a:solidFill>
            <a:srgbClr val="FCFCFB"/>
          </a:solidFill>
          <a:ln w="6350">
            <a:solidFill>
              <a:srgbClr val="D3DAE1"/>
            </a:solidFill>
            <a:prstDash val="solid"/>
          </a:ln>
        </p:spPr>
      </p:sp>
      <p:sp>
        <p:nvSpPr>
          <p:cNvPr id="22" name="Text 20"/>
          <p:cNvSpPr/>
          <p:nvPr/>
        </p:nvSpPr>
        <p:spPr>
          <a:xfrm>
            <a:off x="4595217" y="3572272"/>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EVROPSKA UNIJA</a:t>
            </a:r>
            <a:endParaRPr lang="en-US" sz="1200" dirty="0"/>
          </a:p>
        </p:txBody>
      </p:sp>
      <p:sp>
        <p:nvSpPr>
          <p:cNvPr id="23" name="Text 21"/>
          <p:cNvSpPr/>
          <p:nvPr/>
        </p:nvSpPr>
        <p:spPr>
          <a:xfrm>
            <a:off x="4595217" y="3849092"/>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Direktiva NIS2</a:t>
            </a:r>
            <a:endParaRPr lang="en-US" sz="1400" dirty="0"/>
          </a:p>
        </p:txBody>
      </p:sp>
      <p:sp>
        <p:nvSpPr>
          <p:cNvPr id="24" name="Text 22"/>
          <p:cNvSpPr/>
          <p:nvPr/>
        </p:nvSpPr>
        <p:spPr>
          <a:xfrm>
            <a:off x="4595217" y="4125913"/>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Upravljanje rizikom i prijava incidenata u energetici, vodosnabdevanju, saobraćaju i drugim sektorima.</a:t>
            </a:r>
            <a:endParaRPr lang="en-US" sz="1200" dirty="0"/>
          </a:p>
        </p:txBody>
      </p:sp>
      <p:sp>
        <p:nvSpPr>
          <p:cNvPr id="25" name="Shape 23"/>
          <p:cNvSpPr/>
          <p:nvPr/>
        </p:nvSpPr>
        <p:spPr>
          <a:xfrm>
            <a:off x="7961809" y="3391297"/>
            <a:ext cx="3414216" cy="1555552"/>
          </a:xfrm>
          <a:prstGeom prst="roundRect">
            <a:avLst>
              <a:gd name="adj" fmla="val 6327"/>
            </a:avLst>
          </a:prstGeom>
          <a:solidFill>
            <a:srgbClr val="FCFCFB"/>
          </a:solidFill>
          <a:ln w="6350">
            <a:solidFill>
              <a:srgbClr val="D3DAE1"/>
            </a:solidFill>
            <a:prstDash val="solid"/>
          </a:ln>
        </p:spPr>
      </p:sp>
      <p:sp>
        <p:nvSpPr>
          <p:cNvPr id="26" name="Text 24"/>
          <p:cNvSpPr/>
          <p:nvPr/>
        </p:nvSpPr>
        <p:spPr>
          <a:xfrm>
            <a:off x="8168184" y="3572272"/>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REPUBLIKA SRBIJA</a:t>
            </a:r>
            <a:endParaRPr lang="en-US" sz="1200" dirty="0"/>
          </a:p>
        </p:txBody>
      </p:sp>
      <p:sp>
        <p:nvSpPr>
          <p:cNvPr id="27" name="Text 25"/>
          <p:cNvSpPr/>
          <p:nvPr/>
        </p:nvSpPr>
        <p:spPr>
          <a:xfrm>
            <a:off x="8168184" y="3849092"/>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Zakon o informacionoj bezbednosti</a:t>
            </a:r>
            <a:endParaRPr lang="en-US" sz="1400" dirty="0"/>
          </a:p>
        </p:txBody>
      </p:sp>
      <p:sp>
        <p:nvSpPr>
          <p:cNvPr id="28" name="Text 26"/>
          <p:cNvSpPr/>
          <p:nvPr/>
        </p:nvSpPr>
        <p:spPr>
          <a:xfrm>
            <a:off x="8168184" y="4125913"/>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IKT sistemi od posebnog značaja, mere zaštite i obaveštavanje o incidentima.</a:t>
            </a:r>
            <a:endParaRPr lang="en-US" sz="1200" dirty="0"/>
          </a:p>
        </p:txBody>
      </p:sp>
      <p:sp>
        <p:nvSpPr>
          <p:cNvPr id="29" name="Shape 27"/>
          <p:cNvSpPr/>
          <p:nvPr/>
        </p:nvSpPr>
        <p:spPr>
          <a:xfrm>
            <a:off x="812800" y="6209705"/>
            <a:ext cx="10566400" cy="0"/>
          </a:xfrm>
          <a:prstGeom prst="line">
            <a:avLst/>
          </a:prstGeom>
          <a:noFill/>
          <a:ln w="6350">
            <a:solidFill>
              <a:srgbClr val="D3DAE1"/>
            </a:solidFill>
            <a:prstDash val="solid"/>
          </a:ln>
        </p:spPr>
      </p:sp>
      <p:sp>
        <p:nvSpPr>
          <p:cNvPr id="30" name="Text 28"/>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1"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ZAVRŠNI DEO</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Od opštih pojmova do projekta SCADALattice</a:t>
            </a:r>
            <a:endParaRPr lang="en-US" sz="3000" dirty="0"/>
          </a:p>
        </p:txBody>
      </p:sp>
      <p:sp>
        <p:nvSpPr>
          <p:cNvPr id="5" name="Shape 3"/>
          <p:cNvSpPr/>
          <p:nvPr/>
        </p:nvSpPr>
        <p:spPr>
          <a:xfrm>
            <a:off x="812800" y="1673820"/>
            <a:ext cx="10566400" cy="4097635"/>
          </a:xfrm>
          <a:prstGeom prst="roundRect">
            <a:avLst>
              <a:gd name="adj" fmla="val 2479"/>
            </a:avLst>
          </a:prstGeom>
          <a:solidFill>
            <a:srgbClr val="FCFCFB"/>
          </a:solidFill>
          <a:ln/>
        </p:spPr>
      </p:sp>
      <p:sp>
        <p:nvSpPr>
          <p:cNvPr id="6" name="Shape 4"/>
          <p:cNvSpPr/>
          <p:nvPr/>
        </p:nvSpPr>
        <p:spPr>
          <a:xfrm>
            <a:off x="812800" y="1673820"/>
            <a:ext cx="10566400" cy="4097635"/>
          </a:xfrm>
          <a:custGeom>
            <a:avLst/>
            <a:gdLst/>
            <a:ahLst/>
            <a:cxnLst/>
            <a:rect l="l" t="t" r="r" b="b"/>
            <a:pathLst>
              <a:path w="10566400" h="4097635">
                <a:moveTo>
                  <a:pt x="10464800" y="0"/>
                </a:moveTo>
                <a:lnTo>
                  <a:pt x="10464800" y="0"/>
                </a:lnTo>
                <a:arcTo hR="101600" wR="101600" stAng="16200000" swAng="5400000"/>
                <a:lnTo>
                  <a:pt x="10566400" y="3996035"/>
                </a:lnTo>
                <a:arcTo hR="101600" wR="101600" stAng="0" swAng="5400000"/>
                <a:lnTo>
                  <a:pt x="101600" y="4097635"/>
                </a:lnTo>
                <a:arcTo hR="101600" wR="101600" stAng="5400000" swAng="5400000"/>
                <a:lnTo>
                  <a:pt x="0" y="3996035"/>
                </a:lnTo>
                <a:arcTo hR="95250" wR="101600" stAng="10800000" swAng="-5400000"/>
                <a:lnTo>
                  <a:pt x="10464800" y="4091285"/>
                </a:lnTo>
                <a:arcTo hR="95250" wR="95250" stAng="5400000" swAng="-5400000"/>
                <a:lnTo>
                  <a:pt x="10560050" y="101600"/>
                </a:lnTo>
                <a:arcTo hR="101600" wR="95250" stAng="0" swAng="-5400000"/>
                <a:close/>
              </a:path>
            </a:pathLst>
          </a:custGeom>
          <a:solidFill>
            <a:srgbClr val="D3DAE1"/>
          </a:solidFill>
          <a:ln/>
        </p:spPr>
      </p:sp>
      <p:sp>
        <p:nvSpPr>
          <p:cNvPr id="7" name="Shape 5"/>
          <p:cNvSpPr/>
          <p:nvPr/>
        </p:nvSpPr>
        <p:spPr>
          <a:xfrm>
            <a:off x="812800" y="1673820"/>
            <a:ext cx="10566400" cy="4097635"/>
          </a:xfrm>
          <a:custGeom>
            <a:avLst/>
            <a:gdLst/>
            <a:ahLst/>
            <a:cxnLst/>
            <a:rect l="l" t="t" r="r" b="b"/>
            <a:pathLst>
              <a:path w="10566400" h="4097635">
                <a:moveTo>
                  <a:pt x="101600" y="4097635"/>
                </a:moveTo>
                <a:lnTo>
                  <a:pt x="101600" y="4097635"/>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3996035"/>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686520"/>
          <a:ext cx="10547350" cy="4078585"/>
        </p:xfrm>
        <a:graphic>
          <a:graphicData uri="http://schemas.openxmlformats.org/drawingml/2006/table">
            <a:tbl>
              <a:tblPr/>
              <a:tblGrid>
                <a:gridCol w="3586099"/>
                <a:gridCol w="6961251"/>
              </a:tblGrid>
              <a:tr h="370780">
                <a:tc>
                  <a:txBody>
                    <a:bodyPr/>
                    <a:lstStyle/>
                    <a:p>
                      <a:pPr indent="0" marL="0">
                        <a:lnSpc>
                          <a:spcPts val="1680"/>
                        </a:lnSpc>
                        <a:buNone/>
                      </a:pPr>
                      <a:r>
                        <a:rPr lang="en-US" sz="1200" b="1" dirty="0">
                          <a:solidFill>
                            <a:srgbClr val="13202D"/>
                          </a:solidFill>
                          <a:latin typeface="IBM Plex Sans" pitchFamily="34" charset="0"/>
                          <a:ea typeface="IBM Plex Sans" pitchFamily="34" charset="-122"/>
                          <a:cs typeface="IBM Plex Sans" pitchFamily="34" charset="-120"/>
                        </a:rPr>
                        <a:t>Opšti pojam</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c>
                  <a:txBody>
                    <a:bodyPr/>
                    <a:lstStyle/>
                    <a:p>
                      <a:pPr indent="0" marL="0">
                        <a:lnSpc>
                          <a:spcPts val="1680"/>
                        </a:lnSpc>
                        <a:buNone/>
                      </a:pPr>
                      <a:r>
                        <a:rPr lang="en-US" sz="1200" b="1" dirty="0">
                          <a:solidFill>
                            <a:srgbClr val="0A5CA8"/>
                          </a:solidFill>
                          <a:latin typeface="IBM Plex Sans" pitchFamily="34" charset="0"/>
                          <a:ea typeface="IBM Plex Sans" pitchFamily="34" charset="-122"/>
                          <a:cs typeface="IBM Plex Sans" pitchFamily="34" charset="-120"/>
                        </a:rPr>
                        <a:t>Realizacija u projektu SCADALattice</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BCC0C3"/>
                      </a:solidFill>
                      <a:prstDash val="solid"/>
                      <a:round/>
                      <a:headEnd type="none" w="med" len="med"/>
                      <a:tailEnd type="none" w="med" len="med"/>
                    </a:lnL>
                    <a:lnR w="12700" cap="flat" cmpd="sng" algn="ctr">
                      <a:solidFill>
                        <a:srgbClr val="BCC0C3"/>
                      </a:solidFill>
                      <a:prstDash val="solid"/>
                      <a:round/>
                      <a:headEnd type="none" w="med" len="med"/>
                      <a:tailEnd type="none" w="med" len="med"/>
                    </a:lnR>
                    <a:lnT w="0" cap="flat" cmpd="sng" algn="ctr">
                      <a:noFill/>
                    </a:lnT>
                    <a:lnB w="12700" cap="flat" cmpd="sng" algn="ctr">
                      <a:solidFill>
                        <a:srgbClr val="BCC0C3"/>
                      </a:solidFill>
                      <a:prstDash val="solid"/>
                      <a:round/>
                      <a:headEnd type="none" w="med" len="med"/>
                      <a:tailEnd type="none" w="med" len="med"/>
                    </a:lnB>
                    <a:solidFill>
                      <a:srgbClr val="EBF0F5"/>
                    </a:solidFill>
                  </a:tcPr>
                </a:tc>
              </a:tr>
              <a:tr h="37078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Proces i kontroleri (nivoi 0–1)</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Simulatori procesa priključeni preko Simulator SDK-a</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C0C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SCADA server</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Aplikacioni servisi za tagove, komande i alarme</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Drajveri i protokoli</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Adapteri simulatora i reprodukcija CSV podataka</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Baza tagova i kvalitet</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Tipizirani tagovi sa kvalitetom, sekvencom i dva vremena</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Alarmi (ISA-18.2)</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Prag, histereza, kašnjenje i odvojena potvrda</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HMI (ISA-101)</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Web editor i režim izvršavanja procesnih ekrana</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Historian</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Istorija signala, vremenski upiti, agregati i izvoz</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RBAC i revizija</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Uloge viewer, operator, engineer i administrator, uz audit zapise</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Bezbednost (IEC 62443)</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Serverska autorizacija, izolacija projekata i scenariji kvarova i napada</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70780">
                <a:tc>
                  <a:txBody>
                    <a:bodyPr/>
                    <a:lstStyle/>
                    <a:p>
                      <a:pP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FAT uz simulaciju</a:t>
                      </a:r>
                      <a:endParaRPr lang="en-US" sz="1200" dirty="0">
                        <a:latin typeface="IBM Plex Sans" charset="0"/>
                        <a:ea typeface="IBM Plex Sans" charset="0"/>
                        <a:cs typeface="IBM Plex Sans" charset="0"/>
                      </a:endParaRPr>
                    </a:p>
                  </a:txBody>
                  <a:tcPr marL="177800" marR="177800" marT="76200" marB="762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Referentni scenario i ponovljivi testovi prihvatanja</a:t>
                      </a:r>
                      <a:endParaRPr lang="en-US" sz="1200" dirty="0">
                        <a:latin typeface="IBM Plex Sans" charset="0"/>
                        <a:ea typeface="IBM Plex Sans" charset="0"/>
                        <a:cs typeface="IBM Plex Sans" charset="0"/>
                      </a:endParaRPr>
                    </a:p>
                  </a:txBody>
                  <a:tcPr marL="177800" marR="177800" marT="76200" marB="762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9" name="Shape 6"/>
          <p:cNvSpPr/>
          <p:nvPr/>
        </p:nvSpPr>
        <p:spPr>
          <a:xfrm>
            <a:off x="812800" y="6209705"/>
            <a:ext cx="10566400" cy="0"/>
          </a:xfrm>
          <a:prstGeom prst="line">
            <a:avLst/>
          </a:prstGeom>
          <a:noFill/>
          <a:ln w="6350">
            <a:solidFill>
              <a:srgbClr val="D3DAE1"/>
            </a:solidFill>
            <a:prstDash val="solid"/>
          </a:ln>
        </p:spPr>
      </p:sp>
      <p:sp>
        <p:nvSpPr>
          <p:cNvPr id="10" name="Text 7"/>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11" name="Text 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EBF0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ZAVRŠNI DEO</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Zaključak</a:t>
            </a:r>
            <a:endParaRPr lang="en-US" sz="3000" dirty="0"/>
          </a:p>
        </p:txBody>
      </p:sp>
      <p:sp>
        <p:nvSpPr>
          <p:cNvPr id="5" name="Shape 3"/>
          <p:cNvSpPr/>
          <p:nvPr/>
        </p:nvSpPr>
        <p:spPr>
          <a:xfrm>
            <a:off x="815975" y="1626195"/>
            <a:ext cx="5213350" cy="951111"/>
          </a:xfrm>
          <a:prstGeom prst="roundRect">
            <a:avLst>
              <a:gd name="adj" fmla="val 10348"/>
            </a:avLst>
          </a:prstGeom>
          <a:solidFill>
            <a:srgbClr val="FCFCFB"/>
          </a:solidFill>
          <a:ln w="6350">
            <a:solidFill>
              <a:srgbClr val="C3CEDA"/>
            </a:solidFill>
            <a:prstDash val="solid"/>
          </a:ln>
        </p:spPr>
      </p:sp>
      <p:sp>
        <p:nvSpPr>
          <p:cNvPr id="6" name="Text 4"/>
          <p:cNvSpPr/>
          <p:nvPr/>
        </p:nvSpPr>
        <p:spPr>
          <a:xfrm>
            <a:off x="1022350" y="1769070"/>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01</a:t>
            </a:r>
            <a:endParaRPr lang="en-US" sz="2200" dirty="0"/>
          </a:p>
        </p:txBody>
      </p:sp>
      <p:sp>
        <p:nvSpPr>
          <p:cNvPr id="7" name="Text 5"/>
          <p:cNvSpPr/>
          <p:nvPr/>
        </p:nvSpPr>
        <p:spPr>
          <a:xfrm>
            <a:off x="1510109" y="1769070"/>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Arhitektura</a:t>
            </a:r>
            <a:endParaRPr lang="en-US" sz="1400" dirty="0"/>
          </a:p>
        </p:txBody>
      </p:sp>
      <p:sp>
        <p:nvSpPr>
          <p:cNvPr id="8" name="Text 6"/>
          <p:cNvSpPr/>
          <p:nvPr/>
        </p:nvSpPr>
        <p:spPr>
          <a:xfrm>
            <a:off x="1510109" y="2007791"/>
            <a:ext cx="44422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Slojevi i adapteri čine sistem proširivim, a redundansa otpornim.</a:t>
            </a:r>
            <a:endParaRPr lang="en-US" sz="1200" dirty="0"/>
          </a:p>
        </p:txBody>
      </p:sp>
      <p:sp>
        <p:nvSpPr>
          <p:cNvPr id="9" name="Shape 7"/>
          <p:cNvSpPr/>
          <p:nvPr/>
        </p:nvSpPr>
        <p:spPr>
          <a:xfrm>
            <a:off x="6162675" y="1626195"/>
            <a:ext cx="5213350" cy="951111"/>
          </a:xfrm>
          <a:prstGeom prst="roundRect">
            <a:avLst>
              <a:gd name="adj" fmla="val 10348"/>
            </a:avLst>
          </a:prstGeom>
          <a:solidFill>
            <a:srgbClr val="FCFCFB"/>
          </a:solidFill>
          <a:ln w="6350">
            <a:solidFill>
              <a:srgbClr val="C3CEDA"/>
            </a:solidFill>
            <a:prstDash val="solid"/>
          </a:ln>
        </p:spPr>
      </p:sp>
      <p:sp>
        <p:nvSpPr>
          <p:cNvPr id="10" name="Text 8"/>
          <p:cNvSpPr/>
          <p:nvPr/>
        </p:nvSpPr>
        <p:spPr>
          <a:xfrm>
            <a:off x="6369050" y="1769070"/>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02</a:t>
            </a:r>
            <a:endParaRPr lang="en-US" sz="2200" dirty="0"/>
          </a:p>
        </p:txBody>
      </p:sp>
      <p:sp>
        <p:nvSpPr>
          <p:cNvPr id="11" name="Text 9"/>
          <p:cNvSpPr/>
          <p:nvPr/>
        </p:nvSpPr>
        <p:spPr>
          <a:xfrm>
            <a:off x="6856809" y="1769070"/>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Procesi</a:t>
            </a:r>
            <a:endParaRPr lang="en-US" sz="1400" dirty="0"/>
          </a:p>
        </p:txBody>
      </p:sp>
      <p:sp>
        <p:nvSpPr>
          <p:cNvPr id="12" name="Text 10"/>
          <p:cNvSpPr/>
          <p:nvPr/>
        </p:nvSpPr>
        <p:spPr>
          <a:xfrm>
            <a:off x="6856809" y="2007791"/>
            <a:ext cx="44422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Tag, kvalitet, alarm i komanda imaju jasnu semantiku i životni ciklus.</a:t>
            </a:r>
            <a:endParaRPr lang="en-US" sz="1200" dirty="0"/>
          </a:p>
        </p:txBody>
      </p:sp>
      <p:sp>
        <p:nvSpPr>
          <p:cNvPr id="13" name="Shape 11"/>
          <p:cNvSpPr/>
          <p:nvPr/>
        </p:nvSpPr>
        <p:spPr>
          <a:xfrm>
            <a:off x="815975" y="2710656"/>
            <a:ext cx="5213350" cy="951111"/>
          </a:xfrm>
          <a:prstGeom prst="roundRect">
            <a:avLst>
              <a:gd name="adj" fmla="val 10348"/>
            </a:avLst>
          </a:prstGeom>
          <a:solidFill>
            <a:srgbClr val="FCFCFB"/>
          </a:solidFill>
          <a:ln w="6350">
            <a:solidFill>
              <a:srgbClr val="C3CEDA"/>
            </a:solidFill>
            <a:prstDash val="solid"/>
          </a:ln>
        </p:spPr>
      </p:sp>
      <p:sp>
        <p:nvSpPr>
          <p:cNvPr id="14" name="Text 12"/>
          <p:cNvSpPr/>
          <p:nvPr/>
        </p:nvSpPr>
        <p:spPr>
          <a:xfrm>
            <a:off x="1022350" y="285353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03</a:t>
            </a:r>
            <a:endParaRPr lang="en-US" sz="2200" dirty="0"/>
          </a:p>
        </p:txBody>
      </p:sp>
      <p:sp>
        <p:nvSpPr>
          <p:cNvPr id="15" name="Text 13"/>
          <p:cNvSpPr/>
          <p:nvPr/>
        </p:nvSpPr>
        <p:spPr>
          <a:xfrm>
            <a:off x="1510109" y="2853531"/>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Prikazi</a:t>
            </a:r>
            <a:endParaRPr lang="en-US" sz="1400" dirty="0"/>
          </a:p>
        </p:txBody>
      </p:sp>
      <p:sp>
        <p:nvSpPr>
          <p:cNvPr id="16" name="Text 14"/>
          <p:cNvSpPr/>
          <p:nvPr/>
        </p:nvSpPr>
        <p:spPr>
          <a:xfrm>
            <a:off x="1510109" y="3092252"/>
            <a:ext cx="44422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Dobar HMI podržava situacionu svest i ne prikazuje nepouzdan podatak kao pouzdan.</a:t>
            </a:r>
            <a:endParaRPr lang="en-US" sz="1200" dirty="0"/>
          </a:p>
        </p:txBody>
      </p:sp>
      <p:sp>
        <p:nvSpPr>
          <p:cNvPr id="17" name="Shape 15"/>
          <p:cNvSpPr/>
          <p:nvPr/>
        </p:nvSpPr>
        <p:spPr>
          <a:xfrm>
            <a:off x="6162675" y="2710656"/>
            <a:ext cx="5213350" cy="951111"/>
          </a:xfrm>
          <a:prstGeom prst="roundRect">
            <a:avLst>
              <a:gd name="adj" fmla="val 10348"/>
            </a:avLst>
          </a:prstGeom>
          <a:solidFill>
            <a:srgbClr val="FCFCFB"/>
          </a:solidFill>
          <a:ln w="6350">
            <a:solidFill>
              <a:srgbClr val="C3CEDA"/>
            </a:solidFill>
            <a:prstDash val="solid"/>
          </a:ln>
        </p:spPr>
      </p:sp>
      <p:sp>
        <p:nvSpPr>
          <p:cNvPr id="18" name="Text 16"/>
          <p:cNvSpPr/>
          <p:nvPr/>
        </p:nvSpPr>
        <p:spPr>
          <a:xfrm>
            <a:off x="6369050" y="285353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04</a:t>
            </a:r>
            <a:endParaRPr lang="en-US" sz="2200" dirty="0"/>
          </a:p>
        </p:txBody>
      </p:sp>
      <p:sp>
        <p:nvSpPr>
          <p:cNvPr id="19" name="Text 17"/>
          <p:cNvSpPr/>
          <p:nvPr/>
        </p:nvSpPr>
        <p:spPr>
          <a:xfrm>
            <a:off x="6856809" y="2853531"/>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Konfiguracija</a:t>
            </a:r>
            <a:endParaRPr lang="en-US" sz="1400" dirty="0"/>
          </a:p>
        </p:txBody>
      </p:sp>
      <p:sp>
        <p:nvSpPr>
          <p:cNvPr id="20" name="Text 18"/>
          <p:cNvSpPr/>
          <p:nvPr/>
        </p:nvSpPr>
        <p:spPr>
          <a:xfrm>
            <a:off x="6856809" y="3092252"/>
            <a:ext cx="44422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Verzionisana i proverljiva konfiguracija sama je bezbednosna kontrola.</a:t>
            </a:r>
            <a:endParaRPr lang="en-US" sz="1200" dirty="0"/>
          </a:p>
        </p:txBody>
      </p:sp>
      <p:sp>
        <p:nvSpPr>
          <p:cNvPr id="21" name="Shape 19"/>
          <p:cNvSpPr/>
          <p:nvPr/>
        </p:nvSpPr>
        <p:spPr>
          <a:xfrm>
            <a:off x="815975" y="3795117"/>
            <a:ext cx="10560050" cy="737791"/>
          </a:xfrm>
          <a:prstGeom prst="roundRect">
            <a:avLst>
              <a:gd name="adj" fmla="val 13340"/>
            </a:avLst>
          </a:prstGeom>
          <a:solidFill>
            <a:srgbClr val="FCFCFB"/>
          </a:solidFill>
          <a:ln w="6350">
            <a:solidFill>
              <a:srgbClr val="C3CEDA"/>
            </a:solidFill>
            <a:prstDash val="solid"/>
          </a:ln>
        </p:spPr>
      </p:sp>
      <p:sp>
        <p:nvSpPr>
          <p:cNvPr id="22" name="Text 20"/>
          <p:cNvSpPr/>
          <p:nvPr/>
        </p:nvSpPr>
        <p:spPr>
          <a:xfrm>
            <a:off x="1022350" y="393799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05</a:t>
            </a:r>
            <a:endParaRPr lang="en-US" sz="2200" dirty="0"/>
          </a:p>
        </p:txBody>
      </p:sp>
      <p:sp>
        <p:nvSpPr>
          <p:cNvPr id="23" name="Text 21"/>
          <p:cNvSpPr/>
          <p:nvPr/>
        </p:nvSpPr>
        <p:spPr>
          <a:xfrm>
            <a:off x="1510109" y="3937992"/>
            <a:ext cx="99493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Bezbednost</a:t>
            </a:r>
            <a:endParaRPr lang="en-US" sz="1400" dirty="0"/>
          </a:p>
        </p:txBody>
      </p:sp>
      <p:sp>
        <p:nvSpPr>
          <p:cNvPr id="24" name="Text 22"/>
          <p:cNvSpPr/>
          <p:nvPr/>
        </p:nvSpPr>
        <p:spPr>
          <a:xfrm>
            <a:off x="1510109" y="4176712"/>
            <a:ext cx="99493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Odbrana u dubinu, segmentacija i nadzor ponašanja procesa štite sistem i kada pojedinačna kontrola zakaže.</a:t>
            </a:r>
            <a:endParaRPr lang="en-US" sz="1200" dirty="0"/>
          </a:p>
        </p:txBody>
      </p:sp>
      <p:sp>
        <p:nvSpPr>
          <p:cNvPr id="25" name="Shape 23"/>
          <p:cNvSpPr/>
          <p:nvPr/>
        </p:nvSpPr>
        <p:spPr>
          <a:xfrm>
            <a:off x="819150" y="4745633"/>
            <a:ext cx="10553700" cy="754261"/>
          </a:xfrm>
          <a:prstGeom prst="roundRect">
            <a:avLst>
              <a:gd name="adj" fmla="val 12628"/>
            </a:avLst>
          </a:prstGeom>
          <a:solidFill>
            <a:srgbClr val="FCFCFB"/>
          </a:solidFill>
          <a:ln w="12700">
            <a:solidFill>
              <a:srgbClr val="0A5CA8"/>
            </a:solidFill>
            <a:prstDash val="solid"/>
          </a:ln>
        </p:spPr>
      </p:sp>
      <p:pic>
        <p:nvPicPr>
          <p:cNvPr id="26" name="Image 0" descr="Database">    </p:cNvPr>
          <p:cNvPicPr>
            <a:picLocks noChangeAspect="1"/>
          </p:cNvPicPr>
          <p:nvPr/>
        </p:nvPicPr>
        <p:blipFill>
          <a:blip r:embed="rId1"/>
          <a:srcRect l="0" r="0" t="0" b="0"/>
          <a:stretch/>
        </p:blipFill>
        <p:spPr>
          <a:xfrm>
            <a:off x="1028700" y="4983063"/>
            <a:ext cx="279400" cy="279400"/>
          </a:xfrm>
          <a:prstGeom prst="rect">
            <a:avLst/>
          </a:prstGeom>
        </p:spPr>
      </p:pic>
      <p:sp>
        <p:nvSpPr>
          <p:cNvPr id="27" name="Text 24"/>
          <p:cNvSpPr/>
          <p:nvPr/>
        </p:nvSpPr>
        <p:spPr>
          <a:xfrm>
            <a:off x="1435100" y="4878983"/>
            <a:ext cx="100200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SLEDI</a:t>
            </a:r>
            <a:endParaRPr lang="en-US" sz="1200" dirty="0"/>
          </a:p>
        </p:txBody>
      </p:sp>
      <p:sp>
        <p:nvSpPr>
          <p:cNvPr id="28" name="Text 25"/>
          <p:cNvSpPr/>
          <p:nvPr/>
        </p:nvSpPr>
        <p:spPr>
          <a:xfrm>
            <a:off x="1435100" y="5117703"/>
            <a:ext cx="1002004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Javno dostupni skupovi podataka (SWaT i drugi) i njihova primena u platformi</a:t>
            </a:r>
            <a:endParaRPr lang="en-US" sz="1400" dirty="0"/>
          </a:p>
        </p:txBody>
      </p:sp>
      <p:sp>
        <p:nvSpPr>
          <p:cNvPr id="29" name="Shape 26"/>
          <p:cNvSpPr/>
          <p:nvPr/>
        </p:nvSpPr>
        <p:spPr>
          <a:xfrm>
            <a:off x="812800" y="6209705"/>
            <a:ext cx="10566400" cy="0"/>
          </a:xfrm>
          <a:prstGeom prst="line">
            <a:avLst/>
          </a:prstGeom>
          <a:noFill/>
          <a:ln w="6350">
            <a:solidFill>
              <a:srgbClr val="C3CEDA"/>
            </a:solidFill>
            <a:prstDash val="solid"/>
          </a:ln>
        </p:spPr>
      </p:sp>
      <p:sp>
        <p:nvSpPr>
          <p:cNvPr id="30" name="Text 27"/>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1"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ZAVRŠNI DEO</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Pojmovnik</a:t>
            </a:r>
            <a:endParaRPr lang="en-US" sz="3000" dirty="0"/>
          </a:p>
        </p:txBody>
      </p:sp>
      <p:sp>
        <p:nvSpPr>
          <p:cNvPr id="5" name="Shape 3"/>
          <p:cNvSpPr/>
          <p:nvPr/>
        </p:nvSpPr>
        <p:spPr>
          <a:xfrm>
            <a:off x="812800" y="2164556"/>
            <a:ext cx="5283200" cy="0"/>
          </a:xfrm>
          <a:prstGeom prst="line">
            <a:avLst/>
          </a:prstGeom>
          <a:noFill/>
          <a:ln w="6350">
            <a:solidFill>
              <a:srgbClr val="D3DAE1"/>
            </a:solidFill>
            <a:prstDash val="solid"/>
          </a:ln>
        </p:spPr>
      </p:sp>
      <p:sp>
        <p:nvSpPr>
          <p:cNvPr id="6" name="Text 4"/>
          <p:cNvSpPr/>
          <p:nvPr/>
        </p:nvSpPr>
        <p:spPr>
          <a:xfrm>
            <a:off x="812800" y="1673820"/>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SCADA</a:t>
            </a:r>
            <a:endParaRPr lang="en-US" sz="1200" dirty="0"/>
          </a:p>
        </p:txBody>
      </p:sp>
      <p:sp>
        <p:nvSpPr>
          <p:cNvPr id="7" name="Text 5"/>
          <p:cNvSpPr/>
          <p:nvPr/>
        </p:nvSpPr>
        <p:spPr>
          <a:xfrm>
            <a:off x="2146300" y="1673820"/>
            <a:ext cx="406819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Nadzor, akvizicija podataka i nadzorno upravljanje raspodeljenim procesima</a:t>
            </a:r>
            <a:endParaRPr lang="en-US" sz="1200" dirty="0"/>
          </a:p>
        </p:txBody>
      </p:sp>
      <p:sp>
        <p:nvSpPr>
          <p:cNvPr id="8" name="Shape 6"/>
          <p:cNvSpPr/>
          <p:nvPr/>
        </p:nvSpPr>
        <p:spPr>
          <a:xfrm>
            <a:off x="6096000" y="2164556"/>
            <a:ext cx="5283200" cy="0"/>
          </a:xfrm>
          <a:prstGeom prst="line">
            <a:avLst/>
          </a:prstGeom>
          <a:noFill/>
          <a:ln w="6350">
            <a:solidFill>
              <a:srgbClr val="D3DAE1"/>
            </a:solidFill>
            <a:prstDash val="solid"/>
          </a:ln>
        </p:spPr>
      </p:sp>
      <p:sp>
        <p:nvSpPr>
          <p:cNvPr id="9" name="Text 7"/>
          <p:cNvSpPr/>
          <p:nvPr/>
        </p:nvSpPr>
        <p:spPr>
          <a:xfrm>
            <a:off x="6096000" y="1673820"/>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Interlock</a:t>
            </a:r>
            <a:endParaRPr lang="en-US" sz="1200" dirty="0"/>
          </a:p>
        </p:txBody>
      </p:sp>
      <p:sp>
        <p:nvSpPr>
          <p:cNvPr id="10" name="Text 8"/>
          <p:cNvSpPr/>
          <p:nvPr/>
        </p:nvSpPr>
        <p:spPr>
          <a:xfrm>
            <a:off x="7429500" y="1673820"/>
            <a:ext cx="406819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Pravilo koje zabranjuje komandu u nedozvoljenom stanju</a:t>
            </a:r>
            <a:endParaRPr lang="en-US" sz="1200" dirty="0"/>
          </a:p>
        </p:txBody>
      </p:sp>
      <p:sp>
        <p:nvSpPr>
          <p:cNvPr id="11" name="Shape 9"/>
          <p:cNvSpPr/>
          <p:nvPr/>
        </p:nvSpPr>
        <p:spPr>
          <a:xfrm>
            <a:off x="812800" y="2460427"/>
            <a:ext cx="5283200" cy="0"/>
          </a:xfrm>
          <a:prstGeom prst="line">
            <a:avLst/>
          </a:prstGeom>
          <a:noFill/>
          <a:ln w="6350">
            <a:solidFill>
              <a:srgbClr val="D3DAE1"/>
            </a:solidFill>
            <a:prstDash val="solid"/>
          </a:ln>
        </p:spPr>
      </p:sp>
      <p:sp>
        <p:nvSpPr>
          <p:cNvPr id="12" name="Text 10"/>
          <p:cNvSpPr/>
          <p:nvPr/>
        </p:nvSpPr>
        <p:spPr>
          <a:xfrm>
            <a:off x="812800" y="2167731"/>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HMI</a:t>
            </a:r>
            <a:endParaRPr lang="en-US" sz="1200" dirty="0"/>
          </a:p>
        </p:txBody>
      </p:sp>
      <p:sp>
        <p:nvSpPr>
          <p:cNvPr id="13" name="Text 11"/>
          <p:cNvSpPr/>
          <p:nvPr/>
        </p:nvSpPr>
        <p:spPr>
          <a:xfrm>
            <a:off x="2146300" y="2167731"/>
            <a:ext cx="406819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Interfejs za praćenje procesa i izdavanje komandi</a:t>
            </a:r>
            <a:endParaRPr lang="en-US" sz="1200" dirty="0"/>
          </a:p>
        </p:txBody>
      </p:sp>
      <p:sp>
        <p:nvSpPr>
          <p:cNvPr id="14" name="Shape 12"/>
          <p:cNvSpPr/>
          <p:nvPr/>
        </p:nvSpPr>
        <p:spPr>
          <a:xfrm>
            <a:off x="6096000" y="2460427"/>
            <a:ext cx="5283200" cy="0"/>
          </a:xfrm>
          <a:prstGeom prst="line">
            <a:avLst/>
          </a:prstGeom>
          <a:noFill/>
          <a:ln w="6350">
            <a:solidFill>
              <a:srgbClr val="D3DAE1"/>
            </a:solidFill>
            <a:prstDash val="solid"/>
          </a:ln>
        </p:spPr>
      </p:sp>
      <p:sp>
        <p:nvSpPr>
          <p:cNvPr id="15" name="Text 13"/>
          <p:cNvSpPr/>
          <p:nvPr/>
        </p:nvSpPr>
        <p:spPr>
          <a:xfrm>
            <a:off x="6096000" y="2167731"/>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Histereza</a:t>
            </a:r>
            <a:endParaRPr lang="en-US" sz="1200" dirty="0"/>
          </a:p>
        </p:txBody>
      </p:sp>
      <p:sp>
        <p:nvSpPr>
          <p:cNvPr id="16" name="Text 14"/>
          <p:cNvSpPr/>
          <p:nvPr/>
        </p:nvSpPr>
        <p:spPr>
          <a:xfrm>
            <a:off x="7429500" y="2167731"/>
            <a:ext cx="406819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Razlika između praga aktiviranja i praga povratka alarma</a:t>
            </a:r>
            <a:endParaRPr lang="en-US" sz="1200" dirty="0"/>
          </a:p>
        </p:txBody>
      </p:sp>
      <p:sp>
        <p:nvSpPr>
          <p:cNvPr id="17" name="Shape 15"/>
          <p:cNvSpPr/>
          <p:nvPr/>
        </p:nvSpPr>
        <p:spPr>
          <a:xfrm>
            <a:off x="812800" y="2756297"/>
            <a:ext cx="5283200" cy="0"/>
          </a:xfrm>
          <a:prstGeom prst="line">
            <a:avLst/>
          </a:prstGeom>
          <a:noFill/>
          <a:ln w="6350">
            <a:solidFill>
              <a:srgbClr val="D3DAE1"/>
            </a:solidFill>
            <a:prstDash val="solid"/>
          </a:ln>
        </p:spPr>
      </p:sp>
      <p:sp>
        <p:nvSpPr>
          <p:cNvPr id="18" name="Text 16"/>
          <p:cNvSpPr/>
          <p:nvPr/>
        </p:nvSpPr>
        <p:spPr>
          <a:xfrm>
            <a:off x="812800" y="2463602"/>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PLC / RTU</a:t>
            </a:r>
            <a:endParaRPr lang="en-US" sz="1200" dirty="0"/>
          </a:p>
        </p:txBody>
      </p:sp>
      <p:sp>
        <p:nvSpPr>
          <p:cNvPr id="19" name="Text 17"/>
          <p:cNvSpPr/>
          <p:nvPr/>
        </p:nvSpPr>
        <p:spPr>
          <a:xfrm>
            <a:off x="2146300" y="2463602"/>
            <a:ext cx="406819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Lokalni kontroler, odnosno udaljena terminalna jedinica</a:t>
            </a:r>
            <a:endParaRPr lang="en-US" sz="1200" dirty="0"/>
          </a:p>
        </p:txBody>
      </p:sp>
      <p:sp>
        <p:nvSpPr>
          <p:cNvPr id="20" name="Shape 18"/>
          <p:cNvSpPr/>
          <p:nvPr/>
        </p:nvSpPr>
        <p:spPr>
          <a:xfrm>
            <a:off x="6096000" y="2756297"/>
            <a:ext cx="5283200" cy="0"/>
          </a:xfrm>
          <a:prstGeom prst="line">
            <a:avLst/>
          </a:prstGeom>
          <a:noFill/>
          <a:ln w="6350">
            <a:solidFill>
              <a:srgbClr val="D3DAE1"/>
            </a:solidFill>
            <a:prstDash val="solid"/>
          </a:ln>
        </p:spPr>
      </p:sp>
      <p:sp>
        <p:nvSpPr>
          <p:cNvPr id="21" name="Text 19"/>
          <p:cNvSpPr/>
          <p:nvPr/>
        </p:nvSpPr>
        <p:spPr>
          <a:xfrm>
            <a:off x="6096000" y="2463602"/>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DMZ</a:t>
            </a:r>
            <a:endParaRPr lang="en-US" sz="1200" dirty="0"/>
          </a:p>
        </p:txBody>
      </p:sp>
      <p:sp>
        <p:nvSpPr>
          <p:cNvPr id="22" name="Text 20"/>
          <p:cNvSpPr/>
          <p:nvPr/>
        </p:nvSpPr>
        <p:spPr>
          <a:xfrm>
            <a:off x="7429500" y="2463602"/>
            <a:ext cx="406819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Međuzona između IT i OT mreže</a:t>
            </a:r>
            <a:endParaRPr lang="en-US" sz="1200" dirty="0"/>
          </a:p>
        </p:txBody>
      </p:sp>
      <p:sp>
        <p:nvSpPr>
          <p:cNvPr id="23" name="Shape 21"/>
          <p:cNvSpPr/>
          <p:nvPr/>
        </p:nvSpPr>
        <p:spPr>
          <a:xfrm>
            <a:off x="812800" y="3250208"/>
            <a:ext cx="5283200" cy="0"/>
          </a:xfrm>
          <a:prstGeom prst="line">
            <a:avLst/>
          </a:prstGeom>
          <a:noFill/>
          <a:ln w="6350">
            <a:solidFill>
              <a:srgbClr val="D3DAE1"/>
            </a:solidFill>
            <a:prstDash val="solid"/>
          </a:ln>
        </p:spPr>
      </p:sp>
      <p:sp>
        <p:nvSpPr>
          <p:cNvPr id="24" name="Text 22"/>
          <p:cNvSpPr/>
          <p:nvPr/>
        </p:nvSpPr>
        <p:spPr>
          <a:xfrm>
            <a:off x="812800" y="2759472"/>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Tag</a:t>
            </a:r>
            <a:endParaRPr lang="en-US" sz="1200" dirty="0"/>
          </a:p>
        </p:txBody>
      </p:sp>
      <p:sp>
        <p:nvSpPr>
          <p:cNvPr id="25" name="Text 23"/>
          <p:cNvSpPr/>
          <p:nvPr/>
        </p:nvSpPr>
        <p:spPr>
          <a:xfrm>
            <a:off x="2146300" y="2759472"/>
            <a:ext cx="406819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Imenovana procesna promenljiva sa kvalitetom i vremenskom oznakom</a:t>
            </a:r>
            <a:endParaRPr lang="en-US" sz="1200" dirty="0"/>
          </a:p>
        </p:txBody>
      </p:sp>
      <p:sp>
        <p:nvSpPr>
          <p:cNvPr id="26" name="Shape 24"/>
          <p:cNvSpPr/>
          <p:nvPr/>
        </p:nvSpPr>
        <p:spPr>
          <a:xfrm>
            <a:off x="6096000" y="3250208"/>
            <a:ext cx="5283200" cy="0"/>
          </a:xfrm>
          <a:prstGeom prst="line">
            <a:avLst/>
          </a:prstGeom>
          <a:noFill/>
          <a:ln w="6350">
            <a:solidFill>
              <a:srgbClr val="D3DAE1"/>
            </a:solidFill>
            <a:prstDash val="solid"/>
          </a:ln>
        </p:spPr>
      </p:sp>
      <p:sp>
        <p:nvSpPr>
          <p:cNvPr id="27" name="Text 25"/>
          <p:cNvSpPr/>
          <p:nvPr/>
        </p:nvSpPr>
        <p:spPr>
          <a:xfrm>
            <a:off x="6096000" y="2759472"/>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RBAC</a:t>
            </a:r>
            <a:endParaRPr lang="en-US" sz="1200" dirty="0"/>
          </a:p>
        </p:txBody>
      </p:sp>
      <p:sp>
        <p:nvSpPr>
          <p:cNvPr id="28" name="Text 26"/>
          <p:cNvSpPr/>
          <p:nvPr/>
        </p:nvSpPr>
        <p:spPr>
          <a:xfrm>
            <a:off x="7429500" y="2759472"/>
            <a:ext cx="406819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Kontrola pristupa zasnovana na ulogama</a:t>
            </a:r>
            <a:endParaRPr lang="en-US" sz="1200" dirty="0"/>
          </a:p>
        </p:txBody>
      </p:sp>
      <p:sp>
        <p:nvSpPr>
          <p:cNvPr id="29" name="Shape 27"/>
          <p:cNvSpPr/>
          <p:nvPr/>
        </p:nvSpPr>
        <p:spPr>
          <a:xfrm>
            <a:off x="812800" y="3546078"/>
            <a:ext cx="5283200" cy="0"/>
          </a:xfrm>
          <a:prstGeom prst="line">
            <a:avLst/>
          </a:prstGeom>
          <a:noFill/>
          <a:ln w="6350">
            <a:solidFill>
              <a:srgbClr val="D3DAE1"/>
            </a:solidFill>
            <a:prstDash val="solid"/>
          </a:ln>
        </p:spPr>
      </p:sp>
      <p:sp>
        <p:nvSpPr>
          <p:cNvPr id="30" name="Text 28"/>
          <p:cNvSpPr/>
          <p:nvPr/>
        </p:nvSpPr>
        <p:spPr>
          <a:xfrm>
            <a:off x="812800" y="3253383"/>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Historian</a:t>
            </a:r>
            <a:endParaRPr lang="en-US" sz="1200" dirty="0"/>
          </a:p>
        </p:txBody>
      </p:sp>
      <p:sp>
        <p:nvSpPr>
          <p:cNvPr id="31" name="Text 29"/>
          <p:cNvSpPr/>
          <p:nvPr/>
        </p:nvSpPr>
        <p:spPr>
          <a:xfrm>
            <a:off x="2146300" y="3253383"/>
            <a:ext cx="406819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Skladište vremenskih serija procesnih podataka</a:t>
            </a:r>
            <a:endParaRPr lang="en-US" sz="1200" dirty="0"/>
          </a:p>
        </p:txBody>
      </p:sp>
      <p:sp>
        <p:nvSpPr>
          <p:cNvPr id="32" name="Shape 30"/>
          <p:cNvSpPr/>
          <p:nvPr/>
        </p:nvSpPr>
        <p:spPr>
          <a:xfrm>
            <a:off x="6096000" y="3546078"/>
            <a:ext cx="5283200" cy="0"/>
          </a:xfrm>
          <a:prstGeom prst="line">
            <a:avLst/>
          </a:prstGeom>
          <a:noFill/>
          <a:ln w="6350">
            <a:solidFill>
              <a:srgbClr val="D3DAE1"/>
            </a:solidFill>
            <a:prstDash val="solid"/>
          </a:ln>
        </p:spPr>
      </p:sp>
      <p:sp>
        <p:nvSpPr>
          <p:cNvPr id="33" name="Text 31"/>
          <p:cNvSpPr/>
          <p:nvPr/>
        </p:nvSpPr>
        <p:spPr>
          <a:xfrm>
            <a:off x="6096000" y="3253383"/>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FAT / SAT</a:t>
            </a:r>
            <a:endParaRPr lang="en-US" sz="1200" dirty="0"/>
          </a:p>
        </p:txBody>
      </p:sp>
      <p:sp>
        <p:nvSpPr>
          <p:cNvPr id="34" name="Text 32"/>
          <p:cNvSpPr/>
          <p:nvPr/>
        </p:nvSpPr>
        <p:spPr>
          <a:xfrm>
            <a:off x="7429500" y="3253383"/>
            <a:ext cx="406819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Fabričko i terensko ispitivanje prihvatljivosti</a:t>
            </a:r>
            <a:endParaRPr lang="en-US" sz="1200" dirty="0"/>
          </a:p>
        </p:txBody>
      </p:sp>
      <p:sp>
        <p:nvSpPr>
          <p:cNvPr id="35" name="Shape 33"/>
          <p:cNvSpPr/>
          <p:nvPr/>
        </p:nvSpPr>
        <p:spPr>
          <a:xfrm>
            <a:off x="812800" y="3841948"/>
            <a:ext cx="5283200" cy="0"/>
          </a:xfrm>
          <a:prstGeom prst="line">
            <a:avLst/>
          </a:prstGeom>
          <a:noFill/>
          <a:ln w="6350">
            <a:solidFill>
              <a:srgbClr val="D3DAE1"/>
            </a:solidFill>
            <a:prstDash val="solid"/>
          </a:ln>
        </p:spPr>
      </p:sp>
      <p:sp>
        <p:nvSpPr>
          <p:cNvPr id="36" name="Text 34"/>
          <p:cNvSpPr/>
          <p:nvPr/>
        </p:nvSpPr>
        <p:spPr>
          <a:xfrm>
            <a:off x="812800" y="3549253"/>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SP / PV / MV</a:t>
            </a:r>
            <a:endParaRPr lang="en-US" sz="1200" dirty="0"/>
          </a:p>
        </p:txBody>
      </p:sp>
      <p:sp>
        <p:nvSpPr>
          <p:cNvPr id="37" name="Text 35"/>
          <p:cNvSpPr/>
          <p:nvPr/>
        </p:nvSpPr>
        <p:spPr>
          <a:xfrm>
            <a:off x="2146300" y="3549253"/>
            <a:ext cx="406819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Zadata, merena i upravljačka veličina</a:t>
            </a:r>
            <a:endParaRPr lang="en-US" sz="1200" dirty="0"/>
          </a:p>
        </p:txBody>
      </p:sp>
      <p:sp>
        <p:nvSpPr>
          <p:cNvPr id="38" name="Shape 36"/>
          <p:cNvSpPr/>
          <p:nvPr/>
        </p:nvSpPr>
        <p:spPr>
          <a:xfrm>
            <a:off x="6096000" y="3841948"/>
            <a:ext cx="5283200" cy="0"/>
          </a:xfrm>
          <a:prstGeom prst="line">
            <a:avLst/>
          </a:prstGeom>
          <a:noFill/>
          <a:ln w="6350">
            <a:solidFill>
              <a:srgbClr val="D3DAE1"/>
            </a:solidFill>
            <a:prstDash val="solid"/>
          </a:ln>
        </p:spPr>
      </p:sp>
      <p:sp>
        <p:nvSpPr>
          <p:cNvPr id="39" name="Text 37"/>
          <p:cNvSpPr/>
          <p:nvPr/>
        </p:nvSpPr>
        <p:spPr>
          <a:xfrm>
            <a:off x="6096000" y="3549253"/>
            <a:ext cx="1257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IIoT</a:t>
            </a:r>
            <a:endParaRPr lang="en-US" sz="1200" dirty="0"/>
          </a:p>
        </p:txBody>
      </p:sp>
      <p:sp>
        <p:nvSpPr>
          <p:cNvPr id="40" name="Text 38"/>
          <p:cNvSpPr/>
          <p:nvPr/>
        </p:nvSpPr>
        <p:spPr>
          <a:xfrm>
            <a:off x="7429500" y="3549253"/>
            <a:ext cx="406819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Industrijski internet stvari</a:t>
            </a:r>
            <a:endParaRPr lang="en-US" sz="1200" dirty="0"/>
          </a:p>
        </p:txBody>
      </p:sp>
      <p:sp>
        <p:nvSpPr>
          <p:cNvPr id="41" name="Shape 39"/>
          <p:cNvSpPr/>
          <p:nvPr/>
        </p:nvSpPr>
        <p:spPr>
          <a:xfrm>
            <a:off x="812800" y="6209705"/>
            <a:ext cx="10566400" cy="0"/>
          </a:xfrm>
          <a:prstGeom prst="line">
            <a:avLst/>
          </a:prstGeom>
          <a:noFill/>
          <a:ln w="6350">
            <a:solidFill>
              <a:srgbClr val="D3DAE1"/>
            </a:solidFill>
            <a:prstDash val="solid"/>
          </a:ln>
        </p:spPr>
      </p:sp>
      <p:sp>
        <p:nvSpPr>
          <p:cNvPr id="42" name="Text 40"/>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43" name="Text 4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ZAVRŠNI DEO</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Literatura</a:t>
            </a:r>
            <a:endParaRPr lang="en-US" sz="3000" dirty="0"/>
          </a:p>
        </p:txBody>
      </p:sp>
      <p:sp>
        <p:nvSpPr>
          <p:cNvPr id="5" name="Text 3"/>
          <p:cNvSpPr/>
          <p:nvPr/>
        </p:nvSpPr>
        <p:spPr>
          <a:xfrm>
            <a:off x="812800" y="1597620"/>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[1]</a:t>
            </a:r>
            <a:endParaRPr lang="en-US" sz="1200" dirty="0"/>
          </a:p>
        </p:txBody>
      </p:sp>
      <p:sp>
        <p:nvSpPr>
          <p:cNvPr id="6" name="Text 4"/>
          <p:cNvSpPr/>
          <p:nvPr/>
        </p:nvSpPr>
        <p:spPr>
          <a:xfrm>
            <a:off x="1371600" y="1597620"/>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K. Stouffer i dr., </a:t>
            </a:r>
            <a:r>
              <a:rPr lang="en-US" sz="1200" i="1" dirty="0">
                <a:solidFill>
                  <a:srgbClr val="44505D"/>
                </a:solidFill>
                <a:latin typeface="IBM Plex Sans" pitchFamily="34" charset="0"/>
                <a:ea typeface="IBM Plex Sans" pitchFamily="34" charset="-122"/>
                <a:cs typeface="IBM Plex Sans" pitchFamily="34" charset="-120"/>
              </a:rPr>
              <a:t>Guide to Operational Technology (OT) Security</a:t>
            </a:r>
            <a:r>
              <a:rPr lang="en-US" sz="1200" dirty="0">
                <a:solidFill>
                  <a:srgbClr val="44505D"/>
                </a:solidFill>
                <a:latin typeface="IBM Plex Sans" pitchFamily="34" charset="0"/>
                <a:ea typeface="IBM Plex Sans" pitchFamily="34" charset="-122"/>
                <a:cs typeface="IBM Plex Sans" pitchFamily="34" charset="-120"/>
              </a:rPr>
              <a:t>, NIST SP 800-82 Rev. 3, 2023.</a:t>
            </a:r>
            <a:endParaRPr lang="en-US" sz="1200" dirty="0"/>
          </a:p>
        </p:txBody>
      </p:sp>
      <p:sp>
        <p:nvSpPr>
          <p:cNvPr id="7" name="Text 5"/>
          <p:cNvSpPr/>
          <p:nvPr/>
        </p:nvSpPr>
        <p:spPr>
          <a:xfrm>
            <a:off x="812800" y="1861741"/>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[2]</a:t>
            </a:r>
            <a:endParaRPr lang="en-US" sz="1200" dirty="0"/>
          </a:p>
        </p:txBody>
      </p:sp>
      <p:sp>
        <p:nvSpPr>
          <p:cNvPr id="8" name="Text 6"/>
          <p:cNvSpPr/>
          <p:nvPr/>
        </p:nvSpPr>
        <p:spPr>
          <a:xfrm>
            <a:off x="1371600" y="1861741"/>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IEC 62443, </a:t>
            </a:r>
            <a:r>
              <a:rPr lang="en-US" sz="1200" i="1" dirty="0">
                <a:solidFill>
                  <a:srgbClr val="44505D"/>
                </a:solidFill>
                <a:latin typeface="IBM Plex Sans" pitchFamily="34" charset="0"/>
                <a:ea typeface="IBM Plex Sans" pitchFamily="34" charset="-122"/>
                <a:cs typeface="IBM Plex Sans" pitchFamily="34" charset="-120"/>
              </a:rPr>
              <a:t>Security for industrial automation and control systems</a:t>
            </a:r>
            <a:r>
              <a:rPr lang="en-US" sz="1200" dirty="0">
                <a:solidFill>
                  <a:srgbClr val="44505D"/>
                </a:solidFill>
                <a:latin typeface="IBM Plex Sans" pitchFamily="34" charset="0"/>
                <a:ea typeface="IBM Plex Sans" pitchFamily="34" charset="-122"/>
                <a:cs typeface="IBM Plex Sans" pitchFamily="34" charset="-120"/>
              </a:rPr>
              <a:t> (serija standarda).</a:t>
            </a:r>
            <a:endParaRPr lang="en-US" sz="1200" dirty="0"/>
          </a:p>
        </p:txBody>
      </p:sp>
      <p:sp>
        <p:nvSpPr>
          <p:cNvPr id="9" name="Text 7"/>
          <p:cNvSpPr/>
          <p:nvPr/>
        </p:nvSpPr>
        <p:spPr>
          <a:xfrm>
            <a:off x="812800" y="2125861"/>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[3]</a:t>
            </a:r>
            <a:endParaRPr lang="en-US" sz="1200" dirty="0"/>
          </a:p>
        </p:txBody>
      </p:sp>
      <p:sp>
        <p:nvSpPr>
          <p:cNvPr id="10" name="Text 8"/>
          <p:cNvSpPr/>
          <p:nvPr/>
        </p:nvSpPr>
        <p:spPr>
          <a:xfrm>
            <a:off x="1371600" y="2125861"/>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ANSI/ISA-101.01-2015, </a:t>
            </a:r>
            <a:r>
              <a:rPr lang="en-US" sz="1200" i="1" dirty="0">
                <a:solidFill>
                  <a:srgbClr val="44505D"/>
                </a:solidFill>
                <a:latin typeface="IBM Plex Sans" pitchFamily="34" charset="0"/>
                <a:ea typeface="IBM Plex Sans" pitchFamily="34" charset="-122"/>
                <a:cs typeface="IBM Plex Sans" pitchFamily="34" charset="-120"/>
              </a:rPr>
              <a:t>Human Machine Interfaces for Process Automation Systems</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11" name="Text 9"/>
          <p:cNvSpPr/>
          <p:nvPr/>
        </p:nvSpPr>
        <p:spPr>
          <a:xfrm>
            <a:off x="812800" y="2389981"/>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[4]</a:t>
            </a:r>
            <a:endParaRPr lang="en-US" sz="1200" dirty="0"/>
          </a:p>
        </p:txBody>
      </p:sp>
      <p:sp>
        <p:nvSpPr>
          <p:cNvPr id="12" name="Text 10"/>
          <p:cNvSpPr/>
          <p:nvPr/>
        </p:nvSpPr>
        <p:spPr>
          <a:xfrm>
            <a:off x="1371600" y="2389981"/>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ANSI/ISA-18.2-2016, </a:t>
            </a:r>
            <a:r>
              <a:rPr lang="en-US" sz="1200" i="1" dirty="0">
                <a:solidFill>
                  <a:srgbClr val="44505D"/>
                </a:solidFill>
                <a:latin typeface="IBM Plex Sans" pitchFamily="34" charset="0"/>
                <a:ea typeface="IBM Plex Sans" pitchFamily="34" charset="-122"/>
                <a:cs typeface="IBM Plex Sans" pitchFamily="34" charset="-120"/>
              </a:rPr>
              <a:t>Management of Alarm Systems for the Process Industries</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13" name="Text 11"/>
          <p:cNvSpPr/>
          <p:nvPr/>
        </p:nvSpPr>
        <p:spPr>
          <a:xfrm>
            <a:off x="812800" y="2654102"/>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[5]</a:t>
            </a:r>
            <a:endParaRPr lang="en-US" sz="1200" dirty="0"/>
          </a:p>
        </p:txBody>
      </p:sp>
      <p:sp>
        <p:nvSpPr>
          <p:cNvPr id="14" name="Text 12"/>
          <p:cNvSpPr/>
          <p:nvPr/>
        </p:nvSpPr>
        <p:spPr>
          <a:xfrm>
            <a:off x="1371600" y="2654102"/>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ANSI/ISA-5.1, </a:t>
            </a:r>
            <a:r>
              <a:rPr lang="en-US" sz="1200" i="1" dirty="0">
                <a:solidFill>
                  <a:srgbClr val="44505D"/>
                </a:solidFill>
                <a:latin typeface="IBM Plex Sans" pitchFamily="34" charset="0"/>
                <a:ea typeface="IBM Plex Sans" pitchFamily="34" charset="-122"/>
                <a:cs typeface="IBM Plex Sans" pitchFamily="34" charset="-120"/>
              </a:rPr>
              <a:t>Instrumentation Symbols and Identification</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15" name="Text 13"/>
          <p:cNvSpPr/>
          <p:nvPr/>
        </p:nvSpPr>
        <p:spPr>
          <a:xfrm>
            <a:off x="812800" y="2918222"/>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[6]</a:t>
            </a:r>
            <a:endParaRPr lang="en-US" sz="1200" dirty="0"/>
          </a:p>
        </p:txBody>
      </p:sp>
      <p:sp>
        <p:nvSpPr>
          <p:cNvPr id="16" name="Text 14"/>
          <p:cNvSpPr/>
          <p:nvPr/>
        </p:nvSpPr>
        <p:spPr>
          <a:xfrm>
            <a:off x="1371600" y="2918222"/>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M. R. Endsley, „Toward a Theory of Situation Awareness in Dynamic Systems”, </a:t>
            </a:r>
            <a:r>
              <a:rPr lang="en-US" sz="1200" i="1" dirty="0">
                <a:solidFill>
                  <a:srgbClr val="44505D"/>
                </a:solidFill>
                <a:latin typeface="IBM Plex Sans" pitchFamily="34" charset="0"/>
                <a:ea typeface="IBM Plex Sans" pitchFamily="34" charset="-122"/>
                <a:cs typeface="IBM Plex Sans" pitchFamily="34" charset="-120"/>
              </a:rPr>
              <a:t>Human Factors</a:t>
            </a:r>
            <a:r>
              <a:rPr lang="en-US" sz="1200" dirty="0">
                <a:solidFill>
                  <a:srgbClr val="44505D"/>
                </a:solidFill>
                <a:latin typeface="IBM Plex Sans" pitchFamily="34" charset="0"/>
                <a:ea typeface="IBM Plex Sans" pitchFamily="34" charset="-122"/>
                <a:cs typeface="IBM Plex Sans" pitchFamily="34" charset="-120"/>
              </a:rPr>
              <a:t>, 37(1), 1995.</a:t>
            </a:r>
            <a:endParaRPr lang="en-US" sz="1200" dirty="0"/>
          </a:p>
        </p:txBody>
      </p:sp>
      <p:sp>
        <p:nvSpPr>
          <p:cNvPr id="17" name="Text 15"/>
          <p:cNvSpPr/>
          <p:nvPr/>
        </p:nvSpPr>
        <p:spPr>
          <a:xfrm>
            <a:off x="812800" y="3182342"/>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[7]</a:t>
            </a:r>
            <a:endParaRPr lang="en-US" sz="1200" dirty="0"/>
          </a:p>
        </p:txBody>
      </p:sp>
      <p:sp>
        <p:nvSpPr>
          <p:cNvPr id="18" name="Text 16"/>
          <p:cNvSpPr/>
          <p:nvPr/>
        </p:nvSpPr>
        <p:spPr>
          <a:xfrm>
            <a:off x="1371600" y="3182342"/>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K. J. Åström, T. Hägglund, </a:t>
            </a:r>
            <a:r>
              <a:rPr lang="en-US" sz="1200" i="1" dirty="0">
                <a:solidFill>
                  <a:srgbClr val="44505D"/>
                </a:solidFill>
                <a:latin typeface="IBM Plex Sans" pitchFamily="34" charset="0"/>
                <a:ea typeface="IBM Plex Sans" pitchFamily="34" charset="-122"/>
                <a:cs typeface="IBM Plex Sans" pitchFamily="34" charset="-120"/>
              </a:rPr>
              <a:t>Advanced PID Control</a:t>
            </a:r>
            <a:r>
              <a:rPr lang="en-US" sz="1200" dirty="0">
                <a:solidFill>
                  <a:srgbClr val="44505D"/>
                </a:solidFill>
                <a:latin typeface="IBM Plex Sans" pitchFamily="34" charset="0"/>
                <a:ea typeface="IBM Plex Sans" pitchFamily="34" charset="-122"/>
                <a:cs typeface="IBM Plex Sans" pitchFamily="34" charset="-120"/>
              </a:rPr>
              <a:t>, ISA, 2006.</a:t>
            </a:r>
            <a:endParaRPr lang="en-US" sz="1200" dirty="0"/>
          </a:p>
        </p:txBody>
      </p:sp>
      <p:sp>
        <p:nvSpPr>
          <p:cNvPr id="19" name="Text 17"/>
          <p:cNvSpPr/>
          <p:nvPr/>
        </p:nvSpPr>
        <p:spPr>
          <a:xfrm>
            <a:off x="812800" y="3446463"/>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[8]</a:t>
            </a:r>
            <a:endParaRPr lang="en-US" sz="1200" dirty="0"/>
          </a:p>
        </p:txBody>
      </p:sp>
      <p:sp>
        <p:nvSpPr>
          <p:cNvPr id="20" name="Text 18"/>
          <p:cNvSpPr/>
          <p:nvPr/>
        </p:nvSpPr>
        <p:spPr>
          <a:xfrm>
            <a:off x="1371600" y="3446463"/>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Modbus Organization, </a:t>
            </a:r>
            <a:r>
              <a:rPr lang="en-US" sz="1200" i="1" dirty="0">
                <a:solidFill>
                  <a:srgbClr val="44505D"/>
                </a:solidFill>
                <a:latin typeface="IBM Plex Sans" pitchFamily="34" charset="0"/>
                <a:ea typeface="IBM Plex Sans" pitchFamily="34" charset="-122"/>
                <a:cs typeface="IBM Plex Sans" pitchFamily="34" charset="-120"/>
              </a:rPr>
              <a:t>Modbus Application Protocol Specification V1.1b3</a:t>
            </a:r>
            <a:r>
              <a:rPr lang="en-US" sz="1200" dirty="0">
                <a:solidFill>
                  <a:srgbClr val="44505D"/>
                </a:solidFill>
                <a:latin typeface="IBM Plex Sans" pitchFamily="34" charset="0"/>
                <a:ea typeface="IBM Plex Sans" pitchFamily="34" charset="-122"/>
                <a:cs typeface="IBM Plex Sans" pitchFamily="34" charset="-120"/>
              </a:rPr>
              <a:t>.</a:t>
            </a:r>
            <a:endParaRPr lang="en-US" sz="1200" dirty="0"/>
          </a:p>
        </p:txBody>
      </p:sp>
      <p:sp>
        <p:nvSpPr>
          <p:cNvPr id="21" name="Text 19"/>
          <p:cNvSpPr/>
          <p:nvPr/>
        </p:nvSpPr>
        <p:spPr>
          <a:xfrm>
            <a:off x="812800" y="3710583"/>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[9]</a:t>
            </a:r>
            <a:endParaRPr lang="en-US" sz="1200" dirty="0"/>
          </a:p>
        </p:txBody>
      </p:sp>
      <p:sp>
        <p:nvSpPr>
          <p:cNvPr id="22" name="Text 20"/>
          <p:cNvSpPr/>
          <p:nvPr/>
        </p:nvSpPr>
        <p:spPr>
          <a:xfrm>
            <a:off x="1371600" y="3710583"/>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R. C. Martin, </a:t>
            </a:r>
            <a:r>
              <a:rPr lang="en-US" sz="1200" i="1" dirty="0">
                <a:solidFill>
                  <a:srgbClr val="44505D"/>
                </a:solidFill>
                <a:latin typeface="IBM Plex Sans" pitchFamily="34" charset="0"/>
                <a:ea typeface="IBM Plex Sans" pitchFamily="34" charset="-122"/>
                <a:cs typeface="IBM Plex Sans" pitchFamily="34" charset="-120"/>
              </a:rPr>
              <a:t>Clean Architecture</a:t>
            </a:r>
            <a:r>
              <a:rPr lang="en-US" sz="1200" dirty="0">
                <a:solidFill>
                  <a:srgbClr val="44505D"/>
                </a:solidFill>
                <a:latin typeface="IBM Plex Sans" pitchFamily="34" charset="0"/>
                <a:ea typeface="IBM Plex Sans" pitchFamily="34" charset="-122"/>
                <a:cs typeface="IBM Plex Sans" pitchFamily="34" charset="-120"/>
              </a:rPr>
              <a:t>, Prentice Hall, 2017.</a:t>
            </a:r>
            <a:endParaRPr lang="en-US" sz="1200" dirty="0"/>
          </a:p>
        </p:txBody>
      </p:sp>
      <p:sp>
        <p:nvSpPr>
          <p:cNvPr id="23" name="Text 21"/>
          <p:cNvSpPr/>
          <p:nvPr/>
        </p:nvSpPr>
        <p:spPr>
          <a:xfrm>
            <a:off x="812800" y="3974703"/>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[10]</a:t>
            </a:r>
            <a:endParaRPr lang="en-US" sz="1200" dirty="0"/>
          </a:p>
        </p:txBody>
      </p:sp>
      <p:sp>
        <p:nvSpPr>
          <p:cNvPr id="24" name="Text 22"/>
          <p:cNvSpPr/>
          <p:nvPr/>
        </p:nvSpPr>
        <p:spPr>
          <a:xfrm>
            <a:off x="1371600" y="3974703"/>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MITRE, </a:t>
            </a:r>
            <a:r>
              <a:rPr lang="en-US" sz="1200" i="1" dirty="0">
                <a:solidFill>
                  <a:srgbClr val="44505D"/>
                </a:solidFill>
                <a:latin typeface="IBM Plex Sans" pitchFamily="34" charset="0"/>
                <a:ea typeface="IBM Plex Sans" pitchFamily="34" charset="-122"/>
                <a:cs typeface="IBM Plex Sans" pitchFamily="34" charset="-120"/>
              </a:rPr>
              <a:t>ATT&amp;CK for Industrial Control Systems</a:t>
            </a:r>
            <a:r>
              <a:rPr lang="en-US" sz="1200" dirty="0">
                <a:solidFill>
                  <a:srgbClr val="44505D"/>
                </a:solidFill>
                <a:latin typeface="IBM Plex Sans" pitchFamily="34" charset="0"/>
                <a:ea typeface="IBM Plex Sans" pitchFamily="34" charset="-122"/>
                <a:cs typeface="IBM Plex Sans" pitchFamily="34" charset="-120"/>
              </a:rPr>
              <a:t>, attack.mitre.org.</a:t>
            </a:r>
            <a:endParaRPr lang="en-US" sz="1200" dirty="0"/>
          </a:p>
        </p:txBody>
      </p:sp>
      <p:sp>
        <p:nvSpPr>
          <p:cNvPr id="25" name="Text 23"/>
          <p:cNvSpPr/>
          <p:nvPr/>
        </p:nvSpPr>
        <p:spPr>
          <a:xfrm>
            <a:off x="812800" y="4238823"/>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[11]</a:t>
            </a:r>
            <a:endParaRPr lang="en-US" sz="1200" dirty="0"/>
          </a:p>
        </p:txBody>
      </p:sp>
      <p:sp>
        <p:nvSpPr>
          <p:cNvPr id="26" name="Text 24"/>
          <p:cNvSpPr/>
          <p:nvPr/>
        </p:nvSpPr>
        <p:spPr>
          <a:xfrm>
            <a:off x="1371600" y="4238823"/>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P. Cichonski i dr., </a:t>
            </a:r>
            <a:r>
              <a:rPr lang="en-US" sz="1200" i="1" dirty="0">
                <a:solidFill>
                  <a:srgbClr val="44505D"/>
                </a:solidFill>
                <a:latin typeface="IBM Plex Sans" pitchFamily="34" charset="0"/>
                <a:ea typeface="IBM Plex Sans" pitchFamily="34" charset="-122"/>
                <a:cs typeface="IBM Plex Sans" pitchFamily="34" charset="-120"/>
              </a:rPr>
              <a:t>Computer Security Incident Handling Guide</a:t>
            </a:r>
            <a:r>
              <a:rPr lang="en-US" sz="1200" dirty="0">
                <a:solidFill>
                  <a:srgbClr val="44505D"/>
                </a:solidFill>
                <a:latin typeface="IBM Plex Sans" pitchFamily="34" charset="0"/>
                <a:ea typeface="IBM Plex Sans" pitchFamily="34" charset="-122"/>
                <a:cs typeface="IBM Plex Sans" pitchFamily="34" charset="-120"/>
              </a:rPr>
              <a:t>, NIST SP 800-61 Rev. 2, 2012.</a:t>
            </a:r>
            <a:endParaRPr lang="en-US" sz="1200" dirty="0"/>
          </a:p>
        </p:txBody>
      </p:sp>
      <p:sp>
        <p:nvSpPr>
          <p:cNvPr id="27" name="Text 25"/>
          <p:cNvSpPr/>
          <p:nvPr/>
        </p:nvSpPr>
        <p:spPr>
          <a:xfrm>
            <a:off x="812800" y="4502944"/>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[12]</a:t>
            </a:r>
            <a:endParaRPr lang="en-US" sz="1200" dirty="0"/>
          </a:p>
        </p:txBody>
      </p:sp>
      <p:sp>
        <p:nvSpPr>
          <p:cNvPr id="28" name="Text 26"/>
          <p:cNvSpPr/>
          <p:nvPr/>
        </p:nvSpPr>
        <p:spPr>
          <a:xfrm>
            <a:off x="1371600" y="4502944"/>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Direktiva (EU) 2022/2555 o merama za visok zajednički nivo sajber bezbednosti (NIS2).</a:t>
            </a:r>
            <a:endParaRPr lang="en-US" sz="1200" dirty="0"/>
          </a:p>
        </p:txBody>
      </p:sp>
      <p:sp>
        <p:nvSpPr>
          <p:cNvPr id="29" name="Text 27"/>
          <p:cNvSpPr/>
          <p:nvPr/>
        </p:nvSpPr>
        <p:spPr>
          <a:xfrm>
            <a:off x="812800" y="4767064"/>
            <a:ext cx="457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[13]</a:t>
            </a:r>
            <a:endParaRPr lang="en-US" sz="1200" dirty="0"/>
          </a:p>
        </p:txBody>
      </p:sp>
      <p:sp>
        <p:nvSpPr>
          <p:cNvPr id="30" name="Text 28"/>
          <p:cNvSpPr/>
          <p:nvPr/>
        </p:nvSpPr>
        <p:spPr>
          <a:xfrm>
            <a:off x="1371600" y="4767064"/>
            <a:ext cx="1030782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SCADALattice — Tehnička specifikacija, Projekat 01, Fakultet tehničkih nauka, Novi Sad.</a:t>
            </a:r>
            <a:endParaRPr lang="en-US" sz="1200" dirty="0"/>
          </a:p>
        </p:txBody>
      </p:sp>
      <p:sp>
        <p:nvSpPr>
          <p:cNvPr id="31" name="Shape 29"/>
          <p:cNvSpPr/>
          <p:nvPr/>
        </p:nvSpPr>
        <p:spPr>
          <a:xfrm>
            <a:off x="812800" y="6209705"/>
            <a:ext cx="10566400" cy="0"/>
          </a:xfrm>
          <a:prstGeom prst="line">
            <a:avLst/>
          </a:prstGeom>
          <a:noFill/>
          <a:ln w="6350">
            <a:solidFill>
              <a:srgbClr val="D3DAE1"/>
            </a:solidFill>
            <a:prstDash val="solid"/>
          </a:ln>
        </p:spPr>
      </p:sp>
      <p:sp>
        <p:nvSpPr>
          <p:cNvPr id="32" name="Text 30"/>
          <p:cNvSpPr/>
          <p:nvPr/>
        </p:nvSpPr>
        <p:spPr>
          <a:xfrm>
            <a:off x="812800" y="6314480"/>
            <a:ext cx="1209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SCADA sistemi</a:t>
            </a:r>
            <a:endParaRPr lang="en-US" sz="1200" dirty="0"/>
          </a:p>
        </p:txBody>
      </p:sp>
      <p:sp>
        <p:nvSpPr>
          <p:cNvPr id="33"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56</a:t>
            </a:r>
            <a:endParaRPr lang="en-US" sz="1200" dirty="0"/>
          </a:p>
        </p:txBody>
      </p:sp>
    </p:spTree>
  </p:cSld>
  <p:clrMapOvr>
    <a:masterClrMapping/>
  </p:clrMapOvr>
</p:sld>
</file>

<file path=ppt/theme/theme1.xml><?xml version="1.0" encoding="utf-8"?>
<a:theme xmlns:a="http://schemas.openxmlformats.org/drawingml/2006/main" name="SCADA sistemi — Arhitektura, procesi, prikazi, konfiguracija i bezbednost">
  <a:themeElements>
    <a:clrScheme name="SCADA sistemi — Arhitektura, procesi, prikazi, konfiguracija i bezbednost">
      <a:dk1>
        <a:srgbClr val="13202D"/>
      </a:dk1>
      <a:lt1>
        <a:srgbClr val="F6F7F5"/>
      </a:lt1>
      <a:dk2>
        <a:srgbClr val="4C565F"/>
      </a:dk2>
      <a:lt2>
        <a:srgbClr val="DFE2E1"/>
      </a:lt2>
      <a:accent1>
        <a:srgbClr val="0A5CA8"/>
      </a:accent1>
      <a:accent2>
        <a:srgbClr val="A8520A"/>
      </a:accent2>
      <a:accent3>
        <a:srgbClr val="E07B1F"/>
      </a:accent3>
      <a:accent4>
        <a:srgbClr val="C3D7EC"/>
      </a:accent4>
      <a:accent5>
        <a:srgbClr val="B3261E"/>
      </a:accent5>
      <a:accent6>
        <a:srgbClr val="A9C2DC"/>
      </a:accent6>
      <a:hlink>
        <a:srgbClr val="0563C1"/>
      </a:hlink>
      <a:folHlink>
        <a:srgbClr val="954F72"/>
      </a:folHlink>
    </a:clrScheme>
    <a:fontScheme name="SCADA sistemi — Arhitektura, procesi, prikazi, konfiguracija i bezbednos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SCADA sistemi — Arhitektura, procesi, prikazi, konfiguracija i bezbednost</dc:title>
  <dc:subject/>
  <dc:creator/>
  <cp:lastModifiedBy/>
  <cp:revision>1</cp:revision>
  <dcterms:created xsi:type="dcterms:W3CDTF">2026-10-09T08:09:17Z</dcterms:created>
  <dcterms:modified xsi:type="dcterms:W3CDTF">2026-10-09T08:09:17Z</dcterms:modified>
</cp:coreProperties>
</file>